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 id="493" r:id="rId243"/>
    <p:sldId id="494" r:id="rId2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1" Type="http://schemas.openxmlformats.org/officeDocument/2006/relationships/slide" Target="slides/slide156.xml"/><Relationship Id="rId162" Type="http://schemas.openxmlformats.org/officeDocument/2006/relationships/slide" Target="slides/slide157.xml"/><Relationship Id="rId163" Type="http://schemas.openxmlformats.org/officeDocument/2006/relationships/slide" Target="slides/slide158.xml"/><Relationship Id="rId164" Type="http://schemas.openxmlformats.org/officeDocument/2006/relationships/slide" Target="slides/slide159.xml"/><Relationship Id="rId165" Type="http://schemas.openxmlformats.org/officeDocument/2006/relationships/slide" Target="slides/slide160.xml"/><Relationship Id="rId166" Type="http://schemas.openxmlformats.org/officeDocument/2006/relationships/slide" Target="slides/slide161.xml"/><Relationship Id="rId167" Type="http://schemas.openxmlformats.org/officeDocument/2006/relationships/slide" Target="slides/slide162.xml"/><Relationship Id="rId168" Type="http://schemas.openxmlformats.org/officeDocument/2006/relationships/slide" Target="slides/slide163.xml"/><Relationship Id="rId169" Type="http://schemas.openxmlformats.org/officeDocument/2006/relationships/slide" Target="slides/slide164.xml"/><Relationship Id="rId170" Type="http://schemas.openxmlformats.org/officeDocument/2006/relationships/slide" Target="slides/slide165.xml"/><Relationship Id="rId171" Type="http://schemas.openxmlformats.org/officeDocument/2006/relationships/slide" Target="slides/slide166.xml"/><Relationship Id="rId172" Type="http://schemas.openxmlformats.org/officeDocument/2006/relationships/slide" Target="slides/slide167.xml"/><Relationship Id="rId173" Type="http://schemas.openxmlformats.org/officeDocument/2006/relationships/slide" Target="slides/slide168.xml"/><Relationship Id="rId174" Type="http://schemas.openxmlformats.org/officeDocument/2006/relationships/slide" Target="slides/slide169.xml"/><Relationship Id="rId175" Type="http://schemas.openxmlformats.org/officeDocument/2006/relationships/slide" Target="slides/slide170.xml"/><Relationship Id="rId176" Type="http://schemas.openxmlformats.org/officeDocument/2006/relationships/slide" Target="slides/slide171.xml"/><Relationship Id="rId177" Type="http://schemas.openxmlformats.org/officeDocument/2006/relationships/slide" Target="slides/slide172.xml"/><Relationship Id="rId178" Type="http://schemas.openxmlformats.org/officeDocument/2006/relationships/slide" Target="slides/slide173.xml"/><Relationship Id="rId179" Type="http://schemas.openxmlformats.org/officeDocument/2006/relationships/slide" Target="slides/slide174.xml"/><Relationship Id="rId180" Type="http://schemas.openxmlformats.org/officeDocument/2006/relationships/slide" Target="slides/slide175.xml"/><Relationship Id="rId181" Type="http://schemas.openxmlformats.org/officeDocument/2006/relationships/slide" Target="slides/slide176.xml"/><Relationship Id="rId182" Type="http://schemas.openxmlformats.org/officeDocument/2006/relationships/slide" Target="slides/slide177.xml"/><Relationship Id="rId183" Type="http://schemas.openxmlformats.org/officeDocument/2006/relationships/slide" Target="slides/slide178.xml"/><Relationship Id="rId184" Type="http://schemas.openxmlformats.org/officeDocument/2006/relationships/slide" Target="slides/slide179.xml"/><Relationship Id="rId185" Type="http://schemas.openxmlformats.org/officeDocument/2006/relationships/slide" Target="slides/slide180.xml"/><Relationship Id="rId186" Type="http://schemas.openxmlformats.org/officeDocument/2006/relationships/slide" Target="slides/slide181.xml"/><Relationship Id="rId187" Type="http://schemas.openxmlformats.org/officeDocument/2006/relationships/slide" Target="slides/slide182.xml"/><Relationship Id="rId188" Type="http://schemas.openxmlformats.org/officeDocument/2006/relationships/slide" Target="slides/slide183.xml"/><Relationship Id="rId189" Type="http://schemas.openxmlformats.org/officeDocument/2006/relationships/slide" Target="slides/slide184.xml"/><Relationship Id="rId190" Type="http://schemas.openxmlformats.org/officeDocument/2006/relationships/slide" Target="slides/slide185.xml"/><Relationship Id="rId191" Type="http://schemas.openxmlformats.org/officeDocument/2006/relationships/slide" Target="slides/slide186.xml"/><Relationship Id="rId192" Type="http://schemas.openxmlformats.org/officeDocument/2006/relationships/slide" Target="slides/slide187.xml"/><Relationship Id="rId193" Type="http://schemas.openxmlformats.org/officeDocument/2006/relationships/slide" Target="slides/slide188.xml"/><Relationship Id="rId194" Type="http://schemas.openxmlformats.org/officeDocument/2006/relationships/slide" Target="slides/slide189.xml"/><Relationship Id="rId195" Type="http://schemas.openxmlformats.org/officeDocument/2006/relationships/slide" Target="slides/slide190.xml"/><Relationship Id="rId196" Type="http://schemas.openxmlformats.org/officeDocument/2006/relationships/slide" Target="slides/slide191.xml"/><Relationship Id="rId197" Type="http://schemas.openxmlformats.org/officeDocument/2006/relationships/slide" Target="slides/slide192.xml"/><Relationship Id="rId198" Type="http://schemas.openxmlformats.org/officeDocument/2006/relationships/slide" Target="slides/slide193.xml"/><Relationship Id="rId199" Type="http://schemas.openxmlformats.org/officeDocument/2006/relationships/slide" Target="slides/slide194.xml"/><Relationship Id="rId200" Type="http://schemas.openxmlformats.org/officeDocument/2006/relationships/slide" Target="slides/slide195.xml"/><Relationship Id="rId201" Type="http://schemas.openxmlformats.org/officeDocument/2006/relationships/slide" Target="slides/slide196.xml"/><Relationship Id="rId202" Type="http://schemas.openxmlformats.org/officeDocument/2006/relationships/slide" Target="slides/slide197.xml"/><Relationship Id="rId203" Type="http://schemas.openxmlformats.org/officeDocument/2006/relationships/slide" Target="slides/slide198.xml"/><Relationship Id="rId204" Type="http://schemas.openxmlformats.org/officeDocument/2006/relationships/slide" Target="slides/slide199.xml"/><Relationship Id="rId205" Type="http://schemas.openxmlformats.org/officeDocument/2006/relationships/slide" Target="slides/slide200.xml"/><Relationship Id="rId206" Type="http://schemas.openxmlformats.org/officeDocument/2006/relationships/slide" Target="slides/slide201.xml"/><Relationship Id="rId207" Type="http://schemas.openxmlformats.org/officeDocument/2006/relationships/slide" Target="slides/slide202.xml"/><Relationship Id="rId208" Type="http://schemas.openxmlformats.org/officeDocument/2006/relationships/slide" Target="slides/slide203.xml"/><Relationship Id="rId209" Type="http://schemas.openxmlformats.org/officeDocument/2006/relationships/slide" Target="slides/slide204.xml"/><Relationship Id="rId210" Type="http://schemas.openxmlformats.org/officeDocument/2006/relationships/slide" Target="slides/slide205.xml"/><Relationship Id="rId211" Type="http://schemas.openxmlformats.org/officeDocument/2006/relationships/slide" Target="slides/slide206.xml"/><Relationship Id="rId212" Type="http://schemas.openxmlformats.org/officeDocument/2006/relationships/slide" Target="slides/slide207.xml"/><Relationship Id="rId213" Type="http://schemas.openxmlformats.org/officeDocument/2006/relationships/slide" Target="slides/slide208.xml"/><Relationship Id="rId214" Type="http://schemas.openxmlformats.org/officeDocument/2006/relationships/slide" Target="slides/slide209.xml"/><Relationship Id="rId215" Type="http://schemas.openxmlformats.org/officeDocument/2006/relationships/slide" Target="slides/slide210.xml"/><Relationship Id="rId216" Type="http://schemas.openxmlformats.org/officeDocument/2006/relationships/slide" Target="slides/slide211.xml"/><Relationship Id="rId217" Type="http://schemas.openxmlformats.org/officeDocument/2006/relationships/slide" Target="slides/slide212.xml"/><Relationship Id="rId218" Type="http://schemas.openxmlformats.org/officeDocument/2006/relationships/slide" Target="slides/slide213.xml"/><Relationship Id="rId219" Type="http://schemas.openxmlformats.org/officeDocument/2006/relationships/slide" Target="slides/slide214.xml"/><Relationship Id="rId220" Type="http://schemas.openxmlformats.org/officeDocument/2006/relationships/slide" Target="slides/slide215.xml"/><Relationship Id="rId221" Type="http://schemas.openxmlformats.org/officeDocument/2006/relationships/slide" Target="slides/slide216.xml"/><Relationship Id="rId222" Type="http://schemas.openxmlformats.org/officeDocument/2006/relationships/slide" Target="slides/slide217.xml"/><Relationship Id="rId223" Type="http://schemas.openxmlformats.org/officeDocument/2006/relationships/slide" Target="slides/slide218.xml"/><Relationship Id="rId224" Type="http://schemas.openxmlformats.org/officeDocument/2006/relationships/slide" Target="slides/slide219.xml"/><Relationship Id="rId225" Type="http://schemas.openxmlformats.org/officeDocument/2006/relationships/slide" Target="slides/slide220.xml"/><Relationship Id="rId226" Type="http://schemas.openxmlformats.org/officeDocument/2006/relationships/slide" Target="slides/slide221.xml"/><Relationship Id="rId227" Type="http://schemas.openxmlformats.org/officeDocument/2006/relationships/slide" Target="slides/slide222.xml"/><Relationship Id="rId228" Type="http://schemas.openxmlformats.org/officeDocument/2006/relationships/slide" Target="slides/slide223.xml"/><Relationship Id="rId229" Type="http://schemas.openxmlformats.org/officeDocument/2006/relationships/slide" Target="slides/slide224.xml"/><Relationship Id="rId230" Type="http://schemas.openxmlformats.org/officeDocument/2006/relationships/slide" Target="slides/slide225.xml"/><Relationship Id="rId231" Type="http://schemas.openxmlformats.org/officeDocument/2006/relationships/slide" Target="slides/slide226.xml"/><Relationship Id="rId232" Type="http://schemas.openxmlformats.org/officeDocument/2006/relationships/slide" Target="slides/slide227.xml"/><Relationship Id="rId233" Type="http://schemas.openxmlformats.org/officeDocument/2006/relationships/slide" Target="slides/slide228.xml"/><Relationship Id="rId234" Type="http://schemas.openxmlformats.org/officeDocument/2006/relationships/slide" Target="slides/slide229.xml"/><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litzy Title">
    <p:bg>
      <p:bgPr>
        <a:gradFill rotWithShape="0">
          <a:gsLst>
            <a:gs pos="15560">
              <a:srgbClr val="7A6DEC"/>
            </a:gs>
            <a:gs pos="62740">
              <a:srgbClr val="5B39F3"/>
            </a:gs>
            <a:gs pos="84440">
              <a:srgbClr val="4101DB"/>
            </a:gs>
          </a:gsLst>
          <a:lin ang="2028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litzy Content">
    <p:bg>
      <p:bgPr>
        <a:solidFill>
          <a:srgbClr val="FFFFFF"/>
        </a:solidFill>
        <a:effectLst/>
      </p:bgPr>
    </p:bg>
    <p:spTree>
      <p:nvGrpSpPr>
        <p:cNvPr id="1" name=""/>
        <p:cNvGrpSpPr/>
        <p:nvPr/>
      </p:nvGrpSpPr>
      <p:grpSpPr>
        <a:xfrm>
          <a:off x="0" y="0"/>
          <a:ext cx="0" cy="0"/>
          <a:chOff x="0" y="0"/>
          <a:chExt cx="0" cy="0"/>
        </a:xfrm>
      </p:grpSpPr>
      <p:sp>
        <p:nvSpPr>
          <p:cNvPr id="2"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litzy Section Divider">
    <p:bg>
      <p:bgPr>
        <a:gradFill rotWithShape="0">
          <a:gsLst>
            <a:gs pos="0">
              <a:srgbClr val="2D1C77"/>
            </a:gs>
            <a:gs pos="100000">
              <a:srgbClr val="5B39F3"/>
            </a:gs>
          </a:gsLst>
          <a:lin ang="270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itzy Closing">
    <p:bg>
      <p:bgPr>
        <a:solidFill>
          <a:srgbClr val="1A105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txStyles>
    <p:titleStyle>
      <a:lvl1pPr>
        <a:defRPr>
          <a:solidFill>
            <a:schemeClr val="tx1"/>
          </a:solidFill>
          <a:latin typeface="+mj-lt"/>
        </a:defRPr>
      </a:lvl1pPr>
      <a:lvl2pPr>
        <a:defRPr>
          <a:solidFill>
            <a:schemeClr val="tx1"/>
          </a:solidFill>
          <a:latin typeface="+mj-lt"/>
        </a:defRPr>
      </a:lvl2pPr>
      <a:lvl3pPr>
        <a:defRPr>
          <a:solidFill>
            <a:schemeClr val="tx1"/>
          </a:solidFill>
          <a:latin typeface="+mj-lt"/>
        </a:defRPr>
      </a:lvl3pPr>
      <a:lvl4pPr>
        <a:defRPr>
          <a:solidFill>
            <a:schemeClr val="tx1"/>
          </a:solidFill>
          <a:latin typeface="+mj-lt"/>
        </a:defRPr>
      </a:lvl4pPr>
      <a:lvl5pPr>
        <a:defRPr>
          <a:solidFill>
            <a:schemeClr val="tx1"/>
          </a:solidFill>
          <a:latin typeface="+mj-lt"/>
        </a:defRPr>
      </a:lvl5pPr>
      <a:lvl6pPr>
        <a:defRPr>
          <a:solidFill>
            <a:schemeClr val="tx1"/>
          </a:solidFill>
          <a:latin typeface="+mj-lt"/>
        </a:defRPr>
      </a:lvl6pPr>
      <a:lvl7pPr>
        <a:defRPr>
          <a:solidFill>
            <a:schemeClr val="tx1"/>
          </a:solidFill>
          <a:latin typeface="+mj-lt"/>
        </a:defRPr>
      </a:lvl7pPr>
      <a:lvl8pPr>
        <a:defRPr>
          <a:solidFill>
            <a:schemeClr val="tx1"/>
          </a:solidFill>
          <a:latin typeface="+mj-lt"/>
        </a:defRPr>
      </a:lvl8pPr>
      <a:lvl9pPr>
        <a:defRPr>
          <a:solidFill>
            <a:schemeClr val="tx1"/>
          </a:solidFill>
          <a:latin typeface="+mj-lt"/>
        </a:defRPr>
      </a:lvl9pPr>
    </p:titleStyle>
    <p:body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bodyStyle>
    <p:other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481328"/>
            <a:ext cx="11058144" cy="310896"/>
          </a:xfrm>
          <a:prstGeom prst="rect">
            <a:avLst/>
          </a:prstGeom>
          <a:noFill/>
        </p:spPr>
        <p:txBody>
          <a:bodyPr wrap="square" lIns="0" rIns="0" tIns="0" bIns="0" anchor="t">
            <a:noAutofit/>
          </a:bodyPr>
          <a:lstStyle/>
          <a:p>
            <a:pPr algn="l">
              <a:lnSpc>
                <a:spcPct val="100000"/>
              </a:lnSpc>
              <a:spcAft>
                <a:spcPts val="0"/>
              </a:spcAft>
            </a:pPr>
            <a:r>
              <a:rPr sz="1300" b="0">
                <a:solidFill>
                  <a:srgbClr val="94FAD5"/>
                </a:solidFill>
                <a:latin typeface="Fira Code"/>
              </a:rPr>
              <a:t>FULL FINDINGS  ·  COMPREHENSIVE REFERENCE DECK</a:t>
            </a:r>
          </a:p>
        </p:txBody>
      </p:sp>
      <p:sp>
        <p:nvSpPr>
          <p:cNvPr id="3" name="TextBox 2"/>
          <p:cNvSpPr txBox="1"/>
          <p:nvPr/>
        </p:nvSpPr>
        <p:spPr>
          <a:xfrm>
            <a:off x="566928" y="1920240"/>
            <a:ext cx="10424160" cy="1737360"/>
          </a:xfrm>
          <a:prstGeom prst="rect">
            <a:avLst/>
          </a:prstGeom>
          <a:noFill/>
        </p:spPr>
        <p:txBody>
          <a:bodyPr wrap="square" lIns="0" rIns="0" tIns="0" bIns="0" anchor="t">
            <a:noAutofit/>
          </a:bodyPr>
          <a:lstStyle/>
          <a:p>
            <a:pPr algn="l">
              <a:lnSpc>
                <a:spcPct val="130000"/>
              </a:lnSpc>
              <a:spcAft>
                <a:spcPts val="0"/>
              </a:spcAft>
            </a:pPr>
            <a:r>
              <a:rPr sz="4000" b="1">
                <a:solidFill>
                  <a:srgbClr val="FFFFFF"/>
                </a:solidFill>
                <a:latin typeface="Space Grotesk"/>
              </a:rPr>
              <a:t>ArduPilot PNT (Positioning, Navigation, Timing) Reference Audit</a:t>
            </a:r>
          </a:p>
        </p:txBody>
      </p:sp>
      <p:sp>
        <p:nvSpPr>
          <p:cNvPr id="4" name="TextBox 3"/>
          <p:cNvSpPr txBox="1"/>
          <p:nvPr/>
        </p:nvSpPr>
        <p:spPr>
          <a:xfrm>
            <a:off x="566928" y="3675887"/>
            <a:ext cx="7863840" cy="731520"/>
          </a:xfrm>
          <a:prstGeom prst="rect">
            <a:avLst/>
          </a:prstGeom>
          <a:noFill/>
        </p:spPr>
        <p:txBody>
          <a:bodyPr wrap="square" lIns="0" rIns="0" tIns="0" bIns="0" anchor="t">
            <a:noAutofit/>
          </a:bodyPr>
          <a:lstStyle/>
          <a:p>
            <a:pPr algn="l">
              <a:lnSpc>
                <a:spcPct val="124000"/>
              </a:lnSpc>
              <a:spcAft>
                <a:spcPts val="0"/>
              </a:spcAft>
            </a:pPr>
            <a:r>
              <a:rPr sz="1800" b="0">
                <a:solidFill>
                  <a:srgbClr val="FFFFFF"/>
                </a:solidFill>
                <a:latin typeface="Inter"/>
              </a:rPr>
              <a:t>Read-only static-analysis audit — every snippet reproduced verbatim from the cited path:line range</a:t>
            </a:r>
          </a:p>
        </p:txBody>
      </p:sp>
      <p:sp>
        <p:nvSpPr>
          <p:cNvPr id="5" name="Rectangle 4"/>
          <p:cNvSpPr/>
          <p:nvPr/>
        </p:nvSpPr>
        <p:spPr>
          <a:xfrm>
            <a:off x="566928" y="4498848"/>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4773168"/>
            <a:ext cx="11058144" cy="310896"/>
          </a:xfrm>
          <a:prstGeom prst="rect">
            <a:avLst/>
          </a:prstGeom>
          <a:noFill/>
        </p:spPr>
        <p:txBody>
          <a:bodyPr wrap="square" lIns="0" rIns="0" tIns="0" bIns="0" anchor="t">
            <a:noAutofit/>
          </a:bodyPr>
          <a:lstStyle/>
          <a:p>
            <a:pPr algn="l">
              <a:lnSpc>
                <a:spcPct val="100000"/>
              </a:lnSpc>
              <a:spcAft>
                <a:spcPts val="0"/>
              </a:spcAft>
            </a:pPr>
            <a:r>
              <a:rPr sz="1200" b="0">
                <a:solidFill>
                  <a:srgbClr val="94FAD5"/>
                </a:solidFill>
                <a:latin typeface="Fira Code"/>
              </a:rPr>
              <a:t>HEAD 5b67e27b0a  ·  43 pages  ·  Read-only static-analysis catalog</a:t>
            </a:r>
          </a:p>
        </p:txBody>
      </p:sp>
      <p:sp>
        <p:nvSpPr>
          <p:cNvPr id="7" name="TextBox 6"/>
          <p:cNvSpPr txBox="1"/>
          <p:nvPr/>
        </p:nvSpPr>
        <p:spPr>
          <a:xfrm>
            <a:off x="566928" y="5138928"/>
            <a:ext cx="10424160" cy="548640"/>
          </a:xfrm>
          <a:prstGeom prst="rect">
            <a:avLst/>
          </a:prstGeom>
          <a:noFill/>
        </p:spPr>
        <p:txBody>
          <a:bodyPr wrap="square" lIns="0" rIns="0" tIns="0" bIns="0" anchor="t">
            <a:noAutofit/>
          </a:bodyPr>
          <a:lstStyle/>
          <a:p>
            <a:pPr algn="l">
              <a:lnSpc>
                <a:spcPct val="120000"/>
              </a:lnSpc>
              <a:spcAft>
                <a:spcPts val="0"/>
              </a:spcAft>
            </a:pPr>
            <a:r>
              <a:rPr sz="1400" b="0">
                <a:solidFill>
                  <a:srgbClr val="FFFFFF"/>
                </a:solidFill>
                <a:latin typeface="Inter"/>
              </a:rPr>
              <a:t>Every catalogued finding, ordered by the audit’s own severity and category axes.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TWO AXES, BOTH THE AUDIT’S OWN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How to read this deck</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This deck is a communication layer over a finished audit: it selects nothing, scores nothing and omits nothing.</a:t>
            </a:r>
          </a:p>
        </p:txBody>
      </p:sp>
      <p:graphicFrame>
        <p:nvGraphicFramePr>
          <p:cNvPr id="7" name="Table 6"/>
          <p:cNvGraphicFramePr>
            <a:graphicFrameLocks noGrp="1"/>
          </p:cNvGraphicFramePr>
          <p:nvPr/>
        </p:nvGraphicFramePr>
        <p:xfrm>
          <a:off x="566928" y="2173338"/>
          <a:ext cx="11058144" cy="1609149"/>
        </p:xfrm>
        <a:graphic>
          <a:graphicData uri="http://schemas.openxmlformats.org/drawingml/2006/table">
            <a:tbl>
              <a:tblPr>
                <a:tableStyleId>{5C22544A-7EE6-4342-B048-85BDC9FD1C3A}</a:tableStyleId>
              </a:tblPr>
              <a:tblGrid>
                <a:gridCol w="1279454"/>
                <a:gridCol w="5940325"/>
                <a:gridCol w="3838365"/>
              </a:tblGrid>
              <a:tr h="240219">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orders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the axis comes from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audit’s five Audit-Discipline Flags, presented with the audit’s own stated occurrence counts, followed by the two touch-points the audit itself singles out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Audit-Discipline Flags, transcribed with its own footnote.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catalog’s own structure: GROUP 1 core references and GROUP 2 indirect / relational references across Positioning, Navigation and Timing, each main table followed by its paired Layer 1 and Layer 2 dependency map, then the instance mapping and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audit’s own table numbering,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02023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FIDELITY RULES FOR EVERY AUDIT-DERIVED FIGURE  ·  THE DECK LABELS ITS OWN</a:t>
            </a:r>
          </a:p>
        </p:txBody>
      </p:sp>
      <p:sp>
        <p:nvSpPr>
          <p:cNvPr id="9" name="TextBox 8"/>
          <p:cNvSpPr txBox="1"/>
          <p:nvPr/>
        </p:nvSpPr>
        <p:spPr>
          <a:xfrm>
            <a:off x="566928" y="424593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audit-derived figure is preserved exactly as the audit states it: nothing is recomputed, re-scored or re-worded.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row keeps its own number, file path, line range, classification and the audit’s own Notes text, including its flag tokens and its [FIX F*] and AAP cross-references, exactly as printed.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Cited path:line ranges are transcribed, never re-derived: they are stated as of the audited HEAD 5b67e27b0a, the pre-refactor baseline.</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column of every source table is carried, Code Snippet (5-10 lines) included: each cell’s source lines are set one paragraph per line, in the audit’s own order, with their indentation and their blank lines intact.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EVERY FIGURE AS THE AUDIT STATES IT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audit at a glance</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audit prints these totals on its own face; they reconcile against the rows that follow.</a:t>
            </a:r>
          </a:p>
        </p:txBody>
      </p:sp>
      <p:sp>
        <p:nvSpPr>
          <p:cNvPr id="7" name="TextBox 6"/>
          <p:cNvSpPr txBox="1"/>
          <p:nvPr/>
        </p:nvSpPr>
        <p:spPr>
          <a:xfrm>
            <a:off x="566928" y="1852079"/>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FRONT-MATTER LINE</a:t>
            </a:r>
          </a:p>
        </p:txBody>
      </p:sp>
      <p:sp>
        <p:nvSpPr>
          <p:cNvPr id="8" name="Rectangle 7"/>
          <p:cNvSpPr/>
          <p:nvPr/>
        </p:nvSpPr>
        <p:spPr>
          <a:xfrm>
            <a:off x="566928" y="2077783"/>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077783"/>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“Audited HEAD 5b67e27b0a · Core references: 63 · Indirect references: 31 · Total references: 94 · Evidence rows: 282 (main + Layer 1 + Layer 2)”</a:t>
            </a:r>
          </a:p>
        </p:txBody>
      </p:sp>
      <p:sp>
        <p:nvSpPr>
          <p:cNvPr id="10" name="Rounded Rectangle 9"/>
          <p:cNvSpPr/>
          <p:nvPr/>
        </p:nvSpPr>
        <p:spPr>
          <a:xfrm>
            <a:off x="566928"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63</a:t>
            </a:r>
          </a:p>
          <a:p>
            <a:pPr algn="ctr">
              <a:lnSpc>
                <a:spcPct val="124000"/>
              </a:lnSpc>
            </a:pPr>
            <a:r>
              <a:rPr sz="1200">
                <a:solidFill>
                  <a:srgbClr val="999999"/>
                </a:solidFill>
                <a:latin typeface="Inter"/>
              </a:rPr>
              <a:t>core references (Tables 1–3)</a:t>
            </a:r>
          </a:p>
        </p:txBody>
      </p:sp>
      <p:sp>
        <p:nvSpPr>
          <p:cNvPr id="11" name="Rounded Rectangle 10"/>
          <p:cNvSpPr/>
          <p:nvPr/>
        </p:nvSpPr>
        <p:spPr>
          <a:xfrm>
            <a:off x="3381756"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31</a:t>
            </a:r>
          </a:p>
          <a:p>
            <a:pPr algn="ctr">
              <a:lnSpc>
                <a:spcPct val="124000"/>
              </a:lnSpc>
            </a:pPr>
            <a:r>
              <a:rPr sz="1200">
                <a:solidFill>
                  <a:srgbClr val="999999"/>
                </a:solidFill>
                <a:latin typeface="Inter"/>
              </a:rPr>
              <a:t>indirect references (Tables 4–6)</a:t>
            </a:r>
          </a:p>
        </p:txBody>
      </p:sp>
      <p:sp>
        <p:nvSpPr>
          <p:cNvPr id="12" name="Rounded Rectangle 11"/>
          <p:cNvSpPr/>
          <p:nvPr/>
        </p:nvSpPr>
        <p:spPr>
          <a:xfrm>
            <a:off x="6196584"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13" name="Rounded Rectangle 12"/>
          <p:cNvSpPr/>
          <p:nvPr/>
        </p:nvSpPr>
        <p:spPr>
          <a:xfrm>
            <a:off x="9011412"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4" name="Rounded Rectangle 13"/>
          <p:cNvSpPr/>
          <p:nvPr/>
        </p:nvSpPr>
        <p:spPr>
          <a:xfrm>
            <a:off x="566928"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a:t>
            </a:r>
          </a:p>
        </p:txBody>
      </p:sp>
      <p:sp>
        <p:nvSpPr>
          <p:cNvPr id="15" name="Rounded Rectangle 14"/>
          <p:cNvSpPr/>
          <p:nvPr/>
        </p:nvSpPr>
        <p:spPr>
          <a:xfrm>
            <a:off x="3381756"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catalog tables in 6 groups</a:t>
            </a:r>
          </a:p>
        </p:txBody>
      </p:sp>
      <p:sp>
        <p:nvSpPr>
          <p:cNvPr id="16" name="Rounded Rectangle 15"/>
          <p:cNvSpPr/>
          <p:nvPr/>
        </p:nvSpPr>
        <p:spPr>
          <a:xfrm>
            <a:off x="6196584"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current → new mapping rows</a:t>
            </a:r>
          </a:p>
        </p:txBody>
      </p:sp>
      <p:sp>
        <p:nvSpPr>
          <p:cNvPr id="17" name="Rounded Rectangle 16"/>
          <p:cNvSpPr/>
          <p:nvPr/>
        </p:nvSpPr>
        <p:spPr>
          <a:xfrm>
            <a:off x="9011412"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coverage register entries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LEGEND  ·  THE AUDIT’S OWN CLASSIFICATION VOCABULARY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Legend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010571"/>
                <a:gridCol w="9047573"/>
              </a:tblGrid>
              <a:tr h="240219">
                <a:tc>
                  <a:txBody>
                    <a:bodyPr wrap="square">
                      <a:noAutofit/>
                    </a:bodyPr>
                    <a:lstStyle/>
                    <a:p>
                      <a:pPr algn="l">
                        <a:lnSpc>
                          <a:spcPct val="106000"/>
                        </a:lnSpc>
                        <a:spcAft>
                          <a:spcPts val="0"/>
                        </a:spcAft>
                      </a:pPr>
                      <a:r>
                        <a:rPr sz="1100" b="1">
                          <a:solidFill>
                            <a:srgbClr val="333333"/>
                          </a:solidFill>
                          <a:latin typeface="Inter"/>
                        </a:rPr>
                        <a:t>Term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Meaning, as the audit defines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Role (Group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 = produces/writes PNT state from a measurement | Transform = fuses/derives/converts PNT state (EKF fusion, GPS blending, geodetic↔NED) | Sink = only reads PNT state to drive control/behavior.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Trigger Condition (what invokes the code) | PNT State Observed (the exact accessor/value read, e.g. gps.status(), ahrs.have_inertial_nav(), EKF variance) — the discriminator from Group 1 | Behavior Change Description (how behavior changes).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 (shared data value/struct field) | Function call (direct call) | Inheritance / Interface (backend overrides a virtual frontend interface) | Shared global / singleton (access via an AP:: accessor — AP::gps(), AP::ahrs(), AP::scheduler(),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Notes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circular dependency (e.g. AHRS↔EKF) | [SHARED-STRUCT] PNT fields packed with non-PNT fields (extraction risk) | [DUPLICATED] copy-pasted PNT logic across locations | [MULTI-CATEGORY] spans &gt;1 PNT category (emitted once per table) | [ABSENT] expected PNT element not found where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Cross-reference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main table owns a monotonic, per-table # space (1,2,3…). Its dependency sub-table (the matching Xa table) reuses those exact numbers as Ref #. Each Xa table contains a Layer 1 block (direct edges) followed by a Layer 2 block (full transitive chain + final consumer + Chain Depth = the number of → hops explicitly listed in that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40427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follows the same convention throughout: the number of → hops explicitly listed in that chain.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SCOPE AND LINE-NUMBER BASIS, VERBATIM</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Scope of the catalog</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SCOPE</a:t>
            </a:r>
          </a:p>
        </p:txBody>
      </p:sp>
      <p:sp>
        <p:nvSpPr>
          <p:cNvPr id="7" name="TextBox 6"/>
          <p:cNvSpPr txBox="1"/>
          <p:nvPr/>
        </p:nvSpPr>
        <p:spPr>
          <a:xfrm>
            <a:off x="566928" y="1761896"/>
            <a:ext cx="11003280" cy="1802358"/>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Scope. This document is an audit-grade, read-only static-analysis catalog of every location in the ArduPilot firmware codebase (repository root containing ArduCopter/, ArduPlane/, Rover/, ArduSub/, AntennaTracker/, Blimp/, libraries/, modules/) where Positioning, Navigation, and Timing (PNT) data is handled, together with a two-layer dependency map for every catalogued reference. GROUP 1 catalogs core references — code that directly implements, reads, writes, or processes PNT data. GROUP 2 catalogs indirect / relational references — code that does not directly read or write PNT data but whose behavior changes as a result of PNT state. All file paths are repository-root-relative; every code snippet is reproduced VERBATIM from the cited path and line range so each row is independently verifiable. No source file is modified by this audit.</a:t>
            </a:r>
          </a:p>
        </p:txBody>
      </p:sp>
      <p:sp>
        <p:nvSpPr>
          <p:cNvPr id="8" name="TextBox 7"/>
          <p:cNvSpPr txBox="1"/>
          <p:nvPr/>
        </p:nvSpPr>
        <p:spPr>
          <a:xfrm>
            <a:off x="566928" y="3765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LINE-NUMBER BASIS, AS PRINTED ON THE AUDIT’S FIRST PAGE</a:t>
            </a:r>
          </a:p>
        </p:txBody>
      </p:sp>
      <p:sp>
        <p:nvSpPr>
          <p:cNvPr id="9" name="Rectangle 8"/>
          <p:cNvSpPr/>
          <p:nvPr/>
        </p:nvSpPr>
        <p:spPr>
          <a:xfrm>
            <a:off x="566928" y="3991126"/>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13232" y="3991126"/>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“Line-number basis: every cited path:line range in this document is stated as of the audited HEAD 5b67e27b0a (the pre-refactor baseline). The reusable-service extraction adds one additive, default-off set_update_dt timing seam to AP_L1_Control.cpp / .h after that commit; that seam relocates no behavior and only shifts those two files' line numbers, so the numbers here are intentionally not post-seam current-source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THE SURVEYED SURFACE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Footprint Summary</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surface swept to make the catalog exhaustive, in the audit’s own words and figures.</a:t>
            </a:r>
          </a:p>
        </p:txBody>
      </p:sp>
      <p:sp>
        <p:nvSpPr>
          <p:cNvPr id="7" name="TextBox 6"/>
          <p:cNvSpPr txBox="1"/>
          <p:nvPr/>
        </p:nvSpPr>
        <p:spPr>
          <a:xfrm>
            <a:off x="566928" y="185207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Footprint surveyed: libraries/ = 151 subsystems; libraries/AP_GPS/*.{cpp,h} = 44 files (14 receiver backends each catalogued individually + AP_GPS_Blended + GPS_Backend base); EKF families AP_NavEKF/AP_NavEKF2/AP_NavEKF3 with AP_NavEKF3 split across 13 fusion modules (all catalogued); flight/drive-mode files = 81 (ArduCopter 29 + ArduPlane 26 + Rover 14 + ArduSub 12), enumerated in the Coverage &amp; Explicit-Absence Register. PNT state is produced under libraries/ and consumed/acted-upon in vehicle glue code (failsafe, ekf_check, fence, flight-mode gating).</a:t>
            </a:r>
          </a:p>
        </p:txBody>
      </p:sp>
      <p:sp>
        <p:nvSpPr>
          <p:cNvPr id="8" name="Rounded Rectangle 7"/>
          <p:cNvSpPr/>
          <p:nvPr/>
        </p:nvSpPr>
        <p:spPr>
          <a:xfrm>
            <a:off x="566928"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151</a:t>
            </a:r>
          </a:p>
          <a:p>
            <a:pPr algn="ctr">
              <a:lnSpc>
                <a:spcPct val="124000"/>
              </a:lnSpc>
            </a:pPr>
            <a:r>
              <a:rPr sz="1200">
                <a:solidFill>
                  <a:srgbClr val="999999"/>
                </a:solidFill>
                <a:latin typeface="Inter"/>
              </a:rPr>
              <a:t>subsystems in libraries/</a:t>
            </a:r>
          </a:p>
        </p:txBody>
      </p:sp>
      <p:sp>
        <p:nvSpPr>
          <p:cNvPr id="9" name="Rounded Rectangle 8"/>
          <p:cNvSpPr/>
          <p:nvPr/>
        </p:nvSpPr>
        <p:spPr>
          <a:xfrm>
            <a:off x="2818790"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44</a:t>
            </a:r>
          </a:p>
          <a:p>
            <a:pPr algn="ctr">
              <a:lnSpc>
                <a:spcPct val="124000"/>
              </a:lnSpc>
            </a:pPr>
            <a:r>
              <a:rPr sz="1200">
                <a:solidFill>
                  <a:srgbClr val="999999"/>
                </a:solidFill>
                <a:latin typeface="Inter"/>
              </a:rPr>
              <a:t>AP_GPS files</a:t>
            </a:r>
          </a:p>
        </p:txBody>
      </p:sp>
      <p:sp>
        <p:nvSpPr>
          <p:cNvPr id="10" name="Rounded Rectangle 9"/>
          <p:cNvSpPr/>
          <p:nvPr/>
        </p:nvSpPr>
        <p:spPr>
          <a:xfrm>
            <a:off x="5070652"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14</a:t>
            </a:r>
          </a:p>
          <a:p>
            <a:pPr algn="ctr">
              <a:lnSpc>
                <a:spcPct val="124000"/>
              </a:lnSpc>
            </a:pPr>
            <a:r>
              <a:rPr sz="1200">
                <a:solidFill>
                  <a:srgbClr val="999999"/>
                </a:solidFill>
                <a:latin typeface="Inter"/>
              </a:rPr>
              <a:t>receiver backends</a:t>
            </a:r>
          </a:p>
        </p:txBody>
      </p:sp>
      <p:sp>
        <p:nvSpPr>
          <p:cNvPr id="11" name="Rounded Rectangle 10"/>
          <p:cNvSpPr/>
          <p:nvPr/>
        </p:nvSpPr>
        <p:spPr>
          <a:xfrm>
            <a:off x="7322514"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13</a:t>
            </a:r>
          </a:p>
          <a:p>
            <a:pPr algn="ctr">
              <a:lnSpc>
                <a:spcPct val="124000"/>
              </a:lnSpc>
            </a:pPr>
            <a:r>
              <a:rPr sz="1200">
                <a:solidFill>
                  <a:srgbClr val="999999"/>
                </a:solidFill>
                <a:latin typeface="Inter"/>
              </a:rPr>
              <a:t>EKF3 fusion modules</a:t>
            </a:r>
          </a:p>
        </p:txBody>
      </p:sp>
      <p:sp>
        <p:nvSpPr>
          <p:cNvPr id="12" name="Rounded Rectangle 11"/>
          <p:cNvSpPr/>
          <p:nvPr/>
        </p:nvSpPr>
        <p:spPr>
          <a:xfrm>
            <a:off x="9574376"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81</a:t>
            </a:r>
          </a:p>
          <a:p>
            <a:pPr algn="ctr">
              <a:lnSpc>
                <a:spcPct val="124000"/>
              </a:lnSpc>
            </a:pPr>
            <a:r>
              <a:rPr sz="1200">
                <a:solidFill>
                  <a:srgbClr val="999999"/>
                </a:solidFill>
                <a:latin typeface="Inter"/>
              </a:rPr>
              <a:t>flight / drive-mode files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a:t>
            </a:r>
          </a:p>
        </p:txBody>
      </p:sp>
      <p:sp>
        <p:nvSpPr>
          <p:cNvPr id="6" name="Rectangle 5"/>
          <p:cNvSpPr/>
          <p:nvPr/>
        </p:nvSpPr>
        <p:spPr>
          <a:xfrm>
            <a:off x="566928" y="1536192"/>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713232" y="1536192"/>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“This Executive Summary opens the audit and states up front what the catalog behind it establishes: where every Positioning, Navigation and Timing behavior in the ArduPilot firmware lives today, what depends on it, and — for the L1 lateral-navigation slice — which member of the reusable AfsimL1Behavior service each behavior is refactored into. It is a reading aid: the numbered tables, the instance mapping and the registers that follow remain the authoritative record.”</a:t>
            </a:r>
          </a:p>
        </p:txBody>
      </p:sp>
      <p:sp>
        <p:nvSpPr>
          <p:cNvPr id="8" name="TextBox 7"/>
          <p:cNvSpPr txBox="1"/>
          <p:nvPr/>
        </p:nvSpPr>
        <p:spPr>
          <a:xfrm>
            <a:off x="566928" y="272041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PROJECT OVERVIEW</a:t>
            </a:r>
          </a:p>
        </p:txBody>
      </p:sp>
      <p:sp>
        <p:nvSpPr>
          <p:cNvPr id="9" name="TextBox 8"/>
          <p:cNvSpPr txBox="1"/>
          <p:nvPr/>
        </p:nvSpPr>
        <p:spPr>
          <a:xfrm>
            <a:off x="566928" y="2946120"/>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This deliverable is an audit-grade, read-only static-analysis catalog of every location in the ArduPilot firmware codebase where Positioning, Navigation and Timing (PNT) data is handled, taken at audited HEAD 5b67e27b0a. Every catalogued reference reproduces the code at its cited path:line range verbatim and carries a two-layer dependency map: Layer 1 records the direct callers, callees and typed data edges around the reference, and Layer 2 records the full transitive chain through to the final consumer that acts on the value.</a:t>
            </a:r>
          </a:p>
        </p:txBody>
      </p:sp>
      <p:sp>
        <p:nvSpPr>
          <p:cNvPr id="10" name="TextBox 9"/>
          <p:cNvSpPr txBox="1"/>
          <p:nvPr/>
        </p:nvSpPr>
        <p:spPr>
          <a:xfrm>
            <a:off x="566928" y="442051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catalog is extended with a current-location → new-service-location mapping. 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 No source file is modified by this audit.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 (continued)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CORE PROBLEM ADDRESSED</a:t>
            </a:r>
          </a:p>
        </p:txBody>
      </p:sp>
      <p:sp>
        <p:nvSpPr>
          <p:cNvPr id="7" name="TextBox 6"/>
          <p:cNvSpPr txBox="1"/>
          <p:nvPr/>
        </p:nvSpPr>
        <p:spPr>
          <a:xfrm>
            <a:off x="566928" y="1761896"/>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PNT behavior in ArduPilot is not a library that a host can call — it is embedded in the vehicle flight loop and duplicated across vehicles. Position, velocity, attitude and the control-step timebase are pulled implicitly from shared AHRS/EKF state and the hardware clock; PNT values arrive packed into structures alongside non-PNT fields; and the same derivation is repeated across the vehicle glue code. The catalog records that coupling directly: [SHARED-STRUCT] marks the packed structures, [DUPLICATED] marks the repeated derivations, and [CIRCULAR] marks the state that depends on itself.</a:t>
            </a:r>
          </a:p>
        </p:txBody>
      </p:sp>
      <p:sp>
        <p:nvSpPr>
          <p:cNvPr id="8" name="TextBox 7"/>
          <p:cNvSpPr txBox="1"/>
          <p:nvPr/>
        </p:nvSpPr>
        <p:spPr>
          <a:xfrm>
            <a:off x="566928" y="323628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consequence is that an external host cannot reuse a PNT behavior without first knowing every place that behavior lives, what it reads, and what breaks if it moves. This audit establishes exactly that ground truth — an enumerated, independently verifiable inventory of every PNT touch-point together with its dependency neighbourhood — and, for the L1-navigation slice, names the service member each behavior moves to, so the extraction can be reviewed as a mapping between named locations rather than as a rewrite.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THE AUDIT’S OWN AUDIENCES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Stakeholders and Users</a:t>
            </a:r>
          </a:p>
        </p:txBody>
      </p:sp>
      <p:sp>
        <p:nvSpPr>
          <p:cNvPr id="6" name="TextBox 5"/>
          <p:cNvSpPr txBox="1"/>
          <p:nvPr/>
        </p:nvSpPr>
        <p:spPr>
          <a:xfrm>
            <a:off x="566928" y="1536192"/>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Integration and host engineers embedding the extracted guidance service use the current → new service location mapping as the wiring contract: it names, accessor by accessor, the value the host must inject and the service member that now supplies it. Flight-controls reviewers signing off the guidance seam use the Core Navigation and Core Timing tables, with their paired dependency sub-tables, to confirm that nothing outside the audited seam observes the values being injected.</a:t>
            </a:r>
          </a:p>
        </p:txBody>
      </p:sp>
      <p:sp>
        <p:nvSpPr>
          <p:cNvPr id="7" name="TextBox 6"/>
          <p:cNvSpPr txBox="1"/>
          <p:nvPr/>
        </p:nvSpPr>
        <p:spPr>
          <a:xfrm>
            <a:off x="566928" y="2746019"/>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Firmware maintainers auditing PNT coupling use the audit-discipline flags to locate circular state, shared structures and duplicated derivations before touching shared state, and the Coverage &amp; Explicit-Absence Register to see which surfaces were swept and found clear. Reviewers and auditors rely on the read-only guarantee and on the verbatim path:line citations, which make every row independently checkable against the tree at the audited HEAD rather than something that has to be taken on trust.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WHICH PART CARRIES WHAT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Which part of this deck each audience needs</a:t>
            </a:r>
          </a:p>
        </p:txBody>
      </p:sp>
      <p:graphicFrame>
        <p:nvGraphicFramePr>
          <p:cNvPr id="6" name="Table 5"/>
          <p:cNvGraphicFramePr>
            <a:graphicFrameLocks noGrp="1"/>
          </p:cNvGraphicFramePr>
          <p:nvPr/>
        </p:nvGraphicFramePr>
        <p:xfrm>
          <a:off x="566928" y="1591056"/>
          <a:ext cx="11058144" cy="2267285"/>
        </p:xfrm>
        <a:graphic>
          <a:graphicData uri="http://schemas.openxmlformats.org/drawingml/2006/table">
            <a:tbl>
              <a:tblPr>
                <a:tableStyleId>{5C22544A-7EE6-4342-B048-85BDC9FD1C3A}</a:tableStyleId>
              </a:tblPr>
              <a:tblGrid>
                <a:gridCol w="2193350"/>
                <a:gridCol w="5940325"/>
                <a:gridCol w="2924469"/>
              </a:tblGrid>
              <a:tr h="240219">
                <a:tc>
                  <a:txBody>
                    <a:bodyPr wrap="square">
                      <a:noAutofit/>
                    </a:bodyPr>
                    <a:lstStyle/>
                    <a:p>
                      <a:pPr algn="l">
                        <a:lnSpc>
                          <a:spcPct val="106000"/>
                        </a:lnSpc>
                        <a:spcAft>
                          <a:spcPts val="0"/>
                        </a:spcAft>
                      </a:pPr>
                      <a:r>
                        <a:rPr sz="1100" b="1">
                          <a:solidFill>
                            <a:srgbClr val="333333"/>
                          </a:solidFill>
                          <a:latin typeface="Inter"/>
                        </a:rPr>
                        <a:t>Audience the audit names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they use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in this deck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Integration and host engineers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current → new service location mapping, as the wiring contract: accessor by accessor, the value the host must inject and the service member that now supplies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11 · PNT 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Flight-controls reviewers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Navigation and Core Timing with their paired dependency sub-tables, to confirm that nothing outside the audited seam observes the values being injected.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Parts 5 and 6 · Core Navigation, Core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Firmware maintainers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audit-discipline flags, to locate circular state, shared structures and duplicated derivations before touching shared state, and the Coverage &amp; Explicit-Absence Register to see which surfaces were swept and found clear.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3 · severity axis; Part 12 ·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Reviewers and auditors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read-only guarantee and the verbatim path:line citations, which make every row independently checkable against the tree at the audited HEAD rather than something that has to be taken on trust.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 13 · provenance and reconciliation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figure below is a reconciled total of the catalog itself, carried forward unchanged from the tables, the instance mapping and the registers that follow.</a:t>
            </a:r>
          </a:p>
        </p:txBody>
      </p:sp>
      <p:graphicFrame>
        <p:nvGraphicFramePr>
          <p:cNvPr id="7" name="Table 6"/>
          <p:cNvGraphicFramePr>
            <a:graphicFrameLocks noGrp="1"/>
          </p:cNvGraphicFramePr>
          <p:nvPr/>
        </p:nvGraphicFramePr>
        <p:xfrm>
          <a:off x="566928" y="2063953"/>
          <a:ext cx="11058144" cy="3280817"/>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Code that directly implements, reads, writes or processes PNT 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 — CORE PNT REFERENCES: Table 1 Core Positioning, Table 2 Core Navigation, Table 3 Core Timing, each with its 1a / 2a / 3a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Code that reads no PNT data itself but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 — INDIRECT / RELATIONAL PNT REFERENCES: Table 4 Indirect Positioning, Table 5 Indirect Navigation, Table 6 Indirect Timing, each with its 4a / 5a / 6a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Total catalogued touch-points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plus indirect — the complete PNT surface enumerated by this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GROUP 1 and GROUP 2 main tables.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Evidence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94 touch-points × 3 layers: the main row, its Layer 1 direct edges and its Layer 2 transitive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Each main table together with its matching Xa dependency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Data objects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table objects: 6 main tables plus their 6 Layer 1 and 6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through 6 /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Catalog structure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in 6 numbered groups: 6 main tables, each paired with an Xa sub-table holding its Layer 1 and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1 / 1a through 6 / 6a, rendered in that order.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 (continued)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Flag kinds, with occurrences [CIRCULAR] 8 · [SHARED-STRUCT] 19 · [DUPLICATED] 36 · [MULTI-CATEGORY] 7 · [ABSENT] 30. They mark extraction risk and enforce non-inference discipline inline in the Notes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Notes columns throughout; taxonomy and occurrence counts in 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Coverage and explicit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Register entries across 10 sub-registers, including 27 checked, explicitly documented absences — evidence that the sweep was exhaustive rather than opportunistic.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Current → new service mapping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L1-navigation touch-points mapped onto the AfsimL1Behavior member each is refactored into, spanning position, velocity, attitude, airspeed scaling, timing, geometry and the command outputs.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WHAT THE CATALOG IS FOR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Expected Impact and Value Proposition</a:t>
            </a:r>
          </a:p>
        </p:txBody>
      </p:sp>
      <p:sp>
        <p:nvSpPr>
          <p:cNvPr id="6" name="TextBox 5"/>
          <p:cNvSpPr txBox="1"/>
          <p:nvPr/>
        </p:nvSpPr>
        <p:spPr>
          <a:xfrm>
            <a:off x="566928" y="1536192"/>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 converts an implicit understanding of ArduPilot PNT coupling into a verifiable extraction baseline. Because every row cites a path:line range and reproduces the code at that range verbatim, the inventory can be re-checked against the tree at audited HEAD 5b67e27b0a rather than taken on trust, and the totals above reconcile against the catalog they summarise.</a:t>
            </a:r>
          </a:p>
        </p:txBody>
      </p:sp>
      <p:sp>
        <p:nvSpPr>
          <p:cNvPr id="7" name="TextBox 6"/>
          <p:cNvSpPr txBox="1"/>
          <p:nvPr/>
        </p:nvSpPr>
        <p:spPr>
          <a:xfrm>
            <a:off x="566928" y="248145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audit-discipline flags turn extraction risk into explicit, addressable markers — where state is circular, where PNT fields are packed with non-PNT fields, where a derivation is duplicated, and, through the checked absences, where an expected PNT element was looked for and genuinely is not present. For the L1-navigation slice the current → new mapping supplies a documented wiring contract for the reusable service, so the guidance seam can be reviewed and signed off against named locations on both sides of the extraction.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DOCUMENT ROADMAP  ·  THE AUDIT’S OWN READING ORDER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Document Roadmap / How to Read This Document</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The sections below appear in this order. Section names, table numbers and row numbering are exactly as catalogued.</a:t>
            </a:r>
          </a:p>
        </p:txBody>
      </p:sp>
      <p:graphicFrame>
        <p:nvGraphicFramePr>
          <p:cNvPr id="7" name="Table 6"/>
          <p:cNvGraphicFramePr>
            <a:graphicFrameLocks noGrp="1"/>
          </p:cNvGraphicFramePr>
          <p:nvPr/>
        </p:nvGraphicFramePr>
        <p:xfrm>
          <a:off x="566928" y="1870100"/>
          <a:ext cx="11058144" cy="3165639"/>
        </p:xfrm>
        <a:graphic>
          <a:graphicData uri="http://schemas.openxmlformats.org/drawingml/2006/table">
            <a:tbl>
              <a:tblPr>
                <a:tableStyleId>{5C22544A-7EE6-4342-B048-85BDC9FD1C3A}</a:tableStyleId>
              </a:tblPr>
              <a:tblGrid>
                <a:gridCol w="3198636"/>
                <a:gridCol w="7859508"/>
              </a:tblGrid>
              <a:tr h="240219">
                <a:tc>
                  <a:txBody>
                    <a:bodyPr wrap="square">
                      <a:noAutofit/>
                    </a:bodyPr>
                    <a:lstStyle/>
                    <a:p>
                      <a:pPr algn="l">
                        <a:lnSpc>
                          <a:spcPct val="106000"/>
                        </a:lnSpc>
                        <a:spcAft>
                          <a:spcPts val="0"/>
                        </a:spcAft>
                      </a:pPr>
                      <a:r>
                        <a:rPr sz="1100" b="1">
                          <a:solidFill>
                            <a:srgbClr val="333333"/>
                          </a:solidFill>
                          <a:latin typeface="Inter"/>
                        </a:rPr>
                        <a:t>Section,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it contains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classification vocabularies — Role for Group 1, the Trigger Condition / PNT State Observed / Behavior Change discriminators for Group 2, Dependency Type for Layer 1 — plus the Notes-flag meanings and the cross-reference rule that ties each Xa table back to its main table numbering. Read this first.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Footprint Summary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surveyed surface: the subsystems, receiver backends, EKF families and flight-mode files swept to make the catalog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GROUP 1 — 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Core Positioning, 2 / 2a Core Navigation and 3 / 3a Core Timing: code that directly implements, reads, writes or processes PNT data. Table 2 also carries the New Service Location column.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 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4 / 4a Indirect Positioning, 5 / 5a Indirect Navigation and 6 / 6a Indirect Timing: code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consolidated mapping of every PNT touch-point inside the wrapped L1 controller onto its AfsimL1Behavior member, with the line-number basis stated alongside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flag taxonomy with its occurrence counts, reconciled against the catalog.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directory-wide token sweeps and checked absences that establish exhaustiveness across libraries/, the vehicle directories and the submodule boundary edges.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Severity axis</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audit’s own Audit-Discipline Flags, with its own stated occurrence counts. No new scale is introduced.</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AUDIT-DISCIPLINE FLAGS  ·  5 KINDS, CATALOG-WIDE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Audit-Discipline Flags</a:t>
            </a:r>
          </a:p>
        </p:txBody>
      </p:sp>
      <p:sp>
        <p:nvSpPr>
          <p:cNvPr id="6" name="TextBox 5"/>
          <p:cNvSpPr txBox="1"/>
          <p:nvPr/>
        </p:nvSpPr>
        <p:spPr>
          <a:xfrm>
            <a:off x="566928" y="1591056"/>
            <a:ext cx="11003280" cy="769162"/>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Extraction-risk and non-inference discipline markers applied inline in the Notes columns throughout the catalog.  Each occurrence figure is the audit’s own count of that token across its whole annotation corpus: the Notes of every main row and every Layer 2 chain, the Legend entry that defines the flag and, for [ABSENT], the Coverage register’s checked absences.</a:t>
            </a:r>
          </a:p>
        </p:txBody>
      </p:sp>
      <p:graphicFrame>
        <p:nvGraphicFramePr>
          <p:cNvPr id="7" name="Table 6"/>
          <p:cNvGraphicFramePr>
            <a:graphicFrameLocks noGrp="1"/>
          </p:cNvGraphicFramePr>
          <p:nvPr/>
        </p:nvGraphicFramePr>
        <p:xfrm>
          <a:off x="566928" y="2451658"/>
          <a:ext cx="11058144" cy="1625562"/>
        </p:xfrm>
        <a:graphic>
          <a:graphicData uri="http://schemas.openxmlformats.org/drawingml/2006/table">
            <a:tbl>
              <a:tblPr>
                <a:tableStyleId>{5C22544A-7EE6-4342-B048-85BDC9FD1C3A}</a:tableStyleId>
              </a:tblPr>
              <a:tblGrid>
                <a:gridCol w="2101961"/>
                <a:gridCol w="1370844"/>
                <a:gridCol w="7585339"/>
              </a:tblGrid>
              <a:tr h="270927">
                <a:tc>
                  <a:txBody>
                    <a:bodyPr wrap="square">
                      <a:noAutofit/>
                    </a:bodyPr>
                    <a:lstStyle/>
                    <a:p>
                      <a:pPr algn="l">
                        <a:lnSpc>
                          <a:spcPct val="106000"/>
                        </a:lnSpc>
                        <a:spcAft>
                          <a:spcPts val="0"/>
                        </a:spcAft>
                      </a:pPr>
                      <a:r>
                        <a:rPr sz="1300" b="1">
                          <a:solidFill>
                            <a:srgbClr val="333333"/>
                          </a:solidFill>
                          <a:latin typeface="Inter"/>
                        </a:rPr>
                        <a:t>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Occurrences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Meaning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1">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Circular dependency (e.g. AHRS ↔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PNT fields packed with non-PNT fields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Same PNT value read/derived in multiple places.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Touch-point spans more than one 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A checked, explicitly-documented absence (non-inference discipline).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205236"/>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Explicitly-documented absences catalogued in the Coverage register: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PNT fields packed with non-PNT fields (extraction risk).</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19  ·  [SHARED-STRUCT] marks the packed structures</a:t>
            </a:r>
          </a:p>
        </p:txBody>
      </p:sp>
      <p:graphicFrame>
        <p:nvGraphicFramePr>
          <p:cNvPr id="8" name="Table 7"/>
          <p:cNvGraphicFramePr>
            <a:graphicFrameLocks noGrp="1"/>
          </p:cNvGraphicFramePr>
          <p:nvPr/>
        </p:nvGraphicFramePr>
        <p:xfrm>
          <a:off x="566928" y="2185987"/>
          <a:ext cx="11058144" cy="3468378"/>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1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578238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(continued)</a:t>
            </a:r>
          </a:p>
        </p:txBody>
      </p:sp>
      <p:graphicFrame>
        <p:nvGraphicFramePr>
          <p:cNvPr id="6" name="Table 5"/>
          <p:cNvGraphicFramePr>
            <a:graphicFrameLocks noGrp="1"/>
          </p:cNvGraphicFramePr>
          <p:nvPr/>
        </p:nvGraphicFramePr>
        <p:xfrm>
          <a:off x="566928" y="1591056"/>
          <a:ext cx="11058144" cy="2632544"/>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351616"/>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1076053"/>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Same PNT value read/derived in multiple places.</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36  ·  [DUPLICATED] marks the repeated derivations</a:t>
            </a:r>
          </a:p>
        </p:txBody>
      </p:sp>
      <p:graphicFrame>
        <p:nvGraphicFramePr>
          <p:cNvPr id="8" name="Table 7"/>
          <p:cNvGraphicFramePr>
            <a:graphicFrameLocks noGrp="1"/>
          </p:cNvGraphicFramePr>
          <p:nvPr/>
        </p:nvGraphicFramePr>
        <p:xfrm>
          <a:off x="566928" y="2185987"/>
          <a:ext cx="11058144" cy="3405857"/>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20-28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ArduPlane/takeoff.cpp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58-62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117-125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93-102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9" name="TextBox 8"/>
          <p:cNvSpPr txBox="1"/>
          <p:nvPr/>
        </p:nvSpPr>
        <p:spPr>
          <a:xfrm>
            <a:off x="566928" y="5719860"/>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(continued)</a:t>
            </a:r>
          </a:p>
        </p:txBody>
      </p:sp>
      <p:graphicFrame>
        <p:nvGraphicFramePr>
          <p:cNvPr id="6" name="Table 5"/>
          <p:cNvGraphicFramePr>
            <a:graphicFrameLocks noGrp="1"/>
          </p:cNvGraphicFramePr>
          <p:nvPr/>
        </p:nvGraphicFramePr>
        <p:xfrm>
          <a:off x="566928" y="1591056"/>
          <a:ext cx="11058144" cy="3530899"/>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5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31-39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78-82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24997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4189035"/>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4a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 (continued)</a:t>
            </a:r>
          </a:p>
        </p:txBody>
      </p:sp>
      <p:graphicFrame>
        <p:nvGraphicFramePr>
          <p:cNvPr id="6" name="Table 5"/>
          <p:cNvGraphicFramePr>
            <a:graphicFrameLocks noGrp="1"/>
          </p:cNvGraphicFramePr>
          <p:nvPr/>
        </p:nvGraphicFramePr>
        <p:xfrm>
          <a:off x="566928" y="1591056"/>
          <a:ext cx="11058144" cy="1619012"/>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Circular dependency (e.g. AHRS ↔ EKF).</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8  ·  [CIRCULAR] marks the state that depends on itself</a:t>
            </a:r>
          </a:p>
        </p:txBody>
      </p:sp>
      <p:graphicFrame>
        <p:nvGraphicFramePr>
          <p:cNvPr id="8" name="Table 7"/>
          <p:cNvGraphicFramePr>
            <a:graphicFrameLocks noGrp="1"/>
          </p:cNvGraphicFramePr>
          <p:nvPr/>
        </p:nvGraphicFramePr>
        <p:xfrm>
          <a:off x="566928" y="2185987"/>
          <a:ext cx="11058144" cy="215210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4466109"/>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720657"/>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Touch-point spans more than one PNT pillar.</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7  ·  [MULTI-CATEGORY] spans &gt;1 PNT category (emitted once per table)</a:t>
            </a:r>
          </a:p>
        </p:txBody>
      </p:sp>
      <p:graphicFrame>
        <p:nvGraphicFramePr>
          <p:cNvPr id="8" name="Table 7"/>
          <p:cNvGraphicFramePr>
            <a:graphicFrameLocks noGrp="1"/>
          </p:cNvGraphicFramePr>
          <p:nvPr/>
        </p:nvGraphicFramePr>
        <p:xfrm>
          <a:off x="566928" y="2379840"/>
          <a:ext cx="11058144" cy="1316272"/>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 #17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824128"/>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1138574"/>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1a #15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3a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checked, explicitly-documented absence (non-inference discipline).</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30  ·  where an expected PNT element was looked for and genuinely is not present</a:t>
            </a:r>
          </a:p>
        </p:txBody>
      </p:sp>
      <p:graphicFrame>
        <p:nvGraphicFramePr>
          <p:cNvPr id="8" name="Table 7"/>
          <p:cNvGraphicFramePr>
            <a:graphicFrameLocks noGrp="1"/>
          </p:cNvGraphicFramePr>
          <p:nvPr/>
        </p:nvGraphicFramePr>
        <p:xfrm>
          <a:off x="566928" y="2379840"/>
          <a:ext cx="11058144" cy="65813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165992"/>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480438"/>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4a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the checked absences</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FOOTNOTE TO THE FLAGS TABLE</a:t>
            </a:r>
          </a:p>
        </p:txBody>
      </p:sp>
      <p:sp>
        <p:nvSpPr>
          <p:cNvPr id="7" name="Rectangle 6"/>
          <p:cNvSpPr/>
          <p:nvPr/>
        </p:nvSpPr>
        <p:spPr>
          <a:xfrm>
            <a:off x="566928" y="176189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“Explicitly-documented absences catalogued in the Coverage register: 27.”</a:t>
            </a:r>
          </a:p>
        </p:txBody>
      </p:sp>
      <p:sp>
        <p:nvSpPr>
          <p:cNvPr id="9" name="TextBox 8"/>
          <p:cNvSpPr txBox="1"/>
          <p:nvPr/>
        </p:nvSpPr>
        <p:spPr>
          <a:xfrm>
            <a:off x="566928" y="2178024"/>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WHERE THEY ARE CATALOGUED</a:t>
            </a:r>
          </a:p>
        </p:txBody>
      </p:sp>
      <p:sp>
        <p:nvSpPr>
          <p:cNvPr id="10" name="TextBox 9"/>
          <p:cNvSpPr txBox="1"/>
          <p:nvPr/>
        </p:nvSpPr>
        <p:spPr>
          <a:xfrm>
            <a:off x="566928" y="2403728"/>
            <a:ext cx="11003280" cy="479526"/>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checked absences are catalogued entry by entry in the Coverage &amp; Explicit-Absence Register, which is carried in full in Part 12 of this deck: each one names the surface that was swept, what was looked for, and the evidence that it is not present.</a:t>
            </a:r>
          </a:p>
        </p:txBody>
      </p:sp>
      <p:sp>
        <p:nvSpPr>
          <p:cNvPr id="11" name="TextBox 10"/>
          <p:cNvSpPr txBox="1"/>
          <p:nvPr/>
        </p:nvSpPr>
        <p:spPr>
          <a:xfrm>
            <a:off x="566928" y="3084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DISCIPLINE THE FLAG ENFORCES</a:t>
            </a:r>
          </a:p>
        </p:txBody>
      </p:sp>
      <p:sp>
        <p:nvSpPr>
          <p:cNvPr id="12" name="Rectangle 11"/>
          <p:cNvSpPr/>
          <p:nvPr/>
        </p:nvSpPr>
        <p:spPr>
          <a:xfrm>
            <a:off x="566928" y="331012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13232" y="331012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 checked, explicitly-documented absence (non-inference discipline).”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THE TWO NAMED TOP RISKS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two touch-points the audit itself singles out</a:t>
            </a:r>
          </a:p>
        </p:txBody>
      </p:sp>
      <p:sp>
        <p:nvSpPr>
          <p:cNvPr id="6" name="TextBox 5"/>
          <p:cNvSpPr txBox="1"/>
          <p:nvPr/>
        </p:nvSpPr>
        <p:spPr>
          <a:xfrm>
            <a:off x="566928" y="1536192"/>
            <a:ext cx="11003280" cy="199605"/>
          </a:xfrm>
          <a:prstGeom prst="rect">
            <a:avLst/>
          </a:prstGeom>
          <a:noFill/>
        </p:spPr>
        <p:txBody>
          <a:bodyPr wrap="square" lIns="0" rIns="0" tIns="0" bIns="0" anchor="t">
            <a:noAutofit/>
          </a:bodyPr>
          <a:lstStyle/>
          <a:p>
            <a:pPr algn="l">
              <a:lnSpc>
                <a:spcPct val="124000"/>
              </a:lnSpc>
              <a:spcAft>
                <a:spcPts val="0"/>
              </a:spcAft>
            </a:pPr>
            <a:r>
              <a:rPr sz="1300" b="0">
                <a:solidFill>
                  <a:srgbClr val="333333"/>
                </a:solidFill>
                <a:latin typeface="Inter"/>
              </a:rPr>
              <a:t>The audit applies superlative risk language to exactly two catalogued touch-points. Both are quoted here in full, as printed.</a:t>
            </a:r>
          </a:p>
        </p:txBody>
      </p:sp>
      <p:sp>
        <p:nvSpPr>
          <p:cNvPr id="7" name="TextBox 6"/>
          <p:cNvSpPr txBox="1"/>
          <p:nvPr/>
        </p:nvSpPr>
        <p:spPr>
          <a:xfrm>
            <a:off x="566928" y="193696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#18  ·  libraries/AP_GPS/AP_GPS.h  192-201  structAP_GPS::GPS_State</a:t>
            </a:r>
          </a:p>
        </p:txBody>
      </p:sp>
      <p:sp>
        <p:nvSpPr>
          <p:cNvPr id="8" name="Rectangle 7"/>
          <p:cNvSpPr/>
          <p:nvPr/>
        </p:nvSpPr>
        <p:spPr>
          <a:xfrm>
            <a:off x="566928" y="2162669"/>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162669"/>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p:txBody>
      </p:sp>
      <p:sp>
        <p:nvSpPr>
          <p:cNvPr id="10" name="TextBox 9"/>
          <p:cNvSpPr txBox="1"/>
          <p:nvPr/>
        </p:nvSpPr>
        <p:spPr>
          <a:xfrm>
            <a:off x="566928" y="280118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#20  ·  libraries/AP_Common/Location.h  11-20  classLocation</a:t>
            </a:r>
          </a:p>
        </p:txBody>
      </p:sp>
      <p:sp>
        <p:nvSpPr>
          <p:cNvPr id="11" name="Rectangle 10"/>
          <p:cNvSpPr/>
          <p:nvPr/>
        </p:nvSpPr>
        <p:spPr>
          <a:xfrm>
            <a:off x="566928" y="3026890"/>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13232" y="3026890"/>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Geodetic PNT fields lat/lng (1E7 deg) and alt (cm) packed with NON-PNT bitfields relative_alt, loiter_ccw, terrain_alt, origin_alt, loiter_xtrack. Ubiquitous value type; top extraction risk.”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1 — Core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Where PNT is born: receiver backends, the shared state struct and the location value type.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26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u-blox UBX binary NAV-POSLLH.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NMEA-0183 ASCII (GGA/RMC) sentence.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Septentrio SBF binary PVTGeodetic.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NovAtel OEM BESTPOS.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v1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v2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SiRF binary geodetic navigation.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Emlid Reach ERB protocol.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MAVLink GPS_INPUT message.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MSP protocol GPS data.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Trimble GSOF binary.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4169310"/>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DroneCAN/UAVCAN Fix2 (external boundary modules/DroneCAN).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External AHRS/INS GPS feed.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Software-in-the-loop simulated GPS.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libraries/AP_GPS/GPS_Backend.cpp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101-109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Backend base class; derives state.velocity (NED) from ground_speed + ground_course for receivers that do not report 3D velocity. Shared by all backends.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324-329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Frontend accessor exposing backend-measured GPS_State.location; dispatches to primary_instance. Reached vehicle-side via the AP::gps() 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3D NED velocity accessor of measured GPS_State.velocity. velocity also drives Navigation fusion (Table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4587228"/>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libraries/AP_GPS/AP_GPS_Blended.cpp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Multi-receiver blending of location/velocity (GPS_MAX_RECEIVERS==2). Reads gps.state[].status (Data dependency) to weight receivers.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Geodetic PNT fields lat/lng (1E7 deg) and alt (cm) packed with NON-PNT bitfields relative_alt, loiter_ccw, terrain_alt, origin_alt, loiter_xtrack. Ubiquitous value type; top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libraries/AP_Common/Location.cpp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259-268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(lat/lng/alt) → NEU centimetre vector relative to the EKF origin (geodetic↔NED duality).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libraries/AP_InertialNav/AP_InertialNav.cpp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Pulls EKF origin-relative NE/D position into _relpos_cm (cm). get_position_neu_cm() exposes it to vehicle code.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3D position/velocity controller consuming the position target. there is no standalone AC_PosControl library — it physically resides under libraries/AC_AttitudeControl/ (snapshot-fidelity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libraries/APM_Control/AR_PosControl.cpp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114-123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position controller; reads AP::ahrs().get_relative_position_NED_origin() and get_velocity_NED() (Shared global/singleton). Separate controller from Copter's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libraries/AP_Beacon/AP_Beacon.cpp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175-184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(GPS-denied) positioning source; returns vehicle NED position with a staleness timeout.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libraries/AP_VisualOdom/AP_VisualOdom.cpp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201-210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Non-GPS visual-odometry position/attitude source feeding EKF external-nav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libraries/AP_GPS/AP_GPS_UBLOX.cpp</a:t>
                      </a:r>
                      <a:r>
                        <a:rPr sz="1100" b="0">
                          <a:solidFill>
                            <a:srgbClr val="999999"/>
                          </a:solidFill>
                          <a:latin typeface="Fira Code"/>
                        </a:rPr>
                        <a:t>  ·  </a:t>
                      </a:r>
                      <a:r>
                        <a:rPr sz="1100" b="0">
                          <a:solidFill>
                            <a:srgbClr val="999999"/>
                          </a:solidFill>
                          <a:latin typeface="Fira Code"/>
                        </a:rPr>
                        <a:t>1510-1518</a:t>
                      </a:r>
                      <a:r>
                        <a:rPr sz="1100" b="0">
                          <a:solidFill>
                            <a:srgbClr val="999999"/>
                          </a:solidFill>
                          <a:latin typeface="Fira Code"/>
                        </a:rPr>
                        <a:t>  ·  </a:t>
                      </a:r>
                      <a:r>
                        <a:rPr sz="1100" b="0">
                          <a:solidFill>
                            <a:srgbClr val="999999"/>
                          </a:solidFill>
                          <a:latin typeface="Fira Code"/>
                        </a:rPr>
                        <a:t>AP_GPS_UBLOX::_parse_gps()(NAV-POSLLH)</a:t>
                      </a:r>
                    </a:p>
                    <a:p>
                      <a:pPr algn="l">
                        <a:lnSpc>
                          <a:spcPct val="106000"/>
                        </a:lnSpc>
                        <a:spcAft>
                          <a:spcPts val="0"/>
                        </a:spcAft>
                      </a:pPr>
                      <a:r>
                        <a:rPr sz="1100" b="0">
                          <a:solidFill>
                            <a:srgbClr val="333333"/>
                          </a:solidFill>
                          <a:latin typeface="Fira Code"/>
                        </a:rPr>
                        <a:t>        _last_pos_time        = _buffer.posllh.itow;</a:t>
                      </a:r>
                    </a:p>
                    <a:p>
                      <a:pPr algn="l">
                        <a:lnSpc>
                          <a:spcPct val="106000"/>
                        </a:lnSpc>
                        <a:spcAft>
                          <a:spcPts val="0"/>
                        </a:spcAft>
                      </a:pPr>
                      <a:r>
                        <a:rPr sz="1100" b="0">
                          <a:solidFill>
                            <a:srgbClr val="333333"/>
                          </a:solidFill>
                          <a:latin typeface="Fira Code"/>
                        </a:rPr>
                        <a:t>        state.location.lng    = _buffer.posllh.longitude;</a:t>
                      </a:r>
                    </a:p>
                    <a:p>
                      <a:pPr algn="l">
                        <a:lnSpc>
                          <a:spcPct val="106000"/>
                        </a:lnSpc>
                        <a:spcAft>
                          <a:spcPts val="0"/>
                        </a:spcAft>
                      </a:pPr>
                      <a:r>
                        <a:rPr sz="1100" b="0">
                          <a:solidFill>
                            <a:srgbClr val="333333"/>
                          </a:solidFill>
                          <a:latin typeface="Fira Code"/>
                        </a:rPr>
                        <a:t>        state.location.lat    = _buffer.posllh.latitude;</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(_buffer.posllh.altitude_msl - _buffer.posllh.altitude_ellipsoid) * 0.001;</a:t>
                      </a:r>
                    </a:p>
                    <a:p>
                      <a:pPr algn="l">
                        <a:lnSpc>
                          <a:spcPct val="106000"/>
                        </a:lnSpc>
                        <a:spcAft>
                          <a:spcPts val="0"/>
                        </a:spcAft>
                      </a:pPr>
                      <a:r>
                        <a:rPr sz="1100" b="0">
                          <a:solidFill>
                            <a:srgbClr val="333333"/>
                          </a:solidFill>
                          <a:latin typeface="Fira Code"/>
                        </a:rPr>
                        <a:t>        set_alt_amsl_cm(state, _buffer.posllh.altitude_msl / 10);</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state.status          = next_fix;</a:t>
                      </a:r>
                    </a:p>
                    <a:p>
                      <a:pPr algn="l">
                        <a:lnSpc>
                          <a:spcPct val="106000"/>
                        </a:lnSpc>
                        <a:spcAft>
                          <a:spcPts val="0"/>
                        </a:spcAft>
                      </a:pPr>
                      <a:r>
                        <a:rPr sz="1100" b="0">
                          <a:solidFill>
                            <a:srgbClr val="333333"/>
                          </a:solidFill>
                          <a:latin typeface="Fira Code"/>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libraries/AP_GPS/AP_GPS_NMEA.cpp</a:t>
                      </a:r>
                      <a:r>
                        <a:rPr sz="1100" b="0">
                          <a:solidFill>
                            <a:srgbClr val="999999"/>
                          </a:solidFill>
                          <a:latin typeface="Fira Code"/>
                        </a:rPr>
                        <a:t>  ·  </a:t>
                      </a:r>
                      <a:r>
                        <a:rPr sz="1100" b="0">
                          <a:solidFill>
                            <a:srgbClr val="999999"/>
                          </a:solidFill>
                          <a:latin typeface="Fira Code"/>
                        </a:rPr>
                        <a:t>333-340</a:t>
                      </a:r>
                      <a:r>
                        <a:rPr sz="1100" b="0">
                          <a:solidFill>
                            <a:srgbClr val="999999"/>
                          </a:solidFill>
                          <a:latin typeface="Fira Code"/>
                        </a:rPr>
                        <a:t>  ·  </a:t>
                      </a:r>
                      <a:r>
                        <a:rPr sz="1100" b="0">
                          <a:solidFill>
                            <a:srgbClr val="999999"/>
                          </a:solidFill>
                          <a:latin typeface="Fira Code"/>
                        </a:rPr>
                        <a:t>AP_GPS_NMEA::_term_complete()</a:t>
                      </a:r>
                    </a:p>
                    <a:p>
                      <a:pPr algn="l">
                        <a:lnSpc>
                          <a:spcPct val="106000"/>
                        </a:lnSpc>
                        <a:spcAft>
                          <a:spcPts val="0"/>
                        </a:spcAft>
                      </a:pPr>
                      <a:r>
                        <a:rPr sz="1100" b="0">
                          <a:solidFill>
                            <a:srgbClr val="333333"/>
                          </a:solidFill>
                          <a:latin typeface="Fira Code"/>
                        </a:rPr>
                        <a:t>                    state.location.lat  = _new_latitude;</a:t>
                      </a:r>
                    </a:p>
                    <a:p>
                      <a:pPr algn="l">
                        <a:lnSpc>
                          <a:spcPct val="106000"/>
                        </a:lnSpc>
                        <a:spcAft>
                          <a:spcPts val="0"/>
                        </a:spcAft>
                      </a:pPr>
                      <a:r>
                        <a:rPr sz="1100" b="0">
                          <a:solidFill>
                            <a:srgbClr val="333333"/>
                          </a:solidFill>
                          <a:latin typeface="Fira Code"/>
                        </a:rPr>
                        <a:t>                    state.location.lng  = _new_longitude;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state.num_sats      = _new_satellite_count;</a:t>
                      </a:r>
                    </a:p>
                    <a:p>
                      <a:pPr algn="l">
                        <a:lnSpc>
                          <a:spcPct val="106000"/>
                        </a:lnSpc>
                        <a:spcAft>
                          <a:spcPts val="0"/>
                        </a:spcAft>
                      </a:pPr>
                      <a:r>
                        <a:rPr sz="1100" b="0">
                          <a:solidFill>
                            <a:srgbClr val="333333"/>
                          </a:solidFill>
                          <a:latin typeface="Fira Code"/>
                        </a:rPr>
                        <a:t>                state.hdop          = _new_hdop;</a:t>
                      </a:r>
                    </a:p>
                    <a:p>
                      <a:pPr algn="l">
                        <a:lnSpc>
                          <a:spcPct val="106000"/>
                        </a:lnSpc>
                        <a:spcAft>
                          <a:spcPts val="0"/>
                        </a:spcAft>
                      </a:pPr>
                      <a:r>
                        <a:rPr sz="1100" b="0">
                          <a:solidFill>
                            <a:srgbClr val="333333"/>
                          </a:solidFill>
                          <a:latin typeface="Fira Code"/>
                        </a:rPr>
                        <a:t>                switch(_new_quality_indicator) {</a:t>
                      </a:r>
                    </a:p>
                    <a:p>
                      <a:pPr algn="l">
                        <a:lnSpc>
                          <a:spcPct val="106000"/>
                        </a:lnSpc>
                        <a:spcAft>
                          <a:spcPts val="0"/>
                        </a:spcAft>
                      </a:pPr>
                      <a:r>
                        <a:rPr sz="1100" b="0">
                          <a:solidFill>
                            <a:srgbClr val="333333"/>
                          </a:solidFill>
                          <a:latin typeface="Fira Code"/>
                        </a:rPr>
                        <a:t>                case 0: // Fix not available or invalid</a:t>
                      </a:r>
                    </a:p>
                    <a:p>
                      <a:pPr algn="l">
                        <a:lnSpc>
                          <a:spcPct val="106000"/>
                        </a:lnSpc>
                        <a:spcAft>
                          <a:spcPts val="0"/>
                        </a:spcAft>
                      </a:pPr>
                      <a:r>
                        <a:rPr sz="1100" b="0">
                          <a:solidFill>
                            <a:srgbClr val="333333"/>
                          </a:solidFill>
                          <a:latin typeface="Fira Code"/>
                        </a:rPr>
                        <a:t>                    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libraries/AP_GPS/AP_GPS_SBF.cpp</a:t>
                      </a:r>
                      <a:r>
                        <a:rPr sz="1100" b="0">
                          <a:solidFill>
                            <a:srgbClr val="999999"/>
                          </a:solidFill>
                          <a:latin typeface="Fira Code"/>
                        </a:rPr>
                        <a:t>  ·  </a:t>
                      </a:r>
                      <a:r>
                        <a:rPr sz="1100" b="0">
                          <a:solidFill>
                            <a:srgbClr val="999999"/>
                          </a:solidFill>
                          <a:latin typeface="Fira Code"/>
                        </a:rPr>
                        <a:t>484-491</a:t>
                      </a:r>
                      <a:r>
                        <a:rPr sz="1100" b="0">
                          <a:solidFill>
                            <a:srgbClr val="999999"/>
                          </a:solidFill>
                          <a:latin typeface="Fira Code"/>
                        </a:rPr>
                        <a:t>  ·  </a:t>
                      </a:r>
                      <a:r>
                        <a:rPr sz="1100" b="0">
                          <a:solidFill>
                            <a:srgbClr val="999999"/>
                          </a:solidFill>
                          <a:latin typeface="Fira Code"/>
                        </a:rPr>
                        <a:t>AP_GPS_SBF::process_message()</a:t>
                      </a:r>
                    </a:p>
                    <a:p>
                      <a:pPr algn="l">
                        <a:lnSpc>
                          <a:spcPct val="106000"/>
                        </a:lnSpc>
                        <a:spcAft>
                          <a:spcPts val="0"/>
                        </a:spcAft>
                      </a:pPr>
                      <a:r>
                        <a:rPr sz="1100" b="0">
                          <a:solidFill>
                            <a:srgbClr val="333333"/>
                          </a:solidFill>
                          <a:latin typeface="Fira Code"/>
                        </a:rPr>
                        <a:t>            state.location.lat = (int32_t)(temp.Latitude * RAD_TO_DEG_DOUBLE * (double)1e7);</a:t>
                      </a:r>
                    </a:p>
                    <a:p>
                      <a:pPr algn="l">
                        <a:lnSpc>
                          <a:spcPct val="106000"/>
                        </a:lnSpc>
                        <a:spcAft>
                          <a:spcPts val="0"/>
                        </a:spcAft>
                      </a:pPr>
                      <a:r>
                        <a:rPr sz="1100" b="0">
                          <a:solidFill>
                            <a:srgbClr val="333333"/>
                          </a:solidFill>
                          <a:latin typeface="Fira Code"/>
                        </a:rPr>
                        <a:t>            state.location.lng = (int32_t)(temp.Longitude * RAD_TO_DEG_DOUBLE * (double)1e7);</a:t>
                      </a:r>
                    </a:p>
                    <a:p>
                      <a:pPr algn="l">
                        <a:lnSpc>
                          <a:spcPct val="106000"/>
                        </a:lnSpc>
                        <a:spcAft>
                          <a:spcPts val="0"/>
                        </a:spcAft>
                      </a:pPr>
                      <a:r>
                        <a:rPr sz="1100" b="0">
                          <a:solidFill>
                            <a:srgbClr val="333333"/>
                          </a:solidFill>
                          <a:latin typeface="Fira Code"/>
                        </a:rPr>
                        <a:t>            state.have_undulation = !is_DNU(temp.Undulation);</a:t>
                      </a:r>
                    </a:p>
                    <a:p>
                      <a:pPr algn="l">
                        <a:lnSpc>
                          <a:spcPct val="106000"/>
                        </a:lnSpc>
                        <a:spcAft>
                          <a:spcPts val="0"/>
                        </a:spcAft>
                      </a:pPr>
                      <a:r>
                        <a:rPr sz="1100" b="0">
                          <a:solidFill>
                            <a:srgbClr val="333333"/>
                          </a:solidFill>
                          <a:latin typeface="Fira Code"/>
                        </a:rPr>
                        <a:t>            double height = temp.Height;  // in metres</a:t>
                      </a:r>
                    </a:p>
                    <a:p>
                      <a:pPr algn="l">
                        <a:lnSpc>
                          <a:spcPct val="106000"/>
                        </a:lnSpc>
                        <a:spcAft>
                          <a:spcPts val="0"/>
                        </a:spcAft>
                      </a:pPr>
                      <a:r>
                        <a:rPr sz="1100" b="0">
                          <a:solidFill>
                            <a:srgbClr val="333333"/>
                          </a:solidFill>
                          <a:latin typeface="Fira Code"/>
                        </a:rPr>
                        <a:t>            if (state.have_undulation) {</a:t>
                      </a:r>
                    </a:p>
                    <a:p>
                      <a:pPr algn="l">
                        <a:lnSpc>
                          <a:spcPct val="106000"/>
                        </a:lnSpc>
                        <a:spcAft>
                          <a:spcPts val="0"/>
                        </a:spcAft>
                      </a:pPr>
                      <a:r>
                        <a:rPr sz="1100" b="0">
                          <a:solidFill>
                            <a:srgbClr val="333333"/>
                          </a:solidFill>
                          <a:latin typeface="Fira Code"/>
                        </a:rPr>
                        <a:t>                height -= temp.Undulation;</a:t>
                      </a:r>
                    </a:p>
                    <a:p>
                      <a:pPr algn="l">
                        <a:lnSpc>
                          <a:spcPct val="106000"/>
                        </a:lnSpc>
                        <a:spcAft>
                          <a:spcPts val="0"/>
                        </a:spcAft>
                      </a:pPr>
                      <a:r>
                        <a:rPr sz="1100" b="0">
                          <a:solidFill>
                            <a:srgbClr val="333333"/>
                          </a:solidFill>
                          <a:latin typeface="Fira Code"/>
                        </a:rPr>
                        <a:t>                state.undulation = -temp.Undulation;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libraries/AP_GPS/AP_GPS_NOVA.cpp</a:t>
                      </a:r>
                      <a:r>
                        <a:rPr sz="1100" b="0">
                          <a:solidFill>
                            <a:srgbClr val="999999"/>
                          </a:solidFill>
                          <a:latin typeface="Fira Code"/>
                        </a:rPr>
                        <a:t>  ·  </a:t>
                      </a:r>
                      <a:r>
                        <a:rPr sz="1100" b="0">
                          <a:solidFill>
                            <a:srgbClr val="999999"/>
                          </a:solidFill>
                          <a:latin typeface="Fira Code"/>
                        </a:rPr>
                        <a:t>209-216</a:t>
                      </a:r>
                      <a:r>
                        <a:rPr sz="1100" b="0">
                          <a:solidFill>
                            <a:srgbClr val="999999"/>
                          </a:solidFill>
                          <a:latin typeface="Fira Code"/>
                        </a:rPr>
                        <a:t>  ·  </a:t>
                      </a:r>
                      <a:r>
                        <a:rPr sz="1100" b="0">
                          <a:solidFill>
                            <a:srgbClr val="999999"/>
                          </a:solidFill>
                          <a:latin typeface="Fira Code"/>
                        </a:rPr>
                        <a:t>AP_GPS_NOVA::process_message()</a:t>
                      </a:r>
                    </a:p>
                    <a:p>
                      <a:pPr algn="l">
                        <a:lnSpc>
                          <a:spcPct val="106000"/>
                        </a:lnSpc>
                        <a:spcAft>
                          <a:spcPts val="0"/>
                        </a:spcAft>
                      </a:pPr>
                      <a:r>
                        <a:rPr sz="1100" b="0">
                          <a:solidFill>
                            <a:srgbClr val="333333"/>
                          </a:solidFill>
                          <a:latin typeface="Fira Code"/>
                        </a:rPr>
                        <a:t>        state.last_gps_time_ms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state.location.lat = (int32_t) (bestposu.lat * (double)1e7);</a:t>
                      </a:r>
                    </a:p>
                    <a:p>
                      <a:pPr algn="l">
                        <a:lnSpc>
                          <a:spcPct val="106000"/>
                        </a:lnSpc>
                        <a:spcAft>
                          <a:spcPts val="0"/>
                        </a:spcAft>
                      </a:pPr>
                      <a:r>
                        <a:rPr sz="1100" b="0">
                          <a:solidFill>
                            <a:srgbClr val="333333"/>
                          </a:solidFill>
                          <a:latin typeface="Fira Code"/>
                        </a:rPr>
                        <a:t>        state.location.lng = (int32_t) (bestposu.lng * (double)1e7);</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-bestposu.undulation;</a:t>
                      </a:r>
                    </a:p>
                    <a:p>
                      <a:pPr algn="l">
                        <a:lnSpc>
                          <a:spcPct val="106000"/>
                        </a:lnSpc>
                        <a:spcAft>
                          <a:spcPts val="0"/>
                        </a:spcAft>
                      </a:pPr>
                      <a:r>
                        <a:rPr sz="1100" b="0">
                          <a:solidFill>
                            <a:srgbClr val="333333"/>
                          </a:solidFill>
                          <a:latin typeface="Fira Code"/>
                        </a:rPr>
                        <a:t>        set_alt_amsl_cm(state, bestposu.hgt * 100);</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libraries/AP_GPS/AP_GPS_SBP.cpp</a:t>
                      </a:r>
                      <a:r>
                        <a:rPr sz="1100" b="0">
                          <a:solidFill>
                            <a:srgbClr val="999999"/>
                          </a:solidFill>
                          <a:latin typeface="Fira Code"/>
                        </a:rPr>
                        <a:t>  ·  </a:t>
                      </a:r>
                      <a:r>
                        <a:rPr sz="1100" b="0">
                          <a:solidFill>
                            <a:srgbClr val="999999"/>
                          </a:solidFill>
                          <a:latin typeface="Fira Code"/>
                        </a:rPr>
                        <a:t>276-283</a:t>
                      </a:r>
                      <a:r>
                        <a:rPr sz="1100" b="0">
                          <a:solidFill>
                            <a:srgbClr val="999999"/>
                          </a:solidFill>
                          <a:latin typeface="Fira Code"/>
                        </a:rPr>
                        <a:t>  ·  </a:t>
                      </a:r>
                      <a:r>
                        <a:rPr sz="1100" b="0">
                          <a:solidFill>
                            <a:srgbClr val="999999"/>
                          </a:solidFill>
                          <a:latin typeface="Fira Code"/>
                        </a:rPr>
                        <a:t>AP_GPS_SBP::_attempt_state_update()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state.location.lat      = (int32_t) (pos_llh-&gt;lat * (double)1e7);</a:t>
                      </a:r>
                    </a:p>
                    <a:p>
                      <a:pPr algn="l">
                        <a:lnSpc>
                          <a:spcPct val="106000"/>
                        </a:lnSpc>
                        <a:spcAft>
                          <a:spcPts val="0"/>
                        </a:spcAft>
                      </a:pPr>
                      <a:r>
                        <a:rPr sz="1100" b="0">
                          <a:solidFill>
                            <a:srgbClr val="333333"/>
                          </a:solidFill>
                          <a:latin typeface="Fira Code"/>
                        </a:rPr>
                        <a:t>        state.location.lng      = (int32_t) (pos_llh-&gt;lon * (double)1e7);</a:t>
                      </a:r>
                    </a:p>
                    <a:p>
                      <a:pPr algn="l">
                        <a:lnSpc>
                          <a:spcPct val="106000"/>
                        </a:lnSpc>
                        <a:spcAft>
                          <a:spcPts val="0"/>
                        </a:spcAft>
                      </a:pPr>
                      <a:r>
                        <a:rPr sz="1100" b="0">
                          <a:solidFill>
                            <a:srgbClr val="333333"/>
                          </a:solidFill>
                          <a:latin typeface="Fira Code"/>
                        </a:rPr>
                        <a:t>        state.location.alt      = (int32_t) (pos_llh-&gt;height * 100);</a:t>
                      </a:r>
                    </a:p>
                    <a:p>
                      <a:pPr algn="l">
                        <a:lnSpc>
                          <a:spcPct val="106000"/>
                        </a:lnSpc>
                        <a:spcAft>
                          <a:spcPts val="0"/>
                        </a:spcAft>
                      </a:pPr>
                      <a:r>
                        <a:rPr sz="1100" b="0">
                          <a:solidFill>
                            <a:srgbClr val="333333"/>
                          </a:solidFill>
                          <a:latin typeface="Fira Code"/>
                        </a:rPr>
                        <a:t>        state.num_sats          = pos_llh-&gt;n_sats;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(pos_llh-&gt;flags == 0) {</a:t>
                      </a:r>
                    </a:p>
                    <a:p>
                      <a:pPr algn="l">
                        <a:lnSpc>
                          <a:spcPct val="106000"/>
                        </a:lnSpc>
                        <a:spcAft>
                          <a:spcPts val="0"/>
                        </a:spcAft>
                      </a:pPr>
                      <a:r>
                        <a:rPr sz="1100" b="0">
                          <a:solidFill>
                            <a:srgbClr val="333333"/>
                          </a:solidFill>
                          <a:latin typeface="Fira Code"/>
                        </a:rPr>
                        <a:t>            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libraries/AP_GPS/AP_GPS_SBP2.cpp</a:t>
                      </a:r>
                      <a:r>
                        <a:rPr sz="1100" b="0">
                          <a:solidFill>
                            <a:srgbClr val="999999"/>
                          </a:solidFill>
                          <a:latin typeface="Fira Code"/>
                        </a:rPr>
                        <a:t>  ·  </a:t>
                      </a:r>
                      <a:r>
                        <a:rPr sz="1100" b="0">
                          <a:solidFill>
                            <a:srgbClr val="999999"/>
                          </a:solidFill>
                          <a:latin typeface="Fira Code"/>
                        </a:rPr>
                        <a:t>328-335</a:t>
                      </a:r>
                      <a:r>
                        <a:rPr sz="1100" b="0">
                          <a:solidFill>
                            <a:srgbClr val="999999"/>
                          </a:solidFill>
                          <a:latin typeface="Fira Code"/>
                        </a:rPr>
                        <a:t>  ·  </a:t>
                      </a:r>
                      <a:r>
                        <a:rPr sz="1100" b="0">
                          <a:solidFill>
                            <a:srgbClr val="999999"/>
                          </a:solidFill>
                          <a:latin typeface="Fira Code"/>
                        </a:rPr>
                        <a:t>AP_GPS_SBP2::_attempt_state_update()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state.location.lat      = (int32_t) (last_pos_llh.lat * (double)1e7);</a:t>
                      </a:r>
                    </a:p>
                    <a:p>
                      <a:pPr algn="l">
                        <a:lnSpc>
                          <a:spcPct val="106000"/>
                        </a:lnSpc>
                        <a:spcAft>
                          <a:spcPts val="0"/>
                        </a:spcAft>
                      </a:pPr>
                      <a:r>
                        <a:rPr sz="1100" b="0">
                          <a:solidFill>
                            <a:srgbClr val="333333"/>
                          </a:solidFill>
                          <a:latin typeface="Fira Code"/>
                        </a:rPr>
                        <a:t>        state.location.lng      = (int32_t) (last_pos_llh.lon * (double)1e7);</a:t>
                      </a:r>
                    </a:p>
                    <a:p>
                      <a:pPr algn="l">
                        <a:lnSpc>
                          <a:spcPct val="106000"/>
                        </a:lnSpc>
                        <a:spcAft>
                          <a:spcPts val="0"/>
                        </a:spcAft>
                      </a:pPr>
                      <a:r>
                        <a:rPr sz="1100" b="0">
                          <a:solidFill>
                            <a:srgbClr val="333333"/>
                          </a:solidFill>
                          <a:latin typeface="Fira Code"/>
                        </a:rPr>
                        <a:t>        state.location.alt      = (int32_t) (last_pos_llh.height * 100);</a:t>
                      </a:r>
                    </a:p>
                    <a:p>
                      <a:pPr algn="l">
                        <a:lnSpc>
                          <a:spcPct val="106000"/>
                        </a:lnSpc>
                        <a:spcAft>
                          <a:spcPts val="0"/>
                        </a:spcAft>
                      </a:pPr>
                      <a:r>
                        <a:rPr sz="1100" b="0">
                          <a:solidFill>
                            <a:srgbClr val="333333"/>
                          </a:solidFill>
                          <a:latin typeface="Fira Code"/>
                        </a:rPr>
                        <a:t>        state.num_sats          = last_pos_llh.n_sats;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switch (last_pos_llh.flags.fix_mode) {</a:t>
                      </a:r>
                    </a:p>
                    <a:p>
                      <a:pPr algn="l">
                        <a:lnSpc>
                          <a:spcPct val="106000"/>
                        </a:lnSpc>
                        <a:spcAft>
                          <a:spcPts val="0"/>
                        </a:spcAft>
                      </a:pPr>
                      <a:r>
                        <a:rPr sz="1100" b="0">
                          <a:solidFill>
                            <a:srgbClr val="333333"/>
                          </a:solidFill>
                          <a:latin typeface="Fira Code"/>
                        </a:rPr>
                        <a:t>            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libraries/AP_GPS/AP_GPS_SIRF.cpp</a:t>
                      </a:r>
                      <a:r>
                        <a:rPr sz="1100" b="0">
                          <a:solidFill>
                            <a:srgbClr val="999999"/>
                          </a:solidFill>
                          <a:latin typeface="Fira Code"/>
                        </a:rPr>
                        <a:t>  ·  </a:t>
                      </a:r>
                      <a:r>
                        <a:rPr sz="1100" b="0">
                          <a:solidFill>
                            <a:srgbClr val="999999"/>
                          </a:solidFill>
                          <a:latin typeface="Fira Code"/>
                        </a:rPr>
                        <a:t>178-185</a:t>
                      </a:r>
                      <a:r>
                        <a:rPr sz="1100" b="0">
                          <a:solidFill>
                            <a:srgbClr val="999999"/>
                          </a:solidFill>
                          <a:latin typeface="Fira Code"/>
                        </a:rPr>
                        <a:t>  ·  </a:t>
                      </a:r>
                      <a:r>
                        <a:rPr sz="1100" b="0">
                          <a:solidFill>
                            <a:srgbClr val="999999"/>
                          </a:solidFill>
                          <a:latin typeface="Fira Code"/>
                        </a:rPr>
                        <a:t>AP_GPS_SIRF::_parse_gps()</a:t>
                      </a:r>
                    </a:p>
                    <a:p>
                      <a:pPr algn="l">
                        <a:lnSpc>
                          <a:spcPct val="106000"/>
                        </a:lnSpc>
                        <a:spcAft>
                          <a:spcPts val="0"/>
                        </a:spcAft>
                      </a:pPr>
                      <a:r>
                        <a:rPr sz="1100" b="0">
                          <a:solidFill>
                            <a:srgbClr val="333333"/>
                          </a:solidFill>
                          <a:latin typeface="Fira Code"/>
                        </a:rPr>
                        <a:t>            state.status = AP_GPS::NO_FIX;</a:t>
                      </a:r>
                    </a:p>
                    <a:p>
                      <a:pPr algn="l">
                        <a:lnSpc>
                          <a:spcPct val="106000"/>
                        </a:lnSpc>
                        <a:spcAft>
                          <a:spcPts val="0"/>
                        </a:spcAft>
                      </a:pPr>
                      <a:r>
                        <a:rPr sz="1100" b="0">
                          <a:solidFill>
                            <a:srgbClr val="333333"/>
                          </a:solidFill>
                          <a:latin typeface="Fira Code"/>
                        </a:rPr>
                        <a:t>        }else if ((_buffer.nav.fix_type &amp; FIX_MASK) == FIX_3D) {</a:t>
                      </a:r>
                    </a:p>
                    <a:p>
                      <a:pPr algn="l">
                        <a:lnSpc>
                          <a:spcPct val="106000"/>
                        </a:lnSpc>
                        <a:spcAft>
                          <a:spcPts val="0"/>
                        </a:spcAft>
                      </a:pPr>
                      <a:r>
                        <a:rPr sz="1100" b="0">
                          <a:solidFill>
                            <a:srgbClr val="333333"/>
                          </a:solidFill>
                          <a:latin typeface="Fira Code"/>
                        </a:rPr>
                        <a:t>            state.status = AP_GPS::GPS_OK_FIX_3D;</a:t>
                      </a:r>
                    </a:p>
                    <a:p>
                      <a:pPr algn="l">
                        <a:lnSpc>
                          <a:spcPct val="106000"/>
                        </a:lnSpc>
                        <a:spcAft>
                          <a:spcPts val="0"/>
                        </a:spcAft>
                      </a:pPr>
                      <a:r>
                        <a:rPr sz="1100" b="0">
                          <a:solidFill>
                            <a:srgbClr val="333333"/>
                          </a:solidFill>
                          <a:latin typeface="Fira Code"/>
                        </a:rPr>
                        <a:t>        }else{</a:t>
                      </a:r>
                    </a:p>
                    <a:p>
                      <a:pPr algn="l">
                        <a:lnSpc>
                          <a:spcPct val="106000"/>
                        </a:lnSpc>
                        <a:spcAft>
                          <a:spcPts val="0"/>
                        </a:spcAft>
                      </a:pPr>
                      <a:r>
                        <a:rPr sz="1100" b="0">
                          <a:solidFill>
                            <a:srgbClr val="333333"/>
                          </a:solidFill>
                          <a:latin typeface="Fira Code"/>
                        </a:rPr>
                        <a:t>            state.status = AP_GPS::GPS_OK_FIX_2D;</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state.location.lat      = int32_t(be32toh(_buffer.nav.latitude));</a:t>
                      </a:r>
                    </a:p>
                    <a:p>
                      <a:pPr algn="l">
                        <a:lnSpc>
                          <a:spcPct val="106000"/>
                        </a:lnSpc>
                        <a:spcAft>
                          <a:spcPts val="0"/>
                        </a:spcAft>
                      </a:pPr>
                      <a:r>
                        <a:rPr sz="1100" b="0">
                          <a:solidFill>
                            <a:srgbClr val="333333"/>
                          </a:solidFill>
                          <a:latin typeface="Fira Code"/>
                        </a:rPr>
                        <a:t>        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libraries/AP_GPS/AP_GPS_ERB.cpp</a:t>
                      </a:r>
                      <a:r>
                        <a:rPr sz="1100" b="0">
                          <a:solidFill>
                            <a:srgbClr val="999999"/>
                          </a:solidFill>
                          <a:latin typeface="Fira Code"/>
                        </a:rPr>
                        <a:t>  ·  </a:t>
                      </a:r>
                      <a:r>
                        <a:rPr sz="1100" b="0">
                          <a:solidFill>
                            <a:srgbClr val="999999"/>
                          </a:solidFill>
                          <a:latin typeface="Fira Code"/>
                        </a:rPr>
                        <a:t>150-157</a:t>
                      </a:r>
                      <a:r>
                        <a:rPr sz="1100" b="0">
                          <a:solidFill>
                            <a:srgbClr val="999999"/>
                          </a:solidFill>
                          <a:latin typeface="Fira Code"/>
                        </a:rPr>
                        <a:t>  ·  </a:t>
                      </a:r>
                      <a:r>
                        <a:rPr sz="1100" b="0">
                          <a:solidFill>
                            <a:srgbClr val="999999"/>
                          </a:solidFill>
                          <a:latin typeface="Fira Code"/>
                        </a:rPr>
                        <a:t>AP_GPS_ERB::_parse_gps()</a:t>
                      </a:r>
                    </a:p>
                    <a:p>
                      <a:pPr algn="l">
                        <a:lnSpc>
                          <a:spcPct val="106000"/>
                        </a:lnSpc>
                        <a:spcAft>
                          <a:spcPts val="0"/>
                        </a:spcAft>
                      </a:pPr>
                      <a:r>
                        <a:rPr sz="1100" b="0">
                          <a:solidFill>
                            <a:srgbClr val="333333"/>
                          </a:solidFill>
                          <a:latin typeface="Fira Code"/>
                        </a:rPr>
                        <a:t>        _last_pos_time        = _buffer.pos.time;</a:t>
                      </a:r>
                    </a:p>
                    <a:p>
                      <a:pPr algn="l">
                        <a:lnSpc>
                          <a:spcPct val="106000"/>
                        </a:lnSpc>
                        <a:spcAft>
                          <a:spcPts val="0"/>
                        </a:spcAft>
                      </a:pPr>
                      <a:r>
                        <a:rPr sz="1100" b="0">
                          <a:solidFill>
                            <a:srgbClr val="333333"/>
                          </a:solidFill>
                          <a:latin typeface="Fira Code"/>
                        </a:rPr>
                        <a:t>        state.location.lng    = (int32_t)(_buffer.pos.longitude * (double)1e7);</a:t>
                      </a:r>
                    </a:p>
                    <a:p>
                      <a:pPr algn="l">
                        <a:lnSpc>
                          <a:spcPct val="106000"/>
                        </a:lnSpc>
                        <a:spcAft>
                          <a:spcPts val="0"/>
                        </a:spcAft>
                      </a:pPr>
                      <a:r>
                        <a:rPr sz="1100" b="0">
                          <a:solidFill>
                            <a:srgbClr val="333333"/>
                          </a:solidFill>
                          <a:latin typeface="Fira Code"/>
                        </a:rPr>
                        <a:t>        state.location.lat    = (int32_t)(_buffer.pos.latitude * (double)1e7);</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_buffer.pos.altitude_msl - _buffer.pos.altitude_ellipsoid;</a:t>
                      </a:r>
                    </a:p>
                    <a:p>
                      <a:pPr algn="l">
                        <a:lnSpc>
                          <a:spcPct val="106000"/>
                        </a:lnSpc>
                        <a:spcAft>
                          <a:spcPts val="0"/>
                        </a:spcAft>
                      </a:pPr>
                      <a:r>
                        <a:rPr sz="1100" b="0">
                          <a:solidFill>
                            <a:srgbClr val="333333"/>
                          </a:solidFill>
                          <a:latin typeface="Fira Code"/>
                        </a:rPr>
                        <a:t>        set_alt_amsl_cm(state, _buffer.pos.altitude_msl * 100);</a:t>
                      </a:r>
                    </a:p>
                    <a:p>
                      <a:pPr algn="l">
                        <a:lnSpc>
                          <a:spcPct val="106000"/>
                        </a:lnSpc>
                        <a:spcAft>
                          <a:spcPts val="0"/>
                        </a:spcAft>
                      </a:pPr>
                      <a:r>
                        <a:rPr sz="1100" b="0">
                          <a:solidFill>
                            <a:srgbClr val="333333"/>
                          </a:solidFill>
                          <a:latin typeface="Fira Code"/>
                        </a:rPr>
                        <a:t>        state.status          = next_fix;</a:t>
                      </a:r>
                    </a:p>
                    <a:p>
                      <a:pPr algn="l">
                        <a:lnSpc>
                          <a:spcPct val="106000"/>
                        </a:lnSpc>
                        <a:spcAft>
                          <a:spcPts val="0"/>
                        </a:spcAft>
                      </a:pPr>
                      <a:r>
                        <a:rPr sz="1100" b="0">
                          <a:solidFill>
                            <a:srgbClr val="333333"/>
                          </a:solidFill>
                          <a:latin typeface="Fira Code"/>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libraries/AP_GPS/AP_GPS_MAV.cpp</a:t>
                      </a:r>
                      <a:r>
                        <a:rPr sz="1100" b="0">
                          <a:solidFill>
                            <a:srgbClr val="999999"/>
                          </a:solidFill>
                          <a:latin typeface="Fira Code"/>
                        </a:rPr>
                        <a:t>  ·  </a:t>
                      </a:r>
                      <a:r>
                        <a:rPr sz="1100" b="0">
                          <a:solidFill>
                            <a:srgbClr val="999999"/>
                          </a:solidFill>
                          <a:latin typeface="Fira Code"/>
                        </a:rPr>
                        <a:t>67-75</a:t>
                      </a:r>
                      <a:r>
                        <a:rPr sz="1100" b="0">
                          <a:solidFill>
                            <a:srgbClr val="999999"/>
                          </a:solidFill>
                          <a:latin typeface="Fira Code"/>
                        </a:rPr>
                        <a:t>  ·  </a:t>
                      </a:r>
                      <a:r>
                        <a:rPr sz="1100" b="0">
                          <a:solidFill>
                            <a:srgbClr val="999999"/>
                          </a:solidFill>
                          <a:latin typeface="Fira Code"/>
                        </a:rPr>
                        <a:t>AP_GPS_MAV::handle_msg()</a:t>
                      </a:r>
                    </a:p>
                    <a:p>
                      <a:pPr algn="l">
                        <a:lnSpc>
                          <a:spcPct val="106000"/>
                        </a:lnSpc>
                        <a:spcAft>
                          <a:spcPts val="0"/>
                        </a:spcAft>
                      </a:pPr>
                      <a:r>
                        <a:rPr sz="1100" b="0">
                          <a:solidFill>
                            <a:srgbClr val="333333"/>
                          </a:solidFill>
                          <a:latin typeface="Fira Code"/>
                        </a:rPr>
                        <a:t>            state.status = (AP_GPS::GPS_Status)packet.fix_type;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Location loc = {};</a:t>
                      </a:r>
                    </a:p>
                    <a:p>
                      <a:pPr algn="l">
                        <a:lnSpc>
                          <a:spcPct val="106000"/>
                        </a:lnSpc>
                        <a:spcAft>
                          <a:spcPts val="0"/>
                        </a:spcAft>
                      </a:pPr>
                      <a:r>
                        <a:rPr sz="1100" b="0">
                          <a:solidFill>
                            <a:srgbClr val="333333"/>
                          </a:solidFill>
                          <a:latin typeface="Fira Code"/>
                        </a:rPr>
                        <a:t>            loc.lat = packet.lat;</a:t>
                      </a:r>
                    </a:p>
                    <a:p>
                      <a:pPr algn="l">
                        <a:lnSpc>
                          <a:spcPct val="106000"/>
                        </a:lnSpc>
                        <a:spcAft>
                          <a:spcPts val="0"/>
                        </a:spcAft>
                      </a:pPr>
                      <a:r>
                        <a:rPr sz="1100" b="0">
                          <a:solidFill>
                            <a:srgbClr val="333333"/>
                          </a:solidFill>
                          <a:latin typeface="Fira Code"/>
                        </a:rPr>
                        <a:t>            loc.lng = packet.lon;</a:t>
                      </a:r>
                    </a:p>
                    <a:p>
                      <a:pPr algn="l">
                        <a:lnSpc>
                          <a:spcPct val="106000"/>
                        </a:lnSpc>
                        <a:spcAft>
                          <a:spcPts val="0"/>
                        </a:spcAft>
                      </a:pPr>
                      <a:r>
                        <a:rPr sz="1100" b="0">
                          <a:solidFill>
                            <a:srgbClr val="333333"/>
                          </a:solidFill>
                          <a:latin typeface="Fira Code"/>
                        </a:rPr>
                        <a:t>            if (have_alt) {</a:t>
                      </a:r>
                    </a:p>
                    <a:p>
                      <a:pPr algn="l">
                        <a:lnSpc>
                          <a:spcPct val="106000"/>
                        </a:lnSpc>
                        <a:spcAft>
                          <a:spcPts val="0"/>
                        </a:spcAft>
                      </a:pPr>
                      <a:r>
                        <a:rPr sz="1100" b="0">
                          <a:solidFill>
                            <a:srgbClr val="333333"/>
                          </a:solidFill>
                          <a:latin typeface="Fira Code"/>
                        </a:rPr>
                        <a:t>                loc.alt = packet.alt * 100; // convert to centimeters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libraries/AP_GPS/AP_GPS_MSP.cpp</a:t>
                      </a:r>
                      <a:r>
                        <a:rPr sz="1100" b="0">
                          <a:solidFill>
                            <a:srgbClr val="999999"/>
                          </a:solidFill>
                          <a:latin typeface="Fira Code"/>
                        </a:rPr>
                        <a:t>  ·  </a:t>
                      </a:r>
                      <a:r>
                        <a:rPr sz="1100" b="0">
                          <a:solidFill>
                            <a:srgbClr val="999999"/>
                          </a:solidFill>
                          <a:latin typeface="Fira Code"/>
                        </a:rPr>
                        <a:t>44-51</a:t>
                      </a:r>
                      <a:r>
                        <a:rPr sz="1100" b="0">
                          <a:solidFill>
                            <a:srgbClr val="999999"/>
                          </a:solidFill>
                          <a:latin typeface="Fira Code"/>
                        </a:rPr>
                        <a:t>  ·  </a:t>
                      </a:r>
                      <a:r>
                        <a:rPr sz="1100" b="0">
                          <a:solidFill>
                            <a:srgbClr val="999999"/>
                          </a:solidFill>
                          <a:latin typeface="Fira Code"/>
                        </a:rPr>
                        <a:t>AP_GPS_MSP::handle_msp()</a:t>
                      </a:r>
                    </a:p>
                    <a:p>
                      <a:pPr algn="l">
                        <a:lnSpc>
                          <a:spcPct val="106000"/>
                        </a:lnSpc>
                        <a:spcAft>
                          <a:spcPts val="0"/>
                        </a:spcAft>
                      </a:pPr>
                      <a:r>
                        <a:rPr sz="1100" b="0">
                          <a:solidFill>
                            <a:srgbClr val="333333"/>
                          </a:solidFill>
                          <a:latin typeface="Fira Code"/>
                        </a:rPr>
                        <a:t>    state.status = (AP_GPS::GPS_Status)pkt.fix_type;</a:t>
                      </a:r>
                    </a:p>
                    <a:p>
                      <a:pPr algn="l">
                        <a:lnSpc>
                          <a:spcPct val="106000"/>
                        </a:lnSpc>
                        <a:spcAft>
                          <a:spcPts val="0"/>
                        </a:spcAft>
                      </a:pPr>
                      <a:r>
                        <a:rPr sz="1100" b="0">
                          <a:solidFill>
                            <a:srgbClr val="333333"/>
                          </a:solidFill>
                          <a:latin typeface="Fira Code"/>
                        </a:rPr>
                        <a:t>    state.num_sats = pkt.satellites_in_view;</a:t>
                      </a:r>
                    </a:p>
                    <a:p>
                      <a:pPr algn="l">
                        <a:lnSpc>
                          <a:spcPct val="106000"/>
                        </a:lnSpc>
                        <a:spcAft>
                          <a:spcPts val="0"/>
                        </a:spcAft>
                      </a:pPr>
                      <a:r>
                        <a:rPr sz="1100" b="0">
                          <a:solidFill>
                            <a:srgbClr val="333333"/>
                          </a:solidFill>
                          <a:latin typeface="Fira Code"/>
                        </a:rPr>
                        <a:t>    state.location = {</a:t>
                      </a:r>
                    </a:p>
                    <a:p>
                      <a:pPr algn="l">
                        <a:lnSpc>
                          <a:spcPct val="106000"/>
                        </a:lnSpc>
                        <a:spcAft>
                          <a:spcPts val="0"/>
                        </a:spcAft>
                      </a:pPr>
                      <a:r>
                        <a:rPr sz="1100" b="0">
                          <a:solidFill>
                            <a:srgbClr val="333333"/>
                          </a:solidFill>
                          <a:latin typeface="Fira Code"/>
                        </a:rPr>
                        <a:t>        pkt.latitude,</a:t>
                      </a:r>
                    </a:p>
                    <a:p>
                      <a:pPr algn="l">
                        <a:lnSpc>
                          <a:spcPct val="106000"/>
                        </a:lnSpc>
                        <a:spcAft>
                          <a:spcPts val="0"/>
                        </a:spcAft>
                      </a:pPr>
                      <a:r>
                        <a:rPr sz="1100" b="0">
                          <a:solidFill>
                            <a:srgbClr val="333333"/>
                          </a:solidFill>
                          <a:latin typeface="Fira Code"/>
                        </a:rPr>
                        <a:t>        pkt.longitude,</a:t>
                      </a:r>
                    </a:p>
                    <a:p>
                      <a:pPr algn="l">
                        <a:lnSpc>
                          <a:spcPct val="106000"/>
                        </a:lnSpc>
                        <a:spcAft>
                          <a:spcPts val="0"/>
                        </a:spcAft>
                      </a:pPr>
                      <a:r>
                        <a:rPr sz="1100" b="0">
                          <a:solidFill>
                            <a:srgbClr val="333333"/>
                          </a:solidFill>
                          <a:latin typeface="Fira Code"/>
                        </a:rPr>
                        <a:t>        pkt.msl_altitude,</a:t>
                      </a:r>
                    </a:p>
                    <a:p>
                      <a:pPr algn="l">
                        <a:lnSpc>
                          <a:spcPct val="106000"/>
                        </a:lnSpc>
                        <a:spcAft>
                          <a:spcPts val="0"/>
                        </a:spcAft>
                      </a:pPr>
                      <a:r>
                        <a:rPr sz="1100" b="0">
                          <a:solidFill>
                            <a:srgbClr val="333333"/>
                          </a:solidFill>
                          <a:latin typeface="Fira Code"/>
                        </a:rPr>
                        <a:t>        Location::AltFrame::ABSOLUTE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libraries/AP_GPS/AP_GPS_GSOF.cpp</a:t>
                      </a:r>
                      <a:r>
                        <a:rPr sz="1100" b="0">
                          <a:solidFill>
                            <a:srgbClr val="999999"/>
                          </a:solidFill>
                          <a:latin typeface="Fira Code"/>
                        </a:rPr>
                        <a:t>  ·  </a:t>
                      </a:r>
                      <a:r>
                        <a:rPr sz="1100" b="0">
                          <a:solidFill>
                            <a:srgbClr val="999999"/>
                          </a:solidFill>
                          <a:latin typeface="Fira Code"/>
                        </a:rPr>
                        <a:t>231-238</a:t>
                      </a:r>
                      <a:r>
                        <a:rPr sz="1100" b="0">
                          <a:solidFill>
                            <a:srgbClr val="999999"/>
                          </a:solidFill>
                          <a:latin typeface="Fira Code"/>
                        </a:rPr>
                        <a:t>  ·  </a:t>
                      </a:r>
                      <a:r>
                        <a:rPr sz="1100" b="0">
                          <a:solidFill>
                            <a:srgbClr val="999999"/>
                          </a:solidFill>
                          <a:latin typeface="Fira Code"/>
                        </a:rPr>
                        <a:t>AP_GPS_GSOF::pack_state_data()</a:t>
                      </a:r>
                    </a:p>
                    <a:p>
                      <a:pPr algn="l">
                        <a:lnSpc>
                          <a:spcPct val="106000"/>
                        </a:lnSpc>
                        <a:spcAft>
                          <a:spcPts val="0"/>
                        </a:spcAft>
                      </a:pPr>
                      <a:r>
                        <a:rPr sz="1100" b="0">
                          <a:solidFill>
                            <a:srgbClr val="333333"/>
                          </a:solidFill>
                          <a:latin typeface="Fira Code"/>
                        </a:rPr>
                        <a:t>    state.location.lat = (int32_t)(RAD_TO_DEG_DOUBLE * position.latitude_rad * (double)1e7);</a:t>
                      </a:r>
                    </a:p>
                    <a:p>
                      <a:pPr algn="l">
                        <a:lnSpc>
                          <a:spcPct val="106000"/>
                        </a:lnSpc>
                        <a:spcAft>
                          <a:spcPts val="0"/>
                        </a:spcAft>
                      </a:pPr>
                      <a:r>
                        <a:rPr sz="1100" b="0">
                          <a:solidFill>
                            <a:srgbClr val="333333"/>
                          </a:solidFill>
                          <a:latin typeface="Fira Code"/>
                        </a:rPr>
                        <a:t>    state.location.lng = (int32_t)(RAD_TO_DEG_DOUBLE * position.longitude_rad * (double)1e7);</a:t>
                      </a:r>
                    </a:p>
                    <a:p>
                      <a:pPr algn="l">
                        <a:lnSpc>
                          <a:spcPct val="106000"/>
                        </a:lnSpc>
                        <a:spcAft>
                          <a:spcPts val="0"/>
                        </a:spcAft>
                      </a:pPr>
                      <a:r>
                        <a:rPr sz="1100" b="0">
                          <a:solidFill>
                            <a:srgbClr val="333333"/>
                          </a:solidFill>
                          <a:latin typeface="Fira Code"/>
                        </a:rPr>
                        <a:t>    state.location.alt = (int32_t)(position.altitude * 100);</a:t>
                      </a:r>
                    </a:p>
                    <a:p>
                      <a:pPr algn="l">
                        <a:lnSpc>
                          <a:spcPct val="106000"/>
                        </a:lnSpc>
                        <a:spcAft>
                          <a:spcPts val="0"/>
                        </a:spcAft>
                      </a:pPr>
                      <a:r>
                        <a:rPr sz="1100" b="0">
                          <a:solidFill>
                            <a:srgbClr val="333333"/>
                          </a:solidFill>
                          <a:latin typeface="Fira Code"/>
                        </a:rPr>
                        <a:t>    state.last_gps_time_ms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((vel.velocity_flags &amp; 1) == 1) {</a:t>
                      </a:r>
                    </a:p>
                    <a:p>
                      <a:pPr algn="l">
                        <a:lnSpc>
                          <a:spcPct val="106000"/>
                        </a:lnSpc>
                        <a:spcAft>
                          <a:spcPts val="0"/>
                        </a:spcAft>
                      </a:pPr>
                      <a:r>
                        <a:rPr sz="1100" b="0">
                          <a:solidFill>
                            <a:srgbClr val="333333"/>
                          </a:solidFill>
                          <a:latin typeface="Fira Code"/>
                        </a:rPr>
                        <a:t>        state.ground_speed = vel.horizontal_velocity;</a:t>
                      </a:r>
                    </a:p>
                    <a:p>
                      <a:pPr algn="l">
                        <a:lnSpc>
                          <a:spcPct val="106000"/>
                        </a:lnSpc>
                        <a:spcAft>
                          <a:spcPts val="0"/>
                        </a:spcAft>
                      </a:pPr>
                      <a:r>
                        <a:rPr sz="1100" b="0">
                          <a:solidFill>
                            <a:srgbClr val="333333"/>
                          </a:solidFill>
                          <a:latin typeface="Fira Code"/>
                        </a:rPr>
                        <a:t>        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libraries/AP_GPS/AP_GPS_DroneCAN.cpp</a:t>
                      </a:r>
                      <a:r>
                        <a:rPr sz="1100" b="0">
                          <a:solidFill>
                            <a:srgbClr val="999999"/>
                          </a:solidFill>
                          <a:latin typeface="Fira Code"/>
                        </a:rPr>
                        <a:t>  ·  </a:t>
                      </a:r>
                      <a:r>
                        <a:rPr sz="1100" b="0">
                          <a:solidFill>
                            <a:srgbClr val="999999"/>
                          </a:solidFill>
                          <a:latin typeface="Fira Code"/>
                        </a:rPr>
                        <a:t>388-396</a:t>
                      </a:r>
                      <a:r>
                        <a:rPr sz="1100" b="0">
                          <a:solidFill>
                            <a:srgbClr val="999999"/>
                          </a:solidFill>
                          <a:latin typeface="Fira Code"/>
                        </a:rPr>
                        <a:t>  ·  </a:t>
                      </a:r>
                      <a:r>
                        <a:rPr sz="1100" b="0">
                          <a:solidFill>
                            <a:srgbClr val="999999"/>
                          </a:solidFill>
                          <a:latin typeface="Fira Code"/>
                        </a:rPr>
                        <a:t>AP_GPS_DroneCAN::handle_fix2_msg()</a:t>
                      </a:r>
                    </a:p>
                    <a:p>
                      <a:pPr algn="l">
                        <a:lnSpc>
                          <a:spcPct val="106000"/>
                        </a:lnSpc>
                        <a:spcAft>
                          <a:spcPts val="0"/>
                        </a:spcAft>
                      </a:pPr>
                      <a:r>
                        <a:rPr sz="1100" b="0">
                          <a:solidFill>
                            <a:srgbClr val="333333"/>
                          </a:solidFill>
                          <a:latin typeface="Fira Code"/>
                        </a:rPr>
                        <a:t>        if (msg.height_msl_mm != msg.height_ellipsoid_mm) {</a:t>
                      </a:r>
                    </a:p>
                    <a:p>
                      <a:pPr algn="l">
                        <a:lnSpc>
                          <a:spcPct val="106000"/>
                        </a:lnSpc>
                        <a:spcAft>
                          <a:spcPts val="0"/>
                        </a:spcAft>
                      </a:pPr>
                      <a:r>
                        <a:rPr sz="1100" b="0">
                          <a:solidFill>
                            <a:srgbClr val="333333"/>
                          </a:solidFill>
                          <a:latin typeface="Fira Code"/>
                        </a:rPr>
                        <a:t>            seen_valid_height_ellipsoid = true;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interim_state.have_undulation = seen_valid_height_ellipsoid;</a:t>
                      </a:r>
                    </a:p>
                    <a:p>
                      <a:pPr algn="l">
                        <a:lnSpc>
                          <a:spcPct val="106000"/>
                        </a:lnSpc>
                        <a:spcAft>
                          <a:spcPts val="0"/>
                        </a:spcAft>
                      </a:pPr>
                      <a:r>
                        <a:rPr sz="1100" b="0">
                          <a:solidFill>
                            <a:srgbClr val="333333"/>
                          </a:solidFill>
                          <a:latin typeface="Fira Code"/>
                        </a:rPr>
                        <a:t>        if (seen_valid_height_ellipsoid) {</a:t>
                      </a:r>
                    </a:p>
                    <a:p>
                      <a:pPr algn="l">
                        <a:lnSpc>
                          <a:spcPct val="106000"/>
                        </a:lnSpc>
                        <a:spcAft>
                          <a:spcPts val="0"/>
                        </a:spcAft>
                      </a:pPr>
                      <a:r>
                        <a:rPr sz="1100" b="0">
                          <a:solidFill>
                            <a:srgbClr val="333333"/>
                          </a:solidFill>
                          <a:latin typeface="Fira Code"/>
                        </a:rPr>
                        <a:t>            interim_state.undulation = (msg.height_msl_mm - msg.height_ellipsoid_mm) * 0.001;</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interim_state.location = loc;</a:t>
                      </a:r>
                    </a:p>
                    <a:p>
                      <a:pPr algn="l">
                        <a:lnSpc>
                          <a:spcPct val="106000"/>
                        </a:lnSpc>
                        <a:spcAft>
                          <a:spcPts val="0"/>
                        </a:spcAft>
                      </a:pPr>
                      <a:r>
                        <a:rPr sz="1100" b="0">
                          <a:solidFill>
                            <a:srgbClr val="333333"/>
                          </a:solidFill>
                          <a:latin typeface="Fira Code"/>
                        </a:rPr>
                        <a:t>        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libraries/AP_GPS/AP_GPS_ExternalAHRS.cpp</a:t>
                      </a:r>
                      <a:r>
                        <a:rPr sz="1100" b="0">
                          <a:solidFill>
                            <a:srgbClr val="999999"/>
                          </a:solidFill>
                          <a:latin typeface="Fira Code"/>
                        </a:rPr>
                        <a:t>  ·  </a:t>
                      </a:r>
                      <a:r>
                        <a:rPr sz="1100" b="0">
                          <a:solidFill>
                            <a:srgbClr val="999999"/>
                          </a:solidFill>
                          <a:latin typeface="Fira Code"/>
                        </a:rPr>
                        <a:t>49-56</a:t>
                      </a:r>
                      <a:r>
                        <a:rPr sz="1100" b="0">
                          <a:solidFill>
                            <a:srgbClr val="999999"/>
                          </a:solidFill>
                          <a:latin typeface="Fira Code"/>
                        </a:rPr>
                        <a:t>  ·  </a:t>
                      </a:r>
                      <a:r>
                        <a:rPr sz="1100" b="0">
                          <a:solidFill>
                            <a:srgbClr val="999999"/>
                          </a:solidFill>
                          <a:latin typeface="Fira Code"/>
                        </a:rPr>
                        <a:t>AP_GPS_ExternalAHRS::handle_external()</a:t>
                      </a:r>
                    </a:p>
                    <a:p>
                      <a:pPr algn="l">
                        <a:lnSpc>
                          <a:spcPct val="106000"/>
                        </a:lnSpc>
                        <a:spcAft>
                          <a:spcPts val="0"/>
                        </a:spcAft>
                      </a:pPr>
                      <a:r>
                        <a:rPr sz="1100" b="0">
                          <a:solidFill>
                            <a:srgbClr val="333333"/>
                          </a:solidFill>
                          <a:latin typeface="Fira Code"/>
                        </a:rPr>
                        <a:t>    state.num_sats = pkt.satellites_in_view;</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Location loc {</a:t>
                      </a:r>
                    </a:p>
                    <a:p>
                      <a:pPr algn="l">
                        <a:lnSpc>
                          <a:spcPct val="106000"/>
                        </a:lnSpc>
                        <a:spcAft>
                          <a:spcPts val="0"/>
                        </a:spcAft>
                      </a:pPr>
                      <a:r>
                        <a:rPr sz="1100" b="0">
                          <a:solidFill>
                            <a:srgbClr val="333333"/>
                          </a:solidFill>
                          <a:latin typeface="Fira Code"/>
                        </a:rPr>
                        <a:t>        pkt.latitude,</a:t>
                      </a:r>
                    </a:p>
                    <a:p>
                      <a:pPr algn="l">
                        <a:lnSpc>
                          <a:spcPct val="106000"/>
                        </a:lnSpc>
                        <a:spcAft>
                          <a:spcPts val="0"/>
                        </a:spcAft>
                      </a:pPr>
                      <a:r>
                        <a:rPr sz="1100" b="0">
                          <a:solidFill>
                            <a:srgbClr val="333333"/>
                          </a:solidFill>
                          <a:latin typeface="Fira Code"/>
                        </a:rPr>
                        <a:t>        pkt.longitude,</a:t>
                      </a:r>
                    </a:p>
                    <a:p>
                      <a:pPr algn="l">
                        <a:lnSpc>
                          <a:spcPct val="106000"/>
                        </a:lnSpc>
                        <a:spcAft>
                          <a:spcPts val="0"/>
                        </a:spcAft>
                      </a:pPr>
                      <a:r>
                        <a:rPr sz="1100" b="0">
                          <a:solidFill>
                            <a:srgbClr val="333333"/>
                          </a:solidFill>
                          <a:latin typeface="Fira Code"/>
                        </a:rPr>
                        <a:t>        pkt.msl_altitude,</a:t>
                      </a:r>
                    </a:p>
                    <a:p>
                      <a:pPr algn="l">
                        <a:lnSpc>
                          <a:spcPct val="106000"/>
                        </a:lnSpc>
                        <a:spcAft>
                          <a:spcPts val="0"/>
                        </a:spcAft>
                      </a:pPr>
                      <a:r>
                        <a:rPr sz="1100" b="0">
                          <a:solidFill>
                            <a:srgbClr val="333333"/>
                          </a:solidFill>
                          <a:latin typeface="Fira Code"/>
                        </a:rPr>
                        <a:t>        Location::AltFrame::ABSOLUTE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libraries/AP_GPS/AP_GPS_SITL.cpp</a:t>
                      </a:r>
                      <a:r>
                        <a:rPr sz="1100" b="0">
                          <a:solidFill>
                            <a:srgbClr val="999999"/>
                          </a:solidFill>
                          <a:latin typeface="Fira Code"/>
                        </a:rPr>
                        <a:t>  ·  </a:t>
                      </a:r>
                      <a:r>
                        <a:rPr sz="1100" b="0">
                          <a:solidFill>
                            <a:srgbClr val="999999"/>
                          </a:solidFill>
                          <a:latin typeface="Fira Code"/>
                        </a:rPr>
                        <a:t>86-93</a:t>
                      </a:r>
                      <a:r>
                        <a:rPr sz="1100" b="0">
                          <a:solidFill>
                            <a:srgbClr val="999999"/>
                          </a:solidFill>
                          <a:latin typeface="Fira Code"/>
                        </a:rPr>
                        <a:t>  ·  </a:t>
                      </a:r>
                      <a:r>
                        <a:rPr sz="1100" b="0">
                          <a:solidFill>
                            <a:srgbClr val="999999"/>
                          </a:solidFill>
                          <a:latin typeface="Fira Code"/>
                        </a:rPr>
                        <a:t>AP_GPS_SITL::read()</a:t>
                      </a:r>
                    </a:p>
                    <a:p>
                      <a:pPr algn="l">
                        <a:lnSpc>
                          <a:spcPct val="106000"/>
                        </a:lnSpc>
                        <a:spcAft>
                          <a:spcPts val="0"/>
                        </a:spcAft>
                      </a:pPr>
                      <a:r>
                        <a:rPr sz="1100" b="0">
                          <a:solidFill>
                            <a:srgbClr val="333333"/>
                          </a:solidFill>
                          <a:latin typeface="Fira Code"/>
                        </a:rPr>
                        <a:t>    state.status = AP_GPS::GPS_OK_FIX_3D;</a:t>
                      </a:r>
                    </a:p>
                    <a:p>
                      <a:pPr algn="l">
                        <a:lnSpc>
                          <a:spcPct val="106000"/>
                        </a:lnSpc>
                        <a:spcAft>
                          <a:spcPts val="0"/>
                        </a:spcAft>
                      </a:pPr>
                      <a:r>
                        <a:rPr sz="1100" b="0">
                          <a:solidFill>
                            <a:srgbClr val="333333"/>
                          </a:solidFill>
                          <a:latin typeface="Fira Code"/>
                        </a:rPr>
                        <a:t>    state.num_sats = 15;</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 = Location{</a:t>
                      </a:r>
                    </a:p>
                    <a:p>
                      <a:pPr algn="l">
                        <a:lnSpc>
                          <a:spcPct val="106000"/>
                        </a:lnSpc>
                        <a:spcAft>
                          <a:spcPts val="0"/>
                        </a:spcAft>
                      </a:pPr>
                      <a:r>
                        <a:rPr sz="1100" b="0">
                          <a:solidFill>
                            <a:srgbClr val="333333"/>
                          </a:solidFill>
                          <a:latin typeface="Fira Code"/>
                        </a:rPr>
                        <a:t>        int32_t(latitude*1e7),</a:t>
                      </a:r>
                    </a:p>
                    <a:p>
                      <a:pPr algn="l">
                        <a:lnSpc>
                          <a:spcPct val="106000"/>
                        </a:lnSpc>
                        <a:spcAft>
                          <a:spcPts val="0"/>
                        </a:spcAft>
                      </a:pPr>
                      <a:r>
                        <a:rPr sz="1100" b="0">
                          <a:solidFill>
                            <a:srgbClr val="333333"/>
                          </a:solidFill>
                          <a:latin typeface="Fira Code"/>
                        </a:rPr>
                        <a:t>        int32_t(longitude*1e7),</a:t>
                      </a:r>
                    </a:p>
                    <a:p>
                      <a:pPr algn="l">
                        <a:lnSpc>
                          <a:spcPct val="106000"/>
                        </a:lnSpc>
                        <a:spcAft>
                          <a:spcPts val="0"/>
                        </a:spcAft>
                      </a:pPr>
                      <a:r>
                        <a:rPr sz="1100" b="0">
                          <a:solidFill>
                            <a:srgbClr val="333333"/>
                          </a:solidFill>
                          <a:latin typeface="Fira Code"/>
                        </a:rPr>
                        <a:t>        int32_t(altitude*100),</a:t>
                      </a:r>
                    </a:p>
                    <a:p>
                      <a:pPr algn="l">
                        <a:lnSpc>
                          <a:spcPct val="106000"/>
                        </a:lnSpc>
                        <a:spcAft>
                          <a:spcPts val="0"/>
                        </a:spcAft>
                      </a:pPr>
                      <a:r>
                        <a:rPr sz="1100" b="0">
                          <a:solidFill>
                            <a:srgbClr val="333333"/>
                          </a:solidFill>
                          <a:latin typeface="Fira Code"/>
                        </a:rPr>
                        <a:t>        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libraries/AP_GPS/GPS_Backend.cpp</a:t>
                      </a:r>
                      <a:r>
                        <a:rPr sz="1100" b="0">
                          <a:solidFill>
                            <a:srgbClr val="999999"/>
                          </a:solidFill>
                          <a:latin typeface="Fira Code"/>
                        </a:rPr>
                        <a:t>  ·  </a:t>
                      </a:r>
                      <a:r>
                        <a:rPr sz="1100" b="0">
                          <a:solidFill>
                            <a:srgbClr val="999999"/>
                          </a:solidFill>
                          <a:latin typeface="Fira Code"/>
                        </a:rPr>
                        <a:t>101-109</a:t>
                      </a:r>
                      <a:r>
                        <a:rPr sz="1100" b="0">
                          <a:solidFill>
                            <a:srgbClr val="999999"/>
                          </a:solidFill>
                          <a:latin typeface="Fira Code"/>
                        </a:rPr>
                        <a:t>  ·  </a:t>
                      </a:r>
                      <a:r>
                        <a:rPr sz="1100" b="0">
                          <a:solidFill>
                            <a:srgbClr val="999999"/>
                          </a:solidFill>
                          <a:latin typeface="Fira Code"/>
                        </a:rPr>
                        <a:t>AP_GPS_Backend::fill_3d_velocity()</a:t>
                      </a:r>
                    </a:p>
                    <a:p>
                      <a:pPr algn="l">
                        <a:lnSpc>
                          <a:spcPct val="106000"/>
                        </a:lnSpc>
                        <a:spcAft>
                          <a:spcPts val="0"/>
                        </a:spcAft>
                      </a:pPr>
                      <a:r>
                        <a:rPr sz="1100" b="0">
                          <a:solidFill>
                            <a:srgbClr val="333333"/>
                          </a:solidFill>
                          <a:latin typeface="Fira Code"/>
                        </a:rPr>
                        <a:t>void AP_GPS_Backend::fill_3d_velocity(void)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float gps_heading = radians(state.ground_course);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state.velocity.x = state.ground_speed * cosf(gps_heading);</a:t>
                      </a:r>
                    </a:p>
                    <a:p>
                      <a:pPr algn="l">
                        <a:lnSpc>
                          <a:spcPct val="106000"/>
                        </a:lnSpc>
                        <a:spcAft>
                          <a:spcPts val="0"/>
                        </a:spcAft>
                      </a:pPr>
                      <a:r>
                        <a:rPr sz="1100" b="0">
                          <a:solidFill>
                            <a:srgbClr val="333333"/>
                          </a:solidFill>
                          <a:latin typeface="Fira Code"/>
                        </a:rPr>
                        <a:t>    state.velocity.y = state.ground_speed * sinf(gps_heading);</a:t>
                      </a:r>
                    </a:p>
                    <a:p>
                      <a:pPr algn="l">
                        <a:lnSpc>
                          <a:spcPct val="106000"/>
                        </a:lnSpc>
                        <a:spcAft>
                          <a:spcPts val="0"/>
                        </a:spcAft>
                      </a:pPr>
                      <a:r>
                        <a:rPr sz="1100" b="0">
                          <a:solidFill>
                            <a:srgbClr val="333333"/>
                          </a:solidFill>
                          <a:latin typeface="Fira Code"/>
                        </a:rPr>
                        <a:t>    state.velocity.z = 0;</a:t>
                      </a:r>
                    </a:p>
                    <a:p>
                      <a:pPr algn="l">
                        <a:lnSpc>
                          <a:spcPct val="106000"/>
                        </a:lnSpc>
                        <a:spcAft>
                          <a:spcPts val="0"/>
                        </a:spcAft>
                      </a:pPr>
                      <a:r>
                        <a:rPr sz="1100" b="0">
                          <a:solidFill>
                            <a:srgbClr val="333333"/>
                          </a:solidFill>
                          <a:latin typeface="Fira Code"/>
                        </a:rPr>
                        <a:t>    state.have_vertical_velocity =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285918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324-329</a:t>
                      </a:r>
                      <a:r>
                        <a:rPr sz="1100" b="0">
                          <a:solidFill>
                            <a:srgbClr val="999999"/>
                          </a:solidFill>
                          <a:latin typeface="Fira Code"/>
                        </a:rPr>
                        <a:t>  ·  </a:t>
                      </a:r>
                      <a:r>
                        <a:rPr sz="1100" b="0">
                          <a:solidFill>
                            <a:srgbClr val="999999"/>
                          </a:solidFill>
                          <a:latin typeface="Fira Code"/>
                        </a:rPr>
                        <a:t>AP_GPS::location()</a:t>
                      </a:r>
                    </a:p>
                    <a:p>
                      <a:pPr algn="l">
                        <a:lnSpc>
                          <a:spcPct val="106000"/>
                        </a:lnSpc>
                        <a:spcAft>
                          <a:spcPts val="0"/>
                        </a:spcAft>
                      </a:pPr>
                      <a:r>
                        <a:rPr sz="1100" b="0">
                          <a:solidFill>
                            <a:srgbClr val="333333"/>
                          </a:solidFill>
                          <a:latin typeface="Fira Code"/>
                        </a:rPr>
                        <a:t>    const Location &amp;location(uint8_t instance) const {</a:t>
                      </a:r>
                    </a:p>
                    <a:p>
                      <a:pPr algn="l">
                        <a:lnSpc>
                          <a:spcPct val="106000"/>
                        </a:lnSpc>
                        <a:spcAft>
                          <a:spcPts val="0"/>
                        </a:spcAft>
                      </a:pPr>
                      <a:r>
                        <a:rPr sz="1100" b="0">
                          <a:solidFill>
                            <a:srgbClr val="333333"/>
                          </a:solidFill>
                          <a:latin typeface="Fira Code"/>
                        </a:rPr>
                        <a:t>        return state[instance].location;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const Location &amp;location() const {</a:t>
                      </a:r>
                    </a:p>
                    <a:p>
                      <a:pPr algn="l">
                        <a:lnSpc>
                          <a:spcPct val="106000"/>
                        </a:lnSpc>
                        <a:spcAft>
                          <a:spcPts val="0"/>
                        </a:spcAft>
                      </a:pPr>
                      <a:r>
                        <a:rPr sz="1100" b="0">
                          <a:solidFill>
                            <a:srgbClr val="333333"/>
                          </a:solidFill>
                          <a:latin typeface="Fira Code"/>
                        </a:rPr>
                        <a:t>        return location(primary_instance);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360-365</a:t>
                      </a:r>
                      <a:r>
                        <a:rPr sz="1100" b="0">
                          <a:solidFill>
                            <a:srgbClr val="999999"/>
                          </a:solidFill>
                          <a:latin typeface="Fira Code"/>
                        </a:rPr>
                        <a:t>  ·  </a:t>
                      </a:r>
                      <a:r>
                        <a:rPr sz="1100" b="0">
                          <a:solidFill>
                            <a:srgbClr val="999999"/>
                          </a:solidFill>
                          <a:latin typeface="Fira Code"/>
                        </a:rPr>
                        <a:t>AP_GPS::velocity()</a:t>
                      </a:r>
                    </a:p>
                    <a:p>
                      <a:pPr algn="l">
                        <a:lnSpc>
                          <a:spcPct val="106000"/>
                        </a:lnSpc>
                        <a:spcAft>
                          <a:spcPts val="0"/>
                        </a:spcAft>
                      </a:pPr>
                      <a:r>
                        <a:rPr sz="1100" b="0">
                          <a:solidFill>
                            <a:srgbClr val="333333"/>
                          </a:solidFill>
                          <a:latin typeface="Fira Code"/>
                        </a:rPr>
                        <a:t>    const Vector3f &amp;velocity(uint8_t instance) const {</a:t>
                      </a:r>
                    </a:p>
                    <a:p>
                      <a:pPr algn="l">
                        <a:lnSpc>
                          <a:spcPct val="106000"/>
                        </a:lnSpc>
                        <a:spcAft>
                          <a:spcPts val="0"/>
                        </a:spcAft>
                      </a:pPr>
                      <a:r>
                        <a:rPr sz="1100" b="0">
                          <a:solidFill>
                            <a:srgbClr val="333333"/>
                          </a:solidFill>
                          <a:latin typeface="Fira Code"/>
                        </a:rPr>
                        <a:t>        return state[instance].velocity;</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const Vector3f &amp;velocity() const {</a:t>
                      </a:r>
                    </a:p>
                    <a:p>
                      <a:pPr algn="l">
                        <a:lnSpc>
                          <a:spcPct val="106000"/>
                        </a:lnSpc>
                        <a:spcAft>
                          <a:spcPts val="0"/>
                        </a:spcAft>
                      </a:pPr>
                      <a:r>
                        <a:rPr sz="1100" b="0">
                          <a:solidFill>
                            <a:srgbClr val="333333"/>
                          </a:solidFill>
                          <a:latin typeface="Fira Code"/>
                        </a:rPr>
                        <a:t>        return velocity(primary_instance);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16–17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192-201</a:t>
                      </a:r>
                      <a:r>
                        <a:rPr sz="1100" b="0">
                          <a:solidFill>
                            <a:srgbClr val="999999"/>
                          </a:solidFill>
                          <a:latin typeface="Fira Code"/>
                        </a:rPr>
                        <a:t>  ·  </a:t>
                      </a:r>
                      <a:r>
                        <a:rPr sz="1100" b="0">
                          <a:solidFill>
                            <a:srgbClr val="999999"/>
                          </a:solidFill>
                          <a:latin typeface="Fira Code"/>
                        </a:rPr>
                        <a:t>structAP_GPS::GPS_State</a:t>
                      </a:r>
                    </a:p>
                    <a:p>
                      <a:pPr algn="l">
                        <a:lnSpc>
                          <a:spcPct val="106000"/>
                        </a:lnSpc>
                        <a:spcAft>
                          <a:spcPts val="0"/>
                        </a:spcAft>
                      </a:pPr>
                      <a:r>
                        <a:rPr sz="1100" b="0">
                          <a:solidFill>
                            <a:srgbClr val="333333"/>
                          </a:solidFill>
                          <a:latin typeface="Fira Code"/>
                        </a:rPr>
                        <a:t>    struct GPS_State {</a:t>
                      </a:r>
                    </a:p>
                    <a:p>
                      <a:pPr algn="l">
                        <a:lnSpc>
                          <a:spcPct val="106000"/>
                        </a:lnSpc>
                        <a:spcAft>
                          <a:spcPts val="0"/>
                        </a:spcAft>
                      </a:pPr>
                      <a:r>
                        <a:rPr sz="1100" b="0">
                          <a:solidFill>
                            <a:srgbClr val="333333"/>
                          </a:solidFill>
                          <a:latin typeface="Fira Code"/>
                        </a:rPr>
                        <a:t>        uint8_t instance; // the instance number of this GPS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all the following fields must all be filled by the backend driver</a:t>
                      </a:r>
                    </a:p>
                    <a:p>
                      <a:pPr algn="l">
                        <a:lnSpc>
                          <a:spcPct val="106000"/>
                        </a:lnSpc>
                        <a:spcAft>
                          <a:spcPts val="0"/>
                        </a:spcAft>
                      </a:pPr>
                      <a:r>
                        <a:rPr sz="1100" b="0">
                          <a:solidFill>
                            <a:srgbClr val="333333"/>
                          </a:solidFill>
                          <a:latin typeface="Fira Code"/>
                        </a:rPr>
                        <a:t>        GPS_Status status;                  ///&lt; driver fix status</a:t>
                      </a:r>
                    </a:p>
                    <a:p>
                      <a:pPr algn="l">
                        <a:lnSpc>
                          <a:spcPct val="106000"/>
                        </a:lnSpc>
                        <a:spcAft>
                          <a:spcPts val="0"/>
                        </a:spcAft>
                      </a:pPr>
                      <a:r>
                        <a:rPr sz="1100" b="0">
                          <a:solidFill>
                            <a:srgbClr val="333333"/>
                          </a:solidFill>
                          <a:latin typeface="Fira Code"/>
                        </a:rPr>
                        <a:t>        uint32_t time_week_ms;              ///&lt; GPS time (milliseconds from start of GPS week)</a:t>
                      </a:r>
                    </a:p>
                    <a:p>
                      <a:pPr algn="l">
                        <a:lnSpc>
                          <a:spcPct val="106000"/>
                        </a:lnSpc>
                        <a:spcAft>
                          <a:spcPts val="0"/>
                        </a:spcAft>
                      </a:pPr>
                      <a:r>
                        <a:rPr sz="1100" b="0">
                          <a:solidFill>
                            <a:srgbClr val="333333"/>
                          </a:solidFill>
                          <a:latin typeface="Fira Code"/>
                        </a:rPr>
                        <a:t>        uint16_t time_week;                 ///&lt; GPS week number</a:t>
                      </a:r>
                    </a:p>
                    <a:p>
                      <a:pPr algn="l">
                        <a:lnSpc>
                          <a:spcPct val="106000"/>
                        </a:lnSpc>
                        <a:spcAft>
                          <a:spcPts val="0"/>
                        </a:spcAft>
                      </a:pPr>
                      <a:r>
                        <a:rPr sz="1100" b="0">
                          <a:solidFill>
                            <a:srgbClr val="333333"/>
                          </a:solidFill>
                          <a:latin typeface="Fira Code"/>
                        </a:rPr>
                        <a:t>        Location location;                  ///&lt; last fix location</a:t>
                      </a:r>
                    </a:p>
                    <a:p>
                      <a:pPr algn="l">
                        <a:lnSpc>
                          <a:spcPct val="106000"/>
                        </a:lnSpc>
                        <a:spcAft>
                          <a:spcPts val="0"/>
                        </a:spcAft>
                      </a:pPr>
                      <a:r>
                        <a:rPr sz="1100" b="0">
                          <a:solidFill>
                            <a:srgbClr val="333333"/>
                          </a:solidFill>
                          <a:latin typeface="Fira Code"/>
                        </a:rPr>
                        <a:t>        float ground_speed;                 ///&lt; ground speed in m/s</a:t>
                      </a:r>
                    </a:p>
                    <a:p>
                      <a:pPr algn="l">
                        <a:lnSpc>
                          <a:spcPct val="106000"/>
                        </a:lnSpc>
                        <a:spcAft>
                          <a:spcPts val="0"/>
                        </a:spcAft>
                      </a:pPr>
                      <a:r>
                        <a:rPr sz="1100" b="0">
                          <a:solidFill>
                            <a:srgbClr val="333333"/>
                          </a:solidFill>
                          <a:latin typeface="Fira Code"/>
                        </a:rPr>
                        <a:t>        float ground_course;                ///&lt; ground course in 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libraries/AP_GPS/AP_GPS_Blended.cpp</a:t>
                      </a:r>
                      <a:r>
                        <a:rPr sz="1100" b="0">
                          <a:solidFill>
                            <a:srgbClr val="999999"/>
                          </a:solidFill>
                          <a:latin typeface="Fira Code"/>
                        </a:rPr>
                        <a:t>  ·  </a:t>
                      </a:r>
                      <a:r>
                        <a:rPr sz="1100" b="0">
                          <a:solidFill>
                            <a:srgbClr val="999999"/>
                          </a:solidFill>
                          <a:latin typeface="Fira Code"/>
                        </a:rPr>
                        <a:t>17-25</a:t>
                      </a:r>
                      <a:r>
                        <a:rPr sz="1100" b="0">
                          <a:solidFill>
                            <a:srgbClr val="999999"/>
                          </a:solidFill>
                          <a:latin typeface="Fira Code"/>
                        </a:rPr>
                        <a:t>  ·  </a:t>
                      </a:r>
                      <a:r>
                        <a:rPr sz="1100" b="0">
                          <a:solidFill>
                            <a:srgbClr val="999999"/>
                          </a:solidFill>
                          <a:latin typeface="Fira Code"/>
                        </a:rPr>
                        <a:t>AP_GPS_Blended::_calc_weights()</a:t>
                      </a:r>
                    </a:p>
                    <a:p>
                      <a:pPr algn="l">
                        <a:lnSpc>
                          <a:spcPct val="106000"/>
                        </a:lnSpc>
                        <a:spcAft>
                          <a:spcPts val="0"/>
                        </a:spcAft>
                      </a:pPr>
                      <a:r>
                        <a:rPr sz="1100" b="0">
                          <a:solidFill>
                            <a:srgbClr val="333333"/>
                          </a:solidFill>
                          <a:latin typeface="Fira Code"/>
                        </a:rPr>
                        <a:t>bool AP_GPS_Blended::_calc_weights(void)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zero the blend weights</a:t>
                      </a:r>
                    </a:p>
                    <a:p>
                      <a:pPr algn="l">
                        <a:lnSpc>
                          <a:spcPct val="106000"/>
                        </a:lnSpc>
                        <a:spcAft>
                          <a:spcPts val="0"/>
                        </a:spcAft>
                      </a:pPr>
                      <a:r>
                        <a:rPr sz="1100" b="0">
                          <a:solidFill>
                            <a:srgbClr val="333333"/>
                          </a:solidFill>
                          <a:latin typeface="Fira Code"/>
                        </a:rPr>
                        <a:t>    memset(&amp;_blend_weights, 0, sizeof(_blend_weights));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static_assert(GPS_MAX_RECEIVERS == 2, "GPS blending only currently works with 2 receivers");</a:t>
                      </a:r>
                    </a:p>
                    <a:p>
                      <a:pPr algn="l">
                        <a:lnSpc>
                          <a:spcPct val="106000"/>
                        </a:lnSpc>
                        <a:spcAft>
                          <a:spcPts val="0"/>
                        </a:spcAft>
                      </a:pPr>
                      <a:r>
                        <a:rPr sz="1100" b="0">
                          <a:solidFill>
                            <a:srgbClr val="333333"/>
                          </a:solidFill>
                          <a:latin typeface="Fira Code"/>
                        </a:rPr>
                        <a:t>    // Note that the early quit below relies upon exactly 2 instances</a:t>
                      </a:r>
                    </a:p>
                    <a:p>
                      <a:pPr algn="l">
                        <a:lnSpc>
                          <a:spcPct val="106000"/>
                        </a:lnSpc>
                        <a:spcAft>
                          <a:spcPts val="0"/>
                        </a:spcAft>
                      </a:pPr>
                      <a:r>
                        <a:rPr sz="1100" b="0">
                          <a:solidFill>
                            <a:srgbClr val="333333"/>
                          </a:solidFill>
                          <a:latin typeface="Fira Code"/>
                        </a:rPr>
                        <a:t>    //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18–19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libraries/AP_Common/Location.h</a:t>
                      </a:r>
                      <a:r>
                        <a:rPr sz="1100" b="0">
                          <a:solidFill>
                            <a:srgbClr val="999999"/>
                          </a:solidFill>
                          <a:latin typeface="Fira Code"/>
                        </a:rPr>
                        <a:t>  ·  </a:t>
                      </a:r>
                      <a:r>
                        <a:rPr sz="1100" b="0">
                          <a:solidFill>
                            <a:srgbClr val="999999"/>
                          </a:solidFill>
                          <a:latin typeface="Fira Code"/>
                        </a:rPr>
                        <a:t>11-20</a:t>
                      </a:r>
                      <a:r>
                        <a:rPr sz="1100" b="0">
                          <a:solidFill>
                            <a:srgbClr val="999999"/>
                          </a:solidFill>
                          <a:latin typeface="Fira Code"/>
                        </a:rPr>
                        <a:t>  ·  </a:t>
                      </a:r>
                      <a:r>
                        <a:rPr sz="1100" b="0">
                          <a:solidFill>
                            <a:srgbClr val="999999"/>
                          </a:solidFill>
                          <a:latin typeface="Fira Code"/>
                        </a:rPr>
                        <a:t>classLocation</a:t>
                      </a:r>
                    </a:p>
                    <a:p>
                      <a:pPr algn="l">
                        <a:lnSpc>
                          <a:spcPct val="106000"/>
                        </a:lnSpc>
                        <a:spcAft>
                          <a:spcPts val="0"/>
                        </a:spcAft>
                      </a:pPr>
                      <a:r>
                        <a:rPr sz="1100" b="0">
                          <a:solidFill>
                            <a:srgbClr val="333333"/>
                          </a:solidFill>
                          <a:latin typeface="Fira Code"/>
                        </a:rPr>
                        <a:t>    uint8_t relative_alt : 1;           // 1 if altitude is relative to home</a:t>
                      </a:r>
                    </a:p>
                    <a:p>
                      <a:pPr algn="l">
                        <a:lnSpc>
                          <a:spcPct val="106000"/>
                        </a:lnSpc>
                        <a:spcAft>
                          <a:spcPts val="0"/>
                        </a:spcAft>
                      </a:pPr>
                      <a:r>
                        <a:rPr sz="1100" b="0">
                          <a:solidFill>
                            <a:srgbClr val="333333"/>
                          </a:solidFill>
                          <a:latin typeface="Fira Code"/>
                        </a:rPr>
                        <a:t>    uint8_t loiter_ccw   : 1;           // 0 if clockwise, 1 if counter clockwise</a:t>
                      </a:r>
                    </a:p>
                    <a:p>
                      <a:pPr algn="l">
                        <a:lnSpc>
                          <a:spcPct val="106000"/>
                        </a:lnSpc>
                        <a:spcAft>
                          <a:spcPts val="0"/>
                        </a:spcAft>
                      </a:pPr>
                      <a:r>
                        <a:rPr sz="1100" b="0">
                          <a:solidFill>
                            <a:srgbClr val="333333"/>
                          </a:solidFill>
                          <a:latin typeface="Fira Code"/>
                        </a:rPr>
                        <a:t>    uint8_t terrain_alt  : 1;           // this altitude is above terrain</a:t>
                      </a:r>
                    </a:p>
                    <a:p>
                      <a:pPr algn="l">
                        <a:lnSpc>
                          <a:spcPct val="106000"/>
                        </a:lnSpc>
                        <a:spcAft>
                          <a:spcPts val="0"/>
                        </a:spcAft>
                      </a:pPr>
                      <a:r>
                        <a:rPr sz="1100" b="0">
                          <a:solidFill>
                            <a:srgbClr val="333333"/>
                          </a:solidFill>
                          <a:latin typeface="Fira Code"/>
                        </a:rPr>
                        <a:t>    uint8_t origin_alt   : 1;           // this altitude is above ekf origin</a:t>
                      </a:r>
                    </a:p>
                    <a:p>
                      <a:pPr algn="l">
                        <a:lnSpc>
                          <a:spcPct val="106000"/>
                        </a:lnSpc>
                        <a:spcAft>
                          <a:spcPts val="0"/>
                        </a:spcAft>
                      </a:pPr>
                      <a:r>
                        <a:rPr sz="1100" b="0">
                          <a:solidFill>
                            <a:srgbClr val="333333"/>
                          </a:solidFill>
                          <a:latin typeface="Fira Code"/>
                        </a:rPr>
                        <a:t>    uint8_t loiter_xtrack : 1;          // 0 to crosstrack from center of waypoint, 1 to crosstrack from tangent exit location</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note that mission storage only stores 24 bits of altitude (~ +/- 83km)</a:t>
                      </a:r>
                    </a:p>
                    <a:p>
                      <a:pPr algn="l">
                        <a:lnSpc>
                          <a:spcPct val="106000"/>
                        </a:lnSpc>
                        <a:spcAft>
                          <a:spcPts val="0"/>
                        </a:spcAft>
                      </a:pPr>
                      <a:r>
                        <a:rPr sz="1100" b="0">
                          <a:solidFill>
                            <a:srgbClr val="333333"/>
                          </a:solidFill>
                          <a:latin typeface="Fira Code"/>
                        </a:rPr>
                        <a:t>    int32_t alt; // in cm</a:t>
                      </a:r>
                    </a:p>
                    <a:p>
                      <a:pPr algn="l">
                        <a:lnSpc>
                          <a:spcPct val="106000"/>
                        </a:lnSpc>
                        <a:spcAft>
                          <a:spcPts val="0"/>
                        </a:spcAft>
                      </a:pPr>
                      <a:r>
                        <a:rPr sz="1100" b="0">
                          <a:solidFill>
                            <a:srgbClr val="333333"/>
                          </a:solidFill>
                          <a:latin typeface="Fira Code"/>
                        </a:rPr>
                        <a:t>    int32_t lat; // in 1E7 degrees</a:t>
                      </a:r>
                    </a:p>
                    <a:p>
                      <a:pPr algn="l">
                        <a:lnSpc>
                          <a:spcPct val="106000"/>
                        </a:lnSpc>
                        <a:spcAft>
                          <a:spcPts val="0"/>
                        </a:spcAft>
                      </a:pPr>
                      <a:r>
                        <a:rPr sz="1100" b="0">
                          <a:solidFill>
                            <a:srgbClr val="333333"/>
                          </a:solidFill>
                          <a:latin typeface="Fira Code"/>
                        </a:rPr>
                        <a:t>    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libraries/AP_Common/Location.cpp</a:t>
                      </a:r>
                      <a:r>
                        <a:rPr sz="1100" b="0">
                          <a:solidFill>
                            <a:srgbClr val="999999"/>
                          </a:solidFill>
                          <a:latin typeface="Fira Code"/>
                        </a:rPr>
                        <a:t>  ·  </a:t>
                      </a:r>
                      <a:r>
                        <a:rPr sz="1100" b="0">
                          <a:solidFill>
                            <a:srgbClr val="999999"/>
                          </a:solidFill>
                          <a:latin typeface="Fira Code"/>
                        </a:rPr>
                        <a:t>259-268</a:t>
                      </a:r>
                      <a:r>
                        <a:rPr sz="1100" b="0">
                          <a:solidFill>
                            <a:srgbClr val="999999"/>
                          </a:solidFill>
                          <a:latin typeface="Fira Code"/>
                        </a:rPr>
                        <a:t>  ·  </a:t>
                      </a:r>
                      <a:r>
                        <a:rPr sz="1100" b="0">
                          <a:solidFill>
                            <a:srgbClr val="999999"/>
                          </a:solidFill>
                          <a:latin typeface="Fira Code"/>
                        </a:rPr>
                        <a:t>Location::get_vector_from_origin_NEU_cm()</a:t>
                      </a:r>
                    </a:p>
                    <a:p>
                      <a:pPr algn="l">
                        <a:lnSpc>
                          <a:spcPct val="106000"/>
                        </a:lnSpc>
                        <a:spcAft>
                          <a:spcPts val="0"/>
                        </a:spcAft>
                      </a:pPr>
                      <a:r>
                        <a:rPr sz="1100" b="0">
                          <a:solidFill>
                            <a:srgbClr val="333333"/>
                          </a:solidFill>
                          <a:latin typeface="Fira Code"/>
                        </a:rPr>
                        <a:t>bool Location::get_vector_from_origin_NEU_cm(T &amp;vec_neu)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convert altitude</a:t>
                      </a:r>
                    </a:p>
                    <a:p>
                      <a:pPr algn="l">
                        <a:lnSpc>
                          <a:spcPct val="106000"/>
                        </a:lnSpc>
                        <a:spcAft>
                          <a:spcPts val="0"/>
                        </a:spcAft>
                      </a:pPr>
                      <a:r>
                        <a:rPr sz="1100" b="0">
                          <a:solidFill>
                            <a:srgbClr val="333333"/>
                          </a:solidFill>
                          <a:latin typeface="Fira Code"/>
                        </a:rPr>
                        <a:t>    int32_t alt_above_origin_cm = 0;</a:t>
                      </a:r>
                    </a:p>
                    <a:p>
                      <a:pPr algn="l">
                        <a:lnSpc>
                          <a:spcPct val="106000"/>
                        </a:lnSpc>
                        <a:spcAft>
                          <a:spcPts val="0"/>
                        </a:spcAft>
                      </a:pPr>
                      <a:r>
                        <a:rPr sz="1100" b="0">
                          <a:solidFill>
                            <a:srgbClr val="333333"/>
                          </a:solidFill>
                          <a:latin typeface="Fira Code"/>
                        </a:rPr>
                        <a:t>    if (!get_alt_cm(AltFrame::ABOVE_ORIGIN, alt_above_origin_cm))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convert lat, lon</a:t>
                      </a:r>
                    </a:p>
                    <a:p>
                      <a:pPr algn="l">
                        <a:lnSpc>
                          <a:spcPct val="106000"/>
                        </a:lnSpc>
                        <a:spcAft>
                          <a:spcPts val="0"/>
                        </a:spcAft>
                      </a:pPr>
                      <a:r>
                        <a:rPr sz="1100" b="0">
                          <a:solidFill>
                            <a:srgbClr val="333333"/>
                          </a:solidFill>
                          <a:latin typeface="Fira Code"/>
                        </a:rPr>
                        <a:t>    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libraries/AP_InertialNav/AP_InertialNav.cpp</a:t>
                      </a:r>
                      <a:r>
                        <a:rPr sz="1100" b="0">
                          <a:solidFill>
                            <a:srgbClr val="999999"/>
                          </a:solidFill>
                          <a:latin typeface="Fira Code"/>
                        </a:rPr>
                        <a:t>  ·  </a:t>
                      </a:r>
                      <a:r>
                        <a:rPr sz="1100" b="0">
                          <a:solidFill>
                            <a:srgbClr val="999999"/>
                          </a:solidFill>
                          <a:latin typeface="Fira Code"/>
                        </a:rPr>
                        <a:t>14-23</a:t>
                      </a:r>
                      <a:r>
                        <a:rPr sz="1100" b="0">
                          <a:solidFill>
                            <a:srgbClr val="999999"/>
                          </a:solidFill>
                          <a:latin typeface="Fira Code"/>
                        </a:rPr>
                        <a:t>  ·  </a:t>
                      </a:r>
                      <a:r>
                        <a:rPr sz="1100" b="0">
                          <a:solidFill>
                            <a:srgbClr val="999999"/>
                          </a:solidFill>
                          <a:latin typeface="Fira Code"/>
                        </a:rPr>
                        <a:t>AP_InertialNav::update()</a:t>
                      </a:r>
                    </a:p>
                    <a:p>
                      <a:pPr algn="l">
                        <a:lnSpc>
                          <a:spcPct val="106000"/>
                        </a:lnSpc>
                        <a:spcAft>
                          <a:spcPts val="0"/>
                        </a:spcAft>
                      </a:pPr>
                      <a:r>
                        <a:rPr sz="1100" b="0">
                          <a:solidFill>
                            <a:srgbClr val="333333"/>
                          </a:solidFill>
                          <a:latin typeface="Fira Code"/>
                        </a:rPr>
                        <a:t>void AP_InertialNav::update(bool high_vibes)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get the NE position relative to the local earth frame origin</a:t>
                      </a:r>
                    </a:p>
                    <a:p>
                      <a:pPr algn="l">
                        <a:lnSpc>
                          <a:spcPct val="106000"/>
                        </a:lnSpc>
                        <a:spcAft>
                          <a:spcPts val="0"/>
                        </a:spcAft>
                      </a:pPr>
                      <a:r>
                        <a:rPr sz="1100" b="0">
                          <a:solidFill>
                            <a:srgbClr val="333333"/>
                          </a:solidFill>
                          <a:latin typeface="Fira Code"/>
                        </a:rPr>
                        <a:t>    Vector2f posNE;</a:t>
                      </a:r>
                    </a:p>
                    <a:p>
                      <a:pPr algn="l">
                        <a:lnSpc>
                          <a:spcPct val="106000"/>
                        </a:lnSpc>
                        <a:spcAft>
                          <a:spcPts val="0"/>
                        </a:spcAft>
                      </a:pPr>
                      <a:r>
                        <a:rPr sz="1100" b="0">
                          <a:solidFill>
                            <a:srgbClr val="333333"/>
                          </a:solidFill>
                          <a:latin typeface="Fira Code"/>
                        </a:rPr>
                        <a:t>    if (_ahrs_ekf.get_relative_position_NE_origin_float(posNE)) {</a:t>
                      </a:r>
                    </a:p>
                    <a:p>
                      <a:pPr algn="l">
                        <a:lnSpc>
                          <a:spcPct val="106000"/>
                        </a:lnSpc>
                        <a:spcAft>
                          <a:spcPts val="0"/>
                        </a:spcAft>
                      </a:pPr>
                      <a:r>
                        <a:rPr sz="1100" b="0">
                          <a:solidFill>
                            <a:srgbClr val="333333"/>
                          </a:solidFill>
                          <a:latin typeface="Fira Code"/>
                        </a:rPr>
                        <a:t>        _relpos_cm.x = posNE.x * 100; // convert from m to cm</a:t>
                      </a:r>
                    </a:p>
                    <a:p>
                      <a:pPr algn="l">
                        <a:lnSpc>
                          <a:spcPct val="106000"/>
                        </a:lnSpc>
                        <a:spcAft>
                          <a:spcPts val="0"/>
                        </a:spcAft>
                      </a:pPr>
                      <a:r>
                        <a:rPr sz="1100" b="0">
                          <a:solidFill>
                            <a:srgbClr val="333333"/>
                          </a:solidFill>
                          <a:latin typeface="Fira Code"/>
                        </a:rPr>
                        <a:t>        _relpos_cm.y = posNE.y * 100; // convert from m to cm</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libraries/AC_AttitudeControl/AC_PosControl.cpp</a:t>
                      </a:r>
                      <a:r>
                        <a:rPr sz="1100" b="0">
                          <a:solidFill>
                            <a:srgbClr val="999999"/>
                          </a:solidFill>
                          <a:latin typeface="Fira Code"/>
                        </a:rPr>
                        <a:t>  ·  </a:t>
                      </a:r>
                      <a:r>
                        <a:rPr sz="1100" b="0">
                          <a:solidFill>
                            <a:srgbClr val="999999"/>
                          </a:solidFill>
                          <a:latin typeface="Fira Code"/>
                        </a:rPr>
                        <a:t>363-372</a:t>
                      </a:r>
                      <a:r>
                        <a:rPr sz="1100" b="0">
                          <a:solidFill>
                            <a:srgbClr val="999999"/>
                          </a:solidFill>
                          <a:latin typeface="Fira Code"/>
                        </a:rPr>
                        <a:t>  ·  </a:t>
                      </a:r>
                      <a:r>
                        <a:rPr sz="1100" b="0">
                          <a:solidFill>
                            <a:srgbClr val="999999"/>
                          </a:solidFill>
                          <a:latin typeface="Fira Code"/>
                        </a:rPr>
                        <a:t>AC_PosControl::input_pos_NEU_cm()</a:t>
                      </a:r>
                    </a:p>
                    <a:p>
                      <a:pPr algn="l">
                        <a:lnSpc>
                          <a:spcPct val="106000"/>
                        </a:lnSpc>
                        <a:spcAft>
                          <a:spcPts val="0"/>
                        </a:spcAft>
                      </a:pPr>
                      <a:r>
                        <a:rPr sz="1100" b="0">
                          <a:solidFill>
                            <a:srgbClr val="333333"/>
                          </a:solidFill>
                          <a:latin typeface="Fira Code"/>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input_pos_NEU_m(pos_neu_cm * 0.01, pos_terrain_target_u_cm * 0.01, terrain_buffer_cm * 0.01);</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Sets a new NEU position target in meters and computes a jerk-limited trajectory.</a:t>
                      </a:r>
                    </a:p>
                    <a:p>
                      <a:pPr algn="l">
                        <a:lnSpc>
                          <a:spcPct val="106000"/>
                        </a:lnSpc>
                        <a:spcAft>
                          <a:spcPts val="0"/>
                        </a:spcAft>
                      </a:pPr>
                      <a:r>
                        <a:rPr sz="1100" b="0">
                          <a:solidFill>
                            <a:srgbClr val="333333"/>
                          </a:solidFill>
                          <a:latin typeface="Fira Code"/>
                        </a:rPr>
                        <a:t>// Updates internal acceleration commands using a smooth kinematic path constrained</a:t>
                      </a:r>
                    </a:p>
                    <a:p>
                      <a:pPr algn="l">
                        <a:lnSpc>
                          <a:spcPct val="106000"/>
                        </a:lnSpc>
                        <a:spcAft>
                          <a:spcPts val="0"/>
                        </a:spcAft>
                      </a:pPr>
                      <a:r>
                        <a:rPr sz="1100" b="0">
                          <a:solidFill>
                            <a:srgbClr val="333333"/>
                          </a:solidFill>
                          <a:latin typeface="Fira Code"/>
                        </a:rPr>
                        <a:t>// by configured acceleration and jerk limits. Terrain margin is used to constrain</a:t>
                      </a:r>
                    </a:p>
                    <a:p>
                      <a:pPr algn="l">
                        <a:lnSpc>
                          <a:spcPct val="106000"/>
                        </a:lnSpc>
                        <a:spcAft>
                          <a:spcPts val="0"/>
                        </a:spcAft>
                      </a:pPr>
                      <a:r>
                        <a:rPr sz="1100" b="0">
                          <a:solidFill>
                            <a:srgbClr val="333333"/>
                          </a:solidFill>
                          <a:latin typeface="Fira Code"/>
                        </a:rPr>
                        <a:t>// horizontal velocity to avoid vertical buffer violation.</a:t>
                      </a:r>
                    </a:p>
                    <a:p>
                      <a:pPr algn="l">
                        <a:lnSpc>
                          <a:spcPct val="106000"/>
                        </a:lnSpc>
                        <a:spcAft>
                          <a:spcPts val="0"/>
                        </a:spcAft>
                      </a:pPr>
                      <a:r>
                        <a:rPr sz="1100" b="0">
                          <a:solidFill>
                            <a:srgbClr val="333333"/>
                          </a:solidFill>
                          <a:latin typeface="Fira Code"/>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22–23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libraries/APM_Control/AR_PosControl.cpp</a:t>
                      </a:r>
                      <a:r>
                        <a:rPr sz="1100" b="0">
                          <a:solidFill>
                            <a:srgbClr val="999999"/>
                          </a:solidFill>
                          <a:latin typeface="Fira Code"/>
                        </a:rPr>
                        <a:t>  ·  </a:t>
                      </a:r>
                      <a:r>
                        <a:rPr sz="1100" b="0">
                          <a:solidFill>
                            <a:srgbClr val="999999"/>
                          </a:solidFill>
                          <a:latin typeface="Fira Code"/>
                        </a:rPr>
                        <a:t>114-123</a:t>
                      </a:r>
                      <a:r>
                        <a:rPr sz="1100" b="0">
                          <a:solidFill>
                            <a:srgbClr val="999999"/>
                          </a:solidFill>
                          <a:latin typeface="Fira Code"/>
                        </a:rPr>
                        <a:t>  ·  </a:t>
                      </a:r>
                      <a:r>
                        <a:rPr sz="1100" b="0">
                          <a:solidFill>
                            <a:srgbClr val="999999"/>
                          </a:solidFill>
                          <a:latin typeface="Fira Code"/>
                        </a:rPr>
                        <a:t>AR_PosControl::update()</a:t>
                      </a:r>
                    </a:p>
                    <a:p>
                      <a:pPr algn="l">
                        <a:lnSpc>
                          <a:spcPct val="106000"/>
                        </a:lnSpc>
                        <a:spcAft>
                          <a:spcPts val="0"/>
                        </a:spcAft>
                      </a:pPr>
                      <a:r>
                        <a:rPr sz="1100" b="0">
                          <a:solidFill>
                            <a:srgbClr val="333333"/>
                          </a:solidFill>
                          <a:latin typeface="Fira Code"/>
                        </a:rPr>
                        <a:t>void AR_PosControl::update(float dt)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exit immediately if no current location, destination or disarmed</a:t>
                      </a:r>
                    </a:p>
                    <a:p>
                      <a:pPr algn="l">
                        <a:lnSpc>
                          <a:spcPct val="106000"/>
                        </a:lnSpc>
                        <a:spcAft>
                          <a:spcPts val="0"/>
                        </a:spcAft>
                      </a:pPr>
                      <a:r>
                        <a:rPr sz="1100" b="0">
                          <a:solidFill>
                            <a:srgbClr val="333333"/>
                          </a:solidFill>
                          <a:latin typeface="Fira Code"/>
                        </a:rPr>
                        <a:t>    Vector3p curr_pos_NED_m;</a:t>
                      </a:r>
                    </a:p>
                    <a:p>
                      <a:pPr algn="l">
                        <a:lnSpc>
                          <a:spcPct val="106000"/>
                        </a:lnSpc>
                        <a:spcAft>
                          <a:spcPts val="0"/>
                        </a:spcAft>
                      </a:pPr>
                      <a:r>
                        <a:rPr sz="1100" b="0">
                          <a:solidFill>
                            <a:srgbClr val="333333"/>
                          </a:solidFill>
                          <a:latin typeface="Fira Code"/>
                        </a:rPr>
                        <a:t>    Vector3f curr_vel_NED;</a:t>
                      </a:r>
                    </a:p>
                    <a:p>
                      <a:pPr algn="l">
                        <a:lnSpc>
                          <a:spcPct val="106000"/>
                        </a:lnSpc>
                        <a:spcAft>
                          <a:spcPts val="0"/>
                        </a:spcAft>
                      </a:pPr>
                      <a:r>
                        <a:rPr sz="1100" b="0">
                          <a:solidFill>
                            <a:srgbClr val="333333"/>
                          </a:solidFill>
                          <a:latin typeface="Fira Code"/>
                        </a:rPr>
                        <a:t>    if (!hal.util-&gt;get_soft_armed() || !AP::ahrs().get_relative_position_NED_origin(curr_pos_NED_m) ||</a:t>
                      </a:r>
                    </a:p>
                    <a:p>
                      <a:pPr algn="l">
                        <a:lnSpc>
                          <a:spcPct val="106000"/>
                        </a:lnSpc>
                        <a:spcAft>
                          <a:spcPts val="0"/>
                        </a:spcAft>
                      </a:pPr>
                      <a:r>
                        <a:rPr sz="1100" b="0">
                          <a:solidFill>
                            <a:srgbClr val="333333"/>
                          </a:solidFill>
                          <a:latin typeface="Fira Code"/>
                        </a:rPr>
                        <a:t>        !AP::ahrs().get_velocity_NED(curr_vel_NED)) {</a:t>
                      </a:r>
                    </a:p>
                    <a:p>
                      <a:pPr algn="l">
                        <a:lnSpc>
                          <a:spcPct val="106000"/>
                        </a:lnSpc>
                        <a:spcAft>
                          <a:spcPts val="0"/>
                        </a:spcAft>
                      </a:pPr>
                      <a:r>
                        <a:rPr sz="1100" b="0">
                          <a:solidFill>
                            <a:srgbClr val="333333"/>
                          </a:solidFill>
                          <a:latin typeface="Fira Code"/>
                        </a:rPr>
                        <a:t>        _desired_speed = _atc.get_desired_speed_accel_limited(0.0f, dt);</a:t>
                      </a:r>
                    </a:p>
                    <a:p>
                      <a:pPr algn="l">
                        <a:lnSpc>
                          <a:spcPct val="106000"/>
                        </a:lnSpc>
                        <a:spcAft>
                          <a:spcPts val="0"/>
                        </a:spcAft>
                      </a:pPr>
                      <a:r>
                        <a:rPr sz="1100" b="0">
                          <a:solidFill>
                            <a:srgbClr val="333333"/>
                          </a:solidFill>
                          <a:latin typeface="Fira Code"/>
                        </a:rPr>
                        <a:t>        _desired_lat_accel = 0.0f;</a:t>
                      </a:r>
                    </a:p>
                    <a:p>
                      <a:pPr algn="l">
                        <a:lnSpc>
                          <a:spcPct val="106000"/>
                        </a:lnSpc>
                        <a:spcAft>
                          <a:spcPts val="0"/>
                        </a:spcAft>
                      </a:pPr>
                      <a:r>
                        <a:rPr sz="1100" b="0">
                          <a:solidFill>
                            <a:srgbClr val="333333"/>
                          </a:solidFill>
                          <a:latin typeface="Fira Code"/>
                        </a:rPr>
                        <a:t>        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libraries/AP_Beacon/AP_Beacon.cpp</a:t>
                      </a:r>
                      <a:r>
                        <a:rPr sz="1100" b="0">
                          <a:solidFill>
                            <a:srgbClr val="999999"/>
                          </a:solidFill>
                          <a:latin typeface="Fira Code"/>
                        </a:rPr>
                        <a:t>  ·  </a:t>
                      </a:r>
                      <a:r>
                        <a:rPr sz="1100" b="0">
                          <a:solidFill>
                            <a:srgbClr val="999999"/>
                          </a:solidFill>
                          <a:latin typeface="Fira Code"/>
                        </a:rPr>
                        <a:t>175-184</a:t>
                      </a:r>
                      <a:r>
                        <a:rPr sz="1100" b="0">
                          <a:solidFill>
                            <a:srgbClr val="999999"/>
                          </a:solidFill>
                          <a:latin typeface="Fira Code"/>
                        </a:rPr>
                        <a:t>  ·  </a:t>
                      </a:r>
                      <a:r>
                        <a:rPr sz="1100" b="0">
                          <a:solidFill>
                            <a:srgbClr val="999999"/>
                          </a:solidFill>
                          <a:latin typeface="Fira Code"/>
                        </a:rPr>
                        <a:t>AP_Beacon::get_vehicle_position_ned()</a:t>
                      </a:r>
                    </a:p>
                    <a:p>
                      <a:pPr algn="l">
                        <a:lnSpc>
                          <a:spcPct val="106000"/>
                        </a:lnSpc>
                        <a:spcAft>
                          <a:spcPts val="0"/>
                        </a:spcAft>
                      </a:pPr>
                      <a:r>
                        <a:rPr sz="1100" b="0">
                          <a:solidFill>
                            <a:srgbClr val="333333"/>
                          </a:solidFill>
                          <a:latin typeface="Fira Code"/>
                        </a:rPr>
                        <a:t>bool AP_Beacon::get_vehicle_position_ned(Vector3f &amp;position, float&amp; accuracy_estimate)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(!device_ready())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timeout</a:t>
                      </a:r>
                    </a:p>
                    <a:p>
                      <a:pPr algn="l">
                        <a:lnSpc>
                          <a:spcPct val="106000"/>
                        </a:lnSpc>
                        <a:spcAft>
                          <a:spcPts val="0"/>
                        </a:spcAft>
                      </a:pPr>
                      <a:r>
                        <a:rPr sz="1100" b="0">
                          <a:solidFill>
                            <a:srgbClr val="333333"/>
                          </a:solidFill>
                          <a:latin typeface="Fira Code"/>
                        </a:rPr>
                        <a:t>    if (AP_HAL::millis() - veh_pos_update_ms &gt; AP_BEACON_TIMEOUT_MS)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243819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libraries/AP_VisualOdom/AP_VisualOdom.cpp</a:t>
                      </a:r>
                      <a:r>
                        <a:rPr sz="1100" b="0">
                          <a:solidFill>
                            <a:srgbClr val="999999"/>
                          </a:solidFill>
                          <a:latin typeface="Fira Code"/>
                        </a:rPr>
                        <a:t>  ·  </a:t>
                      </a:r>
                      <a:r>
                        <a:rPr sz="1100" b="0">
                          <a:solidFill>
                            <a:srgbClr val="999999"/>
                          </a:solidFill>
                          <a:latin typeface="Fira Code"/>
                        </a:rPr>
                        <a:t>201-210</a:t>
                      </a:r>
                      <a:r>
                        <a:rPr sz="1100" b="0">
                          <a:solidFill>
                            <a:srgbClr val="999999"/>
                          </a:solidFill>
                          <a:latin typeface="Fira Code"/>
                        </a:rPr>
                        <a:t>  ·  </a:t>
                      </a:r>
                      <a:r>
                        <a:rPr sz="1100" b="0">
                          <a:solidFill>
                            <a:srgbClr val="999999"/>
                          </a:solidFill>
                          <a:latin typeface="Fira Code"/>
                        </a:rPr>
                        <a:t>AP_VisualOdom::handle_pose_estimate()</a:t>
                      </a:r>
                    </a:p>
                    <a:p>
                      <a:pPr algn="l">
                        <a:lnSpc>
                          <a:spcPct val="106000"/>
                        </a:lnSpc>
                        <a:spcAft>
                          <a:spcPts val="0"/>
                        </a:spcAft>
                      </a:pPr>
                      <a:r>
                        <a:rPr sz="1100" b="0">
                          <a:solidFill>
                            <a:srgbClr val="333333"/>
                          </a:solidFill>
                          <a:latin typeface="Fira Code"/>
                        </a:rPr>
                        <a:t>void AP_VisualOdom::handle_pose_estimate(uint64_t remote_time_us, uint32_t time_ms, float x, float y, float z, float roll, float pitch, float yaw, float posErr, float angErr, uint8_t reset_counter, int8_t quality)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exit immediately if not enabled</a:t>
                      </a:r>
                    </a:p>
                    <a:p>
                      <a:pPr algn="l">
                        <a:lnSpc>
                          <a:spcPct val="106000"/>
                        </a:lnSpc>
                        <a:spcAft>
                          <a:spcPts val="0"/>
                        </a:spcAft>
                      </a:pPr>
                      <a:r>
                        <a:rPr sz="1100" b="0">
                          <a:solidFill>
                            <a:srgbClr val="333333"/>
                          </a:solidFill>
                          <a:latin typeface="Fira Code"/>
                        </a:rPr>
                        <a:t>    if (!enabled())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call backend</a:t>
                      </a:r>
                    </a:p>
                    <a:p>
                      <a:pPr algn="l">
                        <a:lnSpc>
                          <a:spcPct val="106000"/>
                        </a:lnSpc>
                        <a:spcAft>
                          <a:spcPts val="0"/>
                        </a:spcAft>
                      </a:pPr>
                      <a:r>
                        <a:rPr sz="1100" b="0">
                          <a:solidFill>
                            <a:srgbClr val="333333"/>
                          </a:solidFill>
                          <a:latin typeface="Fira Code"/>
                        </a:rPr>
                        <a:t>    if (_driver != nullptr) {</a:t>
                      </a:r>
                    </a:p>
                    <a:p>
                      <a:pPr algn="l">
                        <a:lnSpc>
                          <a:spcPct val="106000"/>
                        </a:lnSpc>
                        <a:spcAft>
                          <a:spcPts val="0"/>
                        </a:spcAft>
                      </a:pPr>
                      <a:r>
                        <a:rPr sz="1100" b="0">
                          <a:solidFill>
                            <a:srgbClr val="333333"/>
                          </a:solidFill>
                          <a:latin typeface="Fira Code"/>
                        </a:rPr>
                        <a:t>        //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1 — direct callers / callees with typed dependency</a:t>
            </a:r>
          </a:p>
        </p:txBody>
      </p:sp>
      <p:graphicFrame>
        <p:nvGraphicFramePr>
          <p:cNvPr id="7" name="Table 6"/>
          <p:cNvGraphicFramePr>
            <a:graphicFrameLocks noGrp="1"/>
          </p:cNvGraphicFramePr>
          <p:nvPr/>
        </p:nvGraphicFramePr>
        <p:xfrm>
          <a:off x="566928" y="1906943"/>
          <a:ext cx="11058144" cy="40014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graphicFrame>
        <p:nvGraphicFramePr>
          <p:cNvPr id="6" name="Table 5"/>
          <p:cNvGraphicFramePr>
            <a:graphicFrameLocks noGrp="1"/>
          </p:cNvGraphicFramePr>
          <p:nvPr/>
        </p:nvGraphicFramePr>
        <p:xfrm>
          <a:off x="566928" y="1591056"/>
          <a:ext cx="11058144" cy="44193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cosf/sinf on state.ground_course; writes state.velocity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All receiver backends (UBLOX, NMEA, SIRF,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state[instance].location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AP_AHRS; 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(PosVel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 struct — no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GPS backends (write); frontend accessors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gps.state[].status; time deltas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AP_GPS_Blended::calc_weights()/update (blended primary)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graphicFrame>
        <p:nvGraphicFramePr>
          <p:cNvPr id="6" name="Table 5"/>
          <p:cNvGraphicFramePr>
            <a:graphicFrameLocks noGrp="1"/>
          </p:cNvGraphicFramePr>
          <p:nvPr/>
        </p:nvGraphicFramePr>
        <p:xfrm>
          <a:off x="566928" y="1591056"/>
          <a:ext cx="11058144" cy="316563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AP_AHRS; AC_WPNav; AP_Mission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AC_WPNav::get_vector_NEU_cm()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_ahrs_ekf.get_relative_position_NE_origin_float()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Copter::read_inertia()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input_pos_NEU_m()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 mode_auto.cpp / mode.cpp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AP::ahrs().get_relative_position_NED_origin(); 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mode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device_ready(); 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range-beacon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_driver backend 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 AP_ExternalAHRS pose handlers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AP_GPS_UBLOX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_last_pos_time = _buffer.posllh.itow;</a:t>
                      </a:r>
                    </a:p>
                    <a:p>
                      <a:pPr algn="l">
                        <a:lnSpc>
                          <a:spcPct val="106000"/>
                        </a:lnSpc>
                        <a:spcAft>
                          <a:spcPts val="0"/>
                        </a:spcAft>
                      </a:pPr>
                      <a:r>
                        <a:rPr sz="1100" b="0">
                          <a:solidFill>
                            <a:srgbClr val="333333"/>
                          </a:solidFill>
                          <a:latin typeface="Fira Code"/>
                        </a:rPr>
                        <a:t>state.location.lng = _buffer.posllh.longitude;</a:t>
                      </a:r>
                    </a:p>
                    <a:p>
                      <a:pPr algn="l">
                        <a:lnSpc>
                          <a:spcPct val="106000"/>
                        </a:lnSpc>
                        <a:spcAft>
                          <a:spcPts val="0"/>
                        </a:spcAft>
                      </a:pPr>
                      <a:r>
                        <a:rPr sz="1100" b="0">
                          <a:solidFill>
                            <a:srgbClr val="333333"/>
                          </a:solidFill>
                          <a:latin typeface="Fira Code"/>
                        </a:rPr>
                        <a:t>state.location.lat = _buffer.posllh.latitude;</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(_buffer.posllh.altitude_msl - _buffer.</a:t>
                      </a:r>
                    </a:p>
                    <a:p>
                      <a:pPr algn="l">
                        <a:lnSpc>
                          <a:spcPct val="106000"/>
                        </a:lnSpc>
                        <a:spcAft>
                          <a:spcPts val="0"/>
                        </a:spcAft>
                      </a:pPr>
                      <a:r>
                        <a:rPr sz="1100" b="0">
                          <a:solidFill>
                            <a:srgbClr val="333333"/>
                          </a:solidFill>
                          <a:latin typeface="Fira Code"/>
                        </a:rPr>
                        <a:t>posllh.altitude_ellipsoid) * 0.001;</a:t>
                      </a:r>
                    </a:p>
                    <a:p>
                      <a:pPr algn="l">
                        <a:lnSpc>
                          <a:spcPct val="106000"/>
                        </a:lnSpc>
                        <a:spcAft>
                          <a:spcPts val="0"/>
                        </a:spcAft>
                      </a:pPr>
                      <a:r>
                        <a:rPr sz="1100" b="0">
                          <a:solidFill>
                            <a:srgbClr val="333333"/>
                          </a:solidFill>
                          <a:latin typeface="Fira Code"/>
                        </a:rPr>
                        <a:t>set_alt_amsl_cm(state, _buffer.posllh.altitude_msl / 10);</a:t>
                      </a:r>
                    </a:p>
                    <a:p>
                      <a:pPr algn="l">
                        <a:lnSpc>
                          <a:spcPct val="106000"/>
                        </a:lnSpc>
                        <a:spcAft>
                          <a:spcPts val="0"/>
                        </a:spcAft>
                      </a:pPr>
                      <a:r>
                        <a:rPr sz="1100" b="0">
                          <a:solidFill>
                            <a:srgbClr val="333333"/>
                          </a:solidFill>
                          <a:latin typeface="Fira Code"/>
                        </a:rPr>
                        <a:t>state.status = next_fix;</a:t>
                      </a:r>
                    </a:p>
                    <a:p>
                      <a:pPr algn="l">
                        <a:lnSpc>
                          <a:spcPct val="106000"/>
                        </a:lnSpc>
                        <a:spcAft>
                          <a:spcPts val="0"/>
                        </a:spcAft>
                      </a:pPr>
                      <a:r>
                        <a:rPr sz="1100" b="0">
                          <a:solidFill>
                            <a:srgbClr val="333333"/>
                          </a:solidFill>
                          <a:latin typeface="Fira Code"/>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AP_GPS_NMEA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_new_latitude;</a:t>
                      </a:r>
                    </a:p>
                    <a:p>
                      <a:pPr algn="l">
                        <a:lnSpc>
                          <a:spcPct val="106000"/>
                        </a:lnSpc>
                        <a:spcAft>
                          <a:spcPts val="0"/>
                        </a:spcAft>
                      </a:pPr>
                      <a:r>
                        <a:rPr sz="1100" b="0">
                          <a:solidFill>
                            <a:srgbClr val="333333"/>
                          </a:solidFill>
                          <a:latin typeface="Fira Code"/>
                        </a:rPr>
                        <a:t>state.location.lng = _new_longitude;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state.num_sats = _new_satellite_count;</a:t>
                      </a:r>
                    </a:p>
                    <a:p>
                      <a:pPr algn="l">
                        <a:lnSpc>
                          <a:spcPct val="106000"/>
                        </a:lnSpc>
                        <a:spcAft>
                          <a:spcPts val="0"/>
                        </a:spcAft>
                      </a:pPr>
                      <a:r>
                        <a:rPr sz="1100" b="0">
                          <a:solidFill>
                            <a:srgbClr val="333333"/>
                          </a:solidFill>
                          <a:latin typeface="Fira Code"/>
                        </a:rPr>
                        <a:t>state.hdop = _new_hdop;</a:t>
                      </a:r>
                    </a:p>
                    <a:p>
                      <a:pPr algn="l">
                        <a:lnSpc>
                          <a:spcPct val="106000"/>
                        </a:lnSpc>
                        <a:spcAft>
                          <a:spcPts val="0"/>
                        </a:spcAft>
                      </a:pPr>
                      <a:r>
                        <a:rPr sz="1100" b="0">
                          <a:solidFill>
                            <a:srgbClr val="333333"/>
                          </a:solidFill>
                          <a:latin typeface="Fira Code"/>
                        </a:rPr>
                        <a:t>switch(_new_quality_indicator) {</a:t>
                      </a:r>
                    </a:p>
                    <a:p>
                      <a:pPr algn="l">
                        <a:lnSpc>
                          <a:spcPct val="106000"/>
                        </a:lnSpc>
                        <a:spcAft>
                          <a:spcPts val="0"/>
                        </a:spcAft>
                      </a:pPr>
                      <a:r>
                        <a:rPr sz="1100" b="0">
                          <a:solidFill>
                            <a:srgbClr val="333333"/>
                          </a:solidFill>
                          <a:latin typeface="Fira Code"/>
                        </a:rPr>
                        <a:t>case 0: // Fix not available or invalid</a:t>
                      </a:r>
                    </a:p>
                    <a:p>
                      <a:pPr algn="l">
                        <a:lnSpc>
                          <a:spcPct val="106000"/>
                        </a:lnSpc>
                        <a:spcAft>
                          <a:spcPts val="0"/>
                        </a:spcAft>
                      </a:pPr>
                      <a:r>
                        <a:rPr sz="1100" b="0">
                          <a:solidFill>
                            <a:srgbClr val="333333"/>
                          </a:solidFill>
                          <a:latin typeface="Fira Code"/>
                        </a:rPr>
                        <a:t>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AP_GPS_SBF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(int32_t)(temp.Latitude * RAD_TO_DEG_DOUBLE * (double)1e7);</a:t>
                      </a:r>
                    </a:p>
                    <a:p>
                      <a:pPr algn="l">
                        <a:lnSpc>
                          <a:spcPct val="106000"/>
                        </a:lnSpc>
                        <a:spcAft>
                          <a:spcPts val="0"/>
                        </a:spcAft>
                      </a:pPr>
                      <a:r>
                        <a:rPr sz="1100" b="0">
                          <a:solidFill>
                            <a:srgbClr val="333333"/>
                          </a:solidFill>
                          <a:latin typeface="Fira Code"/>
                        </a:rPr>
                        <a:t>state.location.lng = (int32_t)(temp.Longitude * RAD_TO_DEG_DOUBLE * (double)1e7);</a:t>
                      </a:r>
                    </a:p>
                    <a:p>
                      <a:pPr algn="l">
                        <a:lnSpc>
                          <a:spcPct val="106000"/>
                        </a:lnSpc>
                        <a:spcAft>
                          <a:spcPts val="0"/>
                        </a:spcAft>
                      </a:pPr>
                      <a:r>
                        <a:rPr sz="1100" b="0">
                          <a:solidFill>
                            <a:srgbClr val="333333"/>
                          </a:solidFill>
                          <a:latin typeface="Fira Code"/>
                        </a:rPr>
                        <a:t>state.have_undulation = !is_DNU(temp.Undulation);</a:t>
                      </a:r>
                    </a:p>
                    <a:p>
                      <a:pPr algn="l">
                        <a:lnSpc>
                          <a:spcPct val="106000"/>
                        </a:lnSpc>
                        <a:spcAft>
                          <a:spcPts val="0"/>
                        </a:spcAft>
                      </a:pPr>
                      <a:r>
                        <a:rPr sz="1100" b="0">
                          <a:solidFill>
                            <a:srgbClr val="333333"/>
                          </a:solidFill>
                          <a:latin typeface="Fira Code"/>
                        </a:rPr>
                        <a:t>double height = temp.Height; // in metres</a:t>
                      </a:r>
                    </a:p>
                    <a:p>
                      <a:pPr algn="l">
                        <a:lnSpc>
                          <a:spcPct val="106000"/>
                        </a:lnSpc>
                        <a:spcAft>
                          <a:spcPts val="0"/>
                        </a:spcAft>
                      </a:pPr>
                      <a:r>
                        <a:rPr sz="1100" b="0">
                          <a:solidFill>
                            <a:srgbClr val="333333"/>
                          </a:solidFill>
                          <a:latin typeface="Fira Code"/>
                        </a:rPr>
                        <a:t>if (state.have_undulation) {</a:t>
                      </a:r>
                    </a:p>
                    <a:p>
                      <a:pPr algn="l">
                        <a:lnSpc>
                          <a:spcPct val="106000"/>
                        </a:lnSpc>
                        <a:spcAft>
                          <a:spcPts val="0"/>
                        </a:spcAft>
                      </a:pPr>
                      <a:r>
                        <a:rPr sz="1100" b="0">
                          <a:solidFill>
                            <a:srgbClr val="333333"/>
                          </a:solidFill>
                          <a:latin typeface="Fira Code"/>
                        </a:rPr>
                        <a:t>height -= temp.Undulation;</a:t>
                      </a:r>
                    </a:p>
                    <a:p>
                      <a:pPr algn="l">
                        <a:lnSpc>
                          <a:spcPct val="106000"/>
                        </a:lnSpc>
                        <a:spcAft>
                          <a:spcPts val="0"/>
                        </a:spcAft>
                      </a:pPr>
                      <a:r>
                        <a:rPr sz="1100" b="0">
                          <a:solidFill>
                            <a:srgbClr val="333333"/>
                          </a:solidFill>
                          <a:latin typeface="Fira Code"/>
                        </a:rPr>
                        <a:t>state.undulation = -temp.Undulation;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AP_GPS_NOVA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state.last_gps_time_ms = AP_HAL::millis();</a:t>
                      </a:r>
                    </a:p>
                    <a:p>
                      <a:pPr algn="l">
                        <a:lnSpc>
                          <a:spcPct val="106000"/>
                        </a:lnSpc>
                        <a:spcAft>
                          <a:spcPts val="0"/>
                        </a:spcAft>
                      </a:pPr>
                      <a:r>
                        <a:rPr sz="1100" b="0">
                          <a:solidFill>
                            <a:srgbClr val="333333"/>
                          </a:solidFill>
                          <a:latin typeface="Fira Code"/>
                        </a:rPr>
                        <a:t>state.location.lat = (int32_t) (bestposu.lat * (double)1e7</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state.location.lng = (int32_t) (bestposu.lng * (double)1e7</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-bestposu.undulation;</a:t>
                      </a:r>
                    </a:p>
                    <a:p>
                      <a:pPr algn="l">
                        <a:lnSpc>
                          <a:spcPct val="106000"/>
                        </a:lnSpc>
                        <a:spcAft>
                          <a:spcPts val="0"/>
                        </a:spcAft>
                      </a:pPr>
                      <a:r>
                        <a:rPr sz="1100" b="0">
                          <a:solidFill>
                            <a:srgbClr val="333333"/>
                          </a:solidFill>
                          <a:latin typeface="Fira Code"/>
                        </a:rPr>
                        <a:t>set_alt_amsl_cm(state, bestposu.hgt * 100);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AP_GPS_SBP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 (pos_llh-&gt;lat * (double)1e7);</a:t>
                      </a:r>
                    </a:p>
                    <a:p>
                      <a:pPr algn="l">
                        <a:lnSpc>
                          <a:spcPct val="106000"/>
                        </a:lnSpc>
                        <a:spcAft>
                          <a:spcPts val="0"/>
                        </a:spcAft>
                      </a:pPr>
                      <a:r>
                        <a:rPr sz="1100" b="0">
                          <a:solidFill>
                            <a:srgbClr val="333333"/>
                          </a:solidFill>
                          <a:latin typeface="Fira Code"/>
                        </a:rPr>
                        <a:t>state.location.lng = (int32_t) (pos_llh-&gt;lon * (double)1e7);</a:t>
                      </a:r>
                    </a:p>
                    <a:p>
                      <a:pPr algn="l">
                        <a:lnSpc>
                          <a:spcPct val="106000"/>
                        </a:lnSpc>
                        <a:spcAft>
                          <a:spcPts val="0"/>
                        </a:spcAft>
                      </a:pPr>
                      <a:r>
                        <a:rPr sz="1100" b="0">
                          <a:solidFill>
                            <a:srgbClr val="333333"/>
                          </a:solidFill>
                          <a:latin typeface="Fira Code"/>
                        </a:rPr>
                        <a:t>state.location.alt = (int32_t) (pos_llh-&gt;height * 100</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state.num_sats = pos_llh-&gt;n_sats;</a:t>
                      </a:r>
                    </a:p>
                    <a:p>
                      <a:pPr algn="l">
                        <a:lnSpc>
                          <a:spcPct val="106000"/>
                        </a:lnSpc>
                        <a:spcAft>
                          <a:spcPts val="0"/>
                        </a:spcAft>
                      </a:pPr>
                      <a:r>
                        <a:rPr sz="1100" b="0">
                          <a:solidFill>
                            <a:srgbClr val="333333"/>
                          </a:solidFill>
                          <a:latin typeface="Fira Code"/>
                        </a:rPr>
                        <a:t>if (pos_llh-&gt;flags == 0) {</a:t>
                      </a:r>
                    </a:p>
                    <a:p>
                      <a:pPr algn="l">
                        <a:lnSpc>
                          <a:spcPct val="106000"/>
                        </a:lnSpc>
                        <a:spcAft>
                          <a:spcPts val="0"/>
                        </a:spcAft>
                      </a:pPr>
                      <a:r>
                        <a:rPr sz="1100" b="0">
                          <a:solidFill>
                            <a:srgbClr val="333333"/>
                          </a:solidFill>
                          <a:latin typeface="Fira Code"/>
                        </a:rPr>
                        <a:t>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AP_GPS_SBP2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state.location.lat = (int32_t) (last_pos_llh.lat * (double)1e7);</a:t>
                      </a:r>
                    </a:p>
                    <a:p>
                      <a:pPr algn="l">
                        <a:lnSpc>
                          <a:spcPct val="106000"/>
                        </a:lnSpc>
                        <a:spcAft>
                          <a:spcPts val="0"/>
                        </a:spcAft>
                      </a:pPr>
                      <a:r>
                        <a:rPr sz="1100" b="0">
                          <a:solidFill>
                            <a:srgbClr val="333333"/>
                          </a:solidFill>
                          <a:latin typeface="Fira Code"/>
                        </a:rPr>
                        <a:t>state.location.lng = (int32_t) (last_pos_llh.lon * (double)1e7);</a:t>
                      </a:r>
                    </a:p>
                    <a:p>
                      <a:pPr algn="l">
                        <a:lnSpc>
                          <a:spcPct val="106000"/>
                        </a:lnSpc>
                        <a:spcAft>
                          <a:spcPts val="0"/>
                        </a:spcAft>
                      </a:pPr>
                      <a:r>
                        <a:rPr sz="1100" b="0">
                          <a:solidFill>
                            <a:srgbClr val="333333"/>
                          </a:solidFill>
                          <a:latin typeface="Fira Code"/>
                        </a:rPr>
                        <a:t>state.location.alt = (int32_t) (last_pos_llh.height *</a:t>
                      </a:r>
                    </a:p>
                    <a:p>
                      <a:pPr algn="l">
                        <a:lnSpc>
                          <a:spcPct val="106000"/>
                        </a:lnSpc>
                        <a:spcAft>
                          <a:spcPts val="0"/>
                        </a:spcAft>
                      </a:pPr>
                      <a:r>
                        <a:rPr sz="1100" b="0">
                          <a:solidFill>
                            <a:srgbClr val="333333"/>
                          </a:solidFill>
                          <a:latin typeface="Fira Code"/>
                        </a:rPr>
                        <a:t>100);</a:t>
                      </a:r>
                    </a:p>
                    <a:p>
                      <a:pPr algn="l">
                        <a:lnSpc>
                          <a:spcPct val="106000"/>
                        </a:lnSpc>
                        <a:spcAft>
                          <a:spcPts val="0"/>
                        </a:spcAft>
                      </a:pPr>
                      <a:r>
                        <a:rPr sz="1100" b="0">
                          <a:solidFill>
                            <a:srgbClr val="333333"/>
                          </a:solidFill>
                          <a:latin typeface="Fira Code"/>
                        </a:rPr>
                        <a:t>state.num_sats = last_pos_llh.n_sats;</a:t>
                      </a:r>
                    </a:p>
                    <a:p>
                      <a:pPr algn="l">
                        <a:lnSpc>
                          <a:spcPct val="106000"/>
                        </a:lnSpc>
                        <a:spcAft>
                          <a:spcPts val="0"/>
                        </a:spcAft>
                      </a:pPr>
                      <a:r>
                        <a:rPr sz="1100" b="0">
                          <a:solidFill>
                            <a:srgbClr val="333333"/>
                          </a:solidFill>
                          <a:latin typeface="Fira Code"/>
                        </a:rPr>
                        <a:t>switch (last_pos_llh.flags.fix_mode) {</a:t>
                      </a:r>
                    </a:p>
                    <a:p>
                      <a:pPr algn="l">
                        <a:lnSpc>
                          <a:spcPct val="106000"/>
                        </a:lnSpc>
                        <a:spcAft>
                          <a:spcPts val="0"/>
                        </a:spcAft>
                      </a:pPr>
                      <a:r>
                        <a:rPr sz="1100" b="0">
                          <a:solidFill>
                            <a:srgbClr val="333333"/>
                          </a:solidFill>
                          <a:latin typeface="Fira Code"/>
                        </a:rPr>
                        <a:t>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AP_GPS_SIRF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AP_GPS::NO_FIX;</a:t>
                      </a:r>
                    </a:p>
                    <a:p>
                      <a:pPr algn="l">
                        <a:lnSpc>
                          <a:spcPct val="106000"/>
                        </a:lnSpc>
                        <a:spcAft>
                          <a:spcPts val="0"/>
                        </a:spcAft>
                      </a:pPr>
                      <a:r>
                        <a:rPr sz="1100" b="0">
                          <a:solidFill>
                            <a:srgbClr val="333333"/>
                          </a:solidFill>
                          <a:latin typeface="Fira Code"/>
                        </a:rPr>
                        <a:t>}else if ((_buffer.nav.fix_type &amp; FIX_MASK) == FIX_3D) {</a:t>
                      </a:r>
                    </a:p>
                    <a:p>
                      <a:pPr algn="l">
                        <a:lnSpc>
                          <a:spcPct val="106000"/>
                        </a:lnSpc>
                        <a:spcAft>
                          <a:spcPts val="0"/>
                        </a:spcAft>
                      </a:pPr>
                      <a:r>
                        <a:rPr sz="1100" b="0">
                          <a:solidFill>
                            <a:srgbClr val="333333"/>
                          </a:solidFill>
                          <a:latin typeface="Fira Code"/>
                        </a:rPr>
                        <a:t>state.status = AP_GPS::GPS_OK_FIX_3D;</a:t>
                      </a:r>
                    </a:p>
                    <a:p>
                      <a:pPr algn="l">
                        <a:lnSpc>
                          <a:spcPct val="106000"/>
                        </a:lnSpc>
                        <a:spcAft>
                          <a:spcPts val="0"/>
                        </a:spcAft>
                      </a:pPr>
                      <a:r>
                        <a:rPr sz="1100" b="0">
                          <a:solidFill>
                            <a:srgbClr val="333333"/>
                          </a:solidFill>
                          <a:latin typeface="Fira Code"/>
                        </a:rPr>
                        <a:t>}else{</a:t>
                      </a:r>
                    </a:p>
                    <a:p>
                      <a:pPr algn="l">
                        <a:lnSpc>
                          <a:spcPct val="106000"/>
                        </a:lnSpc>
                        <a:spcAft>
                          <a:spcPts val="0"/>
                        </a:spcAft>
                      </a:pPr>
                      <a:r>
                        <a:rPr sz="1100" b="0">
                          <a:solidFill>
                            <a:srgbClr val="333333"/>
                          </a:solidFill>
                          <a:latin typeface="Fira Code"/>
                        </a:rPr>
                        <a:t>state.status = AP_GPS::GPS_OK_FIX_2D;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state.location.lat = int32_t(be32toh(_buffer.nav.latitude));</a:t>
                      </a:r>
                    </a:p>
                    <a:p>
                      <a:pPr algn="l">
                        <a:lnSpc>
                          <a:spcPct val="106000"/>
                        </a:lnSpc>
                        <a:spcAft>
                          <a:spcPts val="0"/>
                        </a:spcAft>
                      </a:pPr>
                      <a:r>
                        <a:rPr sz="1100" b="0">
                          <a:solidFill>
                            <a:srgbClr val="333333"/>
                          </a:solidFill>
                          <a:latin typeface="Fira Code"/>
                        </a:rPr>
                        <a:t>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AP_GPS_ERB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_last_pos_time = _buffer.pos.time;</a:t>
                      </a:r>
                    </a:p>
                    <a:p>
                      <a:pPr algn="l">
                        <a:lnSpc>
                          <a:spcPct val="106000"/>
                        </a:lnSpc>
                        <a:spcAft>
                          <a:spcPts val="0"/>
                        </a:spcAft>
                      </a:pPr>
                      <a:r>
                        <a:rPr sz="1100" b="0">
                          <a:solidFill>
                            <a:srgbClr val="333333"/>
                          </a:solidFill>
                          <a:latin typeface="Fira Code"/>
                        </a:rPr>
                        <a:t>state.location.lng = (int32_t)(_buffer.pos.longitude *</a:t>
                      </a:r>
                    </a:p>
                    <a:p>
                      <a:pPr algn="l">
                        <a:lnSpc>
                          <a:spcPct val="106000"/>
                        </a:lnSpc>
                        <a:spcAft>
                          <a:spcPts val="0"/>
                        </a:spcAft>
                      </a:pPr>
                      <a:r>
                        <a:rPr sz="1100" b="0">
                          <a:solidFill>
                            <a:srgbClr val="333333"/>
                          </a:solidFill>
                          <a:latin typeface="Fira Code"/>
                        </a:rPr>
                        <a:t>(double)1e7);</a:t>
                      </a:r>
                    </a:p>
                    <a:p>
                      <a:pPr algn="l">
                        <a:lnSpc>
                          <a:spcPct val="106000"/>
                        </a:lnSpc>
                        <a:spcAft>
                          <a:spcPts val="0"/>
                        </a:spcAft>
                      </a:pPr>
                      <a:r>
                        <a:rPr sz="1100" b="0">
                          <a:solidFill>
                            <a:srgbClr val="333333"/>
                          </a:solidFill>
                          <a:latin typeface="Fira Code"/>
                        </a:rPr>
                        <a:t>state.location.lat = (int32_t)(_buffer.pos.latitude * (</a:t>
                      </a:r>
                    </a:p>
                    <a:p>
                      <a:pPr algn="l">
                        <a:lnSpc>
                          <a:spcPct val="106000"/>
                        </a:lnSpc>
                        <a:spcAft>
                          <a:spcPts val="0"/>
                        </a:spcAft>
                      </a:pPr>
                      <a:r>
                        <a:rPr sz="1100" b="0">
                          <a:solidFill>
                            <a:srgbClr val="333333"/>
                          </a:solidFill>
                          <a:latin typeface="Fira Code"/>
                        </a:rPr>
                        <a:t>double)1e7);</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_buffer.pos.altitude_msl - _buffer.pos.</a:t>
                      </a:r>
                    </a:p>
                    <a:p>
                      <a:pPr algn="l">
                        <a:lnSpc>
                          <a:spcPct val="106000"/>
                        </a:lnSpc>
                        <a:spcAft>
                          <a:spcPts val="0"/>
                        </a:spcAft>
                      </a:pPr>
                      <a:r>
                        <a:rPr sz="1100" b="0">
                          <a:solidFill>
                            <a:srgbClr val="333333"/>
                          </a:solidFill>
                          <a:latin typeface="Fira Code"/>
                        </a:rPr>
                        <a:t>altitude_ellipsoid;</a:t>
                      </a:r>
                    </a:p>
                    <a:p>
                      <a:pPr algn="l">
                        <a:lnSpc>
                          <a:spcPct val="106000"/>
                        </a:lnSpc>
                        <a:spcAft>
                          <a:spcPts val="0"/>
                        </a:spcAft>
                      </a:pPr>
                      <a:r>
                        <a:rPr sz="1100" b="0">
                          <a:solidFill>
                            <a:srgbClr val="333333"/>
                          </a:solidFill>
                          <a:latin typeface="Fira Code"/>
                        </a:rPr>
                        <a:t>set_alt_amsl_cm(state, _buffer.pos.altitude_msl * 100);</a:t>
                      </a:r>
                    </a:p>
                    <a:p>
                      <a:pPr algn="l">
                        <a:lnSpc>
                          <a:spcPct val="106000"/>
                        </a:lnSpc>
                        <a:spcAft>
                          <a:spcPts val="0"/>
                        </a:spcAft>
                      </a:pPr>
                      <a:r>
                        <a:rPr sz="1100" b="0">
                          <a:solidFill>
                            <a:srgbClr val="333333"/>
                          </a:solidFill>
                          <a:latin typeface="Fira Code"/>
                        </a:rPr>
                        <a:t>state.status = next_fix;</a:t>
                      </a:r>
                    </a:p>
                    <a:p>
                      <a:pPr algn="l">
                        <a:lnSpc>
                          <a:spcPct val="106000"/>
                        </a:lnSpc>
                        <a:spcAft>
                          <a:spcPts val="0"/>
                        </a:spcAft>
                      </a:pPr>
                      <a:r>
                        <a:rPr sz="1100" b="0">
                          <a:solidFill>
                            <a:srgbClr val="333333"/>
                          </a:solidFill>
                          <a:latin typeface="Fira Code"/>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AP_GPS_MAV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(AP_GPS::GPS_Status)packet.fix_type;</a:t>
                      </a:r>
                    </a:p>
                    <a:p>
                      <a:pPr algn="l">
                        <a:lnSpc>
                          <a:spcPct val="106000"/>
                        </a:lnSpc>
                        <a:spcAft>
                          <a:spcPts val="0"/>
                        </a:spcAft>
                      </a:pPr>
                      <a:r>
                        <a:rPr sz="1100" b="0">
                          <a:solidFill>
                            <a:srgbClr val="333333"/>
                          </a:solidFill>
                          <a:latin typeface="Fira Code"/>
                        </a:rPr>
                        <a:t>Location loc = {};</a:t>
                      </a:r>
                    </a:p>
                    <a:p>
                      <a:pPr algn="l">
                        <a:lnSpc>
                          <a:spcPct val="106000"/>
                        </a:lnSpc>
                        <a:spcAft>
                          <a:spcPts val="0"/>
                        </a:spcAft>
                      </a:pPr>
                      <a:r>
                        <a:rPr sz="1100" b="0">
                          <a:solidFill>
                            <a:srgbClr val="333333"/>
                          </a:solidFill>
                          <a:latin typeface="Fira Code"/>
                        </a:rPr>
                        <a:t>loc.lat = packet.lat;</a:t>
                      </a:r>
                    </a:p>
                    <a:p>
                      <a:pPr algn="l">
                        <a:lnSpc>
                          <a:spcPct val="106000"/>
                        </a:lnSpc>
                        <a:spcAft>
                          <a:spcPts val="0"/>
                        </a:spcAft>
                      </a:pPr>
                      <a:r>
                        <a:rPr sz="1100" b="0">
                          <a:solidFill>
                            <a:srgbClr val="333333"/>
                          </a:solidFill>
                          <a:latin typeface="Fira Code"/>
                        </a:rPr>
                        <a:t>loc.lng = packet.lon;</a:t>
                      </a:r>
                    </a:p>
                    <a:p>
                      <a:pPr algn="l">
                        <a:lnSpc>
                          <a:spcPct val="106000"/>
                        </a:lnSpc>
                        <a:spcAft>
                          <a:spcPts val="0"/>
                        </a:spcAft>
                      </a:pPr>
                      <a:r>
                        <a:rPr sz="1100" b="0">
                          <a:solidFill>
                            <a:srgbClr val="333333"/>
                          </a:solidFill>
                          <a:latin typeface="Fira Code"/>
                        </a:rPr>
                        <a:t>if (have_alt) {</a:t>
                      </a:r>
                    </a:p>
                    <a:p>
                      <a:pPr algn="l">
                        <a:lnSpc>
                          <a:spcPct val="106000"/>
                        </a:lnSpc>
                        <a:spcAft>
                          <a:spcPts val="0"/>
                        </a:spcAft>
                      </a:pPr>
                      <a:r>
                        <a:rPr sz="1100" b="0">
                          <a:solidFill>
                            <a:srgbClr val="333333"/>
                          </a:solidFill>
                          <a:latin typeface="Fira Code"/>
                        </a:rPr>
                        <a:t>loc.alt = packet.alt * 100; // convert to centimeters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AP_GPS_MSP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(AP_GPS::GPS_Status)pkt.fix_type;</a:t>
                      </a:r>
                    </a:p>
                    <a:p>
                      <a:pPr algn="l">
                        <a:lnSpc>
                          <a:spcPct val="106000"/>
                        </a:lnSpc>
                        <a:spcAft>
                          <a:spcPts val="0"/>
                        </a:spcAft>
                      </a:pPr>
                      <a:r>
                        <a:rPr sz="1100" b="0">
                          <a:solidFill>
                            <a:srgbClr val="333333"/>
                          </a:solidFill>
                          <a:latin typeface="Fira Code"/>
                        </a:rPr>
                        <a:t>state.num_sats = pkt.satellites_in_view;</a:t>
                      </a:r>
                    </a:p>
                    <a:p>
                      <a:pPr algn="l">
                        <a:lnSpc>
                          <a:spcPct val="106000"/>
                        </a:lnSpc>
                        <a:spcAft>
                          <a:spcPts val="0"/>
                        </a:spcAft>
                      </a:pPr>
                      <a:r>
                        <a:rPr sz="1100" b="0">
                          <a:solidFill>
                            <a:srgbClr val="333333"/>
                          </a:solidFill>
                          <a:latin typeface="Fira Code"/>
                        </a:rPr>
                        <a:t>state.location = {</a:t>
                      </a:r>
                    </a:p>
                    <a:p>
                      <a:pPr algn="l">
                        <a:lnSpc>
                          <a:spcPct val="106000"/>
                        </a:lnSpc>
                        <a:spcAft>
                          <a:spcPts val="0"/>
                        </a:spcAft>
                      </a:pPr>
                      <a:r>
                        <a:rPr sz="1100" b="0">
                          <a:solidFill>
                            <a:srgbClr val="333333"/>
                          </a:solidFill>
                          <a:latin typeface="Fira Code"/>
                        </a:rPr>
                        <a:t>pkt.latitude,</a:t>
                      </a:r>
                    </a:p>
                    <a:p>
                      <a:pPr algn="l">
                        <a:lnSpc>
                          <a:spcPct val="106000"/>
                        </a:lnSpc>
                        <a:spcAft>
                          <a:spcPts val="0"/>
                        </a:spcAft>
                      </a:pPr>
                      <a:r>
                        <a:rPr sz="1100" b="0">
                          <a:solidFill>
                            <a:srgbClr val="333333"/>
                          </a:solidFill>
                          <a:latin typeface="Fira Code"/>
                        </a:rPr>
                        <a:t>pkt.longitude,</a:t>
                      </a:r>
                    </a:p>
                    <a:p>
                      <a:pPr algn="l">
                        <a:lnSpc>
                          <a:spcPct val="106000"/>
                        </a:lnSpc>
                        <a:spcAft>
                          <a:spcPts val="0"/>
                        </a:spcAft>
                      </a:pPr>
                      <a:r>
                        <a:rPr sz="1100" b="0">
                          <a:solidFill>
                            <a:srgbClr val="333333"/>
                          </a:solidFill>
                          <a:latin typeface="Fira Code"/>
                        </a:rPr>
                        <a:t>pkt.msl_altitude,</a:t>
                      </a:r>
                    </a:p>
                    <a:p>
                      <a:pPr algn="l">
                        <a:lnSpc>
                          <a:spcPct val="106000"/>
                        </a:lnSpc>
                        <a:spcAft>
                          <a:spcPts val="0"/>
                        </a:spcAft>
                      </a:pPr>
                      <a:r>
                        <a:rPr sz="1100" b="0">
                          <a:solidFill>
                            <a:srgbClr val="333333"/>
                          </a:solidFill>
                          <a:latin typeface="Fira Code"/>
                        </a:rPr>
                        <a:t>Location::AltFrame::ABSOLUTE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AP_GPS_GSOF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(int32_t)(RAD_TO_DEG_DOUBLE * position.latitude_rad * (double)1e7);</a:t>
                      </a:r>
                    </a:p>
                    <a:p>
                      <a:pPr algn="l">
                        <a:lnSpc>
                          <a:spcPct val="106000"/>
                        </a:lnSpc>
                        <a:spcAft>
                          <a:spcPts val="0"/>
                        </a:spcAft>
                      </a:pPr>
                      <a:r>
                        <a:rPr sz="1100" b="0">
                          <a:solidFill>
                            <a:srgbClr val="333333"/>
                          </a:solidFill>
                          <a:latin typeface="Fira Code"/>
                        </a:rPr>
                        <a:t>state.location.lng = (int32_t)(RAD_TO_DEG_DOUBLE * position.longitude_rad * (double)1e7);</a:t>
                      </a:r>
                    </a:p>
                    <a:p>
                      <a:pPr algn="l">
                        <a:lnSpc>
                          <a:spcPct val="106000"/>
                        </a:lnSpc>
                        <a:spcAft>
                          <a:spcPts val="0"/>
                        </a:spcAft>
                      </a:pPr>
                      <a:r>
                        <a:rPr sz="1100" b="0">
                          <a:solidFill>
                            <a:srgbClr val="333333"/>
                          </a:solidFill>
                          <a:latin typeface="Fira Code"/>
                        </a:rPr>
                        <a:t>state.location.alt = (int32_t)(position.altitude * 100);</a:t>
                      </a:r>
                    </a:p>
                    <a:p>
                      <a:pPr algn="l">
                        <a:lnSpc>
                          <a:spcPct val="106000"/>
                        </a:lnSpc>
                        <a:spcAft>
                          <a:spcPts val="0"/>
                        </a:spcAft>
                      </a:pPr>
                      <a:r>
                        <a:rPr sz="1100" b="0">
                          <a:solidFill>
                            <a:srgbClr val="333333"/>
                          </a:solidFill>
                          <a:latin typeface="Fira Code"/>
                        </a:rPr>
                        <a:t>state.last_gps_time_ms = AP_HAL::millis();</a:t>
                      </a:r>
                    </a:p>
                    <a:p>
                      <a:pPr algn="l">
                        <a:lnSpc>
                          <a:spcPct val="106000"/>
                        </a:lnSpc>
                        <a:spcAft>
                          <a:spcPts val="0"/>
                        </a:spcAft>
                      </a:pPr>
                      <a:r>
                        <a:rPr sz="1100" b="0">
                          <a:solidFill>
                            <a:srgbClr val="333333"/>
                          </a:solidFill>
                          <a:latin typeface="Fira Code"/>
                        </a:rPr>
                        <a:t>if ((vel.velocity_flags &amp; 1) == 1) {</a:t>
                      </a:r>
                    </a:p>
                    <a:p>
                      <a:pPr algn="l">
                        <a:lnSpc>
                          <a:spcPct val="106000"/>
                        </a:lnSpc>
                        <a:spcAft>
                          <a:spcPts val="0"/>
                        </a:spcAft>
                      </a:pPr>
                      <a:r>
                        <a:rPr sz="1100" b="0">
                          <a:solidFill>
                            <a:srgbClr val="333333"/>
                          </a:solidFill>
                          <a:latin typeface="Fira Code"/>
                        </a:rPr>
                        <a:t>state.ground_speed = vel.horizontal_velocity;</a:t>
                      </a:r>
                    </a:p>
                    <a:p>
                      <a:pPr algn="l">
                        <a:lnSpc>
                          <a:spcPct val="106000"/>
                        </a:lnSpc>
                        <a:spcAft>
                          <a:spcPts val="0"/>
                        </a:spcAft>
                      </a:pPr>
                      <a:r>
                        <a:rPr sz="1100" b="0">
                          <a:solidFill>
                            <a:srgbClr val="333333"/>
                          </a:solidFill>
                          <a:latin typeface="Fira Code"/>
                        </a:rPr>
                        <a:t>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AP_GPS_DroneCAN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if (msg.height_msl_mm != msg.height_ellipsoid_mm) {</a:t>
                      </a:r>
                    </a:p>
                    <a:p>
                      <a:pPr algn="l">
                        <a:lnSpc>
                          <a:spcPct val="106000"/>
                        </a:lnSpc>
                        <a:spcAft>
                          <a:spcPts val="0"/>
                        </a:spcAft>
                      </a:pPr>
                      <a:r>
                        <a:rPr sz="1100" b="0">
                          <a:solidFill>
                            <a:srgbClr val="333333"/>
                          </a:solidFill>
                          <a:latin typeface="Fira Code"/>
                        </a:rPr>
                        <a:t>seen_valid_height_ellipsoid = true;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interim_state.have_undulation = seen_valid_height_ellipsoid;</a:t>
                      </a:r>
                    </a:p>
                    <a:p>
                      <a:pPr algn="l">
                        <a:lnSpc>
                          <a:spcPct val="106000"/>
                        </a:lnSpc>
                        <a:spcAft>
                          <a:spcPts val="0"/>
                        </a:spcAft>
                      </a:pPr>
                      <a:r>
                        <a:rPr sz="1100" b="0">
                          <a:solidFill>
                            <a:srgbClr val="333333"/>
                          </a:solidFill>
                          <a:latin typeface="Fira Code"/>
                        </a:rPr>
                        <a:t>if (seen_valid_height_ellipsoid) {</a:t>
                      </a:r>
                    </a:p>
                    <a:p>
                      <a:pPr algn="l">
                        <a:lnSpc>
                          <a:spcPct val="106000"/>
                        </a:lnSpc>
                        <a:spcAft>
                          <a:spcPts val="0"/>
                        </a:spcAft>
                      </a:pPr>
                      <a:r>
                        <a:rPr sz="1100" b="0">
                          <a:solidFill>
                            <a:srgbClr val="333333"/>
                          </a:solidFill>
                          <a:latin typeface="Fira Code"/>
                        </a:rPr>
                        <a:t>interim_state.undulation = (msg.height_msl_mm - msg.height_ellipsoid_mm) * 0.001;</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interim_state.location = loc;</a:t>
                      </a:r>
                    </a:p>
                    <a:p>
                      <a:pPr algn="l">
                        <a:lnSpc>
                          <a:spcPct val="106000"/>
                        </a:lnSpc>
                        <a:spcAft>
                          <a:spcPts val="0"/>
                        </a:spcAft>
                      </a:pPr>
                      <a:r>
                        <a:rPr sz="1100" b="0">
                          <a:solidFill>
                            <a:srgbClr val="333333"/>
                          </a:solidFill>
                          <a:latin typeface="Fira Code"/>
                        </a:rPr>
                        <a:t>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AP_GPS_ExternalAHRS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state.num_sats = pkt.satellites_in_view;</a:t>
                      </a:r>
                    </a:p>
                    <a:p>
                      <a:pPr algn="l">
                        <a:lnSpc>
                          <a:spcPct val="106000"/>
                        </a:lnSpc>
                        <a:spcAft>
                          <a:spcPts val="0"/>
                        </a:spcAft>
                      </a:pPr>
                      <a:r>
                        <a:rPr sz="1100" b="0">
                          <a:solidFill>
                            <a:srgbClr val="333333"/>
                          </a:solidFill>
                          <a:latin typeface="Fira Code"/>
                        </a:rPr>
                        <a:t>const Location loc {</a:t>
                      </a:r>
                    </a:p>
                    <a:p>
                      <a:pPr algn="l">
                        <a:lnSpc>
                          <a:spcPct val="106000"/>
                        </a:lnSpc>
                        <a:spcAft>
                          <a:spcPts val="0"/>
                        </a:spcAft>
                      </a:pPr>
                      <a:r>
                        <a:rPr sz="1100" b="0">
                          <a:solidFill>
                            <a:srgbClr val="333333"/>
                          </a:solidFill>
                          <a:latin typeface="Fira Code"/>
                        </a:rPr>
                        <a:t>pkt.latitude,</a:t>
                      </a:r>
                    </a:p>
                    <a:p>
                      <a:pPr algn="l">
                        <a:lnSpc>
                          <a:spcPct val="106000"/>
                        </a:lnSpc>
                        <a:spcAft>
                          <a:spcPts val="0"/>
                        </a:spcAft>
                      </a:pPr>
                      <a:r>
                        <a:rPr sz="1100" b="0">
                          <a:solidFill>
                            <a:srgbClr val="333333"/>
                          </a:solidFill>
                          <a:latin typeface="Fira Code"/>
                        </a:rPr>
                        <a:t>pkt.longitude,</a:t>
                      </a:r>
                    </a:p>
                    <a:p>
                      <a:pPr algn="l">
                        <a:lnSpc>
                          <a:spcPct val="106000"/>
                        </a:lnSpc>
                        <a:spcAft>
                          <a:spcPts val="0"/>
                        </a:spcAft>
                      </a:pPr>
                      <a:r>
                        <a:rPr sz="1100" b="0">
                          <a:solidFill>
                            <a:srgbClr val="333333"/>
                          </a:solidFill>
                          <a:latin typeface="Fira Code"/>
                        </a:rPr>
                        <a:t>pkt.msl_altitude,</a:t>
                      </a:r>
                    </a:p>
                    <a:p>
                      <a:pPr algn="l">
                        <a:lnSpc>
                          <a:spcPct val="106000"/>
                        </a:lnSpc>
                        <a:spcAft>
                          <a:spcPts val="0"/>
                        </a:spcAft>
                      </a:pPr>
                      <a:r>
                        <a:rPr sz="1100" b="0">
                          <a:solidFill>
                            <a:srgbClr val="333333"/>
                          </a:solidFill>
                          <a:latin typeface="Fira Code"/>
                        </a:rPr>
                        <a:t>Location::AltFrame::ABSOLUTE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AP_GPS_SITL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AP_GPS::GPS_OK_FIX_3D;</a:t>
                      </a:r>
                    </a:p>
                    <a:p>
                      <a:pPr algn="l">
                        <a:lnSpc>
                          <a:spcPct val="106000"/>
                        </a:lnSpc>
                        <a:spcAft>
                          <a:spcPts val="0"/>
                        </a:spcAft>
                      </a:pPr>
                      <a:r>
                        <a:rPr sz="1100" b="0">
                          <a:solidFill>
                            <a:srgbClr val="333333"/>
                          </a:solidFill>
                          <a:latin typeface="Fira Code"/>
                        </a:rPr>
                        <a:t>state.num_sats = 15;</a:t>
                      </a:r>
                    </a:p>
                    <a:p>
                      <a:pPr algn="l">
                        <a:lnSpc>
                          <a:spcPct val="106000"/>
                        </a:lnSpc>
                        <a:spcAft>
                          <a:spcPts val="0"/>
                        </a:spcAft>
                      </a:pPr>
                      <a:r>
                        <a:rPr sz="1100" b="0">
                          <a:solidFill>
                            <a:srgbClr val="333333"/>
                          </a:solidFill>
                          <a:latin typeface="Fira Code"/>
                        </a:rPr>
                        <a:t>state.location = Location{</a:t>
                      </a:r>
                    </a:p>
                    <a:p>
                      <a:pPr algn="l">
                        <a:lnSpc>
                          <a:spcPct val="106000"/>
                        </a:lnSpc>
                        <a:spcAft>
                          <a:spcPts val="0"/>
                        </a:spcAft>
                      </a:pPr>
                      <a:r>
                        <a:rPr sz="1100" b="0">
                          <a:solidFill>
                            <a:srgbClr val="333333"/>
                          </a:solidFill>
                          <a:latin typeface="Fira Code"/>
                        </a:rPr>
                        <a:t>int32_t(latitude*1e7),</a:t>
                      </a:r>
                    </a:p>
                    <a:p>
                      <a:pPr algn="l">
                        <a:lnSpc>
                          <a:spcPct val="106000"/>
                        </a:lnSpc>
                        <a:spcAft>
                          <a:spcPts val="0"/>
                        </a:spcAft>
                      </a:pPr>
                      <a:r>
                        <a:rPr sz="1100" b="0">
                          <a:solidFill>
                            <a:srgbClr val="333333"/>
                          </a:solidFill>
                          <a:latin typeface="Fira Code"/>
                        </a:rPr>
                        <a:t>int32_t(longitude*1e7),</a:t>
                      </a:r>
                    </a:p>
                    <a:p>
                      <a:pPr algn="l">
                        <a:lnSpc>
                          <a:spcPct val="106000"/>
                        </a:lnSpc>
                        <a:spcAft>
                          <a:spcPts val="0"/>
                        </a:spcAft>
                      </a:pPr>
                      <a:r>
                        <a:rPr sz="1100" b="0">
                          <a:solidFill>
                            <a:srgbClr val="333333"/>
                          </a:solidFill>
                          <a:latin typeface="Fira Code"/>
                        </a:rPr>
                        <a:t>int32_t(altitude*100),</a:t>
                      </a:r>
                    </a:p>
                    <a:p>
                      <a:pPr algn="l">
                        <a:lnSpc>
                          <a:spcPct val="106000"/>
                        </a:lnSpc>
                        <a:spcAft>
                          <a:spcPts val="0"/>
                        </a:spcAft>
                      </a:pPr>
                      <a:r>
                        <a:rPr sz="1100" b="0">
                          <a:solidFill>
                            <a:srgbClr val="333333"/>
                          </a:solidFill>
                          <a:latin typeface="Fira Code"/>
                        </a:rPr>
                        <a:t>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52406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AP_GPS_Backend::fill_3d_velocity()</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void AP_GPS_Backend::fill_3d_velocity(void)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gps_heading = radians(state.ground_course);</a:t>
                      </a:r>
                    </a:p>
                    <a:p>
                      <a:pPr algn="l">
                        <a:lnSpc>
                          <a:spcPct val="106000"/>
                        </a:lnSpc>
                        <a:spcAft>
                          <a:spcPts val="0"/>
                        </a:spcAft>
                      </a:pPr>
                      <a:r>
                        <a:rPr sz="1100" b="0">
                          <a:solidFill>
                            <a:srgbClr val="333333"/>
                          </a:solidFill>
                          <a:latin typeface="Fira Code"/>
                        </a:rPr>
                        <a:t>state.velocity.x = state.ground_speed * cosf(gps_heading);</a:t>
                      </a:r>
                    </a:p>
                    <a:p>
                      <a:pPr algn="l">
                        <a:lnSpc>
                          <a:spcPct val="106000"/>
                        </a:lnSpc>
                        <a:spcAft>
                          <a:spcPts val="0"/>
                        </a:spcAft>
                      </a:pPr>
                      <a:r>
                        <a:rPr sz="1100" b="0">
                          <a:solidFill>
                            <a:srgbClr val="333333"/>
                          </a:solidFill>
                          <a:latin typeface="Fira Code"/>
                        </a:rPr>
                        <a:t>state.velocity.y = state.ground_speed * sinf(gps_heading);</a:t>
                      </a:r>
                    </a:p>
                    <a:p>
                      <a:pPr algn="l">
                        <a:lnSpc>
                          <a:spcPct val="106000"/>
                        </a:lnSpc>
                        <a:spcAft>
                          <a:spcPts val="0"/>
                        </a:spcAft>
                      </a:pPr>
                      <a:r>
                        <a:rPr sz="1100" b="0">
                          <a:solidFill>
                            <a:srgbClr val="333333"/>
                          </a:solidFill>
                          <a:latin typeface="Fira Code"/>
                        </a:rPr>
                        <a:t>state.velocity.z = 0;</a:t>
                      </a:r>
                    </a:p>
                    <a:p>
                      <a:pPr algn="l">
                        <a:lnSpc>
                          <a:spcPct val="106000"/>
                        </a:lnSpc>
                        <a:spcAft>
                          <a:spcPts val="0"/>
                        </a:spcAft>
                      </a:pPr>
                      <a:r>
                        <a:rPr sz="1100" b="0">
                          <a:solidFill>
                            <a:srgbClr val="333333"/>
                          </a:solidFill>
                          <a:latin typeface="Fira Code"/>
                        </a:rPr>
                        <a:t>state.have_vertical_velocity =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AP_GPS::location()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Location &amp;location(uint8_t instance) const {</a:t>
                      </a:r>
                    </a:p>
                    <a:p>
                      <a:pPr algn="l">
                        <a:lnSpc>
                          <a:spcPct val="106000"/>
                        </a:lnSpc>
                        <a:spcAft>
                          <a:spcPts val="0"/>
                        </a:spcAft>
                      </a:pPr>
                      <a:r>
                        <a:rPr sz="1100" b="0">
                          <a:solidFill>
                            <a:srgbClr val="333333"/>
                          </a:solidFill>
                          <a:latin typeface="Fira Code"/>
                        </a:rPr>
                        <a:t>return state[instance].location;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Location &amp;location() const {</a:t>
                      </a:r>
                    </a:p>
                    <a:p>
                      <a:pPr algn="l">
                        <a:lnSpc>
                          <a:spcPct val="106000"/>
                        </a:lnSpc>
                        <a:spcAft>
                          <a:spcPts val="0"/>
                        </a:spcAft>
                      </a:pPr>
                      <a:r>
                        <a:rPr sz="1100" b="0">
                          <a:solidFill>
                            <a:srgbClr val="333333"/>
                          </a:solidFill>
                          <a:latin typeface="Fira Code"/>
                        </a:rPr>
                        <a:t>return location(primary_instance);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9483">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AP_GPS::velocity()</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Vector3f &amp;velocity(uint8_t instance) const {</a:t>
                      </a:r>
                    </a:p>
                    <a:p>
                      <a:pPr algn="l">
                        <a:lnSpc>
                          <a:spcPct val="106000"/>
                        </a:lnSpc>
                        <a:spcAft>
                          <a:spcPts val="0"/>
                        </a:spcAft>
                      </a:pPr>
                      <a:r>
                        <a:rPr sz="1100" b="0">
                          <a:solidFill>
                            <a:srgbClr val="333333"/>
                          </a:solidFill>
                          <a:latin typeface="Fira Code"/>
                        </a:rPr>
                        <a:t>return state[instance].velocity;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Vector3f &amp;velocity() const {</a:t>
                      </a:r>
                    </a:p>
                    <a:p>
                      <a:pPr algn="l">
                        <a:lnSpc>
                          <a:spcPct val="106000"/>
                        </a:lnSpc>
                        <a:spcAft>
                          <a:spcPts val="0"/>
                        </a:spcAft>
                      </a:pPr>
                      <a:r>
                        <a:rPr sz="1100" b="0">
                          <a:solidFill>
                            <a:srgbClr val="333333"/>
                          </a:solidFill>
                          <a:latin typeface="Fira Code"/>
                        </a:rPr>
                        <a:t>return velocity(primary_instance);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AP_GPS::GPS_State (struct)</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struct GPS_State {</a:t>
                      </a:r>
                    </a:p>
                    <a:p>
                      <a:pPr algn="l">
                        <a:lnSpc>
                          <a:spcPct val="106000"/>
                        </a:lnSpc>
                        <a:spcAft>
                          <a:spcPts val="0"/>
                        </a:spcAft>
                      </a:pPr>
                      <a:r>
                        <a:rPr sz="1100" b="0">
                          <a:solidFill>
                            <a:srgbClr val="333333"/>
                          </a:solidFill>
                          <a:latin typeface="Fira Code"/>
                        </a:rPr>
                        <a:t>uint8_t instance; // the instance number of this GPS</a:t>
                      </a:r>
                    </a:p>
                    <a:p>
                      <a:pPr algn="l">
                        <a:lnSpc>
                          <a:spcPct val="106000"/>
                        </a:lnSpc>
                        <a:spcAft>
                          <a:spcPts val="0"/>
                        </a:spcAft>
                      </a:pPr>
                      <a:r>
                        <a:rPr sz="1100" b="0">
                          <a:solidFill>
                            <a:srgbClr val="333333"/>
                          </a:solidFill>
                          <a:latin typeface="Fira Code"/>
                        </a:rPr>
                        <a:t>// all the following fields must all be filled by the backend driver</a:t>
                      </a:r>
                    </a:p>
                    <a:p>
                      <a:pPr algn="l">
                        <a:lnSpc>
                          <a:spcPct val="106000"/>
                        </a:lnSpc>
                        <a:spcAft>
                          <a:spcPts val="0"/>
                        </a:spcAft>
                      </a:pPr>
                      <a:r>
                        <a:rPr sz="1100" b="0">
                          <a:solidFill>
                            <a:srgbClr val="333333"/>
                          </a:solidFill>
                          <a:latin typeface="Fira Code"/>
                        </a:rPr>
                        <a:t>GPS_Status status; ///&lt; driver fix status</a:t>
                      </a:r>
                    </a:p>
                    <a:p>
                      <a:pPr algn="l">
                        <a:lnSpc>
                          <a:spcPct val="106000"/>
                        </a:lnSpc>
                        <a:spcAft>
                          <a:spcPts val="0"/>
                        </a:spcAft>
                      </a:pPr>
                      <a:r>
                        <a:rPr sz="1100" b="0">
                          <a:solidFill>
                            <a:srgbClr val="333333"/>
                          </a:solidFill>
                          <a:latin typeface="Fira Code"/>
                        </a:rPr>
                        <a:t>uint32_t time_week_ms; ///&lt; GPS time (milliseconds from start of GPS week)</a:t>
                      </a:r>
                    </a:p>
                    <a:p>
                      <a:pPr algn="l">
                        <a:lnSpc>
                          <a:spcPct val="106000"/>
                        </a:lnSpc>
                        <a:spcAft>
                          <a:spcPts val="0"/>
                        </a:spcAft>
                      </a:pPr>
                      <a:r>
                        <a:rPr sz="1100" b="0">
                          <a:solidFill>
                            <a:srgbClr val="333333"/>
                          </a:solidFill>
                          <a:latin typeface="Fira Code"/>
                        </a:rPr>
                        <a:t>uint16_t time_week; ///&lt; GPS week number</a:t>
                      </a:r>
                    </a:p>
                    <a:p>
                      <a:pPr algn="l">
                        <a:lnSpc>
                          <a:spcPct val="106000"/>
                        </a:lnSpc>
                        <a:spcAft>
                          <a:spcPts val="0"/>
                        </a:spcAft>
                      </a:pPr>
                      <a:r>
                        <a:rPr sz="1100" b="0">
                          <a:solidFill>
                            <a:srgbClr val="333333"/>
                          </a:solidFill>
                          <a:latin typeface="Fira Code"/>
                        </a:rPr>
                        <a:t>Location location; ///&lt; last fix location</a:t>
                      </a:r>
                    </a:p>
                    <a:p>
                      <a:pPr algn="l">
                        <a:lnSpc>
                          <a:spcPct val="106000"/>
                        </a:lnSpc>
                        <a:spcAft>
                          <a:spcPts val="0"/>
                        </a:spcAft>
                      </a:pPr>
                      <a:r>
                        <a:rPr sz="1100" b="0">
                          <a:solidFill>
                            <a:srgbClr val="333333"/>
                          </a:solidFill>
                          <a:latin typeface="Fira Code"/>
                        </a:rPr>
                        <a:t>float ground_speed; ///&lt; ground speed in m</a:t>
                      </a:r>
                    </a:p>
                    <a:p>
                      <a:pPr algn="l">
                        <a:lnSpc>
                          <a:spcPct val="106000"/>
                        </a:lnSpc>
                        <a:spcAft>
                          <a:spcPts val="0"/>
                        </a:spcAft>
                      </a:pPr>
                      <a:r>
                        <a:rPr sz="1100" b="0">
                          <a:solidFill>
                            <a:srgbClr val="333333"/>
                          </a:solidFill>
                          <a:latin typeface="Fira Code"/>
                        </a:rPr>
                        <a:t>/s</a:t>
                      </a:r>
                    </a:p>
                    <a:p>
                      <a:pPr algn="l">
                        <a:lnSpc>
                          <a:spcPct val="106000"/>
                        </a:lnSpc>
                        <a:spcAft>
                          <a:spcPts val="0"/>
                        </a:spcAft>
                      </a:pPr>
                      <a:r>
                        <a:rPr sz="1100" b="0">
                          <a:solidFill>
                            <a:srgbClr val="333333"/>
                          </a:solidFill>
                          <a:latin typeface="Fira Code"/>
                        </a:rPr>
                        <a:t>float ground_course; ///&lt; ground course in</a:t>
                      </a:r>
                    </a:p>
                    <a:p>
                      <a:pPr algn="l">
                        <a:lnSpc>
                          <a:spcPct val="106000"/>
                        </a:lnSpc>
                        <a:spcAft>
                          <a:spcPts val="0"/>
                        </a:spcAft>
                      </a:pPr>
                      <a:r>
                        <a:rPr sz="1100" b="0">
                          <a:solidFill>
                            <a:srgbClr val="333333"/>
                          </a:solidFill>
                          <a:latin typeface="Fira Code"/>
                        </a:rPr>
                        <a:t>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AP_GPS_Blended::_calc_weights()</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bool AP_GPS_Blended::_calc_weights(void)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zero the blend weights</a:t>
                      </a:r>
                    </a:p>
                    <a:p>
                      <a:pPr algn="l">
                        <a:lnSpc>
                          <a:spcPct val="106000"/>
                        </a:lnSpc>
                        <a:spcAft>
                          <a:spcPts val="0"/>
                        </a:spcAft>
                      </a:pPr>
                      <a:r>
                        <a:rPr sz="1100" b="0">
                          <a:solidFill>
                            <a:srgbClr val="333333"/>
                          </a:solidFill>
                          <a:latin typeface="Fira Code"/>
                        </a:rPr>
                        <a:t>memset(&amp;_blend_weights, 0, sizeof(_blend_weights));</a:t>
                      </a:r>
                    </a:p>
                    <a:p>
                      <a:pPr algn="l">
                        <a:lnSpc>
                          <a:spcPct val="106000"/>
                        </a:lnSpc>
                        <a:spcAft>
                          <a:spcPts val="0"/>
                        </a:spcAft>
                      </a:pPr>
                      <a:r>
                        <a:rPr sz="1100" b="0">
                          <a:solidFill>
                            <a:srgbClr val="333333"/>
                          </a:solidFill>
                          <a:latin typeface="Fira Code"/>
                        </a:rPr>
                        <a:t>static_assert(GPS_MAX_RECEIVERS == 2, "GPS blending only currently works with 2 receivers");</a:t>
                      </a:r>
                    </a:p>
                    <a:p>
                      <a:pPr algn="l">
                        <a:lnSpc>
                          <a:spcPct val="106000"/>
                        </a:lnSpc>
                        <a:spcAft>
                          <a:spcPts val="0"/>
                        </a:spcAft>
                      </a:pPr>
                      <a:r>
                        <a:rPr sz="1100" b="0">
                          <a:solidFill>
                            <a:srgbClr val="333333"/>
                          </a:solidFill>
                          <a:latin typeface="Fira Code"/>
                        </a:rPr>
                        <a:t>// Note that the early quit below relies upon exactly 2 instances</a:t>
                      </a:r>
                    </a:p>
                    <a:p>
                      <a:pPr algn="l">
                        <a:lnSpc>
                          <a:spcPct val="106000"/>
                        </a:lnSpc>
                        <a:spcAft>
                          <a:spcPts val="0"/>
                        </a:spcAft>
                      </a:pPr>
                      <a:r>
                        <a:rPr sz="1100" b="0">
                          <a:solidFill>
                            <a:srgbClr val="333333"/>
                          </a:solidFill>
                          <a:latin typeface="Fira Code"/>
                        </a:rPr>
                        <a:t>//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18–19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class Location</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uint8_t relative_alt : 1; // 1 if altitude is relative to home</a:t>
                      </a:r>
                    </a:p>
                    <a:p>
                      <a:pPr algn="l">
                        <a:lnSpc>
                          <a:spcPct val="106000"/>
                        </a:lnSpc>
                        <a:spcAft>
                          <a:spcPts val="0"/>
                        </a:spcAft>
                      </a:pPr>
                      <a:r>
                        <a:rPr sz="1100" b="0">
                          <a:solidFill>
                            <a:srgbClr val="333333"/>
                          </a:solidFill>
                          <a:latin typeface="Fira Code"/>
                        </a:rPr>
                        <a:t>uint8_t loiter_ccw : 1; // 0 if clockwise, 1 if counter clockwise</a:t>
                      </a:r>
                    </a:p>
                    <a:p>
                      <a:pPr algn="l">
                        <a:lnSpc>
                          <a:spcPct val="106000"/>
                        </a:lnSpc>
                        <a:spcAft>
                          <a:spcPts val="0"/>
                        </a:spcAft>
                      </a:pPr>
                      <a:r>
                        <a:rPr sz="1100" b="0">
                          <a:solidFill>
                            <a:srgbClr val="333333"/>
                          </a:solidFill>
                          <a:latin typeface="Fira Code"/>
                        </a:rPr>
                        <a:t>uint8_t terrain_alt : 1; // this altitude is above</a:t>
                      </a:r>
                    </a:p>
                    <a:p>
                      <a:pPr algn="l">
                        <a:lnSpc>
                          <a:spcPct val="106000"/>
                        </a:lnSpc>
                        <a:spcAft>
                          <a:spcPts val="0"/>
                        </a:spcAft>
                      </a:pPr>
                      <a:r>
                        <a:rPr sz="1100" b="0">
                          <a:solidFill>
                            <a:srgbClr val="333333"/>
                          </a:solidFill>
                          <a:latin typeface="Fira Code"/>
                        </a:rPr>
                        <a:t>terrain</a:t>
                      </a:r>
                    </a:p>
                    <a:p>
                      <a:pPr algn="l">
                        <a:lnSpc>
                          <a:spcPct val="106000"/>
                        </a:lnSpc>
                        <a:spcAft>
                          <a:spcPts val="0"/>
                        </a:spcAft>
                      </a:pPr>
                      <a:r>
                        <a:rPr sz="1100" b="0">
                          <a:solidFill>
                            <a:srgbClr val="333333"/>
                          </a:solidFill>
                          <a:latin typeface="Fira Code"/>
                        </a:rPr>
                        <a:t>uint8_t origin_alt : 1; // this altitude is above</a:t>
                      </a:r>
                    </a:p>
                    <a:p>
                      <a:pPr algn="l">
                        <a:lnSpc>
                          <a:spcPct val="106000"/>
                        </a:lnSpc>
                        <a:spcAft>
                          <a:spcPts val="0"/>
                        </a:spcAft>
                      </a:pPr>
                      <a:r>
                        <a:rPr sz="1100" b="0">
                          <a:solidFill>
                            <a:srgbClr val="333333"/>
                          </a:solidFill>
                          <a:latin typeface="Fira Code"/>
                        </a:rPr>
                        <a:t>ekf origin</a:t>
                      </a:r>
                    </a:p>
                    <a:p>
                      <a:pPr algn="l">
                        <a:lnSpc>
                          <a:spcPct val="106000"/>
                        </a:lnSpc>
                        <a:spcAft>
                          <a:spcPts val="0"/>
                        </a:spcAft>
                      </a:pPr>
                      <a:r>
                        <a:rPr sz="1100" b="0">
                          <a:solidFill>
                            <a:srgbClr val="333333"/>
                          </a:solidFill>
                          <a:latin typeface="Fira Code"/>
                        </a:rPr>
                        <a:t>uint8_t loiter_xtrack : 1; // 0 to crosstrack from center of waypoint, 1 to crosstrack from tangent exit location</a:t>
                      </a:r>
                    </a:p>
                    <a:p>
                      <a:pPr algn="l">
                        <a:lnSpc>
                          <a:spcPct val="106000"/>
                        </a:lnSpc>
                        <a:spcAft>
                          <a:spcPts val="0"/>
                        </a:spcAft>
                      </a:pPr>
                      <a:r>
                        <a:rPr sz="1100" b="0">
                          <a:solidFill>
                            <a:srgbClr val="333333"/>
                          </a:solidFill>
                          <a:latin typeface="Fira Code"/>
                        </a:rPr>
                        <a:t>// note that mission storage only stores 24 bits of altitude (</a:t>
                      </a:r>
                    </a:p>
                    <a:p>
                      <a:pPr algn="l">
                        <a:lnSpc>
                          <a:spcPct val="106000"/>
                        </a:lnSpc>
                        <a:spcAft>
                          <a:spcPts val="0"/>
                        </a:spcAft>
                      </a:pPr>
                      <a:r>
                        <a:rPr sz="1100" b="0">
                          <a:solidFill>
                            <a:srgbClr val="333333"/>
                          </a:solidFill>
                          <a:latin typeface="Fira Code"/>
                        </a:rPr>
                        <a:t>~ +/- 83km)</a:t>
                      </a:r>
                    </a:p>
                    <a:p>
                      <a:pPr algn="l">
                        <a:lnSpc>
                          <a:spcPct val="106000"/>
                        </a:lnSpc>
                        <a:spcAft>
                          <a:spcPts val="0"/>
                        </a:spcAft>
                      </a:pPr>
                      <a:r>
                        <a:rPr sz="1100" b="0">
                          <a:solidFill>
                            <a:srgbClr val="333333"/>
                          </a:solidFill>
                          <a:latin typeface="Fira Code"/>
                        </a:rPr>
                        <a:t>int32_t alt; // in cm</a:t>
                      </a:r>
                    </a:p>
                    <a:p>
                      <a:pPr algn="l">
                        <a:lnSpc>
                          <a:spcPct val="106000"/>
                        </a:lnSpc>
                        <a:spcAft>
                          <a:spcPts val="0"/>
                        </a:spcAft>
                      </a:pPr>
                      <a:r>
                        <a:rPr sz="1100" b="0">
                          <a:solidFill>
                            <a:srgbClr val="333333"/>
                          </a:solidFill>
                          <a:latin typeface="Fira Code"/>
                        </a:rPr>
                        <a:t>int32_t lat; // in 1E7 degrees</a:t>
                      </a:r>
                    </a:p>
                    <a:p>
                      <a:pPr algn="l">
                        <a:lnSpc>
                          <a:spcPct val="106000"/>
                        </a:lnSpc>
                        <a:spcAft>
                          <a:spcPts val="0"/>
                        </a:spcAft>
                      </a:pPr>
                      <a:r>
                        <a:rPr sz="1100" b="0">
                          <a:solidFill>
                            <a:srgbClr val="333333"/>
                          </a:solidFill>
                          <a:latin typeface="Fira Code"/>
                        </a:rPr>
                        <a:t>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Location::get_vector_from_origin_NEU_cm()</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Location::get_vector_from_origin_NEU_cm(T &amp;vec_neu)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altitude</a:t>
                      </a:r>
                    </a:p>
                    <a:p>
                      <a:pPr algn="l">
                        <a:lnSpc>
                          <a:spcPct val="106000"/>
                        </a:lnSpc>
                        <a:spcAft>
                          <a:spcPts val="0"/>
                        </a:spcAft>
                      </a:pPr>
                      <a:r>
                        <a:rPr sz="1100" b="0">
                          <a:solidFill>
                            <a:srgbClr val="333333"/>
                          </a:solidFill>
                          <a:latin typeface="Fira Code"/>
                        </a:rPr>
                        <a:t>int32_t alt_above_origin_cm = 0;</a:t>
                      </a:r>
                    </a:p>
                    <a:p>
                      <a:pPr algn="l">
                        <a:lnSpc>
                          <a:spcPct val="106000"/>
                        </a:lnSpc>
                        <a:spcAft>
                          <a:spcPts val="0"/>
                        </a:spcAft>
                      </a:pPr>
                      <a:r>
                        <a:rPr sz="1100" b="0">
                          <a:solidFill>
                            <a:srgbClr val="333333"/>
                          </a:solidFill>
                          <a:latin typeface="Fira Code"/>
                        </a:rPr>
                        <a:t>if (!get_alt_cm(AltFrame::ABOVE_ORIGIN, alt_above_origin_cm))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lat, lon</a:t>
                      </a:r>
                    </a:p>
                    <a:p>
                      <a:pPr algn="l">
                        <a:lnSpc>
                          <a:spcPct val="106000"/>
                        </a:lnSpc>
                        <a:spcAft>
                          <a:spcPts val="0"/>
                        </a:spcAft>
                      </a:pPr>
                      <a:r>
                        <a:rPr sz="1100" b="0">
                          <a:solidFill>
                            <a:srgbClr val="333333"/>
                          </a:solidFill>
                          <a:latin typeface="Fira Code"/>
                        </a:rPr>
                        <a:t>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28077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AP_InertialNav::update()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AP_InertialNav::update(bool high_vibes)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get the NE position relative to the local earth frame origin</a:t>
                      </a:r>
                    </a:p>
                    <a:p>
                      <a:pPr algn="l">
                        <a:lnSpc>
                          <a:spcPct val="106000"/>
                        </a:lnSpc>
                        <a:spcAft>
                          <a:spcPts val="0"/>
                        </a:spcAft>
                      </a:pPr>
                      <a:r>
                        <a:rPr sz="1100" b="0">
                          <a:solidFill>
                            <a:srgbClr val="333333"/>
                          </a:solidFill>
                          <a:latin typeface="Fira Code"/>
                        </a:rPr>
                        <a:t>Vector2f posNE;</a:t>
                      </a:r>
                    </a:p>
                    <a:p>
                      <a:pPr algn="l">
                        <a:lnSpc>
                          <a:spcPct val="106000"/>
                        </a:lnSpc>
                        <a:spcAft>
                          <a:spcPts val="0"/>
                        </a:spcAft>
                      </a:pPr>
                      <a:r>
                        <a:rPr sz="1100" b="0">
                          <a:solidFill>
                            <a:srgbClr val="333333"/>
                          </a:solidFill>
                          <a:latin typeface="Fira Code"/>
                        </a:rPr>
                        <a:t>if (_ahrs_ekf.get_relative_position_NE_origin_float(posNE)) {</a:t>
                      </a:r>
                    </a:p>
                    <a:p>
                      <a:pPr algn="l">
                        <a:lnSpc>
                          <a:spcPct val="106000"/>
                        </a:lnSpc>
                        <a:spcAft>
                          <a:spcPts val="0"/>
                        </a:spcAft>
                      </a:pPr>
                      <a:r>
                        <a:rPr sz="1100" b="0">
                          <a:solidFill>
                            <a:srgbClr val="333333"/>
                          </a:solidFill>
                          <a:latin typeface="Fira Code"/>
                        </a:rPr>
                        <a:t>_relpos_cm.x = posNE.x * 100; // convert from m to cm</a:t>
                      </a:r>
                    </a:p>
                    <a:p>
                      <a:pPr algn="l">
                        <a:lnSpc>
                          <a:spcPct val="106000"/>
                        </a:lnSpc>
                        <a:spcAft>
                          <a:spcPts val="0"/>
                        </a:spcAft>
                      </a:pPr>
                      <a:r>
                        <a:rPr sz="1100" b="0">
                          <a:solidFill>
                            <a:srgbClr val="333333"/>
                          </a:solidFill>
                          <a:latin typeface="Fira Code"/>
                        </a:rPr>
                        <a:t>_relpos_cm.y = posNE.y * 100; // convert from m to 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AC_PosControl::input_pos_NEU_cm()</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input_pos_NEU_m(pos_neu_cm * 0.01, pos_terrain_target_u_cm * 0</a:t>
                      </a:r>
                    </a:p>
                    <a:p>
                      <a:pPr algn="l">
                        <a:lnSpc>
                          <a:spcPct val="106000"/>
                        </a:lnSpc>
                        <a:spcAft>
                          <a:spcPts val="0"/>
                        </a:spcAft>
                      </a:pPr>
                      <a:r>
                        <a:rPr sz="1100" b="0">
                          <a:solidFill>
                            <a:srgbClr val="333333"/>
                          </a:solidFill>
                          <a:latin typeface="Fira Code"/>
                        </a:rPr>
                        <a:t>.01, terrain_buffer_cm * 0.01);</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Sets a new NEU position target in meters and computes a jerk-limited trajectory.</a:t>
                      </a:r>
                    </a:p>
                    <a:p>
                      <a:pPr algn="l">
                        <a:lnSpc>
                          <a:spcPct val="106000"/>
                        </a:lnSpc>
                        <a:spcAft>
                          <a:spcPts val="0"/>
                        </a:spcAft>
                      </a:pPr>
                      <a:r>
                        <a:rPr sz="1100" b="0">
                          <a:solidFill>
                            <a:srgbClr val="333333"/>
                          </a:solidFill>
                          <a:latin typeface="Fira Code"/>
                        </a:rPr>
                        <a:t>// Updates internal acceleration commands using a smooth kinematic</a:t>
                      </a:r>
                    </a:p>
                    <a:p>
                      <a:pPr algn="l">
                        <a:lnSpc>
                          <a:spcPct val="106000"/>
                        </a:lnSpc>
                        <a:spcAft>
                          <a:spcPts val="0"/>
                        </a:spcAft>
                      </a:pPr>
                      <a:r>
                        <a:rPr sz="1100" b="0">
                          <a:solidFill>
                            <a:srgbClr val="333333"/>
                          </a:solidFill>
                          <a:latin typeface="Fira Code"/>
                        </a:rPr>
                        <a:t>path constrained</a:t>
                      </a:r>
                    </a:p>
                    <a:p>
                      <a:pPr algn="l">
                        <a:lnSpc>
                          <a:spcPct val="106000"/>
                        </a:lnSpc>
                        <a:spcAft>
                          <a:spcPts val="0"/>
                        </a:spcAft>
                      </a:pPr>
                      <a:r>
                        <a:rPr sz="1100" b="0">
                          <a:solidFill>
                            <a:srgbClr val="333333"/>
                          </a:solidFill>
                          <a:latin typeface="Fira Code"/>
                        </a:rPr>
                        <a:t>// by configured acceleration and jerk limits. Terrain margin is used to constrain</a:t>
                      </a:r>
                    </a:p>
                    <a:p>
                      <a:pPr algn="l">
                        <a:lnSpc>
                          <a:spcPct val="106000"/>
                        </a:lnSpc>
                        <a:spcAft>
                          <a:spcPts val="0"/>
                        </a:spcAft>
                      </a:pPr>
                      <a:r>
                        <a:rPr sz="1100" b="0">
                          <a:solidFill>
                            <a:srgbClr val="333333"/>
                          </a:solidFill>
                          <a:latin typeface="Fira Code"/>
                        </a:rPr>
                        <a:t>// horizontal velocity to avoid vertical buffer violation.</a:t>
                      </a:r>
                    </a:p>
                    <a:p>
                      <a:pPr algn="l">
                        <a:lnSpc>
                          <a:spcPct val="106000"/>
                        </a:lnSpc>
                        <a:spcAft>
                          <a:spcPts val="0"/>
                        </a:spcAft>
                      </a:pPr>
                      <a:r>
                        <a:rPr sz="1100" b="0">
                          <a:solidFill>
                            <a:srgbClr val="333333"/>
                          </a:solidFill>
                          <a:latin typeface="Fira Code"/>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22–23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AR_PosControl::update()</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void AR_PosControl::update(float dt)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exit immediately if no current location, destination or disarmed</a:t>
                      </a:r>
                    </a:p>
                    <a:p>
                      <a:pPr algn="l">
                        <a:lnSpc>
                          <a:spcPct val="106000"/>
                        </a:lnSpc>
                        <a:spcAft>
                          <a:spcPts val="0"/>
                        </a:spcAft>
                      </a:pPr>
                      <a:r>
                        <a:rPr sz="1100" b="0">
                          <a:solidFill>
                            <a:srgbClr val="333333"/>
                          </a:solidFill>
                          <a:latin typeface="Fira Code"/>
                        </a:rPr>
                        <a:t>Vector3p curr_pos_NED_m;</a:t>
                      </a:r>
                    </a:p>
                    <a:p>
                      <a:pPr algn="l">
                        <a:lnSpc>
                          <a:spcPct val="106000"/>
                        </a:lnSpc>
                        <a:spcAft>
                          <a:spcPts val="0"/>
                        </a:spcAft>
                      </a:pPr>
                      <a:r>
                        <a:rPr sz="1100" b="0">
                          <a:solidFill>
                            <a:srgbClr val="333333"/>
                          </a:solidFill>
                          <a:latin typeface="Fira Code"/>
                        </a:rPr>
                        <a:t>Vector3f curr_vel_NED;</a:t>
                      </a:r>
                    </a:p>
                    <a:p>
                      <a:pPr algn="l">
                        <a:lnSpc>
                          <a:spcPct val="106000"/>
                        </a:lnSpc>
                        <a:spcAft>
                          <a:spcPts val="0"/>
                        </a:spcAft>
                      </a:pPr>
                      <a:r>
                        <a:rPr sz="1100" b="0">
                          <a:solidFill>
                            <a:srgbClr val="333333"/>
                          </a:solidFill>
                          <a:latin typeface="Fira Code"/>
                        </a:rPr>
                        <a:t>if (!hal.util-&gt;get_soft_armed() || !AP::ahrs().get_relative_position_NED_origin(curr_pos_NED_m) ||</a:t>
                      </a:r>
                    </a:p>
                    <a:p>
                      <a:pPr algn="l">
                        <a:lnSpc>
                          <a:spcPct val="106000"/>
                        </a:lnSpc>
                        <a:spcAft>
                          <a:spcPts val="0"/>
                        </a:spcAft>
                      </a:pPr>
                      <a:r>
                        <a:rPr sz="1100" b="0">
                          <a:solidFill>
                            <a:srgbClr val="333333"/>
                          </a:solidFill>
                          <a:latin typeface="Fira Code"/>
                        </a:rPr>
                        <a:t>!AP::ahrs().get_velocity_NED(curr_vel_NED)) {</a:t>
                      </a:r>
                    </a:p>
                    <a:p>
                      <a:pPr algn="l">
                        <a:lnSpc>
                          <a:spcPct val="106000"/>
                        </a:lnSpc>
                        <a:spcAft>
                          <a:spcPts val="0"/>
                        </a:spcAft>
                      </a:pPr>
                      <a:r>
                        <a:rPr sz="1100" b="0">
                          <a:solidFill>
                            <a:srgbClr val="333333"/>
                          </a:solidFill>
                          <a:latin typeface="Fira Code"/>
                        </a:rPr>
                        <a:t>_desired_speed = _atc.get_desired_speed_accel_limited(0.0f</a:t>
                      </a:r>
                    </a:p>
                    <a:p>
                      <a:pPr algn="l">
                        <a:lnSpc>
                          <a:spcPct val="106000"/>
                        </a:lnSpc>
                        <a:spcAft>
                          <a:spcPts val="0"/>
                        </a:spcAft>
                      </a:pPr>
                      <a:r>
                        <a:rPr sz="1100" b="0">
                          <a:solidFill>
                            <a:srgbClr val="333333"/>
                          </a:solidFill>
                          <a:latin typeface="Fira Code"/>
                        </a:rPr>
                        <a:t>, dt);</a:t>
                      </a:r>
                    </a:p>
                    <a:p>
                      <a:pPr algn="l">
                        <a:lnSpc>
                          <a:spcPct val="106000"/>
                        </a:lnSpc>
                        <a:spcAft>
                          <a:spcPts val="0"/>
                        </a:spcAft>
                      </a:pPr>
                      <a:r>
                        <a:rPr sz="1100" b="0">
                          <a:solidFill>
                            <a:srgbClr val="333333"/>
                          </a:solidFill>
                          <a:latin typeface="Fira Code"/>
                        </a:rPr>
                        <a:t>_desired_lat_accel = 0.0f;</a:t>
                      </a:r>
                    </a:p>
                    <a:p>
                      <a:pPr algn="l">
                        <a:lnSpc>
                          <a:spcPct val="106000"/>
                        </a:lnSpc>
                        <a:spcAft>
                          <a:spcPts val="0"/>
                        </a:spcAft>
                      </a:pPr>
                      <a:r>
                        <a:rPr sz="1100" b="0">
                          <a:solidFill>
                            <a:srgbClr val="333333"/>
                          </a:solidFill>
                          <a:latin typeface="Fira Code"/>
                        </a:rPr>
                        <a:t>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AP_Beacon::get_vehicle_position_ned()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AP_Beacon::get_vehicle_position_ned(Vector3f &amp;position, float</a:t>
                      </a:r>
                    </a:p>
                    <a:p>
                      <a:pPr algn="l">
                        <a:lnSpc>
                          <a:spcPct val="106000"/>
                        </a:lnSpc>
                        <a:spcAft>
                          <a:spcPts val="0"/>
                        </a:spcAft>
                      </a:pPr>
                      <a:r>
                        <a:rPr sz="1100" b="0">
                          <a:solidFill>
                            <a:srgbClr val="333333"/>
                          </a:solidFill>
                          <a:latin typeface="Fira Code"/>
                        </a:rPr>
                        <a:t>&amp; accuracy_estimate)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(!device_ready())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timeout</a:t>
                      </a:r>
                    </a:p>
                    <a:p>
                      <a:pPr algn="l">
                        <a:lnSpc>
                          <a:spcPct val="106000"/>
                        </a:lnSpc>
                        <a:spcAft>
                          <a:spcPts val="0"/>
                        </a:spcAft>
                      </a:pPr>
                      <a:r>
                        <a:rPr sz="1100" b="0">
                          <a:solidFill>
                            <a:srgbClr val="333333"/>
                          </a:solidFill>
                          <a:latin typeface="Fira Code"/>
                        </a:rPr>
                        <a:t>if (AP_HAL::millis() - veh_pos_update_ms &gt; AP_BEACON_TIMEOUT_MS)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261589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AP_VisualOdom::handle_pose_estimate()</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void AP_VisualOdom::handle_pose_estimate(uint64_t remote_time_us,</a:t>
                      </a:r>
                    </a:p>
                    <a:p>
                      <a:pPr algn="l">
                        <a:lnSpc>
                          <a:spcPct val="106000"/>
                        </a:lnSpc>
                        <a:spcAft>
                          <a:spcPts val="0"/>
                        </a:spcAft>
                      </a:pPr>
                      <a:r>
                        <a:rPr sz="1100" b="0">
                          <a:solidFill>
                            <a:srgbClr val="333333"/>
                          </a:solidFill>
                          <a:latin typeface="Fira Code"/>
                        </a:rPr>
                        <a:t>uint32_t time_ms, float x, float y, float z, float roll, float pitch, float yaw, float posErr, float angErr, uint8_t reset_counter,</a:t>
                      </a:r>
                    </a:p>
                    <a:p>
                      <a:pPr algn="l">
                        <a:lnSpc>
                          <a:spcPct val="106000"/>
                        </a:lnSpc>
                        <a:spcAft>
                          <a:spcPts val="0"/>
                        </a:spcAft>
                      </a:pPr>
                      <a:r>
                        <a:rPr sz="1100" b="0">
                          <a:solidFill>
                            <a:srgbClr val="333333"/>
                          </a:solidFill>
                          <a:latin typeface="Fira Code"/>
                        </a:rPr>
                        <a:t>int8_t quality)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exit immediately if not enabled</a:t>
                      </a:r>
                    </a:p>
                    <a:p>
                      <a:pPr algn="l">
                        <a:lnSpc>
                          <a:spcPct val="106000"/>
                        </a:lnSpc>
                        <a:spcAft>
                          <a:spcPts val="0"/>
                        </a:spcAft>
                      </a:pPr>
                      <a:r>
                        <a:rPr sz="1100" b="0">
                          <a:solidFill>
                            <a:srgbClr val="333333"/>
                          </a:solidFill>
                          <a:latin typeface="Fira Code"/>
                        </a:rPr>
                        <a:t>if (!enabled())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call backend</a:t>
                      </a:r>
                    </a:p>
                    <a:p>
                      <a:pPr algn="l">
                        <a:lnSpc>
                          <a:spcPct val="106000"/>
                        </a:lnSpc>
                        <a:spcAft>
                          <a:spcPts val="0"/>
                        </a:spcAft>
                      </a:pPr>
                      <a:r>
                        <a:rPr sz="1100" b="0">
                          <a:solidFill>
                            <a:srgbClr val="333333"/>
                          </a:solidFill>
                          <a:latin typeface="Fira Code"/>
                        </a:rPr>
                        <a:t>if (_driver != nullptr) {</a:t>
                      </a:r>
                    </a:p>
                    <a:p>
                      <a:pPr algn="l">
                        <a:lnSpc>
                          <a:spcPct val="106000"/>
                        </a:lnSpc>
                        <a:spcAft>
                          <a:spcPts val="0"/>
                        </a:spcAft>
                      </a:pPr>
                      <a:r>
                        <a:rPr sz="1100" b="0">
                          <a:solidFill>
                            <a:srgbClr val="333333"/>
                          </a:solidFill>
                          <a:latin typeface="Fira Code"/>
                        </a:rPr>
                        <a:t>//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2 — full transitive chain, final consumer &amp; hop depth</a:t>
            </a:r>
          </a:p>
        </p:txBody>
      </p:sp>
      <p:graphicFrame>
        <p:nvGraphicFramePr>
          <p:cNvPr id="7" name="Table 6"/>
          <p:cNvGraphicFramePr>
            <a:graphicFrameLocks noGrp="1"/>
          </p:cNvGraphicFramePr>
          <p:nvPr/>
        </p:nvGraphicFramePr>
        <p:xfrm>
          <a:off x="566928" y="1906943"/>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42109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4221966"/>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GPS_State.velocity → AP_GPS::velocity() → NavEKF3_Measurements::readGpsData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also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 → NavEKF3_Measurements::readGpsData (gps.location) → NavEKF3::FuseVelPosNED → AP_AHRS::get_location() → AC_WPNav::set_wp_destination_loc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position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 → NavEKF3_Measurements::readGpsData (gps.velocity)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 AP_GPS accessors {location|velocity|time_week} → NavEKF3_Measurements → EKF/AHRS + AP_RTC → controllers +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[MULTI-CATEGORY] branches into Table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94103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AP_GPS_Blended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Blended → AP_GPS primary (blended) location/velocity → NavEKF3_Measurements → NavEKF3::FuseVelPosNED → AP_AHRS → 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 upstream of EKF ingestion.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 → AC_WPNav::set_wp_destination_loc → get_vector_NEU_cm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Pervasive value type; depth measured along its dominant waypoint-control consumer branch (the AC_WPNav→PosControl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Location→NEU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get_vector_from_origin_NEU_cm() → AC_WPNav::get_vector_NEU_cm → set_wp_destination_NEU_cm →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AP_InertialNav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origin-relative pos → AP_InertialNav::update → _relpos_cm → Copter logging/reporting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 logger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Inbound chain to a Sink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184936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 (Sink,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pos/vel → AR_PosControl → AR_AttitudeControl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actuation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 get_vehicle_position_ned → NavEKF3 RngBcn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 NavEKF3 external-nav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356843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2 — Core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navigation hub, the estimator stack and the guidance and mission layer.</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28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Central navigation hub returns the fused Location from the active EKF. Reached via AP::ahrs(). AHRS owns NavEKF2/NavEKF3 while the EKF core reads AHRS/sensor state back through AP_DAL — AHRS↔EKF mutual 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238-246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accessor returning the already-fused state.ground_speed (m/s). Performs no fusion and produces nothing from a measurement — classified Sink (read accessor), NOT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269-277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AP_AHRS::get_origin()/have_inertial_nav()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Availability/origin read accessors (have_inertial_nav() is a user-cited symbol, L273). They report EKF availability/origin — read accessors, NOT measurement Sources; classified Sink. EKF origin is WRITTEN by the EKF (see #15 calcGpsGoodToAlign / setOrigin).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1739-1748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Geodetic↔NED: origin-relative NED position via active-EKF-type dispatch (DCM/EKF2/EKF3) — performs conversion 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3662-3666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Exposes the fused NED velocity (nav-hub output of EKF fusion); consumed by crash detection and Rover position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344865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Extended Kalman Filter predict/fuse step (the core PNT transform).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GPS position/velocity fusion scheduling; the dtIMUavg&lt;0.005 gate couples EKF fusion cadence to the scheduler loop rate (timing coupling).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694-702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position/velocity measurement-update (Kalman gain applied to GPS/baro NED innovations).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4639884"/>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GPS ingestion into the EKF delayed-time buffer (reads gps.location()/velocity()/status via AP_DAL). This is the GPS→EKF hop omitted earlier (cf. Table 1a chains).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232-240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Navigation aiding-mode state machine (none/relative/absolute) driving which PNT measurements are fused.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libraries/AP_NavEKF3/AP_NavEKF3_MagFusion.cpp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227-235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Magnetometer/yaw fusion scheduling feeding the heading component of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libraries/AP_NavEKF3/AP_NavEKF3_AirDataFusion.cpp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193-201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True-airspeed / synthetic-sideslip fusion (wind/velocity estimation for fixed-wing nav).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libraries/AP_NavEKF3/AP_NavEKF3_OptFlowFusion.cpp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Optical-flow fusion scheduling for GPS-denied velocity/position aiding.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libraries/AP_NavEKF3/AP_NavEKF3_Outputs.cpp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326-334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position output: converts the filter state to a geodetic Location consumed by AP_AHRS.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libraries/AP_NavEKF3/AP_NavEKF3_VehicleStatus.cpp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14-22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GPS-quality gate deciding whether the GPS is good enough to align/aid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libraries/AP_NavEKF3/AP_NavEKF3_GyroBias.cpp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Gyro-bias state reset within the inertial-navigation state vector.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libraries/AP_NavEKF3/AP_NavEKF3_RngBcnFusion.cpp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95-103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Range-beacon (non-GPS) position fusion — consumes AP_Beacon ranges (Table 1 #25).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libraries/AP_NavEKF3/AP_NavEKF3_Logging.cpp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Logs the fused navigation state (pos/vel/attitude) to the dataflash; reads PNT state, drives no control — a logging Sink.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1846-1854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EKF3 frontend: exposes the per-core nav_filter_status (position/velocity validity bits) to vehicle health logic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[DUPLICATED] Second-generation EKF predict/fuse step; selectable alternative to EKF3. AHRS owns NavEKF2/NavEKF3 while the EKF core reads AHRS/sensor state back through AP_DAL — AHRS↔EKF mutual reference. parallel EKF implementation to AP_NavEKF3 (extraction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EKF2 GPS position/velocity measurement-update; structurally mirrors EKF3 FuseVelPosNED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libraries/AP_NavEKF/EKFGSF_yaw.cpp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30-38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Gaussian-Sum-Filter emergency yaw estimator (shared by EKF2/EKF3) providing a GPS-velocity-derived yaw used to recover the navigation solution.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libraries/AC_WPNav/AC_WPNav.cpp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245-254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Waypoint navigation: converts a Location waypoint to a NEU target (get_vector_NEU_cm) relative to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451484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libraries/AP_Mission/AP_Mission.cpp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552-561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Mission-command storage reader + navigation-command sequencing: scans stored commands and returns the next NAV waypoint. NOT a PNT measurement Source — it sequences stored navigation targets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4901">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226-234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AfsimL1Behavior::set_leg_ne() -&gt; AP_L1_Control::update_waypoint(prev, next); state via AHRS shim (get_location()/groundspeed_vector()) fed by set_state_ne(); dt via set_update_dt()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Fixed-wing lateral (L1) guidance consuming the AHRS navigation position via _ahrs.get_location() (returns early if unavailable). The same method also reads AP_HAL::micros() at L214 for the dt timing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79-88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AfsimL1Behavior::get_roll_deg() = nav_roll_cd()/100 -&gt; L1_GetRollDeg; get_lat_accel() -&gt;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Derives demanded roll (centi-deg) from the lateral-acceleration demand and AHRS pitch.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1431450"/>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libraries/AP_TECS/AP_TECS.cpp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1259-1268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Total Energy Control (speed/altitude) producing pitch &amp; throttle demands.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libraries/AC_AttitudeControl/AC_AttitudeControl.cpp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411-419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Attitude/rate controller consuming the navigation demand; downstream of all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3600-3604</a:t>
                      </a:r>
                      <a:r>
                        <a:rPr sz="1100" b="0">
                          <a:solidFill>
                            <a:srgbClr val="999999"/>
                          </a:solidFill>
                          <a:latin typeface="Fira Code"/>
                        </a:rPr>
                        <a:t>  ·  </a:t>
                      </a:r>
                      <a:r>
                        <a:rPr sz="1100" b="0">
                          <a:solidFill>
                            <a:srgbClr val="999999"/>
                          </a:solidFill>
                          <a:latin typeface="Fira Code"/>
                        </a:rPr>
                        <a:t>AP_AHRS::get_location()</a:t>
                      </a:r>
                    </a:p>
                    <a:p>
                      <a:pPr algn="l">
                        <a:lnSpc>
                          <a:spcPct val="106000"/>
                        </a:lnSpc>
                        <a:spcAft>
                          <a:spcPts val="0"/>
                        </a:spcAft>
                      </a:pPr>
                      <a:r>
                        <a:rPr sz="1100" b="0">
                          <a:solidFill>
                            <a:srgbClr val="333333"/>
                          </a:solidFill>
                          <a:latin typeface="Fira Code"/>
                        </a:rPr>
                        <a:t>bool AP_AHRS::get_location(Location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loc = state.location;</a:t>
                      </a:r>
                    </a:p>
                    <a:p>
                      <a:pPr algn="l">
                        <a:lnSpc>
                          <a:spcPct val="106000"/>
                        </a:lnSpc>
                        <a:spcAft>
                          <a:spcPts val="0"/>
                        </a:spcAft>
                      </a:pPr>
                      <a:r>
                        <a:rPr sz="1100" b="0">
                          <a:solidFill>
                            <a:srgbClr val="333333"/>
                          </a:solidFill>
                          <a:latin typeface="Fira Code"/>
                        </a:rPr>
                        <a:t>    return state.location_ok;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libraries/AP_AHRS/AP_AHRS.h</a:t>
                      </a:r>
                      <a:r>
                        <a:rPr sz="1100" b="0">
                          <a:solidFill>
                            <a:srgbClr val="999999"/>
                          </a:solidFill>
                          <a:latin typeface="Fira Code"/>
                        </a:rPr>
                        <a:t>  ·  </a:t>
                      </a:r>
                      <a:r>
                        <a:rPr sz="1100" b="0">
                          <a:solidFill>
                            <a:srgbClr val="999999"/>
                          </a:solidFill>
                          <a:latin typeface="Fira Code"/>
                        </a:rPr>
                        <a:t>238-246</a:t>
                      </a:r>
                      <a:r>
                        <a:rPr sz="1100" b="0">
                          <a:solidFill>
                            <a:srgbClr val="999999"/>
                          </a:solidFill>
                          <a:latin typeface="Fira Code"/>
                        </a:rPr>
                        <a:t>  ·  </a:t>
                      </a:r>
                      <a:r>
                        <a:rPr sz="1100" b="0">
                          <a:solidFill>
                            <a:srgbClr val="999999"/>
                          </a:solidFill>
                          <a:latin typeface="Fira Code"/>
                        </a:rPr>
                        <a:t>AP_AHRS::groundspeed()</a:t>
                      </a:r>
                    </a:p>
                    <a:p>
                      <a:pPr algn="l">
                        <a:lnSpc>
                          <a:spcPct val="106000"/>
                        </a:lnSpc>
                        <a:spcAft>
                          <a:spcPts val="0"/>
                        </a:spcAft>
                      </a:pPr>
                      <a:r>
                        <a:rPr sz="1100" b="0">
                          <a:solidFill>
                            <a:srgbClr val="333333"/>
                          </a:solidFill>
                          <a:latin typeface="Fira Code"/>
                        </a:rPr>
                        <a:t>    // EKF has a better ground speed vector estimate</a:t>
                      </a:r>
                    </a:p>
                    <a:p>
                      <a:pPr algn="l">
                        <a:lnSpc>
                          <a:spcPct val="106000"/>
                        </a:lnSpc>
                        <a:spcAft>
                          <a:spcPts val="0"/>
                        </a:spcAft>
                      </a:pPr>
                      <a:r>
                        <a:rPr sz="1100" b="0">
                          <a:solidFill>
                            <a:srgbClr val="333333"/>
                          </a:solidFill>
                          <a:latin typeface="Fira Code"/>
                        </a:rPr>
                        <a:t>    const Vector2f &amp;groundspeed_vector() const { return state.ground_speed_vec;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ground speed estimate in meters/second. Used by ground vehicles.</a:t>
                      </a:r>
                    </a:p>
                    <a:p>
                      <a:pPr algn="l">
                        <a:lnSpc>
                          <a:spcPct val="106000"/>
                        </a:lnSpc>
                        <a:spcAft>
                          <a:spcPts val="0"/>
                        </a:spcAft>
                      </a:pPr>
                      <a:r>
                        <a:rPr sz="1100" b="0">
                          <a:solidFill>
                            <a:srgbClr val="333333"/>
                          </a:solidFill>
                          <a:latin typeface="Fira Code"/>
                        </a:rPr>
                        <a:t>    float groundspeed(void) const { return state.ground_speed;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Vector3f &amp;get_accel_ef() const {</a:t>
                      </a:r>
                    </a:p>
                    <a:p>
                      <a:pPr algn="l">
                        <a:lnSpc>
                          <a:spcPct val="106000"/>
                        </a:lnSpc>
                        <a:spcAft>
                          <a:spcPts val="0"/>
                        </a:spcAft>
                      </a:pPr>
                      <a:r>
                        <a:rPr sz="1100" b="0">
                          <a:solidFill>
                            <a:srgbClr val="333333"/>
                          </a:solidFill>
                          <a:latin typeface="Fira Code"/>
                        </a:rPr>
                        <a:t>        return state.accel_ef;</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libraries/AP_AHRS/AP_AHRS.h</a:t>
                      </a:r>
                      <a:r>
                        <a:rPr sz="1100" b="0">
                          <a:solidFill>
                            <a:srgbClr val="999999"/>
                          </a:solidFill>
                          <a:latin typeface="Fira Code"/>
                        </a:rPr>
                        <a:t>  ·  </a:t>
                      </a:r>
                      <a:r>
                        <a:rPr sz="1100" b="0">
                          <a:solidFill>
                            <a:srgbClr val="999999"/>
                          </a:solidFill>
                          <a:latin typeface="Fira Code"/>
                        </a:rPr>
                        <a:t>269-277</a:t>
                      </a:r>
                      <a:r>
                        <a:rPr sz="1100" b="0">
                          <a:solidFill>
                            <a:srgbClr val="999999"/>
                          </a:solidFill>
                          <a:latin typeface="Fira Code"/>
                        </a:rPr>
                        <a:t>  ·  </a:t>
                      </a:r>
                      <a:r>
                        <a:rPr sz="1100" b="0">
                          <a:solidFill>
                            <a:srgbClr val="999999"/>
                          </a:solidFill>
                          <a:latin typeface="Fira Code"/>
                        </a:rPr>
                        <a:t>AP_AHRS::get_origin()/have_inertial_nav()</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returns the inertial navigation origin in lat/lon/alt</a:t>
                      </a:r>
                    </a:p>
                    <a:p>
                      <a:pPr algn="l">
                        <a:lnSpc>
                          <a:spcPct val="106000"/>
                        </a:lnSpc>
                        <a:spcAft>
                          <a:spcPts val="0"/>
                        </a:spcAft>
                      </a:pPr>
                      <a:r>
                        <a:rPr sz="1100" b="0">
                          <a:solidFill>
                            <a:srgbClr val="333333"/>
                          </a:solidFill>
                          <a:latin typeface="Fira Code"/>
                        </a:rPr>
                        <a:t>    bool get_origin(Location &amp;ret) const WARN_IF_UNUSED;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bool have_inertial_nav() const;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a ground velocity in meters/second, North/East/Down</a:t>
                      </a:r>
                    </a:p>
                    <a:p>
                      <a:pPr algn="l">
                        <a:lnSpc>
                          <a:spcPct val="106000"/>
                        </a:lnSpc>
                        <a:spcAft>
                          <a:spcPts val="0"/>
                        </a:spcAft>
                      </a:pPr>
                      <a:r>
                        <a:rPr sz="1100" b="0">
                          <a:solidFill>
                            <a:srgbClr val="333333"/>
                          </a:solidFill>
                          <a:latin typeface="Fira Code"/>
                        </a:rPr>
                        <a:t>    // order. Must only be called if have_inertial_nav() is true</a:t>
                      </a:r>
                    </a:p>
                    <a:p>
                      <a:pPr algn="l">
                        <a:lnSpc>
                          <a:spcPct val="106000"/>
                        </a:lnSpc>
                        <a:spcAft>
                          <a:spcPts val="0"/>
                        </a:spcAft>
                      </a:pPr>
                      <a:r>
                        <a:rPr sz="1100" b="0">
                          <a:solidFill>
                            <a:srgbClr val="333333"/>
                          </a:solidFill>
                          <a:latin typeface="Fira Code"/>
                        </a:rPr>
                        <a:t>    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1739-1748</a:t>
                      </a:r>
                      <a:r>
                        <a:rPr sz="1100" b="0">
                          <a:solidFill>
                            <a:srgbClr val="999999"/>
                          </a:solidFill>
                          <a:latin typeface="Fira Code"/>
                        </a:rPr>
                        <a:t>  ·  </a:t>
                      </a:r>
                      <a:r>
                        <a:rPr sz="1100" b="0">
                          <a:solidFill>
                            <a:srgbClr val="999999"/>
                          </a:solidFill>
                          <a:latin typeface="Fira Code"/>
                        </a:rPr>
                        <a:t>AP_AHRS::get_relative_position_NED_origin()</a:t>
                      </a:r>
                    </a:p>
                    <a:p>
                      <a:pPr algn="l">
                        <a:lnSpc>
                          <a:spcPct val="106000"/>
                        </a:lnSpc>
                        <a:spcAft>
                          <a:spcPts val="0"/>
                        </a:spcAft>
                      </a:pPr>
                      <a:r>
                        <a:rPr sz="1100" b="0">
                          <a:solidFill>
                            <a:srgbClr val="333333"/>
                          </a:solidFill>
                          <a:latin typeface="Fira Code"/>
                        </a:rPr>
                        <a:t>bool AP_AHRS::get_relative_position_NED_origin(Vector3p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switch (active_EKF_type()) {</a:t>
                      </a:r>
                    </a:p>
                    <a:p>
                      <a:pPr algn="l">
                        <a:lnSpc>
                          <a:spcPct val="106000"/>
                        </a:lnSpc>
                        <a:spcAft>
                          <a:spcPts val="0"/>
                        </a:spcAft>
                      </a:pPr>
                      <a:r>
                        <a:rPr sz="1100" b="0">
                          <a:solidFill>
                            <a:srgbClr val="333333"/>
                          </a:solidFill>
                          <a:latin typeface="Fira Code"/>
                        </a:rPr>
                        <a:t>#if AP_AHRS_DCM_ENABLED</a:t>
                      </a:r>
                    </a:p>
                    <a:p>
                      <a:pPr algn="l">
                        <a:lnSpc>
                          <a:spcPct val="106000"/>
                        </a:lnSpc>
                        <a:spcAft>
                          <a:spcPts val="0"/>
                        </a:spcAft>
                      </a:pPr>
                      <a:r>
                        <a:rPr sz="1100" b="0">
                          <a:solidFill>
                            <a:srgbClr val="333333"/>
                          </a:solidFill>
                          <a:latin typeface="Fira Code"/>
                        </a:rPr>
                        <a:t>    case EKFType::DCM:</a:t>
                      </a:r>
                    </a:p>
                    <a:p>
                      <a:pPr algn="l">
                        <a:lnSpc>
                          <a:spcPct val="106000"/>
                        </a:lnSpc>
                        <a:spcAft>
                          <a:spcPts val="0"/>
                        </a:spcAft>
                      </a:pPr>
                      <a:r>
                        <a:rPr sz="1100" b="0">
                          <a:solidFill>
                            <a:srgbClr val="333333"/>
                          </a:solidFill>
                          <a:latin typeface="Fira Code"/>
                        </a:rPr>
                        <a:t>        return dcm.get_relative_position_NED_origin(vec);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#if HAL_NAVEKF2_AVAILABLE</a:t>
                      </a:r>
                    </a:p>
                    <a:p>
                      <a:pPr algn="l">
                        <a:lnSpc>
                          <a:spcPct val="106000"/>
                        </a:lnSpc>
                        <a:spcAft>
                          <a:spcPts val="0"/>
                        </a:spcAft>
                      </a:pPr>
                      <a:r>
                        <a:rPr sz="1100" b="0">
                          <a:solidFill>
                            <a:srgbClr val="333333"/>
                          </a:solidFill>
                          <a:latin typeface="Fira Code"/>
                        </a:rPr>
                        <a:t>    case EKFType::TWO: {</a:t>
                      </a:r>
                    </a:p>
                    <a:p>
                      <a:pPr algn="l">
                        <a:lnSpc>
                          <a:spcPct val="106000"/>
                        </a:lnSpc>
                        <a:spcAft>
                          <a:spcPts val="0"/>
                        </a:spcAft>
                      </a:pPr>
                      <a:r>
                        <a:rPr sz="1100" b="0">
                          <a:solidFill>
                            <a:srgbClr val="333333"/>
                          </a:solidFill>
                          <a:latin typeface="Fira Code"/>
                        </a:rPr>
                        <a:t>        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3662-3666</a:t>
                      </a:r>
                      <a:r>
                        <a:rPr sz="1100" b="0">
                          <a:solidFill>
                            <a:srgbClr val="999999"/>
                          </a:solidFill>
                          <a:latin typeface="Fira Code"/>
                        </a:rPr>
                        <a:t>  ·  </a:t>
                      </a:r>
                      <a:r>
                        <a:rPr sz="1100" b="0">
                          <a:solidFill>
                            <a:srgbClr val="999999"/>
                          </a:solidFill>
                          <a:latin typeface="Fira Code"/>
                        </a:rPr>
                        <a:t>AP_AHRS::get_velocity_NED()</a:t>
                      </a:r>
                    </a:p>
                    <a:p>
                      <a:pPr algn="l">
                        <a:lnSpc>
                          <a:spcPct val="106000"/>
                        </a:lnSpc>
                        <a:spcAft>
                          <a:spcPts val="0"/>
                        </a:spcAft>
                      </a:pPr>
                      <a:r>
                        <a:rPr sz="1100" b="0">
                          <a:solidFill>
                            <a:srgbClr val="333333"/>
                          </a:solidFill>
                          <a:latin typeface="Fira Code"/>
                        </a:rPr>
                        <a:t>bool AP_AHRS::get_velocity_NED(Vector3f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vec = state.velocity_NED;</a:t>
                      </a:r>
                    </a:p>
                    <a:p>
                      <a:pPr algn="l">
                        <a:lnSpc>
                          <a:spcPct val="106000"/>
                        </a:lnSpc>
                        <a:spcAft>
                          <a:spcPts val="0"/>
                        </a:spcAft>
                      </a:pPr>
                      <a:r>
                        <a:rPr sz="1100" b="0">
                          <a:solidFill>
                            <a:srgbClr val="333333"/>
                          </a:solidFill>
                          <a:latin typeface="Fira Code"/>
                        </a:rPr>
                        <a:t>    return state.velocity_NED_ok;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libraries/AP_NavEKF3/AP_NavEKF3_core.cpp</a:t>
                      </a:r>
                      <a:r>
                        <a:rPr sz="1100" b="0">
                          <a:solidFill>
                            <a:srgbClr val="999999"/>
                          </a:solidFill>
                          <a:latin typeface="Fira Code"/>
                        </a:rPr>
                        <a:t>  ·  </a:t>
                      </a:r>
                      <a:r>
                        <a:rPr sz="1100" b="0">
                          <a:solidFill>
                            <a:srgbClr val="999999"/>
                          </a:solidFill>
                          <a:latin typeface="Fira Code"/>
                        </a:rPr>
                        <a:t>627-636</a:t>
                      </a:r>
                      <a:r>
                        <a:rPr sz="1100" b="0">
                          <a:solidFill>
                            <a:srgbClr val="999999"/>
                          </a:solidFill>
                          <a:latin typeface="Fira Code"/>
                        </a:rPr>
                        <a:t>  ·  </a:t>
                      </a:r>
                      <a:r>
                        <a:rPr sz="1100" b="0">
                          <a:solidFill>
                            <a:srgbClr val="999999"/>
                          </a:solidFill>
                          <a:latin typeface="Fira Code"/>
                        </a:rPr>
                        <a:t>NavEKF3_core::UpdateFilter()</a:t>
                      </a:r>
                    </a:p>
                    <a:p>
                      <a:pPr algn="l">
                        <a:lnSpc>
                          <a:spcPct val="106000"/>
                        </a:lnSpc>
                        <a:spcAft>
                          <a:spcPts val="0"/>
                        </a:spcAft>
                      </a:pPr>
                      <a:r>
                        <a:rPr sz="1100" b="0">
                          <a:solidFill>
                            <a:srgbClr val="333333"/>
                          </a:solidFill>
                          <a:latin typeface="Fira Code"/>
                        </a:rPr>
                        <a:t>void NavEKF3_core::UpdateFilter(bool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don't run filter updates if states have not been initialised</a:t>
                      </a:r>
                    </a:p>
                    <a:p>
                      <a:pPr algn="l">
                        <a:lnSpc>
                          <a:spcPct val="106000"/>
                        </a:lnSpc>
                        <a:spcAft>
                          <a:spcPts val="0"/>
                        </a:spcAft>
                      </a:pPr>
                      <a:r>
                        <a:rPr sz="1100" b="0">
                          <a:solidFill>
                            <a:srgbClr val="333333"/>
                          </a:solidFill>
                          <a:latin typeface="Fira Code"/>
                        </a:rPr>
                        <a:t>    if (!statesInitialised)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fill_scratch_variables();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libraries/AP_NavEKF3/AP_NavEKF3_PosVelFusion.cpp</a:t>
                      </a:r>
                      <a:r>
                        <a:rPr sz="1100" b="0">
                          <a:solidFill>
                            <a:srgbClr val="999999"/>
                          </a:solidFill>
                          <a:latin typeface="Fira Code"/>
                        </a:rPr>
                        <a:t>  ·  </a:t>
                      </a:r>
                      <a:r>
                        <a:rPr sz="1100" b="0">
                          <a:solidFill>
                            <a:srgbClr val="999999"/>
                          </a:solidFill>
                          <a:latin typeface="Fira Code"/>
                        </a:rPr>
                        <a:t>502-511</a:t>
                      </a:r>
                      <a:r>
                        <a:rPr sz="1100" b="0">
                          <a:solidFill>
                            <a:srgbClr val="999999"/>
                          </a:solidFill>
                          <a:latin typeface="Fira Code"/>
                        </a:rPr>
                        <a:t>  ·  </a:t>
                      </a:r>
                      <a:r>
                        <a:rPr sz="1100" b="0">
                          <a:solidFill>
                            <a:srgbClr val="999999"/>
                          </a:solidFill>
                          <a:latin typeface="Fira Code"/>
                        </a:rPr>
                        <a:t>NavEKF3_core::SelectVelPosFusion()</a:t>
                      </a:r>
                    </a:p>
                    <a:p>
                      <a:pPr algn="l">
                        <a:lnSpc>
                          <a:spcPct val="106000"/>
                        </a:lnSpc>
                        <a:spcAft>
                          <a:spcPts val="0"/>
                        </a:spcAft>
                      </a:pPr>
                      <a:r>
                        <a:rPr sz="1100" b="0">
                          <a:solidFill>
                            <a:srgbClr val="333333"/>
                          </a:solidFill>
                          <a:latin typeface="Fira Code"/>
                        </a:rPr>
                        <a:t>void NavEKF3_core::SelectVelPosFusion()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preventing fusion of other measurements</a:t>
                      </a:r>
                    </a:p>
                    <a:p>
                      <a:pPr algn="l">
                        <a:lnSpc>
                          <a:spcPct val="106000"/>
                        </a:lnSpc>
                        <a:spcAft>
                          <a:spcPts val="0"/>
                        </a:spcAft>
                      </a:pPr>
                      <a:r>
                        <a:rPr sz="1100" b="0">
                          <a:solidFill>
                            <a:srgbClr val="333333"/>
                          </a:solidFill>
                          <a:latin typeface="Fira Code"/>
                        </a:rPr>
                        <a:t>    if (magFusePerformed &amp;&amp; dtIMUavg &lt; 0.005f &amp;&amp; !posVelFusionDelayed) {</a:t>
                      </a:r>
                    </a:p>
                    <a:p>
                      <a:pPr algn="l">
                        <a:lnSpc>
                          <a:spcPct val="106000"/>
                        </a:lnSpc>
                        <a:spcAft>
                          <a:spcPts val="0"/>
                        </a:spcAft>
                      </a:pPr>
                      <a:r>
                        <a:rPr sz="1100" b="0">
                          <a:solidFill>
                            <a:srgbClr val="333333"/>
                          </a:solidFill>
                          <a:latin typeface="Fira Code"/>
                        </a:rPr>
                        <a:t>        posVelFusionDelayed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libraries/AP_NavEKF3/AP_NavEKF3_PosVelFusion.cpp</a:t>
                      </a:r>
                      <a:r>
                        <a:rPr sz="1100" b="0">
                          <a:solidFill>
                            <a:srgbClr val="999999"/>
                          </a:solidFill>
                          <a:latin typeface="Fira Code"/>
                        </a:rPr>
                        <a:t>  ·  </a:t>
                      </a:r>
                      <a:r>
                        <a:rPr sz="1100" b="0">
                          <a:solidFill>
                            <a:srgbClr val="999999"/>
                          </a:solidFill>
                          <a:latin typeface="Fira Code"/>
                        </a:rPr>
                        <a:t>694-702</a:t>
                      </a:r>
                      <a:r>
                        <a:rPr sz="1100" b="0">
                          <a:solidFill>
                            <a:srgbClr val="999999"/>
                          </a:solidFill>
                          <a:latin typeface="Fira Code"/>
                        </a:rPr>
                        <a:t>  ·  </a:t>
                      </a:r>
                      <a:r>
                        <a:rPr sz="1100" b="0">
                          <a:solidFill>
                            <a:srgbClr val="999999"/>
                          </a:solidFill>
                          <a:latin typeface="Fira Code"/>
                        </a:rPr>
                        <a:t>NavEKF3_core::FuseVelPosNED()</a:t>
                      </a:r>
                    </a:p>
                    <a:p>
                      <a:pPr algn="l">
                        <a:lnSpc>
                          <a:spcPct val="106000"/>
                        </a:lnSpc>
                        <a:spcAft>
                          <a:spcPts val="0"/>
                        </a:spcAft>
                      </a:pPr>
                      <a:r>
                        <a:rPr sz="1100" b="0">
                          <a:solidFill>
                            <a:srgbClr val="333333"/>
                          </a:solidFill>
                          <a:latin typeface="Fira Code"/>
                        </a:rPr>
                        <a:t>void NavEKF3_core::FuseVelPosNED()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declare variables used to control access to arrays</a:t>
                      </a:r>
                    </a:p>
                    <a:p>
                      <a:pPr algn="l">
                        <a:lnSpc>
                          <a:spcPct val="106000"/>
                        </a:lnSpc>
                        <a:spcAft>
                          <a:spcPts val="0"/>
                        </a:spcAft>
                      </a:pPr>
                      <a:r>
                        <a:rPr sz="1100" b="0">
                          <a:solidFill>
                            <a:srgbClr val="333333"/>
                          </a:solidFill>
                          <a:latin typeface="Fira Code"/>
                        </a:rPr>
                        <a:t>    bool fuseData[6] {};</a:t>
                      </a:r>
                    </a:p>
                    <a:p>
                      <a:pPr algn="l">
                        <a:lnSpc>
                          <a:spcPct val="106000"/>
                        </a:lnSpc>
                        <a:spcAft>
                          <a:spcPts val="0"/>
                        </a:spcAft>
                      </a:pPr>
                      <a:r>
                        <a:rPr sz="1100" b="0">
                          <a:solidFill>
                            <a:srgbClr val="333333"/>
                          </a:solidFill>
                          <a:latin typeface="Fira Code"/>
                        </a:rPr>
                        <a:t>    uint8_t stateIndex;</a:t>
                      </a:r>
                    </a:p>
                    <a:p>
                      <a:pPr algn="l">
                        <a:lnSpc>
                          <a:spcPct val="106000"/>
                        </a:lnSpc>
                        <a:spcAft>
                          <a:spcPts val="0"/>
                        </a:spcAft>
                      </a:pPr>
                      <a:r>
                        <a:rPr sz="1100" b="0">
                          <a:solidFill>
                            <a:srgbClr val="333333"/>
                          </a:solidFill>
                          <a:latin typeface="Fira Code"/>
                        </a:rPr>
                        <a:t>    uint8_t obsIndex;</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declare variables used by state and covariance update calculations</a:t>
                      </a:r>
                    </a:p>
                    <a:p>
                      <a:pPr algn="l">
                        <a:lnSpc>
                          <a:spcPct val="106000"/>
                        </a:lnSpc>
                        <a:spcAft>
                          <a:spcPts val="0"/>
                        </a:spcAft>
                      </a:pPr>
                      <a:r>
                        <a:rPr sz="1100" b="0">
                          <a:solidFill>
                            <a:srgbClr val="333333"/>
                          </a:solidFill>
                          <a:latin typeface="Fira Code"/>
                        </a:rPr>
                        <a:t>    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libraries/AP_NavEKF3/AP_NavEKF3_Measurements.cpp</a:t>
                      </a:r>
                      <a:r>
                        <a:rPr sz="1100" b="0">
                          <a:solidFill>
                            <a:srgbClr val="999999"/>
                          </a:solidFill>
                          <a:latin typeface="Fira Code"/>
                        </a:rPr>
                        <a:t>  ·  </a:t>
                      </a:r>
                      <a:r>
                        <a:rPr sz="1100" b="0">
                          <a:solidFill>
                            <a:srgbClr val="999999"/>
                          </a:solidFill>
                          <a:latin typeface="Fira Code"/>
                        </a:rPr>
                        <a:t>559-567</a:t>
                      </a:r>
                      <a:r>
                        <a:rPr sz="1100" b="0">
                          <a:solidFill>
                            <a:srgbClr val="999999"/>
                          </a:solidFill>
                          <a:latin typeface="Fira Code"/>
                        </a:rPr>
                        <a:t>  ·  </a:t>
                      </a:r>
                      <a:r>
                        <a:rPr sz="1100" b="0">
                          <a:solidFill>
                            <a:srgbClr val="999999"/>
                          </a:solidFill>
                          <a:latin typeface="Fira Code"/>
                        </a:rPr>
                        <a:t>NavEKF3_core::readGpsData()</a:t>
                      </a:r>
                    </a:p>
                    <a:p>
                      <a:pPr algn="l">
                        <a:lnSpc>
                          <a:spcPct val="106000"/>
                        </a:lnSpc>
                        <a:spcAft>
                          <a:spcPts val="0"/>
                        </a:spcAft>
                      </a:pPr>
                      <a:r>
                        <a:rPr sz="1100" b="0">
                          <a:solidFill>
                            <a:srgbClr val="333333"/>
                          </a:solidFill>
                          <a:latin typeface="Fira Code"/>
                        </a:rPr>
                        <a:t>void NavEKF3_core::readGpsData()</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for new GPS data</a:t>
                      </a:r>
                    </a:p>
                    <a:p>
                      <a:pPr algn="l">
                        <a:lnSpc>
                          <a:spcPct val="106000"/>
                        </a:lnSpc>
                        <a:spcAft>
                          <a:spcPts val="0"/>
                        </a:spcAft>
                      </a:pPr>
                      <a:r>
                        <a:rPr sz="1100" b="0">
                          <a:solidFill>
                            <a:srgbClr val="333333"/>
                          </a:solidFill>
                          <a:latin typeface="Fira Code"/>
                        </a:rPr>
                        <a:t>    const auto &amp;gps = dal.gps();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limit update rate to avoid overflowing the FIFO buffer</a:t>
                      </a:r>
                    </a:p>
                    <a:p>
                      <a:pPr algn="l">
                        <a:lnSpc>
                          <a:spcPct val="106000"/>
                        </a:lnSpc>
                        <a:spcAft>
                          <a:spcPts val="0"/>
                        </a:spcAft>
                      </a:pPr>
                      <a:r>
                        <a:rPr sz="1100" b="0">
                          <a:solidFill>
                            <a:srgbClr val="333333"/>
                          </a:solidFill>
                          <a:latin typeface="Fira Code"/>
                        </a:rPr>
                        <a:t>    if (gps.last_message_time_ms(selected_gps) - lastTimeGpsReceived_ms &lt;= frontend-&gt;sensorIntervalMin_ms)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libraries/AP_NavEKF3/AP_NavEKF3_Control.cpp</a:t>
                      </a:r>
                      <a:r>
                        <a:rPr sz="1100" b="0">
                          <a:solidFill>
                            <a:srgbClr val="999999"/>
                          </a:solidFill>
                          <a:latin typeface="Fira Code"/>
                        </a:rPr>
                        <a:t>  ·  </a:t>
                      </a:r>
                      <a:r>
                        <a:rPr sz="1100" b="0">
                          <a:solidFill>
                            <a:srgbClr val="999999"/>
                          </a:solidFill>
                          <a:latin typeface="Fira Code"/>
                        </a:rPr>
                        <a:t>232-240</a:t>
                      </a:r>
                      <a:r>
                        <a:rPr sz="1100" b="0">
                          <a:solidFill>
                            <a:srgbClr val="999999"/>
                          </a:solidFill>
                          <a:latin typeface="Fira Code"/>
                        </a:rPr>
                        <a:t>  ·  </a:t>
                      </a:r>
                      <a:r>
                        <a:rPr sz="1100" b="0">
                          <a:solidFill>
                            <a:srgbClr val="999999"/>
                          </a:solidFill>
                          <a:latin typeface="Fira Code"/>
                        </a:rPr>
                        <a:t>NavEKF3_core::setAidingMode()</a:t>
                      </a:r>
                    </a:p>
                    <a:p>
                      <a:pPr algn="l">
                        <a:lnSpc>
                          <a:spcPct val="106000"/>
                        </a:lnSpc>
                        <a:spcAft>
                          <a:spcPts val="0"/>
                        </a:spcAft>
                      </a:pPr>
                      <a:r>
                        <a:rPr sz="1100" b="0">
                          <a:solidFill>
                            <a:srgbClr val="333333"/>
                          </a:solidFill>
                          <a:latin typeface="Fira Code"/>
                        </a:rPr>
                        <a:t>void NavEKF3_core::setAidingMode()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resetDataSource posResetSource = resetDataSource::DEFAULT;</a:t>
                      </a:r>
                    </a:p>
                    <a:p>
                      <a:pPr algn="l">
                        <a:lnSpc>
                          <a:spcPct val="106000"/>
                        </a:lnSpc>
                        <a:spcAft>
                          <a:spcPts val="0"/>
                        </a:spcAft>
                      </a:pPr>
                      <a:r>
                        <a:rPr sz="1100" b="0">
                          <a:solidFill>
                            <a:srgbClr val="333333"/>
                          </a:solidFill>
                          <a:latin typeface="Fira Code"/>
                        </a:rPr>
                        <a:t>    resetDataSource velResetSource = resetDataSource::DEFAULT;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Save the previous status so we can detect when it has changed</a:t>
                      </a:r>
                    </a:p>
                    <a:p>
                      <a:pPr algn="l">
                        <a:lnSpc>
                          <a:spcPct val="106000"/>
                        </a:lnSpc>
                        <a:spcAft>
                          <a:spcPts val="0"/>
                        </a:spcAft>
                      </a:pPr>
                      <a:r>
                        <a:rPr sz="1100" b="0">
                          <a:solidFill>
                            <a:srgbClr val="333333"/>
                          </a:solidFill>
                          <a:latin typeface="Fira Code"/>
                        </a:rPr>
                        <a:t>    PV_AidingModePrev = PV_AidingMode;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libraries/AP_NavEKF3/AP_NavEKF3_MagFusion.cpp</a:t>
                      </a:r>
                      <a:r>
                        <a:rPr sz="1100" b="0">
                          <a:solidFill>
                            <a:srgbClr val="999999"/>
                          </a:solidFill>
                          <a:latin typeface="Fira Code"/>
                        </a:rPr>
                        <a:t>  ·  </a:t>
                      </a:r>
                      <a:r>
                        <a:rPr sz="1100" b="0">
                          <a:solidFill>
                            <a:srgbClr val="999999"/>
                          </a:solidFill>
                          <a:latin typeface="Fira Code"/>
                        </a:rPr>
                        <a:t>227-235</a:t>
                      </a:r>
                      <a:r>
                        <a:rPr sz="1100" b="0">
                          <a:solidFill>
                            <a:srgbClr val="999999"/>
                          </a:solidFill>
                          <a:latin typeface="Fira Code"/>
                        </a:rPr>
                        <a:t>  ·  </a:t>
                      </a:r>
                      <a:r>
                        <a:rPr sz="1100" b="0">
                          <a:solidFill>
                            <a:srgbClr val="999999"/>
                          </a:solidFill>
                          <a:latin typeface="Fira Code"/>
                        </a:rPr>
                        <a:t>NavEKF3_core::SelectMagFusion()</a:t>
                      </a:r>
                    </a:p>
                    <a:p>
                      <a:pPr algn="l">
                        <a:lnSpc>
                          <a:spcPct val="106000"/>
                        </a:lnSpc>
                        <a:spcAft>
                          <a:spcPts val="0"/>
                        </a:spcAft>
                      </a:pPr>
                      <a:r>
                        <a:rPr sz="1100" b="0">
                          <a:solidFill>
                            <a:srgbClr val="333333"/>
                          </a:solidFill>
                          <a:latin typeface="Fira Code"/>
                        </a:rPr>
                        <a:t>void NavEKF3_core::SelectMagFusion()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Fira Code"/>
                        </a:rPr>
                        <a:t>    // used for load levelling</a:t>
                      </a:r>
                    </a:p>
                    <a:p>
                      <a:pPr algn="l">
                        <a:lnSpc>
                          <a:spcPct val="106000"/>
                        </a:lnSpc>
                        <a:spcAft>
                          <a:spcPts val="0"/>
                        </a:spcAft>
                      </a:pPr>
                      <a:r>
                        <a:rPr sz="1100" b="0">
                          <a:solidFill>
                            <a:srgbClr val="333333"/>
                          </a:solidFill>
                          <a:latin typeface="Fira Code"/>
                        </a:rPr>
                        <a:t>    magFusePerformed = false;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Store yaw angle when moving for use as a static reference when not moving</a:t>
                      </a:r>
                    </a:p>
                    <a:p>
                      <a:pPr algn="l">
                        <a:lnSpc>
                          <a:spcPct val="106000"/>
                        </a:lnSpc>
                        <a:spcAft>
                          <a:spcPts val="0"/>
                        </a:spcAft>
                      </a:pPr>
                      <a:r>
                        <a:rPr sz="1100" b="0">
                          <a:solidFill>
                            <a:srgbClr val="333333"/>
                          </a:solidFill>
                          <a:latin typeface="Fira Code"/>
                        </a:rPr>
                        <a:t>    if (!onGroundNotMoving) {</a:t>
                      </a:r>
                    </a:p>
                    <a:p>
                      <a:pPr algn="l">
                        <a:lnSpc>
                          <a:spcPct val="106000"/>
                        </a:lnSpc>
                        <a:spcAft>
                          <a:spcPts val="0"/>
                        </a:spcAft>
                      </a:pPr>
                      <a:r>
                        <a:rPr sz="1100" b="0">
                          <a:solidFill>
                            <a:srgbClr val="333333"/>
                          </a:solidFill>
                          <a:latin typeface="Fira Code"/>
                        </a:rPr>
                        <a:t>        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libraries/AP_NavEKF3/AP_NavEKF3_AirDataFusion.cpp</a:t>
                      </a:r>
                      <a:r>
                        <a:rPr sz="1100" b="0">
                          <a:solidFill>
                            <a:srgbClr val="999999"/>
                          </a:solidFill>
                          <a:latin typeface="Fira Code"/>
                        </a:rPr>
                        <a:t>  ·  </a:t>
                      </a:r>
                      <a:r>
                        <a:rPr sz="1100" b="0">
                          <a:solidFill>
                            <a:srgbClr val="999999"/>
                          </a:solidFill>
                          <a:latin typeface="Fira Code"/>
                        </a:rPr>
                        <a:t>193-201</a:t>
                      </a:r>
                      <a:r>
                        <a:rPr sz="1100" b="0">
                          <a:solidFill>
                            <a:srgbClr val="999999"/>
                          </a:solidFill>
                          <a:latin typeface="Fira Code"/>
                        </a:rPr>
                        <a:t>  ·  </a:t>
                      </a:r>
                      <a:r>
                        <a:rPr sz="1100" b="0">
                          <a:solidFill>
                            <a:srgbClr val="999999"/>
                          </a:solidFill>
                          <a:latin typeface="Fira Code"/>
                        </a:rPr>
                        <a:t>NavEKF3_core::SelectTasFusion()</a:t>
                      </a:r>
                    </a:p>
                    <a:p>
                      <a:pPr algn="l">
                        <a:lnSpc>
                          <a:spcPct val="106000"/>
                        </a:lnSpc>
                        <a:spcAft>
                          <a:spcPts val="0"/>
                        </a:spcAft>
                      </a:pPr>
                      <a:r>
                        <a:rPr sz="1100" b="0">
                          <a:solidFill>
                            <a:srgbClr val="333333"/>
                          </a:solidFill>
                          <a:latin typeface="Fira Code"/>
                        </a:rPr>
                        <a:t>void NavEKF3_core::SelectTasFusion()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locking out fusion of other measurements</a:t>
                      </a:r>
                    </a:p>
                    <a:p>
                      <a:pPr algn="l">
                        <a:lnSpc>
                          <a:spcPct val="106000"/>
                        </a:lnSpc>
                        <a:spcAft>
                          <a:spcPts val="0"/>
                        </a:spcAft>
                      </a:pPr>
                      <a:r>
                        <a:rPr sz="1100" b="0">
                          <a:solidFill>
                            <a:srgbClr val="333333"/>
                          </a:solidFill>
                          <a:latin typeface="Fira Code"/>
                        </a:rPr>
                        <a:t>    if (magFusePerformed &amp;&amp; dtIMUavg &lt; 0.005f &amp;&amp; !airSpdFusionDelayed) {</a:t>
                      </a:r>
                    </a:p>
                    <a:p>
                      <a:pPr algn="l">
                        <a:lnSpc>
                          <a:spcPct val="106000"/>
                        </a:lnSpc>
                        <a:spcAft>
                          <a:spcPts val="0"/>
                        </a:spcAft>
                      </a:pPr>
                      <a:r>
                        <a:rPr sz="1100" b="0">
                          <a:solidFill>
                            <a:srgbClr val="333333"/>
                          </a:solidFill>
                          <a:latin typeface="Fira Code"/>
                        </a:rPr>
                        <a:t>        airSpdFusionDelayed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libraries/AP_NavEKF3/AP_NavEKF3_OptFlowFusion.cpp</a:t>
                      </a:r>
                      <a:r>
                        <a:rPr sz="1100" b="0">
                          <a:solidFill>
                            <a:srgbClr val="999999"/>
                          </a:solidFill>
                          <a:latin typeface="Fira Code"/>
                        </a:rPr>
                        <a:t>  ·  </a:t>
                      </a:r>
                      <a:r>
                        <a:rPr sz="1100" b="0">
                          <a:solidFill>
                            <a:srgbClr val="999999"/>
                          </a:solidFill>
                          <a:latin typeface="Fira Code"/>
                        </a:rPr>
                        <a:t>21-29</a:t>
                      </a:r>
                      <a:r>
                        <a:rPr sz="1100" b="0">
                          <a:solidFill>
                            <a:srgbClr val="999999"/>
                          </a:solidFill>
                          <a:latin typeface="Fira Code"/>
                        </a:rPr>
                        <a:t>  ·  </a:t>
                      </a:r>
                      <a:r>
                        <a:rPr sz="1100" b="0">
                          <a:solidFill>
                            <a:srgbClr val="999999"/>
                          </a:solidFill>
                          <a:latin typeface="Fira Code"/>
                        </a:rPr>
                        <a:t>NavEKF3_core::SelectFlowFusion()</a:t>
                      </a:r>
                    </a:p>
                    <a:p>
                      <a:pPr algn="l">
                        <a:lnSpc>
                          <a:spcPct val="106000"/>
                        </a:lnSpc>
                        <a:spcAft>
                          <a:spcPts val="0"/>
                        </a:spcAft>
                      </a:pPr>
                      <a:r>
                        <a:rPr sz="1100" b="0">
                          <a:solidFill>
                            <a:srgbClr val="333333"/>
                          </a:solidFill>
                          <a:latin typeface="Fira Code"/>
                        </a:rPr>
                        <a:t>void NavEKF3_core::SelectFlowFusion()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preventing fusion of other measurements</a:t>
                      </a:r>
                    </a:p>
                    <a:p>
                      <a:pPr algn="l">
                        <a:lnSpc>
                          <a:spcPct val="106000"/>
                        </a:lnSpc>
                        <a:spcAft>
                          <a:spcPts val="0"/>
                        </a:spcAft>
                      </a:pPr>
                      <a:r>
                        <a:rPr sz="1100" b="0">
                          <a:solidFill>
                            <a:srgbClr val="333333"/>
                          </a:solidFill>
                          <a:latin typeface="Fira Code"/>
                        </a:rPr>
                        <a:t>    if (magFusePerformed &amp;&amp; dtIMUavg &lt; 0.005f &amp;&amp; !optFlowFusionDelayed) {</a:t>
                      </a:r>
                    </a:p>
                    <a:p>
                      <a:pPr algn="l">
                        <a:lnSpc>
                          <a:spcPct val="106000"/>
                        </a:lnSpc>
                        <a:spcAft>
                          <a:spcPts val="0"/>
                        </a:spcAft>
                      </a:pPr>
                      <a:r>
                        <a:rPr sz="1100" b="0">
                          <a:solidFill>
                            <a:srgbClr val="333333"/>
                          </a:solidFill>
                          <a:latin typeface="Fira Code"/>
                        </a:rPr>
                        <a:t>        optFlowFusionDelayed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libraries/AP_NavEKF3/AP_NavEKF3_Outputs.cpp</a:t>
                      </a:r>
                      <a:r>
                        <a:rPr sz="1100" b="0">
                          <a:solidFill>
                            <a:srgbClr val="999999"/>
                          </a:solidFill>
                          <a:latin typeface="Fira Code"/>
                        </a:rPr>
                        <a:t>  ·  </a:t>
                      </a:r>
                      <a:r>
                        <a:rPr sz="1100" b="0">
                          <a:solidFill>
                            <a:srgbClr val="999999"/>
                          </a:solidFill>
                          <a:latin typeface="Fira Code"/>
                        </a:rPr>
                        <a:t>326-334</a:t>
                      </a:r>
                      <a:r>
                        <a:rPr sz="1100" b="0">
                          <a:solidFill>
                            <a:srgbClr val="999999"/>
                          </a:solidFill>
                          <a:latin typeface="Fira Code"/>
                        </a:rPr>
                        <a:t>  ·  </a:t>
                      </a:r>
                      <a:r>
                        <a:rPr sz="1100" b="0">
                          <a:solidFill>
                            <a:srgbClr val="999999"/>
                          </a:solidFill>
                          <a:latin typeface="Fira Code"/>
                        </a:rPr>
                        <a:t>NavEKF3_core::getLLH()</a:t>
                      </a:r>
                    </a:p>
                    <a:p>
                      <a:pPr algn="l">
                        <a:lnSpc>
                          <a:spcPct val="106000"/>
                        </a:lnSpc>
                        <a:spcAft>
                          <a:spcPts val="0"/>
                        </a:spcAft>
                      </a:pPr>
                      <a:r>
                        <a:rPr sz="1100" b="0">
                          <a:solidFill>
                            <a:srgbClr val="333333"/>
                          </a:solidFill>
                          <a:latin typeface="Fira Code"/>
                        </a:rPr>
                        <a:t>bool NavEKF3_core::getLLH(Location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Location origin;</a:t>
                      </a:r>
                    </a:p>
                    <a:p>
                      <a:pPr algn="l">
                        <a:lnSpc>
                          <a:spcPct val="106000"/>
                        </a:lnSpc>
                        <a:spcAft>
                          <a:spcPts val="0"/>
                        </a:spcAft>
                      </a:pPr>
                      <a:r>
                        <a:rPr sz="1100" b="0">
                          <a:solidFill>
                            <a:srgbClr val="333333"/>
                          </a:solidFill>
                          <a:latin typeface="Fira Code"/>
                        </a:rPr>
                        <a:t>    if (getOriginLLH(origin)) {</a:t>
                      </a:r>
                    </a:p>
                    <a:p>
                      <a:pPr algn="l">
                        <a:lnSpc>
                          <a:spcPct val="106000"/>
                        </a:lnSpc>
                        <a:spcAft>
                          <a:spcPts val="0"/>
                        </a:spcAft>
                      </a:pPr>
                      <a:r>
                        <a:rPr sz="1100" b="0">
                          <a:solidFill>
                            <a:srgbClr val="333333"/>
                          </a:solidFill>
                          <a:latin typeface="Fira Code"/>
                        </a:rPr>
                        <a:t>        postype_t posD;</a:t>
                      </a:r>
                    </a:p>
                    <a:p>
                      <a:pPr algn="l">
                        <a:lnSpc>
                          <a:spcPct val="106000"/>
                        </a:lnSpc>
                        <a:spcAft>
                          <a:spcPts val="0"/>
                        </a:spcAft>
                      </a:pPr>
                      <a:r>
                        <a:rPr sz="1100" b="0">
                          <a:solidFill>
                            <a:srgbClr val="333333"/>
                          </a:solidFill>
                          <a:latin typeface="Fira Code"/>
                        </a:rPr>
                        <a:t>        if (getPosD_local(posD) &amp;&amp; PV_AidingMode != AID_NONE) {</a:t>
                      </a:r>
                    </a:p>
                    <a:p>
                      <a:pPr algn="l">
                        <a:lnSpc>
                          <a:spcPct val="106000"/>
                        </a:lnSpc>
                        <a:spcAft>
                          <a:spcPts val="0"/>
                        </a:spcAft>
                      </a:pPr>
                      <a:r>
                        <a:rPr sz="1100" b="0">
                          <a:solidFill>
                            <a:srgbClr val="333333"/>
                          </a:solidFill>
                          <a:latin typeface="Fira Code"/>
                        </a:rPr>
                        <a:t>            // Altitude returned is an absolute altitude relative to the WGS-84 spherioid</a:t>
                      </a:r>
                    </a:p>
                    <a:p>
                      <a:pPr algn="l">
                        <a:lnSpc>
                          <a:spcPct val="106000"/>
                        </a:lnSpc>
                        <a:spcAft>
                          <a:spcPts val="0"/>
                        </a:spcAft>
                      </a:pPr>
                      <a:r>
                        <a:rPr sz="1100" b="0">
                          <a:solidFill>
                            <a:srgbClr val="333333"/>
                          </a:solidFill>
                          <a:latin typeface="Fira Code"/>
                        </a:rPr>
                        <a:t>            loc.set_alt_cm(origin.alt - posD*100.0, Location::AltFrame::ABSOLUTE);</a:t>
                      </a:r>
                    </a:p>
                    <a:p>
                      <a:pPr algn="l">
                        <a:lnSpc>
                          <a:spcPct val="106000"/>
                        </a:lnSpc>
                        <a:spcAft>
                          <a:spcPts val="0"/>
                        </a:spcAft>
                      </a:pPr>
                      <a:r>
                        <a:rPr sz="1100" b="0">
                          <a:solidFill>
                            <a:srgbClr val="333333"/>
                          </a:solidFill>
                          <a:latin typeface="Fira Code"/>
                        </a:rPr>
                        <a:t>            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libraries/AP_NavEKF3/AP_NavEKF3_VehicleStatus.cpp</a:t>
                      </a:r>
                      <a:r>
                        <a:rPr sz="1100" b="0">
                          <a:solidFill>
                            <a:srgbClr val="999999"/>
                          </a:solidFill>
                          <a:latin typeface="Fira Code"/>
                        </a:rPr>
                        <a:t>  ·  </a:t>
                      </a:r>
                      <a:r>
                        <a:rPr sz="1100" b="0">
                          <a:solidFill>
                            <a:srgbClr val="999999"/>
                          </a:solidFill>
                          <a:latin typeface="Fira Code"/>
                        </a:rPr>
                        <a:t>14-22</a:t>
                      </a:r>
                      <a:r>
                        <a:rPr sz="1100" b="0">
                          <a:solidFill>
                            <a:srgbClr val="999999"/>
                          </a:solidFill>
                          <a:latin typeface="Fira Code"/>
                        </a:rPr>
                        <a:t>  ·  </a:t>
                      </a:r>
                      <a:r>
                        <a:rPr sz="1100" b="0">
                          <a:solidFill>
                            <a:srgbClr val="999999"/>
                          </a:solidFill>
                          <a:latin typeface="Fira Code"/>
                        </a:rPr>
                        <a:t>NavEKF3_core::calcGpsGoodToAlign()</a:t>
                      </a:r>
                    </a:p>
                    <a:p>
                      <a:pPr algn="l">
                        <a:lnSpc>
                          <a:spcPct val="106000"/>
                        </a:lnSpc>
                        <a:spcAft>
                          <a:spcPts val="0"/>
                        </a:spcAft>
                      </a:pPr>
                      <a:r>
                        <a:rPr sz="1100" b="0">
                          <a:solidFill>
                            <a:srgbClr val="333333"/>
                          </a:solidFill>
                          <a:latin typeface="Fira Code"/>
                        </a:rPr>
                        <a:t>void NavEKF3_core::calcGpsGoodToAlign(void)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(inFlight &amp;&amp; !finalInflightYawInit &amp;&amp; assume_zero_sideslip() &amp;&amp; !use_compass()) {</a:t>
                      </a:r>
                    </a:p>
                    <a:p>
                      <a:pPr algn="l">
                        <a:lnSpc>
                          <a:spcPct val="106000"/>
                        </a:lnSpc>
                        <a:spcAft>
                          <a:spcPts val="0"/>
                        </a:spcAft>
                      </a:pPr>
                      <a:r>
                        <a:rPr sz="1100" b="0">
                          <a:solidFill>
                            <a:srgbClr val="333333"/>
                          </a:solidFill>
                          <a:latin typeface="Fira Code"/>
                        </a:rPr>
                        <a:t>        // this is a special case where a plane has launched without magnetometer</a:t>
                      </a:r>
                    </a:p>
                    <a:p>
                      <a:pPr algn="l">
                        <a:lnSpc>
                          <a:spcPct val="106000"/>
                        </a:lnSpc>
                        <a:spcAft>
                          <a:spcPts val="0"/>
                        </a:spcAft>
                      </a:pPr>
                      <a:r>
                        <a:rPr sz="1100" b="0">
                          <a:solidFill>
                            <a:srgbClr val="333333"/>
                          </a:solidFill>
                          <a:latin typeface="Fira Code"/>
                        </a:rPr>
                        <a:t>        // is now in the air and needs to align yaw to the GPS and start navigating as soon as possible</a:t>
                      </a:r>
                    </a:p>
                    <a:p>
                      <a:pPr algn="l">
                        <a:lnSpc>
                          <a:spcPct val="106000"/>
                        </a:lnSpc>
                        <a:spcAft>
                          <a:spcPts val="0"/>
                        </a:spcAft>
                      </a:pPr>
                      <a:r>
                        <a:rPr sz="1100" b="0">
                          <a:solidFill>
                            <a:srgbClr val="333333"/>
                          </a:solidFill>
                          <a:latin typeface="Fira Code"/>
                        </a:rPr>
                        <a:t>        gpsGoodToAlign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libraries/AP_NavEKF3/AP_NavEKF3_GyroBias.cpp</a:t>
                      </a:r>
                      <a:r>
                        <a:rPr sz="1100" b="0">
                          <a:solidFill>
                            <a:srgbClr val="999999"/>
                          </a:solidFill>
                          <a:latin typeface="Fira Code"/>
                        </a:rPr>
                        <a:t>  ·  </a:t>
                      </a:r>
                      <a:r>
                        <a:rPr sz="1100" b="0">
                          <a:solidFill>
                            <a:srgbClr val="999999"/>
                          </a:solidFill>
                          <a:latin typeface="Fira Code"/>
                        </a:rPr>
                        <a:t>6-13</a:t>
                      </a:r>
                      <a:r>
                        <a:rPr sz="1100" b="0">
                          <a:solidFill>
                            <a:srgbClr val="999999"/>
                          </a:solidFill>
                          <a:latin typeface="Fira Code"/>
                        </a:rPr>
                        <a:t>  ·  </a:t>
                      </a:r>
                      <a:r>
                        <a:rPr sz="1100" b="0">
                          <a:solidFill>
                            <a:srgbClr val="999999"/>
                          </a:solidFill>
                          <a:latin typeface="Fira Code"/>
                        </a:rPr>
                        <a:t>NavEKF3_core::resetGyroBias()</a:t>
                      </a:r>
                    </a:p>
                    <a:p>
                      <a:pPr algn="l">
                        <a:lnSpc>
                          <a:spcPct val="106000"/>
                        </a:lnSpc>
                        <a:spcAft>
                          <a:spcPts val="0"/>
                        </a:spcAft>
                      </a:pPr>
                      <a:r>
                        <a:rPr sz="1100" b="0">
                          <a:solidFill>
                            <a:srgbClr val="333333"/>
                          </a:solidFill>
                          <a:latin typeface="Fira Code"/>
                        </a:rPr>
                        <a:t>void NavEKF3_core::resetGyroBias(void)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stateStruct.gyro_bias.zero();</a:t>
                      </a:r>
                    </a:p>
                    <a:p>
                      <a:pPr algn="l">
                        <a:lnSpc>
                          <a:spcPct val="106000"/>
                        </a:lnSpc>
                        <a:spcAft>
                          <a:spcPts val="0"/>
                        </a:spcAft>
                      </a:pPr>
                      <a:r>
                        <a:rPr sz="1100" b="0">
                          <a:solidFill>
                            <a:srgbClr val="333333"/>
                          </a:solidFill>
                          <a:latin typeface="Fira Code"/>
                        </a:rPr>
                        <a:t>    zeroRows(P,10,12);</a:t>
                      </a:r>
                    </a:p>
                    <a:p>
                      <a:pPr algn="l">
                        <a:lnSpc>
                          <a:spcPct val="106000"/>
                        </a:lnSpc>
                        <a:spcAft>
                          <a:spcPts val="0"/>
                        </a:spcAft>
                      </a:pPr>
                      <a:r>
                        <a:rPr sz="1100" b="0">
                          <a:solidFill>
                            <a:srgbClr val="333333"/>
                          </a:solidFill>
                          <a:latin typeface="Fira Code"/>
                        </a:rPr>
                        <a:t>    zeroCols(P,10,12);</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P[10][10] = sq(radians(0.5f * dtIMUavg));</a:t>
                      </a:r>
                    </a:p>
                    <a:p>
                      <a:pPr algn="l">
                        <a:lnSpc>
                          <a:spcPct val="106000"/>
                        </a:lnSpc>
                        <a:spcAft>
                          <a:spcPts val="0"/>
                        </a:spcAft>
                      </a:pPr>
                      <a:r>
                        <a:rPr sz="1100" b="0">
                          <a:solidFill>
                            <a:srgbClr val="333333"/>
                          </a:solidFill>
                          <a:latin typeface="Fira Code"/>
                        </a:rPr>
                        <a:t>    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libraries/AP_NavEKF3/AP_NavEKF3_RngBcnFusion.cpp</a:t>
                      </a:r>
                      <a:r>
                        <a:rPr sz="1100" b="0">
                          <a:solidFill>
                            <a:srgbClr val="999999"/>
                          </a:solidFill>
                          <a:latin typeface="Fira Code"/>
                        </a:rPr>
                        <a:t>  ·  </a:t>
                      </a:r>
                      <a:r>
                        <a:rPr sz="1100" b="0">
                          <a:solidFill>
                            <a:srgbClr val="999999"/>
                          </a:solidFill>
                          <a:latin typeface="Fira Code"/>
                        </a:rPr>
                        <a:t>95-103</a:t>
                      </a:r>
                      <a:r>
                        <a:rPr sz="1100" b="0">
                          <a:solidFill>
                            <a:srgbClr val="999999"/>
                          </a:solidFill>
                          <a:latin typeface="Fira Code"/>
                        </a:rPr>
                        <a:t>  ·  </a:t>
                      </a:r>
                      <a:r>
                        <a:rPr sz="1100" b="0">
                          <a:solidFill>
                            <a:srgbClr val="999999"/>
                          </a:solidFill>
                          <a:latin typeface="Fira Code"/>
                        </a:rPr>
                        <a:t>NavEKF3_core::FuseRngBcn()</a:t>
                      </a:r>
                    </a:p>
                    <a:p>
                      <a:pPr algn="l">
                        <a:lnSpc>
                          <a:spcPct val="106000"/>
                        </a:lnSpc>
                        <a:spcAft>
                          <a:spcPts val="0"/>
                        </a:spcAft>
                      </a:pPr>
                      <a:r>
                        <a:rPr sz="1100" b="0">
                          <a:solidFill>
                            <a:srgbClr val="333333"/>
                          </a:solidFill>
                          <a:latin typeface="Fira Code"/>
                        </a:rPr>
                        <a:t>void NavEKF3_core::FuseRngBcn()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declarations</a:t>
                      </a:r>
                    </a:p>
                    <a:p>
                      <a:pPr algn="l">
                        <a:lnSpc>
                          <a:spcPct val="106000"/>
                        </a:lnSpc>
                        <a:spcAft>
                          <a:spcPts val="0"/>
                        </a:spcAft>
                      </a:pPr>
                      <a:r>
                        <a:rPr sz="1100" b="0">
                          <a:solidFill>
                            <a:srgbClr val="333333"/>
                          </a:solidFill>
                          <a:latin typeface="Fira Code"/>
                        </a:rPr>
                        <a:t>    ftype pn;</a:t>
                      </a:r>
                    </a:p>
                    <a:p>
                      <a:pPr algn="l">
                        <a:lnSpc>
                          <a:spcPct val="106000"/>
                        </a:lnSpc>
                        <a:spcAft>
                          <a:spcPts val="0"/>
                        </a:spcAft>
                      </a:pPr>
                      <a:r>
                        <a:rPr sz="1100" b="0">
                          <a:solidFill>
                            <a:srgbClr val="333333"/>
                          </a:solidFill>
                          <a:latin typeface="Fira Code"/>
                        </a:rPr>
                        <a:t>    ftype pe;</a:t>
                      </a:r>
                    </a:p>
                    <a:p>
                      <a:pPr algn="l">
                        <a:lnSpc>
                          <a:spcPct val="106000"/>
                        </a:lnSpc>
                        <a:spcAft>
                          <a:spcPts val="0"/>
                        </a:spcAft>
                      </a:pPr>
                      <a:r>
                        <a:rPr sz="1100" b="0">
                          <a:solidFill>
                            <a:srgbClr val="333333"/>
                          </a:solidFill>
                          <a:latin typeface="Fira Code"/>
                        </a:rPr>
                        <a:t>    ftype pd;</a:t>
                      </a:r>
                    </a:p>
                    <a:p>
                      <a:pPr algn="l">
                        <a:lnSpc>
                          <a:spcPct val="106000"/>
                        </a:lnSpc>
                        <a:spcAft>
                          <a:spcPts val="0"/>
                        </a:spcAft>
                      </a:pPr>
                      <a:r>
                        <a:rPr sz="1100" b="0">
                          <a:solidFill>
                            <a:srgbClr val="333333"/>
                          </a:solidFill>
                          <a:latin typeface="Fira Code"/>
                        </a:rPr>
                        <a:t>    ftype bcn_pn;</a:t>
                      </a:r>
                    </a:p>
                    <a:p>
                      <a:pPr algn="l">
                        <a:lnSpc>
                          <a:spcPct val="106000"/>
                        </a:lnSpc>
                        <a:spcAft>
                          <a:spcPts val="0"/>
                        </a:spcAft>
                      </a:pPr>
                      <a:r>
                        <a:rPr sz="1100" b="0">
                          <a:solidFill>
                            <a:srgbClr val="333333"/>
                          </a:solidFill>
                          <a:latin typeface="Fira Code"/>
                        </a:rPr>
                        <a:t>    ftype bcn_pe;</a:t>
                      </a:r>
                    </a:p>
                    <a:p>
                      <a:pPr algn="l">
                        <a:lnSpc>
                          <a:spcPct val="106000"/>
                        </a:lnSpc>
                        <a:spcAft>
                          <a:spcPts val="0"/>
                        </a:spcAft>
                      </a:pPr>
                      <a:r>
                        <a:rPr sz="1100" b="0">
                          <a:solidFill>
                            <a:srgbClr val="333333"/>
                          </a:solidFill>
                          <a:latin typeface="Fira Code"/>
                        </a:rPr>
                        <a:t>    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libraries/AP_NavEKF3/AP_NavEKF3_Logging.cpp</a:t>
                      </a:r>
                      <a:r>
                        <a:rPr sz="1100" b="0">
                          <a:solidFill>
                            <a:srgbClr val="999999"/>
                          </a:solidFill>
                          <a:latin typeface="Fira Code"/>
                        </a:rPr>
                        <a:t>  ·  </a:t>
                      </a:r>
                      <a:r>
                        <a:rPr sz="1100" b="0">
                          <a:solidFill>
                            <a:srgbClr val="999999"/>
                          </a:solidFill>
                          <a:latin typeface="Fira Code"/>
                        </a:rPr>
                        <a:t>15-23</a:t>
                      </a:r>
                      <a:r>
                        <a:rPr sz="1100" b="0">
                          <a:solidFill>
                            <a:srgbClr val="999999"/>
                          </a:solidFill>
                          <a:latin typeface="Fira Code"/>
                        </a:rPr>
                        <a:t>  ·  </a:t>
                      </a:r>
                      <a:r>
                        <a:rPr sz="1100" b="0">
                          <a:solidFill>
                            <a:srgbClr val="999999"/>
                          </a:solidFill>
                          <a:latin typeface="Fira Code"/>
                        </a:rPr>
                        <a:t>NavEKF3_core::Log_Write_XKF1()</a:t>
                      </a:r>
                    </a:p>
                    <a:p>
                      <a:pPr algn="l">
                        <a:lnSpc>
                          <a:spcPct val="106000"/>
                        </a:lnSpc>
                        <a:spcAft>
                          <a:spcPts val="0"/>
                        </a:spcAft>
                      </a:pPr>
                      <a:r>
                        <a:rPr sz="1100" b="0">
                          <a:solidFill>
                            <a:srgbClr val="333333"/>
                          </a:solidFill>
                          <a:latin typeface="Fira Code"/>
                        </a:rPr>
                        <a:t>void NavEKF3_core::Log_Write_XKF1(uint64_t time_us)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Write first EKF packet</a:t>
                      </a:r>
                    </a:p>
                    <a:p>
                      <a:pPr algn="l">
                        <a:lnSpc>
                          <a:spcPct val="106000"/>
                        </a:lnSpc>
                        <a:spcAft>
                          <a:spcPts val="0"/>
                        </a:spcAft>
                      </a:pPr>
                      <a:r>
                        <a:rPr sz="1100" b="0">
                          <a:solidFill>
                            <a:srgbClr val="333333"/>
                          </a:solidFill>
                          <a:latin typeface="Fira Code"/>
                        </a:rPr>
                        <a:t>    Vector3f euler;</a:t>
                      </a:r>
                    </a:p>
                    <a:p>
                      <a:pPr algn="l">
                        <a:lnSpc>
                          <a:spcPct val="106000"/>
                        </a:lnSpc>
                        <a:spcAft>
                          <a:spcPts val="0"/>
                        </a:spcAft>
                      </a:pPr>
                      <a:r>
                        <a:rPr sz="1100" b="0">
                          <a:solidFill>
                            <a:srgbClr val="333333"/>
                          </a:solidFill>
                          <a:latin typeface="Fira Code"/>
                        </a:rPr>
                        <a:t>    Vector2p posNE;</a:t>
                      </a:r>
                    </a:p>
                    <a:p>
                      <a:pPr algn="l">
                        <a:lnSpc>
                          <a:spcPct val="106000"/>
                        </a:lnSpc>
                        <a:spcAft>
                          <a:spcPts val="0"/>
                        </a:spcAft>
                      </a:pPr>
                      <a:r>
                        <a:rPr sz="1100" b="0">
                          <a:solidFill>
                            <a:srgbClr val="333333"/>
                          </a:solidFill>
                          <a:latin typeface="Fira Code"/>
                        </a:rPr>
                        <a:t>    postype_t posD;</a:t>
                      </a:r>
                    </a:p>
                    <a:p>
                      <a:pPr algn="l">
                        <a:lnSpc>
                          <a:spcPct val="106000"/>
                        </a:lnSpc>
                        <a:spcAft>
                          <a:spcPts val="0"/>
                        </a:spcAft>
                      </a:pPr>
                      <a:r>
                        <a:rPr sz="1100" b="0">
                          <a:solidFill>
                            <a:srgbClr val="333333"/>
                          </a:solidFill>
                          <a:latin typeface="Fira Code"/>
                        </a:rPr>
                        <a:t>    Vector3f velNED;</a:t>
                      </a:r>
                    </a:p>
                    <a:p>
                      <a:pPr algn="l">
                        <a:lnSpc>
                          <a:spcPct val="106000"/>
                        </a:lnSpc>
                        <a:spcAft>
                          <a:spcPts val="0"/>
                        </a:spcAft>
                      </a:pPr>
                      <a:r>
                        <a:rPr sz="1100" b="0">
                          <a:solidFill>
                            <a:srgbClr val="333333"/>
                          </a:solidFill>
                          <a:latin typeface="Fira Code"/>
                        </a:rPr>
                        <a:t>    Vector3f gyroBias;</a:t>
                      </a:r>
                    </a:p>
                    <a:p>
                      <a:pPr algn="l">
                        <a:lnSpc>
                          <a:spcPct val="106000"/>
                        </a:lnSpc>
                        <a:spcAft>
                          <a:spcPts val="0"/>
                        </a:spcAft>
                      </a:pPr>
                      <a:r>
                        <a:rPr sz="1100" b="0">
                          <a:solidFill>
                            <a:srgbClr val="333333"/>
                          </a:solidFill>
                          <a:latin typeface="Fira Code"/>
                        </a:rPr>
                        <a:t>    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libraries/AP_NavEKF3/AP_NavEKF3.cpp</a:t>
                      </a:r>
                      <a:r>
                        <a:rPr sz="1100" b="0">
                          <a:solidFill>
                            <a:srgbClr val="999999"/>
                          </a:solidFill>
                          <a:latin typeface="Fira Code"/>
                        </a:rPr>
                        <a:t>  ·  </a:t>
                      </a:r>
                      <a:r>
                        <a:rPr sz="1100" b="0">
                          <a:solidFill>
                            <a:srgbClr val="999999"/>
                          </a:solidFill>
                          <a:latin typeface="Fira Code"/>
                        </a:rPr>
                        <a:t>1846-1854</a:t>
                      </a:r>
                      <a:r>
                        <a:rPr sz="1100" b="0">
                          <a:solidFill>
                            <a:srgbClr val="999999"/>
                          </a:solidFill>
                          <a:latin typeface="Fira Code"/>
                        </a:rPr>
                        <a:t>  ·  </a:t>
                      </a:r>
                      <a:r>
                        <a:rPr sz="1100" b="0">
                          <a:solidFill>
                            <a:srgbClr val="999999"/>
                          </a:solidFill>
                          <a:latin typeface="Fira Code"/>
                        </a:rPr>
                        <a:t>NavEKF3::getFilterStatus()</a:t>
                      </a:r>
                    </a:p>
                    <a:p>
                      <a:pPr algn="l">
                        <a:lnSpc>
                          <a:spcPct val="106000"/>
                        </a:lnSpc>
                        <a:spcAft>
                          <a:spcPts val="0"/>
                        </a:spcAft>
                      </a:pPr>
                      <a:r>
                        <a:rPr sz="1100" b="0">
                          <a:solidFill>
                            <a:srgbClr val="333333"/>
                          </a:solidFill>
                          <a:latin typeface="Fira Code"/>
                        </a:rPr>
                        <a:t>void NavEKF3::getFilterStatus(nav_filter_status &amp;status)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(core) {</a:t>
                      </a:r>
                    </a:p>
                    <a:p>
                      <a:pPr algn="l">
                        <a:lnSpc>
                          <a:spcPct val="106000"/>
                        </a:lnSpc>
                        <a:spcAft>
                          <a:spcPts val="0"/>
                        </a:spcAft>
                      </a:pPr>
                      <a:r>
                        <a:rPr sz="1100" b="0">
                          <a:solidFill>
                            <a:srgbClr val="333333"/>
                          </a:solidFill>
                          <a:latin typeface="Fira Code"/>
                        </a:rPr>
                        <a:t>        core[primary].getFilterStatus(status);</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memset(&amp;status, 0, sizeof(status));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libraries/AP_NavEKF2/AP_NavEKF2_core.cpp</a:t>
                      </a:r>
                      <a:r>
                        <a:rPr sz="1100" b="0">
                          <a:solidFill>
                            <a:srgbClr val="999999"/>
                          </a:solidFill>
                          <a:latin typeface="Fira Code"/>
                        </a:rPr>
                        <a:t>  ·  </a:t>
                      </a:r>
                      <a:r>
                        <a:rPr sz="1100" b="0">
                          <a:solidFill>
                            <a:srgbClr val="999999"/>
                          </a:solidFill>
                          <a:latin typeface="Fira Code"/>
                        </a:rPr>
                        <a:t>528-536</a:t>
                      </a:r>
                      <a:r>
                        <a:rPr sz="1100" b="0">
                          <a:solidFill>
                            <a:srgbClr val="999999"/>
                          </a:solidFill>
                          <a:latin typeface="Fira Code"/>
                        </a:rPr>
                        <a:t>  ·  </a:t>
                      </a:r>
                      <a:r>
                        <a:rPr sz="1100" b="0">
                          <a:solidFill>
                            <a:srgbClr val="999999"/>
                          </a:solidFill>
                          <a:latin typeface="Fira Code"/>
                        </a:rPr>
                        <a:t>NavEKF2_core::UpdateFilter()</a:t>
                      </a:r>
                    </a:p>
                    <a:p>
                      <a:pPr algn="l">
                        <a:lnSpc>
                          <a:spcPct val="106000"/>
                        </a:lnSpc>
                        <a:spcAft>
                          <a:spcPts val="0"/>
                        </a:spcAft>
                      </a:pPr>
                      <a:r>
                        <a:rPr sz="1100" b="0">
                          <a:solidFill>
                            <a:srgbClr val="333333"/>
                          </a:solidFill>
                          <a:latin typeface="Fira Code"/>
                        </a:rPr>
                        <a:t>void NavEKF2_core::UpdateFilter(bool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Fira Code"/>
                        </a:rPr>
                        <a:t>    startPredictEnabled = predict;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don't run filter updates if states have not been initialised</a:t>
                      </a:r>
                    </a:p>
                    <a:p>
                      <a:pPr algn="l">
                        <a:lnSpc>
                          <a:spcPct val="106000"/>
                        </a:lnSpc>
                        <a:spcAft>
                          <a:spcPts val="0"/>
                        </a:spcAft>
                      </a:pPr>
                      <a:r>
                        <a:rPr sz="1100" b="0">
                          <a:solidFill>
                            <a:srgbClr val="333333"/>
                          </a:solidFill>
                          <a:latin typeface="Fira Code"/>
                        </a:rPr>
                        <a:t>    if (!statesInitialised)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libraries/AP_NavEKF2/AP_NavEKF2_PosVelFusion.cpp</a:t>
                      </a:r>
                      <a:r>
                        <a:rPr sz="1100" b="0">
                          <a:solidFill>
                            <a:srgbClr val="999999"/>
                          </a:solidFill>
                          <a:latin typeface="Fira Code"/>
                        </a:rPr>
                        <a:t>  ·  </a:t>
                      </a:r>
                      <a:r>
                        <a:rPr sz="1100" b="0">
                          <a:solidFill>
                            <a:srgbClr val="999999"/>
                          </a:solidFill>
                          <a:latin typeface="Fira Code"/>
                        </a:rPr>
                        <a:t>560-568</a:t>
                      </a:r>
                      <a:r>
                        <a:rPr sz="1100" b="0">
                          <a:solidFill>
                            <a:srgbClr val="999999"/>
                          </a:solidFill>
                          <a:latin typeface="Fira Code"/>
                        </a:rPr>
                        <a:t>  ·  </a:t>
                      </a:r>
                      <a:r>
                        <a:rPr sz="1100" b="0">
                          <a:solidFill>
                            <a:srgbClr val="999999"/>
                          </a:solidFill>
                          <a:latin typeface="Fira Code"/>
                        </a:rPr>
                        <a:t>NavEKF2_core::FuseVelPosNED()</a:t>
                      </a:r>
                    </a:p>
                    <a:p>
                      <a:pPr algn="l">
                        <a:lnSpc>
                          <a:spcPct val="106000"/>
                        </a:lnSpc>
                        <a:spcAft>
                          <a:spcPts val="0"/>
                        </a:spcAft>
                      </a:pPr>
                      <a:r>
                        <a:rPr sz="1100" b="0">
                          <a:solidFill>
                            <a:srgbClr val="333333"/>
                          </a:solidFill>
                          <a:latin typeface="Fira Code"/>
                        </a:rPr>
                        <a:t>void NavEKF2_core::FuseVelPosNED()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health is set bad until test passed</a:t>
                      </a:r>
                    </a:p>
                    <a:p>
                      <a:pPr algn="l">
                        <a:lnSpc>
                          <a:spcPct val="106000"/>
                        </a:lnSpc>
                        <a:spcAft>
                          <a:spcPts val="0"/>
                        </a:spcAft>
                      </a:pPr>
                      <a:r>
                        <a:rPr sz="1100" b="0">
                          <a:solidFill>
                            <a:srgbClr val="333333"/>
                          </a:solidFill>
                          <a:latin typeface="Fira Code"/>
                        </a:rPr>
                        <a:t>    bool velHealth = false;                 // boolean true if velocity measurements have passed innovation consistency check</a:t>
                      </a:r>
                    </a:p>
                    <a:p>
                      <a:pPr algn="l">
                        <a:lnSpc>
                          <a:spcPct val="106000"/>
                        </a:lnSpc>
                        <a:spcAft>
                          <a:spcPts val="0"/>
                        </a:spcAft>
                      </a:pPr>
                      <a:r>
                        <a:rPr sz="1100" b="0">
                          <a:solidFill>
                            <a:srgbClr val="333333"/>
                          </a:solidFill>
                          <a:latin typeface="Fira Code"/>
                        </a:rPr>
                        <a:t>    bool posHealth = false;                 // boolean true if position measurements have passed innovation consistency check</a:t>
                      </a:r>
                    </a:p>
                    <a:p>
                      <a:pPr algn="l">
                        <a:lnSpc>
                          <a:spcPct val="106000"/>
                        </a:lnSpc>
                        <a:spcAft>
                          <a:spcPts val="0"/>
                        </a:spcAft>
                      </a:pPr>
                      <a:r>
                        <a:rPr sz="1100" b="0">
                          <a:solidFill>
                            <a:srgbClr val="333333"/>
                          </a:solidFill>
                          <a:latin typeface="Fira Code"/>
                        </a:rPr>
                        <a:t>    bool hgtHealth = false;                 // boolean true if height measurements have passed innovation consistency check</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declare variables used to check measurement errors</a:t>
                      </a:r>
                    </a:p>
                    <a:p>
                      <a:pPr algn="l">
                        <a:lnSpc>
                          <a:spcPct val="106000"/>
                        </a:lnSpc>
                        <a:spcAft>
                          <a:spcPts val="0"/>
                        </a:spcAft>
                      </a:pPr>
                      <a:r>
                        <a:rPr sz="1100" b="0">
                          <a:solidFill>
                            <a:srgbClr val="333333"/>
                          </a:solidFill>
                          <a:latin typeface="Fira Code"/>
                        </a:rPr>
                        <a:t>    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libraries/AP_NavEKF/EKFGSF_yaw.cpp</a:t>
                      </a:r>
                      <a:r>
                        <a:rPr sz="1100" b="0">
                          <a:solidFill>
                            <a:srgbClr val="999999"/>
                          </a:solidFill>
                          <a:latin typeface="Fira Code"/>
                        </a:rPr>
                        <a:t>  ·  </a:t>
                      </a:r>
                      <a:r>
                        <a:rPr sz="1100" b="0">
                          <a:solidFill>
                            <a:srgbClr val="999999"/>
                          </a:solidFill>
                          <a:latin typeface="Fira Code"/>
                        </a:rPr>
                        <a:t>30-38</a:t>
                      </a:r>
                      <a:r>
                        <a:rPr sz="1100" b="0">
                          <a:solidFill>
                            <a:srgbClr val="999999"/>
                          </a:solidFill>
                          <a:latin typeface="Fira Code"/>
                        </a:rPr>
                        <a:t>  ·  </a:t>
                      </a:r>
                      <a:r>
                        <a:rPr sz="1100" b="0">
                          <a:solidFill>
                            <a:srgbClr val="999999"/>
                          </a:solidFill>
                          <a:latin typeface="Fira Code"/>
                        </a:rPr>
                        <a:t>EKFGSF_yaw::update()</a:t>
                      </a:r>
                    </a:p>
                    <a:p>
                      <a:pPr algn="l">
                        <a:lnSpc>
                          <a:spcPct val="106000"/>
                        </a:lnSpc>
                        <a:spcAft>
                          <a:spcPts val="0"/>
                        </a:spcAft>
                      </a:pPr>
                      <a:r>
                        <a:rPr sz="1100" b="0">
                          <a:solidFill>
                            <a:srgbClr val="333333"/>
                          </a:solidFill>
                          <a:latin typeface="Fira Code"/>
                        </a:rPr>
                        <a:t>void EKFGSF_yaw::update(const Vector3F &amp;delAng,</a:t>
                      </a:r>
                    </a:p>
                    <a:p>
                      <a:pPr algn="l">
                        <a:lnSpc>
                          <a:spcPct val="106000"/>
                        </a:lnSpc>
                        <a:spcAft>
                          <a:spcPts val="0"/>
                        </a:spcAft>
                      </a:pPr>
                      <a:r>
                        <a:rPr sz="1100" b="0">
                          <a:solidFill>
                            <a:srgbClr val="333333"/>
                          </a:solidFill>
                          <a:latin typeface="Fira Code"/>
                        </a:rPr>
                        <a:t>                        const Vector3F &amp;delVel,</a:t>
                      </a:r>
                    </a:p>
                    <a:p>
                      <a:pPr algn="l">
                        <a:lnSpc>
                          <a:spcPct val="106000"/>
                        </a:lnSpc>
                        <a:spcAft>
                          <a:spcPts val="0"/>
                        </a:spcAft>
                      </a:pPr>
                      <a:r>
                        <a:rPr sz="1100" b="0">
                          <a:solidFill>
                            <a:srgbClr val="333333"/>
                          </a:solidFill>
                          <a:latin typeface="Fira Code"/>
                        </a:rPr>
                        <a:t>                        const ftype delAngDT,</a:t>
                      </a:r>
                    </a:p>
                    <a:p>
                      <a:pPr algn="l">
                        <a:lnSpc>
                          <a:spcPct val="106000"/>
                        </a:lnSpc>
                        <a:spcAft>
                          <a:spcPts val="0"/>
                        </a:spcAft>
                      </a:pPr>
                      <a:r>
                        <a:rPr sz="1100" b="0">
                          <a:solidFill>
                            <a:srgbClr val="333333"/>
                          </a:solidFill>
                          <a:latin typeface="Fira Code"/>
                        </a:rPr>
                        <a:t>                        const ftype delVelDT,</a:t>
                      </a:r>
                    </a:p>
                    <a:p>
                      <a:pPr algn="l">
                        <a:lnSpc>
                          <a:spcPct val="106000"/>
                        </a:lnSpc>
                        <a:spcAft>
                          <a:spcPts val="0"/>
                        </a:spcAft>
                      </a:pPr>
                      <a:r>
                        <a:rPr sz="1100" b="0">
                          <a:solidFill>
                            <a:srgbClr val="333333"/>
                          </a:solidFill>
                          <a:latin typeface="Fira Code"/>
                        </a:rPr>
                        <a:t>                        bool runEKF,</a:t>
                      </a:r>
                    </a:p>
                    <a:p>
                      <a:pPr algn="l">
                        <a:lnSpc>
                          <a:spcPct val="106000"/>
                        </a:lnSpc>
                        <a:spcAft>
                          <a:spcPts val="0"/>
                        </a:spcAft>
                      </a:pPr>
                      <a:r>
                        <a:rPr sz="1100" b="0">
                          <a:solidFill>
                            <a:srgbClr val="333333"/>
                          </a:solidFill>
                          <a:latin typeface="Fira Code"/>
                        </a:rPr>
                        <a:t>                        ftype TAS)</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libraries/AC_WPNav/AC_WPNav.cpp</a:t>
                      </a:r>
                      <a:r>
                        <a:rPr sz="1100" b="0">
                          <a:solidFill>
                            <a:srgbClr val="999999"/>
                          </a:solidFill>
                          <a:latin typeface="Fira Code"/>
                        </a:rPr>
                        <a:t>  ·  </a:t>
                      </a:r>
                      <a:r>
                        <a:rPr sz="1100" b="0">
                          <a:solidFill>
                            <a:srgbClr val="999999"/>
                          </a:solidFill>
                          <a:latin typeface="Fira Code"/>
                        </a:rPr>
                        <a:t>245-254</a:t>
                      </a:r>
                      <a:r>
                        <a:rPr sz="1100" b="0">
                          <a:solidFill>
                            <a:srgbClr val="999999"/>
                          </a:solidFill>
                          <a:latin typeface="Fira Code"/>
                        </a:rPr>
                        <a:t>  ·  </a:t>
                      </a:r>
                      <a:r>
                        <a:rPr sz="1100" b="0">
                          <a:solidFill>
                            <a:srgbClr val="999999"/>
                          </a:solidFill>
                          <a:latin typeface="Fira Code"/>
                        </a:rPr>
                        <a:t>AC_WPNav::set_wp_destination_loc()</a:t>
                      </a:r>
                    </a:p>
                    <a:p>
                      <a:pPr algn="l">
                        <a:lnSpc>
                          <a:spcPct val="106000"/>
                        </a:lnSpc>
                        <a:spcAft>
                          <a:spcPts val="0"/>
                        </a:spcAft>
                      </a:pPr>
                      <a:r>
                        <a:rPr sz="1100" b="0">
                          <a:solidFill>
                            <a:srgbClr val="333333"/>
                          </a:solidFill>
                          <a:latin typeface="Fira Code"/>
                        </a:rPr>
                        <a:t>bool AC_WPNav::set_wp_destination_loc(const Location&amp; destination)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bool is_terrain_alt;</a:t>
                      </a:r>
                    </a:p>
                    <a:p>
                      <a:pPr algn="l">
                        <a:lnSpc>
                          <a:spcPct val="106000"/>
                        </a:lnSpc>
                        <a:spcAft>
                          <a:spcPts val="0"/>
                        </a:spcAft>
                      </a:pPr>
                      <a:r>
                        <a:rPr sz="1100" b="0">
                          <a:solidFill>
                            <a:srgbClr val="333333"/>
                          </a:solidFill>
                          <a:latin typeface="Fira Code"/>
                        </a:rPr>
                        <a:t>    Vector3f dest_neu_cm;</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convert destination location to vector</a:t>
                      </a:r>
                    </a:p>
                    <a:p>
                      <a:pPr algn="l">
                        <a:lnSpc>
                          <a:spcPct val="106000"/>
                        </a:lnSpc>
                        <a:spcAft>
                          <a:spcPts val="0"/>
                        </a:spcAft>
                      </a:pPr>
                      <a:r>
                        <a:rPr sz="1100" b="0">
                          <a:solidFill>
                            <a:srgbClr val="333333"/>
                          </a:solidFill>
                          <a:latin typeface="Fira Code"/>
                        </a:rPr>
                        <a:t>    if (!get_vector_NEU_cm(destination, dest_neu_cm, is_terrain_alt))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libraries/AP_Mission/AP_Mission.cpp</a:t>
                      </a:r>
                      <a:r>
                        <a:rPr sz="1100" b="0">
                          <a:solidFill>
                            <a:srgbClr val="999999"/>
                          </a:solidFill>
                          <a:latin typeface="Fira Code"/>
                        </a:rPr>
                        <a:t>  ·  </a:t>
                      </a:r>
                      <a:r>
                        <a:rPr sz="1100" b="0">
                          <a:solidFill>
                            <a:srgbClr val="999999"/>
                          </a:solidFill>
                          <a:latin typeface="Fira Code"/>
                        </a:rPr>
                        <a:t>552-561</a:t>
                      </a:r>
                      <a:r>
                        <a:rPr sz="1100" b="0">
                          <a:solidFill>
                            <a:srgbClr val="999999"/>
                          </a:solidFill>
                          <a:latin typeface="Fira Code"/>
                        </a:rPr>
                        <a:t>  ·  </a:t>
                      </a:r>
                      <a:r>
                        <a:rPr sz="1100" b="0">
                          <a:solidFill>
                            <a:srgbClr val="999999"/>
                          </a:solidFill>
                          <a:latin typeface="Fira Code"/>
                        </a:rPr>
                        <a:t>AP_Mission::get_next_nav_cmd()</a:t>
                      </a:r>
                    </a:p>
                    <a:p>
                      <a:pPr algn="l">
                        <a:lnSpc>
                          <a:spcPct val="106000"/>
                        </a:lnSpc>
                        <a:spcAft>
                          <a:spcPts val="0"/>
                        </a:spcAft>
                      </a:pPr>
                      <a:r>
                        <a:rPr sz="1100" b="0">
                          <a:solidFill>
                            <a:srgbClr val="333333"/>
                          </a:solidFill>
                          <a:latin typeface="Fira Code"/>
                        </a:rPr>
                        <a:t>bool AP_Mission::get_next_nav_cmd(uint16_t start_index, Mission_Command&amp; cmd)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search until the end of the mission command list</a:t>
                      </a:r>
                    </a:p>
                    <a:p>
                      <a:pPr algn="l">
                        <a:lnSpc>
                          <a:spcPct val="106000"/>
                        </a:lnSpc>
                        <a:spcAft>
                          <a:spcPts val="0"/>
                        </a:spcAft>
                      </a:pPr>
                      <a:r>
                        <a:rPr sz="1100" b="0">
                          <a:solidFill>
                            <a:srgbClr val="333333"/>
                          </a:solidFill>
                          <a:latin typeface="Fira Code"/>
                        </a:rPr>
                        <a:t>    for (uint16_t cmd_index = start_index; cmd_index &lt; (unsigned)_cmd_total; cmd_index++) {</a:t>
                      </a:r>
                    </a:p>
                    <a:p>
                      <a:pPr algn="l">
                        <a:lnSpc>
                          <a:spcPct val="106000"/>
                        </a:lnSpc>
                        <a:spcAft>
                          <a:spcPts val="0"/>
                        </a:spcAft>
                      </a:pPr>
                      <a:r>
                        <a:rPr sz="1100" b="0">
                          <a:solidFill>
                            <a:srgbClr val="333333"/>
                          </a:solidFill>
                          <a:latin typeface="Fira Code"/>
                        </a:rPr>
                        <a:t>        // get next command</a:t>
                      </a:r>
                    </a:p>
                    <a:p>
                      <a:pPr algn="l">
                        <a:lnSpc>
                          <a:spcPct val="106000"/>
                        </a:lnSpc>
                        <a:spcAft>
                          <a:spcPts val="0"/>
                        </a:spcAft>
                      </a:pPr>
                      <a:r>
                        <a:rPr sz="1100" b="0">
                          <a:solidFill>
                            <a:srgbClr val="333333"/>
                          </a:solidFill>
                          <a:latin typeface="Fira Code"/>
                        </a:rPr>
                        <a:t>        if (!get_next_cmd(cmd_index, cmd, false)) {</a:t>
                      </a:r>
                    </a:p>
                    <a:p>
                      <a:pPr algn="l">
                        <a:lnSpc>
                          <a:spcPct val="106000"/>
                        </a:lnSpc>
                        <a:spcAft>
                          <a:spcPts val="0"/>
                        </a:spcAft>
                      </a:pPr>
                      <a:r>
                        <a:rPr sz="1100" b="0">
                          <a:solidFill>
                            <a:srgbClr val="333333"/>
                          </a:solidFill>
                          <a:latin typeface="Fira Code"/>
                        </a:rPr>
                        <a:t>            // no more commands so return failure</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libraries/AP_L1_Control/AP_L1_Control.cpp</a:t>
                      </a:r>
                      <a:r>
                        <a:rPr sz="1100" b="0">
                          <a:solidFill>
                            <a:srgbClr val="999999"/>
                          </a:solidFill>
                          <a:latin typeface="Fira Code"/>
                        </a:rPr>
                        <a:t>  ·  </a:t>
                      </a:r>
                      <a:r>
                        <a:rPr sz="1100" b="0">
                          <a:solidFill>
                            <a:srgbClr val="999999"/>
                          </a:solidFill>
                          <a:latin typeface="Fira Code"/>
                        </a:rPr>
                        <a:t>226-234</a:t>
                      </a:r>
                      <a:r>
                        <a:rPr sz="1100" b="0">
                          <a:solidFill>
                            <a:srgbClr val="999999"/>
                          </a:solidFill>
                          <a:latin typeface="Fira Code"/>
                        </a:rPr>
                        <a:t>  ·  </a:t>
                      </a:r>
                      <a:r>
                        <a:rPr sz="1100" b="0">
                          <a:solidFill>
                            <a:srgbClr val="999999"/>
                          </a:solidFill>
                          <a:latin typeface="Fira Code"/>
                        </a:rPr>
                        <a:t>AP_L1_Control::update_waypoint()</a:t>
                      </a:r>
                    </a:p>
                    <a:p>
                      <a:pPr algn="l">
                        <a:lnSpc>
                          <a:spcPct val="106000"/>
                        </a:lnSpc>
                        <a:spcAft>
                          <a:spcPts val="0"/>
                        </a:spcAft>
                      </a:pPr>
                      <a:r>
                        <a:rPr sz="1100" b="0">
                          <a:solidFill>
                            <a:srgbClr val="333333"/>
                          </a:solidFill>
                          <a:latin typeface="Fira Code"/>
                        </a:rPr>
                        <a:t>    // Calculate L1 gain required for specified damping</a:t>
                      </a:r>
                    </a:p>
                    <a:p>
                      <a:pPr algn="l">
                        <a:lnSpc>
                          <a:spcPct val="106000"/>
                        </a:lnSpc>
                        <a:spcAft>
                          <a:spcPts val="0"/>
                        </a:spcAft>
                      </a:pPr>
                      <a:r>
                        <a:rPr sz="1100" b="0">
                          <a:solidFill>
                            <a:srgbClr val="333333"/>
                          </a:solidFill>
                          <a:latin typeface="Fira Code"/>
                        </a:rPr>
                        <a:t>    float K_L1 = 4.0f * _L1_damping * _L1_damping;</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Get current position and velocity</a:t>
                      </a:r>
                    </a:p>
                    <a:p>
                      <a:pPr algn="l">
                        <a:lnSpc>
                          <a:spcPct val="106000"/>
                        </a:lnSpc>
                        <a:spcAft>
                          <a:spcPts val="0"/>
                        </a:spcAft>
                      </a:pPr>
                      <a:r>
                        <a:rPr sz="1100" b="0">
                          <a:solidFill>
                            <a:srgbClr val="333333"/>
                          </a:solidFill>
                          <a:latin typeface="Fira Code"/>
                        </a:rPr>
                        <a:t>    if (_ahrs.get_location(_current_loc) == false) {</a:t>
                      </a:r>
                    </a:p>
                    <a:p>
                      <a:pPr algn="l">
                        <a:lnSpc>
                          <a:spcPct val="106000"/>
                        </a:lnSpc>
                        <a:spcAft>
                          <a:spcPts val="0"/>
                        </a:spcAft>
                      </a:pPr>
                      <a:r>
                        <a:rPr sz="1100" b="0">
                          <a:solidFill>
                            <a:srgbClr val="333333"/>
                          </a:solidFill>
                          <a:latin typeface="Fira Code"/>
                        </a:rPr>
                        <a:t>        // if no GPS loc available, maintain last nav/target_bearing</a:t>
                      </a:r>
                    </a:p>
                    <a:p>
                      <a:pPr algn="l">
                        <a:lnSpc>
                          <a:spcPct val="106000"/>
                        </a:lnSpc>
                        <a:spcAft>
                          <a:spcPts val="0"/>
                        </a:spcAft>
                      </a:pPr>
                      <a:r>
                        <a:rPr sz="1100" b="0">
                          <a:solidFill>
                            <a:srgbClr val="333333"/>
                          </a:solidFill>
                          <a:latin typeface="Fira Code"/>
                        </a:rPr>
                        <a:t>        _data_is_stale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libraries/AP_L1_Control/AP_L1_Control.cpp</a:t>
                      </a:r>
                      <a:r>
                        <a:rPr sz="1100" b="0">
                          <a:solidFill>
                            <a:srgbClr val="999999"/>
                          </a:solidFill>
                          <a:latin typeface="Fira Code"/>
                        </a:rPr>
                        <a:t>  ·  </a:t>
                      </a:r>
                      <a:r>
                        <a:rPr sz="1100" b="0">
                          <a:solidFill>
                            <a:srgbClr val="999999"/>
                          </a:solidFill>
                          <a:latin typeface="Fira Code"/>
                        </a:rPr>
                        <a:t>79-88</a:t>
                      </a:r>
                      <a:r>
                        <a:rPr sz="1100" b="0">
                          <a:solidFill>
                            <a:srgbClr val="999999"/>
                          </a:solidFill>
                          <a:latin typeface="Fira Code"/>
                        </a:rPr>
                        <a:t>  ·  </a:t>
                      </a:r>
                      <a:r>
                        <a:rPr sz="1100" b="0">
                          <a:solidFill>
                            <a:srgbClr val="999999"/>
                          </a:solidFill>
                          <a:latin typeface="Fira Code"/>
                        </a:rPr>
                        <a:t>AP_L1_Control::nav_roll_cd()</a:t>
                      </a:r>
                    </a:p>
                    <a:p>
                      <a:pPr algn="l">
                        <a:lnSpc>
                          <a:spcPct val="106000"/>
                        </a:lnSpc>
                        <a:spcAft>
                          <a:spcPts val="0"/>
                        </a:spcAft>
                      </a:pPr>
                      <a:r>
                        <a:rPr sz="1100" b="0">
                          <a:solidFill>
                            <a:srgbClr val="333333"/>
                          </a:solidFill>
                          <a:latin typeface="Fira Code"/>
                        </a:rPr>
                        <a:t>int32_t AP_L1_Control::nav_roll_cd(void)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float ret;</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formula can be obtained through equations of balanced spiral:</a:t>
                      </a:r>
                    </a:p>
                    <a:p>
                      <a:pPr algn="l">
                        <a:lnSpc>
                          <a:spcPct val="106000"/>
                        </a:lnSpc>
                        <a:spcAft>
                          <a:spcPts val="0"/>
                        </a:spcAft>
                      </a:pPr>
                      <a:r>
                        <a:rPr sz="1100" b="0">
                          <a:solidFill>
                            <a:srgbClr val="333333"/>
                          </a:solidFill>
                          <a:latin typeface="Fira Code"/>
                        </a:rPr>
                        <a:t>		liftForce * cos(roll) = gravityForce * cos(pitch);</a:t>
                      </a:r>
                    </a:p>
                    <a:p>
                      <a:pPr algn="l">
                        <a:lnSpc>
                          <a:spcPct val="106000"/>
                        </a:lnSpc>
                        <a:spcAft>
                          <a:spcPts val="0"/>
                        </a:spcAft>
                      </a:pPr>
                      <a:r>
                        <a:rPr sz="1100" b="0">
                          <a:solidFill>
                            <a:srgbClr val="333333"/>
                          </a:solidFill>
                          <a:latin typeface="Fira Code"/>
                        </a:rPr>
                        <a:t>		liftForce * sin(roll) = gravityForce * lateralAcceleration / gravityAcceleration; // as mass = gravityForce/gravityAcceleration</a:t>
                      </a:r>
                    </a:p>
                    <a:p>
                      <a:pPr algn="l">
                        <a:lnSpc>
                          <a:spcPct val="106000"/>
                        </a:lnSpc>
                        <a:spcAft>
                          <a:spcPts val="0"/>
                        </a:spcAft>
                      </a:pPr>
                      <a:r>
                        <a:rPr sz="1100" b="0">
                          <a:solidFill>
                            <a:srgbClr val="333333"/>
                          </a:solidFill>
                          <a:latin typeface="Fira Code"/>
                        </a:rPr>
                        <a:t>		see issue 24319 [https://github.com/ArduPilot/ardupilot/issues/24319]</a:t>
                      </a:r>
                    </a:p>
                    <a:p>
                      <a:pPr algn="l">
                        <a:lnSpc>
                          <a:spcPct val="106000"/>
                        </a:lnSpc>
                        <a:spcAft>
                          <a:spcPts val="0"/>
                        </a:spcAft>
                      </a:pPr>
                      <a:r>
                        <a:rPr sz="1100" b="0">
                          <a:solidFill>
                            <a:srgbClr val="333333"/>
                          </a:solidFill>
                          <a:latin typeface="Fira Code"/>
                        </a:rPr>
                        <a:t>		Multiplier 100.0f is for converting degrees to centidegrees</a:t>
                      </a:r>
                    </a:p>
                    <a:p>
                      <a:pPr algn="l">
                        <a:lnSpc>
                          <a:spcPct val="106000"/>
                        </a:lnSpc>
                        <a:spcAft>
                          <a:spcPts val="0"/>
                        </a:spcAft>
                      </a:pPr>
                      <a:r>
                        <a:rPr sz="1100" b="0">
                          <a:solidFill>
                            <a:srgbClr val="333333"/>
                          </a:solidFill>
                          <a:latin typeface="Fira Code"/>
                        </a:rPr>
                        <a:t>		Made changes to avoid zero division as proposed by Andrew Tridgell: https://github.com/ArduPilot/ardupilot/pull/24331#discussion_r1267798397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libraries/AP_TECS/AP_TECS.cpp</a:t>
                      </a:r>
                      <a:r>
                        <a:rPr sz="1100" b="0">
                          <a:solidFill>
                            <a:srgbClr val="999999"/>
                          </a:solidFill>
                          <a:latin typeface="Fira Code"/>
                        </a:rPr>
                        <a:t>  ·  </a:t>
                      </a:r>
                      <a:r>
                        <a:rPr sz="1100" b="0">
                          <a:solidFill>
                            <a:srgbClr val="999999"/>
                          </a:solidFill>
                          <a:latin typeface="Fira Code"/>
                        </a:rPr>
                        <a:t>1259-1268</a:t>
                      </a:r>
                      <a:r>
                        <a:rPr sz="1100" b="0">
                          <a:solidFill>
                            <a:srgbClr val="999999"/>
                          </a:solidFill>
                          <a:latin typeface="Fira Code"/>
                        </a:rPr>
                        <a:t>  ·  </a:t>
                      </a:r>
                      <a:r>
                        <a:rPr sz="1100" b="0">
                          <a:solidFill>
                            <a:srgbClr val="999999"/>
                          </a:solidFill>
                          <a:latin typeface="Fira Code"/>
                        </a:rPr>
                        <a:t>AP_TECS::update_pitch_throttle()</a:t>
                      </a:r>
                    </a:p>
                    <a:p>
                      <a:pPr algn="l">
                        <a:lnSpc>
                          <a:spcPct val="106000"/>
                        </a:lnSpc>
                        <a:spcAft>
                          <a:spcPts val="0"/>
                        </a:spcAft>
                      </a:pPr>
                      <a:r>
                        <a:rPr sz="1100" b="0">
                          <a:solidFill>
                            <a:srgbClr val="333333"/>
                          </a:solidFill>
                          <a:latin typeface="Fira Code"/>
                        </a:rPr>
                        <a:t>void AP_TECS::update_pitch_throttle(int32_t hgt_dem_cm,</a:t>
                      </a:r>
                    </a:p>
                    <a:p>
                      <a:pPr algn="l">
                        <a:lnSpc>
                          <a:spcPct val="106000"/>
                        </a:lnSpc>
                        <a:spcAft>
                          <a:spcPts val="0"/>
                        </a:spcAft>
                      </a:pPr>
                      <a:r>
                        <a:rPr sz="1100" b="0">
                          <a:solidFill>
                            <a:srgbClr val="333333"/>
                          </a:solidFill>
                          <a:latin typeface="Fira Code"/>
                        </a:rPr>
                        <a:t>                                    int32_t EAS_dem_cm,</a:t>
                      </a:r>
                    </a:p>
                    <a:p>
                      <a:pPr algn="l">
                        <a:lnSpc>
                          <a:spcPct val="106000"/>
                        </a:lnSpc>
                        <a:spcAft>
                          <a:spcPts val="0"/>
                        </a:spcAft>
                      </a:pPr>
                      <a:r>
                        <a:rPr sz="1100" b="0">
                          <a:solidFill>
                            <a:srgbClr val="333333"/>
                          </a:solidFill>
                          <a:latin typeface="Fira Code"/>
                        </a:rPr>
                        <a:t>                                    enum AP_FixedWing::FlightStage flight_stage,</a:t>
                      </a:r>
                    </a:p>
                    <a:p>
                      <a:pPr algn="l">
                        <a:lnSpc>
                          <a:spcPct val="106000"/>
                        </a:lnSpc>
                        <a:spcAft>
                          <a:spcPts val="0"/>
                        </a:spcAft>
                      </a:pPr>
                      <a:r>
                        <a:rPr sz="1100" b="0">
                          <a:solidFill>
                            <a:srgbClr val="333333"/>
                          </a:solidFill>
                          <a:latin typeface="Fira Code"/>
                        </a:rPr>
                        <a:t>                                    float distance_beyond_land_wp,</a:t>
                      </a:r>
                    </a:p>
                    <a:p>
                      <a:pPr algn="l">
                        <a:lnSpc>
                          <a:spcPct val="106000"/>
                        </a:lnSpc>
                        <a:spcAft>
                          <a:spcPts val="0"/>
                        </a:spcAft>
                      </a:pPr>
                      <a:r>
                        <a:rPr sz="1100" b="0">
                          <a:solidFill>
                            <a:srgbClr val="333333"/>
                          </a:solidFill>
                          <a:latin typeface="Fira Code"/>
                        </a:rPr>
                        <a:t>                                    int32_t ptchMinCO_cd,</a:t>
                      </a:r>
                    </a:p>
                    <a:p>
                      <a:pPr algn="l">
                        <a:lnSpc>
                          <a:spcPct val="106000"/>
                        </a:lnSpc>
                        <a:spcAft>
                          <a:spcPts val="0"/>
                        </a:spcAft>
                      </a:pPr>
                      <a:r>
                        <a:rPr sz="1100" b="0">
                          <a:solidFill>
                            <a:srgbClr val="333333"/>
                          </a:solidFill>
                          <a:latin typeface="Fira Code"/>
                        </a:rPr>
                        <a:t>                                    int16_t throttle_nudge,</a:t>
                      </a:r>
                    </a:p>
                    <a:p>
                      <a:pPr algn="l">
                        <a:lnSpc>
                          <a:spcPct val="106000"/>
                        </a:lnSpc>
                        <a:spcAft>
                          <a:spcPts val="0"/>
                        </a:spcAft>
                      </a:pPr>
                      <a:r>
                        <a:rPr sz="1100" b="0">
                          <a:solidFill>
                            <a:srgbClr val="333333"/>
                          </a:solidFill>
                          <a:latin typeface="Fira Code"/>
                        </a:rPr>
                        <a:t>                                    float hgt_afe,</a:t>
                      </a:r>
                    </a:p>
                    <a:p>
                      <a:pPr algn="l">
                        <a:lnSpc>
                          <a:spcPct val="106000"/>
                        </a:lnSpc>
                        <a:spcAft>
                          <a:spcPts val="0"/>
                        </a:spcAft>
                      </a:pPr>
                      <a:r>
                        <a:rPr sz="1100" b="0">
                          <a:solidFill>
                            <a:srgbClr val="333333"/>
                          </a:solidFill>
                          <a:latin typeface="Fira Code"/>
                        </a:rPr>
                        <a:t>                                    float load_factor,</a:t>
                      </a:r>
                    </a:p>
                    <a:p>
                      <a:pPr algn="l">
                        <a:lnSpc>
                          <a:spcPct val="106000"/>
                        </a:lnSpc>
                        <a:spcAft>
                          <a:spcPts val="0"/>
                        </a:spcAft>
                      </a:pPr>
                      <a:r>
                        <a:rPr sz="1100" b="0">
                          <a:solidFill>
                            <a:srgbClr val="333333"/>
                          </a:solidFill>
                          <a:latin typeface="Fira Code"/>
                        </a:rPr>
                        <a:t>                                    float pitch_trim_deg)</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libraries/AC_AttitudeControl/AC_AttitudeControl.cpp</a:t>
                      </a:r>
                      <a:r>
                        <a:rPr sz="1100" b="0">
                          <a:solidFill>
                            <a:srgbClr val="999999"/>
                          </a:solidFill>
                          <a:latin typeface="Fira Code"/>
                        </a:rPr>
                        <a:t>  ·  </a:t>
                      </a:r>
                      <a:r>
                        <a:rPr sz="1100" b="0">
                          <a:solidFill>
                            <a:srgbClr val="999999"/>
                          </a:solidFill>
                          <a:latin typeface="Fira Code"/>
                        </a:rPr>
                        <a:t>411-419</a:t>
                      </a:r>
                      <a:r>
                        <a:rPr sz="1100" b="0">
                          <a:solidFill>
                            <a:srgbClr val="999999"/>
                          </a:solidFill>
                          <a:latin typeface="Fira Code"/>
                        </a:rPr>
                        <a:t>  ·  </a:t>
                      </a:r>
                      <a:r>
                        <a:rPr sz="1100" b="0">
                          <a:solidFill>
                            <a:srgbClr val="999999"/>
                          </a:solidFill>
                          <a:latin typeface="Fira Code"/>
                        </a:rPr>
                        <a:t>AC_AttitudeControl::input_euler_angle_roll_pitch_yaw_cd()</a:t>
                      </a:r>
                    </a:p>
                    <a:p>
                      <a:pPr algn="l">
                        <a:lnSpc>
                          <a:spcPct val="106000"/>
                        </a:lnSpc>
                        <a:spcAft>
                          <a:spcPts val="0"/>
                        </a:spcAft>
                      </a:pPr>
                      <a:r>
                        <a:rPr sz="1100" b="0">
                          <a:solidFill>
                            <a:srgbClr val="333333"/>
                          </a:solidFill>
                          <a:latin typeface="Fira Code"/>
                        </a:rPr>
                        <a:t>void AC_AttitudeControl::input_euler_angle_roll_pitch_yaw_cd(float euler_roll_angle_cd, float euler_pitch_angle_cd, float euler_yaw_angle_cd, bool slew_yaw)</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Convert from centidegrees on public interface to radians</a:t>
                      </a:r>
                    </a:p>
                    <a:p>
                      <a:pPr algn="l">
                        <a:lnSpc>
                          <a:spcPct val="106000"/>
                        </a:lnSpc>
                        <a:spcAft>
                          <a:spcPts val="0"/>
                        </a:spcAft>
                      </a:pPr>
                      <a:r>
                        <a:rPr sz="1100" b="0">
                          <a:solidFill>
                            <a:srgbClr val="333333"/>
                          </a:solidFill>
                          <a:latin typeface="Fira Code"/>
                        </a:rPr>
                        <a:t>    const float euler_roll_angle_rad = cd_to_rad(euler_roll_angle_cd);</a:t>
                      </a:r>
                    </a:p>
                    <a:p>
                      <a:pPr algn="l">
                        <a:lnSpc>
                          <a:spcPct val="106000"/>
                        </a:lnSpc>
                        <a:spcAft>
                          <a:spcPts val="0"/>
                        </a:spcAft>
                      </a:pPr>
                      <a:r>
                        <a:rPr sz="1100" b="0">
                          <a:solidFill>
                            <a:srgbClr val="333333"/>
                          </a:solidFill>
                          <a:latin typeface="Fira Code"/>
                        </a:rPr>
                        <a:t>    const float euler_pitch_angle_rad = cd_to_rad(euler_pitch_angle_cd);</a:t>
                      </a:r>
                    </a:p>
                    <a:p>
                      <a:pPr algn="l">
                        <a:lnSpc>
                          <a:spcPct val="106000"/>
                        </a:lnSpc>
                        <a:spcAft>
                          <a:spcPts val="0"/>
                        </a:spcAft>
                      </a:pPr>
                      <a:r>
                        <a:rPr sz="1100" b="0">
                          <a:solidFill>
                            <a:srgbClr val="333333"/>
                          </a:solidFill>
                          <a:latin typeface="Fira Code"/>
                        </a:rPr>
                        <a:t>    const float euler_yaw_angle_rad = cd_to_rad(euler_yaw_angle_cd);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input_euler_angle_roll_pitch_yaw_rad(euler_roll_angle_rad, euler_pitch_angle_rad, euler_yaw_angle_rad, slew_yaw);</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1 — direct callers / callees with typed dependency</a:t>
            </a:r>
          </a:p>
        </p:txBody>
      </p:sp>
      <p:graphicFrame>
        <p:nvGraphicFramePr>
          <p:cNvPr id="7" name="Table 6"/>
          <p:cNvGraphicFramePr>
            <a:graphicFrameLocks noGrp="1"/>
          </p:cNvGraphicFramePr>
          <p:nvPr/>
        </p:nvGraphicFramePr>
        <p:xfrm>
          <a:off x="566928" y="1906943"/>
          <a:ext cx="11058144" cy="3761255"/>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state.location (fused by active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inertia.cpp; commands.cpp; GCS_MAVLink_Copter.cpp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state.ground_speed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speed control; GCS 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AP_AHRS::have_inertial_nav()/get_origin()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active_EKF_type();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Copter::ekf_has_absolute_position (system.cpp);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dcm/EKF2/EKF3 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AR_PosControl::update; 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AR_PosControl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fill_scratch_variables(); 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NavEKF3::UpdateFilter() (frontend, per core)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readGpsData();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 correct stateStruct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graphicFrame>
        <p:nvGraphicFramePr>
          <p:cNvPr id="6" name="Table 5"/>
          <p:cNvGraphicFramePr>
            <a:graphicFrameLocks noGrp="1"/>
          </p:cNvGraphicFramePr>
          <p:nvPr/>
        </p:nvGraphicFramePr>
        <p:xfrm>
          <a:off x="566928" y="1591056"/>
          <a:ext cx="11058144" cy="459708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gps.location(); gps.velocity(); gps.status() (via AP_DAL); storedGPS.push()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checks gpsGoodToAlign, posTimeout; sets PV_AidingMode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NavEKF3_core::controlFilterModes()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FuseMagnetometer(); FuseEulerYaw()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EstimateTerrainOffset(); FuseOptFlow()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outputDataNew / EKF_origin; builds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NavEKF3::getLLH() (frontend) -&gt;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gps metrics; sets 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zeroes stateStruct.gyro_bias; resets 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NavEKF3_core::InitialiseFilterBootstrap()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range innovations; correct NED position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NavEKF3_core::SelectRngBcnFusion()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getEulerAngles(); getVelNED(); getLLH(); AP::logger().Write*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graphicFrame>
        <p:nvGraphicFramePr>
          <p:cNvPr id="6" name="Table 5"/>
          <p:cNvGraphicFramePr>
            <a:graphicFrameLocks noGrp="1"/>
          </p:cNvGraphicFramePr>
          <p:nvPr/>
        </p:nvGraphicFramePr>
        <p:xfrm>
          <a:off x="566928" y="1591056"/>
          <a:ext cx="11058144" cy="4419390"/>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core[].getFilterStatus()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NavEKF2::UpdateFilter()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predict()/correct() per model; AHRS complementary 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NavEKF3_core::runYawEstimatorPrediction()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get_vector_NEU_cm(); set_wp_destination_NEU_cm()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mode_auto / mode_guided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get_next_cmd(); read_cmd_from_storage()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ArduCopter/Plane mission sequencing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navigation.cpp update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_ahrs.get_pitch_rad(); _latAccDem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 (Attitude.cpp L608)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_update_pitch(); _update_throttle_with_airspeed()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stabilize/auto pitch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input_euler_angle_roll_pitch_yaw_rad()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ArduCopter/ArduPlane flight-mode run()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AP_AHRS::get_location()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AP_AHRS::get_location(Location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loc = state.location;</a:t>
                      </a:r>
                    </a:p>
                    <a:p>
                      <a:pPr algn="l">
                        <a:lnSpc>
                          <a:spcPct val="106000"/>
                        </a:lnSpc>
                        <a:spcAft>
                          <a:spcPts val="0"/>
                        </a:spcAft>
                      </a:pPr>
                      <a:r>
                        <a:rPr sz="1100" b="0">
                          <a:solidFill>
                            <a:srgbClr val="333333"/>
                          </a:solidFill>
                          <a:latin typeface="Fira Code"/>
                        </a:rPr>
                        <a:t>return state.location_ok;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AP_AHRS::groundspeed()</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EKF has a better ground speed vector estimate</a:t>
                      </a:r>
                    </a:p>
                    <a:p>
                      <a:pPr algn="l">
                        <a:lnSpc>
                          <a:spcPct val="106000"/>
                        </a:lnSpc>
                        <a:spcAft>
                          <a:spcPts val="0"/>
                        </a:spcAft>
                      </a:pPr>
                      <a:r>
                        <a:rPr sz="1100" b="0">
                          <a:solidFill>
                            <a:srgbClr val="333333"/>
                          </a:solidFill>
                          <a:latin typeface="Fira Code"/>
                        </a:rPr>
                        <a:t>const Vector2f &amp;groundspeed_vector() const { return state.ground_speed_vec; }</a:t>
                      </a:r>
                    </a:p>
                    <a:p>
                      <a:pPr algn="l">
                        <a:lnSpc>
                          <a:spcPct val="106000"/>
                        </a:lnSpc>
                        <a:spcAft>
                          <a:spcPts val="0"/>
                        </a:spcAft>
                      </a:pPr>
                      <a:r>
                        <a:rPr sz="1100" b="0">
                          <a:solidFill>
                            <a:srgbClr val="333333"/>
                          </a:solidFill>
                          <a:latin typeface="Fira Code"/>
                        </a:rPr>
                        <a:t>// return ground speed estimate in meters/second. Used by ground vehicles.</a:t>
                      </a:r>
                    </a:p>
                    <a:p>
                      <a:pPr algn="l">
                        <a:lnSpc>
                          <a:spcPct val="106000"/>
                        </a:lnSpc>
                        <a:spcAft>
                          <a:spcPts val="0"/>
                        </a:spcAft>
                      </a:pPr>
                      <a:r>
                        <a:rPr sz="1100" b="0">
                          <a:solidFill>
                            <a:srgbClr val="333333"/>
                          </a:solidFill>
                          <a:latin typeface="Fira Code"/>
                        </a:rPr>
                        <a:t>float groundspeed(void) const { return state.ground_speed; }</a:t>
                      </a:r>
                    </a:p>
                    <a:p>
                      <a:pPr algn="l">
                        <a:lnSpc>
                          <a:spcPct val="106000"/>
                        </a:lnSpc>
                        <a:spcAft>
                          <a:spcPts val="0"/>
                        </a:spcAft>
                      </a:pPr>
                      <a:r>
                        <a:rPr sz="1100" b="0">
                          <a:solidFill>
                            <a:srgbClr val="333333"/>
                          </a:solidFill>
                          <a:latin typeface="Fira Code"/>
                        </a:rPr>
                        <a:t>const Vector3f &amp;get_accel_ef() const {</a:t>
                      </a:r>
                    </a:p>
                    <a:p>
                      <a:pPr algn="l">
                        <a:lnSpc>
                          <a:spcPct val="106000"/>
                        </a:lnSpc>
                        <a:spcAft>
                          <a:spcPts val="0"/>
                        </a:spcAft>
                      </a:pPr>
                      <a:r>
                        <a:rPr sz="1100" b="0">
                          <a:solidFill>
                            <a:srgbClr val="333333"/>
                          </a:solidFill>
                          <a:latin typeface="Fira Code"/>
                        </a:rPr>
                        <a:t>return state.accel_ef;</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AP_AHRS::have_inertial_nav()/get_origin()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returns the inertial navigation origin in lat/lon/alt</a:t>
                      </a:r>
                    </a:p>
                    <a:p>
                      <a:pPr algn="l">
                        <a:lnSpc>
                          <a:spcPct val="106000"/>
                        </a:lnSpc>
                        <a:spcAft>
                          <a:spcPts val="0"/>
                        </a:spcAft>
                      </a:pPr>
                      <a:r>
                        <a:rPr sz="1100" b="0">
                          <a:solidFill>
                            <a:srgbClr val="333333"/>
                          </a:solidFill>
                          <a:latin typeface="Fira Code"/>
                        </a:rPr>
                        <a:t>bool get_origin(Location &amp;ret) const WARN_IF_UNUSED;</a:t>
                      </a:r>
                    </a:p>
                    <a:p>
                      <a:pPr algn="l">
                        <a:lnSpc>
                          <a:spcPct val="106000"/>
                        </a:lnSpc>
                        <a:spcAft>
                          <a:spcPts val="0"/>
                        </a:spcAft>
                      </a:pPr>
                      <a:r>
                        <a:rPr sz="1100" b="0">
                          <a:solidFill>
                            <a:srgbClr val="333333"/>
                          </a:solidFill>
                          <a:latin typeface="Fira Code"/>
                        </a:rPr>
                        <a:t>bool have_inertial_nav() const;</a:t>
                      </a:r>
                    </a:p>
                    <a:p>
                      <a:pPr algn="l">
                        <a:lnSpc>
                          <a:spcPct val="106000"/>
                        </a:lnSpc>
                        <a:spcAft>
                          <a:spcPts val="0"/>
                        </a:spcAft>
                      </a:pPr>
                      <a:r>
                        <a:rPr sz="1100" b="0">
                          <a:solidFill>
                            <a:srgbClr val="333333"/>
                          </a:solidFill>
                          <a:latin typeface="Fira Code"/>
                        </a:rPr>
                        <a:t>// return a ground velocity in meters/second, North/East/Down</a:t>
                      </a:r>
                    </a:p>
                    <a:p>
                      <a:pPr algn="l">
                        <a:lnSpc>
                          <a:spcPct val="106000"/>
                        </a:lnSpc>
                        <a:spcAft>
                          <a:spcPts val="0"/>
                        </a:spcAft>
                      </a:pPr>
                      <a:r>
                        <a:rPr sz="1100" b="0">
                          <a:solidFill>
                            <a:srgbClr val="333333"/>
                          </a:solidFill>
                          <a:latin typeface="Fira Code"/>
                        </a:rPr>
                        <a:t>// order. Must only be called if have_inertial_nav() is true</a:t>
                      </a:r>
                    </a:p>
                    <a:p>
                      <a:pPr algn="l">
                        <a:lnSpc>
                          <a:spcPct val="106000"/>
                        </a:lnSpc>
                        <a:spcAft>
                          <a:spcPts val="0"/>
                        </a:spcAft>
                      </a:pPr>
                      <a:r>
                        <a:rPr sz="1100" b="0">
                          <a:solidFill>
                            <a:srgbClr val="333333"/>
                          </a:solidFill>
                          <a:latin typeface="Fira Code"/>
                        </a:rPr>
                        <a:t>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AP_AHRS::get_relative_position_NED_origin()</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bool AP_AHRS::get_relative_position_NED_origin(Vector3p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switch (active_EKF_type()) {</a:t>
                      </a:r>
                    </a:p>
                    <a:p>
                      <a:pPr algn="l">
                        <a:lnSpc>
                          <a:spcPct val="106000"/>
                        </a:lnSpc>
                        <a:spcAft>
                          <a:spcPts val="0"/>
                        </a:spcAft>
                      </a:pPr>
                      <a:r>
                        <a:rPr sz="1100" b="0">
                          <a:solidFill>
                            <a:srgbClr val="333333"/>
                          </a:solidFill>
                          <a:latin typeface="Fira Code"/>
                        </a:rPr>
                        <a:t>#if AP_AHRS_DCM_ENABLED</a:t>
                      </a:r>
                    </a:p>
                    <a:p>
                      <a:pPr algn="l">
                        <a:lnSpc>
                          <a:spcPct val="106000"/>
                        </a:lnSpc>
                        <a:spcAft>
                          <a:spcPts val="0"/>
                        </a:spcAft>
                      </a:pPr>
                      <a:r>
                        <a:rPr sz="1100" b="0">
                          <a:solidFill>
                            <a:srgbClr val="333333"/>
                          </a:solidFill>
                          <a:latin typeface="Fira Code"/>
                        </a:rPr>
                        <a:t>case EKFType::DCM:</a:t>
                      </a:r>
                    </a:p>
                    <a:p>
                      <a:pPr algn="l">
                        <a:lnSpc>
                          <a:spcPct val="106000"/>
                        </a:lnSpc>
                        <a:spcAft>
                          <a:spcPts val="0"/>
                        </a:spcAft>
                      </a:pPr>
                      <a:r>
                        <a:rPr sz="1100" b="0">
                          <a:solidFill>
                            <a:srgbClr val="333333"/>
                          </a:solidFill>
                          <a:latin typeface="Fira Code"/>
                        </a:rPr>
                        <a:t>return dcm.get_relative_position_NED_origin(vec);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#if HAL_NAVEKF2_AVAILABLE</a:t>
                      </a:r>
                    </a:p>
                    <a:p>
                      <a:pPr algn="l">
                        <a:lnSpc>
                          <a:spcPct val="106000"/>
                        </a:lnSpc>
                        <a:spcAft>
                          <a:spcPts val="0"/>
                        </a:spcAft>
                      </a:pPr>
                      <a:r>
                        <a:rPr sz="1100" b="0">
                          <a:solidFill>
                            <a:srgbClr val="333333"/>
                          </a:solidFill>
                          <a:latin typeface="Fira Code"/>
                        </a:rPr>
                        <a:t>case EKFType::TWO: {</a:t>
                      </a:r>
                    </a:p>
                    <a:p>
                      <a:pPr algn="l">
                        <a:lnSpc>
                          <a:spcPct val="106000"/>
                        </a:lnSpc>
                        <a:spcAft>
                          <a:spcPts val="0"/>
                        </a:spcAft>
                      </a:pPr>
                      <a:r>
                        <a:rPr sz="1100" b="0">
                          <a:solidFill>
                            <a:srgbClr val="333333"/>
                          </a:solidFill>
                          <a:latin typeface="Fira Code"/>
                        </a:rPr>
                        <a:t>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03688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AP_AHRS::get_velocity_NED()</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bool AP_AHRS::get_velocity_NED(Vector3f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vec = state.velocity_NED;</a:t>
                      </a:r>
                    </a:p>
                    <a:p>
                      <a:pPr algn="l">
                        <a:lnSpc>
                          <a:spcPct val="106000"/>
                        </a:lnSpc>
                        <a:spcAft>
                          <a:spcPts val="0"/>
                        </a:spcAft>
                      </a:pPr>
                      <a:r>
                        <a:rPr sz="1100" b="0">
                          <a:solidFill>
                            <a:srgbClr val="333333"/>
                          </a:solidFill>
                          <a:latin typeface="Fira Code"/>
                        </a:rPr>
                        <a:t>return state.velocity_NED_ok;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NavEKF3_core::UpdateFilter()</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don't run filter updates if states have not been initialised</a:t>
                      </a:r>
                    </a:p>
                    <a:p>
                      <a:pPr algn="l">
                        <a:lnSpc>
                          <a:spcPct val="106000"/>
                        </a:lnSpc>
                        <a:spcAft>
                          <a:spcPts val="0"/>
                        </a:spcAft>
                      </a:pPr>
                      <a:r>
                        <a:rPr sz="1100" b="0">
                          <a:solidFill>
                            <a:srgbClr val="333333"/>
                          </a:solidFill>
                          <a:latin typeface="Fira Code"/>
                        </a:rPr>
                        <a:t>if (!statesInitialised)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fill_scratch_variables();</a:t>
                      </a:r>
                    </a:p>
                    <a:p>
                      <a:pPr algn="l">
                        <a:lnSpc>
                          <a:spcPct val="106000"/>
                        </a:lnSpc>
                        <a:spcAft>
                          <a:spcPts val="0"/>
                        </a:spcAft>
                      </a:pPr>
                      <a:r>
                        <a:rPr sz="1100" b="0">
                          <a:solidFill>
                            <a:srgbClr val="333333"/>
                          </a:solidFill>
                          <a:latin typeface="Fira Code"/>
                        </a:rPr>
                        <a:t>//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45846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337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NavEKF3_core::SelectVelPosFusion()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NavEKF3_core::SelectVelPosFusion()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preventing fusion of other measurements</a:t>
                      </a:r>
                    </a:p>
                    <a:p>
                      <a:pPr algn="l">
                        <a:lnSpc>
                          <a:spcPct val="106000"/>
                        </a:lnSpc>
                        <a:spcAft>
                          <a:spcPts val="0"/>
                        </a:spcAft>
                      </a:pPr>
                      <a:r>
                        <a:rPr sz="1100" b="0">
                          <a:solidFill>
                            <a:srgbClr val="333333"/>
                          </a:solidFill>
                          <a:latin typeface="Fira Code"/>
                        </a:rPr>
                        <a:t>if (magFusePerformed &amp;&amp; dtIMUavg &lt; 0.005f &amp;&amp; !posVelFusionDelayed) {</a:t>
                      </a:r>
                    </a:p>
                    <a:p>
                      <a:pPr algn="l">
                        <a:lnSpc>
                          <a:spcPct val="106000"/>
                        </a:lnSpc>
                        <a:spcAft>
                          <a:spcPts val="0"/>
                        </a:spcAft>
                      </a:pPr>
                      <a:r>
                        <a:rPr sz="1100" b="0">
                          <a:solidFill>
                            <a:srgbClr val="333333"/>
                          </a:solidFill>
                          <a:latin typeface="Fira Code"/>
                        </a:rPr>
                        <a:t>posVelFusionDelayed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NavEKF3_core::FuseVelPosNED()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declare variables used to control access to arrays</a:t>
                      </a:r>
                    </a:p>
                    <a:p>
                      <a:pPr algn="l">
                        <a:lnSpc>
                          <a:spcPct val="106000"/>
                        </a:lnSpc>
                        <a:spcAft>
                          <a:spcPts val="0"/>
                        </a:spcAft>
                      </a:pPr>
                      <a:r>
                        <a:rPr sz="1100" b="0">
                          <a:solidFill>
                            <a:srgbClr val="333333"/>
                          </a:solidFill>
                          <a:latin typeface="Fira Code"/>
                        </a:rPr>
                        <a:t>bool fuseData[6] {};</a:t>
                      </a:r>
                    </a:p>
                    <a:p>
                      <a:pPr algn="l">
                        <a:lnSpc>
                          <a:spcPct val="106000"/>
                        </a:lnSpc>
                        <a:spcAft>
                          <a:spcPts val="0"/>
                        </a:spcAft>
                      </a:pPr>
                      <a:r>
                        <a:rPr sz="1100" b="0">
                          <a:solidFill>
                            <a:srgbClr val="333333"/>
                          </a:solidFill>
                          <a:latin typeface="Fira Code"/>
                        </a:rPr>
                        <a:t>uint8_t stateIndex;</a:t>
                      </a:r>
                    </a:p>
                    <a:p>
                      <a:pPr algn="l">
                        <a:lnSpc>
                          <a:spcPct val="106000"/>
                        </a:lnSpc>
                        <a:spcAft>
                          <a:spcPts val="0"/>
                        </a:spcAft>
                      </a:pPr>
                      <a:r>
                        <a:rPr sz="1100" b="0">
                          <a:solidFill>
                            <a:srgbClr val="333333"/>
                          </a:solidFill>
                          <a:latin typeface="Fira Code"/>
                        </a:rPr>
                        <a:t>uint8_t obsIndex;</a:t>
                      </a:r>
                    </a:p>
                    <a:p>
                      <a:pPr algn="l">
                        <a:lnSpc>
                          <a:spcPct val="106000"/>
                        </a:lnSpc>
                        <a:spcAft>
                          <a:spcPts val="0"/>
                        </a:spcAft>
                      </a:pPr>
                      <a:r>
                        <a:rPr sz="1100" b="0">
                          <a:solidFill>
                            <a:srgbClr val="333333"/>
                          </a:solidFill>
                          <a:latin typeface="Fira Code"/>
                        </a:rPr>
                        <a:t>// declare variables used by state and covariance update calculations</a:t>
                      </a:r>
                    </a:p>
                    <a:p>
                      <a:pPr algn="l">
                        <a:lnSpc>
                          <a:spcPct val="106000"/>
                        </a:lnSpc>
                        <a:spcAft>
                          <a:spcPts val="0"/>
                        </a:spcAft>
                      </a:pPr>
                      <a:r>
                        <a:rPr sz="1100" b="0">
                          <a:solidFill>
                            <a:srgbClr val="333333"/>
                          </a:solidFill>
                          <a:latin typeface="Fira Code"/>
                        </a:rPr>
                        <a:t>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NavEKF3_core::readGpsData()</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NavEKF3_core::readGpsData()</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new GPS data</a:t>
                      </a:r>
                    </a:p>
                    <a:p>
                      <a:pPr algn="l">
                        <a:lnSpc>
                          <a:spcPct val="106000"/>
                        </a:lnSpc>
                        <a:spcAft>
                          <a:spcPts val="0"/>
                        </a:spcAft>
                      </a:pPr>
                      <a:r>
                        <a:rPr sz="1100" b="0">
                          <a:solidFill>
                            <a:srgbClr val="333333"/>
                          </a:solidFill>
                          <a:latin typeface="Fira Code"/>
                        </a:rPr>
                        <a:t>const auto &amp;gps = dal.gps();</a:t>
                      </a:r>
                    </a:p>
                    <a:p>
                      <a:pPr algn="l">
                        <a:lnSpc>
                          <a:spcPct val="106000"/>
                        </a:lnSpc>
                        <a:spcAft>
                          <a:spcPts val="0"/>
                        </a:spcAft>
                      </a:pPr>
                      <a:r>
                        <a:rPr sz="1100" b="0">
                          <a:solidFill>
                            <a:srgbClr val="333333"/>
                          </a:solidFill>
                          <a:latin typeface="Fira Code"/>
                        </a:rPr>
                        <a:t>// limit update rate to avoid overflowing the FIFO buffer</a:t>
                      </a:r>
                    </a:p>
                    <a:p>
                      <a:pPr algn="l">
                        <a:lnSpc>
                          <a:spcPct val="106000"/>
                        </a:lnSpc>
                        <a:spcAft>
                          <a:spcPts val="0"/>
                        </a:spcAft>
                      </a:pPr>
                      <a:r>
                        <a:rPr sz="1100" b="0">
                          <a:solidFill>
                            <a:srgbClr val="333333"/>
                          </a:solidFill>
                          <a:latin typeface="Fira Code"/>
                        </a:rPr>
                        <a:t>if (gps.last_message_time_ms(selected_gps) - lastTimeGpsReceived_ms &lt;= frontend-&gt;sensorIntervalMin_ms)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NavEKF3_core::setAidingMode()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NavEKF3_core::setAidingMode()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resetDataSource posResetSource = resetDataSource::DEFAULT;</a:t>
                      </a:r>
                    </a:p>
                    <a:p>
                      <a:pPr algn="l">
                        <a:lnSpc>
                          <a:spcPct val="106000"/>
                        </a:lnSpc>
                        <a:spcAft>
                          <a:spcPts val="0"/>
                        </a:spcAft>
                      </a:pPr>
                      <a:r>
                        <a:rPr sz="1100" b="0">
                          <a:solidFill>
                            <a:srgbClr val="333333"/>
                          </a:solidFill>
                          <a:latin typeface="Fira Code"/>
                        </a:rPr>
                        <a:t>resetDataSource velResetSource = resetDataSource::DEFAULT;</a:t>
                      </a:r>
                    </a:p>
                    <a:p>
                      <a:pPr algn="l">
                        <a:lnSpc>
                          <a:spcPct val="106000"/>
                        </a:lnSpc>
                        <a:spcAft>
                          <a:spcPts val="0"/>
                        </a:spcAft>
                      </a:pPr>
                      <a:r>
                        <a:rPr sz="1100" b="0">
                          <a:solidFill>
                            <a:srgbClr val="333333"/>
                          </a:solidFill>
                          <a:latin typeface="Fira Code"/>
                        </a:rPr>
                        <a:t>// Save the previous status so we can detect when it has changed</a:t>
                      </a:r>
                    </a:p>
                    <a:p>
                      <a:pPr algn="l">
                        <a:lnSpc>
                          <a:spcPct val="106000"/>
                        </a:lnSpc>
                        <a:spcAft>
                          <a:spcPts val="0"/>
                        </a:spcAft>
                      </a:pPr>
                      <a:r>
                        <a:rPr sz="1100" b="0">
                          <a:solidFill>
                            <a:srgbClr val="333333"/>
                          </a:solidFill>
                          <a:latin typeface="Fira Code"/>
                        </a:rPr>
                        <a:t>PV_AidingModePrev = PV_AidingMode;</a:t>
                      </a:r>
                    </a:p>
                    <a:p>
                      <a:pPr algn="l">
                        <a:lnSpc>
                          <a:spcPct val="106000"/>
                        </a:lnSpc>
                        <a:spcAft>
                          <a:spcPts val="0"/>
                        </a:spcAft>
                      </a:pPr>
                      <a:r>
                        <a:rPr sz="1100" b="0">
                          <a:solidFill>
                            <a:srgbClr val="333333"/>
                          </a:solidFill>
                          <a:latin typeface="Fira Code"/>
                        </a:rPr>
                        <a:t>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NavEKF3_core::SelectMagFusion()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NavEKF3_core::SelectMagFusion()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Fira Code"/>
                        </a:rPr>
                        <a:t>// used for load levelling</a:t>
                      </a:r>
                    </a:p>
                    <a:p>
                      <a:pPr algn="l">
                        <a:lnSpc>
                          <a:spcPct val="106000"/>
                        </a:lnSpc>
                        <a:spcAft>
                          <a:spcPts val="0"/>
                        </a:spcAft>
                      </a:pPr>
                      <a:r>
                        <a:rPr sz="1100" b="0">
                          <a:solidFill>
                            <a:srgbClr val="333333"/>
                          </a:solidFill>
                          <a:latin typeface="Fira Code"/>
                        </a:rPr>
                        <a:t>magFusePerformed = false;</a:t>
                      </a:r>
                    </a:p>
                    <a:p>
                      <a:pPr algn="l">
                        <a:lnSpc>
                          <a:spcPct val="106000"/>
                        </a:lnSpc>
                        <a:spcAft>
                          <a:spcPts val="0"/>
                        </a:spcAft>
                      </a:pPr>
                      <a:r>
                        <a:rPr sz="1100" b="0">
                          <a:solidFill>
                            <a:srgbClr val="333333"/>
                          </a:solidFill>
                          <a:latin typeface="Fira Code"/>
                        </a:rPr>
                        <a:t>// Store yaw angle when moving for use as a static reference when not moving</a:t>
                      </a:r>
                    </a:p>
                    <a:p>
                      <a:pPr algn="l">
                        <a:lnSpc>
                          <a:spcPct val="106000"/>
                        </a:lnSpc>
                        <a:spcAft>
                          <a:spcPts val="0"/>
                        </a:spcAft>
                      </a:pPr>
                      <a:r>
                        <a:rPr sz="1100" b="0">
                          <a:solidFill>
                            <a:srgbClr val="333333"/>
                          </a:solidFill>
                          <a:latin typeface="Fira Code"/>
                        </a:rPr>
                        <a:t>if (!onGroundNotMoving) {</a:t>
                      </a:r>
                    </a:p>
                    <a:p>
                      <a:pPr algn="l">
                        <a:lnSpc>
                          <a:spcPct val="106000"/>
                        </a:lnSpc>
                        <a:spcAft>
                          <a:spcPts val="0"/>
                        </a:spcAft>
                      </a:pPr>
                      <a:r>
                        <a:rPr sz="1100" b="0">
                          <a:solidFill>
                            <a:srgbClr val="333333"/>
                          </a:solidFill>
                          <a:latin typeface="Fira Code"/>
                        </a:rPr>
                        <a:t>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NavEKF3_core::SelectTasFusion()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NavEKF3_core::SelectTasFusion()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locking out fusion of other measurements</a:t>
                      </a:r>
                    </a:p>
                    <a:p>
                      <a:pPr algn="l">
                        <a:lnSpc>
                          <a:spcPct val="106000"/>
                        </a:lnSpc>
                        <a:spcAft>
                          <a:spcPts val="0"/>
                        </a:spcAft>
                      </a:pPr>
                      <a:r>
                        <a:rPr sz="1100" b="0">
                          <a:solidFill>
                            <a:srgbClr val="333333"/>
                          </a:solidFill>
                          <a:latin typeface="Fira Code"/>
                        </a:rPr>
                        <a:t>if (magFusePerformed &amp;&amp; dtIMUavg &lt; 0.005f &amp;&amp; !airSpdFusionDelayed) {</a:t>
                      </a:r>
                    </a:p>
                    <a:p>
                      <a:pPr algn="l">
                        <a:lnSpc>
                          <a:spcPct val="106000"/>
                        </a:lnSpc>
                        <a:spcAft>
                          <a:spcPts val="0"/>
                        </a:spcAft>
                      </a:pPr>
                      <a:r>
                        <a:rPr sz="1100" b="0">
                          <a:solidFill>
                            <a:srgbClr val="333333"/>
                          </a:solidFill>
                          <a:latin typeface="Fira Code"/>
                        </a:rPr>
                        <a:t>airSpdFusionDelayed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NavEKF3_core::SelectFlowFusion()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NavEKF3_core::SelectFlowFusion()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preventing fusion of other measurements</a:t>
                      </a:r>
                    </a:p>
                    <a:p>
                      <a:pPr algn="l">
                        <a:lnSpc>
                          <a:spcPct val="106000"/>
                        </a:lnSpc>
                        <a:spcAft>
                          <a:spcPts val="0"/>
                        </a:spcAft>
                      </a:pPr>
                      <a:r>
                        <a:rPr sz="1100" b="0">
                          <a:solidFill>
                            <a:srgbClr val="333333"/>
                          </a:solidFill>
                          <a:latin typeface="Fira Code"/>
                        </a:rPr>
                        <a:t>if (magFusePerformed &amp;&amp; dtIMUavg &lt; 0.005f &amp;&amp; !optFlowFusionDelayed) {</a:t>
                      </a:r>
                    </a:p>
                    <a:p>
                      <a:pPr algn="l">
                        <a:lnSpc>
                          <a:spcPct val="106000"/>
                        </a:lnSpc>
                        <a:spcAft>
                          <a:spcPts val="0"/>
                        </a:spcAft>
                      </a:pPr>
                      <a:r>
                        <a:rPr sz="1100" b="0">
                          <a:solidFill>
                            <a:srgbClr val="333333"/>
                          </a:solidFill>
                          <a:latin typeface="Fira Code"/>
                        </a:rPr>
                        <a:t>optFlowFusionDelayed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NavEKF3_core::getLLH()</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NavEKF3_core::getLLH(Location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Location origin;</a:t>
                      </a:r>
                    </a:p>
                    <a:p>
                      <a:pPr algn="l">
                        <a:lnSpc>
                          <a:spcPct val="106000"/>
                        </a:lnSpc>
                        <a:spcAft>
                          <a:spcPts val="0"/>
                        </a:spcAft>
                      </a:pPr>
                      <a:r>
                        <a:rPr sz="1100" b="0">
                          <a:solidFill>
                            <a:srgbClr val="333333"/>
                          </a:solidFill>
                          <a:latin typeface="Fira Code"/>
                        </a:rPr>
                        <a:t>if (getOriginLLH(origin)) {</a:t>
                      </a:r>
                    </a:p>
                    <a:p>
                      <a:pPr algn="l">
                        <a:lnSpc>
                          <a:spcPct val="106000"/>
                        </a:lnSpc>
                        <a:spcAft>
                          <a:spcPts val="0"/>
                        </a:spcAft>
                      </a:pPr>
                      <a:r>
                        <a:rPr sz="1100" b="0">
                          <a:solidFill>
                            <a:srgbClr val="333333"/>
                          </a:solidFill>
                          <a:latin typeface="Fira Code"/>
                        </a:rPr>
                        <a:t>postype_t posD;</a:t>
                      </a:r>
                    </a:p>
                    <a:p>
                      <a:pPr algn="l">
                        <a:lnSpc>
                          <a:spcPct val="106000"/>
                        </a:lnSpc>
                        <a:spcAft>
                          <a:spcPts val="0"/>
                        </a:spcAft>
                      </a:pPr>
                      <a:r>
                        <a:rPr sz="1100" b="0">
                          <a:solidFill>
                            <a:srgbClr val="333333"/>
                          </a:solidFill>
                          <a:latin typeface="Fira Code"/>
                        </a:rPr>
                        <a:t>if (getPosD_local(posD) &amp;&amp; PV_AidingMode != AID_NONE) {</a:t>
                      </a:r>
                    </a:p>
                    <a:p>
                      <a:pPr algn="l">
                        <a:lnSpc>
                          <a:spcPct val="106000"/>
                        </a:lnSpc>
                        <a:spcAft>
                          <a:spcPts val="0"/>
                        </a:spcAft>
                      </a:pPr>
                      <a:r>
                        <a:rPr sz="1100" b="0">
                          <a:solidFill>
                            <a:srgbClr val="333333"/>
                          </a:solidFill>
                          <a:latin typeface="Fira Code"/>
                        </a:rPr>
                        <a:t>// Altitude returned is an absolute altitude relative</a:t>
                      </a:r>
                    </a:p>
                    <a:p>
                      <a:pPr algn="l">
                        <a:lnSpc>
                          <a:spcPct val="106000"/>
                        </a:lnSpc>
                        <a:spcAft>
                          <a:spcPts val="0"/>
                        </a:spcAft>
                      </a:pPr>
                      <a:r>
                        <a:rPr sz="1100" b="0">
                          <a:solidFill>
                            <a:srgbClr val="333333"/>
                          </a:solidFill>
                          <a:latin typeface="Fira Code"/>
                        </a:rPr>
                        <a:t>to the WGS-84 spherioid</a:t>
                      </a:r>
                    </a:p>
                    <a:p>
                      <a:pPr algn="l">
                        <a:lnSpc>
                          <a:spcPct val="106000"/>
                        </a:lnSpc>
                        <a:spcAft>
                          <a:spcPts val="0"/>
                        </a:spcAft>
                      </a:pPr>
                      <a:r>
                        <a:rPr sz="1100" b="0">
                          <a:solidFill>
                            <a:srgbClr val="333333"/>
                          </a:solidFill>
                          <a:latin typeface="Fira Code"/>
                        </a:rPr>
                        <a:t>loc.set_alt_cm(origin.alt - posD*100.0, Location::AltFrame::ABSOLUTE);</a:t>
                      </a:r>
                    </a:p>
                    <a:p>
                      <a:pPr algn="l">
                        <a:lnSpc>
                          <a:spcPct val="106000"/>
                        </a:lnSpc>
                        <a:spcAft>
                          <a:spcPts val="0"/>
                        </a:spcAft>
                      </a:pPr>
                      <a:r>
                        <a:rPr sz="1100" b="0">
                          <a:solidFill>
                            <a:srgbClr val="333333"/>
                          </a:solidFill>
                          <a:latin typeface="Fira Code"/>
                        </a:rPr>
                        <a:t>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NavEKF3_core::calcGpsGoodToAlign()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NavEKF3_core::calcGpsGoodToAlign(void)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(inFlight &amp;&amp; !finalInflightYawInit &amp;&amp; assume_zero_sideslip(</a:t>
                      </a:r>
                    </a:p>
                    <a:p>
                      <a:pPr algn="l">
                        <a:lnSpc>
                          <a:spcPct val="106000"/>
                        </a:lnSpc>
                        <a:spcAft>
                          <a:spcPts val="0"/>
                        </a:spcAft>
                      </a:pPr>
                      <a:r>
                        <a:rPr sz="1100" b="0">
                          <a:solidFill>
                            <a:srgbClr val="333333"/>
                          </a:solidFill>
                          <a:latin typeface="Fira Code"/>
                        </a:rPr>
                        <a:t>) &amp;&amp; !use_compass()) {</a:t>
                      </a:r>
                    </a:p>
                    <a:p>
                      <a:pPr algn="l">
                        <a:lnSpc>
                          <a:spcPct val="106000"/>
                        </a:lnSpc>
                        <a:spcAft>
                          <a:spcPts val="0"/>
                        </a:spcAft>
                      </a:pPr>
                      <a:r>
                        <a:rPr sz="1100" b="0">
                          <a:solidFill>
                            <a:srgbClr val="333333"/>
                          </a:solidFill>
                          <a:latin typeface="Fira Code"/>
                        </a:rPr>
                        <a:t>// this is a special case where a plane has launched without magnetometer</a:t>
                      </a:r>
                    </a:p>
                    <a:p>
                      <a:pPr algn="l">
                        <a:lnSpc>
                          <a:spcPct val="106000"/>
                        </a:lnSpc>
                        <a:spcAft>
                          <a:spcPts val="0"/>
                        </a:spcAft>
                      </a:pPr>
                      <a:r>
                        <a:rPr sz="1100" b="0">
                          <a:solidFill>
                            <a:srgbClr val="333333"/>
                          </a:solidFill>
                          <a:latin typeface="Fira Code"/>
                        </a:rPr>
                        <a:t>// is now in the air and needs to align yaw to the GPS and</a:t>
                      </a:r>
                    </a:p>
                    <a:p>
                      <a:pPr algn="l">
                        <a:lnSpc>
                          <a:spcPct val="106000"/>
                        </a:lnSpc>
                        <a:spcAft>
                          <a:spcPts val="0"/>
                        </a:spcAft>
                      </a:pPr>
                      <a:r>
                        <a:rPr sz="1100" b="0">
                          <a:solidFill>
                            <a:srgbClr val="333333"/>
                          </a:solidFill>
                          <a:latin typeface="Fira Code"/>
                        </a:rPr>
                        <a:t>start navigating as soon as possible</a:t>
                      </a:r>
                    </a:p>
                    <a:p>
                      <a:pPr algn="l">
                        <a:lnSpc>
                          <a:spcPct val="106000"/>
                        </a:lnSpc>
                        <a:spcAft>
                          <a:spcPts val="0"/>
                        </a:spcAft>
                      </a:pPr>
                      <a:r>
                        <a:rPr sz="1100" b="0">
                          <a:solidFill>
                            <a:srgbClr val="333333"/>
                          </a:solidFill>
                          <a:latin typeface="Fira Code"/>
                        </a:rPr>
                        <a:t>gpsGoodToAlign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NavEKF3_core::resetGyroBias()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NavEKF3_core::resetGyroBias(void)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stateStruct.gyro_bias.zero();</a:t>
                      </a:r>
                    </a:p>
                    <a:p>
                      <a:pPr algn="l">
                        <a:lnSpc>
                          <a:spcPct val="106000"/>
                        </a:lnSpc>
                        <a:spcAft>
                          <a:spcPts val="0"/>
                        </a:spcAft>
                      </a:pPr>
                      <a:r>
                        <a:rPr sz="1100" b="0">
                          <a:solidFill>
                            <a:srgbClr val="333333"/>
                          </a:solidFill>
                          <a:latin typeface="Fira Code"/>
                        </a:rPr>
                        <a:t>zeroRows(P,10,12);</a:t>
                      </a:r>
                    </a:p>
                    <a:p>
                      <a:pPr algn="l">
                        <a:lnSpc>
                          <a:spcPct val="106000"/>
                        </a:lnSpc>
                        <a:spcAft>
                          <a:spcPts val="0"/>
                        </a:spcAft>
                      </a:pPr>
                      <a:r>
                        <a:rPr sz="1100" b="0">
                          <a:solidFill>
                            <a:srgbClr val="333333"/>
                          </a:solidFill>
                          <a:latin typeface="Fira Code"/>
                        </a:rPr>
                        <a:t>zeroCols(P,10,12);</a:t>
                      </a:r>
                    </a:p>
                    <a:p>
                      <a:pPr algn="l">
                        <a:lnSpc>
                          <a:spcPct val="106000"/>
                        </a:lnSpc>
                        <a:spcAft>
                          <a:spcPts val="0"/>
                        </a:spcAft>
                      </a:pPr>
                      <a:r>
                        <a:rPr sz="1100" b="0">
                          <a:solidFill>
                            <a:srgbClr val="333333"/>
                          </a:solidFill>
                          <a:latin typeface="Fira Code"/>
                        </a:rPr>
                        <a:t>P[10][10] = sq(radians(0.5f * dtIMUavg));</a:t>
                      </a:r>
                    </a:p>
                    <a:p>
                      <a:pPr algn="l">
                        <a:lnSpc>
                          <a:spcPct val="106000"/>
                        </a:lnSpc>
                        <a:spcAft>
                          <a:spcPts val="0"/>
                        </a:spcAft>
                      </a:pPr>
                      <a:r>
                        <a:rPr sz="1100" b="0">
                          <a:solidFill>
                            <a:srgbClr val="333333"/>
                          </a:solidFill>
                          <a:latin typeface="Fira Code"/>
                        </a:rPr>
                        <a:t>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NavEKF3_core::FuseRngBcn()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NavEKF3_core::FuseRngBcn()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declarations</a:t>
                      </a:r>
                    </a:p>
                    <a:p>
                      <a:pPr algn="l">
                        <a:lnSpc>
                          <a:spcPct val="106000"/>
                        </a:lnSpc>
                        <a:spcAft>
                          <a:spcPts val="0"/>
                        </a:spcAft>
                      </a:pPr>
                      <a:r>
                        <a:rPr sz="1100" b="0">
                          <a:solidFill>
                            <a:srgbClr val="333333"/>
                          </a:solidFill>
                          <a:latin typeface="Fira Code"/>
                        </a:rPr>
                        <a:t>ftype pn;</a:t>
                      </a:r>
                    </a:p>
                    <a:p>
                      <a:pPr algn="l">
                        <a:lnSpc>
                          <a:spcPct val="106000"/>
                        </a:lnSpc>
                        <a:spcAft>
                          <a:spcPts val="0"/>
                        </a:spcAft>
                      </a:pPr>
                      <a:r>
                        <a:rPr sz="1100" b="0">
                          <a:solidFill>
                            <a:srgbClr val="333333"/>
                          </a:solidFill>
                          <a:latin typeface="Fira Code"/>
                        </a:rPr>
                        <a:t>ftype pe;</a:t>
                      </a:r>
                    </a:p>
                    <a:p>
                      <a:pPr algn="l">
                        <a:lnSpc>
                          <a:spcPct val="106000"/>
                        </a:lnSpc>
                        <a:spcAft>
                          <a:spcPts val="0"/>
                        </a:spcAft>
                      </a:pPr>
                      <a:r>
                        <a:rPr sz="1100" b="0">
                          <a:solidFill>
                            <a:srgbClr val="333333"/>
                          </a:solidFill>
                          <a:latin typeface="Fira Code"/>
                        </a:rPr>
                        <a:t>ftype pd;</a:t>
                      </a:r>
                    </a:p>
                    <a:p>
                      <a:pPr algn="l">
                        <a:lnSpc>
                          <a:spcPct val="106000"/>
                        </a:lnSpc>
                        <a:spcAft>
                          <a:spcPts val="0"/>
                        </a:spcAft>
                      </a:pPr>
                      <a:r>
                        <a:rPr sz="1100" b="0">
                          <a:solidFill>
                            <a:srgbClr val="333333"/>
                          </a:solidFill>
                          <a:latin typeface="Fira Code"/>
                        </a:rPr>
                        <a:t>ftype bcn_pn;</a:t>
                      </a:r>
                    </a:p>
                    <a:p>
                      <a:pPr algn="l">
                        <a:lnSpc>
                          <a:spcPct val="106000"/>
                        </a:lnSpc>
                        <a:spcAft>
                          <a:spcPts val="0"/>
                        </a:spcAft>
                      </a:pPr>
                      <a:r>
                        <a:rPr sz="1100" b="0">
                          <a:solidFill>
                            <a:srgbClr val="333333"/>
                          </a:solidFill>
                          <a:latin typeface="Fira Code"/>
                        </a:rPr>
                        <a:t>ftype bcn_pe;</a:t>
                      </a:r>
                    </a:p>
                    <a:p>
                      <a:pPr algn="l">
                        <a:lnSpc>
                          <a:spcPct val="106000"/>
                        </a:lnSpc>
                        <a:spcAft>
                          <a:spcPts val="0"/>
                        </a:spcAft>
                      </a:pPr>
                      <a:r>
                        <a:rPr sz="1100" b="0">
                          <a:solidFill>
                            <a:srgbClr val="333333"/>
                          </a:solidFill>
                          <a:latin typeface="Fira Code"/>
                        </a:rPr>
                        <a:t>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NavEKF3_core::Log_Write_XKF1()</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NavEKF3_core::Log_Write_XKF1(uint64_t time_us)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Write first EKF packet</a:t>
                      </a:r>
                    </a:p>
                    <a:p>
                      <a:pPr algn="l">
                        <a:lnSpc>
                          <a:spcPct val="106000"/>
                        </a:lnSpc>
                        <a:spcAft>
                          <a:spcPts val="0"/>
                        </a:spcAft>
                      </a:pPr>
                      <a:r>
                        <a:rPr sz="1100" b="0">
                          <a:solidFill>
                            <a:srgbClr val="333333"/>
                          </a:solidFill>
                          <a:latin typeface="Fira Code"/>
                        </a:rPr>
                        <a:t>Vector3f euler;</a:t>
                      </a:r>
                    </a:p>
                    <a:p>
                      <a:pPr algn="l">
                        <a:lnSpc>
                          <a:spcPct val="106000"/>
                        </a:lnSpc>
                        <a:spcAft>
                          <a:spcPts val="0"/>
                        </a:spcAft>
                      </a:pPr>
                      <a:r>
                        <a:rPr sz="1100" b="0">
                          <a:solidFill>
                            <a:srgbClr val="333333"/>
                          </a:solidFill>
                          <a:latin typeface="Fira Code"/>
                        </a:rPr>
                        <a:t>Vector2p posNE;</a:t>
                      </a:r>
                    </a:p>
                    <a:p>
                      <a:pPr algn="l">
                        <a:lnSpc>
                          <a:spcPct val="106000"/>
                        </a:lnSpc>
                        <a:spcAft>
                          <a:spcPts val="0"/>
                        </a:spcAft>
                      </a:pPr>
                      <a:r>
                        <a:rPr sz="1100" b="0">
                          <a:solidFill>
                            <a:srgbClr val="333333"/>
                          </a:solidFill>
                          <a:latin typeface="Fira Code"/>
                        </a:rPr>
                        <a:t>postype_t posD;</a:t>
                      </a:r>
                    </a:p>
                    <a:p>
                      <a:pPr algn="l">
                        <a:lnSpc>
                          <a:spcPct val="106000"/>
                        </a:lnSpc>
                        <a:spcAft>
                          <a:spcPts val="0"/>
                        </a:spcAft>
                      </a:pPr>
                      <a:r>
                        <a:rPr sz="1100" b="0">
                          <a:solidFill>
                            <a:srgbClr val="333333"/>
                          </a:solidFill>
                          <a:latin typeface="Fira Code"/>
                        </a:rPr>
                        <a:t>Vector3f velNED;</a:t>
                      </a:r>
                    </a:p>
                    <a:p>
                      <a:pPr algn="l">
                        <a:lnSpc>
                          <a:spcPct val="106000"/>
                        </a:lnSpc>
                        <a:spcAft>
                          <a:spcPts val="0"/>
                        </a:spcAft>
                      </a:pPr>
                      <a:r>
                        <a:rPr sz="1100" b="0">
                          <a:solidFill>
                            <a:srgbClr val="333333"/>
                          </a:solidFill>
                          <a:latin typeface="Fira Code"/>
                        </a:rPr>
                        <a:t>Vector3f gyroBias;</a:t>
                      </a:r>
                    </a:p>
                    <a:p>
                      <a:pPr algn="l">
                        <a:lnSpc>
                          <a:spcPct val="106000"/>
                        </a:lnSpc>
                        <a:spcAft>
                          <a:spcPts val="0"/>
                        </a:spcAft>
                      </a:pPr>
                      <a:r>
                        <a:rPr sz="1100" b="0">
                          <a:solidFill>
                            <a:srgbClr val="333333"/>
                          </a:solidFill>
                          <a:latin typeface="Fira Code"/>
                        </a:rPr>
                        <a:t>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NavEKF3::getFilterStatus()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NavEKF3::getFilterStatus(nav_filter_status &amp;status)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(core) {</a:t>
                      </a:r>
                    </a:p>
                    <a:p>
                      <a:pPr algn="l">
                        <a:lnSpc>
                          <a:spcPct val="106000"/>
                        </a:lnSpc>
                        <a:spcAft>
                          <a:spcPts val="0"/>
                        </a:spcAft>
                      </a:pPr>
                      <a:r>
                        <a:rPr sz="1100" b="0">
                          <a:solidFill>
                            <a:srgbClr val="333333"/>
                          </a:solidFill>
                          <a:latin typeface="Fira Code"/>
                        </a:rPr>
                        <a:t>core[primary].getFilterStatus(status);</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memset(&amp;status, 0, sizeof(status));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NavEKF2_core::UpdateFilter()</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NavEKF2_core::UpdateFilter(bool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Fira Code"/>
                        </a:rPr>
                        <a:t>startPredictEnabled = predict;</a:t>
                      </a:r>
                    </a:p>
                    <a:p>
                      <a:pPr algn="l">
                        <a:lnSpc>
                          <a:spcPct val="106000"/>
                        </a:lnSpc>
                        <a:spcAft>
                          <a:spcPts val="0"/>
                        </a:spcAft>
                      </a:pPr>
                      <a:r>
                        <a:rPr sz="1100" b="0">
                          <a:solidFill>
                            <a:srgbClr val="333333"/>
                          </a:solidFill>
                          <a:latin typeface="Fira Code"/>
                        </a:rPr>
                        <a:t>// don't run filter updates if states have not been initialised</a:t>
                      </a:r>
                    </a:p>
                    <a:p>
                      <a:pPr algn="l">
                        <a:lnSpc>
                          <a:spcPct val="106000"/>
                        </a:lnSpc>
                        <a:spcAft>
                          <a:spcPts val="0"/>
                        </a:spcAft>
                      </a:pPr>
                      <a:r>
                        <a:rPr sz="1100" b="0">
                          <a:solidFill>
                            <a:srgbClr val="333333"/>
                          </a:solidFill>
                          <a:latin typeface="Fira Code"/>
                        </a:rPr>
                        <a:t>if (!statesInitialised)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NavEKF2_core::FuseVelPosNED()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NavEKF2_core::FuseVelPosNED()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health is set bad until test passed</a:t>
                      </a:r>
                    </a:p>
                    <a:p>
                      <a:pPr algn="l">
                        <a:lnSpc>
                          <a:spcPct val="106000"/>
                        </a:lnSpc>
                        <a:spcAft>
                          <a:spcPts val="0"/>
                        </a:spcAft>
                      </a:pPr>
                      <a:r>
                        <a:rPr sz="1100" b="0">
                          <a:solidFill>
                            <a:srgbClr val="333333"/>
                          </a:solidFill>
                          <a:latin typeface="Fira Code"/>
                        </a:rPr>
                        <a:t>bool velHealth = false; // boolean true if velocity measurements have passed innovation consistency check</a:t>
                      </a:r>
                    </a:p>
                    <a:p>
                      <a:pPr algn="l">
                        <a:lnSpc>
                          <a:spcPct val="106000"/>
                        </a:lnSpc>
                        <a:spcAft>
                          <a:spcPts val="0"/>
                        </a:spcAft>
                      </a:pPr>
                      <a:r>
                        <a:rPr sz="1100" b="0">
                          <a:solidFill>
                            <a:srgbClr val="333333"/>
                          </a:solidFill>
                          <a:latin typeface="Fira Code"/>
                        </a:rPr>
                        <a:t>bool posHealth = false; // boolean true if position measurements have passed innovation consistency check</a:t>
                      </a:r>
                    </a:p>
                    <a:p>
                      <a:pPr algn="l">
                        <a:lnSpc>
                          <a:spcPct val="106000"/>
                        </a:lnSpc>
                        <a:spcAft>
                          <a:spcPts val="0"/>
                        </a:spcAft>
                      </a:pPr>
                      <a:r>
                        <a:rPr sz="1100" b="0">
                          <a:solidFill>
                            <a:srgbClr val="333333"/>
                          </a:solidFill>
                          <a:latin typeface="Fira Code"/>
                        </a:rPr>
                        <a:t>bool hgtHealth = false; // boolean true if height measurements have passed innovation consistency check</a:t>
                      </a:r>
                    </a:p>
                    <a:p>
                      <a:pPr algn="l">
                        <a:lnSpc>
                          <a:spcPct val="106000"/>
                        </a:lnSpc>
                        <a:spcAft>
                          <a:spcPts val="0"/>
                        </a:spcAft>
                      </a:pPr>
                      <a:r>
                        <a:rPr sz="1100" b="0">
                          <a:solidFill>
                            <a:srgbClr val="333333"/>
                          </a:solidFill>
                          <a:latin typeface="Fira Code"/>
                        </a:rPr>
                        <a:t>// declare variables used to check measurement errors</a:t>
                      </a:r>
                    </a:p>
                    <a:p>
                      <a:pPr algn="l">
                        <a:lnSpc>
                          <a:spcPct val="106000"/>
                        </a:lnSpc>
                        <a:spcAft>
                          <a:spcPts val="0"/>
                        </a:spcAft>
                      </a:pPr>
                      <a:r>
                        <a:rPr sz="1100" b="0">
                          <a:solidFill>
                            <a:srgbClr val="333333"/>
                          </a:solidFill>
                          <a:latin typeface="Fira Code"/>
                        </a:rPr>
                        <a:t>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EKFGSF_yaw::update()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EKFGSF_yaw::update(const Vector3F &amp;delAng,</a:t>
                      </a:r>
                    </a:p>
                    <a:p>
                      <a:pPr algn="l">
                        <a:lnSpc>
                          <a:spcPct val="106000"/>
                        </a:lnSpc>
                        <a:spcAft>
                          <a:spcPts val="0"/>
                        </a:spcAft>
                      </a:pPr>
                      <a:r>
                        <a:rPr sz="1100" b="0">
                          <a:solidFill>
                            <a:srgbClr val="333333"/>
                          </a:solidFill>
                          <a:latin typeface="Fira Code"/>
                        </a:rPr>
                        <a:t>const Vector3F &amp;delVel,</a:t>
                      </a:r>
                    </a:p>
                    <a:p>
                      <a:pPr algn="l">
                        <a:lnSpc>
                          <a:spcPct val="106000"/>
                        </a:lnSpc>
                        <a:spcAft>
                          <a:spcPts val="0"/>
                        </a:spcAft>
                      </a:pPr>
                      <a:r>
                        <a:rPr sz="1100" b="0">
                          <a:solidFill>
                            <a:srgbClr val="333333"/>
                          </a:solidFill>
                          <a:latin typeface="Fira Code"/>
                        </a:rPr>
                        <a:t>const ftype delAngDT,</a:t>
                      </a:r>
                    </a:p>
                    <a:p>
                      <a:pPr algn="l">
                        <a:lnSpc>
                          <a:spcPct val="106000"/>
                        </a:lnSpc>
                        <a:spcAft>
                          <a:spcPts val="0"/>
                        </a:spcAft>
                      </a:pPr>
                      <a:r>
                        <a:rPr sz="1100" b="0">
                          <a:solidFill>
                            <a:srgbClr val="333333"/>
                          </a:solidFill>
                          <a:latin typeface="Fira Code"/>
                        </a:rPr>
                        <a:t>const ftype delVelDT,</a:t>
                      </a:r>
                    </a:p>
                    <a:p>
                      <a:pPr algn="l">
                        <a:lnSpc>
                          <a:spcPct val="106000"/>
                        </a:lnSpc>
                        <a:spcAft>
                          <a:spcPts val="0"/>
                        </a:spcAft>
                      </a:pPr>
                      <a:r>
                        <a:rPr sz="1100" b="0">
                          <a:solidFill>
                            <a:srgbClr val="333333"/>
                          </a:solidFill>
                          <a:latin typeface="Fira Code"/>
                        </a:rPr>
                        <a:t>bool runEKF,</a:t>
                      </a:r>
                    </a:p>
                    <a:p>
                      <a:pPr algn="l">
                        <a:lnSpc>
                          <a:spcPct val="106000"/>
                        </a:lnSpc>
                        <a:spcAft>
                          <a:spcPts val="0"/>
                        </a:spcAft>
                      </a:pPr>
                      <a:r>
                        <a:rPr sz="1100" b="0">
                          <a:solidFill>
                            <a:srgbClr val="333333"/>
                          </a:solidFill>
                          <a:latin typeface="Fira Code"/>
                        </a:rPr>
                        <a:t>ftype TAS)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AC_WPNav::set_wp_destination_loc()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AC_WPNav::set_wp_destination_loc(const Location&amp; destination)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bool is_terrain_alt;</a:t>
                      </a:r>
                    </a:p>
                    <a:p>
                      <a:pPr algn="l">
                        <a:lnSpc>
                          <a:spcPct val="106000"/>
                        </a:lnSpc>
                        <a:spcAft>
                          <a:spcPts val="0"/>
                        </a:spcAft>
                      </a:pPr>
                      <a:r>
                        <a:rPr sz="1100" b="0">
                          <a:solidFill>
                            <a:srgbClr val="333333"/>
                          </a:solidFill>
                          <a:latin typeface="Fira Code"/>
                        </a:rPr>
                        <a:t>Vector3f dest_neu_cm;</a:t>
                      </a:r>
                    </a:p>
                    <a:p>
                      <a:pPr algn="l">
                        <a:lnSpc>
                          <a:spcPct val="106000"/>
                        </a:lnSpc>
                        <a:spcAft>
                          <a:spcPts val="0"/>
                        </a:spcAft>
                      </a:pPr>
                      <a:r>
                        <a:rPr sz="1100" b="0">
                          <a:solidFill>
                            <a:srgbClr val="333333"/>
                          </a:solidFill>
                          <a:latin typeface="Fira Code"/>
                        </a:rPr>
                        <a:t>// convert destination location to vector</a:t>
                      </a:r>
                    </a:p>
                    <a:p>
                      <a:pPr algn="l">
                        <a:lnSpc>
                          <a:spcPct val="106000"/>
                        </a:lnSpc>
                        <a:spcAft>
                          <a:spcPts val="0"/>
                        </a:spcAft>
                      </a:pPr>
                      <a:r>
                        <a:rPr sz="1100" b="0">
                          <a:solidFill>
                            <a:srgbClr val="333333"/>
                          </a:solidFill>
                          <a:latin typeface="Fira Code"/>
                        </a:rPr>
                        <a:t>if (!get_vector_NEU_cm(destination, dest_neu_cm, is_terrain_alt))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AP_Mission::get_next_nav_cmd()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AP_Mission::get_next_nav_cmd(uint16_t start_index, Mission_Command&amp; cmd)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search until the end of the mission command list</a:t>
                      </a:r>
                    </a:p>
                    <a:p>
                      <a:pPr algn="l">
                        <a:lnSpc>
                          <a:spcPct val="106000"/>
                        </a:lnSpc>
                        <a:spcAft>
                          <a:spcPts val="0"/>
                        </a:spcAft>
                      </a:pPr>
                      <a:r>
                        <a:rPr sz="1100" b="0">
                          <a:solidFill>
                            <a:srgbClr val="333333"/>
                          </a:solidFill>
                          <a:latin typeface="Fira Code"/>
                        </a:rPr>
                        <a:t>for (uint16_t cmd_index = start_index; cmd_index &lt; (unsigned)_cmd_total; cmd_index++) {</a:t>
                      </a:r>
                    </a:p>
                    <a:p>
                      <a:pPr algn="l">
                        <a:lnSpc>
                          <a:spcPct val="106000"/>
                        </a:lnSpc>
                        <a:spcAft>
                          <a:spcPts val="0"/>
                        </a:spcAft>
                      </a:pPr>
                      <a:r>
                        <a:rPr sz="1100" b="0">
                          <a:solidFill>
                            <a:srgbClr val="333333"/>
                          </a:solidFill>
                          <a:latin typeface="Fira Code"/>
                        </a:rPr>
                        <a:t>// get next command</a:t>
                      </a:r>
                    </a:p>
                    <a:p>
                      <a:pPr algn="l">
                        <a:lnSpc>
                          <a:spcPct val="106000"/>
                        </a:lnSpc>
                        <a:spcAft>
                          <a:spcPts val="0"/>
                        </a:spcAft>
                      </a:pPr>
                      <a:r>
                        <a:rPr sz="1100" b="0">
                          <a:solidFill>
                            <a:srgbClr val="333333"/>
                          </a:solidFill>
                          <a:latin typeface="Fira Code"/>
                        </a:rPr>
                        <a:t>if (!get_next_cmd(cmd_index, cmd, false)) {</a:t>
                      </a:r>
                    </a:p>
                    <a:p>
                      <a:pPr algn="l">
                        <a:lnSpc>
                          <a:spcPct val="106000"/>
                        </a:lnSpc>
                        <a:spcAft>
                          <a:spcPts val="0"/>
                        </a:spcAft>
                      </a:pPr>
                      <a:r>
                        <a:rPr sz="1100" b="0">
                          <a:solidFill>
                            <a:srgbClr val="333333"/>
                          </a:solidFill>
                          <a:latin typeface="Fira Code"/>
                        </a:rPr>
                        <a:t>// no more commands so return failure</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AP_L1_Control::update_waypoint()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Calculate L1 gain required for specified damping</a:t>
                      </a:r>
                    </a:p>
                    <a:p>
                      <a:pPr algn="l">
                        <a:lnSpc>
                          <a:spcPct val="106000"/>
                        </a:lnSpc>
                        <a:spcAft>
                          <a:spcPts val="0"/>
                        </a:spcAft>
                      </a:pPr>
                      <a:r>
                        <a:rPr sz="1100" b="0">
                          <a:solidFill>
                            <a:srgbClr val="333333"/>
                          </a:solidFill>
                          <a:latin typeface="Fira Code"/>
                        </a:rPr>
                        <a:t>float K_L1 = 4.0f * _L1_damping * _L1_damping;</a:t>
                      </a:r>
                    </a:p>
                    <a:p>
                      <a:pPr algn="l">
                        <a:lnSpc>
                          <a:spcPct val="106000"/>
                        </a:lnSpc>
                        <a:spcAft>
                          <a:spcPts val="0"/>
                        </a:spcAft>
                      </a:pPr>
                      <a:r>
                        <a:rPr sz="1100" b="0">
                          <a:solidFill>
                            <a:srgbClr val="333333"/>
                          </a:solidFill>
                          <a:latin typeface="Fira Code"/>
                        </a:rPr>
                        <a:t>// Get current position and velocity</a:t>
                      </a:r>
                    </a:p>
                    <a:p>
                      <a:pPr algn="l">
                        <a:lnSpc>
                          <a:spcPct val="106000"/>
                        </a:lnSpc>
                        <a:spcAft>
                          <a:spcPts val="0"/>
                        </a:spcAft>
                      </a:pPr>
                      <a:r>
                        <a:rPr sz="1100" b="0">
                          <a:solidFill>
                            <a:srgbClr val="333333"/>
                          </a:solidFill>
                          <a:latin typeface="Fira Code"/>
                        </a:rPr>
                        <a:t>if (_ahrs.get_location(_current_loc) == false) {</a:t>
                      </a:r>
                    </a:p>
                    <a:p>
                      <a:pPr algn="l">
                        <a:lnSpc>
                          <a:spcPct val="106000"/>
                        </a:lnSpc>
                        <a:spcAft>
                          <a:spcPts val="0"/>
                        </a:spcAft>
                      </a:pPr>
                      <a:r>
                        <a:rPr sz="1100" b="0">
                          <a:solidFill>
                            <a:srgbClr val="333333"/>
                          </a:solidFill>
                          <a:latin typeface="Fira Code"/>
                        </a:rPr>
                        <a:t>// if no GPS loc available, maintain last nav/target_bearing</a:t>
                      </a:r>
                    </a:p>
                    <a:p>
                      <a:pPr algn="l">
                        <a:lnSpc>
                          <a:spcPct val="106000"/>
                        </a:lnSpc>
                        <a:spcAft>
                          <a:spcPts val="0"/>
                        </a:spcAft>
                      </a:pPr>
                      <a:r>
                        <a:rPr sz="1100" b="0">
                          <a:solidFill>
                            <a:srgbClr val="333333"/>
                          </a:solidFill>
                          <a:latin typeface="Fira Code"/>
                        </a:rPr>
                        <a:t>_data_is_stale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AP_L1_Control::nav_roll_cd()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int32_t AP_L1_Control::nav_roll_cd(void)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ret;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formula can be obtained through equations of balanced spiral:</a:t>
                      </a:r>
                    </a:p>
                    <a:p>
                      <a:pPr algn="l">
                        <a:lnSpc>
                          <a:spcPct val="106000"/>
                        </a:lnSpc>
                        <a:spcAft>
                          <a:spcPts val="0"/>
                        </a:spcAft>
                      </a:pPr>
                      <a:r>
                        <a:rPr sz="1100" b="0">
                          <a:solidFill>
                            <a:srgbClr val="333333"/>
                          </a:solidFill>
                          <a:latin typeface="Fira Code"/>
                        </a:rPr>
                        <a:t>liftForce * cos(roll) = gravityForce * cos(pitch);</a:t>
                      </a:r>
                    </a:p>
                    <a:p>
                      <a:pPr algn="l">
                        <a:lnSpc>
                          <a:spcPct val="106000"/>
                        </a:lnSpc>
                        <a:spcAft>
                          <a:spcPts val="0"/>
                        </a:spcAft>
                      </a:pPr>
                      <a:r>
                        <a:rPr sz="1100" b="0">
                          <a:solidFill>
                            <a:srgbClr val="333333"/>
                          </a:solidFill>
                          <a:latin typeface="Fira Code"/>
                        </a:rPr>
                        <a:t>liftForce * sin(roll) = gravityForce * lateralAcceleration</a:t>
                      </a:r>
                    </a:p>
                    <a:p>
                      <a:pPr algn="l">
                        <a:lnSpc>
                          <a:spcPct val="106000"/>
                        </a:lnSpc>
                        <a:spcAft>
                          <a:spcPts val="0"/>
                        </a:spcAft>
                      </a:pPr>
                      <a:r>
                        <a:rPr sz="1100" b="0">
                          <a:solidFill>
                            <a:srgbClr val="333333"/>
                          </a:solidFill>
                          <a:latin typeface="Fira Code"/>
                        </a:rPr>
                        <a:t>/ gravityAcceleration; // as mass = gravityForce/gravityAcceleration</a:t>
                      </a:r>
                    </a:p>
                    <a:p>
                      <a:pPr algn="l">
                        <a:lnSpc>
                          <a:spcPct val="106000"/>
                        </a:lnSpc>
                        <a:spcAft>
                          <a:spcPts val="0"/>
                        </a:spcAft>
                      </a:pPr>
                      <a:r>
                        <a:rPr sz="1100" b="0">
                          <a:solidFill>
                            <a:srgbClr val="333333"/>
                          </a:solidFill>
                          <a:latin typeface="Fira Code"/>
                        </a:rPr>
                        <a:t>see issue 24319 [https://github.com/ArduPilot/ardupilot/issues/24319]</a:t>
                      </a:r>
                    </a:p>
                    <a:p>
                      <a:pPr algn="l">
                        <a:lnSpc>
                          <a:spcPct val="106000"/>
                        </a:lnSpc>
                        <a:spcAft>
                          <a:spcPts val="0"/>
                        </a:spcAft>
                      </a:pPr>
                      <a:r>
                        <a:rPr sz="1100" b="0">
                          <a:solidFill>
                            <a:srgbClr val="333333"/>
                          </a:solidFill>
                          <a:latin typeface="Fira Code"/>
                        </a:rPr>
                        <a:t>Multiplier 100.0f is for converting degrees to centidegrees</a:t>
                      </a:r>
                    </a:p>
                    <a:p>
                      <a:pPr algn="l">
                        <a:lnSpc>
                          <a:spcPct val="106000"/>
                        </a:lnSpc>
                        <a:spcAft>
                          <a:spcPts val="0"/>
                        </a:spcAft>
                      </a:pPr>
                      <a:r>
                        <a:rPr sz="1100" b="0">
                          <a:solidFill>
                            <a:srgbClr val="333333"/>
                          </a:solidFill>
                          <a:latin typeface="Fira Code"/>
                        </a:rPr>
                        <a:t>Made changes to avoid zero division as proposed by Andrew</a:t>
                      </a:r>
                    </a:p>
                    <a:p>
                      <a:pPr algn="l">
                        <a:lnSpc>
                          <a:spcPct val="106000"/>
                        </a:lnSpc>
                        <a:spcAft>
                          <a:spcPts val="0"/>
                        </a:spcAft>
                      </a:pPr>
                      <a:r>
                        <a:rPr sz="1100" b="0">
                          <a:solidFill>
                            <a:srgbClr val="333333"/>
                          </a:solidFill>
                          <a:latin typeface="Fira Code"/>
                        </a:rPr>
                        <a:t>Tridgell: https://github.com/ArduPilot/ardupilot/pull/24331#discussion_r1267798397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AP_TECS::update_pitch_throttle()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AP_TECS::update_pitch_throttle(int32_t hgt_dem_cm,</a:t>
                      </a:r>
                    </a:p>
                    <a:p>
                      <a:pPr algn="l">
                        <a:lnSpc>
                          <a:spcPct val="106000"/>
                        </a:lnSpc>
                        <a:spcAft>
                          <a:spcPts val="0"/>
                        </a:spcAft>
                      </a:pPr>
                      <a:r>
                        <a:rPr sz="1100" b="0">
                          <a:solidFill>
                            <a:srgbClr val="333333"/>
                          </a:solidFill>
                          <a:latin typeface="Fira Code"/>
                        </a:rPr>
                        <a:t>int32_t EAS_dem_cm,</a:t>
                      </a:r>
                    </a:p>
                    <a:p>
                      <a:pPr algn="l">
                        <a:lnSpc>
                          <a:spcPct val="106000"/>
                        </a:lnSpc>
                        <a:spcAft>
                          <a:spcPts val="0"/>
                        </a:spcAft>
                      </a:pPr>
                      <a:r>
                        <a:rPr sz="1100" b="0">
                          <a:solidFill>
                            <a:srgbClr val="333333"/>
                          </a:solidFill>
                          <a:latin typeface="Fira Code"/>
                        </a:rPr>
                        <a:t>enum AP_FixedWing::FlightStage</a:t>
                      </a:r>
                    </a:p>
                    <a:p>
                      <a:pPr algn="l">
                        <a:lnSpc>
                          <a:spcPct val="106000"/>
                        </a:lnSpc>
                        <a:spcAft>
                          <a:spcPts val="0"/>
                        </a:spcAft>
                      </a:pPr>
                      <a:r>
                        <a:rPr sz="1100" b="0">
                          <a:solidFill>
                            <a:srgbClr val="333333"/>
                          </a:solidFill>
                          <a:latin typeface="Fira Code"/>
                        </a:rPr>
                        <a:t>flight_stage,</a:t>
                      </a:r>
                    </a:p>
                    <a:p>
                      <a:pPr algn="l">
                        <a:lnSpc>
                          <a:spcPct val="106000"/>
                        </a:lnSpc>
                        <a:spcAft>
                          <a:spcPts val="0"/>
                        </a:spcAft>
                      </a:pPr>
                      <a:r>
                        <a:rPr sz="1100" b="0">
                          <a:solidFill>
                            <a:srgbClr val="333333"/>
                          </a:solidFill>
                          <a:latin typeface="Fira Code"/>
                        </a:rPr>
                        <a:t>float distance_beyond_land_wp,</a:t>
                      </a:r>
                    </a:p>
                    <a:p>
                      <a:pPr algn="l">
                        <a:lnSpc>
                          <a:spcPct val="106000"/>
                        </a:lnSpc>
                        <a:spcAft>
                          <a:spcPts val="0"/>
                        </a:spcAft>
                      </a:pPr>
                      <a:r>
                        <a:rPr sz="1100" b="0">
                          <a:solidFill>
                            <a:srgbClr val="333333"/>
                          </a:solidFill>
                          <a:latin typeface="Fira Code"/>
                        </a:rPr>
                        <a:t>int32_t ptchMinCO_cd,</a:t>
                      </a:r>
                    </a:p>
                    <a:p>
                      <a:pPr algn="l">
                        <a:lnSpc>
                          <a:spcPct val="106000"/>
                        </a:lnSpc>
                        <a:spcAft>
                          <a:spcPts val="0"/>
                        </a:spcAft>
                      </a:pPr>
                      <a:r>
                        <a:rPr sz="1100" b="0">
                          <a:solidFill>
                            <a:srgbClr val="333333"/>
                          </a:solidFill>
                          <a:latin typeface="Fira Code"/>
                        </a:rPr>
                        <a:t>int16_t throttle_nudge,</a:t>
                      </a:r>
                    </a:p>
                    <a:p>
                      <a:pPr algn="l">
                        <a:lnSpc>
                          <a:spcPct val="106000"/>
                        </a:lnSpc>
                        <a:spcAft>
                          <a:spcPts val="0"/>
                        </a:spcAft>
                      </a:pPr>
                      <a:r>
                        <a:rPr sz="1100" b="0">
                          <a:solidFill>
                            <a:srgbClr val="333333"/>
                          </a:solidFill>
                          <a:latin typeface="Fira Code"/>
                        </a:rPr>
                        <a:t>float hgt_afe,</a:t>
                      </a:r>
                    </a:p>
                    <a:p>
                      <a:pPr algn="l">
                        <a:lnSpc>
                          <a:spcPct val="106000"/>
                        </a:lnSpc>
                        <a:spcAft>
                          <a:spcPts val="0"/>
                        </a:spcAft>
                      </a:pPr>
                      <a:r>
                        <a:rPr sz="1100" b="0">
                          <a:solidFill>
                            <a:srgbClr val="333333"/>
                          </a:solidFill>
                          <a:latin typeface="Fira Code"/>
                        </a:rPr>
                        <a:t>float load_factor,</a:t>
                      </a:r>
                    </a:p>
                    <a:p>
                      <a:pPr algn="l">
                        <a:lnSpc>
                          <a:spcPct val="106000"/>
                        </a:lnSpc>
                        <a:spcAft>
                          <a:spcPts val="0"/>
                        </a:spcAft>
                      </a:pPr>
                      <a:r>
                        <a:rPr sz="1100" b="0">
                          <a:solidFill>
                            <a:srgbClr val="333333"/>
                          </a:solidFill>
                          <a:latin typeface="Fira Code"/>
                        </a:rPr>
                        <a:t>float pitch_trim_deg)</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AC_AttitudeControl::input_euler_angle_roll_pitch_yaw_cd()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AC_AttitudeControl::input_euler_angle_roll_pitch_yaw_cd(float</a:t>
                      </a:r>
                    </a:p>
                    <a:p>
                      <a:pPr algn="l">
                        <a:lnSpc>
                          <a:spcPct val="106000"/>
                        </a:lnSpc>
                        <a:spcAft>
                          <a:spcPts val="0"/>
                        </a:spcAft>
                      </a:pPr>
                      <a:r>
                        <a:rPr sz="1100" b="0">
                          <a:solidFill>
                            <a:srgbClr val="333333"/>
                          </a:solidFill>
                          <a:latin typeface="Fira Code"/>
                        </a:rPr>
                        <a:t>euler_roll_angle_cd, float euler_pitch_angle_cd, float euler_yaw_angle_cd, bool slew_yaw)</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from centidegrees on public interface to radians</a:t>
                      </a:r>
                    </a:p>
                    <a:p>
                      <a:pPr algn="l">
                        <a:lnSpc>
                          <a:spcPct val="106000"/>
                        </a:lnSpc>
                        <a:spcAft>
                          <a:spcPts val="0"/>
                        </a:spcAft>
                      </a:pPr>
                      <a:r>
                        <a:rPr sz="1100" b="0">
                          <a:solidFill>
                            <a:srgbClr val="333333"/>
                          </a:solidFill>
                          <a:latin typeface="Fira Code"/>
                        </a:rPr>
                        <a:t>const float euler_roll_angle_rad = cd_to_rad(euler_roll_angle_cd);</a:t>
                      </a:r>
                    </a:p>
                    <a:p>
                      <a:pPr algn="l">
                        <a:lnSpc>
                          <a:spcPct val="106000"/>
                        </a:lnSpc>
                        <a:spcAft>
                          <a:spcPts val="0"/>
                        </a:spcAft>
                      </a:pPr>
                      <a:r>
                        <a:rPr sz="1100" b="0">
                          <a:solidFill>
                            <a:srgbClr val="333333"/>
                          </a:solidFill>
                          <a:latin typeface="Fira Code"/>
                        </a:rPr>
                        <a:t>const float euler_pitch_angle_rad = cd_to_rad(euler_pitch_angle_cd);</a:t>
                      </a:r>
                    </a:p>
                    <a:p>
                      <a:pPr algn="l">
                        <a:lnSpc>
                          <a:spcPct val="106000"/>
                        </a:lnSpc>
                        <a:spcAft>
                          <a:spcPts val="0"/>
                        </a:spcAft>
                      </a:pPr>
                      <a:r>
                        <a:rPr sz="1100" b="0">
                          <a:solidFill>
                            <a:srgbClr val="333333"/>
                          </a:solidFill>
                          <a:latin typeface="Fira Code"/>
                        </a:rPr>
                        <a:t>const float euler_yaw_angle_rad = cd_to_rad(euler_yaw_angle_cd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input_euler_angle_roll_pitch_yaw_rad(euler_roll_angle_rad, euler_pitch_angle_rad, euler_yaw_angle_rad, slew_yaw);</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2 — full transitive chain, final consumer &amp; hop depth</a:t>
            </a:r>
          </a:p>
        </p:txBody>
      </p:sp>
      <p:graphicFrame>
        <p:nvGraphicFramePr>
          <p:cNvPr id="7" name="Table 6"/>
          <p:cNvGraphicFramePr>
            <a:graphicFrameLocks noGrp="1"/>
          </p:cNvGraphicFramePr>
          <p:nvPr/>
        </p:nvGraphicFramePr>
        <p:xfrm>
          <a:off x="566928" y="1906943"/>
          <a:ext cx="11058144" cy="344865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3950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(via AP_AHRS) — user example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AP_AHRS::get_location() → Plane::navigate() [ArduPlane/navigation.cpp:86] → 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USER-SUPPLIED example (AAP 0.1.3/0.5.4). The literal example named 'ArduPlane::flight_mode_auto()', which does NOT exist in this snapshot; normalized to the real symbols Plane::navigate() and ModeAuto::navigate(). navigate() is gated on have_position (Table 5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 velocity → NavEKF3 fusion → AP_AHRS::groundspeed() → Rover speed 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Ground-vehicle speed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health → AP_AHRS::have_inertial_nav() → Copter::ekf_has_absolute_position → 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 transition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Also observed in Group 2 (Table 5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48361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 AHRS NED dispatch → {AR_PosControl | AP_InertialNav} → actuators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 AHRS → Copter::crash_check / controllers → disarm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Velocity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AP_InertialSensor, AP_Baro} → NavEKF3::UpdateFilter → AP_AHRS estimate → all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AHRS↔EKF; EKF reads AP_DAL.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PosVel fusion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readGpsData buffer → SelectVelPosFusion → FuseVelPosNED → EKF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fusion scheduling.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NED innovations → FuseVelPosNED → stateStruct correction → getLLH → 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Position/velocity measurement-update.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AP_GPS::location()/velocity() → readGpsData → storedGPS buffer → SelectVelPosFusion →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correction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Explicit GPS→EKF ingestion hop (cf. Table 1a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health → setAidingMode → PV_AidingMode → SelectVelPosFusion → EKF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aiding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 aiding-mode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4–10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magnetometer → SelectMagFusion → FuseMagnetometer → yaw state → AP_AHRS 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Heading component.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airspeed → SelectTasFusion → FuseAirspeed → wind/vel states → AP_AHRS::wind_estimate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Wind/velocity.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optical flow → SelectFlowFusion → FuseOptFlow → vel/pos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 getLLH → NavEKF3::getLLH (frontend) → AP_AHRS::get_location() → nav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position output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metrics → calcGpsGoodToAlign → gpsGoodToAlign → setAidingMode → EKF origin 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origin /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 quality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InitialiseFilterBootstrap → resetGyroBias → stateStruct.gyro_bias → state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Bias 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 ranges → FuseRngBcn → EKF NED position correction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position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405413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states → Log_Write_XKF1 → AP_Logger → dataflash/SD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dataflash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Logging Sink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core status bits → NavEKF3::getFilterStatus → AP_AHRS → Copter::position_ok()/ekf_check()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health logic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Status output feeds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INS, Baro} → NavEKF2::UpdateFilter → AP_AHRS (when EKF2 active)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[DUPLICATED] parallel EKF to EKF3.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NED → NavEKF2 FuseVelPosNED → EKF2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EKF3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velocity + IMU → EKFGSF_yaw::update → emergency yaw → EKF yaw reset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Yaw-recovery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pos → AC_WPNav target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Multirotor waypoint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mission storage → get_next_nav_cmd → mode_auto → AC_WPNav →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 sequencing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77320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244498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L1 guidance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lateral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L1 latAccDem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Roll-demand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airspeed/alt demand → TECS update_pitch_throttle → pitch/throttle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Energy/altitude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 demand → input_euler_* → attitude_controller_run_quat → rate_controller_run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Inbound chain to attitude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416405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3 — Core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monotonic clock, the real-time clock and the scheduler cadence every PNT task is stamped against.</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9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405413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libraries/AP_HAL/system.h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AP_HAL::micros()/millis()/micros64()/millis64()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 time backbone (user-cited micros()/millis()). Free functions in the AP_HAL namespace backed by the board RTOS timer; the time primitive every PNT subsystem stamps against.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libraries/AP_RTC/AP_RTC.h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UTC wall-clock time in microseconds (returns false if unavailable). The absolute-time API consumed for logging and GPS-time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libraries/AP_RTC/AP_RTC.cpp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Time-SOURCE ARBITRATION: accepts a new UTC time only if its source_type out-ranks the current rtc_source_type (GPS &gt; GCS &gt; HW). Selects the best clock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libraries/AP_RTC/JitterCorrection.cpp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 synchronization: maps an offboard (remote-system) timestamp onto the local clock by tracking the minimum observed link offset — rejects 'from the future' samples.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354-363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 timing core: stamps each loop with AP_HAL::micros64() and derives the measured loop time. Drives the cadence of every periodic PNT task (EKF predict/fuse, AHRS,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168-176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the loop tick counters (_tick_counter / _tick_counter32) that index task scheduling intervals.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149-155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Loop-rate→period derivation: _loop_period_us = 1000000UL / _loop_rate_hz. Couples the configured loop rate to the per-loop time budget and to controller/EKF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 (continued)</a:t>
            </a:r>
          </a:p>
        </p:txBody>
      </p:sp>
      <p:graphicFrame>
        <p:nvGraphicFramePr>
          <p:cNvPr id="6" name="Table 5"/>
          <p:cNvGraphicFramePr>
            <a:graphicFrameLocks noGrp="1"/>
          </p:cNvGraphicFramePr>
          <p:nvPr/>
        </p:nvGraphicFramePr>
        <p:xfrm>
          <a:off x="566928" y="1591056"/>
          <a:ext cx="11058144" cy="2142244"/>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GPS time-of-week (ms-of-week + week number) — the TIMING facet of the GPS_State that also carries Positioning (Table 1 #4/#17). Emitted separately here per the multi-category rule.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libraries/AP_HAL/Scheduler.h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13-21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AP_HAL::Scheduler::delay()/delay_microseconds()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Abstract HAL timing-service interface (pure virtual; implemented by the board backend — ChibiOS / Linux / SITL). Supplies the time-blocking primitives delay() / delay_microseconds() and the periodic-task registration register_timer_process() / register_io_process() (lines 60-64) on which the main loop is built. Distinct from the AP_Scheduler library (#5-#7) and the AP_HAL::micros()/millis() clock primitives in system.h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libraries/AP_HAL/system.h</a:t>
                      </a:r>
                      <a:r>
                        <a:rPr sz="1100" b="0">
                          <a:solidFill>
                            <a:srgbClr val="999999"/>
                          </a:solidFill>
                          <a:latin typeface="Fira Code"/>
                        </a:rPr>
                        <a:t>  ·  </a:t>
                      </a:r>
                      <a:r>
                        <a:rPr sz="1100" b="0">
                          <a:solidFill>
                            <a:srgbClr val="999999"/>
                          </a:solidFill>
                          <a:latin typeface="Fira Code"/>
                        </a:rPr>
                        <a:t>15-20</a:t>
                      </a:r>
                      <a:r>
                        <a:rPr sz="1100" b="0">
                          <a:solidFill>
                            <a:srgbClr val="999999"/>
                          </a:solidFill>
                          <a:latin typeface="Fira Code"/>
                        </a:rPr>
                        <a:t>  ·  </a:t>
                      </a:r>
                      <a:r>
                        <a:rPr sz="1100" b="0">
                          <a:solidFill>
                            <a:srgbClr val="999999"/>
                          </a:solidFill>
                          <a:latin typeface="Fira Code"/>
                        </a:rPr>
                        <a:t>AP_HAL::micros()/millis()/micros64()/millis64()</a:t>
                      </a:r>
                    </a:p>
                    <a:p>
                      <a:pPr algn="l">
                        <a:lnSpc>
                          <a:spcPct val="106000"/>
                        </a:lnSpc>
                        <a:spcAft>
                          <a:spcPts val="0"/>
                        </a:spcAft>
                      </a:pPr>
                      <a:r>
                        <a:rPr sz="1100" b="0">
                          <a:solidFill>
                            <a:srgbClr val="333333"/>
                          </a:solidFill>
                          <a:latin typeface="Fira Code"/>
                        </a:rPr>
                        <a:t>uint16_t micros16();</a:t>
                      </a:r>
                    </a:p>
                    <a:p>
                      <a:pPr algn="l">
                        <a:lnSpc>
                          <a:spcPct val="106000"/>
                        </a:lnSpc>
                        <a:spcAft>
                          <a:spcPts val="0"/>
                        </a:spcAft>
                      </a:pPr>
                      <a:r>
                        <a:rPr sz="1100" b="0">
                          <a:solidFill>
                            <a:srgbClr val="333333"/>
                          </a:solidFill>
                          <a:latin typeface="Fira Code"/>
                        </a:rPr>
                        <a:t>uint32_t micros();</a:t>
                      </a:r>
                    </a:p>
                    <a:p>
                      <a:pPr algn="l">
                        <a:lnSpc>
                          <a:spcPct val="106000"/>
                        </a:lnSpc>
                        <a:spcAft>
                          <a:spcPts val="0"/>
                        </a:spcAft>
                      </a:pPr>
                      <a:r>
                        <a:rPr sz="1100" b="0">
                          <a:solidFill>
                            <a:srgbClr val="333333"/>
                          </a:solidFill>
                          <a:latin typeface="Fira Code"/>
                        </a:rPr>
                        <a:t>uint32_t millis();</a:t>
                      </a:r>
                    </a:p>
                    <a:p>
                      <a:pPr algn="l">
                        <a:lnSpc>
                          <a:spcPct val="106000"/>
                        </a:lnSpc>
                        <a:spcAft>
                          <a:spcPts val="0"/>
                        </a:spcAft>
                      </a:pPr>
                      <a:r>
                        <a:rPr sz="1100" b="0">
                          <a:solidFill>
                            <a:srgbClr val="333333"/>
                          </a:solidFill>
                          <a:latin typeface="Fira Code"/>
                        </a:rPr>
                        <a:t>uint16_t millis16();</a:t>
                      </a:r>
                    </a:p>
                    <a:p>
                      <a:pPr algn="l">
                        <a:lnSpc>
                          <a:spcPct val="106000"/>
                        </a:lnSpc>
                        <a:spcAft>
                          <a:spcPts val="0"/>
                        </a:spcAft>
                      </a:pPr>
                      <a:r>
                        <a:rPr sz="1100" b="0">
                          <a:solidFill>
                            <a:srgbClr val="333333"/>
                          </a:solidFill>
                          <a:latin typeface="Fira Code"/>
                        </a:rPr>
                        <a:t>uint64_t micros64();</a:t>
                      </a:r>
                    </a:p>
                    <a:p>
                      <a:pPr algn="l">
                        <a:lnSpc>
                          <a:spcPct val="106000"/>
                        </a:lnSpc>
                        <a:spcAft>
                          <a:spcPts val="0"/>
                        </a:spcAft>
                      </a:pPr>
                      <a:r>
                        <a:rPr sz="1100" b="0">
                          <a:solidFill>
                            <a:srgbClr val="333333"/>
                          </a:solidFill>
                          <a:latin typeface="Fira Code"/>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libraries/AP_RTC/AP_RTC.h</a:t>
                      </a:r>
                      <a:r>
                        <a:rPr sz="1100" b="0">
                          <a:solidFill>
                            <a:srgbClr val="999999"/>
                          </a:solidFill>
                          <a:latin typeface="Fira Code"/>
                        </a:rPr>
                        <a:t>  ·  </a:t>
                      </a:r>
                      <a:r>
                        <a:rPr sz="1100" b="0">
                          <a:solidFill>
                            <a:srgbClr val="999999"/>
                          </a:solidFill>
                          <a:latin typeface="Fira Code"/>
                        </a:rPr>
                        <a:t>32-40</a:t>
                      </a:r>
                      <a:r>
                        <a:rPr sz="1100" b="0">
                          <a:solidFill>
                            <a:srgbClr val="999999"/>
                          </a:solidFill>
                          <a:latin typeface="Fira Code"/>
                        </a:rPr>
                        <a:t>  ·  </a:t>
                      </a:r>
                      <a:r>
                        <a:rPr sz="1100" b="0">
                          <a:solidFill>
                            <a:srgbClr val="999999"/>
                          </a:solidFill>
                          <a:latin typeface="Fira Code"/>
                        </a:rPr>
                        <a:t>AP_RTC::get_utc_usec()</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get clock in UTC microseconds.  Returns false if it is not available.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bool get_utc_usec(uint64_t &amp;usec) const;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set the system time.  If the time has already been set by</a:t>
                      </a:r>
                    </a:p>
                    <a:p>
                      <a:pPr algn="l">
                        <a:lnSpc>
                          <a:spcPct val="106000"/>
                        </a:lnSpc>
                        <a:spcAft>
                          <a:spcPts val="0"/>
                        </a:spcAft>
                      </a:pPr>
                      <a:r>
                        <a:rPr sz="1100" b="0">
                          <a:solidFill>
                            <a:srgbClr val="333333"/>
                          </a:solidFill>
                          <a:latin typeface="Fira Code"/>
                        </a:rPr>
                        <a:t>    // something better (according to source_type), this set will be</a:t>
                      </a:r>
                    </a:p>
                    <a:p>
                      <a:pPr algn="l">
                        <a:lnSpc>
                          <a:spcPct val="106000"/>
                        </a:lnSpc>
                        <a:spcAft>
                          <a:spcPts val="0"/>
                        </a:spcAft>
                      </a:pPr>
                      <a:r>
                        <a:rPr sz="1100" b="0">
                          <a:solidFill>
                            <a:srgbClr val="333333"/>
                          </a:solidFill>
                          <a:latin typeface="Fira Code"/>
                        </a:rPr>
                        <a:t>    // ignored.</a:t>
                      </a:r>
                    </a:p>
                    <a:p>
                      <a:pPr algn="l">
                        <a:lnSpc>
                          <a:spcPct val="106000"/>
                        </a:lnSpc>
                        <a:spcAft>
                          <a:spcPts val="0"/>
                        </a:spcAft>
                      </a:pPr>
                      <a:r>
                        <a:rPr sz="1100" b="0">
                          <a:solidFill>
                            <a:srgbClr val="333333"/>
                          </a:solidFill>
                          <a:latin typeface="Fira Code"/>
                        </a:rPr>
                        <a:t>    void set_utc_usec(uint64_t time_utc_usec, source_type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libraries/AP_RTC/AP_RTC.cpp</a:t>
                      </a:r>
                      <a:r>
                        <a:rPr sz="1100" b="0">
                          <a:solidFill>
                            <a:srgbClr val="999999"/>
                          </a:solidFill>
                          <a:latin typeface="Fira Code"/>
                        </a:rPr>
                        <a:t>  ·  </a:t>
                      </a:r>
                      <a:r>
                        <a:rPr sz="1100" b="0">
                          <a:solidFill>
                            <a:srgbClr val="999999"/>
                          </a:solidFill>
                          <a:latin typeface="Fira Code"/>
                        </a:rPr>
                        <a:t>56-65</a:t>
                      </a:r>
                      <a:r>
                        <a:rPr sz="1100" b="0">
                          <a:solidFill>
                            <a:srgbClr val="999999"/>
                          </a:solidFill>
                          <a:latin typeface="Fira Code"/>
                        </a:rPr>
                        <a:t>  ·  </a:t>
                      </a:r>
                      <a:r>
                        <a:rPr sz="1100" b="0">
                          <a:solidFill>
                            <a:srgbClr val="999999"/>
                          </a:solidFill>
                          <a:latin typeface="Fira Code"/>
                        </a:rPr>
                        <a:t>AP_RTC::set_utc_usec()</a:t>
                      </a:r>
                    </a:p>
                    <a:p>
                      <a:pPr algn="l">
                        <a:lnSpc>
                          <a:spcPct val="106000"/>
                        </a:lnSpc>
                        <a:spcAft>
                          <a:spcPts val="0"/>
                        </a:spcAft>
                      </a:pPr>
                      <a:r>
                        <a:rPr sz="1100" b="0">
                          <a:solidFill>
                            <a:srgbClr val="333333"/>
                          </a:solidFill>
                          <a:latin typeface="Fira Code"/>
                        </a:rPr>
                        <a:t>    // only allow time to be moved forward from the same sourcetype</a:t>
                      </a:r>
                    </a:p>
                    <a:p>
                      <a:pPr algn="l">
                        <a:lnSpc>
                          <a:spcPct val="106000"/>
                        </a:lnSpc>
                        <a:spcAft>
                          <a:spcPts val="0"/>
                        </a:spcAft>
                      </a:pPr>
                      <a:r>
                        <a:rPr sz="1100" b="0">
                          <a:solidFill>
                            <a:srgbClr val="333333"/>
                          </a:solidFill>
                          <a:latin typeface="Fira Code"/>
                        </a:rPr>
                        <a:t>    // while the vehicle is disarmed:</a:t>
                      </a:r>
                    </a:p>
                    <a:p>
                      <a:pPr algn="l">
                        <a:lnSpc>
                          <a:spcPct val="106000"/>
                        </a:lnSpc>
                        <a:spcAft>
                          <a:spcPts val="0"/>
                        </a:spcAft>
                      </a:pPr>
                      <a:r>
                        <a:rPr sz="1100" b="0">
                          <a:solidFill>
                            <a:srgbClr val="333333"/>
                          </a:solidFill>
                          <a:latin typeface="Fira Code"/>
                        </a:rPr>
                        <a:t>    if (hal.util-&gt;get_soft_armed()) {</a:t>
                      </a:r>
                    </a:p>
                    <a:p>
                      <a:pPr algn="l">
                        <a:lnSpc>
                          <a:spcPct val="106000"/>
                        </a:lnSpc>
                        <a:spcAft>
                          <a:spcPts val="0"/>
                        </a:spcAft>
                      </a:pPr>
                      <a:r>
                        <a:rPr sz="1100" b="0">
                          <a:solidFill>
                            <a:srgbClr val="333333"/>
                          </a:solidFill>
                          <a:latin typeface="Fira Code"/>
                        </a:rPr>
                        <a:t>        if (type &gt;= rtc_source_type) {</a:t>
                      </a:r>
                    </a:p>
                    <a:p>
                      <a:pPr algn="l">
                        <a:lnSpc>
                          <a:spcPct val="106000"/>
                        </a:lnSpc>
                        <a:spcAft>
                          <a:spcPts val="0"/>
                        </a:spcAft>
                      </a:pPr>
                      <a:r>
                        <a:rPr sz="1100" b="0">
                          <a:solidFill>
                            <a:srgbClr val="333333"/>
                          </a:solidFill>
                          <a:latin typeface="Fira Code"/>
                        </a:rPr>
                        <a:t>            // e.g. system-time message when we've been set by the GPS</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 vehicle is disarmed; accept (e.g.) GPS time source updates</a:t>
                      </a:r>
                    </a:p>
                    <a:p>
                      <a:pPr algn="l">
                        <a:lnSpc>
                          <a:spcPct val="106000"/>
                        </a:lnSpc>
                        <a:spcAft>
                          <a:spcPts val="0"/>
                        </a:spcAft>
                      </a:pPr>
                      <a:r>
                        <a:rPr sz="1100" b="0">
                          <a:solidFill>
                            <a:srgbClr val="333333"/>
                          </a:solidFill>
                          <a:latin typeface="Fira Code"/>
                        </a:rPr>
                        <a:t>        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libraries/AP_RTC/JitterCorrection.cpp</a:t>
                      </a:r>
                      <a:r>
                        <a:rPr sz="1100" b="0">
                          <a:solidFill>
                            <a:srgbClr val="999999"/>
                          </a:solidFill>
                          <a:latin typeface="Fira Code"/>
                        </a:rPr>
                        <a:t>  ·  </a:t>
                      </a:r>
                      <a:r>
                        <a:rPr sz="1100" b="0">
                          <a:solidFill>
                            <a:srgbClr val="999999"/>
                          </a:solidFill>
                          <a:latin typeface="Fira Code"/>
                        </a:rPr>
                        <a:t>50-58</a:t>
                      </a:r>
                      <a:r>
                        <a:rPr sz="1100" b="0">
                          <a:solidFill>
                            <a:srgbClr val="999999"/>
                          </a:solidFill>
                          <a:latin typeface="Fira Code"/>
                        </a:rPr>
                        <a:t>  ·  </a:t>
                      </a:r>
                      <a:r>
                        <a:rPr sz="1100" b="0">
                          <a:solidFill>
                            <a:srgbClr val="999999"/>
                          </a:solidFill>
                          <a:latin typeface="Fira Code"/>
                        </a:rPr>
                        <a:t>JitterCorrection::correct_offboard_timestamp_usec()</a:t>
                      </a:r>
                    </a:p>
                    <a:p>
                      <a:pPr algn="l">
                        <a:lnSpc>
                          <a:spcPct val="106000"/>
                        </a:lnSpc>
                        <a:spcAft>
                          <a:spcPts val="0"/>
                        </a:spcAft>
                      </a:pPr>
                      <a:r>
                        <a:rPr sz="1100" b="0">
                          <a:solidFill>
                            <a:srgbClr val="333333"/>
                          </a:solidFill>
                          <a:latin typeface="Fira Code"/>
                        </a:rPr>
                        <a:t>uint64_t JitterCorrection::correct_offboard_timestamp_usec(uint64_t offboard_usec, uint64_t local_usec)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int64_t diff_us = int64_t(local_usec) - int64_t(offboard_usec);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(!initialised ||</a:t>
                      </a:r>
                    </a:p>
                    <a:p>
                      <a:pPr algn="l">
                        <a:lnSpc>
                          <a:spcPct val="106000"/>
                        </a:lnSpc>
                        <a:spcAft>
                          <a:spcPts val="0"/>
                        </a:spcAft>
                      </a:pPr>
                      <a:r>
                        <a:rPr sz="1100" b="0">
                          <a:solidFill>
                            <a:srgbClr val="333333"/>
                          </a:solidFill>
                          <a:latin typeface="Fira Code"/>
                        </a:rPr>
                        <a:t>        diff_us &lt; link_offset_usec) {</a:t>
                      </a:r>
                    </a:p>
                    <a:p>
                      <a:pPr algn="l">
                        <a:lnSpc>
                          <a:spcPct val="106000"/>
                        </a:lnSpc>
                        <a:spcAft>
                          <a:spcPts val="0"/>
                        </a:spcAft>
                      </a:pPr>
                      <a:r>
                        <a:rPr sz="1100" b="0">
                          <a:solidFill>
                            <a:srgbClr val="333333"/>
                          </a:solidFill>
                          <a:latin typeface="Fira Code"/>
                        </a:rPr>
                        <a:t>        // this message arrived from the remote system with a</a:t>
                      </a:r>
                    </a:p>
                    <a:p>
                      <a:pPr algn="l">
                        <a:lnSpc>
                          <a:spcPct val="106000"/>
                        </a:lnSpc>
                        <a:spcAft>
                          <a:spcPts val="0"/>
                        </a:spcAft>
                      </a:pPr>
                      <a:r>
                        <a:rPr sz="1100" b="0">
                          <a:solidFill>
                            <a:srgbClr val="333333"/>
                          </a:solidFill>
                          <a:latin typeface="Fira Code"/>
                        </a:rPr>
                        <a:t>        // timestamp that would imply the message was from the</a:t>
                      </a:r>
                    </a:p>
                    <a:p>
                      <a:pPr algn="l">
                        <a:lnSpc>
                          <a:spcPct val="106000"/>
                        </a:lnSpc>
                        <a:spcAft>
                          <a:spcPts val="0"/>
                        </a:spcAft>
                      </a:pPr>
                      <a:r>
                        <a:rPr sz="1100" b="0">
                          <a:solidFill>
                            <a:srgbClr val="333333"/>
                          </a:solidFill>
                          <a:latin typeface="Fira Code"/>
                        </a:rPr>
                        <a:t>        // future. We know that isn't possible, so we adjust down 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libraries/AP_Scheduler/AP_Scheduler.cpp</a:t>
                      </a:r>
                      <a:r>
                        <a:rPr sz="1100" b="0">
                          <a:solidFill>
                            <a:srgbClr val="999999"/>
                          </a:solidFill>
                          <a:latin typeface="Fira Code"/>
                        </a:rPr>
                        <a:t>  ·  </a:t>
                      </a:r>
                      <a:r>
                        <a:rPr sz="1100" b="0">
                          <a:solidFill>
                            <a:srgbClr val="999999"/>
                          </a:solidFill>
                          <a:latin typeface="Fira Code"/>
                        </a:rPr>
                        <a:t>354-363</a:t>
                      </a:r>
                      <a:r>
                        <a:rPr sz="1100" b="0">
                          <a:solidFill>
                            <a:srgbClr val="999999"/>
                          </a:solidFill>
                          <a:latin typeface="Fira Code"/>
                        </a:rPr>
                        <a:t>  ·  </a:t>
                      </a:r>
                      <a:r>
                        <a:rPr sz="1100" b="0">
                          <a:solidFill>
                            <a:srgbClr val="999999"/>
                          </a:solidFill>
                          <a:latin typeface="Fira Code"/>
                        </a:rPr>
                        <a:t>AP_Scheduler::loop()</a:t>
                      </a:r>
                    </a:p>
                    <a:p>
                      <a:pPr algn="l">
                        <a:lnSpc>
                          <a:spcPct val="106000"/>
                        </a:lnSpc>
                        <a:spcAft>
                          <a:spcPts val="0"/>
                        </a:spcAft>
                      </a:pPr>
                      <a:r>
                        <a:rPr sz="1100" b="0">
                          <a:solidFill>
                            <a:srgbClr val="333333"/>
                          </a:solidFill>
                          <a:latin typeface="Fira Code"/>
                        </a:rPr>
                        <a:t>    hal.util-&gt;persistent_data.scheduler_task = -1;</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_loop_sample_time_us = AP_HAL::micros64();</a:t>
                      </a:r>
                    </a:p>
                    <a:p>
                      <a:pPr algn="l">
                        <a:lnSpc>
                          <a:spcPct val="106000"/>
                        </a:lnSpc>
                        <a:spcAft>
                          <a:spcPts val="0"/>
                        </a:spcAft>
                      </a:pPr>
                      <a:r>
                        <a:rPr sz="1100" b="0">
                          <a:solidFill>
                            <a:srgbClr val="333333"/>
                          </a:solidFill>
                          <a:latin typeface="Fira Code"/>
                        </a:rPr>
                        <a:t>    const uint32_t sample_time_us = uint32_t(_loop_sample_time_us);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if (_loop_timer_start_us == 0) {</a:t>
                      </a:r>
                    </a:p>
                    <a:p>
                      <a:pPr algn="l">
                        <a:lnSpc>
                          <a:spcPct val="106000"/>
                        </a:lnSpc>
                        <a:spcAft>
                          <a:spcPts val="0"/>
                        </a:spcAft>
                      </a:pPr>
                      <a:r>
                        <a:rPr sz="1100" b="0">
                          <a:solidFill>
                            <a:srgbClr val="333333"/>
                          </a:solidFill>
                          <a:latin typeface="Fira Code"/>
                        </a:rPr>
                        <a:t>        _loop_timer_start_us = sample_time_us;</a:t>
                      </a:r>
                    </a:p>
                    <a:p>
                      <a:pPr algn="l">
                        <a:lnSpc>
                          <a:spcPct val="106000"/>
                        </a:lnSpc>
                        <a:spcAft>
                          <a:spcPts val="0"/>
                        </a:spcAft>
                      </a:pPr>
                      <a:r>
                        <a:rPr sz="1100" b="0">
                          <a:solidFill>
                            <a:srgbClr val="333333"/>
                          </a:solidFill>
                          <a:latin typeface="Fira Code"/>
                        </a:rPr>
                        <a:t>        _last_loop_time_s = get_loop_period_s();</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_last_loop_time_s = (sample_time_us - _loop_timer_start_us)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libraries/AP_Scheduler/AP_Scheduler.cpp</a:t>
                      </a:r>
                      <a:r>
                        <a:rPr sz="1100" b="0">
                          <a:solidFill>
                            <a:srgbClr val="999999"/>
                          </a:solidFill>
                          <a:latin typeface="Fira Code"/>
                        </a:rPr>
                        <a:t>  ·  </a:t>
                      </a:r>
                      <a:r>
                        <a:rPr sz="1100" b="0">
                          <a:solidFill>
                            <a:srgbClr val="999999"/>
                          </a:solidFill>
                          <a:latin typeface="Fira Code"/>
                        </a:rPr>
                        <a:t>168-176</a:t>
                      </a:r>
                      <a:r>
                        <a:rPr sz="1100" b="0">
                          <a:solidFill>
                            <a:srgbClr val="999999"/>
                          </a:solidFill>
                          <a:latin typeface="Fira Code"/>
                        </a:rPr>
                        <a:t>  ·  </a:t>
                      </a:r>
                      <a:r>
                        <a:rPr sz="1100" b="0">
                          <a:solidFill>
                            <a:srgbClr val="999999"/>
                          </a:solidFill>
                          <a:latin typeface="Fira Code"/>
                        </a:rPr>
                        <a:t>AP_Scheduler::tick()</a:t>
                      </a:r>
                    </a:p>
                    <a:p>
                      <a:pPr algn="l">
                        <a:lnSpc>
                          <a:spcPct val="106000"/>
                        </a:lnSpc>
                        <a:spcAft>
                          <a:spcPts val="0"/>
                        </a:spcAft>
                      </a:pPr>
                      <a:r>
                        <a:rPr sz="1100" b="0">
                          <a:solidFill>
                            <a:srgbClr val="333333"/>
                          </a:solidFill>
                          <a:latin typeface="Fira Code"/>
                        </a:rPr>
                        <a:t>void AP_Scheduler::tick(void)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_tick_counter++;</a:t>
                      </a:r>
                    </a:p>
                    <a:p>
                      <a:pPr algn="l">
                        <a:lnSpc>
                          <a:spcPct val="106000"/>
                        </a:lnSpc>
                        <a:spcAft>
                          <a:spcPts val="0"/>
                        </a:spcAft>
                      </a:pPr>
                      <a:r>
                        <a:rPr sz="1100" b="0">
                          <a:solidFill>
                            <a:srgbClr val="333333"/>
                          </a:solidFill>
                          <a:latin typeface="Fira Code"/>
                        </a:rPr>
                        <a:t>    _tick_counter32++;</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#if CONFIG_HAL_BOARD == HAL_BOARD_SITL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libraries/AP_Scheduler/AP_Scheduler.h</a:t>
                      </a:r>
                      <a:r>
                        <a:rPr sz="1100" b="0">
                          <a:solidFill>
                            <a:srgbClr val="999999"/>
                          </a:solidFill>
                          <a:latin typeface="Fira Code"/>
                        </a:rPr>
                        <a:t>  ·  </a:t>
                      </a:r>
                      <a:r>
                        <a:rPr sz="1100" b="0">
                          <a:solidFill>
                            <a:srgbClr val="999999"/>
                          </a:solidFill>
                          <a:latin typeface="Fira Code"/>
                        </a:rPr>
                        <a:t>149-155</a:t>
                      </a:r>
                      <a:r>
                        <a:rPr sz="1100" b="0">
                          <a:solidFill>
                            <a:srgbClr val="999999"/>
                          </a:solidFill>
                          <a:latin typeface="Fira Code"/>
                        </a:rPr>
                        <a:t>  ·  </a:t>
                      </a:r>
                      <a:r>
                        <a:rPr sz="1100" b="0">
                          <a:solidFill>
                            <a:srgbClr val="999999"/>
                          </a:solidFill>
                          <a:latin typeface="Fira Code"/>
                        </a:rPr>
                        <a:t>AP_Scheduler::get_loop_period_us()</a:t>
                      </a:r>
                    </a:p>
                    <a:p>
                      <a:pPr algn="l">
                        <a:lnSpc>
                          <a:spcPct val="106000"/>
                        </a:lnSpc>
                        <a:spcAft>
                          <a:spcPts val="0"/>
                        </a:spcAft>
                      </a:pPr>
                      <a:r>
                        <a:rPr sz="1100" b="0">
                          <a:solidFill>
                            <a:srgbClr val="333333"/>
                          </a:solidFill>
                          <a:latin typeface="Fira Code"/>
                        </a:rPr>
                        <a:t>    // get the time-allowed-per-loop in microseconds</a:t>
                      </a:r>
                    </a:p>
                    <a:p>
                      <a:pPr algn="l">
                        <a:lnSpc>
                          <a:spcPct val="106000"/>
                        </a:lnSpc>
                        <a:spcAft>
                          <a:spcPts val="0"/>
                        </a:spcAft>
                      </a:pPr>
                      <a:r>
                        <a:rPr sz="1100" b="0">
                          <a:solidFill>
                            <a:srgbClr val="333333"/>
                          </a:solidFill>
                          <a:latin typeface="Fira Code"/>
                        </a:rPr>
                        <a:t>    uint32_t get_loop_period_us() {</a:t>
                      </a:r>
                    </a:p>
                    <a:p>
                      <a:pPr algn="l">
                        <a:lnSpc>
                          <a:spcPct val="106000"/>
                        </a:lnSpc>
                        <a:spcAft>
                          <a:spcPts val="0"/>
                        </a:spcAft>
                      </a:pPr>
                      <a:r>
                        <a:rPr sz="1100" b="0">
                          <a:solidFill>
                            <a:srgbClr val="333333"/>
                          </a:solidFill>
                          <a:latin typeface="Fira Code"/>
                        </a:rPr>
                        <a:t>        if (_loop_period_us == 0) {</a:t>
                      </a:r>
                    </a:p>
                    <a:p>
                      <a:pPr algn="l">
                        <a:lnSpc>
                          <a:spcPct val="106000"/>
                        </a:lnSpc>
                        <a:spcAft>
                          <a:spcPts val="0"/>
                        </a:spcAft>
                      </a:pPr>
                      <a:r>
                        <a:rPr sz="1100" b="0">
                          <a:solidFill>
                            <a:srgbClr val="333333"/>
                          </a:solidFill>
                          <a:latin typeface="Fira Code"/>
                        </a:rPr>
                        <a:t>            _loop_period_us = 1000000UL / _loop_rate_hz;</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return _loop_period_us;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409-418</a:t>
                      </a:r>
                      <a:r>
                        <a:rPr sz="1100" b="0">
                          <a:solidFill>
                            <a:srgbClr val="999999"/>
                          </a:solidFill>
                          <a:latin typeface="Fira Code"/>
                        </a:rPr>
                        <a:t>  ·  </a:t>
                      </a:r>
                      <a:r>
                        <a:rPr sz="1100" b="0">
                          <a:solidFill>
                            <a:srgbClr val="999999"/>
                          </a:solidFill>
                          <a:latin typeface="Fira Code"/>
                        </a:rPr>
                        <a:t>AP_GPS::time_week_ms()/time_week()</a:t>
                      </a:r>
                    </a:p>
                    <a:p>
                      <a:pPr algn="l">
                        <a:lnSpc>
                          <a:spcPct val="106000"/>
                        </a:lnSpc>
                        <a:spcAft>
                          <a:spcPts val="0"/>
                        </a:spcAft>
                      </a:pPr>
                      <a:r>
                        <a:rPr sz="1100" b="0">
                          <a:solidFill>
                            <a:srgbClr val="333333"/>
                          </a:solidFill>
                          <a:latin typeface="Fira Code"/>
                        </a:rPr>
                        <a:t>    // GPS time of week in milliseconds</a:t>
                      </a:r>
                    </a:p>
                    <a:p>
                      <a:pPr algn="l">
                        <a:lnSpc>
                          <a:spcPct val="106000"/>
                        </a:lnSpc>
                        <a:spcAft>
                          <a:spcPts val="0"/>
                        </a:spcAft>
                      </a:pPr>
                      <a:r>
                        <a:rPr sz="1100" b="0">
                          <a:solidFill>
                            <a:srgbClr val="333333"/>
                          </a:solidFill>
                          <a:latin typeface="Fira Code"/>
                        </a:rPr>
                        <a:t>    uint32_t time_week_ms(uint8_t instance) const {</a:t>
                      </a:r>
                    </a:p>
                    <a:p>
                      <a:pPr algn="l">
                        <a:lnSpc>
                          <a:spcPct val="106000"/>
                        </a:lnSpc>
                        <a:spcAft>
                          <a:spcPts val="0"/>
                        </a:spcAft>
                      </a:pPr>
                      <a:r>
                        <a:rPr sz="1100" b="0">
                          <a:solidFill>
                            <a:srgbClr val="333333"/>
                          </a:solidFill>
                          <a:latin typeface="Fira Code"/>
                        </a:rPr>
                        <a:t>        return state[instance].time_week_ms;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uint32_t time_week_ms() const {</a:t>
                      </a:r>
                    </a:p>
                    <a:p>
                      <a:pPr algn="l">
                        <a:lnSpc>
                          <a:spcPct val="106000"/>
                        </a:lnSpc>
                        <a:spcAft>
                          <a:spcPts val="0"/>
                        </a:spcAft>
                      </a:pPr>
                      <a:r>
                        <a:rPr sz="1100" b="0">
                          <a:solidFill>
                            <a:srgbClr val="333333"/>
                          </a:solidFill>
                          <a:latin typeface="Fira Code"/>
                        </a:rPr>
                        <a:t>        return time_week_ms(primary_instance);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GPS week</a:t>
                      </a:r>
                    </a:p>
                    <a:p>
                      <a:pPr algn="l">
                        <a:lnSpc>
                          <a:spcPct val="106000"/>
                        </a:lnSpc>
                        <a:spcAft>
                          <a:spcPts val="0"/>
                        </a:spcAft>
                      </a:pPr>
                      <a:r>
                        <a:rPr sz="1100" b="0">
                          <a:solidFill>
                            <a:srgbClr val="333333"/>
                          </a:solidFill>
                          <a:latin typeface="Fira Code"/>
                        </a:rPr>
                        <a:t>    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libraries/AP_HAL/Scheduler.h</a:t>
                      </a:r>
                      <a:r>
                        <a:rPr sz="1100" b="0">
                          <a:solidFill>
                            <a:srgbClr val="999999"/>
                          </a:solidFill>
                          <a:latin typeface="Fira Code"/>
                        </a:rPr>
                        <a:t>  ·  </a:t>
                      </a:r>
                      <a:r>
                        <a:rPr sz="1100" b="0">
                          <a:solidFill>
                            <a:srgbClr val="999999"/>
                          </a:solidFill>
                          <a:latin typeface="Fira Code"/>
                        </a:rPr>
                        <a:t>13-21</a:t>
                      </a:r>
                      <a:r>
                        <a:rPr sz="1100" b="0">
                          <a:solidFill>
                            <a:srgbClr val="999999"/>
                          </a:solidFill>
                          <a:latin typeface="Fira Code"/>
                        </a:rPr>
                        <a:t>  ·  </a:t>
                      </a:r>
                      <a:r>
                        <a:rPr sz="1100" b="0">
                          <a:solidFill>
                            <a:srgbClr val="999999"/>
                          </a:solidFill>
                          <a:latin typeface="Fira Code"/>
                        </a:rPr>
                        <a:t>AP_HAL::Scheduler::delay()/delay_microseconds()</a:t>
                      </a:r>
                    </a:p>
                    <a:p>
                      <a:pPr algn="l">
                        <a:lnSpc>
                          <a:spcPct val="106000"/>
                        </a:lnSpc>
                        <a:spcAft>
                          <a:spcPts val="0"/>
                        </a:spcAft>
                      </a:pPr>
                      <a:r>
                        <a:rPr sz="1100" b="0">
                          <a:solidFill>
                            <a:srgbClr val="333333"/>
                          </a:solidFill>
                          <a:latin typeface="Fira Code"/>
                        </a:rPr>
                        <a:t>    Scheduler() {}</a:t>
                      </a:r>
                    </a:p>
                    <a:p>
                      <a:pPr algn="l">
                        <a:lnSpc>
                          <a:spcPct val="106000"/>
                        </a:lnSpc>
                        <a:spcAft>
                          <a:spcPts val="0"/>
                        </a:spcAft>
                      </a:pPr>
                      <a:r>
                        <a:rPr sz="1100" b="0">
                          <a:solidFill>
                            <a:srgbClr val="333333"/>
                          </a:solidFill>
                          <a:latin typeface="Fira Code"/>
                        </a:rPr>
                        <a:t>    virtual void     init() = 0;</a:t>
                      </a:r>
                    </a:p>
                    <a:p>
                      <a:pPr algn="l">
                        <a:lnSpc>
                          <a:spcPct val="106000"/>
                        </a:lnSpc>
                        <a:spcAft>
                          <a:spcPts val="0"/>
                        </a:spcAft>
                      </a:pPr>
                      <a:r>
                        <a:rPr sz="1100" b="0">
                          <a:solidFill>
                            <a:srgbClr val="333333"/>
                          </a:solidFill>
                          <a:latin typeface="Fira Code"/>
                        </a:rPr>
                        <a:t>    virtual void     delay(uint16_t ms) = 0;</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delay for the given number of microseconds. This needs to be as</a:t>
                      </a:r>
                    </a:p>
                    <a:p>
                      <a:pPr algn="l">
                        <a:lnSpc>
                          <a:spcPct val="106000"/>
                        </a:lnSpc>
                        <a:spcAft>
                          <a:spcPts val="0"/>
                        </a:spcAft>
                      </a:pPr>
                      <a:r>
                        <a:rPr sz="1100" b="0">
                          <a:solidFill>
                            <a:srgbClr val="333333"/>
                          </a:solidFill>
                          <a:latin typeface="Fira Code"/>
                        </a:rPr>
                        <a:t>      accurate as possible - preferably within 100 microseconds.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virtual void     delay_microseconds(uint16_t us)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1 — direct callers / callees with typed dependency</a:t>
            </a:r>
          </a:p>
        </p:txBody>
      </p:sp>
      <p:graphicFrame>
        <p:nvGraphicFramePr>
          <p:cNvPr id="7" name="Table 6"/>
          <p:cNvGraphicFramePr>
            <a:graphicFrameLocks noGrp="1"/>
          </p:cNvGraphicFramePr>
          <p:nvPr/>
        </p:nvGraphicFramePr>
        <p:xfrm>
          <a:off x="566928" y="1906943"/>
          <a:ext cx="11058144" cy="429435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RTOS/HAL timer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AP_Scheduler, AP_GPS, all failsafes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 — via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AP::rtc().get_utc_usec(rtc)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AP_Scheduler::Log_Write_Performance ; AP_Logger; AP_Stats; AP_NMEA_Output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 (source arbitration)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hal.util-&gt;get_soft_armed(); compares &amp; writes rtc_source_type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(GPS time); GCS SYSTEM_TIME; AP_BoardConfig (HW 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computes diff_us; updates link_offset_usec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 DroneCAN/MAVLink timestamp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get_loop_period_s(); dispatches run-table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AP_Vehicle::loop() via scheduler.loop() (AP_Vehicle.cpp:545)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increments _tick_counter / _tick_counter32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 fast-loop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derives _loop_period_us from _loop_rate_hz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task budgeting; controller dt (G_Dt)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readGpsData (GPS time); time_epoch conversion; logging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 (continued)</a:t>
            </a:r>
          </a:p>
        </p:txBody>
      </p:sp>
      <p:graphicFrame>
        <p:nvGraphicFramePr>
          <p:cNvPr id="6" name="Table 5"/>
          <p:cNvGraphicFramePr>
            <a:graphicFrameLocks noGrp="1"/>
          </p:cNvGraphicFramePr>
          <p:nvPr/>
        </p:nvGraphicFramePr>
        <p:xfrm>
          <a:off x="566928" y="1591056"/>
          <a:ext cx="11058144" cy="119123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AP_HAL::Scheduler (abstract HAL timing / scheduling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pure virtual — implemented by the board backend (ChibiOS / Linux / SITL HAL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 via hal.scheduler-&gt;delay_microseconds (AP_Scheduler.cpp:373); register_io_process; AP_Vehicle init; all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AP_HAL::micros() / millis()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uint16_t micros16();</a:t>
                      </a:r>
                    </a:p>
                    <a:p>
                      <a:pPr algn="l">
                        <a:lnSpc>
                          <a:spcPct val="106000"/>
                        </a:lnSpc>
                        <a:spcAft>
                          <a:spcPts val="0"/>
                        </a:spcAft>
                      </a:pPr>
                      <a:r>
                        <a:rPr sz="1100" b="0">
                          <a:solidFill>
                            <a:srgbClr val="333333"/>
                          </a:solidFill>
                          <a:latin typeface="Fira Code"/>
                        </a:rPr>
                        <a:t>uint32_t micros();</a:t>
                      </a:r>
                    </a:p>
                    <a:p>
                      <a:pPr algn="l">
                        <a:lnSpc>
                          <a:spcPct val="106000"/>
                        </a:lnSpc>
                        <a:spcAft>
                          <a:spcPts val="0"/>
                        </a:spcAft>
                      </a:pPr>
                      <a:r>
                        <a:rPr sz="1100" b="0">
                          <a:solidFill>
                            <a:srgbClr val="333333"/>
                          </a:solidFill>
                          <a:latin typeface="Fira Code"/>
                        </a:rPr>
                        <a:t>uint32_t millis();</a:t>
                      </a:r>
                    </a:p>
                    <a:p>
                      <a:pPr algn="l">
                        <a:lnSpc>
                          <a:spcPct val="106000"/>
                        </a:lnSpc>
                        <a:spcAft>
                          <a:spcPts val="0"/>
                        </a:spcAft>
                      </a:pPr>
                      <a:r>
                        <a:rPr sz="1100" b="0">
                          <a:solidFill>
                            <a:srgbClr val="333333"/>
                          </a:solidFill>
                          <a:latin typeface="Fira Code"/>
                        </a:rPr>
                        <a:t>uint16_t millis16();</a:t>
                      </a:r>
                    </a:p>
                    <a:p>
                      <a:pPr algn="l">
                        <a:lnSpc>
                          <a:spcPct val="106000"/>
                        </a:lnSpc>
                        <a:spcAft>
                          <a:spcPts val="0"/>
                        </a:spcAft>
                      </a:pPr>
                      <a:r>
                        <a:rPr sz="1100" b="0">
                          <a:solidFill>
                            <a:srgbClr val="333333"/>
                          </a:solidFill>
                          <a:latin typeface="Fira Code"/>
                        </a:rPr>
                        <a:t>uint64_t micros64();</a:t>
                      </a:r>
                    </a:p>
                    <a:p>
                      <a:pPr algn="l">
                        <a:lnSpc>
                          <a:spcPct val="106000"/>
                        </a:lnSpc>
                        <a:spcAft>
                          <a:spcPts val="0"/>
                        </a:spcAft>
                      </a:pPr>
                      <a:r>
                        <a:rPr sz="1100" b="0">
                          <a:solidFill>
                            <a:srgbClr val="333333"/>
                          </a:solidFill>
                          <a:latin typeface="Fira Code"/>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AP_RTC::get_utc_usec() — via AP::rtc()</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void AP_Scheduler::Log_Write_Performance()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uint64_t rtc = 0;</a:t>
                      </a:r>
                    </a:p>
                    <a:p>
                      <a:pPr algn="l">
                        <a:lnSpc>
                          <a:spcPct val="106000"/>
                        </a:lnSpc>
                        <a:spcAft>
                          <a:spcPts val="0"/>
                        </a:spcAft>
                      </a:pPr>
                      <a:r>
                        <a:rPr sz="1100" b="0">
                          <a:solidFill>
                            <a:srgbClr val="333333"/>
                          </a:solidFill>
                          <a:latin typeface="Fira Code"/>
                        </a:rPr>
                        <a:t>#if AP_RTC_ENABLED</a:t>
                      </a:r>
                    </a:p>
                    <a:p>
                      <a:pPr algn="l">
                        <a:lnSpc>
                          <a:spcPct val="106000"/>
                        </a:lnSpc>
                        <a:spcAft>
                          <a:spcPts val="0"/>
                        </a:spcAft>
                      </a:pPr>
                      <a:r>
                        <a:rPr sz="1100" b="0">
                          <a:solidFill>
                            <a:srgbClr val="333333"/>
                          </a:solidFill>
                          <a:latin typeface="Fira Code"/>
                        </a:rPr>
                        <a:t>UNUSED_RESULT(AP::rtc().get_utc_usec(rtc));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const AP_HAL::Util::PersistentData &amp;pd = hal.util-&gt;persistent_data;</a:t>
                      </a:r>
                    </a:p>
                    <a:p>
                      <a:pPr algn="l">
                        <a:lnSpc>
                          <a:spcPct val="106000"/>
                        </a:lnSpc>
                        <a:spcAft>
                          <a:spcPts val="0"/>
                        </a:spcAft>
                      </a:pPr>
                      <a:r>
                        <a:rPr sz="1100" b="0">
                          <a:solidFill>
                            <a:srgbClr val="333333"/>
                          </a:solidFill>
                          <a:latin typeface="Fira Code"/>
                        </a:rPr>
                        <a:t>struct log_Performance pkt =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AP_RTC::set_utc_usec() (source arbitration)</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only allow time to be moved forward from the same sourcetype</a:t>
                      </a:r>
                    </a:p>
                    <a:p>
                      <a:pPr algn="l">
                        <a:lnSpc>
                          <a:spcPct val="106000"/>
                        </a:lnSpc>
                        <a:spcAft>
                          <a:spcPts val="0"/>
                        </a:spcAft>
                      </a:pPr>
                      <a:r>
                        <a:rPr sz="1100" b="0">
                          <a:solidFill>
                            <a:srgbClr val="333333"/>
                          </a:solidFill>
                          <a:latin typeface="Fira Code"/>
                        </a:rPr>
                        <a:t>// while the vehicle is disarmed:</a:t>
                      </a:r>
                    </a:p>
                    <a:p>
                      <a:pPr algn="l">
                        <a:lnSpc>
                          <a:spcPct val="106000"/>
                        </a:lnSpc>
                        <a:spcAft>
                          <a:spcPts val="0"/>
                        </a:spcAft>
                      </a:pPr>
                      <a:r>
                        <a:rPr sz="1100" b="0">
                          <a:solidFill>
                            <a:srgbClr val="333333"/>
                          </a:solidFill>
                          <a:latin typeface="Fira Code"/>
                        </a:rPr>
                        <a:t>if (hal.util-&gt;get_soft_armed()) {</a:t>
                      </a:r>
                    </a:p>
                    <a:p>
                      <a:pPr algn="l">
                        <a:lnSpc>
                          <a:spcPct val="106000"/>
                        </a:lnSpc>
                        <a:spcAft>
                          <a:spcPts val="0"/>
                        </a:spcAft>
                      </a:pPr>
                      <a:r>
                        <a:rPr sz="1100" b="0">
                          <a:solidFill>
                            <a:srgbClr val="333333"/>
                          </a:solidFill>
                          <a:latin typeface="Fira Code"/>
                        </a:rPr>
                        <a:t>if (type &gt;= rtc_source_type) {</a:t>
                      </a:r>
                    </a:p>
                    <a:p>
                      <a:pPr algn="l">
                        <a:lnSpc>
                          <a:spcPct val="106000"/>
                        </a:lnSpc>
                        <a:spcAft>
                          <a:spcPts val="0"/>
                        </a:spcAft>
                      </a:pPr>
                      <a:r>
                        <a:rPr sz="1100" b="0">
                          <a:solidFill>
                            <a:srgbClr val="333333"/>
                          </a:solidFill>
                          <a:latin typeface="Fira Code"/>
                        </a:rPr>
                        <a:t>// e.g. system-time message when we've been set by the</a:t>
                      </a:r>
                    </a:p>
                    <a:p>
                      <a:pPr algn="l">
                        <a:lnSpc>
                          <a:spcPct val="106000"/>
                        </a:lnSpc>
                        <a:spcAft>
                          <a:spcPts val="0"/>
                        </a:spcAft>
                      </a:pPr>
                      <a:r>
                        <a:rPr sz="1100" b="0">
                          <a:solidFill>
                            <a:srgbClr val="333333"/>
                          </a:solidFill>
                          <a:latin typeface="Fira Code"/>
                        </a:rPr>
                        <a:t>GPS</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 vehicle is disarmed; accept (e.g.) GPS time source updates</a:t>
                      </a:r>
                    </a:p>
                    <a:p>
                      <a:pPr algn="l">
                        <a:lnSpc>
                          <a:spcPct val="106000"/>
                        </a:lnSpc>
                        <a:spcAft>
                          <a:spcPts val="0"/>
                        </a:spcAft>
                      </a:pPr>
                      <a:r>
                        <a:rPr sz="1100" b="0">
                          <a:solidFill>
                            <a:srgbClr val="333333"/>
                          </a:solidFill>
                          <a:latin typeface="Fira Code"/>
                        </a:rPr>
                        <a:t>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JitterCorrection::correct_offboard_timestamp_usec()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uint64_t JitterCorrection::correct_offboard_timestamp_usec(uint64_t offboard_usec, uint64_t local_usec)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int64_t diff_us = int64_t(local_usec) - int64_t(offboard_usec)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(!initialised ||</a:t>
                      </a:r>
                    </a:p>
                    <a:p>
                      <a:pPr algn="l">
                        <a:lnSpc>
                          <a:spcPct val="106000"/>
                        </a:lnSpc>
                        <a:spcAft>
                          <a:spcPts val="0"/>
                        </a:spcAft>
                      </a:pPr>
                      <a:r>
                        <a:rPr sz="1100" b="0">
                          <a:solidFill>
                            <a:srgbClr val="333333"/>
                          </a:solidFill>
                          <a:latin typeface="Fira Code"/>
                        </a:rPr>
                        <a:t>diff_us &lt; link_offset_usec) {</a:t>
                      </a:r>
                    </a:p>
                    <a:p>
                      <a:pPr algn="l">
                        <a:lnSpc>
                          <a:spcPct val="106000"/>
                        </a:lnSpc>
                        <a:spcAft>
                          <a:spcPts val="0"/>
                        </a:spcAft>
                      </a:pPr>
                      <a:r>
                        <a:rPr sz="1100" b="0">
                          <a:solidFill>
                            <a:srgbClr val="333333"/>
                          </a:solidFill>
                          <a:latin typeface="Fira Code"/>
                        </a:rPr>
                        <a:t>// this message arrived from the remote system with a</a:t>
                      </a:r>
                    </a:p>
                    <a:p>
                      <a:pPr algn="l">
                        <a:lnSpc>
                          <a:spcPct val="106000"/>
                        </a:lnSpc>
                        <a:spcAft>
                          <a:spcPts val="0"/>
                        </a:spcAft>
                      </a:pPr>
                      <a:r>
                        <a:rPr sz="1100" b="0">
                          <a:solidFill>
                            <a:srgbClr val="333333"/>
                          </a:solidFill>
                          <a:latin typeface="Fira Code"/>
                        </a:rPr>
                        <a:t>// timestamp that would imply the message was from the</a:t>
                      </a:r>
                    </a:p>
                    <a:p>
                      <a:pPr algn="l">
                        <a:lnSpc>
                          <a:spcPct val="106000"/>
                        </a:lnSpc>
                        <a:spcAft>
                          <a:spcPts val="0"/>
                        </a:spcAft>
                      </a:pPr>
                      <a:r>
                        <a:rPr sz="1100" b="0">
                          <a:solidFill>
                            <a:srgbClr val="333333"/>
                          </a:solidFill>
                          <a:latin typeface="Fira Code"/>
                        </a:rPr>
                        <a:t>// future. We know that isn't possible, so we adjust down</a:t>
                      </a:r>
                    </a:p>
                    <a:p>
                      <a:pPr algn="l">
                        <a:lnSpc>
                          <a:spcPct val="106000"/>
                        </a:lnSpc>
                        <a:spcAft>
                          <a:spcPts val="0"/>
                        </a:spcAft>
                      </a:pPr>
                      <a:r>
                        <a:rPr sz="1100" b="0">
                          <a:solidFill>
                            <a:srgbClr val="333333"/>
                          </a:solidFill>
                          <a:latin typeface="Fira Code"/>
                        </a:rPr>
                        <a:t>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AP_Scheduler::loop()</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hal.util-&gt;persistent_data.scheduler_task = -1;</a:t>
                      </a:r>
                    </a:p>
                    <a:p>
                      <a:pPr algn="l">
                        <a:lnSpc>
                          <a:spcPct val="106000"/>
                        </a:lnSpc>
                        <a:spcAft>
                          <a:spcPts val="0"/>
                        </a:spcAft>
                      </a:pPr>
                      <a:r>
                        <a:rPr sz="1100" b="0">
                          <a:solidFill>
                            <a:srgbClr val="333333"/>
                          </a:solidFill>
                          <a:latin typeface="Fira Code"/>
                        </a:rPr>
                        <a:t>_loop_sample_time_us = AP_HAL::micros64();</a:t>
                      </a:r>
                    </a:p>
                    <a:p>
                      <a:pPr algn="l">
                        <a:lnSpc>
                          <a:spcPct val="106000"/>
                        </a:lnSpc>
                        <a:spcAft>
                          <a:spcPts val="0"/>
                        </a:spcAft>
                      </a:pPr>
                      <a:r>
                        <a:rPr sz="1100" b="0">
                          <a:solidFill>
                            <a:srgbClr val="333333"/>
                          </a:solidFill>
                          <a:latin typeface="Fira Code"/>
                        </a:rPr>
                        <a:t>const uint32_t sample_time_us = uint32_t(_loop_sample_time_us)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(_loop_timer_start_us == 0) {</a:t>
                      </a:r>
                    </a:p>
                    <a:p>
                      <a:pPr algn="l">
                        <a:lnSpc>
                          <a:spcPct val="106000"/>
                        </a:lnSpc>
                        <a:spcAft>
                          <a:spcPts val="0"/>
                        </a:spcAft>
                      </a:pPr>
                      <a:r>
                        <a:rPr sz="1100" b="0">
                          <a:solidFill>
                            <a:srgbClr val="333333"/>
                          </a:solidFill>
                          <a:latin typeface="Fira Code"/>
                        </a:rPr>
                        <a:t>_loop_timer_start_us = sample_time_us;</a:t>
                      </a:r>
                    </a:p>
                    <a:p>
                      <a:pPr algn="l">
                        <a:lnSpc>
                          <a:spcPct val="106000"/>
                        </a:lnSpc>
                        <a:spcAft>
                          <a:spcPts val="0"/>
                        </a:spcAft>
                      </a:pPr>
                      <a:r>
                        <a:rPr sz="1100" b="0">
                          <a:solidFill>
                            <a:srgbClr val="333333"/>
                          </a:solidFill>
                          <a:latin typeface="Fira Code"/>
                        </a:rPr>
                        <a:t>_last_loop_time_s = get_loop_period_s();</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_last_loop_time_s = (sample_time_us - _loop_timer_start_us</a:t>
                      </a:r>
                    </a:p>
                    <a:p>
                      <a:pPr algn="l">
                        <a:lnSpc>
                          <a:spcPct val="106000"/>
                        </a:lnSpc>
                        <a:spcAft>
                          <a:spcPts val="0"/>
                        </a:spcAft>
                      </a:pPr>
                      <a:r>
                        <a:rPr sz="1100" b="0">
                          <a:solidFill>
                            <a:srgbClr val="333333"/>
                          </a:solidFill>
                          <a:latin typeface="Fira Code"/>
                        </a:rPr>
                        <a:t>)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AP_Scheduler::tick()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AP_Scheduler::tick(void)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_tick_counter++;</a:t>
                      </a:r>
                    </a:p>
                    <a:p>
                      <a:pPr algn="l">
                        <a:lnSpc>
                          <a:spcPct val="106000"/>
                        </a:lnSpc>
                        <a:spcAft>
                          <a:spcPts val="0"/>
                        </a:spcAft>
                      </a:pPr>
                      <a:r>
                        <a:rPr sz="1100" b="0">
                          <a:solidFill>
                            <a:srgbClr val="333333"/>
                          </a:solidFill>
                          <a:latin typeface="Fira Code"/>
                        </a:rPr>
                        <a:t>_tick_counter32++;</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CONFIG_HAL_BOARD == HAL_BOARD_SITL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AP_Scheduler::get_loop_period_us()</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get the time-allowed-per-loop in microseconds</a:t>
                      </a:r>
                    </a:p>
                    <a:p>
                      <a:pPr algn="l">
                        <a:lnSpc>
                          <a:spcPct val="106000"/>
                        </a:lnSpc>
                        <a:spcAft>
                          <a:spcPts val="0"/>
                        </a:spcAft>
                      </a:pPr>
                      <a:r>
                        <a:rPr sz="1100" b="0">
                          <a:solidFill>
                            <a:srgbClr val="333333"/>
                          </a:solidFill>
                          <a:latin typeface="Fira Code"/>
                        </a:rPr>
                        <a:t>uint32_t get_loop_period_us() {</a:t>
                      </a:r>
                    </a:p>
                    <a:p>
                      <a:pPr algn="l">
                        <a:lnSpc>
                          <a:spcPct val="106000"/>
                        </a:lnSpc>
                        <a:spcAft>
                          <a:spcPts val="0"/>
                        </a:spcAft>
                      </a:pPr>
                      <a:r>
                        <a:rPr sz="1100" b="0">
                          <a:solidFill>
                            <a:srgbClr val="333333"/>
                          </a:solidFill>
                          <a:latin typeface="Fira Code"/>
                        </a:rPr>
                        <a:t>if (_loop_period_us == 0) {</a:t>
                      </a:r>
                    </a:p>
                    <a:p>
                      <a:pPr algn="l">
                        <a:lnSpc>
                          <a:spcPct val="106000"/>
                        </a:lnSpc>
                        <a:spcAft>
                          <a:spcPts val="0"/>
                        </a:spcAft>
                      </a:pPr>
                      <a:r>
                        <a:rPr sz="1100" b="0">
                          <a:solidFill>
                            <a:srgbClr val="333333"/>
                          </a:solidFill>
                          <a:latin typeface="Fira Code"/>
                        </a:rPr>
                        <a:t>_loop_period_us = 1000000UL / _loop_rate_hz;</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return _loop_period_us;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AP_GPS::time_week_ms() / time_week()</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GPS time of week in milliseconds</a:t>
                      </a:r>
                    </a:p>
                    <a:p>
                      <a:pPr algn="l">
                        <a:lnSpc>
                          <a:spcPct val="106000"/>
                        </a:lnSpc>
                        <a:spcAft>
                          <a:spcPts val="0"/>
                        </a:spcAft>
                      </a:pPr>
                      <a:r>
                        <a:rPr sz="1100" b="0">
                          <a:solidFill>
                            <a:srgbClr val="333333"/>
                          </a:solidFill>
                          <a:latin typeface="Fira Code"/>
                        </a:rPr>
                        <a:t>uint32_t time_week_ms(uint8_t instance) const {</a:t>
                      </a:r>
                    </a:p>
                    <a:p>
                      <a:pPr algn="l">
                        <a:lnSpc>
                          <a:spcPct val="106000"/>
                        </a:lnSpc>
                        <a:spcAft>
                          <a:spcPts val="0"/>
                        </a:spcAft>
                      </a:pPr>
                      <a:r>
                        <a:rPr sz="1100" b="0">
                          <a:solidFill>
                            <a:srgbClr val="333333"/>
                          </a:solidFill>
                          <a:latin typeface="Fira Code"/>
                        </a:rPr>
                        <a:t>return state[instance].time_week_ms;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uint32_t time_week_ms() const {</a:t>
                      </a:r>
                    </a:p>
                    <a:p>
                      <a:pPr algn="l">
                        <a:lnSpc>
                          <a:spcPct val="106000"/>
                        </a:lnSpc>
                        <a:spcAft>
                          <a:spcPts val="0"/>
                        </a:spcAft>
                      </a:pPr>
                      <a:r>
                        <a:rPr sz="1100" b="0">
                          <a:solidFill>
                            <a:srgbClr val="333333"/>
                          </a:solidFill>
                          <a:latin typeface="Fira Code"/>
                        </a:rPr>
                        <a:t>return time_week_ms(primary_instance);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GPS week</a:t>
                      </a:r>
                    </a:p>
                    <a:p>
                      <a:pPr algn="l">
                        <a:lnSpc>
                          <a:spcPct val="106000"/>
                        </a:lnSpc>
                        <a:spcAft>
                          <a:spcPts val="0"/>
                        </a:spcAft>
                      </a:pPr>
                      <a:r>
                        <a:rPr sz="1100" b="0">
                          <a:solidFill>
                            <a:srgbClr val="333333"/>
                          </a:solidFill>
                          <a:latin typeface="Fira Code"/>
                        </a:rPr>
                        <a:t>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AP_HAL::Scheduler (abstract HAL timing / scheduling interface)</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 register a high priority timer task</a:t>
                      </a:r>
                    </a:p>
                    <a:p>
                      <a:pPr algn="l">
                        <a:lnSpc>
                          <a:spcPct val="106000"/>
                        </a:lnSpc>
                        <a:spcAft>
                          <a:spcPts val="0"/>
                        </a:spcAft>
                      </a:pPr>
                      <a:r>
                        <a:rPr sz="1100" b="0">
                          <a:solidFill>
                            <a:srgbClr val="333333"/>
                          </a:solidFill>
                          <a:latin typeface="Fira Code"/>
                        </a:rPr>
                        <a:t>virtual void register_timer_process(AP_HAL::MemberProc) =</a:t>
                      </a:r>
                    </a:p>
                    <a:p>
                      <a:pPr algn="l">
                        <a:lnSpc>
                          <a:spcPct val="106000"/>
                        </a:lnSpc>
                        <a:spcAft>
                          <a:spcPts val="0"/>
                        </a:spcAft>
                      </a:pPr>
                      <a:r>
                        <a:rPr sz="1100" b="0">
                          <a:solidFill>
                            <a:srgbClr val="333333"/>
                          </a:solidFill>
                          <a:latin typeface="Fira Code"/>
                        </a:rPr>
                        <a:t>0;</a:t>
                      </a:r>
                    </a:p>
                    <a:p>
                      <a:pPr algn="l">
                        <a:lnSpc>
                          <a:spcPct val="106000"/>
                        </a:lnSpc>
                        <a:spcAft>
                          <a:spcPts val="0"/>
                        </a:spcAft>
                      </a:pPr>
                      <a:r>
                        <a:rPr sz="1100" b="0">
                          <a:solidFill>
                            <a:srgbClr val="333333"/>
                          </a:solidFill>
                          <a:latin typeface="Fira Code"/>
                        </a:rPr>
                        <a:t>// register a low priority IO task</a:t>
                      </a:r>
                    </a:p>
                    <a:p>
                      <a:pPr algn="l">
                        <a:lnSpc>
                          <a:spcPct val="106000"/>
                        </a:lnSpc>
                        <a:spcAft>
                          <a:spcPts val="0"/>
                        </a:spcAft>
                      </a:pPr>
                      <a:r>
                        <a:rPr sz="1100" b="0">
                          <a:solidFill>
                            <a:srgbClr val="333333"/>
                          </a:solidFill>
                          <a:latin typeface="Fira Code"/>
                        </a:rPr>
                        <a:t>virtual void register_io_process(AP_HAL::MemberProc)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2 — full transitive chain, final consumer &amp; hop depth</a:t>
            </a:r>
          </a:p>
        </p:txBody>
      </p:sp>
      <p:graphicFrame>
        <p:nvGraphicFramePr>
          <p:cNvPr id="7" name="Table 6"/>
          <p:cNvGraphicFramePr>
            <a:graphicFrameLocks noGrp="1"/>
          </p:cNvGraphicFramePr>
          <p:nvPr/>
        </p:nvGraphicFramePr>
        <p:xfrm>
          <a:off x="566928" y="1906943"/>
          <a:ext cx="11058144" cy="399161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RTOS/board hardware timer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timer → AP_HAL::micros()/millis() → AP_Scheduler / EKF / AP_GPS timestamps → every periodic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periodic PNT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Monotonic-time backbone.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GPS/GCS UTC time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time source → AP_RTC → AP::rtc().get_utc_usec() → AP_Logger / AP_Stats →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dataflash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Singleton consumption edge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time / GCS SYSTEM_TIME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time source → set_utc_usec source arbitration → rtc_source_type → system UTC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RTC system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Best-source selection.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Offboard (remote) timestamp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MAVLink/DroneCAN timestamp → correct_offboard_timestamp_usec → corrected local time → EKF / sensor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fused-sensor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Time-sync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(loop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 AP_Scheduler::loop() → run-table tasks (EKF/AHRS/controllers)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(all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 drives every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loop() → tick() counters → task-table interval check → 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Cadence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602657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 (continued)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SCHED_LOOP_RATE parameter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_loop_rate_hz → get_loop_period_us (1e6/rate) → task budget + G_Dt → AC_AttitudeControl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controller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Rate→period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 GPS_State.time_week → AP_GPS::time_week() → NavEKF3 readGpsData / time_epoch_usec → UTC/log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timing facet of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 scheduler (HAL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HAL Scheduler backend → AP_HAL::Scheduler interface (delay / register_timer_process) → AP_Scheduler::loop → periodic PNT tasks (EKF / AHRS /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periodic PNT task execution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HAL timing interface beneath the AP_Scheduler library (#5-#7); the board backend implements the pure-virtual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27923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4 — Indirect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Positioning read as a permission: health checks, fence evaluations and mode gates.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ArduCopter/system.cpp</a:t>
                      </a:r>
                    </a:p>
                    <a:p>
                      <a:pPr algn="l">
                        <a:lnSpc>
                          <a:spcPct val="106000"/>
                        </a:lnSpc>
                        <a:spcAft>
                          <a:spcPts val="0"/>
                        </a:spcAft>
                      </a:pPr>
                      <a:r>
                        <a:rPr sz="1100" b="0">
                          <a:solidFill>
                            <a:srgbClr val="333333"/>
                          </a:solidFill>
                          <a:latin typeface="Fira Code"/>
                        </a:rPr>
                        <a:t>226-234</a:t>
                      </a:r>
                    </a:p>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Evaluated on position-mode entry and by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failsafe.ekf flag; ekf_has_absolute_position() / ekf_has_relative_position() (EKF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when EKF failsafe is set or no EKF position estimate exists, causing callers to deny position-requiring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Pure observer of EKF position health — reads no raw PNT, but gates downstream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ArduCopter/mode.cpp</a:t>
                      </a:r>
                    </a:p>
                    <a:p>
                      <a:pPr algn="l">
                        <a:lnSpc>
                          <a:spcPct val="106000"/>
                        </a:lnSpc>
                        <a:spcAft>
                          <a:spcPts val="0"/>
                        </a:spcAft>
                      </a:pPr>
                      <a:r>
                        <a:rPr sz="1100" b="0">
                          <a:solidFill>
                            <a:srgbClr val="333333"/>
                          </a:solidFill>
                          <a:latin typeface="Fira Code"/>
                        </a:rPr>
                        <a:t>303-310</a:t>
                      </a:r>
                    </a:p>
                    <a:p>
                      <a:pPr algn="l">
                        <a:lnSpc>
                          <a:spcPct val="106000"/>
                        </a:lnSpc>
                        <a:spcAft>
                          <a:spcPts val="0"/>
                        </a:spcAft>
                      </a:pPr>
                      <a:r>
                        <a:rPr sz="1100" b="0">
                          <a:solidFill>
                            <a:srgbClr val="333333"/>
                          </a:solidFill>
                          <a:latin typeface="Fira Code"/>
                        </a:rPr>
                        <a:t>Copter::set_mode() —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Pilot/GCS/auto requests a flight-mode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the mode change with “requires position” when the target mode needs GPS and position_ok() is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Central position-gate for ALL position-requiring Copter modes (per-mode requires_GPS() enumerated in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20-28</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25 Hz fence rate-gate elapsed and no breach latched awaiting the main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(current breach bitmask, L21); fence.check() (re-evaluates vehicle position vs fences, L25)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bitmask for the main loop and logs a breach-cleared event when the vehicle returns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[FIX F1] Cited window centers on get_breaches() (L21) and check() (L25) — the actual geofence observation — not the L8-17 async/timing entry. mirrors Rover::fence_checks_async (#9). Timing rate-gate documented in Table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graphicFrame>
        <p:nvGraphicFramePr>
          <p:cNvPr id="6" name="Table 5"/>
          <p:cNvGraphicFramePr>
            <a:graphicFrameLocks noGrp="1"/>
          </p:cNvGraphicFramePr>
          <p:nvPr/>
        </p:nvGraphicFramePr>
        <p:xfrm>
          <a:off x="566928" y="1591056"/>
          <a:ext cx="11058144" cy="38040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677-685</a:t>
                      </a:r>
                    </a:p>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Polygon (inclusion/exclusion)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AP::ahrs().get_location(loc) — current vehicle Location tested against the 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record_breach(POLYGON) when _poly_loader.breached(loc) is true → sets the 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(was mis-cited to L753-762 mask init). Snippet centers on the AP::ahrs().get_location() read (L680).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707-715</a:t>
                      </a:r>
                    </a:p>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Circle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AP::ahrs().get_relative_position_NE_home(home) — NE distance from home (L713)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Records a circle breach when the home distance exceeds the configured radius.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snippet centers on the NE-home position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540-548</a:t>
                      </a:r>
                    </a:p>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Maximum-altitude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AP::ahrs().get_relative_position_D_home(alt) — altitude relative to home (L546)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Records an altitude breach when alt exceeds 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altitude-observing path; snippet centers on the D-home altitude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graphicFrame>
        <p:nvGraphicFramePr>
          <p:cNvPr id="6" name="Table 5"/>
          <p:cNvGraphicFramePr>
            <a:graphicFrameLocks noGrp="1"/>
          </p:cNvGraphicFramePr>
          <p:nvPr/>
        </p:nvGraphicFramePr>
        <p:xfrm>
          <a:off x="566928" y="1591056"/>
          <a:ext cx="11058144" cy="36263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837-845</a:t>
                      </a:r>
                    </a:p>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Periodic fence check invoked from the vehicle 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(aggregator) results of check_fence_alt_max() / check_fence_circle() / check_fence_polygon()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the bitmask of breached fence types that drives the vehicle fence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Orchestrator dispatch (L837 circle, L842 polygon). The position reads themselves are in the dispatched checks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ArduCopter/mode_guided_nogps.cpp</a:t>
                      </a:r>
                    </a:p>
                    <a:p>
                      <a:pPr algn="l">
                        <a:lnSpc>
                          <a:spcPct val="106000"/>
                        </a:lnSpc>
                        <a:spcAft>
                          <a:spcPts val="0"/>
                        </a:spcAft>
                      </a:pPr>
                      <a:r>
                        <a:rPr sz="1100" b="0">
                          <a:solidFill>
                            <a:srgbClr val="333333"/>
                          </a:solidFill>
                          <a:latin typeface="Fira Code"/>
                        </a:rPr>
                        <a:t>9-15</a:t>
                      </a:r>
                    </a:p>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GUIDED_NOGPS entry (companion-computer angle control without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 by design] no position state observed; requires_GPS() returns false (ArduCopter/mode.h)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Starts angle control only and remains available when position_ok() is false — the GPS-denied fallback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Contrast row: intentionally PNT-position-INDEPENDENT mode (documents an explicit absence of positioning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17-25</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fence rate-gate elapsed and no breach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(L19); fence.check() (vehicle position vs fence, L21)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for the main loop; clears on return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ArduCopter::fence_checks_async (#3) — copy-paste across vehicles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graphicFrame>
        <p:nvGraphicFramePr>
          <p:cNvPr id="6" name="Table 5"/>
          <p:cNvGraphicFramePr>
            <a:graphicFrameLocks noGrp="1"/>
          </p:cNvGraphicFramePr>
          <p:nvPr/>
        </p:nvGraphicFramePr>
        <p:xfrm>
          <a:off x="566928" y="1591056"/>
          <a:ext cx="11058144" cy="243512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17203">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ArduPlane/takeoff.cpp</a:t>
                      </a:r>
                    </a:p>
                    <a:p>
                      <a:pPr algn="l">
                        <a:lnSpc>
                          <a:spcPct val="106000"/>
                        </a:lnSpc>
                        <a:spcAft>
                          <a:spcPts val="0"/>
                        </a:spcAft>
                      </a:pPr>
                      <a:r>
                        <a:rPr sz="1100" b="0">
                          <a:solidFill>
                            <a:srgbClr val="333333"/>
                          </a:solidFill>
                          <a:latin typeface="Fira Code"/>
                        </a:rPr>
                        <a:t>58-62</a:t>
                      </a:r>
                    </a:p>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Auto/TAKEOFF launch readiness re-evaluated each loop from Plane::set_servos() (Ardu 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gps.status() &lt; AP_GPS:: GPS_OK_FIX_3D (GPS fix quality; gps.status() = AP_GPS::status())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 auto-takeoff is blocked (throttle stays suppressed) until a 3D GPS fix is acquired.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(positioning). User-example PNT-State-Observed accessor gps.status() (= AP_GPS::status(), libraries/AP_GPS/AP_GPS.h:293). the same gps.status() &lt; GPS_OK_FIX_3D fix-gate recurs in ArduPlane/Plane.cpp (L420/485) and ArduPlane/is_flying.cpp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ArduCopter/system.cpp</a:t>
                      </a:r>
                      <a:r>
                        <a:rPr sz="1100" b="0">
                          <a:solidFill>
                            <a:srgbClr val="999999"/>
                          </a:solidFill>
                          <a:latin typeface="Fira Code"/>
                        </a:rPr>
                        <a:t>  ·  </a:t>
                      </a:r>
                      <a:r>
                        <a:rPr sz="1100" b="0">
                          <a:solidFill>
                            <a:srgbClr val="999999"/>
                          </a:solidFill>
                          <a:latin typeface="Fira Code"/>
                        </a:rPr>
                        <a:t>226-234</a:t>
                      </a:r>
                      <a:r>
                        <a:rPr sz="1100" b="0">
                          <a:solidFill>
                            <a:srgbClr val="999999"/>
                          </a:solidFill>
                          <a:latin typeface="Fira Code"/>
                        </a:rPr>
                        <a:t>  ·  </a:t>
                      </a:r>
                      <a:r>
                        <a:rPr sz="1100" b="0">
                          <a:solidFill>
                            <a:srgbClr val="999999"/>
                          </a:solidFill>
                          <a:latin typeface="Fira Code"/>
                        </a:rPr>
                        <a:t>Copter::position_ok()</a:t>
                      </a:r>
                    </a:p>
                    <a:p>
                      <a:pPr algn="l">
                        <a:lnSpc>
                          <a:spcPct val="106000"/>
                        </a:lnSpc>
                        <a:spcAft>
                          <a:spcPts val="0"/>
                        </a:spcAft>
                      </a:pPr>
                      <a:r>
                        <a:rPr sz="1100" b="0">
                          <a:solidFill>
                            <a:srgbClr val="333333"/>
                          </a:solidFill>
                          <a:latin typeface="Fira Code"/>
                        </a:rPr>
                        <a:t>bool Copter::position_ok()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return false if ekf failsafe has triggered</a:t>
                      </a:r>
                    </a:p>
                    <a:p>
                      <a:pPr algn="l">
                        <a:lnSpc>
                          <a:spcPct val="106000"/>
                        </a:lnSpc>
                        <a:spcAft>
                          <a:spcPts val="0"/>
                        </a:spcAft>
                      </a:pPr>
                      <a:r>
                        <a:rPr sz="1100" b="0">
                          <a:solidFill>
                            <a:srgbClr val="333333"/>
                          </a:solidFill>
                          <a:latin typeface="Fira Code"/>
                        </a:rPr>
                        <a:t>    if (failsafe.ekf)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ekf position estimate</a:t>
                      </a:r>
                    </a:p>
                    <a:p>
                      <a:pPr algn="l">
                        <a:lnSpc>
                          <a:spcPct val="106000"/>
                        </a:lnSpc>
                        <a:spcAft>
                          <a:spcPts val="0"/>
                        </a:spcAft>
                      </a:pPr>
                      <a:r>
                        <a:rPr sz="1100" b="0">
                          <a:solidFill>
                            <a:srgbClr val="333333"/>
                          </a:solidFill>
                          <a:latin typeface="Fira Code"/>
                        </a:rPr>
                        <a:t>    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ArduCopter/mode.cpp</a:t>
                      </a:r>
                      <a:r>
                        <a:rPr sz="1100" b="0">
                          <a:solidFill>
                            <a:srgbClr val="999999"/>
                          </a:solidFill>
                          <a:latin typeface="Fira Code"/>
                        </a:rPr>
                        <a:t>  ·  </a:t>
                      </a:r>
                      <a:r>
                        <a:rPr sz="1100" b="0">
                          <a:solidFill>
                            <a:srgbClr val="999999"/>
                          </a:solidFill>
                          <a:latin typeface="Fira Code"/>
                        </a:rPr>
                        <a:t>303-310</a:t>
                      </a:r>
                      <a:r>
                        <a:rPr sz="1100" b="0">
                          <a:solidFill>
                            <a:srgbClr val="999999"/>
                          </a:solidFill>
                          <a:latin typeface="Fira Code"/>
                        </a:rPr>
                        <a:t>  ·  </a:t>
                      </a:r>
                      <a:r>
                        <a:rPr sz="1100" b="0">
                          <a:solidFill>
                            <a:srgbClr val="999999"/>
                          </a:solidFill>
                          <a:latin typeface="Fira Code"/>
                        </a:rPr>
                        <a:t>Copter::set_mode() — requires_GPS gate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(!ignore_checks &amp;&amp;</a:t>
                      </a:r>
                    </a:p>
                    <a:p>
                      <a:pPr algn="l">
                        <a:lnSpc>
                          <a:spcPct val="106000"/>
                        </a:lnSpc>
                        <a:spcAft>
                          <a:spcPts val="0"/>
                        </a:spcAft>
                      </a:pPr>
                      <a:r>
                        <a:rPr sz="1100" b="0">
                          <a:solidFill>
                            <a:srgbClr val="333333"/>
                          </a:solidFill>
                          <a:latin typeface="Fira Code"/>
                        </a:rPr>
                        <a:t>        new_flightmode-&gt;requires_GPS() &amp;&amp;</a:t>
                      </a:r>
                    </a:p>
                    <a:p>
                      <a:pPr algn="l">
                        <a:lnSpc>
                          <a:spcPct val="106000"/>
                        </a:lnSpc>
                        <a:spcAft>
                          <a:spcPts val="0"/>
                        </a:spcAft>
                      </a:pPr>
                      <a:r>
                        <a:rPr sz="1100" b="0">
                          <a:solidFill>
                            <a:srgbClr val="333333"/>
                          </a:solidFill>
                          <a:latin typeface="Fira Code"/>
                        </a:rPr>
                        <a:t>        !copter.position_ok()) {</a:t>
                      </a:r>
                    </a:p>
                    <a:p>
                      <a:pPr algn="l">
                        <a:lnSpc>
                          <a:spcPct val="106000"/>
                        </a:lnSpc>
                        <a:spcAft>
                          <a:spcPts val="0"/>
                        </a:spcAft>
                      </a:pPr>
                      <a:r>
                        <a:rPr sz="1100" b="0">
                          <a:solidFill>
                            <a:srgbClr val="333333"/>
                          </a:solidFill>
                          <a:latin typeface="Fira Code"/>
                        </a:rPr>
                        <a:t>        mode_change_failed(new_flightmode, "requires position");</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ArduCopter/fence.cpp</a:t>
                      </a:r>
                      <a:r>
                        <a:rPr sz="1100" b="0">
                          <a:solidFill>
                            <a:srgbClr val="999999"/>
                          </a:solidFill>
                          <a:latin typeface="Fira Code"/>
                        </a:rPr>
                        <a:t>  ·  </a:t>
                      </a:r>
                      <a:r>
                        <a:rPr sz="1100" b="0">
                          <a:solidFill>
                            <a:srgbClr val="999999"/>
                          </a:solidFill>
                          <a:latin typeface="Fira Code"/>
                        </a:rPr>
                        <a:t>20-28</a:t>
                      </a:r>
                      <a:r>
                        <a:rPr sz="1100" b="0">
                          <a:solidFill>
                            <a:srgbClr val="999999"/>
                          </a:solidFill>
                          <a:latin typeface="Fira Code"/>
                        </a:rPr>
                        <a:t>  ·  </a:t>
                      </a:r>
                      <a:r>
                        <a:rPr sz="1100" b="0">
                          <a:solidFill>
                            <a:srgbClr val="999999"/>
                          </a:solidFill>
                          <a:latin typeface="Fira Code"/>
                        </a:rPr>
                        <a:t>Copter::fence_checks_async()</a:t>
                      </a:r>
                    </a:p>
                    <a:p>
                      <a:pPr algn="l">
                        <a:lnSpc>
                          <a:spcPct val="106000"/>
                        </a:lnSpc>
                        <a:spcAft>
                          <a:spcPts val="0"/>
                        </a:spcAft>
                      </a:pPr>
                      <a:r>
                        <a:rPr sz="1100" b="0">
                          <a:solidFill>
                            <a:srgbClr val="333333"/>
                          </a:solidFill>
                          <a:latin typeface="Fira Code"/>
                        </a:rPr>
                        <a:t>    fence_breaches.last_check_ms = now;</a:t>
                      </a:r>
                    </a:p>
                    <a:p>
                      <a:pPr algn="l">
                        <a:lnSpc>
                          <a:spcPct val="106000"/>
                        </a:lnSpc>
                        <a:spcAft>
                          <a:spcPts val="0"/>
                        </a:spcAft>
                      </a:pPr>
                      <a:r>
                        <a:rPr sz="1100" b="0">
                          <a:solidFill>
                            <a:srgbClr val="333333"/>
                          </a:solidFill>
                          <a:latin typeface="Fira Code"/>
                        </a:rPr>
                        <a:t>    const uint8_t orig_breaches = fence.get_breaches();</a:t>
                      </a:r>
                    </a:p>
                    <a:p>
                      <a:pPr algn="l">
                        <a:lnSpc>
                          <a:spcPct val="106000"/>
                        </a:lnSpc>
                        <a:spcAft>
                          <a:spcPts val="0"/>
                        </a:spcAft>
                      </a:pPr>
                      <a:r>
                        <a:rPr sz="1100" b="0">
                          <a:solidFill>
                            <a:srgbClr val="333333"/>
                          </a:solidFill>
                          <a:latin typeface="Fira Code"/>
                        </a:rPr>
                        <a:t>    bool is_landing_or_landed = flightmode-&gt;is_landing() || ap.land_complete  || !motors-&gt;armed();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new breaches; new_breaches is bitmask of fence types breached</a:t>
                      </a:r>
                    </a:p>
                    <a:p>
                      <a:pPr algn="l">
                        <a:lnSpc>
                          <a:spcPct val="106000"/>
                        </a:lnSpc>
                        <a:spcAft>
                          <a:spcPts val="0"/>
                        </a:spcAft>
                      </a:pPr>
                      <a:r>
                        <a:rPr sz="1100" b="0">
                          <a:solidFill>
                            <a:srgbClr val="333333"/>
                          </a:solidFill>
                          <a:latin typeface="Fira Code"/>
                        </a:rPr>
                        <a:t>    fence_breaches.new_breaches = fence.check(is_landing_or_landed);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(!fence_breaches.new_breaches &amp;&amp; orig_breaches &amp;&amp; fence.get_breaches() == 0) {</a:t>
                      </a:r>
                    </a:p>
                    <a:p>
                      <a:pPr algn="l">
                        <a:lnSpc>
                          <a:spcPct val="106000"/>
                        </a:lnSpc>
                        <a:spcAft>
                          <a:spcPts val="0"/>
                        </a:spcAft>
                      </a:pPr>
                      <a:r>
                        <a:rPr sz="1100" b="0">
                          <a:solidFill>
                            <a:srgbClr val="333333"/>
                          </a:solidFill>
                          <a:latin typeface="Fira Code"/>
                        </a:rPr>
                        <a:t>        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677-685</a:t>
                      </a:r>
                      <a:r>
                        <a:rPr sz="1100" b="0">
                          <a:solidFill>
                            <a:srgbClr val="999999"/>
                          </a:solidFill>
                          <a:latin typeface="Fira Code"/>
                        </a:rPr>
                        <a:t>  ·  </a:t>
                      </a:r>
                      <a:r>
                        <a:rPr sz="1100" b="0">
                          <a:solidFill>
                            <a:srgbClr val="999999"/>
                          </a:solidFill>
                          <a:latin typeface="Fira Code"/>
                        </a:rPr>
                        <a:t>AC_Fence::check_fence_polygon()</a:t>
                      </a:r>
                    </a:p>
                    <a:p>
                      <a:pPr algn="l">
                        <a:lnSpc>
                          <a:spcPct val="106000"/>
                        </a:lnSpc>
                        <a:spcAft>
                          <a:spcPts val="0"/>
                        </a:spcAft>
                      </a:pPr>
                      <a:r>
                        <a:rPr sz="1100" b="0">
                          <a:solidFill>
                            <a:srgbClr val="333333"/>
                          </a:solidFill>
                          <a:latin typeface="Fira Code"/>
                        </a:rPr>
                        <a:t>    const bool was_breached = _breached_fences &amp; AC_FENCE_TYPE_POLYGON;</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Location loc;</a:t>
                      </a:r>
                    </a:p>
                    <a:p>
                      <a:pPr algn="l">
                        <a:lnSpc>
                          <a:spcPct val="106000"/>
                        </a:lnSpc>
                        <a:spcAft>
                          <a:spcPts val="0"/>
                        </a:spcAft>
                      </a:pPr>
                      <a:r>
                        <a:rPr sz="1100" b="0">
                          <a:solidFill>
                            <a:srgbClr val="333333"/>
                          </a:solidFill>
                          <a:latin typeface="Fira Code"/>
                        </a:rPr>
                        <a:t>    const bool have_location = AP::ahrs().get_location(loc);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(have_location &amp;&amp; _poly_loader.breached(loc, _polygon_breach_distance)) {</a:t>
                      </a:r>
                    </a:p>
                    <a:p>
                      <a:pPr algn="l">
                        <a:lnSpc>
                          <a:spcPct val="106000"/>
                        </a:lnSpc>
                        <a:spcAft>
                          <a:spcPts val="0"/>
                        </a:spcAft>
                      </a:pPr>
                      <a:r>
                        <a:rPr sz="1100" b="0">
                          <a:solidFill>
                            <a:srgbClr val="333333"/>
                          </a:solidFill>
                          <a:latin typeface="Fira Code"/>
                        </a:rPr>
                        <a:t>        if (!was_breached) {</a:t>
                      </a:r>
                    </a:p>
                    <a:p>
                      <a:pPr algn="l">
                        <a:lnSpc>
                          <a:spcPct val="106000"/>
                        </a:lnSpc>
                        <a:spcAft>
                          <a:spcPts val="0"/>
                        </a:spcAft>
                      </a:pPr>
                      <a:r>
                        <a:rPr sz="1100" b="0">
                          <a:solidFill>
                            <a:srgbClr val="333333"/>
                          </a:solidFill>
                          <a:latin typeface="Fira Code"/>
                        </a:rPr>
                        <a:t>            record_breach(AC_FENCE_TYPE_POLYGON);</a:t>
                      </a:r>
                    </a:p>
                    <a:p>
                      <a:pPr algn="l">
                        <a:lnSpc>
                          <a:spcPct val="106000"/>
                        </a:lnSpc>
                        <a:spcAft>
                          <a:spcPts val="0"/>
                        </a:spcAft>
                      </a:pPr>
                      <a:r>
                        <a:rPr sz="1100" b="0">
                          <a:solidFill>
                            <a:srgbClr val="333333"/>
                          </a:solidFill>
                          <a:latin typeface="Fira Code"/>
                        </a:rPr>
                        <a:t>            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707-715</a:t>
                      </a:r>
                      <a:r>
                        <a:rPr sz="1100" b="0">
                          <a:solidFill>
                            <a:srgbClr val="999999"/>
                          </a:solidFill>
                          <a:latin typeface="Fira Code"/>
                        </a:rPr>
                        <a:t>  ·  </a:t>
                      </a:r>
                      <a:r>
                        <a:rPr sz="1100" b="0">
                          <a:solidFill>
                            <a:srgbClr val="999999"/>
                          </a:solidFill>
                          <a:latin typeface="Fira Code"/>
                        </a:rPr>
                        <a:t>AC_Fence::check_fence_circle()</a:t>
                      </a:r>
                    </a:p>
                    <a:p>
                      <a:pPr algn="l">
                        <a:lnSpc>
                          <a:spcPct val="106000"/>
                        </a:lnSpc>
                        <a:spcAft>
                          <a:spcPts val="0"/>
                        </a:spcAft>
                      </a:pPr>
                      <a:r>
                        <a:rPr sz="1100" b="0">
                          <a:solidFill>
                            <a:srgbClr val="333333"/>
                          </a:solidFill>
                          <a:latin typeface="Fira Code"/>
                        </a:rPr>
                        <a:t>    if (!(get_enabled_fences() &amp; AC_FENCE_TYPE_CIRCLE)) {</a:t>
                      </a:r>
                    </a:p>
                    <a:p>
                      <a:pPr algn="l">
                        <a:lnSpc>
                          <a:spcPct val="106000"/>
                        </a:lnSpc>
                        <a:spcAft>
                          <a:spcPts val="0"/>
                        </a:spcAft>
                      </a:pPr>
                      <a:r>
                        <a:rPr sz="1100" b="0">
                          <a:solidFill>
                            <a:srgbClr val="333333"/>
                          </a:solidFill>
                          <a:latin typeface="Fira Code"/>
                        </a:rPr>
                        <a:t>        // not enabled; no breach</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Vector2f home;</a:t>
                      </a:r>
                    </a:p>
                    <a:p>
                      <a:pPr algn="l">
                        <a:lnSpc>
                          <a:spcPct val="106000"/>
                        </a:lnSpc>
                        <a:spcAft>
                          <a:spcPts val="0"/>
                        </a:spcAft>
                      </a:pPr>
                      <a:r>
                        <a:rPr sz="1100" b="0">
                          <a:solidFill>
                            <a:srgbClr val="333333"/>
                          </a:solidFill>
                          <a:latin typeface="Fira Code"/>
                        </a:rPr>
                        <a:t>    if (AP::ahrs().get_relative_position_NE_home(home)) {</a:t>
                      </a:r>
                    </a:p>
                    <a:p>
                      <a:pPr algn="l">
                        <a:lnSpc>
                          <a:spcPct val="106000"/>
                        </a:lnSpc>
                        <a:spcAft>
                          <a:spcPts val="0"/>
                        </a:spcAft>
                      </a:pPr>
                      <a:r>
                        <a:rPr sz="1100" b="0">
                          <a:solidFill>
                            <a:srgbClr val="333333"/>
                          </a:solidFill>
                          <a:latin typeface="Fira Code"/>
                        </a:rPr>
                        <a:t>        // we (may) remain breached if we can't update home</a:t>
                      </a:r>
                    </a:p>
                    <a:p>
                      <a:pPr algn="l">
                        <a:lnSpc>
                          <a:spcPct val="106000"/>
                        </a:lnSpc>
                        <a:spcAft>
                          <a:spcPts val="0"/>
                        </a:spcAft>
                      </a:pPr>
                      <a:r>
                        <a:rPr sz="1100" b="0">
                          <a:solidFill>
                            <a:srgbClr val="333333"/>
                          </a:solidFill>
                          <a:latin typeface="Fira Code"/>
                        </a:rPr>
                        <a:t>        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540-548</a:t>
                      </a:r>
                      <a:r>
                        <a:rPr sz="1100" b="0">
                          <a:solidFill>
                            <a:srgbClr val="999999"/>
                          </a:solidFill>
                          <a:latin typeface="Fira Code"/>
                        </a:rPr>
                        <a:t>  ·  </a:t>
                      </a:r>
                      <a:r>
                        <a:rPr sz="1100" b="0">
                          <a:solidFill>
                            <a:srgbClr val="999999"/>
                          </a:solidFill>
                          <a:latin typeface="Fira Code"/>
                        </a:rPr>
                        <a:t>AC_Fence::check_fence_alt_max()</a:t>
                      </a:r>
                    </a:p>
                    <a:p>
                      <a:pPr algn="l">
                        <a:lnSpc>
                          <a:spcPct val="106000"/>
                        </a:lnSpc>
                        <a:spcAft>
                          <a:spcPts val="0"/>
                        </a:spcAft>
                      </a:pPr>
                      <a:r>
                        <a:rPr sz="1100" b="0">
                          <a:solidFill>
                            <a:srgbClr val="333333"/>
                          </a:solidFill>
                          <a:latin typeface="Fira Code"/>
                        </a:rPr>
                        <a:t>    if (!(get_enabled_fences() &amp; AC_FENCE_TYPE_ALT_MAX)) {</a:t>
                      </a:r>
                    </a:p>
                    <a:p>
                      <a:pPr algn="l">
                        <a:lnSpc>
                          <a:spcPct val="106000"/>
                        </a:lnSpc>
                        <a:spcAft>
                          <a:spcPts val="0"/>
                        </a:spcAft>
                      </a:pPr>
                      <a:r>
                        <a:rPr sz="1100" b="0">
                          <a:solidFill>
                            <a:srgbClr val="333333"/>
                          </a:solidFill>
                          <a:latin typeface="Fira Code"/>
                        </a:rPr>
                        <a:t>        // not enabled; no breach</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float alt;</a:t>
                      </a:r>
                    </a:p>
                    <a:p>
                      <a:pPr algn="l">
                        <a:lnSpc>
                          <a:spcPct val="106000"/>
                        </a:lnSpc>
                        <a:spcAft>
                          <a:spcPts val="0"/>
                        </a:spcAft>
                      </a:pPr>
                      <a:r>
                        <a:rPr sz="1100" b="0">
                          <a:solidFill>
                            <a:srgbClr val="333333"/>
                          </a:solidFill>
                          <a:latin typeface="Fira Code"/>
                        </a:rPr>
                        <a:t>    AP::ahrs().get_relative_position_D_home(alt);</a:t>
                      </a:r>
                    </a:p>
                    <a:p>
                      <a:pPr algn="l">
                        <a:lnSpc>
                          <a:spcPct val="106000"/>
                        </a:lnSpc>
                        <a:spcAft>
                          <a:spcPts val="0"/>
                        </a:spcAft>
                      </a:pPr>
                      <a:r>
                        <a:rPr sz="1100" b="0">
                          <a:solidFill>
                            <a:srgbClr val="333333"/>
                          </a:solidFill>
                          <a:latin typeface="Fira Code"/>
                        </a:rPr>
                        <a:t>    const float _curr_alt = -alt; // translate Down to Up</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837-845</a:t>
                      </a:r>
                      <a:r>
                        <a:rPr sz="1100" b="0">
                          <a:solidFill>
                            <a:srgbClr val="999999"/>
                          </a:solidFill>
                          <a:latin typeface="Fira Code"/>
                        </a:rPr>
                        <a:t>  ·  </a:t>
                      </a:r>
                      <a:r>
                        <a:rPr sz="1100" b="0">
                          <a:solidFill>
                            <a:srgbClr val="999999"/>
                          </a:solidFill>
                          <a:latin typeface="Fira Code"/>
                        </a:rPr>
                        <a:t>AC_Fence::check()</a:t>
                      </a:r>
                    </a:p>
                    <a:p>
                      <a:pPr algn="l">
                        <a:lnSpc>
                          <a:spcPct val="106000"/>
                        </a:lnSpc>
                        <a:spcAft>
                          <a:spcPts val="0"/>
                        </a:spcAft>
                      </a:pPr>
                      <a:r>
                        <a:rPr sz="1100" b="0">
                          <a:solidFill>
                            <a:srgbClr val="333333"/>
                          </a:solidFill>
                          <a:latin typeface="Fira Code"/>
                        </a:rPr>
                        <a:t>    if (!(disabled_fences &amp; AC_FENCE_TYPE_CIRCLE) &amp;&amp; check_fence_circle()) {</a:t>
                      </a:r>
                    </a:p>
                    <a:p>
                      <a:pPr algn="l">
                        <a:lnSpc>
                          <a:spcPct val="106000"/>
                        </a:lnSpc>
                        <a:spcAft>
                          <a:spcPts val="0"/>
                        </a:spcAft>
                      </a:pPr>
                      <a:r>
                        <a:rPr sz="1100" b="0">
                          <a:solidFill>
                            <a:srgbClr val="333333"/>
                          </a:solidFill>
                          <a:latin typeface="Fira Code"/>
                        </a:rPr>
                        <a:t>        ret |= AC_FENCE_TYPE_CIRCLE;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polygon fence check</a:t>
                      </a:r>
                    </a:p>
                    <a:p>
                      <a:pPr algn="l">
                        <a:lnSpc>
                          <a:spcPct val="106000"/>
                        </a:lnSpc>
                        <a:spcAft>
                          <a:spcPts val="0"/>
                        </a:spcAft>
                      </a:pPr>
                      <a:r>
                        <a:rPr sz="1100" b="0">
                          <a:solidFill>
                            <a:srgbClr val="333333"/>
                          </a:solidFill>
                          <a:latin typeface="Fira Code"/>
                        </a:rPr>
                        <a:t>    if (!(disabled_fences &amp; AC_FENCE_TYPE_POLYGON) &amp;&amp; check_fence_polygon()) {</a:t>
                      </a:r>
                    </a:p>
                    <a:p>
                      <a:pPr algn="l">
                        <a:lnSpc>
                          <a:spcPct val="106000"/>
                        </a:lnSpc>
                        <a:spcAft>
                          <a:spcPts val="0"/>
                        </a:spcAft>
                      </a:pPr>
                      <a:r>
                        <a:rPr sz="1100" b="0">
                          <a:solidFill>
                            <a:srgbClr val="333333"/>
                          </a:solidFill>
                          <a:latin typeface="Fira Code"/>
                        </a:rPr>
                        <a:t>        ret |= AC_FENCE_TYPE_POLYGON;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ArduCopter/mode_guided_nogps.cpp</a:t>
                      </a:r>
                      <a:r>
                        <a:rPr sz="1100" b="0">
                          <a:solidFill>
                            <a:srgbClr val="999999"/>
                          </a:solidFill>
                          <a:latin typeface="Fira Code"/>
                        </a:rPr>
                        <a:t>  ·  </a:t>
                      </a:r>
                      <a:r>
                        <a:rPr sz="1100" b="0">
                          <a:solidFill>
                            <a:srgbClr val="999999"/>
                          </a:solidFill>
                          <a:latin typeface="Fira Code"/>
                        </a:rPr>
                        <a:t>9-15</a:t>
                      </a:r>
                      <a:r>
                        <a:rPr sz="1100" b="0">
                          <a:solidFill>
                            <a:srgbClr val="999999"/>
                          </a:solidFill>
                          <a:latin typeface="Fira Code"/>
                        </a:rPr>
                        <a:t>  ·  </a:t>
                      </a:r>
                      <a:r>
                        <a:rPr sz="1100" b="0">
                          <a:solidFill>
                            <a:srgbClr val="999999"/>
                          </a:solidFill>
                          <a:latin typeface="Fira Code"/>
                        </a:rPr>
                        <a:t>ModeGuidedNoGPS::init()</a:t>
                      </a:r>
                    </a:p>
                    <a:p>
                      <a:pPr algn="l">
                        <a:lnSpc>
                          <a:spcPct val="106000"/>
                        </a:lnSpc>
                        <a:spcAft>
                          <a:spcPts val="0"/>
                        </a:spcAft>
                      </a:pPr>
                      <a:r>
                        <a:rPr sz="1100" b="0">
                          <a:solidFill>
                            <a:srgbClr val="333333"/>
                          </a:solidFill>
                          <a:latin typeface="Fira Code"/>
                        </a:rPr>
                        <a:t>// initialise guided_nogps controller</a:t>
                      </a:r>
                    </a:p>
                    <a:p>
                      <a:pPr algn="l">
                        <a:lnSpc>
                          <a:spcPct val="106000"/>
                        </a:lnSpc>
                        <a:spcAft>
                          <a:spcPts val="0"/>
                        </a:spcAft>
                      </a:pPr>
                      <a:r>
                        <a:rPr sz="1100" b="0">
                          <a:solidFill>
                            <a:srgbClr val="333333"/>
                          </a:solidFill>
                          <a:latin typeface="Fira Code"/>
                        </a:rPr>
                        <a:t>bool ModeGuidedNoGPS::init(bool ignore_checks)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start in angle control mode</a:t>
                      </a:r>
                    </a:p>
                    <a:p>
                      <a:pPr algn="l">
                        <a:lnSpc>
                          <a:spcPct val="106000"/>
                        </a:lnSpc>
                        <a:spcAft>
                          <a:spcPts val="0"/>
                        </a:spcAft>
                      </a:pPr>
                      <a:r>
                        <a:rPr sz="1100" b="0">
                          <a:solidFill>
                            <a:srgbClr val="333333"/>
                          </a:solidFill>
                          <a:latin typeface="Fira Code"/>
                        </a:rPr>
                        <a:t>    ModeGuided::angle_control_start();</a:t>
                      </a:r>
                    </a:p>
                    <a:p>
                      <a:pPr algn="l">
                        <a:lnSpc>
                          <a:spcPct val="106000"/>
                        </a:lnSpc>
                        <a:spcAft>
                          <a:spcPts val="0"/>
                        </a:spcAft>
                      </a:pPr>
                      <a:r>
                        <a:rPr sz="1100" b="0">
                          <a:solidFill>
                            <a:srgbClr val="333333"/>
                          </a:solidFill>
                          <a:latin typeface="Fira Code"/>
                        </a:rPr>
                        <a:t>    return true;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Rover/fence.cpp</a:t>
                      </a:r>
                      <a:r>
                        <a:rPr sz="1100" b="0">
                          <a:solidFill>
                            <a:srgbClr val="999999"/>
                          </a:solidFill>
                          <a:latin typeface="Fira Code"/>
                        </a:rPr>
                        <a:t>  ·  </a:t>
                      </a:r>
                      <a:r>
                        <a:rPr sz="1100" b="0">
                          <a:solidFill>
                            <a:srgbClr val="999999"/>
                          </a:solidFill>
                          <a:latin typeface="Fira Code"/>
                        </a:rPr>
                        <a:t>17-25</a:t>
                      </a:r>
                      <a:r>
                        <a:rPr sz="1100" b="0">
                          <a:solidFill>
                            <a:srgbClr val="999999"/>
                          </a:solidFill>
                          <a:latin typeface="Fira Code"/>
                        </a:rPr>
                        <a:t>  ·  </a:t>
                      </a:r>
                      <a:r>
                        <a:rPr sz="1100" b="0">
                          <a:solidFill>
                            <a:srgbClr val="999999"/>
                          </a:solidFill>
                          <a:latin typeface="Fira Code"/>
                        </a:rPr>
                        <a:t>Rover::fence_checks_async()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fence_breaches.last_check_ms = now;</a:t>
                      </a:r>
                    </a:p>
                    <a:p>
                      <a:pPr algn="l">
                        <a:lnSpc>
                          <a:spcPct val="106000"/>
                        </a:lnSpc>
                        <a:spcAft>
                          <a:spcPts val="0"/>
                        </a:spcAft>
                      </a:pPr>
                      <a:r>
                        <a:rPr sz="1100" b="0">
                          <a:solidFill>
                            <a:srgbClr val="333333"/>
                          </a:solidFill>
                          <a:latin typeface="Fira Code"/>
                        </a:rPr>
                        <a:t>    const uint8_t orig_breaches = fence.get_breaches();</a:t>
                      </a:r>
                    </a:p>
                    <a:p>
                      <a:pPr algn="l">
                        <a:lnSpc>
                          <a:spcPct val="106000"/>
                        </a:lnSpc>
                        <a:spcAft>
                          <a:spcPts val="0"/>
                        </a:spcAft>
                      </a:pPr>
                      <a:r>
                        <a:rPr sz="1100" b="0">
                          <a:solidFill>
                            <a:srgbClr val="333333"/>
                          </a:solidFill>
                          <a:latin typeface="Fira Code"/>
                        </a:rPr>
                        <a:t>    // check for new breaches; new_breaches is bitmask of fence types breached</a:t>
                      </a:r>
                    </a:p>
                    <a:p>
                      <a:pPr algn="l">
                        <a:lnSpc>
                          <a:spcPct val="106000"/>
                        </a:lnSpc>
                        <a:spcAft>
                          <a:spcPts val="0"/>
                        </a:spcAft>
                      </a:pPr>
                      <a:r>
                        <a:rPr sz="1100" b="0">
                          <a:solidFill>
                            <a:srgbClr val="333333"/>
                          </a:solidFill>
                          <a:latin typeface="Fira Code"/>
                        </a:rPr>
                        <a:t>    fence_breaches.new_breaches = fence.check();</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(!fence_breaches.new_breaches &amp;&amp; orig_breaches &amp;&amp; fence.get_breaches() == 0) {</a:t>
                      </a:r>
                    </a:p>
                    <a:p>
                      <a:pPr algn="l">
                        <a:lnSpc>
                          <a:spcPct val="106000"/>
                        </a:lnSpc>
                        <a:spcAft>
                          <a:spcPts val="0"/>
                        </a:spcAft>
                      </a:pPr>
                      <a:r>
                        <a:rPr sz="1100" b="0">
                          <a:solidFill>
                            <a:srgbClr val="333333"/>
                          </a:solidFill>
                          <a:latin typeface="Fira Code"/>
                        </a:rPr>
                        <a:t>        // record clearing of breach</a:t>
                      </a:r>
                    </a:p>
                    <a:p>
                      <a:pPr algn="l">
                        <a:lnSpc>
                          <a:spcPct val="106000"/>
                        </a:lnSpc>
                        <a:spcAft>
                          <a:spcPts val="0"/>
                        </a:spcAft>
                      </a:pPr>
                      <a:r>
                        <a:rPr sz="1100" b="0">
                          <a:solidFill>
                            <a:srgbClr val="333333"/>
                          </a:solidFill>
                          <a:latin typeface="Fira Code"/>
                        </a:rPr>
                        <a:t>        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ArduPlane/takeoff.cpp</a:t>
                      </a:r>
                      <a:r>
                        <a:rPr sz="1100" b="0">
                          <a:solidFill>
                            <a:srgbClr val="999999"/>
                          </a:solidFill>
                          <a:latin typeface="Fira Code"/>
                        </a:rPr>
                        <a:t>  ·  </a:t>
                      </a:r>
                      <a:r>
                        <a:rPr sz="1100" b="0">
                          <a:solidFill>
                            <a:srgbClr val="999999"/>
                          </a:solidFill>
                          <a:latin typeface="Fira Code"/>
                        </a:rPr>
                        <a:t>58-62</a:t>
                      </a:r>
                      <a:r>
                        <a:rPr sz="1100" b="0">
                          <a:solidFill>
                            <a:srgbClr val="999999"/>
                          </a:solidFill>
                          <a:latin typeface="Fira Code"/>
                        </a:rPr>
                        <a:t>  ·  </a:t>
                      </a:r>
                      <a:r>
                        <a:rPr sz="1100" b="0">
                          <a:solidFill>
                            <a:srgbClr val="999999"/>
                          </a:solidFill>
                          <a:latin typeface="Fira Code"/>
                        </a:rPr>
                        <a:t>Plane::auto_takeoff_check()</a:t>
                      </a:r>
                    </a:p>
                    <a:p>
                      <a:pPr algn="l">
                        <a:lnSpc>
                          <a:spcPct val="106000"/>
                        </a:lnSpc>
                        <a:spcAft>
                          <a:spcPts val="0"/>
                        </a:spcAft>
                      </a:pPr>
                      <a:r>
                        <a:rPr sz="1100" b="0">
                          <a:solidFill>
                            <a:srgbClr val="333333"/>
                          </a:solidFill>
                          <a:latin typeface="Fira Code"/>
                        </a:rPr>
                        <a:t>    // Check for bad GPS</a:t>
                      </a:r>
                    </a:p>
                    <a:p>
                      <a:pPr algn="l">
                        <a:lnSpc>
                          <a:spcPct val="106000"/>
                        </a:lnSpc>
                        <a:spcAft>
                          <a:spcPts val="0"/>
                        </a:spcAft>
                      </a:pPr>
                      <a:r>
                        <a:rPr sz="1100" b="0">
                          <a:solidFill>
                            <a:srgbClr val="333333"/>
                          </a:solidFill>
                          <a:latin typeface="Fira Code"/>
                        </a:rPr>
                        <a:t>    if (gps.status() &lt; AP_GPS::GPS_OK_FIX_3D) {</a:t>
                      </a:r>
                    </a:p>
                    <a:p>
                      <a:pPr algn="l">
                        <a:lnSpc>
                          <a:spcPct val="106000"/>
                        </a:lnSpc>
                        <a:spcAft>
                          <a:spcPts val="0"/>
                        </a:spcAft>
                      </a:pPr>
                      <a:r>
                        <a:rPr sz="1100" b="0">
                          <a:solidFill>
                            <a:srgbClr val="333333"/>
                          </a:solidFill>
                          <a:latin typeface="Fira Code"/>
                        </a:rPr>
                        <a:t>        // no auto takeoff without GPS lock</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1 — direct callers / callees with typed dependency</a:t>
            </a:r>
          </a:p>
        </p:txBody>
      </p:sp>
      <p:graphicFrame>
        <p:nvGraphicFramePr>
          <p:cNvPr id="7" name="Table 6"/>
          <p:cNvGraphicFramePr>
            <a:graphicFrameLocks noGrp="1"/>
          </p:cNvGraphicFramePr>
          <p:nvPr/>
        </p:nvGraphicFramePr>
        <p:xfrm>
          <a:off x="566928" y="1906943"/>
          <a:ext cx="11058144" cy="41791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ekf_has_absolute_position(); ekf_has_relative_position(); reads failsafe.ekf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Copter::set_mode (mode.cpp:306);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new_flightmode-&gt;requires_GPS();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GCS/RC/auto mode-change entry 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IO thread (1 kHz async, 25 Hz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AP::ahrs().get_location(); _poly_loader.breached()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(L842)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 (L837)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check_fence_alt_max(); check_fence_circle(); 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ModeGuided::angle_control_start()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IO thread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 (continued)</a:t>
            </a:r>
          </a:p>
        </p:txBody>
      </p:sp>
      <p:graphicFrame>
        <p:nvGraphicFramePr>
          <p:cNvPr id="6" name="Table 5"/>
          <p:cNvGraphicFramePr>
            <a:graphicFrameLocks noGrp="1"/>
          </p:cNvGraphicFramePr>
          <p:nvPr/>
        </p:nvGraphicFramePr>
        <p:xfrm>
          <a:off x="566928" y="1591056"/>
          <a:ext cx="11058144" cy="658136"/>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(gps.status()); compares vs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Copter::position_ok()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Copter::position_ok()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return false if ekf failsafe has triggered</a:t>
                      </a:r>
                    </a:p>
                    <a:p>
                      <a:pPr algn="l">
                        <a:lnSpc>
                          <a:spcPct val="106000"/>
                        </a:lnSpc>
                        <a:spcAft>
                          <a:spcPts val="0"/>
                        </a:spcAft>
                      </a:pPr>
                      <a:r>
                        <a:rPr sz="1100" b="0">
                          <a:solidFill>
                            <a:srgbClr val="333333"/>
                          </a:solidFill>
                          <a:latin typeface="Fira Code"/>
                        </a:rPr>
                        <a:t>if (failsafe.ekf)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ekf position estimate</a:t>
                      </a:r>
                    </a:p>
                    <a:p>
                      <a:pPr algn="l">
                        <a:lnSpc>
                          <a:spcPct val="106000"/>
                        </a:lnSpc>
                        <a:spcAft>
                          <a:spcPts val="0"/>
                        </a:spcAft>
                      </a:pPr>
                      <a:r>
                        <a:rPr sz="1100" b="0">
                          <a:solidFill>
                            <a:srgbClr val="333333"/>
                          </a:solidFill>
                          <a:latin typeface="Fira Code"/>
                        </a:rPr>
                        <a:t>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Copter::set_mode() requires_GPS gate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if (!ignore_checks &amp;&amp;</a:t>
                      </a:r>
                    </a:p>
                    <a:p>
                      <a:pPr algn="l">
                        <a:lnSpc>
                          <a:spcPct val="106000"/>
                        </a:lnSpc>
                        <a:spcAft>
                          <a:spcPts val="0"/>
                        </a:spcAft>
                      </a:pPr>
                      <a:r>
                        <a:rPr sz="1100" b="0">
                          <a:solidFill>
                            <a:srgbClr val="333333"/>
                          </a:solidFill>
                          <a:latin typeface="Fira Code"/>
                        </a:rPr>
                        <a:t>new_flightmode-&gt;requires_GPS() &amp;&amp;</a:t>
                      </a:r>
                    </a:p>
                    <a:p>
                      <a:pPr algn="l">
                        <a:lnSpc>
                          <a:spcPct val="106000"/>
                        </a:lnSpc>
                        <a:spcAft>
                          <a:spcPts val="0"/>
                        </a:spcAft>
                      </a:pPr>
                      <a:r>
                        <a:rPr sz="1100" b="0">
                          <a:solidFill>
                            <a:srgbClr val="333333"/>
                          </a:solidFill>
                          <a:latin typeface="Fira Code"/>
                        </a:rPr>
                        <a:t>!copter.position_ok()) {</a:t>
                      </a:r>
                    </a:p>
                    <a:p>
                      <a:pPr algn="l">
                        <a:lnSpc>
                          <a:spcPct val="106000"/>
                        </a:lnSpc>
                        <a:spcAft>
                          <a:spcPts val="0"/>
                        </a:spcAft>
                      </a:pPr>
                      <a:r>
                        <a:rPr sz="1100" b="0">
                          <a:solidFill>
                            <a:srgbClr val="333333"/>
                          </a:solidFill>
                          <a:latin typeface="Fira Code"/>
                        </a:rPr>
                        <a:t>mode_change_failed(new_flightmode, "requires position");</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fence_breaches.last_check_ms = now;</a:t>
                      </a:r>
                    </a:p>
                    <a:p>
                      <a:pPr algn="l">
                        <a:lnSpc>
                          <a:spcPct val="106000"/>
                        </a:lnSpc>
                        <a:spcAft>
                          <a:spcPts val="0"/>
                        </a:spcAft>
                      </a:pPr>
                      <a:r>
                        <a:rPr sz="1100" b="0">
                          <a:solidFill>
                            <a:srgbClr val="333333"/>
                          </a:solidFill>
                          <a:latin typeface="Fira Code"/>
                        </a:rPr>
                        <a:t>const uint8_t orig_breaches = fence.get_breaches();</a:t>
                      </a:r>
                    </a:p>
                    <a:p>
                      <a:pPr algn="l">
                        <a:lnSpc>
                          <a:spcPct val="106000"/>
                        </a:lnSpc>
                        <a:spcAft>
                          <a:spcPts val="0"/>
                        </a:spcAft>
                      </a:pPr>
                      <a:r>
                        <a:rPr sz="1100" b="0">
                          <a:solidFill>
                            <a:srgbClr val="333333"/>
                          </a:solidFill>
                          <a:latin typeface="Fira Code"/>
                        </a:rPr>
                        <a:t>bool is_landing_or_landed = flightmode-&gt;is_landing() || ap.land_complete || !motors-&gt;armed();</a:t>
                      </a:r>
                    </a:p>
                    <a:p>
                      <a:pPr algn="l">
                        <a:lnSpc>
                          <a:spcPct val="106000"/>
                        </a:lnSpc>
                        <a:spcAft>
                          <a:spcPts val="0"/>
                        </a:spcAft>
                      </a:pPr>
                      <a:r>
                        <a:rPr sz="1100" b="0">
                          <a:solidFill>
                            <a:srgbClr val="333333"/>
                          </a:solidFill>
                          <a:latin typeface="Fira Code"/>
                        </a:rPr>
                        <a:t>// check for new breaches; new_breaches is bitmask of fence types breached</a:t>
                      </a:r>
                    </a:p>
                    <a:p>
                      <a:pPr algn="l">
                        <a:lnSpc>
                          <a:spcPct val="106000"/>
                        </a:lnSpc>
                        <a:spcAft>
                          <a:spcPts val="0"/>
                        </a:spcAft>
                      </a:pPr>
                      <a:r>
                        <a:rPr sz="1100" b="0">
                          <a:solidFill>
                            <a:srgbClr val="333333"/>
                          </a:solidFill>
                          <a:latin typeface="Fira Code"/>
                        </a:rPr>
                        <a:t>fence_breaches.new_breaches = fence.check(is_landing_or_landed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(!fence_breaches.new_breaches &amp;&amp; orig_breaches &amp;&amp; fence.get_breaches() == 0) {</a:t>
                      </a:r>
                    </a:p>
                    <a:p>
                      <a:pPr algn="l">
                        <a:lnSpc>
                          <a:spcPct val="106000"/>
                        </a:lnSpc>
                        <a:spcAft>
                          <a:spcPts val="0"/>
                        </a:spcAft>
                      </a:pPr>
                      <a:r>
                        <a:rPr sz="1100" b="0">
                          <a:solidFill>
                            <a:srgbClr val="333333"/>
                          </a:solidFill>
                          <a:latin typeface="Fira Code"/>
                        </a:rPr>
                        <a:t>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AC_Fence::check_fence_polygon()</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const bool was_breached = _breached_fences &amp; AC_FENCE_TYPE_POLYGON;</a:t>
                      </a:r>
                    </a:p>
                    <a:p>
                      <a:pPr algn="l">
                        <a:lnSpc>
                          <a:spcPct val="106000"/>
                        </a:lnSpc>
                        <a:spcAft>
                          <a:spcPts val="0"/>
                        </a:spcAft>
                      </a:pPr>
                      <a:r>
                        <a:rPr sz="1100" b="0">
                          <a:solidFill>
                            <a:srgbClr val="333333"/>
                          </a:solidFill>
                          <a:latin typeface="Fira Code"/>
                        </a:rPr>
                        <a:t>Location loc;</a:t>
                      </a:r>
                    </a:p>
                    <a:p>
                      <a:pPr algn="l">
                        <a:lnSpc>
                          <a:spcPct val="106000"/>
                        </a:lnSpc>
                        <a:spcAft>
                          <a:spcPts val="0"/>
                        </a:spcAft>
                      </a:pPr>
                      <a:r>
                        <a:rPr sz="1100" b="0">
                          <a:solidFill>
                            <a:srgbClr val="333333"/>
                          </a:solidFill>
                          <a:latin typeface="Fira Code"/>
                        </a:rPr>
                        <a:t>const bool have_location = AP::ahrs().get_location(loc);</a:t>
                      </a:r>
                    </a:p>
                    <a:p>
                      <a:pPr algn="l">
                        <a:lnSpc>
                          <a:spcPct val="106000"/>
                        </a:lnSpc>
                        <a:spcAft>
                          <a:spcPts val="0"/>
                        </a:spcAft>
                      </a:pPr>
                      <a:r>
                        <a:rPr sz="1100" b="0">
                          <a:solidFill>
                            <a:srgbClr val="333333"/>
                          </a:solidFill>
                          <a:latin typeface="Fira Code"/>
                        </a:rPr>
                        <a:t>if (have_location &amp;&amp; _poly_loader.breached(loc, _polygon_breach_distance)) {</a:t>
                      </a:r>
                    </a:p>
                    <a:p>
                      <a:pPr algn="l">
                        <a:lnSpc>
                          <a:spcPct val="106000"/>
                        </a:lnSpc>
                        <a:spcAft>
                          <a:spcPts val="0"/>
                        </a:spcAft>
                      </a:pPr>
                      <a:r>
                        <a:rPr sz="1100" b="0">
                          <a:solidFill>
                            <a:srgbClr val="333333"/>
                          </a:solidFill>
                          <a:latin typeface="Fira Code"/>
                        </a:rPr>
                        <a:t>if (!was_breached) {</a:t>
                      </a:r>
                    </a:p>
                    <a:p>
                      <a:pPr algn="l">
                        <a:lnSpc>
                          <a:spcPct val="106000"/>
                        </a:lnSpc>
                        <a:spcAft>
                          <a:spcPts val="0"/>
                        </a:spcAft>
                      </a:pPr>
                      <a:r>
                        <a:rPr sz="1100" b="0">
                          <a:solidFill>
                            <a:srgbClr val="333333"/>
                          </a:solidFill>
                          <a:latin typeface="Fira Code"/>
                        </a:rPr>
                        <a:t>record_breach(AC_FENCE_TYPE_POLYGON);</a:t>
                      </a:r>
                    </a:p>
                    <a:p>
                      <a:pPr algn="l">
                        <a:lnSpc>
                          <a:spcPct val="106000"/>
                        </a:lnSpc>
                        <a:spcAft>
                          <a:spcPts val="0"/>
                        </a:spcAft>
                      </a:pPr>
                      <a:r>
                        <a:rPr sz="1100" b="0">
                          <a:solidFill>
                            <a:srgbClr val="333333"/>
                          </a:solidFill>
                          <a:latin typeface="Fira Code"/>
                        </a:rPr>
                        <a:t>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AC_Fence::check_fence_circle()</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if (!(get_enabled_fences() &amp; AC_FENCE_TYPE_CIRCLE)) {</a:t>
                      </a:r>
                    </a:p>
                    <a:p>
                      <a:pPr algn="l">
                        <a:lnSpc>
                          <a:spcPct val="106000"/>
                        </a:lnSpc>
                        <a:spcAft>
                          <a:spcPts val="0"/>
                        </a:spcAft>
                      </a:pPr>
                      <a:r>
                        <a:rPr sz="1100" b="0">
                          <a:solidFill>
                            <a:srgbClr val="333333"/>
                          </a:solidFill>
                          <a:latin typeface="Fira Code"/>
                        </a:rPr>
                        <a:t>// not enabled; no breach</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Vector2f home;</a:t>
                      </a:r>
                    </a:p>
                    <a:p>
                      <a:pPr algn="l">
                        <a:lnSpc>
                          <a:spcPct val="106000"/>
                        </a:lnSpc>
                        <a:spcAft>
                          <a:spcPts val="0"/>
                        </a:spcAft>
                      </a:pPr>
                      <a:r>
                        <a:rPr sz="1100" b="0">
                          <a:solidFill>
                            <a:srgbClr val="333333"/>
                          </a:solidFill>
                          <a:latin typeface="Fira Code"/>
                        </a:rPr>
                        <a:t>if (AP::ahrs().get_relative_position_NE_home(home)) {</a:t>
                      </a:r>
                    </a:p>
                    <a:p>
                      <a:pPr algn="l">
                        <a:lnSpc>
                          <a:spcPct val="106000"/>
                        </a:lnSpc>
                        <a:spcAft>
                          <a:spcPts val="0"/>
                        </a:spcAft>
                      </a:pPr>
                      <a:r>
                        <a:rPr sz="1100" b="0">
                          <a:solidFill>
                            <a:srgbClr val="333333"/>
                          </a:solidFill>
                          <a:latin typeface="Fira Code"/>
                        </a:rPr>
                        <a:t>// we (may) remain breached if we can't update home</a:t>
                      </a:r>
                    </a:p>
                    <a:p>
                      <a:pPr algn="l">
                        <a:lnSpc>
                          <a:spcPct val="106000"/>
                        </a:lnSpc>
                        <a:spcAft>
                          <a:spcPts val="0"/>
                        </a:spcAft>
                      </a:pPr>
                      <a:r>
                        <a:rPr sz="1100" b="0">
                          <a:solidFill>
                            <a:srgbClr val="333333"/>
                          </a:solidFill>
                          <a:latin typeface="Fira Code"/>
                        </a:rPr>
                        <a:t>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AC_Fence::check_fence_alt_max()</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if (!(get_enabled_fences() &amp; AC_FENCE_TYPE_ALT_MAX)) {</a:t>
                      </a:r>
                    </a:p>
                    <a:p>
                      <a:pPr algn="l">
                        <a:lnSpc>
                          <a:spcPct val="106000"/>
                        </a:lnSpc>
                        <a:spcAft>
                          <a:spcPts val="0"/>
                        </a:spcAft>
                      </a:pPr>
                      <a:r>
                        <a:rPr sz="1100" b="0">
                          <a:solidFill>
                            <a:srgbClr val="333333"/>
                          </a:solidFill>
                          <a:latin typeface="Fira Code"/>
                        </a:rPr>
                        <a:t>// not enabled; no breach</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alt;</a:t>
                      </a:r>
                    </a:p>
                    <a:p>
                      <a:pPr algn="l">
                        <a:lnSpc>
                          <a:spcPct val="106000"/>
                        </a:lnSpc>
                        <a:spcAft>
                          <a:spcPts val="0"/>
                        </a:spcAft>
                      </a:pPr>
                      <a:r>
                        <a:rPr sz="1100" b="0">
                          <a:solidFill>
                            <a:srgbClr val="333333"/>
                          </a:solidFill>
                          <a:latin typeface="Fira Code"/>
                        </a:rPr>
                        <a:t>AP::ahrs().get_relative_position_D_home(alt);</a:t>
                      </a:r>
                    </a:p>
                    <a:p>
                      <a:pPr algn="l">
                        <a:lnSpc>
                          <a:spcPct val="106000"/>
                        </a:lnSpc>
                        <a:spcAft>
                          <a:spcPts val="0"/>
                        </a:spcAft>
                      </a:pPr>
                      <a:r>
                        <a:rPr sz="1100" b="0">
                          <a:solidFill>
                            <a:srgbClr val="333333"/>
                          </a:solidFill>
                          <a:latin typeface="Fira Code"/>
                        </a:rPr>
                        <a:t>const float _curr_alt = -alt; // translate Down to 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AC_Fence::check()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if (!(disabled_fences &amp; AC_FENCE_TYPE_CIRCLE) &amp;&amp; check_fence_circle()) {</a:t>
                      </a:r>
                    </a:p>
                    <a:p>
                      <a:pPr algn="l">
                        <a:lnSpc>
                          <a:spcPct val="106000"/>
                        </a:lnSpc>
                        <a:spcAft>
                          <a:spcPts val="0"/>
                        </a:spcAft>
                      </a:pPr>
                      <a:r>
                        <a:rPr sz="1100" b="0">
                          <a:solidFill>
                            <a:srgbClr val="333333"/>
                          </a:solidFill>
                          <a:latin typeface="Fira Code"/>
                        </a:rPr>
                        <a:t>ret |= AC_FENCE_TYPE_CIRCLE;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polygon fence check</a:t>
                      </a:r>
                    </a:p>
                    <a:p>
                      <a:pPr algn="l">
                        <a:lnSpc>
                          <a:spcPct val="106000"/>
                        </a:lnSpc>
                        <a:spcAft>
                          <a:spcPts val="0"/>
                        </a:spcAft>
                      </a:pPr>
                      <a:r>
                        <a:rPr sz="1100" b="0">
                          <a:solidFill>
                            <a:srgbClr val="333333"/>
                          </a:solidFill>
                          <a:latin typeface="Fira Code"/>
                        </a:rPr>
                        <a:t>if (!(disabled_fences &amp; AC_FENCE_TYPE_POLYGON) &amp;&amp; check_fence_polygon()) {</a:t>
                      </a:r>
                    </a:p>
                    <a:p>
                      <a:pPr algn="l">
                        <a:lnSpc>
                          <a:spcPct val="106000"/>
                        </a:lnSpc>
                        <a:spcAft>
                          <a:spcPts val="0"/>
                        </a:spcAft>
                      </a:pPr>
                      <a:r>
                        <a:rPr sz="1100" b="0">
                          <a:solidFill>
                            <a:srgbClr val="333333"/>
                          </a:solidFill>
                          <a:latin typeface="Fira Code"/>
                        </a:rPr>
                        <a:t>ret |= AC_FENCE_TYPE_POLYGON;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ModeGuidedNoGPS::init()</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 initialise guided_nogps controller</a:t>
                      </a:r>
                    </a:p>
                    <a:p>
                      <a:pPr algn="l">
                        <a:lnSpc>
                          <a:spcPct val="106000"/>
                        </a:lnSpc>
                        <a:spcAft>
                          <a:spcPts val="0"/>
                        </a:spcAft>
                      </a:pPr>
                      <a:r>
                        <a:rPr sz="1100" b="0">
                          <a:solidFill>
                            <a:srgbClr val="333333"/>
                          </a:solidFill>
                          <a:latin typeface="Fira Code"/>
                        </a:rPr>
                        <a:t>bool ModeGuidedNoGPS::init(bool ignore_checks)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start in angle control mode</a:t>
                      </a:r>
                    </a:p>
                    <a:p>
                      <a:pPr algn="l">
                        <a:lnSpc>
                          <a:spcPct val="106000"/>
                        </a:lnSpc>
                        <a:spcAft>
                          <a:spcPts val="0"/>
                        </a:spcAft>
                      </a:pPr>
                      <a:r>
                        <a:rPr sz="1100" b="0">
                          <a:solidFill>
                            <a:srgbClr val="333333"/>
                          </a:solidFill>
                          <a:latin typeface="Fira Code"/>
                        </a:rPr>
                        <a:t>ModeGuided::angle_control_start();</a:t>
                      </a:r>
                    </a:p>
                    <a:p>
                      <a:pPr algn="l">
                        <a:lnSpc>
                          <a:spcPct val="106000"/>
                        </a:lnSpc>
                        <a:spcAft>
                          <a:spcPts val="0"/>
                        </a:spcAft>
                      </a:pPr>
                      <a:r>
                        <a:rPr sz="1100" b="0">
                          <a:solidFill>
                            <a:srgbClr val="333333"/>
                          </a:solidFill>
                          <a:latin typeface="Fira Code"/>
                        </a:rPr>
                        <a:t>return true;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fence_breaches.last_check_ms = now;</a:t>
                      </a:r>
                    </a:p>
                    <a:p>
                      <a:pPr algn="l">
                        <a:lnSpc>
                          <a:spcPct val="106000"/>
                        </a:lnSpc>
                        <a:spcAft>
                          <a:spcPts val="0"/>
                        </a:spcAft>
                      </a:pPr>
                      <a:r>
                        <a:rPr sz="1100" b="0">
                          <a:solidFill>
                            <a:srgbClr val="333333"/>
                          </a:solidFill>
                          <a:latin typeface="Fira Code"/>
                        </a:rPr>
                        <a:t>const uint8_t orig_breaches = fence.get_breaches();</a:t>
                      </a:r>
                    </a:p>
                    <a:p>
                      <a:pPr algn="l">
                        <a:lnSpc>
                          <a:spcPct val="106000"/>
                        </a:lnSpc>
                        <a:spcAft>
                          <a:spcPts val="0"/>
                        </a:spcAft>
                      </a:pPr>
                      <a:r>
                        <a:rPr sz="1100" b="0">
                          <a:solidFill>
                            <a:srgbClr val="333333"/>
                          </a:solidFill>
                          <a:latin typeface="Fira Code"/>
                        </a:rPr>
                        <a:t>// check for new breaches; new_breaches is bitmask of fence types breached</a:t>
                      </a:r>
                    </a:p>
                    <a:p>
                      <a:pPr algn="l">
                        <a:lnSpc>
                          <a:spcPct val="106000"/>
                        </a:lnSpc>
                        <a:spcAft>
                          <a:spcPts val="0"/>
                        </a:spcAft>
                      </a:pPr>
                      <a:r>
                        <a:rPr sz="1100" b="0">
                          <a:solidFill>
                            <a:srgbClr val="333333"/>
                          </a:solidFill>
                          <a:latin typeface="Fira Code"/>
                        </a:rPr>
                        <a:t>fence_breaches.new_breaches = fence.check();</a:t>
                      </a:r>
                    </a:p>
                    <a:p>
                      <a:pPr algn="l">
                        <a:lnSpc>
                          <a:spcPct val="106000"/>
                        </a:lnSpc>
                        <a:spcAft>
                          <a:spcPts val="0"/>
                        </a:spcAft>
                      </a:pPr>
                      <a:r>
                        <a:rPr sz="1100" b="0">
                          <a:solidFill>
                            <a:srgbClr val="333333"/>
                          </a:solidFill>
                          <a:latin typeface="Fira Code"/>
                        </a:rPr>
                        <a:t>if (!fence_breaches.new_breaches &amp;&amp; orig_breaches &amp;&amp; fence.get_breaches() == 0) {</a:t>
                      </a:r>
                    </a:p>
                    <a:p>
                      <a:pPr algn="l">
                        <a:lnSpc>
                          <a:spcPct val="106000"/>
                        </a:lnSpc>
                        <a:spcAft>
                          <a:spcPts val="0"/>
                        </a:spcAft>
                      </a:pPr>
                      <a:r>
                        <a:rPr sz="1100" b="0">
                          <a:solidFill>
                            <a:srgbClr val="333333"/>
                          </a:solidFill>
                          <a:latin typeface="Fira Code"/>
                        </a:rPr>
                        <a:t>// record clearing of breach</a:t>
                      </a:r>
                    </a:p>
                    <a:p>
                      <a:pPr algn="l">
                        <a:lnSpc>
                          <a:spcPct val="106000"/>
                        </a:lnSpc>
                        <a:spcAft>
                          <a:spcPts val="0"/>
                        </a:spcAft>
                      </a:pPr>
                      <a:r>
                        <a:rPr sz="1100" b="0">
                          <a:solidFill>
                            <a:srgbClr val="333333"/>
                          </a:solidFill>
                          <a:latin typeface="Fira Code"/>
                        </a:rPr>
                        <a:t>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Plane::auto_takeoff_check()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bad GPS</a:t>
                      </a:r>
                    </a:p>
                    <a:p>
                      <a:pPr algn="l">
                        <a:lnSpc>
                          <a:spcPct val="106000"/>
                        </a:lnSpc>
                        <a:spcAft>
                          <a:spcPts val="0"/>
                        </a:spcAft>
                      </a:pPr>
                      <a:r>
                        <a:rPr sz="1100" b="0">
                          <a:solidFill>
                            <a:srgbClr val="333333"/>
                          </a:solidFill>
                          <a:latin typeface="Fira Code"/>
                        </a:rPr>
                        <a:t>if (gps.status() &lt; AP_GPS::GPS_OK_FIX_3D) {</a:t>
                      </a:r>
                    </a:p>
                    <a:p>
                      <a:pPr algn="l">
                        <a:lnSpc>
                          <a:spcPct val="106000"/>
                        </a:lnSpc>
                        <a:spcAft>
                          <a:spcPts val="0"/>
                        </a:spcAft>
                      </a:pPr>
                      <a:r>
                        <a:rPr sz="1100" b="0">
                          <a:solidFill>
                            <a:srgbClr val="333333"/>
                          </a:solidFill>
                          <a:latin typeface="Fira Code"/>
                        </a:rPr>
                        <a:t>// no auto takeoff without GPS lock</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2 — full transitive chain, final consumer &amp; hop depth</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position health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NavEKF3 → AP_AHRS::have_inertial_nav() → Copter::ekf_has_absolute_position() → Copter::position_ok()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flight-mode entry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positioning-health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position_ok() → set_mode requires_GPS gate → mode_change_failed() → mode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rejected 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decision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(polygon/circle/alt) → get_breaches bitmask → fence_checks_async latch → Copter::fence_check()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Rover chain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 → check_fence_polygon → _poly_loader.breached() → record_breach() → _breached_fences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Polygon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NE-home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 → check_fence_circle → distance&gt;radius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circle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Circle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96405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 (continued)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D-home altitude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 → check_fence_alt_max → alt&gt;_alt_max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altitude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Altitude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 checks → AC_Fence::check() aggregate → breach bitmask → vehicle fence_check() →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Aggregator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ModeGuidedNoGPS::init() → angle_control_start()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no positioning hop — fallback by design.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 get_breaches → Rover::fence_checks_async latch → Rover::fence_check()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Copter chain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 fix-status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 Plane::auto_takeoff_check() [ArduPlane/takeoff.cpp:59] → 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(throttle suppression / launch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gps.status() observation gating auto-takeoff.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47046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5 — Indirect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Navigation read as a permission: estimator-variance watchdogs across the vehicle firmwares.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117-125</a:t>
                      </a:r>
                    </a:p>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while the EKF has an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velocity / position / height / magnetometer variances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Counts bad iterations; after EKF_CHECK_ITERATIONS_MAX (≈10) trips the EKF failsafe (LAND / 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56-65</a:t>
                      </a:r>
                    </a:p>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EKF health check (fixed-wing)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ekf_over_threshold() (compass &amp; velocity variance vs 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fail_count; two iterations before failsafe asks the EKF to reset yaw (ahrs.request_yaw_reset()); trips EKF failsafe at 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graphicFrame>
        <p:nvGraphicFramePr>
          <p:cNvPr id="6" name="Table 5"/>
          <p:cNvGraphicFramePr>
            <a:graphicFrameLocks noGrp="1"/>
          </p:cNvGraphicFramePr>
          <p:nvPr/>
        </p:nvGraphicFramePr>
        <p:xfrm>
          <a:off x="566928" y="1591056"/>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Rover/ekf_check.cpp</a:t>
                      </a:r>
                    </a:p>
                    <a:p>
                      <a:pPr algn="l">
                        <a:lnSpc>
                          <a:spcPct val="106000"/>
                        </a:lnSpc>
                        <a:spcAft>
                          <a:spcPts val="0"/>
                        </a:spcAft>
                      </a:pPr>
                      <a:r>
                        <a:rPr sz="1100" b="0">
                          <a:solidFill>
                            <a:srgbClr val="333333"/>
                          </a:solidFill>
                          <a:latin typeface="Fira Code"/>
                        </a:rPr>
                        <a:t>93-102</a:t>
                      </a:r>
                    </a:p>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(ground vehicle)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compass / velocity / position variance; ≥2 over 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bad_variance → Rover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112-121</a:t>
                      </a:r>
                    </a:p>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Periodic EKF health check (submarine)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ahrs.get_variances() → compass_variance &amp; vel_variance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Clears/sets failsafe.ekf and AP_Notify ekf_bad based on variance vs threshold; GCS warns “EKF bad”.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[FIX F13 dep-type]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graphicFrame>
        <p:nvGraphicFramePr>
          <p:cNvPr id="6" name="Table 5"/>
          <p:cNvGraphicFramePr>
            <a:graphicFrameLocks noGrp="1"/>
          </p:cNvGraphicFramePr>
          <p:nvPr/>
        </p:nvGraphicFramePr>
        <p:xfrm>
          <a:off x="566928" y="1591056"/>
          <a:ext cx="11058144" cy="3981748"/>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65-74</a:t>
                      </a:r>
                    </a:p>
                    <a:p>
                      <a:pPr algn="l">
                        <a:lnSpc>
                          <a:spcPct val="106000"/>
                        </a:lnSpc>
                        <a:spcAft>
                          <a:spcPts val="0"/>
                        </a:spcAft>
                      </a:pPr>
                      <a:r>
                        <a:rPr sz="1100" b="0">
                          <a:solidFill>
                            <a:srgbClr val="333333"/>
                          </a:solidFill>
                          <a:latin typeface="Fira Code"/>
                        </a:rPr>
                        <a:t>Copter::crash_check() — attitude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Disarm/crash monitor running while armed and not landed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ahrs.cos_roll() / ahrs.cos_pitch() (lean angle); attitude_control-&gt; 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Resets crash_counter (declares not-crashing) when lean angle ≤ 15° or attitude error ≤ 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F3] Split row: attitude-only observation (lean L66, angle-error L73). Velocity observation is the separate row #6 (was wrongly bundled into the L64-73 citation).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78-84</a:t>
                      </a:r>
                    </a:p>
                    <a:p>
                      <a:pPr algn="l">
                        <a:lnSpc>
                          <a:spcPct val="106000"/>
                        </a:lnSpc>
                        <a:spcAft>
                          <a:spcPts val="0"/>
                        </a:spcAft>
                      </a:pPr>
                      <a:r>
                        <a:rPr sz="1100" b="0">
                          <a:solidFill>
                            <a:srgbClr val="333333"/>
                          </a:solidFill>
                          <a:latin typeface="Fira Code"/>
                        </a:rPr>
                        <a:t>Copter::crash_check() — velocity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Continues after the attitude test indicates a possible crash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ahrs.get_velocity_NED(vel_ned) → NED speed magnitude (L80-81)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Resets crash_counter when speed ≥ CRASH_CHECK_SPEED_MAX (10 m/s); otherwise increments toward the 2-second crash trigger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F3] Split row: the velocity observation cited at L78-84 (ahrs.get_velocity_NED L80-81), now accurately centered — not the L64-73 attitude range.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ArduPlane/GCS_MAVLink_Plane.cpp</a:t>
                      </a:r>
                    </a:p>
                    <a:p>
                      <a:pPr algn="l">
                        <a:lnSpc>
                          <a:spcPct val="106000"/>
                        </a:lnSpc>
                        <a:spcAft>
                          <a:spcPts val="0"/>
                        </a:spcAft>
                      </a:pPr>
                      <a:r>
                        <a:rPr sz="1100" b="0">
                          <a:solidFill>
                            <a:srgbClr val="333333"/>
                          </a:solidFill>
                          <a:latin typeface="Fira Code"/>
                        </a:rPr>
                        <a:t>204-212</a:t>
                      </a:r>
                    </a:p>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GCS telemetry stream requests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 navigation state (target bearing, xtrack error, wp distance) — unless in 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Emits the NAV_CONTROLLER_OUTPUT MAVLink message (navigation-health reporting to the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Reporting Sink for navigation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graphicFrame>
        <p:nvGraphicFramePr>
          <p:cNvPr id="6" name="Table 5"/>
          <p:cNvGraphicFramePr>
            <a:graphicFrameLocks noGrp="1"/>
          </p:cNvGraphicFramePr>
          <p:nvPr/>
        </p:nvGraphicFramePr>
        <p:xfrm>
          <a:off x="566928" y="1591056"/>
          <a:ext cx="11058144" cy="3626351"/>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ArduPlane/Attitude.cpp</a:t>
                      </a:r>
                    </a:p>
                    <a:p>
                      <a:pPr algn="l">
                        <a:lnSpc>
                          <a:spcPct val="106000"/>
                        </a:lnSpc>
                        <a:spcAft>
                          <a:spcPts val="0"/>
                        </a:spcAft>
                      </a:pPr>
                      <a:r>
                        <a:rPr sz="1100" b="0">
                          <a:solidFill>
                            <a:srgbClr val="333333"/>
                          </a:solidFill>
                          <a:latin typeface="Fira Code"/>
                        </a:rPr>
                        <a:t>604-611</a:t>
                      </a:r>
                    </a:p>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attitude loop computing the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nav_controller-&gt;nav_roll_cd() (L1/navigation lateral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nav_roll_cd from the navigation controller, constrained to ±roll_limit_cd.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Consumes navigation-controller output (user-cited 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86-94</a:t>
                      </a:r>
                    </a:p>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fixed-wing navigation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have_position flag (EKF/GPS position validity); next_WP_loc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(skips navigation) when have_position is false; otherwise computes the desired direction and distance to the next 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(navigation). This is the real symbol behind the user-example 'flight_mode_auto' chain (Table 2a L2 #1); gated on PNT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304-311</a:t>
                      </a:r>
                    </a:p>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GPS/navigation update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ahrs.have_inertial_nav() (inertial-navigation solution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Ground-speed-undershoot (min-groundspeed wind/flyaway compensation) is computed only when inertial nav is available; otherwise it is skipped and left stale/zero.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User-example PNT-State-Observed accessor ahrs.have_inertial_nav() (libraries/AP_AHRS/AP_AHRS.h:273); the accessor itself is catalogued in Table 2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8–10</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117-125</a:t>
                      </a:r>
                      <a:r>
                        <a:rPr sz="1100" b="0">
                          <a:solidFill>
                            <a:srgbClr val="999999"/>
                          </a:solidFill>
                          <a:latin typeface="Fira Code"/>
                        </a:rPr>
                        <a:t>  ·  </a:t>
                      </a:r>
                      <a:r>
                        <a:rPr sz="1100" b="0">
                          <a:solidFill>
                            <a:srgbClr val="999999"/>
                          </a:solidFill>
                          <a:latin typeface="Fira Code"/>
                        </a:rPr>
                        <a:t>Copter::ekf_over_threshold()</a:t>
                      </a:r>
                    </a:p>
                    <a:p>
                      <a:pPr algn="l">
                        <a:lnSpc>
                          <a:spcPct val="106000"/>
                        </a:lnSpc>
                        <a:spcAft>
                          <a:spcPts val="0"/>
                        </a:spcAft>
                      </a:pPr>
                      <a:r>
                        <a:rPr sz="1100" b="0">
                          <a:solidFill>
                            <a:srgbClr val="333333"/>
                          </a:solidFill>
                          <a:latin typeface="Fira Code"/>
                        </a:rPr>
                        <a:t>    float position_var, vel_var, height_var, tas_variance;</a:t>
                      </a:r>
                    </a:p>
                    <a:p>
                      <a:pPr algn="l">
                        <a:lnSpc>
                          <a:spcPct val="106000"/>
                        </a:lnSpc>
                        <a:spcAft>
                          <a:spcPts val="0"/>
                        </a:spcAft>
                      </a:pPr>
                      <a:r>
                        <a:rPr sz="1100" b="0">
                          <a:solidFill>
                            <a:srgbClr val="333333"/>
                          </a:solidFill>
                          <a:latin typeface="Fira Code"/>
                        </a:rPr>
                        <a:t>    Vector3f mag_variance;</a:t>
                      </a:r>
                    </a:p>
                    <a:p>
                      <a:pPr algn="l">
                        <a:lnSpc>
                          <a:spcPct val="106000"/>
                        </a:lnSpc>
                        <a:spcAft>
                          <a:spcPts val="0"/>
                        </a:spcAft>
                      </a:pPr>
                      <a:r>
                        <a:rPr sz="1100" b="0">
                          <a:solidFill>
                            <a:srgbClr val="333333"/>
                          </a:solidFill>
                          <a:latin typeface="Fira Code"/>
                        </a:rPr>
                        <a:t>    variances_valid = ahrs.get_variances(vel_var, position_var, height_var, mag_variance, tas_variance);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(!variances_valid)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ArduPlane/ekf_check.cpp</a:t>
                      </a:r>
                      <a:r>
                        <a:rPr sz="1100" b="0">
                          <a:solidFill>
                            <a:srgbClr val="999999"/>
                          </a:solidFill>
                          <a:latin typeface="Fira Code"/>
                        </a:rPr>
                        <a:t>  ·  </a:t>
                      </a:r>
                      <a:r>
                        <a:rPr sz="1100" b="0">
                          <a:solidFill>
                            <a:srgbClr val="999999"/>
                          </a:solidFill>
                          <a:latin typeface="Fira Code"/>
                        </a:rPr>
                        <a:t>56-65</a:t>
                      </a:r>
                      <a:r>
                        <a:rPr sz="1100" b="0">
                          <a:solidFill>
                            <a:srgbClr val="999999"/>
                          </a:solidFill>
                          <a:latin typeface="Fira Code"/>
                        </a:rPr>
                        <a:t>  ·  </a:t>
                      </a:r>
                      <a:r>
                        <a:rPr sz="1100" b="0">
                          <a:solidFill>
                            <a:srgbClr val="999999"/>
                          </a:solidFill>
                          <a:latin typeface="Fira Code"/>
                        </a:rPr>
                        <a:t>Plane::ekf_check()</a:t>
                      </a:r>
                    </a:p>
                    <a:p>
                      <a:pPr algn="l">
                        <a:lnSpc>
                          <a:spcPct val="106000"/>
                        </a:lnSpc>
                        <a:spcAft>
                          <a:spcPts val="0"/>
                        </a:spcAft>
                      </a:pPr>
                      <a:r>
                        <a:rPr sz="1100" b="0">
                          <a:solidFill>
                            <a:srgbClr val="333333"/>
                          </a:solidFill>
                          <a:latin typeface="Fira Code"/>
                        </a:rPr>
                        <a:t>    // compare compass and velocity variance vs threshold</a:t>
                      </a:r>
                    </a:p>
                    <a:p>
                      <a:pPr algn="l">
                        <a:lnSpc>
                          <a:spcPct val="106000"/>
                        </a:lnSpc>
                        <a:spcAft>
                          <a:spcPts val="0"/>
                        </a:spcAft>
                      </a:pPr>
                      <a:r>
                        <a:rPr sz="1100" b="0">
                          <a:solidFill>
                            <a:srgbClr val="333333"/>
                          </a:solidFill>
                          <a:latin typeface="Fira Code"/>
                        </a:rPr>
                        <a:t>    if (ekf_over_threshold()) {</a:t>
                      </a:r>
                    </a:p>
                    <a:p>
                      <a:pPr algn="l">
                        <a:lnSpc>
                          <a:spcPct val="106000"/>
                        </a:lnSpc>
                        <a:spcAft>
                          <a:spcPts val="0"/>
                        </a:spcAft>
                      </a:pPr>
                      <a:r>
                        <a:rPr sz="1100" b="0">
                          <a:solidFill>
                            <a:srgbClr val="333333"/>
                          </a:solidFill>
                          <a:latin typeface="Fira Code"/>
                        </a:rPr>
                        <a:t>        // if compass is not yet flagged as bad</a:t>
                      </a:r>
                    </a:p>
                    <a:p>
                      <a:pPr algn="l">
                        <a:lnSpc>
                          <a:spcPct val="106000"/>
                        </a:lnSpc>
                        <a:spcAft>
                          <a:spcPts val="0"/>
                        </a:spcAft>
                      </a:pPr>
                      <a:r>
                        <a:rPr sz="1100" b="0">
                          <a:solidFill>
                            <a:srgbClr val="333333"/>
                          </a:solidFill>
                          <a:latin typeface="Fira Code"/>
                        </a:rPr>
                        <a:t>        if (!ekf_check_state.bad_variance) {</a:t>
                      </a:r>
                    </a:p>
                    <a:p>
                      <a:pPr algn="l">
                        <a:lnSpc>
                          <a:spcPct val="106000"/>
                        </a:lnSpc>
                        <a:spcAft>
                          <a:spcPts val="0"/>
                        </a:spcAft>
                      </a:pPr>
                      <a:r>
                        <a:rPr sz="1100" b="0">
                          <a:solidFill>
                            <a:srgbClr val="333333"/>
                          </a:solidFill>
                          <a:latin typeface="Fira Code"/>
                        </a:rPr>
                        <a:t>            // increase counter</a:t>
                      </a:r>
                    </a:p>
                    <a:p>
                      <a:pPr algn="l">
                        <a:lnSpc>
                          <a:spcPct val="106000"/>
                        </a:lnSpc>
                        <a:spcAft>
                          <a:spcPts val="0"/>
                        </a:spcAft>
                      </a:pPr>
                      <a:r>
                        <a:rPr sz="1100" b="0">
                          <a:solidFill>
                            <a:srgbClr val="333333"/>
                          </a:solidFill>
                          <a:latin typeface="Fira Code"/>
                        </a:rPr>
                        <a:t>            ekf_check_state.fail_count++;</a:t>
                      </a:r>
                    </a:p>
                    <a:p>
                      <a:pPr algn="l">
                        <a:lnSpc>
                          <a:spcPct val="106000"/>
                        </a:lnSpc>
                        <a:spcAft>
                          <a:spcPts val="0"/>
                        </a:spcAft>
                      </a:pPr>
                      <a:r>
                        <a:rPr sz="1100" b="0">
                          <a:solidFill>
                            <a:srgbClr val="333333"/>
                          </a:solidFill>
                          <a:latin typeface="Fira Code"/>
                        </a:rPr>
                        <a:t>            if (ekf_check_state.fail_count == (EKF_CHECK_ITERATIONS_MAX-2)) {</a:t>
                      </a:r>
                    </a:p>
                    <a:p>
                      <a:pPr algn="l">
                        <a:lnSpc>
                          <a:spcPct val="106000"/>
                        </a:lnSpc>
                        <a:spcAft>
                          <a:spcPts val="0"/>
                        </a:spcAft>
                      </a:pPr>
                      <a:r>
                        <a:rPr sz="1100" b="0">
                          <a:solidFill>
                            <a:srgbClr val="333333"/>
                          </a:solidFill>
                          <a:latin typeface="Fira Code"/>
                        </a:rPr>
                        <a:t>                // we are two iterations away from declaring an EKF failsafe, ask the EKF if we can reset</a:t>
                      </a:r>
                    </a:p>
                    <a:p>
                      <a:pPr algn="l">
                        <a:lnSpc>
                          <a:spcPct val="106000"/>
                        </a:lnSpc>
                        <a:spcAft>
                          <a:spcPts val="0"/>
                        </a:spcAft>
                      </a:pPr>
                      <a:r>
                        <a:rPr sz="1100" b="0">
                          <a:solidFill>
                            <a:srgbClr val="333333"/>
                          </a:solidFill>
                          <a:latin typeface="Fira Code"/>
                        </a:rPr>
                        <a:t>                // yaw to resolve the issue</a:t>
                      </a:r>
                    </a:p>
                    <a:p>
                      <a:pPr algn="l">
                        <a:lnSpc>
                          <a:spcPct val="106000"/>
                        </a:lnSpc>
                        <a:spcAft>
                          <a:spcPts val="0"/>
                        </a:spcAft>
                      </a:pPr>
                      <a:r>
                        <a:rPr sz="1100" b="0">
                          <a:solidFill>
                            <a:srgbClr val="333333"/>
                          </a:solidFill>
                          <a:latin typeface="Fira Code"/>
                        </a:rPr>
                        <a:t>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Rover/ekf_check.cpp</a:t>
                      </a:r>
                      <a:r>
                        <a:rPr sz="1100" b="0">
                          <a:solidFill>
                            <a:srgbClr val="999999"/>
                          </a:solidFill>
                          <a:latin typeface="Fira Code"/>
                        </a:rPr>
                        <a:t>  ·  </a:t>
                      </a:r>
                      <a:r>
                        <a:rPr sz="1100" b="0">
                          <a:solidFill>
                            <a:srgbClr val="999999"/>
                          </a:solidFill>
                          <a:latin typeface="Fira Code"/>
                        </a:rPr>
                        <a:t>93-102</a:t>
                      </a:r>
                      <a:r>
                        <a:rPr sz="1100" b="0">
                          <a:solidFill>
                            <a:srgbClr val="999999"/>
                          </a:solidFill>
                          <a:latin typeface="Fira Code"/>
                        </a:rPr>
                        <a:t>  ·  </a:t>
                      </a:r>
                      <a:r>
                        <a:rPr sz="1100" b="0">
                          <a:solidFill>
                            <a:srgbClr val="999999"/>
                          </a:solidFill>
                          <a:latin typeface="Fira Code"/>
                        </a:rPr>
                        <a:t>Rover::ekf_over_threshold()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use EKF to get variance</a:t>
                      </a:r>
                    </a:p>
                    <a:p>
                      <a:pPr algn="l">
                        <a:lnSpc>
                          <a:spcPct val="106000"/>
                        </a:lnSpc>
                        <a:spcAft>
                          <a:spcPts val="0"/>
                        </a:spcAft>
                      </a:pPr>
                      <a:r>
                        <a:rPr sz="1100" b="0">
                          <a:solidFill>
                            <a:srgbClr val="333333"/>
                          </a:solidFill>
                          <a:latin typeface="Fira Code"/>
                        </a:rPr>
                        <a:t>    float position_variance, vel_variance, height_variance, tas_variance;</a:t>
                      </a:r>
                    </a:p>
                    <a:p>
                      <a:pPr algn="l">
                        <a:lnSpc>
                          <a:spcPct val="106000"/>
                        </a:lnSpc>
                        <a:spcAft>
                          <a:spcPts val="0"/>
                        </a:spcAft>
                      </a:pPr>
                      <a:r>
                        <a:rPr sz="1100" b="0">
                          <a:solidFill>
                            <a:srgbClr val="333333"/>
                          </a:solidFill>
                          <a:latin typeface="Fira Code"/>
                        </a:rPr>
                        <a:t>    Vector3f mag_variance;</a:t>
                      </a:r>
                    </a:p>
                    <a:p>
                      <a:pPr algn="l">
                        <a:lnSpc>
                          <a:spcPct val="106000"/>
                        </a:lnSpc>
                        <a:spcAft>
                          <a:spcPts val="0"/>
                        </a:spcAft>
                      </a:pPr>
                      <a:r>
                        <a:rPr sz="1100" b="0">
                          <a:solidFill>
                            <a:srgbClr val="333333"/>
                          </a:solidFill>
                          <a:latin typeface="Fira Code"/>
                        </a:rPr>
                        <a:t>    ahrs.get_variances(vel_variance, position_variance, height_variance, mag_variance, tas_variance);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true if two of compass, velocity and position variances are over the threshold</a:t>
                      </a:r>
                    </a:p>
                    <a:p>
                      <a:pPr algn="l">
                        <a:lnSpc>
                          <a:spcPct val="106000"/>
                        </a:lnSpc>
                        <a:spcAft>
                          <a:spcPts val="0"/>
                        </a:spcAft>
                      </a:pPr>
                      <a:r>
                        <a:rPr sz="1100" b="0">
                          <a:solidFill>
                            <a:srgbClr val="333333"/>
                          </a:solidFill>
                          <a:latin typeface="Fira Code"/>
                        </a:rPr>
                        <a:t>    uint8_t over_thresh_count = 0;</a:t>
                      </a:r>
                    </a:p>
                    <a:p>
                      <a:pPr algn="l">
                        <a:lnSpc>
                          <a:spcPct val="106000"/>
                        </a:lnSpc>
                        <a:spcAft>
                          <a:spcPts val="0"/>
                        </a:spcAft>
                      </a:pPr>
                      <a:r>
                        <a:rPr sz="1100" b="0">
                          <a:solidFill>
                            <a:srgbClr val="333333"/>
                          </a:solidFill>
                          <a:latin typeface="Fira Code"/>
                        </a:rPr>
                        <a:t>    if (mag_variance.length() &gt;= g.fs_ekf_thresh) {</a:t>
                      </a:r>
                    </a:p>
                    <a:p>
                      <a:pPr algn="l">
                        <a:lnSpc>
                          <a:spcPct val="106000"/>
                        </a:lnSpc>
                        <a:spcAft>
                          <a:spcPts val="0"/>
                        </a:spcAft>
                      </a:pPr>
                      <a:r>
                        <a:rPr sz="1100" b="0">
                          <a:solidFill>
                            <a:srgbClr val="333333"/>
                          </a:solidFill>
                          <a:latin typeface="Fira Code"/>
                        </a:rPr>
                        <a:t>        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112-121</a:t>
                      </a:r>
                      <a:r>
                        <a:rPr sz="1100" b="0">
                          <a:solidFill>
                            <a:srgbClr val="999999"/>
                          </a:solidFill>
                          <a:latin typeface="Fira Code"/>
                        </a:rPr>
                        <a:t>  ·  </a:t>
                      </a:r>
                      <a:r>
                        <a:rPr sz="1100" b="0">
                          <a:solidFill>
                            <a:srgbClr val="999999"/>
                          </a:solidFill>
                          <a:latin typeface="Fira Code"/>
                        </a:rPr>
                        <a:t>Sub::failsafe_ekf_check()</a:t>
                      </a:r>
                    </a:p>
                    <a:p>
                      <a:pPr algn="l">
                        <a:lnSpc>
                          <a:spcPct val="106000"/>
                        </a:lnSpc>
                        <a:spcAft>
                          <a:spcPts val="0"/>
                        </a:spcAft>
                      </a:pPr>
                      <a:r>
                        <a:rPr sz="1100" b="0">
                          <a:solidFill>
                            <a:srgbClr val="333333"/>
                          </a:solidFill>
                          <a:latin typeface="Fira Code"/>
                        </a:rPr>
                        <a:t>    Vector3f magVar;</a:t>
                      </a:r>
                    </a:p>
                    <a:p>
                      <a:pPr algn="l">
                        <a:lnSpc>
                          <a:spcPct val="106000"/>
                        </a:lnSpc>
                        <a:spcAft>
                          <a:spcPts val="0"/>
                        </a:spcAft>
                      </a:pPr>
                      <a:r>
                        <a:rPr sz="1100" b="0">
                          <a:solidFill>
                            <a:srgbClr val="333333"/>
                          </a:solidFill>
                          <a:latin typeface="Fira Code"/>
                        </a:rPr>
                        <a:t>    float compass_variance;</a:t>
                      </a:r>
                    </a:p>
                    <a:p>
                      <a:pPr algn="l">
                        <a:lnSpc>
                          <a:spcPct val="106000"/>
                        </a:lnSpc>
                        <a:spcAft>
                          <a:spcPts val="0"/>
                        </a:spcAft>
                      </a:pPr>
                      <a:r>
                        <a:rPr sz="1100" b="0">
                          <a:solidFill>
                            <a:srgbClr val="333333"/>
                          </a:solidFill>
                          <a:latin typeface="Fira Code"/>
                        </a:rPr>
                        <a:t>    float vel_variance;</a:t>
                      </a:r>
                    </a:p>
                    <a:p>
                      <a:pPr algn="l">
                        <a:lnSpc>
                          <a:spcPct val="106000"/>
                        </a:lnSpc>
                        <a:spcAft>
                          <a:spcPts val="0"/>
                        </a:spcAft>
                      </a:pPr>
                      <a:r>
                        <a:rPr sz="1100" b="0">
                          <a:solidFill>
                            <a:srgbClr val="333333"/>
                          </a:solidFill>
                          <a:latin typeface="Fira Code"/>
                        </a:rPr>
                        <a:t>    ahrs.get_variances(vel_variance, posVar, hgtVar, magVar, tasVar);</a:t>
                      </a:r>
                    </a:p>
                    <a:p>
                      <a:pPr algn="l">
                        <a:lnSpc>
                          <a:spcPct val="106000"/>
                        </a:lnSpc>
                        <a:spcAft>
                          <a:spcPts val="0"/>
                        </a:spcAft>
                      </a:pPr>
                      <a:r>
                        <a:rPr sz="1100" b="0">
                          <a:solidFill>
                            <a:srgbClr val="333333"/>
                          </a:solidFill>
                          <a:latin typeface="Fira Code"/>
                        </a:rPr>
                        <a:t>    compass_variance = magVar.length();</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(compass_variance &lt; g.fs_ekf_thresh &amp;&amp; vel_variance &lt; g.fs_ekf_thresh) {</a:t>
                      </a:r>
                    </a:p>
                    <a:p>
                      <a:pPr algn="l">
                        <a:lnSpc>
                          <a:spcPct val="106000"/>
                        </a:lnSpc>
                        <a:spcAft>
                          <a:spcPts val="0"/>
                        </a:spcAft>
                      </a:pPr>
                      <a:r>
                        <a:rPr sz="1100" b="0">
                          <a:solidFill>
                            <a:srgbClr val="333333"/>
                          </a:solidFill>
                          <a:latin typeface="Fira Code"/>
                        </a:rPr>
                        <a:t>        last_ekf_good_ms = AP_HAL::millis();</a:t>
                      </a:r>
                    </a:p>
                    <a:p>
                      <a:pPr algn="l">
                        <a:lnSpc>
                          <a:spcPct val="106000"/>
                        </a:lnSpc>
                        <a:spcAft>
                          <a:spcPts val="0"/>
                        </a:spcAft>
                      </a:pPr>
                      <a:r>
                        <a:rPr sz="1100" b="0">
                          <a:solidFill>
                            <a:srgbClr val="333333"/>
                          </a:solidFill>
                          <a:latin typeface="Fira Code"/>
                        </a:rPr>
                        <a:t>        failsafe.ekf = false;</a:t>
                      </a:r>
                    </a:p>
                    <a:p>
                      <a:pPr algn="l">
                        <a:lnSpc>
                          <a:spcPct val="106000"/>
                        </a:lnSpc>
                        <a:spcAft>
                          <a:spcPts val="0"/>
                        </a:spcAft>
                      </a:pPr>
                      <a:r>
                        <a:rPr sz="1100" b="0">
                          <a:solidFill>
                            <a:srgbClr val="333333"/>
                          </a:solidFill>
                          <a:latin typeface="Fira Code"/>
                        </a:rPr>
                        <a:t>        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ArduCopter/crash_check.cpp</a:t>
                      </a:r>
                      <a:r>
                        <a:rPr sz="1100" b="0">
                          <a:solidFill>
                            <a:srgbClr val="999999"/>
                          </a:solidFill>
                          <a:latin typeface="Fira Code"/>
                        </a:rPr>
                        <a:t>  ·  </a:t>
                      </a:r>
                      <a:r>
                        <a:rPr sz="1100" b="0">
                          <a:solidFill>
                            <a:srgbClr val="999999"/>
                          </a:solidFill>
                          <a:latin typeface="Fira Code"/>
                        </a:rPr>
                        <a:t>65-74</a:t>
                      </a:r>
                      <a:r>
                        <a:rPr sz="1100" b="0">
                          <a:solidFill>
                            <a:srgbClr val="999999"/>
                          </a:solidFill>
                          <a:latin typeface="Fira Code"/>
                        </a:rPr>
                        <a:t>  ·  </a:t>
                      </a:r>
                      <a:r>
                        <a:rPr sz="1100" b="0">
                          <a:solidFill>
                            <a:srgbClr val="999999"/>
                          </a:solidFill>
                          <a:latin typeface="Fira Code"/>
                        </a:rPr>
                        <a:t>Copter::crash_check() — attitude test</a:t>
                      </a:r>
                    </a:p>
                    <a:p>
                      <a:pPr algn="l">
                        <a:lnSpc>
                          <a:spcPct val="106000"/>
                        </a:lnSpc>
                        <a:spcAft>
                          <a:spcPts val="0"/>
                        </a:spcAft>
                      </a:pPr>
                      <a:r>
                        <a:rPr sz="1100" b="0">
                          <a:solidFill>
                            <a:srgbClr val="333333"/>
                          </a:solidFill>
                          <a:latin typeface="Fira Code"/>
                        </a:rPr>
                        <a:t>    // check for lean angle over 15 degrees</a:t>
                      </a:r>
                    </a:p>
                    <a:p>
                      <a:pPr algn="l">
                        <a:lnSpc>
                          <a:spcPct val="106000"/>
                        </a:lnSpc>
                        <a:spcAft>
                          <a:spcPts val="0"/>
                        </a:spcAft>
                      </a:pPr>
                      <a:r>
                        <a:rPr sz="1100" b="0">
                          <a:solidFill>
                            <a:srgbClr val="333333"/>
                          </a:solidFill>
                          <a:latin typeface="Fira Code"/>
                        </a:rPr>
                        <a:t>    const float lean_angle_deg = degrees(acosf(ahrs.cos_roll()*ahrs.cos_pitch()));</a:t>
                      </a:r>
                    </a:p>
                    <a:p>
                      <a:pPr algn="l">
                        <a:lnSpc>
                          <a:spcPct val="106000"/>
                        </a:lnSpc>
                        <a:spcAft>
                          <a:spcPts val="0"/>
                        </a:spcAft>
                      </a:pPr>
                      <a:r>
                        <a:rPr sz="1100" b="0">
                          <a:solidFill>
                            <a:srgbClr val="333333"/>
                          </a:solidFill>
                          <a:latin typeface="Fira Code"/>
                        </a:rPr>
                        <a:t>    if (lean_angle_deg &lt;= CRASH_CHECK_ANGLE_MIN_DEG) {</a:t>
                      </a:r>
                    </a:p>
                    <a:p>
                      <a:pPr algn="l">
                        <a:lnSpc>
                          <a:spcPct val="106000"/>
                        </a:lnSpc>
                        <a:spcAft>
                          <a:spcPts val="0"/>
                        </a:spcAft>
                      </a:pPr>
                      <a:r>
                        <a:rPr sz="1100" b="0">
                          <a:solidFill>
                            <a:srgbClr val="333333"/>
                          </a:solidFill>
                          <a:latin typeface="Fira Code"/>
                        </a:rPr>
                        <a:t>        crash_counter = 0;</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angle error over 30 degrees</a:t>
                      </a:r>
                    </a:p>
                    <a:p>
                      <a:pPr algn="l">
                        <a:lnSpc>
                          <a:spcPct val="106000"/>
                        </a:lnSpc>
                        <a:spcAft>
                          <a:spcPts val="0"/>
                        </a:spcAft>
                      </a:pPr>
                      <a:r>
                        <a:rPr sz="1100" b="0">
                          <a:solidFill>
                            <a:srgbClr val="333333"/>
                          </a:solidFill>
                          <a:latin typeface="Fira Code"/>
                        </a:rPr>
                        <a:t>    const float angle_error = attitude_control-&gt;get_att_error_angle_deg();</a:t>
                      </a:r>
                    </a:p>
                    <a:p>
                      <a:pPr algn="l">
                        <a:lnSpc>
                          <a:spcPct val="106000"/>
                        </a:lnSpc>
                        <a:spcAft>
                          <a:spcPts val="0"/>
                        </a:spcAft>
                      </a:pPr>
                      <a:r>
                        <a:rPr sz="1100" b="0">
                          <a:solidFill>
                            <a:srgbClr val="333333"/>
                          </a:solidFill>
                          <a:latin typeface="Fira Code"/>
                        </a:rPr>
                        <a:t>    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ArduCopter/crash_check.cpp</a:t>
                      </a:r>
                      <a:r>
                        <a:rPr sz="1100" b="0">
                          <a:solidFill>
                            <a:srgbClr val="999999"/>
                          </a:solidFill>
                          <a:latin typeface="Fira Code"/>
                        </a:rPr>
                        <a:t>  ·  </a:t>
                      </a:r>
                      <a:r>
                        <a:rPr sz="1100" b="0">
                          <a:solidFill>
                            <a:srgbClr val="999999"/>
                          </a:solidFill>
                          <a:latin typeface="Fira Code"/>
                        </a:rPr>
                        <a:t>78-84</a:t>
                      </a:r>
                      <a:r>
                        <a:rPr sz="1100" b="0">
                          <a:solidFill>
                            <a:srgbClr val="999999"/>
                          </a:solidFill>
                          <a:latin typeface="Fira Code"/>
                        </a:rPr>
                        <a:t>  ·  </a:t>
                      </a:r>
                      <a:r>
                        <a:rPr sz="1100" b="0">
                          <a:solidFill>
                            <a:srgbClr val="999999"/>
                          </a:solidFill>
                          <a:latin typeface="Fira Code"/>
                        </a:rPr>
                        <a:t>Copter::crash_check() — velocity test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speed under 10m/s (if available)</a:t>
                      </a:r>
                    </a:p>
                    <a:p>
                      <a:pPr algn="l">
                        <a:lnSpc>
                          <a:spcPct val="106000"/>
                        </a:lnSpc>
                        <a:spcAft>
                          <a:spcPts val="0"/>
                        </a:spcAft>
                      </a:pPr>
                      <a:r>
                        <a:rPr sz="1100" b="0">
                          <a:solidFill>
                            <a:srgbClr val="333333"/>
                          </a:solidFill>
                          <a:latin typeface="Fira Code"/>
                        </a:rPr>
                        <a:t>    Vector3f vel_ned;</a:t>
                      </a:r>
                    </a:p>
                    <a:p>
                      <a:pPr algn="l">
                        <a:lnSpc>
                          <a:spcPct val="106000"/>
                        </a:lnSpc>
                        <a:spcAft>
                          <a:spcPts val="0"/>
                        </a:spcAft>
                      </a:pPr>
                      <a:r>
                        <a:rPr sz="1100" b="0">
                          <a:solidFill>
                            <a:srgbClr val="333333"/>
                          </a:solidFill>
                          <a:latin typeface="Fira Code"/>
                        </a:rPr>
                        <a:t>    if (ahrs.get_velocity_NED(vel_ned) &amp;&amp; (vel_ned.length() &gt;= CRASH_CHECK_SPEED_MAX)) {</a:t>
                      </a:r>
                    </a:p>
                    <a:p>
                      <a:pPr algn="l">
                        <a:lnSpc>
                          <a:spcPct val="106000"/>
                        </a:lnSpc>
                        <a:spcAft>
                          <a:spcPts val="0"/>
                        </a:spcAft>
                      </a:pPr>
                      <a:r>
                        <a:rPr sz="1100" b="0">
                          <a:solidFill>
                            <a:srgbClr val="333333"/>
                          </a:solidFill>
                          <a:latin typeface="Fira Code"/>
                        </a:rPr>
                        <a:t>        crash_counter = 0;</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ArduPlane/GCS_MAVLink_Plane.cpp</a:t>
                      </a:r>
                      <a:r>
                        <a:rPr sz="1100" b="0">
                          <a:solidFill>
                            <a:srgbClr val="999999"/>
                          </a:solidFill>
                          <a:latin typeface="Fira Code"/>
                        </a:rPr>
                        <a:t>  ·  </a:t>
                      </a:r>
                      <a:r>
                        <a:rPr sz="1100" b="0">
                          <a:solidFill>
                            <a:srgbClr val="999999"/>
                          </a:solidFill>
                          <a:latin typeface="Fira Code"/>
                        </a:rPr>
                        <a:t>204-212</a:t>
                      </a:r>
                      <a:r>
                        <a:rPr sz="1100" b="0">
                          <a:solidFill>
                            <a:srgbClr val="999999"/>
                          </a:solidFill>
                          <a:latin typeface="Fira Code"/>
                        </a:rPr>
                        <a:t>  ·  </a:t>
                      </a:r>
                      <a:r>
                        <a:rPr sz="1100" b="0">
                          <a:solidFill>
                            <a:srgbClr val="999999"/>
                          </a:solidFill>
                          <a:latin typeface="Fira Code"/>
                        </a:rPr>
                        <a:t>GCS_MAVLINK_Plane::send_nav_controller_output()</a:t>
                      </a:r>
                    </a:p>
                    <a:p>
                      <a:pPr algn="l">
                        <a:lnSpc>
                          <a:spcPct val="106000"/>
                        </a:lnSpc>
                        <a:spcAft>
                          <a:spcPts val="0"/>
                        </a:spcAft>
                      </a:pPr>
                      <a:r>
                        <a:rPr sz="1100" b="0">
                          <a:solidFill>
                            <a:srgbClr val="333333"/>
                          </a:solidFill>
                          <a:latin typeface="Fira Code"/>
                        </a:rPr>
                        <a:t>void GCS_MAVLINK_Plane::send_nav_controller_output()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(plane.control_mode == &amp;plane.mode_manual)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#if HAL_QUADPLANE_ENABLED</a:t>
                      </a:r>
                    </a:p>
                    <a:p>
                      <a:pPr algn="l">
                        <a:lnSpc>
                          <a:spcPct val="106000"/>
                        </a:lnSpc>
                        <a:spcAft>
                          <a:spcPts val="0"/>
                        </a:spcAft>
                      </a:pPr>
                      <a:r>
                        <a:rPr sz="1100" b="0">
                          <a:solidFill>
                            <a:srgbClr val="333333"/>
                          </a:solidFill>
                          <a:latin typeface="Fira Code"/>
                        </a:rPr>
                        <a:t>    const QuadPlane &amp;quadplane = plane.quadplane;</a:t>
                      </a:r>
                    </a:p>
                    <a:p>
                      <a:pPr algn="l">
                        <a:lnSpc>
                          <a:spcPct val="106000"/>
                        </a:lnSpc>
                        <a:spcAft>
                          <a:spcPts val="0"/>
                        </a:spcAft>
                      </a:pPr>
                      <a:r>
                        <a:rPr sz="1100" b="0">
                          <a:solidFill>
                            <a:srgbClr val="333333"/>
                          </a:solidFill>
                          <a:latin typeface="Fira Code"/>
                        </a:rPr>
                        <a:t>    if (quadplane.show_vtol_view() &amp;&amp; quadplane.using_wp_nav()) {</a:t>
                      </a:r>
                    </a:p>
                    <a:p>
                      <a:pPr algn="l">
                        <a:lnSpc>
                          <a:spcPct val="106000"/>
                        </a:lnSpc>
                        <a:spcAft>
                          <a:spcPts val="0"/>
                        </a:spcAft>
                      </a:pPr>
                      <a:r>
                        <a:rPr sz="1100" b="0">
                          <a:solidFill>
                            <a:srgbClr val="333333"/>
                          </a:solidFill>
                          <a:latin typeface="Fira Code"/>
                        </a:rPr>
                        <a:t>        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ArduPlane/Attitude.cpp</a:t>
                      </a:r>
                      <a:r>
                        <a:rPr sz="1100" b="0">
                          <a:solidFill>
                            <a:srgbClr val="999999"/>
                          </a:solidFill>
                          <a:latin typeface="Fira Code"/>
                        </a:rPr>
                        <a:t>  ·  </a:t>
                      </a:r>
                      <a:r>
                        <a:rPr sz="1100" b="0">
                          <a:solidFill>
                            <a:srgbClr val="999999"/>
                          </a:solidFill>
                          <a:latin typeface="Fira Code"/>
                        </a:rPr>
                        <a:t>604-611</a:t>
                      </a:r>
                      <a:r>
                        <a:rPr sz="1100" b="0">
                          <a:solidFill>
                            <a:srgbClr val="999999"/>
                          </a:solidFill>
                          <a:latin typeface="Fira Code"/>
                        </a:rPr>
                        <a:t>  ·  </a:t>
                      </a:r>
                      <a:r>
                        <a:rPr sz="1100" b="0">
                          <a:solidFill>
                            <a:srgbClr val="999999"/>
                          </a:solidFill>
                          <a:latin typeface="Fira Code"/>
                        </a:rPr>
                        <a:t>Plane::calc_nav_roll()</a:t>
                      </a:r>
                    </a:p>
                    <a:p>
                      <a:pPr algn="l">
                        <a:lnSpc>
                          <a:spcPct val="106000"/>
                        </a:lnSpc>
                        <a:spcAft>
                          <a:spcPts val="0"/>
                        </a:spcAft>
                      </a:pPr>
                      <a:r>
                        <a:rPr sz="1100" b="0">
                          <a:solidFill>
                            <a:srgbClr val="333333"/>
                          </a:solidFill>
                          <a:latin typeface="Fira Code"/>
                        </a:rPr>
                        <a:t>  calculate a new nav_roll_cd from the navigation controller</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void Plane::calc_nav_roll()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int32_t commanded_roll = nav_controller-&gt;nav_roll_cd();</a:t>
                      </a:r>
                    </a:p>
                    <a:p>
                      <a:pPr algn="l">
                        <a:lnSpc>
                          <a:spcPct val="106000"/>
                        </a:lnSpc>
                        <a:spcAft>
                          <a:spcPts val="0"/>
                        </a:spcAft>
                      </a:pPr>
                      <a:r>
                        <a:rPr sz="1100" b="0">
                          <a:solidFill>
                            <a:srgbClr val="333333"/>
                          </a:solidFill>
                          <a:latin typeface="Fira Code"/>
                        </a:rPr>
                        <a:t>    nav_roll_cd = constrain_int32(commanded_roll, -roll_limit_cd, roll_limit_cd);</a:t>
                      </a:r>
                    </a:p>
                    <a:p>
                      <a:pPr algn="l">
                        <a:lnSpc>
                          <a:spcPct val="106000"/>
                        </a:lnSpc>
                        <a:spcAft>
                          <a:spcPts val="0"/>
                        </a:spcAft>
                      </a:pPr>
                      <a:r>
                        <a:rPr sz="1100" b="0">
                          <a:solidFill>
                            <a:srgbClr val="333333"/>
                          </a:solidFill>
                          <a:latin typeface="Fira Code"/>
                        </a:rPr>
                        <a:t>    update_load_factor();</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ArduPlane/navigation.cpp</a:t>
                      </a:r>
                      <a:r>
                        <a:rPr sz="1100" b="0">
                          <a:solidFill>
                            <a:srgbClr val="999999"/>
                          </a:solidFill>
                          <a:latin typeface="Fira Code"/>
                        </a:rPr>
                        <a:t>  ·  </a:t>
                      </a:r>
                      <a:r>
                        <a:rPr sz="1100" b="0">
                          <a:solidFill>
                            <a:srgbClr val="999999"/>
                          </a:solidFill>
                          <a:latin typeface="Fira Code"/>
                        </a:rPr>
                        <a:t>86-94</a:t>
                      </a:r>
                      <a:r>
                        <a:rPr sz="1100" b="0">
                          <a:solidFill>
                            <a:srgbClr val="999999"/>
                          </a:solidFill>
                          <a:latin typeface="Fira Code"/>
                        </a:rPr>
                        <a:t>  ·  </a:t>
                      </a:r>
                      <a:r>
                        <a:rPr sz="1100" b="0">
                          <a:solidFill>
                            <a:srgbClr val="999999"/>
                          </a:solidFill>
                          <a:latin typeface="Fira Code"/>
                        </a:rPr>
                        <a:t>Plane::navigate()</a:t>
                      </a:r>
                    </a:p>
                    <a:p>
                      <a:pPr algn="l">
                        <a:lnSpc>
                          <a:spcPct val="106000"/>
                        </a:lnSpc>
                        <a:spcAft>
                          <a:spcPts val="0"/>
                        </a:spcAft>
                      </a:pPr>
                      <a:r>
                        <a:rPr sz="1100" b="0">
                          <a:solidFill>
                            <a:srgbClr val="333333"/>
                          </a:solidFill>
                          <a:latin typeface="Fira Code"/>
                        </a:rPr>
                        <a:t>void Plane::navigate()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do not navigate with corrupt data</a:t>
                      </a:r>
                    </a:p>
                    <a:p>
                      <a:pPr algn="l">
                        <a:lnSpc>
                          <a:spcPct val="106000"/>
                        </a:lnSpc>
                        <a:spcAft>
                          <a:spcPts val="0"/>
                        </a:spcAft>
                      </a:pPr>
                      <a:r>
                        <a:rPr sz="1100" b="0">
                          <a:solidFill>
                            <a:srgbClr val="333333"/>
                          </a:solidFill>
                          <a:latin typeface="Fira Code"/>
                        </a:rPr>
                        <a:t>    // ---------------------------------</a:t>
                      </a:r>
                    </a:p>
                    <a:p>
                      <a:pPr algn="l">
                        <a:lnSpc>
                          <a:spcPct val="106000"/>
                        </a:lnSpc>
                        <a:spcAft>
                          <a:spcPts val="0"/>
                        </a:spcAft>
                      </a:pPr>
                      <a:r>
                        <a:rPr sz="1100" b="0">
                          <a:solidFill>
                            <a:srgbClr val="333333"/>
                          </a:solidFill>
                          <a:latin typeface="Fira Code"/>
                        </a:rPr>
                        <a:t>    if (!have_position)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190509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ArduPlane/navigation.cpp</a:t>
                      </a:r>
                      <a:r>
                        <a:rPr sz="1100" b="0">
                          <a:solidFill>
                            <a:srgbClr val="999999"/>
                          </a:solidFill>
                          <a:latin typeface="Fira Code"/>
                        </a:rPr>
                        <a:t>  ·  </a:t>
                      </a:r>
                      <a:r>
                        <a:rPr sz="1100" b="0">
                          <a:solidFill>
                            <a:srgbClr val="999999"/>
                          </a:solidFill>
                          <a:latin typeface="Fira Code"/>
                        </a:rPr>
                        <a:t>304-311</a:t>
                      </a:r>
                      <a:r>
                        <a:rPr sz="1100" b="0">
                          <a:solidFill>
                            <a:srgbClr val="999999"/>
                          </a:solidFill>
                          <a:latin typeface="Fira Code"/>
                        </a:rPr>
                        <a:t>  ·  </a:t>
                      </a:r>
                      <a:r>
                        <a:rPr sz="1100" b="0">
                          <a:solidFill>
                            <a:srgbClr val="999999"/>
                          </a:solidFill>
                          <a:latin typeface="Fira Code"/>
                        </a:rPr>
                        <a:t>Plane::calc_gndspeed_undershoot()</a:t>
                      </a:r>
                    </a:p>
                    <a:p>
                      <a:pPr algn="l">
                        <a:lnSpc>
                          <a:spcPct val="106000"/>
                        </a:lnSpc>
                        <a:spcAft>
                          <a:spcPts val="0"/>
                        </a:spcAft>
                      </a:pPr>
                      <a:r>
                        <a:rPr sz="1100" b="0">
                          <a:solidFill>
                            <a:srgbClr val="333333"/>
                          </a:solidFill>
                          <a:latin typeface="Fira Code"/>
                        </a:rPr>
                        <a:t>    Vector3f velNED;</a:t>
                      </a:r>
                    </a:p>
                    <a:p>
                      <a:pPr algn="l">
                        <a:lnSpc>
                          <a:spcPct val="106000"/>
                        </a:lnSpc>
                        <a:spcAft>
                          <a:spcPts val="0"/>
                        </a:spcAft>
                      </a:pPr>
                      <a:r>
                        <a:rPr sz="1100" b="0">
                          <a:solidFill>
                            <a:srgbClr val="333333"/>
                          </a:solidFill>
                          <a:latin typeface="Fira Code"/>
                        </a:rPr>
                        <a:t>    if (ahrs.have_inertial_nav() &amp;&amp; ahrs.get_velocity_NED(velNED)) {</a:t>
                      </a:r>
                    </a:p>
                    <a:p>
                      <a:pPr algn="l">
                        <a:lnSpc>
                          <a:spcPct val="106000"/>
                        </a:lnSpc>
                        <a:spcAft>
                          <a:spcPts val="0"/>
                        </a:spcAft>
                      </a:pPr>
                      <a:r>
                        <a:rPr sz="1100" b="0">
                          <a:solidFill>
                            <a:srgbClr val="333333"/>
                          </a:solidFill>
                          <a:latin typeface="Fira Code"/>
                        </a:rPr>
                        <a:t>        const Matrix3f &amp;rotMat = ahrs.get_rotation_body_to_ned();</a:t>
                      </a:r>
                    </a:p>
                    <a:p>
                      <a:pPr algn="l">
                        <a:lnSpc>
                          <a:spcPct val="106000"/>
                        </a:lnSpc>
                        <a:spcAft>
                          <a:spcPts val="0"/>
                        </a:spcAft>
                      </a:pPr>
                      <a:r>
                        <a:rPr sz="1100" b="0">
                          <a:solidFill>
                            <a:srgbClr val="333333"/>
                          </a:solidFill>
                          <a:latin typeface="Fira Code"/>
                        </a:rPr>
                        <a:t>        Vector2f yawVect = Vector2f(rotMat.a.x,rotMat.b.x);</a:t>
                      </a:r>
                    </a:p>
                    <a:p>
                      <a:pPr algn="l">
                        <a:lnSpc>
                          <a:spcPct val="106000"/>
                        </a:lnSpc>
                        <a:spcAft>
                          <a:spcPts val="0"/>
                        </a:spcAft>
                      </a:pPr>
                      <a:r>
                        <a:rPr sz="1100" b="0">
                          <a:solidFill>
                            <a:srgbClr val="333333"/>
                          </a:solidFill>
                          <a:latin typeface="Fira Code"/>
                        </a:rPr>
                        <a:t>        if (!yawVect.is_zero()) {</a:t>
                      </a:r>
                    </a:p>
                    <a:p>
                      <a:pPr algn="l">
                        <a:lnSpc>
                          <a:spcPct val="106000"/>
                        </a:lnSpc>
                        <a:spcAft>
                          <a:spcPts val="0"/>
                        </a:spcAft>
                      </a:pPr>
                      <a:r>
                        <a:rPr sz="1100" b="0">
                          <a:solidFill>
                            <a:srgbClr val="333333"/>
                          </a:solidFill>
                          <a:latin typeface="Fira Code"/>
                        </a:rPr>
                        <a:t>            yawVect.normalize();</a:t>
                      </a:r>
                    </a:p>
                    <a:p>
                      <a:pPr algn="l">
                        <a:lnSpc>
                          <a:spcPct val="106000"/>
                        </a:lnSpc>
                        <a:spcAft>
                          <a:spcPts val="0"/>
                        </a:spcAft>
                      </a:pPr>
                      <a:r>
                        <a:rPr sz="1100" b="0">
                          <a:solidFill>
                            <a:srgbClr val="333333"/>
                          </a:solidFill>
                          <a:latin typeface="Fira Code"/>
                        </a:rPr>
                        <a:t>            float gndSpdFwd = yawVect * velNED.xy();</a:t>
                      </a:r>
                    </a:p>
                    <a:p>
                      <a:pPr algn="l">
                        <a:lnSpc>
                          <a:spcPct val="106000"/>
                        </a:lnSpc>
                        <a:spcAft>
                          <a:spcPts val="0"/>
                        </a:spcAft>
                      </a:pPr>
                      <a:r>
                        <a:rPr sz="1100" b="0">
                          <a:solidFill>
                            <a:srgbClr val="333333"/>
                          </a:solidFill>
                          <a:latin typeface="Fira Code"/>
                        </a:rPr>
                        <a:t>            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1 — direct callers / callees with typed dependency</a:t>
            </a:r>
          </a:p>
        </p:txBody>
      </p:sp>
      <p:graphicFrame>
        <p:nvGraphicFramePr>
          <p:cNvPr id="7" name="Table 6"/>
          <p:cNvGraphicFramePr>
            <a:graphicFrameLocks noGrp="1"/>
          </p:cNvGraphicFramePr>
          <p:nvPr/>
        </p:nvGraphicFramePr>
        <p:xfrm>
          <a:off x="566928" y="1906943"/>
          <a:ext cx="11058144" cy="39389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variance filters;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ekf_over_threshold();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10 Hz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ahrs.get_variances(); 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ahrs.cos_roll(); ahrs.cos_pitch(); attitude_control-&gt;get_att_error_angle_deg()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ahrs.get_velocity_NED(vel_ned)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plane.control_mode; nav_controller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telemetry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nav_controller-&gt;nav_roll_cd(); update_load_factor()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fast attitude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 (continued)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have_position; next_WP_loc; nav_controller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 10 Hz nav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ahrs.have_inertial_nav(); 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Copter::ekf_over_threshold()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float position_var, vel_var, height_var, tas_variance;</a:t>
                      </a:r>
                    </a:p>
                    <a:p>
                      <a:pPr algn="l">
                        <a:lnSpc>
                          <a:spcPct val="106000"/>
                        </a:lnSpc>
                        <a:spcAft>
                          <a:spcPts val="0"/>
                        </a:spcAft>
                      </a:pPr>
                      <a:r>
                        <a:rPr sz="1100" b="0">
                          <a:solidFill>
                            <a:srgbClr val="333333"/>
                          </a:solidFill>
                          <a:latin typeface="Fira Code"/>
                        </a:rPr>
                        <a:t>Vector3f mag_variance;</a:t>
                      </a:r>
                    </a:p>
                    <a:p>
                      <a:pPr algn="l">
                        <a:lnSpc>
                          <a:spcPct val="106000"/>
                        </a:lnSpc>
                        <a:spcAft>
                          <a:spcPts val="0"/>
                        </a:spcAft>
                      </a:pPr>
                      <a:r>
                        <a:rPr sz="1100" b="0">
                          <a:solidFill>
                            <a:srgbClr val="333333"/>
                          </a:solidFill>
                          <a:latin typeface="Fira Code"/>
                        </a:rPr>
                        <a:t>variances_valid = ahrs.get_variances(vel_var, position_var, height_var, mag_variance, tas_variance);</a:t>
                      </a:r>
                    </a:p>
                    <a:p>
                      <a:pPr algn="l">
                        <a:lnSpc>
                          <a:spcPct val="106000"/>
                        </a:lnSpc>
                        <a:spcAft>
                          <a:spcPts val="0"/>
                        </a:spcAft>
                      </a:pPr>
                      <a:r>
                        <a:rPr sz="1100" b="0">
                          <a:solidFill>
                            <a:srgbClr val="333333"/>
                          </a:solidFill>
                          <a:latin typeface="Fira Code"/>
                        </a:rPr>
                        <a:t>if (!variances_valid)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Plane::ekf_check()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compare compass and velocity variance vs threshold</a:t>
                      </a:r>
                    </a:p>
                    <a:p>
                      <a:pPr algn="l">
                        <a:lnSpc>
                          <a:spcPct val="106000"/>
                        </a:lnSpc>
                        <a:spcAft>
                          <a:spcPts val="0"/>
                        </a:spcAft>
                      </a:pPr>
                      <a:r>
                        <a:rPr sz="1100" b="0">
                          <a:solidFill>
                            <a:srgbClr val="333333"/>
                          </a:solidFill>
                          <a:latin typeface="Fira Code"/>
                        </a:rPr>
                        <a:t>if (ekf_over_threshold()) {</a:t>
                      </a:r>
                    </a:p>
                    <a:p>
                      <a:pPr algn="l">
                        <a:lnSpc>
                          <a:spcPct val="106000"/>
                        </a:lnSpc>
                        <a:spcAft>
                          <a:spcPts val="0"/>
                        </a:spcAft>
                      </a:pPr>
                      <a:r>
                        <a:rPr sz="1100" b="0">
                          <a:solidFill>
                            <a:srgbClr val="333333"/>
                          </a:solidFill>
                          <a:latin typeface="Fira Code"/>
                        </a:rPr>
                        <a:t>// if compass is not yet flagged as bad</a:t>
                      </a:r>
                    </a:p>
                    <a:p>
                      <a:pPr algn="l">
                        <a:lnSpc>
                          <a:spcPct val="106000"/>
                        </a:lnSpc>
                        <a:spcAft>
                          <a:spcPts val="0"/>
                        </a:spcAft>
                      </a:pPr>
                      <a:r>
                        <a:rPr sz="1100" b="0">
                          <a:solidFill>
                            <a:srgbClr val="333333"/>
                          </a:solidFill>
                          <a:latin typeface="Fira Code"/>
                        </a:rPr>
                        <a:t>if (!ekf_check_state.bad_variance) {</a:t>
                      </a:r>
                    </a:p>
                    <a:p>
                      <a:pPr algn="l">
                        <a:lnSpc>
                          <a:spcPct val="106000"/>
                        </a:lnSpc>
                        <a:spcAft>
                          <a:spcPts val="0"/>
                        </a:spcAft>
                      </a:pPr>
                      <a:r>
                        <a:rPr sz="1100" b="0">
                          <a:solidFill>
                            <a:srgbClr val="333333"/>
                          </a:solidFill>
                          <a:latin typeface="Fira Code"/>
                        </a:rPr>
                        <a:t>// increase counter</a:t>
                      </a:r>
                    </a:p>
                    <a:p>
                      <a:pPr algn="l">
                        <a:lnSpc>
                          <a:spcPct val="106000"/>
                        </a:lnSpc>
                        <a:spcAft>
                          <a:spcPts val="0"/>
                        </a:spcAft>
                      </a:pPr>
                      <a:r>
                        <a:rPr sz="1100" b="0">
                          <a:solidFill>
                            <a:srgbClr val="333333"/>
                          </a:solidFill>
                          <a:latin typeface="Fira Code"/>
                        </a:rPr>
                        <a:t>ekf_check_state.fail_count++;</a:t>
                      </a:r>
                    </a:p>
                    <a:p>
                      <a:pPr algn="l">
                        <a:lnSpc>
                          <a:spcPct val="106000"/>
                        </a:lnSpc>
                        <a:spcAft>
                          <a:spcPts val="0"/>
                        </a:spcAft>
                      </a:pPr>
                      <a:r>
                        <a:rPr sz="1100" b="0">
                          <a:solidFill>
                            <a:srgbClr val="333333"/>
                          </a:solidFill>
                          <a:latin typeface="Fira Code"/>
                        </a:rPr>
                        <a:t>if (ekf_check_state.fail_count == (EKF_CHECK_ITERATIONS_MAX-2)) {</a:t>
                      </a:r>
                    </a:p>
                    <a:p>
                      <a:pPr algn="l">
                        <a:lnSpc>
                          <a:spcPct val="106000"/>
                        </a:lnSpc>
                        <a:spcAft>
                          <a:spcPts val="0"/>
                        </a:spcAft>
                      </a:pPr>
                      <a:r>
                        <a:rPr sz="1100" b="0">
                          <a:solidFill>
                            <a:srgbClr val="333333"/>
                          </a:solidFill>
                          <a:latin typeface="Fira Code"/>
                        </a:rPr>
                        <a:t>// we are two iterations away from declaring an EKF failsafe, ask the EKF if we can reset</a:t>
                      </a:r>
                    </a:p>
                    <a:p>
                      <a:pPr algn="l">
                        <a:lnSpc>
                          <a:spcPct val="106000"/>
                        </a:lnSpc>
                        <a:spcAft>
                          <a:spcPts val="0"/>
                        </a:spcAft>
                      </a:pPr>
                      <a:r>
                        <a:rPr sz="1100" b="0">
                          <a:solidFill>
                            <a:srgbClr val="333333"/>
                          </a:solidFill>
                          <a:latin typeface="Fira Code"/>
                        </a:rPr>
                        <a:t>// yaw to resolve the issue</a:t>
                      </a:r>
                    </a:p>
                    <a:p>
                      <a:pPr algn="l">
                        <a:lnSpc>
                          <a:spcPct val="106000"/>
                        </a:lnSpc>
                        <a:spcAft>
                          <a:spcPts val="0"/>
                        </a:spcAft>
                      </a:pPr>
                      <a:r>
                        <a:rPr sz="1100" b="0">
                          <a:solidFill>
                            <a:srgbClr val="333333"/>
                          </a:solidFill>
                          <a:latin typeface="Fira Code"/>
                        </a:rPr>
                        <a:t>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Rover::ekf_over_threshold()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use EKF to get variance</a:t>
                      </a:r>
                    </a:p>
                    <a:p>
                      <a:pPr algn="l">
                        <a:lnSpc>
                          <a:spcPct val="106000"/>
                        </a:lnSpc>
                        <a:spcAft>
                          <a:spcPts val="0"/>
                        </a:spcAft>
                      </a:pPr>
                      <a:r>
                        <a:rPr sz="1100" b="0">
                          <a:solidFill>
                            <a:srgbClr val="333333"/>
                          </a:solidFill>
                          <a:latin typeface="Fira Code"/>
                        </a:rPr>
                        <a:t>float position_variance, vel_variance, height_variance, tas_variance;</a:t>
                      </a:r>
                    </a:p>
                    <a:p>
                      <a:pPr algn="l">
                        <a:lnSpc>
                          <a:spcPct val="106000"/>
                        </a:lnSpc>
                        <a:spcAft>
                          <a:spcPts val="0"/>
                        </a:spcAft>
                      </a:pPr>
                      <a:r>
                        <a:rPr sz="1100" b="0">
                          <a:solidFill>
                            <a:srgbClr val="333333"/>
                          </a:solidFill>
                          <a:latin typeface="Fira Code"/>
                        </a:rPr>
                        <a:t>Vector3f mag_variance;</a:t>
                      </a:r>
                    </a:p>
                    <a:p>
                      <a:pPr algn="l">
                        <a:lnSpc>
                          <a:spcPct val="106000"/>
                        </a:lnSpc>
                        <a:spcAft>
                          <a:spcPts val="0"/>
                        </a:spcAft>
                      </a:pPr>
                      <a:r>
                        <a:rPr sz="1100" b="0">
                          <a:solidFill>
                            <a:srgbClr val="333333"/>
                          </a:solidFill>
                          <a:latin typeface="Fira Code"/>
                        </a:rPr>
                        <a:t>ahrs.get_variances(vel_variance, position_variance, height_variance, mag_variance, tas_variance);</a:t>
                      </a:r>
                    </a:p>
                    <a:p>
                      <a:pPr algn="l">
                        <a:lnSpc>
                          <a:spcPct val="106000"/>
                        </a:lnSpc>
                        <a:spcAft>
                          <a:spcPts val="0"/>
                        </a:spcAft>
                      </a:pPr>
                      <a:r>
                        <a:rPr sz="1100" b="0">
                          <a:solidFill>
                            <a:srgbClr val="333333"/>
                          </a:solidFill>
                          <a:latin typeface="Fira Code"/>
                        </a:rPr>
                        <a:t>// return true if two of compass, velocity and position variances are over the threshold</a:t>
                      </a:r>
                    </a:p>
                    <a:p>
                      <a:pPr algn="l">
                        <a:lnSpc>
                          <a:spcPct val="106000"/>
                        </a:lnSpc>
                        <a:spcAft>
                          <a:spcPts val="0"/>
                        </a:spcAft>
                      </a:pPr>
                      <a:r>
                        <a:rPr sz="1100" b="0">
                          <a:solidFill>
                            <a:srgbClr val="333333"/>
                          </a:solidFill>
                          <a:latin typeface="Fira Code"/>
                        </a:rPr>
                        <a:t>uint8_t over_thresh_count = 0;</a:t>
                      </a:r>
                    </a:p>
                    <a:p>
                      <a:pPr algn="l">
                        <a:lnSpc>
                          <a:spcPct val="106000"/>
                        </a:lnSpc>
                        <a:spcAft>
                          <a:spcPts val="0"/>
                        </a:spcAft>
                      </a:pPr>
                      <a:r>
                        <a:rPr sz="1100" b="0">
                          <a:solidFill>
                            <a:srgbClr val="333333"/>
                          </a:solidFill>
                          <a:latin typeface="Fira Code"/>
                        </a:rPr>
                        <a:t>if (mag_variance.length() &gt;= g.fs_ekf_thresh) {</a:t>
                      </a:r>
                    </a:p>
                    <a:p>
                      <a:pPr algn="l">
                        <a:lnSpc>
                          <a:spcPct val="106000"/>
                        </a:lnSpc>
                        <a:spcAft>
                          <a:spcPts val="0"/>
                        </a:spcAft>
                      </a:pPr>
                      <a:r>
                        <a:rPr sz="1100" b="0">
                          <a:solidFill>
                            <a:srgbClr val="333333"/>
                          </a:solidFill>
                          <a:latin typeface="Fira Code"/>
                        </a:rPr>
                        <a:t>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Sub::failsafe_ekf_check()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Vector3f magVar;</a:t>
                      </a:r>
                    </a:p>
                    <a:p>
                      <a:pPr algn="l">
                        <a:lnSpc>
                          <a:spcPct val="106000"/>
                        </a:lnSpc>
                        <a:spcAft>
                          <a:spcPts val="0"/>
                        </a:spcAft>
                      </a:pPr>
                      <a:r>
                        <a:rPr sz="1100" b="0">
                          <a:solidFill>
                            <a:srgbClr val="333333"/>
                          </a:solidFill>
                          <a:latin typeface="Fira Code"/>
                        </a:rPr>
                        <a:t>float compass_variance;</a:t>
                      </a:r>
                    </a:p>
                    <a:p>
                      <a:pPr algn="l">
                        <a:lnSpc>
                          <a:spcPct val="106000"/>
                        </a:lnSpc>
                        <a:spcAft>
                          <a:spcPts val="0"/>
                        </a:spcAft>
                      </a:pPr>
                      <a:r>
                        <a:rPr sz="1100" b="0">
                          <a:solidFill>
                            <a:srgbClr val="333333"/>
                          </a:solidFill>
                          <a:latin typeface="Fira Code"/>
                        </a:rPr>
                        <a:t>float vel_variance;</a:t>
                      </a:r>
                    </a:p>
                    <a:p>
                      <a:pPr algn="l">
                        <a:lnSpc>
                          <a:spcPct val="106000"/>
                        </a:lnSpc>
                        <a:spcAft>
                          <a:spcPts val="0"/>
                        </a:spcAft>
                      </a:pPr>
                      <a:r>
                        <a:rPr sz="1100" b="0">
                          <a:solidFill>
                            <a:srgbClr val="333333"/>
                          </a:solidFill>
                          <a:latin typeface="Fira Code"/>
                        </a:rPr>
                        <a:t>ahrs.get_variances(vel_variance, posVar, hgtVar, magVar, tasVar);</a:t>
                      </a:r>
                    </a:p>
                    <a:p>
                      <a:pPr algn="l">
                        <a:lnSpc>
                          <a:spcPct val="106000"/>
                        </a:lnSpc>
                        <a:spcAft>
                          <a:spcPts val="0"/>
                        </a:spcAft>
                      </a:pPr>
                      <a:r>
                        <a:rPr sz="1100" b="0">
                          <a:solidFill>
                            <a:srgbClr val="333333"/>
                          </a:solidFill>
                          <a:latin typeface="Fira Code"/>
                        </a:rPr>
                        <a:t>compass_variance = magVar.length();</a:t>
                      </a:r>
                    </a:p>
                    <a:p>
                      <a:pPr algn="l">
                        <a:lnSpc>
                          <a:spcPct val="106000"/>
                        </a:lnSpc>
                        <a:spcAft>
                          <a:spcPts val="0"/>
                        </a:spcAft>
                      </a:pPr>
                      <a:r>
                        <a:rPr sz="1100" b="0">
                          <a:solidFill>
                            <a:srgbClr val="333333"/>
                          </a:solidFill>
                          <a:latin typeface="Fira Code"/>
                        </a:rPr>
                        <a:t>if (compass_variance &lt; g.fs_ekf_thresh &amp;&amp; vel_variance &lt; g.fs_ekf_thresh) {</a:t>
                      </a:r>
                    </a:p>
                    <a:p>
                      <a:pPr algn="l">
                        <a:lnSpc>
                          <a:spcPct val="106000"/>
                        </a:lnSpc>
                        <a:spcAft>
                          <a:spcPts val="0"/>
                        </a:spcAft>
                      </a:pPr>
                      <a:r>
                        <a:rPr sz="1100" b="0">
                          <a:solidFill>
                            <a:srgbClr val="333333"/>
                          </a:solidFill>
                          <a:latin typeface="Fira Code"/>
                        </a:rPr>
                        <a:t>last_ekf_good_ms = AP_HAL::millis();</a:t>
                      </a:r>
                    </a:p>
                    <a:p>
                      <a:pPr algn="l">
                        <a:lnSpc>
                          <a:spcPct val="106000"/>
                        </a:lnSpc>
                        <a:spcAft>
                          <a:spcPts val="0"/>
                        </a:spcAft>
                      </a:pPr>
                      <a:r>
                        <a:rPr sz="1100" b="0">
                          <a:solidFill>
                            <a:srgbClr val="333333"/>
                          </a:solidFill>
                          <a:latin typeface="Fira Code"/>
                        </a:rPr>
                        <a:t>failsafe.ekf = false;</a:t>
                      </a:r>
                    </a:p>
                    <a:p>
                      <a:pPr algn="l">
                        <a:lnSpc>
                          <a:spcPct val="106000"/>
                        </a:lnSpc>
                        <a:spcAft>
                          <a:spcPts val="0"/>
                        </a:spcAft>
                      </a:pPr>
                      <a:r>
                        <a:rPr sz="1100" b="0">
                          <a:solidFill>
                            <a:srgbClr val="333333"/>
                          </a:solidFill>
                          <a:latin typeface="Fira Code"/>
                        </a:rPr>
                        <a:t>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Copter::crash_check() (attitude)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lean angle over 15 degrees</a:t>
                      </a:r>
                    </a:p>
                    <a:p>
                      <a:pPr algn="l">
                        <a:lnSpc>
                          <a:spcPct val="106000"/>
                        </a:lnSpc>
                        <a:spcAft>
                          <a:spcPts val="0"/>
                        </a:spcAft>
                      </a:pPr>
                      <a:r>
                        <a:rPr sz="1100" b="0">
                          <a:solidFill>
                            <a:srgbClr val="333333"/>
                          </a:solidFill>
                          <a:latin typeface="Fira Code"/>
                        </a:rPr>
                        <a:t>const float lean_angle_deg = degrees(acosf(ahrs.cos_roll()*ahrs.cos_pitch()));</a:t>
                      </a:r>
                    </a:p>
                    <a:p>
                      <a:pPr algn="l">
                        <a:lnSpc>
                          <a:spcPct val="106000"/>
                        </a:lnSpc>
                        <a:spcAft>
                          <a:spcPts val="0"/>
                        </a:spcAft>
                      </a:pPr>
                      <a:r>
                        <a:rPr sz="1100" b="0">
                          <a:solidFill>
                            <a:srgbClr val="333333"/>
                          </a:solidFill>
                          <a:latin typeface="Fira Code"/>
                        </a:rPr>
                        <a:t>if (lean_angle_deg &lt;= CRASH_CHECK_ANGLE_MIN_DEG) {</a:t>
                      </a:r>
                    </a:p>
                    <a:p>
                      <a:pPr algn="l">
                        <a:lnSpc>
                          <a:spcPct val="106000"/>
                        </a:lnSpc>
                        <a:spcAft>
                          <a:spcPts val="0"/>
                        </a:spcAft>
                      </a:pPr>
                      <a:r>
                        <a:rPr sz="1100" b="0">
                          <a:solidFill>
                            <a:srgbClr val="333333"/>
                          </a:solidFill>
                          <a:latin typeface="Fira Code"/>
                        </a:rPr>
                        <a:t>crash_counter = 0;</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angle error over 30 degrees</a:t>
                      </a:r>
                    </a:p>
                    <a:p>
                      <a:pPr algn="l">
                        <a:lnSpc>
                          <a:spcPct val="106000"/>
                        </a:lnSpc>
                        <a:spcAft>
                          <a:spcPts val="0"/>
                        </a:spcAft>
                      </a:pPr>
                      <a:r>
                        <a:rPr sz="1100" b="0">
                          <a:solidFill>
                            <a:srgbClr val="333333"/>
                          </a:solidFill>
                          <a:latin typeface="Fira Code"/>
                        </a:rPr>
                        <a:t>const float angle_error = attitude_control-&gt;get_att_error_angle_deg();</a:t>
                      </a:r>
                    </a:p>
                    <a:p>
                      <a:pPr algn="l">
                        <a:lnSpc>
                          <a:spcPct val="106000"/>
                        </a:lnSpc>
                        <a:spcAft>
                          <a:spcPts val="0"/>
                        </a:spcAft>
                      </a:pPr>
                      <a:r>
                        <a:rPr sz="1100" b="0">
                          <a:solidFill>
                            <a:srgbClr val="333333"/>
                          </a:solidFill>
                          <a:latin typeface="Fira Code"/>
                        </a:rPr>
                        <a:t>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Copter::crash_check() (velocity)</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speed under 10m/s (if available)</a:t>
                      </a:r>
                    </a:p>
                    <a:p>
                      <a:pPr algn="l">
                        <a:lnSpc>
                          <a:spcPct val="106000"/>
                        </a:lnSpc>
                        <a:spcAft>
                          <a:spcPts val="0"/>
                        </a:spcAft>
                      </a:pPr>
                      <a:r>
                        <a:rPr sz="1100" b="0">
                          <a:solidFill>
                            <a:srgbClr val="333333"/>
                          </a:solidFill>
                          <a:latin typeface="Fira Code"/>
                        </a:rPr>
                        <a:t>Vector3f vel_ned;</a:t>
                      </a:r>
                    </a:p>
                    <a:p>
                      <a:pPr algn="l">
                        <a:lnSpc>
                          <a:spcPct val="106000"/>
                        </a:lnSpc>
                        <a:spcAft>
                          <a:spcPts val="0"/>
                        </a:spcAft>
                      </a:pPr>
                      <a:r>
                        <a:rPr sz="1100" b="0">
                          <a:solidFill>
                            <a:srgbClr val="333333"/>
                          </a:solidFill>
                          <a:latin typeface="Fira Code"/>
                        </a:rPr>
                        <a:t>if (ahrs.get_velocity_NED(vel_ned) &amp;&amp; (vel_ned.length() &gt;= CRASH_CHECK_SPEED_MAX)) {</a:t>
                      </a:r>
                    </a:p>
                    <a:p>
                      <a:pPr algn="l">
                        <a:lnSpc>
                          <a:spcPct val="106000"/>
                        </a:lnSpc>
                        <a:spcAft>
                          <a:spcPts val="0"/>
                        </a:spcAft>
                      </a:pPr>
                      <a:r>
                        <a:rPr sz="1100" b="0">
                          <a:solidFill>
                            <a:srgbClr val="333333"/>
                          </a:solidFill>
                          <a:latin typeface="Fira Code"/>
                        </a:rPr>
                        <a:t>crash_counter = 0;</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GCS_MAVLINK_Plane::send_nav_controller_output()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GCS_MAVLINK_Plane::send_nav_controller_output()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(plane.control_mode == &amp;plane.mode_manual)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HAL_QUADPLANE_ENABLED</a:t>
                      </a:r>
                    </a:p>
                    <a:p>
                      <a:pPr algn="l">
                        <a:lnSpc>
                          <a:spcPct val="106000"/>
                        </a:lnSpc>
                        <a:spcAft>
                          <a:spcPts val="0"/>
                        </a:spcAft>
                      </a:pPr>
                      <a:r>
                        <a:rPr sz="1100" b="0">
                          <a:solidFill>
                            <a:srgbClr val="333333"/>
                          </a:solidFill>
                          <a:latin typeface="Fira Code"/>
                        </a:rPr>
                        <a:t>const QuadPlane &amp;quadplane = plane.quadplane;</a:t>
                      </a:r>
                    </a:p>
                    <a:p>
                      <a:pPr algn="l">
                        <a:lnSpc>
                          <a:spcPct val="106000"/>
                        </a:lnSpc>
                        <a:spcAft>
                          <a:spcPts val="0"/>
                        </a:spcAft>
                      </a:pPr>
                      <a:r>
                        <a:rPr sz="1100" b="0">
                          <a:solidFill>
                            <a:srgbClr val="333333"/>
                          </a:solidFill>
                          <a:latin typeface="Fira Code"/>
                        </a:rPr>
                        <a:t>if (quadplane.show_vtol_view() &amp;&amp; quadplane.using_wp_nav()) {</a:t>
                      </a:r>
                    </a:p>
                    <a:p>
                      <a:pPr algn="l">
                        <a:lnSpc>
                          <a:spcPct val="106000"/>
                        </a:lnSpc>
                        <a:spcAft>
                          <a:spcPts val="0"/>
                        </a:spcAft>
                      </a:pPr>
                      <a:r>
                        <a:rPr sz="1100" b="0">
                          <a:solidFill>
                            <a:srgbClr val="333333"/>
                          </a:solidFill>
                          <a:latin typeface="Fira Code"/>
                        </a:rPr>
                        <a:t>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Plane::calc_nav_roll()</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calculate a new nav_roll_cd from the navigation controller</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void Plane::calc_nav_roll()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int32_t commanded_roll = nav_controller-&gt;nav_roll_cd();</a:t>
                      </a:r>
                    </a:p>
                    <a:p>
                      <a:pPr algn="l">
                        <a:lnSpc>
                          <a:spcPct val="106000"/>
                        </a:lnSpc>
                        <a:spcAft>
                          <a:spcPts val="0"/>
                        </a:spcAft>
                      </a:pPr>
                      <a:r>
                        <a:rPr sz="1100" b="0">
                          <a:solidFill>
                            <a:srgbClr val="333333"/>
                          </a:solidFill>
                          <a:latin typeface="Fira Code"/>
                        </a:rPr>
                        <a:t>nav_roll_cd = constrain_int32(commanded_roll, -roll_limit_cd,</a:t>
                      </a:r>
                    </a:p>
                    <a:p>
                      <a:pPr algn="l">
                        <a:lnSpc>
                          <a:spcPct val="106000"/>
                        </a:lnSpc>
                        <a:spcAft>
                          <a:spcPts val="0"/>
                        </a:spcAft>
                      </a:pPr>
                      <a:r>
                        <a:rPr sz="1100" b="0">
                          <a:solidFill>
                            <a:srgbClr val="333333"/>
                          </a:solidFill>
                          <a:latin typeface="Fira Code"/>
                        </a:rPr>
                        <a:t>roll_limit_cd);</a:t>
                      </a:r>
                    </a:p>
                    <a:p>
                      <a:pPr algn="l">
                        <a:lnSpc>
                          <a:spcPct val="106000"/>
                        </a:lnSpc>
                        <a:spcAft>
                          <a:spcPts val="0"/>
                        </a:spcAft>
                      </a:pPr>
                      <a:r>
                        <a:rPr sz="1100" b="0">
                          <a:solidFill>
                            <a:srgbClr val="333333"/>
                          </a:solidFill>
                          <a:latin typeface="Fira Code"/>
                        </a:rPr>
                        <a:t>update_load_factor();</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Plane::navigate()</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void Plane::navigate()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do not navigate with corrupt data</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if (!have_position)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Plane::calc_gndspeed_undershoot()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Vector3f velNED;</a:t>
                      </a:r>
                    </a:p>
                    <a:p>
                      <a:pPr algn="l">
                        <a:lnSpc>
                          <a:spcPct val="106000"/>
                        </a:lnSpc>
                        <a:spcAft>
                          <a:spcPts val="0"/>
                        </a:spcAft>
                      </a:pPr>
                      <a:r>
                        <a:rPr sz="1100" b="0">
                          <a:solidFill>
                            <a:srgbClr val="333333"/>
                          </a:solidFill>
                          <a:latin typeface="Fira Code"/>
                        </a:rPr>
                        <a:t>if (ahrs.have_inertial_nav() &amp;&amp; ahrs.get_velocity_NED(velNED))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Matrix3f &amp;rotMat = ahrs.get_rotation_body_to_ned();</a:t>
                      </a:r>
                    </a:p>
                    <a:p>
                      <a:pPr algn="l">
                        <a:lnSpc>
                          <a:spcPct val="106000"/>
                        </a:lnSpc>
                        <a:spcAft>
                          <a:spcPts val="0"/>
                        </a:spcAft>
                      </a:pPr>
                      <a:r>
                        <a:rPr sz="1100" b="0">
                          <a:solidFill>
                            <a:srgbClr val="333333"/>
                          </a:solidFill>
                          <a:latin typeface="Fira Code"/>
                        </a:rPr>
                        <a:t>Vector2f yawVect = Vector2f(rotMat.a.x,rotMat.b.x);</a:t>
                      </a:r>
                    </a:p>
                    <a:p>
                      <a:pPr algn="l">
                        <a:lnSpc>
                          <a:spcPct val="106000"/>
                        </a:lnSpc>
                        <a:spcAft>
                          <a:spcPts val="0"/>
                        </a:spcAft>
                      </a:pPr>
                      <a:r>
                        <a:rPr sz="1100" b="0">
                          <a:solidFill>
                            <a:srgbClr val="333333"/>
                          </a:solidFill>
                          <a:latin typeface="Fira Code"/>
                        </a:rPr>
                        <a:t>if (!yawVect.is_zero()) {</a:t>
                      </a:r>
                    </a:p>
                    <a:p>
                      <a:pPr algn="l">
                        <a:lnSpc>
                          <a:spcPct val="106000"/>
                        </a:lnSpc>
                        <a:spcAft>
                          <a:spcPts val="0"/>
                        </a:spcAft>
                      </a:pPr>
                      <a:r>
                        <a:rPr sz="1100" b="0">
                          <a:solidFill>
                            <a:srgbClr val="333333"/>
                          </a:solidFill>
                          <a:latin typeface="Fira Code"/>
                        </a:rPr>
                        <a:t>yawVect.normalize();</a:t>
                      </a:r>
                    </a:p>
                    <a:p>
                      <a:pPr algn="l">
                        <a:lnSpc>
                          <a:spcPct val="106000"/>
                        </a:lnSpc>
                        <a:spcAft>
                          <a:spcPts val="0"/>
                        </a:spcAft>
                      </a:pPr>
                      <a:r>
                        <a:rPr sz="1100" b="0">
                          <a:solidFill>
                            <a:srgbClr val="333333"/>
                          </a:solidFill>
                          <a:latin typeface="Fira Code"/>
                        </a:rPr>
                        <a:t>float gndSpdFwd = yawVect * velNED.xy();</a:t>
                      </a:r>
                    </a:p>
                    <a:p>
                      <a:pPr algn="l">
                        <a:lnSpc>
                          <a:spcPct val="106000"/>
                        </a:lnSpc>
                        <a:spcAft>
                          <a:spcPts val="0"/>
                        </a:spcAft>
                      </a:pPr>
                      <a:r>
                        <a:rPr sz="1100" b="0">
                          <a:solidFill>
                            <a:srgbClr val="333333"/>
                          </a:solidFill>
                          <a:latin typeface="Fira Code"/>
                        </a:rPr>
                        <a:t>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2 — full transitive chain, final consumer &amp; hop depth</a:t>
            </a:r>
          </a:p>
        </p:txBody>
      </p:sp>
      <p:graphicFrame>
        <p:nvGraphicFramePr>
          <p:cNvPr id="7" name="Table 6"/>
          <p:cNvGraphicFramePr>
            <a:graphicFrameLocks noGrp="1"/>
          </p:cNvGraphicFramePr>
          <p:nvPr/>
        </p:nvGraphicFramePr>
        <p:xfrm>
          <a:off x="566928" y="1906943"/>
          <a:ext cx="11058144" cy="375139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AP_GPS/EKF → ahrs.get_variances() → ekf_over_threshold() → Copter::ekf_check fail_count → failsafe_ekf_event() → LAND/AltHold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Plane::ekf_check → bad_variance → EKF failsafe → mode change (RTL/FBWA)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 Rover::ekf_over_threshold → Rover::ekf_check →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Sub::failsafe_ekf_check → failsafe.ekf flag → GCS warn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attitude → crash_check attitude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Attitude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78635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 (continued)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NED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velocity → ahrs.get_velocity_NED() → crash_check speed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branch (F3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Navigation 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EKF/nav state → nav_controller → send_nav_controller_output → MAVLink →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Navigation controller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nav_controller (L1/EKF) → nav_roll_cd() → calc_nav_roll → nav_roll_cd → attitude controller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Roll-demand consumption.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 have_position → Plane::navigate → nav_controller-&gt;update_waypoint → 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Real symbol behind user-example chain (Table 2a L2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(inertial-nav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 Plane::calc_gndspeed_undershoot() [ArduPlane/navigation.cpp:305] →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Plane::update_GPS_10Hz() (groundspeed-undershoot nav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ahrs.have_inertial_nav() observation gating nav groundspeed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6 — Indirect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Timing read as a permission: main-loop lockup watchdogs and the rate gates around them.</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11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has not advanced since the last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 (timing / loop-cadence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When ticks stall and tnow-failsafe_last_timestamp &gt; 2,000,000 us (2 s) sets in_failsafe, drives motors-&gt;output_min(), then disarms every 1 s (CPU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3323612"/>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 (main loop stalled)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sets in_failsafe and passes RC inputs straight to servo outputs (SRV_Channels) every 20 ms instead of disarming.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Divergent: 0.2 s trip + RC-passthrough (vs Copter 2 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calls arming.disarm(AP_Arming:: Method::CPUFAILSAFE).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31-39</a:t>
                      </a:r>
                    </a:p>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4452323"/>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Blimp/failsafe.cpp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Blimp included only because it observes scheduler timing state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84-88</a:t>
                      </a:r>
                    </a:p>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GCS_SEVERITY_CRITICAL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5 #1 ekf_check]. 30 s warn-throttle copied in 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78-82</a:t>
                      </a:r>
                    </a:p>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mirrors ArduCopter/ekf_check.cpp:84-88.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125-130</a:t>
                      </a:r>
                    </a:p>
                    <a:p>
                      <a:pPr algn="l">
                        <a:lnSpc>
                          <a:spcPct val="106000"/>
                        </a:lnSpc>
                        <a:spcAft>
                          <a:spcPts val="0"/>
                        </a:spcAft>
                      </a:pPr>
                      <a:r>
                        <a:rPr sz="1100" b="0">
                          <a:solidFill>
                            <a:srgbClr val="333333"/>
                          </a:solidFill>
                          <a:latin typeface="Fira Code"/>
                        </a:rPr>
                        <a:t>Sub::failsafe_ekf_check() — 2 s confirm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bad but not yet bad for a full 2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vs last_ekf_good_ms + 2000 (2 s clock-based confirmation window)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Suppresses the EKF failsafe (clears failsafe.ekf / ekf_bad and returns) until the EKF has been bad for 2 solid seconds, then trips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#4]. Divergent hysteresis: Sub uses a clock-based 2 s window + 20 s GCS warn-throttle (L141), whereas Copter/Plane use a count-based EKF_CHECK_ITERATIONS_MAX (≈1 s) + 30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125-132</a:t>
                      </a:r>
                    </a:p>
                    <a:p>
                      <a:pPr algn="l">
                        <a:lnSpc>
                          <a:spcPct val="106000"/>
                        </a:lnSpc>
                        <a:spcAft>
                          <a:spcPts val="0"/>
                        </a:spcAft>
                      </a:pPr>
                      <a:r>
                        <a:rPr sz="1100" b="0">
                          <a:solidFill>
                            <a:srgbClr val="333333"/>
                          </a:solidFill>
                          <a:latin typeface="Fira Code"/>
                        </a:rPr>
                        <a:t>Copter::ekf_over_threshold() — dt filtering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ekf_over_threshold() evaluation (nominally the 10 Hz ekf_check cadence)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delta → dt = (now_us - last_ekf_check_us) * 1e-6 (actual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Applies the measured dt to the position/velocity variance low-pass filters (pos_variance_filt / vel_variance_filt); the effective filter cutoff tracks the real scheduler call interval rather than a fixed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#1]. EKF check-rate &lt;-&gt; scheduler coupling (AAP 0.5.5): filter behaviour depends on scheduler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267533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8-16</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40U) (40 ms / 25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early until 40 ms have elapsed, throttling the geofence breach check to 25 Hz; the position-vs-fence observation itself is 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#3] — timing side of the same function (F1). vs Rover/fence.cpp (divergent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11</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6-14</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100U) (100 ms / 10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until 100 ms have elapsed, throttling the geofence breach check to 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#9]. vs ArduCopter/fence.cpp:8-16 — divergent rate (40U/25 Hz vs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ArduCopter/failsafe.cpp</a:t>
                      </a:r>
                      <a:r>
                        <a:rPr sz="1100" b="0">
                          <a:solidFill>
                            <a:srgbClr val="999999"/>
                          </a:solidFill>
                          <a:latin typeface="Fira Code"/>
                        </a:rPr>
                        <a:t>  ·  </a:t>
                      </a:r>
                      <a:r>
                        <a:rPr sz="1100" b="0">
                          <a:solidFill>
                            <a:srgbClr val="999999"/>
                          </a:solidFill>
                          <a:latin typeface="Fira Code"/>
                        </a:rPr>
                        <a:t>37-45</a:t>
                      </a:r>
                      <a:r>
                        <a:rPr sz="1100" b="0">
                          <a:solidFill>
                            <a:srgbClr val="999999"/>
                          </a:solidFill>
                          <a:latin typeface="Fira Code"/>
                        </a:rPr>
                        <a:t>  ·  </a:t>
                      </a:r>
                      <a:r>
                        <a:rPr sz="1100" b="0">
                          <a:solidFill>
                            <a:srgbClr val="999999"/>
                          </a:solidFill>
                          <a:latin typeface="Fira Code"/>
                        </a:rPr>
                        <a:t>Copter::failsafe_check()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ArduPlane/failsafe.cpp</a:t>
                      </a:r>
                      <a:r>
                        <a:rPr sz="1100" b="0">
                          <a:solidFill>
                            <a:srgbClr val="999999"/>
                          </a:solidFill>
                          <a:latin typeface="Fira Code"/>
                        </a:rPr>
                        <a:t>  ·  </a:t>
                      </a:r>
                      <a:r>
                        <a:rPr sz="1100" b="0">
                          <a:solidFill>
                            <a:srgbClr val="999999"/>
                          </a:solidFill>
                          <a:latin typeface="Fira Code"/>
                        </a:rPr>
                        <a:t>22-30</a:t>
                      </a:r>
                      <a:r>
                        <a:rPr sz="1100" b="0">
                          <a:solidFill>
                            <a:srgbClr val="999999"/>
                          </a:solidFill>
                          <a:latin typeface="Fira Code"/>
                        </a:rPr>
                        <a:t>  ·  </a:t>
                      </a:r>
                      <a:r>
                        <a:rPr sz="1100" b="0">
                          <a:solidFill>
                            <a:srgbClr val="999999"/>
                          </a:solidFill>
                          <a:latin typeface="Fira Code"/>
                        </a:rPr>
                        <a:t>Plane::failsafe_check()</a:t>
                      </a:r>
                    </a:p>
                    <a:p>
                      <a:pPr algn="l">
                        <a:lnSpc>
                          <a:spcPct val="106000"/>
                        </a:lnSpc>
                        <a:spcAft>
                          <a:spcPts val="0"/>
                        </a:spcAft>
                      </a:pPr>
                      <a:r>
                        <a:rPr sz="1100" b="0">
                          <a:solidFill>
                            <a:srgbClr val="333333"/>
                          </a:solidFill>
                          <a:latin typeface="Fira Code"/>
                        </a:rPr>
                        <a:t>    uint32_t tnow = 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last_ticks = ticks;</a:t>
                      </a:r>
                    </a:p>
                    <a:p>
                      <a:pPr algn="l">
                        <a:lnSpc>
                          <a:spcPct val="106000"/>
                        </a:lnSpc>
                        <a:spcAft>
                          <a:spcPts val="0"/>
                        </a:spcAft>
                      </a:pPr>
                      <a:r>
                        <a:rPr sz="1100" b="0">
                          <a:solidFill>
                            <a:srgbClr val="333333"/>
                          </a:solidFill>
                          <a:latin typeface="Fira Code"/>
                        </a:rPr>
                        <a:t>        last_timestamp = tnow;</a:t>
                      </a:r>
                    </a:p>
                    <a:p>
                      <a:pPr algn="l">
                        <a:lnSpc>
                          <a:spcPct val="106000"/>
                        </a:lnSpc>
                        <a:spcAft>
                          <a:spcPts val="0"/>
                        </a:spcAft>
                      </a:pPr>
                      <a:r>
                        <a:rPr sz="1100" b="0">
                          <a:solidFill>
                            <a:srgbClr val="333333"/>
                          </a:solidFill>
                          <a:latin typeface="Fira Code"/>
                        </a:rPr>
                        <a:t>        in_failsafe = false;</a:t>
                      </a:r>
                    </a:p>
                    <a:p>
                      <a:pPr algn="l">
                        <a:lnSpc>
                          <a:spcPct val="106000"/>
                        </a:lnSpc>
                        <a:spcAft>
                          <a:spcPts val="0"/>
                        </a:spcAft>
                      </a:pPr>
                      <a:r>
                        <a:rPr sz="1100" b="0">
                          <a:solidFill>
                            <a:srgbClr val="333333"/>
                          </a:solidFill>
                          <a:latin typeface="Fira Code"/>
                        </a:rPr>
                        <a:t>        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Rover/failsafe.cpp</a:t>
                      </a:r>
                      <a:r>
                        <a:rPr sz="1100" b="0">
                          <a:solidFill>
                            <a:srgbClr val="999999"/>
                          </a:solidFill>
                          <a:latin typeface="Fira Code"/>
                        </a:rPr>
                        <a:t>  ·  </a:t>
                      </a:r>
                      <a:r>
                        <a:rPr sz="1100" b="0">
                          <a:solidFill>
                            <a:srgbClr val="999999"/>
                          </a:solidFill>
                          <a:latin typeface="Fira Code"/>
                        </a:rPr>
                        <a:t>22-30</a:t>
                      </a:r>
                      <a:r>
                        <a:rPr sz="1100" b="0">
                          <a:solidFill>
                            <a:srgbClr val="999999"/>
                          </a:solidFill>
                          <a:latin typeface="Fira Code"/>
                        </a:rPr>
                        <a:t>  ·  </a:t>
                      </a:r>
                      <a:r>
                        <a:rPr sz="1100" b="0">
                          <a:solidFill>
                            <a:srgbClr val="999999"/>
                          </a:solidFill>
                          <a:latin typeface="Fira Code"/>
                        </a:rPr>
                        <a:t>Rover::failsafe_check()</a:t>
                      </a:r>
                    </a:p>
                    <a:p>
                      <a:pPr algn="l">
                        <a:lnSpc>
                          <a:spcPct val="106000"/>
                        </a:lnSpc>
                        <a:spcAft>
                          <a:spcPts val="0"/>
                        </a:spcAft>
                      </a:pPr>
                      <a:r>
                        <a:rPr sz="1100" b="0">
                          <a:solidFill>
                            <a:srgbClr val="333333"/>
                          </a:solidFill>
                          <a:latin typeface="Fira Code"/>
                        </a:rPr>
                        <a:t>    const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last_ticks = ticks;</a:t>
                      </a:r>
                    </a:p>
                    <a:p>
                      <a:pPr algn="l">
                        <a:lnSpc>
                          <a:spcPct val="106000"/>
                        </a:lnSpc>
                        <a:spcAft>
                          <a:spcPts val="0"/>
                        </a:spcAft>
                      </a:pPr>
                      <a:r>
                        <a:rPr sz="1100" b="0">
                          <a:solidFill>
                            <a:srgbClr val="333333"/>
                          </a:solidFill>
                          <a:latin typeface="Fira Code"/>
                        </a:rPr>
                        <a:t>        last_timestamp = tnow;</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31-39</a:t>
                      </a:r>
                      <a:r>
                        <a:rPr sz="1100" b="0">
                          <a:solidFill>
                            <a:srgbClr val="999999"/>
                          </a:solidFill>
                          <a:latin typeface="Fira Code"/>
                        </a:rPr>
                        <a:t>  ·  </a:t>
                      </a:r>
                      <a:r>
                        <a:rPr sz="1100" b="0">
                          <a:solidFill>
                            <a:srgbClr val="999999"/>
                          </a:solidFill>
                          <a:latin typeface="Fira Code"/>
                        </a:rPr>
                        <a:t>Sub::mainloop_failsafe_check()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Blimp/failsafe.cpp</a:t>
                      </a:r>
                      <a:r>
                        <a:rPr sz="1100" b="0">
                          <a:solidFill>
                            <a:srgbClr val="999999"/>
                          </a:solidFill>
                          <a:latin typeface="Fira Code"/>
                        </a:rPr>
                        <a:t>  ·  </a:t>
                      </a:r>
                      <a:r>
                        <a:rPr sz="1100" b="0">
                          <a:solidFill>
                            <a:srgbClr val="999999"/>
                          </a:solidFill>
                          <a:latin typeface="Fira Code"/>
                        </a:rPr>
                        <a:t>37-45</a:t>
                      </a:r>
                      <a:r>
                        <a:rPr sz="1100" b="0">
                          <a:solidFill>
                            <a:srgbClr val="999999"/>
                          </a:solidFill>
                          <a:latin typeface="Fira Code"/>
                        </a:rPr>
                        <a:t>  ·  </a:t>
                      </a:r>
                      <a:r>
                        <a:rPr sz="1100" b="0">
                          <a:solidFill>
                            <a:srgbClr val="999999"/>
                          </a:solidFill>
                          <a:latin typeface="Fira Code"/>
                        </a:rPr>
                        <a:t>Blimp::failsafe_check()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8132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84-88</a:t>
                      </a:r>
                      <a:r>
                        <a:rPr sz="1100" b="0">
                          <a:solidFill>
                            <a:srgbClr val="999999"/>
                          </a:solidFill>
                          <a:latin typeface="Fira Code"/>
                        </a:rPr>
                        <a:t>  ·  </a:t>
                      </a:r>
                      <a:r>
                        <a:rPr sz="1100" b="0">
                          <a:solidFill>
                            <a:srgbClr val="999999"/>
                          </a:solidFill>
                          <a:latin typeface="Fira Code"/>
                        </a:rPr>
                        <a:t>Copter::ekf_check() — GCS warn throttle</a:t>
                      </a:r>
                    </a:p>
                    <a:p>
                      <a:pPr algn="l">
                        <a:lnSpc>
                          <a:spcPct val="106000"/>
                        </a:lnSpc>
                        <a:spcAft>
                          <a:spcPts val="0"/>
                        </a:spcAft>
                      </a:pPr>
                      <a:r>
                        <a:rPr sz="1100" b="0">
                          <a:solidFill>
                            <a:srgbClr val="333333"/>
                          </a:solidFill>
                          <a:latin typeface="Fira Code"/>
                        </a:rPr>
                        <a:t>                // send message to gcs</a:t>
                      </a:r>
                    </a:p>
                    <a:p>
                      <a:pPr algn="l">
                        <a:lnSpc>
                          <a:spcPct val="106000"/>
                        </a:lnSpc>
                        <a:spcAft>
                          <a:spcPts val="0"/>
                        </a:spcAft>
                      </a:pPr>
                      <a:r>
                        <a:rPr sz="1100" b="0">
                          <a:solidFill>
                            <a:srgbClr val="333333"/>
                          </a:solidFill>
                          <a:latin typeface="Fira Code"/>
                        </a:rPr>
                        <a:t>                if ((AP_HAL::millis() - ekf_check_state.last_warn_time) &gt; EKF_CHECK_WARNING_TIME) {</a:t>
                      </a:r>
                    </a:p>
                    <a:p>
                      <a:pPr algn="l">
                        <a:lnSpc>
                          <a:spcPct val="106000"/>
                        </a:lnSpc>
                        <a:spcAft>
                          <a:spcPts val="0"/>
                        </a:spcAft>
                      </a:pPr>
                      <a:r>
                        <a:rPr sz="1100" b="0">
                          <a:solidFill>
                            <a:srgbClr val="333333"/>
                          </a:solidFill>
                          <a:latin typeface="Fira Code"/>
                        </a:rPr>
                        <a:t>                    gcs().send_text(MAV_SEVERITY_CRITICAL,"EKF variance");</a:t>
                      </a:r>
                    </a:p>
                    <a:p>
                      <a:pPr algn="l">
                        <a:lnSpc>
                          <a:spcPct val="106000"/>
                        </a:lnSpc>
                        <a:spcAft>
                          <a:spcPts val="0"/>
                        </a:spcAft>
                      </a:pPr>
                      <a:r>
                        <a:rPr sz="1100" b="0">
                          <a:solidFill>
                            <a:srgbClr val="333333"/>
                          </a:solidFill>
                          <a:latin typeface="Fira Code"/>
                        </a:rPr>
                        <a:t>                    ekf_check_state.last_warn_time = AP_HAL::millis();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ArduPlane/ekf_check.cpp</a:t>
                      </a:r>
                      <a:r>
                        <a:rPr sz="1100" b="0">
                          <a:solidFill>
                            <a:srgbClr val="999999"/>
                          </a:solidFill>
                          <a:latin typeface="Fira Code"/>
                        </a:rPr>
                        <a:t>  ·  </a:t>
                      </a:r>
                      <a:r>
                        <a:rPr sz="1100" b="0">
                          <a:solidFill>
                            <a:srgbClr val="999999"/>
                          </a:solidFill>
                          <a:latin typeface="Fira Code"/>
                        </a:rPr>
                        <a:t>78-82</a:t>
                      </a:r>
                      <a:r>
                        <a:rPr sz="1100" b="0">
                          <a:solidFill>
                            <a:srgbClr val="999999"/>
                          </a:solidFill>
                          <a:latin typeface="Fira Code"/>
                        </a:rPr>
                        <a:t>  ·  </a:t>
                      </a:r>
                      <a:r>
                        <a:rPr sz="1100" b="0">
                          <a:solidFill>
                            <a:srgbClr val="999999"/>
                          </a:solidFill>
                          <a:latin typeface="Fira Code"/>
                        </a:rPr>
                        <a:t>Plane::ekf_check() — GCS warn throttle</a:t>
                      </a:r>
                    </a:p>
                    <a:p>
                      <a:pPr algn="l">
                        <a:lnSpc>
                          <a:spcPct val="106000"/>
                        </a:lnSpc>
                        <a:spcAft>
                          <a:spcPts val="0"/>
                        </a:spcAft>
                      </a:pPr>
                      <a:r>
                        <a:rPr sz="1100" b="0">
                          <a:solidFill>
                            <a:srgbClr val="333333"/>
                          </a:solidFill>
                          <a:latin typeface="Fira Code"/>
                        </a:rPr>
                        <a:t>                // send message to gcs</a:t>
                      </a:r>
                    </a:p>
                    <a:p>
                      <a:pPr algn="l">
                        <a:lnSpc>
                          <a:spcPct val="106000"/>
                        </a:lnSpc>
                        <a:spcAft>
                          <a:spcPts val="0"/>
                        </a:spcAft>
                      </a:pPr>
                      <a:r>
                        <a:rPr sz="1100" b="0">
                          <a:solidFill>
                            <a:srgbClr val="333333"/>
                          </a:solidFill>
                          <a:latin typeface="Fira Code"/>
                        </a:rPr>
                        <a:t>                if ((AP_HAL::millis() - ekf_check_state.last_warn_time) &gt; EKF_CHECK_WARNING_TIME) {</a:t>
                      </a:r>
                    </a:p>
                    <a:p>
                      <a:pPr algn="l">
                        <a:lnSpc>
                          <a:spcPct val="106000"/>
                        </a:lnSpc>
                        <a:spcAft>
                          <a:spcPts val="0"/>
                        </a:spcAft>
                      </a:pPr>
                      <a:r>
                        <a:rPr sz="1100" b="0">
                          <a:solidFill>
                            <a:srgbClr val="333333"/>
                          </a:solidFill>
                          <a:latin typeface="Fira Code"/>
                        </a:rPr>
                        <a:t>                    gcs().send_text(MAV_SEVERITY_CRITICAL,"EKF variance");</a:t>
                      </a:r>
                    </a:p>
                    <a:p>
                      <a:pPr algn="l">
                        <a:lnSpc>
                          <a:spcPct val="106000"/>
                        </a:lnSpc>
                        <a:spcAft>
                          <a:spcPts val="0"/>
                        </a:spcAft>
                      </a:pPr>
                      <a:r>
                        <a:rPr sz="1100" b="0">
                          <a:solidFill>
                            <a:srgbClr val="333333"/>
                          </a:solidFill>
                          <a:latin typeface="Fira Code"/>
                        </a:rPr>
                        <a:t>                    ekf_check_state.last_warn_time = AP_HAL::millis();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948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125-130</a:t>
                      </a:r>
                      <a:r>
                        <a:rPr sz="1100" b="0">
                          <a:solidFill>
                            <a:srgbClr val="999999"/>
                          </a:solidFill>
                          <a:latin typeface="Fira Code"/>
                        </a:rPr>
                        <a:t>  ·  </a:t>
                      </a:r>
                      <a:r>
                        <a:rPr sz="1100" b="0">
                          <a:solidFill>
                            <a:srgbClr val="999999"/>
                          </a:solidFill>
                          <a:latin typeface="Fira Code"/>
                        </a:rPr>
                        <a:t>Sub::failsafe_ekf_check() — 2 s confirm hysteresis</a:t>
                      </a:r>
                    </a:p>
                    <a:p>
                      <a:pPr algn="l">
                        <a:lnSpc>
                          <a:spcPct val="106000"/>
                        </a:lnSpc>
                        <a:spcAft>
                          <a:spcPts val="0"/>
                        </a:spcAft>
                      </a:pPr>
                      <a:r>
                        <a:rPr sz="1100" b="0">
                          <a:solidFill>
                            <a:srgbClr val="333333"/>
                          </a:solidFill>
                          <a:latin typeface="Fira Code"/>
                        </a:rPr>
                        <a:t>    // Bad EKF for 2 solid seconds triggers failsafe</a:t>
                      </a:r>
                    </a:p>
                    <a:p>
                      <a:pPr algn="l">
                        <a:lnSpc>
                          <a:spcPct val="106000"/>
                        </a:lnSpc>
                        <a:spcAft>
                          <a:spcPts val="0"/>
                        </a:spcAft>
                      </a:pPr>
                      <a:r>
                        <a:rPr sz="1100" b="0">
                          <a:solidFill>
                            <a:srgbClr val="333333"/>
                          </a:solidFill>
                          <a:latin typeface="Fira Code"/>
                        </a:rPr>
                        <a:t>    if (AP_HAL::millis() &lt; last_ekf_good_ms + 2000) {</a:t>
                      </a:r>
                    </a:p>
                    <a:p>
                      <a:pPr algn="l">
                        <a:lnSpc>
                          <a:spcPct val="106000"/>
                        </a:lnSpc>
                        <a:spcAft>
                          <a:spcPts val="0"/>
                        </a:spcAft>
                      </a:pPr>
                      <a:r>
                        <a:rPr sz="1100" b="0">
                          <a:solidFill>
                            <a:srgbClr val="333333"/>
                          </a:solidFill>
                          <a:latin typeface="Fira Code"/>
                        </a:rPr>
                        <a:t>        failsafe.ekf = false;</a:t>
                      </a:r>
                    </a:p>
                    <a:p>
                      <a:pPr algn="l">
                        <a:lnSpc>
                          <a:spcPct val="106000"/>
                        </a:lnSpc>
                        <a:spcAft>
                          <a:spcPts val="0"/>
                        </a:spcAft>
                      </a:pPr>
                      <a:r>
                        <a:rPr sz="1100" b="0">
                          <a:solidFill>
                            <a:srgbClr val="333333"/>
                          </a:solidFill>
                          <a:latin typeface="Fira Code"/>
                        </a:rPr>
                        <a:t>        AP_Notify::flags.ekf_bad = false;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125-132</a:t>
                      </a:r>
                      <a:r>
                        <a:rPr sz="1100" b="0">
                          <a:solidFill>
                            <a:srgbClr val="999999"/>
                          </a:solidFill>
                          <a:latin typeface="Fira Code"/>
                        </a:rPr>
                        <a:t>  ·  </a:t>
                      </a:r>
                      <a:r>
                        <a:rPr sz="1100" b="0">
                          <a:solidFill>
                            <a:srgbClr val="999999"/>
                          </a:solidFill>
                          <a:latin typeface="Fira Code"/>
                        </a:rPr>
                        <a:t>Copter::ekf_over_threshold() — dt filtering</a:t>
                      </a:r>
                    </a:p>
                    <a:p>
                      <a:pPr algn="l">
                        <a:lnSpc>
                          <a:spcPct val="106000"/>
                        </a:lnSpc>
                        <a:spcAft>
                          <a:spcPts val="0"/>
                        </a:spcAft>
                      </a:pPr>
                      <a:r>
                        <a:rPr sz="1100" b="0">
                          <a:solidFill>
                            <a:srgbClr val="333333"/>
                          </a:solidFill>
                          <a:latin typeface="Fira Code"/>
                        </a:rPr>
                        <a:t>    uint32_t now_us = AP_HAL::micros();</a:t>
                      </a:r>
                    </a:p>
                    <a:p>
                      <a:pPr algn="l">
                        <a:lnSpc>
                          <a:spcPct val="106000"/>
                        </a:lnSpc>
                        <a:spcAft>
                          <a:spcPts val="0"/>
                        </a:spcAft>
                      </a:pPr>
                      <a:r>
                        <a:rPr sz="1100" b="0">
                          <a:solidFill>
                            <a:srgbClr val="333333"/>
                          </a:solidFill>
                          <a:latin typeface="Fira Code"/>
                        </a:rPr>
                        <a:t>    float dt = (now_us - last_ekf_check_us) * 1e-6f;</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always update filtered values as this serves the vibration check as well</a:t>
                      </a:r>
                    </a:p>
                    <a:p>
                      <a:pPr algn="l">
                        <a:lnSpc>
                          <a:spcPct val="106000"/>
                        </a:lnSpc>
                        <a:spcAft>
                          <a:spcPts val="0"/>
                        </a:spcAft>
                      </a:pPr>
                      <a:r>
                        <a:rPr sz="1100" b="0">
                          <a:solidFill>
                            <a:srgbClr val="333333"/>
                          </a:solidFill>
                          <a:latin typeface="Fira Code"/>
                        </a:rPr>
                        <a:t>    position_var = pos_variance_filt.apply(position_var, dt);</a:t>
                      </a:r>
                    </a:p>
                    <a:p>
                      <a:pPr algn="l">
                        <a:lnSpc>
                          <a:spcPct val="106000"/>
                        </a:lnSpc>
                        <a:spcAft>
                          <a:spcPts val="0"/>
                        </a:spcAft>
                      </a:pPr>
                      <a:r>
                        <a:rPr sz="1100" b="0">
                          <a:solidFill>
                            <a:srgbClr val="333333"/>
                          </a:solidFill>
                          <a:latin typeface="Fira Code"/>
                        </a:rPr>
                        <a:t>    vel_var = vel_variance_filt.apply(vel_var, dt);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ArduCopter/fence.cpp</a:t>
                      </a:r>
                      <a:r>
                        <a:rPr sz="1100" b="0">
                          <a:solidFill>
                            <a:srgbClr val="999999"/>
                          </a:solidFill>
                          <a:latin typeface="Fira Code"/>
                        </a:rPr>
                        <a:t>  ·  </a:t>
                      </a:r>
                      <a:r>
                        <a:rPr sz="1100" b="0">
                          <a:solidFill>
                            <a:srgbClr val="999999"/>
                          </a:solidFill>
                          <a:latin typeface="Fira Code"/>
                        </a:rPr>
                        <a:t>8-16</a:t>
                      </a:r>
                      <a:r>
                        <a:rPr sz="1100" b="0">
                          <a:solidFill>
                            <a:srgbClr val="999999"/>
                          </a:solidFill>
                          <a:latin typeface="Fira Code"/>
                        </a:rPr>
                        <a:t>  ·  </a:t>
                      </a:r>
                      <a:r>
                        <a:rPr sz="1100" b="0">
                          <a:solidFill>
                            <a:srgbClr val="999999"/>
                          </a:solidFill>
                          <a:latin typeface="Fira Code"/>
                        </a:rPr>
                        <a:t>Copter::fence_checks_async()</a:t>
                      </a:r>
                    </a:p>
                    <a:p>
                      <a:pPr algn="l">
                        <a:lnSpc>
                          <a:spcPct val="106000"/>
                        </a:lnSpc>
                        <a:spcAft>
                          <a:spcPts val="0"/>
                        </a:spcAft>
                      </a:pPr>
                      <a:r>
                        <a:rPr sz="1100" b="0">
                          <a:solidFill>
                            <a:srgbClr val="333333"/>
                          </a:solidFill>
                          <a:latin typeface="Fira Code"/>
                        </a:rPr>
                        <a:t>void Copter::fence_checks_async()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const uint32_t now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(!AP_HAL::timeout_expired(fence_breaches.last_check_ms, now, 40U)) { // 25Hz update rate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Rover/fence.cpp</a:t>
                      </a:r>
                      <a:r>
                        <a:rPr sz="1100" b="0">
                          <a:solidFill>
                            <a:srgbClr val="999999"/>
                          </a:solidFill>
                          <a:latin typeface="Fira Code"/>
                        </a:rPr>
                        <a:t>  ·  </a:t>
                      </a:r>
                      <a:r>
                        <a:rPr sz="1100" b="0">
                          <a:solidFill>
                            <a:srgbClr val="999999"/>
                          </a:solidFill>
                          <a:latin typeface="Fira Code"/>
                        </a:rPr>
                        <a:t>6-14</a:t>
                      </a:r>
                      <a:r>
                        <a:rPr sz="1100" b="0">
                          <a:solidFill>
                            <a:srgbClr val="999999"/>
                          </a:solidFill>
                          <a:latin typeface="Fira Code"/>
                        </a:rPr>
                        <a:t>  ·  </a:t>
                      </a:r>
                      <a:r>
                        <a:rPr sz="1100" b="0">
                          <a:solidFill>
                            <a:srgbClr val="999999"/>
                          </a:solidFill>
                          <a:latin typeface="Fira Code"/>
                        </a:rPr>
                        <a:t>Rover::fence_checks_async()</a:t>
                      </a:r>
                    </a:p>
                    <a:p>
                      <a:pPr algn="l">
                        <a:lnSpc>
                          <a:spcPct val="106000"/>
                        </a:lnSpc>
                        <a:spcAft>
                          <a:spcPts val="0"/>
                        </a:spcAft>
                      </a:pPr>
                      <a:r>
                        <a:rPr sz="1100" b="0">
                          <a:solidFill>
                            <a:srgbClr val="333333"/>
                          </a:solidFill>
                          <a:latin typeface="Fira Code"/>
                        </a:rPr>
                        <a:t>void Rover::fence_checks_async()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const uint32_t now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(!AP_HAL::timeout_expired(fence_breaches.last_check_ms, now, 100U)) { // 10Hz update rate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1 — direct callers / callees with typed dependency</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 motors-&gt;armed(false)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system.cpp:87)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micros(); AP_Scheduler::ticks(); rc().read_input(); SRV_Channels::set_output_scaled()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 (continued)</a:t>
            </a:r>
          </a:p>
        </p:txBody>
      </p:sp>
      <p:graphicFrame>
        <p:nvGraphicFramePr>
          <p:cNvPr id="6" name="Table 5"/>
          <p:cNvGraphicFramePr>
            <a:graphicFrameLocks noGrp="1"/>
          </p:cNvGraphicFramePr>
          <p:nvPr/>
        </p:nvGraphicFramePr>
        <p:xfrm>
          <a:off x="566928" y="1591056"/>
          <a:ext cx="11058144" cy="328081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 (2 s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compares last_ekf_good_ms + 2000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pos_variance_filt.apply(); vel_variance_filt.apply()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AP_HAL::timeout_expired(.,.,40U)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AP_HAL::timeout_expired(.,.,100U)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last_ticks = ticks;</a:t>
                      </a:r>
                    </a:p>
                    <a:p>
                      <a:pPr algn="l">
                        <a:lnSpc>
                          <a:spcPct val="106000"/>
                        </a:lnSpc>
                        <a:spcAft>
                          <a:spcPts val="0"/>
                        </a:spcAft>
                      </a:pPr>
                      <a:r>
                        <a:rPr sz="1100" b="0">
                          <a:solidFill>
                            <a:srgbClr val="333333"/>
                          </a:solidFill>
                          <a:latin typeface="Fira Code"/>
                        </a:rPr>
                        <a:t>last_timestamp = tnow;</a:t>
                      </a:r>
                    </a:p>
                    <a:p>
                      <a:pPr algn="l">
                        <a:lnSpc>
                          <a:spcPct val="106000"/>
                        </a:lnSpc>
                        <a:spcAft>
                          <a:spcPts val="0"/>
                        </a:spcAft>
                      </a:pPr>
                      <a:r>
                        <a:rPr sz="1100" b="0">
                          <a:solidFill>
                            <a:srgbClr val="333333"/>
                          </a:solidFill>
                          <a:latin typeface="Fira Code"/>
                        </a:rPr>
                        <a:t>in_failsafe = false;</a:t>
                      </a:r>
                    </a:p>
                    <a:p>
                      <a:pPr algn="l">
                        <a:lnSpc>
                          <a:spcPct val="106000"/>
                        </a:lnSpc>
                        <a:spcAft>
                          <a:spcPts val="0"/>
                        </a:spcAft>
                      </a:pPr>
                      <a:r>
                        <a:rPr sz="1100" b="0">
                          <a:solidFill>
                            <a:srgbClr val="333333"/>
                          </a:solidFill>
                          <a:latin typeface="Fira Code"/>
                        </a:rPr>
                        <a:t>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last_ticks = ticks;</a:t>
                      </a:r>
                    </a:p>
                    <a:p>
                      <a:pPr algn="l">
                        <a:lnSpc>
                          <a:spcPct val="106000"/>
                        </a:lnSpc>
                        <a:spcAft>
                          <a:spcPts val="0"/>
                        </a:spcAft>
                      </a:pPr>
                      <a:r>
                        <a:rPr sz="1100" b="0">
                          <a:solidFill>
                            <a:srgbClr val="333333"/>
                          </a:solidFill>
                          <a:latin typeface="Fira Code"/>
                        </a:rPr>
                        <a:t>last_timestamp = tnow;</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Sub::mainloop_failsafe_check()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416866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Blimp::failsafe_check()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Copter::ekf_check() (warn 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send message to gcs</a:t>
                      </a:r>
                    </a:p>
                    <a:p>
                      <a:pPr algn="l">
                        <a:lnSpc>
                          <a:spcPct val="106000"/>
                        </a:lnSpc>
                        <a:spcAft>
                          <a:spcPts val="0"/>
                        </a:spcAft>
                      </a:pPr>
                      <a:r>
                        <a:rPr sz="1100" b="0">
                          <a:solidFill>
                            <a:srgbClr val="333333"/>
                          </a:solidFill>
                          <a:latin typeface="Fira Code"/>
                        </a:rPr>
                        <a:t>if ((AP_HAL::millis() - ekf_check_state.last_warn_time) &gt; EKF_CHECK_WARNING_TIME) {</a:t>
                      </a:r>
                    </a:p>
                    <a:p>
                      <a:pPr algn="l">
                        <a:lnSpc>
                          <a:spcPct val="106000"/>
                        </a:lnSpc>
                        <a:spcAft>
                          <a:spcPts val="0"/>
                        </a:spcAft>
                      </a:pPr>
                      <a:r>
                        <a:rPr sz="1100" b="0">
                          <a:solidFill>
                            <a:srgbClr val="333333"/>
                          </a:solidFill>
                          <a:latin typeface="Fira Code"/>
                        </a:rPr>
                        <a:t>gcs().send_text(MAV_SEVERITY_CRITICAL,"EKF variance");</a:t>
                      </a:r>
                    </a:p>
                    <a:p>
                      <a:pPr algn="l">
                        <a:lnSpc>
                          <a:spcPct val="106000"/>
                        </a:lnSpc>
                        <a:spcAft>
                          <a:spcPts val="0"/>
                        </a:spcAft>
                      </a:pPr>
                      <a:r>
                        <a:rPr sz="1100" b="0">
                          <a:solidFill>
                            <a:srgbClr val="333333"/>
                          </a:solidFill>
                          <a:latin typeface="Fira Code"/>
                        </a:rPr>
                        <a:t>ekf_check_state.last_warn_time = AP_HAL::millis();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3178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Plane::ekf_check() (warn 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send message to gcs</a:t>
                      </a:r>
                    </a:p>
                    <a:p>
                      <a:pPr algn="l">
                        <a:lnSpc>
                          <a:spcPct val="106000"/>
                        </a:lnSpc>
                        <a:spcAft>
                          <a:spcPts val="0"/>
                        </a:spcAft>
                      </a:pPr>
                      <a:r>
                        <a:rPr sz="1100" b="0">
                          <a:solidFill>
                            <a:srgbClr val="333333"/>
                          </a:solidFill>
                          <a:latin typeface="Fira Code"/>
                        </a:rPr>
                        <a:t>if ((AP_HAL::millis() - ekf_check_state.last_warn_time) &gt; EKF_CHECK_WARNING_TIME) {</a:t>
                      </a:r>
                    </a:p>
                    <a:p>
                      <a:pPr algn="l">
                        <a:lnSpc>
                          <a:spcPct val="106000"/>
                        </a:lnSpc>
                        <a:spcAft>
                          <a:spcPts val="0"/>
                        </a:spcAft>
                      </a:pPr>
                      <a:r>
                        <a:rPr sz="1100" b="0">
                          <a:solidFill>
                            <a:srgbClr val="333333"/>
                          </a:solidFill>
                          <a:latin typeface="Fira Code"/>
                        </a:rPr>
                        <a:t>gcs().send_text(MAV_SEVERITY_CRITICAL,"EKF variance");</a:t>
                      </a:r>
                    </a:p>
                    <a:p>
                      <a:pPr algn="l">
                        <a:lnSpc>
                          <a:spcPct val="106000"/>
                        </a:lnSpc>
                        <a:spcAft>
                          <a:spcPts val="0"/>
                        </a:spcAft>
                      </a:pPr>
                      <a:r>
                        <a:rPr sz="1100" b="0">
                          <a:solidFill>
                            <a:srgbClr val="333333"/>
                          </a:solidFill>
                          <a:latin typeface="Fira Code"/>
                        </a:rPr>
                        <a:t>ekf_check_state.last_warn_time = AP_HAL::millis();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303688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Sub::failsafe_ekf_check() (2 s hysteresis)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Bad EKF for 2 solid seconds triggers failsafe</a:t>
                      </a:r>
                    </a:p>
                    <a:p>
                      <a:pPr algn="l">
                        <a:lnSpc>
                          <a:spcPct val="106000"/>
                        </a:lnSpc>
                        <a:spcAft>
                          <a:spcPts val="0"/>
                        </a:spcAft>
                      </a:pPr>
                      <a:r>
                        <a:rPr sz="1100" b="0">
                          <a:solidFill>
                            <a:srgbClr val="333333"/>
                          </a:solidFill>
                          <a:latin typeface="Fira Code"/>
                        </a:rPr>
                        <a:t>if (AP_HAL::millis() &lt; last_ekf_good_ms + 2000) {</a:t>
                      </a:r>
                    </a:p>
                    <a:p>
                      <a:pPr algn="l">
                        <a:lnSpc>
                          <a:spcPct val="106000"/>
                        </a:lnSpc>
                        <a:spcAft>
                          <a:spcPts val="0"/>
                        </a:spcAft>
                      </a:pPr>
                      <a:r>
                        <a:rPr sz="1100" b="0">
                          <a:solidFill>
                            <a:srgbClr val="333333"/>
                          </a:solidFill>
                          <a:latin typeface="Fira Code"/>
                        </a:rPr>
                        <a:t>failsafe.ekf = false;</a:t>
                      </a:r>
                    </a:p>
                    <a:p>
                      <a:pPr algn="l">
                        <a:lnSpc>
                          <a:spcPct val="106000"/>
                        </a:lnSpc>
                        <a:spcAft>
                          <a:spcPts val="0"/>
                        </a:spcAft>
                      </a:pPr>
                      <a:r>
                        <a:rPr sz="1100" b="0">
                          <a:solidFill>
                            <a:srgbClr val="333333"/>
                          </a:solidFill>
                          <a:latin typeface="Fira Code"/>
                        </a:rPr>
                        <a:t>AP_Notify::flags.ekf_bad = false;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Copter::ekf_over_threshold() (dt)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now_us = AP_HAL::micros();</a:t>
                      </a:r>
                    </a:p>
                    <a:p>
                      <a:pPr algn="l">
                        <a:lnSpc>
                          <a:spcPct val="106000"/>
                        </a:lnSpc>
                        <a:spcAft>
                          <a:spcPts val="0"/>
                        </a:spcAft>
                      </a:pPr>
                      <a:r>
                        <a:rPr sz="1100" b="0">
                          <a:solidFill>
                            <a:srgbClr val="333333"/>
                          </a:solidFill>
                          <a:latin typeface="Fira Code"/>
                        </a:rPr>
                        <a:t>float dt = (now_us - last_ekf_check_us) * 1e-6f;</a:t>
                      </a:r>
                    </a:p>
                    <a:p>
                      <a:pPr algn="l">
                        <a:lnSpc>
                          <a:spcPct val="106000"/>
                        </a:lnSpc>
                        <a:spcAft>
                          <a:spcPts val="0"/>
                        </a:spcAft>
                      </a:pPr>
                      <a:r>
                        <a:rPr sz="1100" b="0">
                          <a:solidFill>
                            <a:srgbClr val="333333"/>
                          </a:solidFill>
                          <a:latin typeface="Fira Code"/>
                        </a:rPr>
                        <a:t>// always update filtered values as this serves the vibration</a:t>
                      </a:r>
                    </a:p>
                    <a:p>
                      <a:pPr algn="l">
                        <a:lnSpc>
                          <a:spcPct val="106000"/>
                        </a:lnSpc>
                        <a:spcAft>
                          <a:spcPts val="0"/>
                        </a:spcAft>
                      </a:pPr>
                      <a:r>
                        <a:rPr sz="1100" b="0">
                          <a:solidFill>
                            <a:srgbClr val="333333"/>
                          </a:solidFill>
                          <a:latin typeface="Fira Code"/>
                        </a:rPr>
                        <a:t>check as well</a:t>
                      </a:r>
                    </a:p>
                    <a:p>
                      <a:pPr algn="l">
                        <a:lnSpc>
                          <a:spcPct val="106000"/>
                        </a:lnSpc>
                        <a:spcAft>
                          <a:spcPts val="0"/>
                        </a:spcAft>
                      </a:pPr>
                      <a:r>
                        <a:rPr sz="1100" b="0">
                          <a:solidFill>
                            <a:srgbClr val="333333"/>
                          </a:solidFill>
                          <a:latin typeface="Fira Code"/>
                        </a:rPr>
                        <a:t>position_var = pos_variance_filt.apply(position_var, dt);</a:t>
                      </a:r>
                    </a:p>
                    <a:p>
                      <a:pPr algn="l">
                        <a:lnSpc>
                          <a:spcPct val="106000"/>
                        </a:lnSpc>
                        <a:spcAft>
                          <a:spcPts val="0"/>
                        </a:spcAft>
                      </a:pPr>
                      <a:r>
                        <a:rPr sz="1100" b="0">
                          <a:solidFill>
                            <a:srgbClr val="333333"/>
                          </a:solidFill>
                          <a:latin typeface="Fira Code"/>
                        </a:rPr>
                        <a:t>vel_var = vel_variance_filt.apply(vel_var, dt);</a:t>
                      </a:r>
                    </a:p>
                    <a:p>
                      <a:pPr algn="l">
                        <a:lnSpc>
                          <a:spcPct val="106000"/>
                        </a:lnSpc>
                        <a:spcAft>
                          <a:spcPts val="0"/>
                        </a:spcAft>
                      </a:pPr>
                      <a:r>
                        <a:rPr sz="1100" b="0">
                          <a:solidFill>
                            <a:srgbClr val="333333"/>
                          </a:solidFill>
                          <a:latin typeface="Fira Code"/>
                        </a:rPr>
                        <a:t>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Copter::fence_checks_async()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uint32_t now = AP_HAL::millis();</a:t>
                      </a:r>
                    </a:p>
                    <a:p>
                      <a:pPr algn="l">
                        <a:lnSpc>
                          <a:spcPct val="106000"/>
                        </a:lnSpc>
                        <a:spcAft>
                          <a:spcPts val="0"/>
                        </a:spcAft>
                      </a:pPr>
                      <a:r>
                        <a:rPr sz="1100" b="0">
                          <a:solidFill>
                            <a:srgbClr val="333333"/>
                          </a:solidFill>
                          <a:latin typeface="Fira Code"/>
                        </a:rPr>
                        <a:t>if (!AP_HAL::timeout_expired(fence_breaches.last_check_ms, now</a:t>
                      </a:r>
                    </a:p>
                    <a:p>
                      <a:pPr algn="l">
                        <a:lnSpc>
                          <a:spcPct val="106000"/>
                        </a:lnSpc>
                        <a:spcAft>
                          <a:spcPts val="0"/>
                        </a:spcAft>
                      </a:pPr>
                      <a:r>
                        <a:rPr sz="1100" b="0">
                          <a:solidFill>
                            <a:srgbClr val="333333"/>
                          </a:solidFill>
                          <a:latin typeface="Fira Code"/>
                        </a:rPr>
                        <a:t>, 40U)) { // 25Hz update rate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Rover::fence_checks_async()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uint32_t now = AP_HAL::millis();</a:t>
                      </a:r>
                    </a:p>
                    <a:p>
                      <a:pPr algn="l">
                        <a:lnSpc>
                          <a:spcPct val="106000"/>
                        </a:lnSpc>
                        <a:spcAft>
                          <a:spcPts val="0"/>
                        </a:spcAft>
                      </a:pPr>
                      <a:r>
                        <a:rPr sz="1100" b="0">
                          <a:solidFill>
                            <a:srgbClr val="333333"/>
                          </a:solidFill>
                          <a:latin typeface="Fira Code"/>
                        </a:rPr>
                        <a:t>if (!AP_HAL::timeout_expired(fence_breaches.last_check_ms, now</a:t>
                      </a:r>
                    </a:p>
                    <a:p>
                      <a:pPr algn="l">
                        <a:lnSpc>
                          <a:spcPct val="106000"/>
                        </a:lnSpc>
                        <a:spcAft>
                          <a:spcPts val="0"/>
                        </a:spcAft>
                      </a:pPr>
                      <a:r>
                        <a:rPr sz="1100" b="0">
                          <a:solidFill>
                            <a:srgbClr val="333333"/>
                          </a:solidFill>
                          <a:latin typeface="Fira Code"/>
                        </a:rPr>
                        <a:t>, 100U)) { // 10Hz update rate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2 — full transitive chain, final consumer &amp; hop depth</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2600">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AP_HAL::micros() → failsafe_check_static() [1 kHz timer-failsafe] → Copter::failsafe_check() (&gt;2 s stall) → AP_Motors::output_min()/armed(false)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Plane::failsafe_check() (&gt;0.2 s stall) → SRV_Channels::set_output_scaled() → servos_output()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 divergent 0.2 s trip + RC-passthrough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77648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graphicFrame>
        <p:nvGraphicFramePr>
          <p:cNvPr id="6" name="Table 5"/>
          <p:cNvGraphicFramePr>
            <a:graphicFrameLocks noGrp="1"/>
          </p:cNvGraphicFramePr>
          <p:nvPr/>
        </p:nvGraphicFramePr>
        <p:xfrm>
          <a:off x="566928" y="1591056"/>
          <a:ext cx="11058144" cy="428448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Rover::failsafe_check() (&gt;0.2 s stall) → AP_Arming::disarm(CPUFAILSAFE)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Sub::mainloop_failsafe_check()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Blimp::failsafe_check()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 Blimp observes scheduler timing state only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Copter::ekf_check()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30 s warn-throttle (Copter/Plane).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Plane::ekf_check()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600355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3–7</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graphicFrame>
        <p:nvGraphicFramePr>
          <p:cNvPr id="6" name="Table 5"/>
          <p:cNvGraphicFramePr>
            <a:graphicFrameLocks noGrp="1"/>
          </p:cNvGraphicFramePr>
          <p:nvPr/>
        </p:nvGraphicFramePr>
        <p:xfrm>
          <a:off x="566928" y="1591056"/>
          <a:ext cx="11058144" cy="386656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Sub::failsafe_ekf_check() (EKF bad ≥ 2 s) → failsafe.ekf = true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(EKF failsafe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w/ Table 5 #4]. 2 s confirm + 20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dt → pos/vel_variance_filt.apply(var, dt) → ekf_over_threshold() → Copter::ekf_check() failsafe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 variance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check-rate &lt;-&gt; scheduler coupling (AAP 0.5.5).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AP_HAL::timeout_expired(40U) gate → Copter::fence_checks_async() → AC_Fence::check() → fence_breaches latched → main-loop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#3]. vs Rover (40U/25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AP_HAL::timeout_expired(100U) gate → Rover::fence_checks_async() → AC_Fence::check() → fence_breaches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#9]. vs Copter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58564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1</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1 dependency types across all 94 rows</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roll-up of the audit’s own Dependency Type column values, read cell by cell across the six Layer 1 blocks. It is not a new score, a new metric or a new finding.</a:t>
            </a:r>
          </a:p>
        </p:txBody>
      </p:sp>
      <p:graphicFrame>
        <p:nvGraphicFramePr>
          <p:cNvPr id="7" name="Table 6"/>
          <p:cNvGraphicFramePr>
            <a:graphicFrameLocks noGrp="1"/>
          </p:cNvGraphicFramePr>
          <p:nvPr/>
        </p:nvGraphicFramePr>
        <p:xfrm>
          <a:off x="566928" y="2173338"/>
          <a:ext cx="11058144" cy="2255586"/>
        </p:xfrm>
        <a:graphic>
          <a:graphicData uri="http://schemas.openxmlformats.org/drawingml/2006/table">
            <a:tbl>
              <a:tblPr>
                <a:tableStyleId>{5C22544A-7EE6-4342-B048-85BDC9FD1C3A}</a:tableStyleId>
              </a:tblPr>
              <a:tblGrid>
                <a:gridCol w="2878773"/>
                <a:gridCol w="1370844"/>
                <a:gridCol w="6808527"/>
              </a:tblGrid>
              <a:tr h="270927">
                <a:tc>
                  <a:txBody>
                    <a:bodyPr wrap="square">
                      <a:noAutofit/>
                    </a:bodyPr>
                    <a:lstStyle/>
                    <a:p>
                      <a:pPr algn="l">
                        <a:lnSpc>
                          <a:spcPct val="106000"/>
                        </a:lnSpc>
                        <a:spcAft>
                          <a:spcPts val="0"/>
                        </a:spcAft>
                      </a:pPr>
                      <a:r>
                        <a:rPr sz="13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value records, per the audit’s 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reads or writes PNT fields of a shared structure rather than calling for them.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obtains or hands on the PNT value through a direct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sits behind a base class or interface that the PNT edge is declared 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reaches the PNT value through a process-wide singleton or global.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All Layer 1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One Layer 1 row for every catalogued main-table row, which is what makes the distribution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611804"/>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Layer 1 row carries exactly one Dependency Type value drawn from the audit’s own four-value vocabulary, so the four figures above account for all 94 rows.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2</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2 chain depth, and the evidence-row reconciliation</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Chain Depth is the audit’s own convention: the number of → hops explicitly listed in that chain.</a:t>
            </a:r>
          </a:p>
        </p:txBody>
      </p:sp>
      <p:graphicFrame>
        <p:nvGraphicFramePr>
          <p:cNvPr id="7" name="Table 6"/>
          <p:cNvGraphicFramePr>
            <a:graphicFrameLocks noGrp="1"/>
          </p:cNvGraphicFramePr>
          <p:nvPr/>
        </p:nvGraphicFramePr>
        <p:xfrm>
          <a:off x="566928" y="1852079"/>
          <a:ext cx="11058144" cy="2316505"/>
        </p:xfrm>
        <a:graphic>
          <a:graphicData uri="http://schemas.openxmlformats.org/drawingml/2006/table">
            <a:tbl>
              <a:tblPr>
                <a:tableStyleId>{5C22544A-7EE6-4342-B048-85BDC9FD1C3A}</a:tableStyleId>
              </a:tblPr>
              <a:tblGrid>
                <a:gridCol w="1370844"/>
                <a:gridCol w="2376130"/>
                <a:gridCol w="7311170"/>
              </a:tblGrid>
              <a:tr h="270927">
                <a:tc>
                  <a:txBody>
                    <a:bodyPr wrap="square">
                      <a:noAutofit/>
                    </a:bodyPr>
                    <a:lstStyle/>
                    <a:p>
                      <a:pPr algn="l">
                        <a:lnSpc>
                          <a:spcPct val="106000"/>
                        </a:lnSpc>
                        <a:spcAft>
                          <a:spcPts val="0"/>
                        </a:spcAft>
                      </a:pPr>
                      <a:r>
                        <a:rPr sz="1300" b="1">
                          <a:solidFill>
                            <a:srgbClr val="333333"/>
                          </a:solidFill>
                          <a:latin typeface="Inter"/>
                        </a:rPr>
                        <a:t>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Chain Depth values present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chains run 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Fira Code"/>
                        </a:rPr>
                        <a:t>Table 1a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3  4  5  6  8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Receiver backends through the shared GPS state and the estimator to the motor and servo output, the catalog’s longest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2a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navigation hub and the estimator stack through to the guidance and mission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Fira Code"/>
                        </a:rPr>
                        <a:t>Table 3a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board hardware timer through the hardware-abstraction clock to every periodic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Position health and fence evaluation through to mode denial and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333333"/>
                          </a:solidFill>
                          <a:latin typeface="Fira Code"/>
                        </a:rPr>
                        <a:t>Table 5a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Estimator-variance watchdogs through to the vehicle’s failsafe response.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Main-loop lockup watchdogs and their rate gates through to motor output and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Rounded Rectangle 7"/>
          <p:cNvSpPr/>
          <p:nvPr/>
        </p:nvSpPr>
        <p:spPr>
          <a:xfrm>
            <a:off x="566928"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9" name="Rounded Rectangle 8"/>
          <p:cNvSpPr/>
          <p:nvPr/>
        </p:nvSpPr>
        <p:spPr>
          <a:xfrm>
            <a:off x="3381756"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a:t>
            </a:r>
          </a:p>
          <a:p>
            <a:pPr algn="ctr">
              <a:lnSpc>
                <a:spcPct val="124000"/>
              </a:lnSpc>
            </a:pPr>
            <a:r>
              <a:rPr sz="1200">
                <a:solidFill>
                  <a:srgbClr val="999999"/>
                </a:solidFill>
                <a:latin typeface="Inter"/>
              </a:rPr>
              <a:t>layers per row</a:t>
            </a:r>
          </a:p>
        </p:txBody>
      </p:sp>
      <p:sp>
        <p:nvSpPr>
          <p:cNvPr id="10" name="Rounded Rectangle 9"/>
          <p:cNvSpPr/>
          <p:nvPr/>
        </p:nvSpPr>
        <p:spPr>
          <a:xfrm>
            <a:off x="6196584"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1" name="Rounded Rectangle 10"/>
          <p:cNvSpPr/>
          <p:nvPr/>
        </p:nvSpPr>
        <p:spPr>
          <a:xfrm>
            <a:off x="9011412"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 behind them</a:t>
            </a:r>
          </a:p>
        </p:txBody>
      </p:sp>
      <p:sp>
        <p:nvSpPr>
          <p:cNvPr id="12" name="TextBox 11"/>
          <p:cNvSpPr txBox="1"/>
          <p:nvPr/>
        </p:nvSpPr>
        <p:spPr>
          <a:xfrm>
            <a:off x="566928" y="554932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94 main rows × 3 layers = 282 evidence rows, exactly the total the audit states.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PNT Instance Audit</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Current Location → New Service Location: the audit’s own wiring contract for the extracted service.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Position, Navigation and Timing touch-point inside the wrapped controller, with the service member each one is refactored into.</a:t>
            </a:r>
          </a:p>
        </p:txBody>
      </p:sp>
      <p:sp>
        <p:nvSpPr>
          <p:cNvPr id="7" name="TextBox 6"/>
          <p:cNvSpPr txBox="1"/>
          <p:nvPr/>
        </p:nvSpPr>
        <p:spPr>
          <a:xfrm>
            <a:off x="566928" y="2228202"/>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Position / Navigation / Timing touch-point inside AP_L1_Control mapped onto the reusable AfsimL1Behavior service (the AHRS state shim, the injected-dt timing seam and the extern "C" command surface).</a:t>
            </a:r>
          </a:p>
        </p:txBody>
      </p:sp>
      <p:graphicFrame>
        <p:nvGraphicFramePr>
          <p:cNvPr id="8" name="Table 7"/>
          <p:cNvGraphicFramePr>
            <a:graphicFrameLocks noGrp="1"/>
          </p:cNvGraphicFramePr>
          <p:nvPr/>
        </p:nvGraphicFramePr>
        <p:xfrm>
          <a:off x="566928" y="2701099"/>
          <a:ext cx="11058144" cy="2747721"/>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vehicle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AP_L1_Control.cpp:L230, L369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`get_location()`, fed by `set_state_ne(n, 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ground velocity 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AP_L1_Control.cpp:L236, L375, L507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`_ahrs.groundspeed_vector()`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`groundspeed_vector()`, fed by `set_velocity_EN(velE, velN)`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yaw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AP_L1_Control.cpp:L59, L61, L402, L536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`get_yaw_rad()`,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yaw (centideg 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AP_L1_Control.cpp:L70, L72, L503, L535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`_ahrs.yaw_sensor`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`yaw_sensor`,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pitch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`get_pitch_rad()`, fed by `set_pitch_rad(pitch_rad)`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Airspeed scaling 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AP_L1_Control.cpp:L126, L159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`_ahrs.get_EAS2TAS()`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`get_EAS2TAS()` (injected or unit default)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 (continued)</a:t>
            </a:r>
          </a:p>
        </p:txBody>
      </p:sp>
      <p:graphicFrame>
        <p:nvGraphicFramePr>
          <p:cNvPr id="6" name="Table 5"/>
          <p:cNvGraphicFramePr>
            <a:graphicFrameLocks noGrp="1"/>
          </p:cNvGraphicFramePr>
          <p:nvPr/>
        </p:nvGraphicFramePr>
        <p:xfrm>
          <a:off x="566928" y="1591056"/>
          <a:ext cx="11058144" cy="4524706"/>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Control-step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`set_update_dt(dt)` injected timebase. Additive and default-off: when `set_update_dt` is never called the controller keeps its internal `AP_HAL::micros()` delta, so existing vehicle callers are unaffected.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Step delta + state store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AP_L1_Control.cpp:L215, L224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`_last_update_waypoint_us`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Injected-`dt` path (clamp semantics preserved). Additive and default-off: existing callers keep the `_last_update_waypoint_us` `micros()` delta until `set_update_dt` is called.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Loiter/heading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AP_L1_Control.cpp:L448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Injected time for the loiter path. Additive and default-off: when unset the internal `AP_HAL::millis()` clock is used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Navigation (math)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Bearing / NE distance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AP_L1_Control.cpp:L239, L382 / L260, L266, L274, L295, L391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`Location::get_bearing_to` / `get_distance_NE`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Preserved unchanged inside `AP_L1_Control`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 command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AP_L1_Control.h:L36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`get_roll_deg()` = `nav_roll_cd()/100` → `L1_GetRollDeg`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Lateral 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AP_L1_Control.h:L37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`lateral_acceleration()`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`get_lat_accel()` →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LINE-NUMBER BASIS, QUOTED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line-number basis, reproduced unchanged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NOTE BENEATH THE MAPPING TABLE</a:t>
            </a:r>
          </a:p>
        </p:txBody>
      </p:sp>
      <p:sp>
        <p:nvSpPr>
          <p:cNvPr id="7" name="Rectangle 6"/>
          <p:cNvSpPr/>
          <p:nvPr/>
        </p:nvSpPr>
        <p:spPr>
          <a:xfrm>
            <a:off x="566928" y="1761896"/>
            <a:ext cx="32004" cy="1150581"/>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1150581"/>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“Line-number basis. The Current Location(s) line numbers below are cited as of the audited HEAD 5b67e27b0a (the pre-refactor baseline), which preserves parity with the AAP 0.6.1 instance table; they are not post-seam current-source line numbers. The extraction's single additive, default-off set_update_dt timing seam was applied to AP_L1_Control.cpp / .h after that commit and shifts only those two files' line numbers (it relocates no behavior). Because the seam is default-off, when set_update_dt is never called the controller keeps its internal AP_HAL::micros() / millis() timing path unchanged, so existing vehicle callers are unaffected.”</a:t>
            </a:r>
          </a:p>
        </p:txBody>
      </p:sp>
      <p:sp>
        <p:nvSpPr>
          <p:cNvPr id="9" name="TextBox 8"/>
          <p:cNvSpPr txBox="1"/>
          <p:nvPr/>
        </p:nvSpPr>
        <p:spPr>
          <a:xfrm>
            <a:off x="566928" y="311364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SERVICE SURFACE THE MAPPING RESOLVES TO</a:t>
            </a:r>
          </a:p>
        </p:txBody>
      </p:sp>
      <p:sp>
        <p:nvSpPr>
          <p:cNvPr id="10" name="Rectangle 9"/>
          <p:cNvSpPr/>
          <p:nvPr/>
        </p:nvSpPr>
        <p:spPr>
          <a:xfrm>
            <a:off x="566928" y="3339349"/>
            <a:ext cx="32004" cy="6750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13232" y="3339349"/>
            <a:ext cx="10856976" cy="675093"/>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Coverage &amp; Explicit-Absence Register</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10 sub-registers  ·  109 entries  ·  27 checked absences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NON-INFERENCE DISCIPLINE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What the register establishes</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INTRODUCTION TO THE REGISTER</a:t>
            </a:r>
          </a:p>
        </p:txBody>
      </p:sp>
      <p:sp>
        <p:nvSpPr>
          <p:cNvPr id="7" name="Rectangle 6"/>
          <p:cNvSpPr/>
          <p:nvPr/>
        </p:nvSpPr>
        <p:spPr>
          <a:xfrm>
            <a:off x="566928" y="1761896"/>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“Directory-wide token sweeps and explicit absence notations establishing exhaustiveness across libraries/, the four vehicle directories and the .gitmodules boundary edges (10 sub-registers, 109 entries, 27 checked absences).”</a:t>
            </a:r>
          </a:p>
        </p:txBody>
      </p:sp>
      <p:sp>
        <p:nvSpPr>
          <p:cNvPr id="9" name="Rounded Rectangle 8"/>
          <p:cNvSpPr/>
          <p:nvPr/>
        </p:nvSpPr>
        <p:spPr>
          <a:xfrm>
            <a:off x="566928"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a:t>
            </a:r>
          </a:p>
          <a:p>
            <a:pPr algn="ctr">
              <a:lnSpc>
                <a:spcPct val="124000"/>
              </a:lnSpc>
            </a:pPr>
            <a:r>
              <a:rPr sz="1200">
                <a:solidFill>
                  <a:srgbClr val="999999"/>
                </a:solidFill>
                <a:latin typeface="Inter"/>
              </a:rPr>
              <a:t>named sub-registers</a:t>
            </a:r>
          </a:p>
        </p:txBody>
      </p:sp>
      <p:sp>
        <p:nvSpPr>
          <p:cNvPr id="10" name="Rounded Rectangle 9"/>
          <p:cNvSpPr/>
          <p:nvPr/>
        </p:nvSpPr>
        <p:spPr>
          <a:xfrm>
            <a:off x="3381756"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register entries</a:t>
            </a:r>
          </a:p>
        </p:txBody>
      </p:sp>
      <p:sp>
        <p:nvSpPr>
          <p:cNvPr id="11" name="Rounded Rectangle 10"/>
          <p:cNvSpPr/>
          <p:nvPr/>
        </p:nvSpPr>
        <p:spPr>
          <a:xfrm>
            <a:off x="6196584"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27</a:t>
            </a:r>
          </a:p>
          <a:p>
            <a:pPr algn="ctr">
              <a:lnSpc>
                <a:spcPct val="124000"/>
              </a:lnSpc>
            </a:pPr>
            <a:r>
              <a:rPr sz="1200">
                <a:solidFill>
                  <a:srgbClr val="999999"/>
                </a:solidFill>
                <a:latin typeface="Inter"/>
              </a:rPr>
              <a:t>checked absences</a:t>
            </a:r>
          </a:p>
        </p:txBody>
      </p:sp>
      <p:sp>
        <p:nvSpPr>
          <p:cNvPr id="12" name="Rounded Rectangle 11"/>
          <p:cNvSpPr/>
          <p:nvPr/>
        </p:nvSpPr>
        <p:spPr>
          <a:xfrm>
            <a:off x="9011412"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5</a:t>
            </a:r>
          </a:p>
          <a:p>
            <a:pPr algn="ctr">
              <a:lnSpc>
                <a:spcPct val="124000"/>
              </a:lnSpc>
            </a:pPr>
            <a:r>
              <a:rPr sz="1200">
                <a:solidFill>
                  <a:srgbClr val="999999"/>
                </a:solidFill>
                <a:latin typeface="Inter"/>
              </a:rPr>
              <a:t>flag kinds in the catalog</a:t>
            </a:r>
          </a:p>
        </p:txBody>
      </p:sp>
      <p:sp>
        <p:nvSpPr>
          <p:cNvPr id="13" name="TextBox 12"/>
          <p:cNvSpPr txBox="1"/>
          <p:nvPr/>
        </p:nvSpPr>
        <p:spPr>
          <a:xfrm>
            <a:off x="566928" y="365020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The audit’s own footnote to the Audit-Discipline Flags table: Explicitly-documented absences catalogued in the Coverage register: 27.</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THE TEN SUB-REGISTERS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ten sub-registers, in the audit’s own order</a:t>
            </a:r>
          </a:p>
        </p:txBody>
      </p:sp>
      <p:graphicFrame>
        <p:nvGraphicFramePr>
          <p:cNvPr id="6" name="Table 5"/>
          <p:cNvGraphicFramePr>
            <a:graphicFrameLocks noGrp="1"/>
          </p:cNvGraphicFramePr>
          <p:nvPr/>
        </p:nvGraphicFramePr>
        <p:xfrm>
          <a:off x="566928" y="1591056"/>
          <a:ext cx="11058144" cy="3886296"/>
        </p:xfrm>
        <a:graphic>
          <a:graphicData uri="http://schemas.openxmlformats.org/drawingml/2006/table">
            <a:tbl>
              <a:tblPr>
                <a:tableStyleId>{5C22544A-7EE6-4342-B048-85BDC9FD1C3A}</a:tableStyleId>
              </a:tblPr>
              <a:tblGrid>
                <a:gridCol w="1370844"/>
                <a:gridCol w="9687300"/>
              </a:tblGrid>
              <a:tr h="240219">
                <a:tc>
                  <a:txBody>
                    <a:bodyPr wrap="square">
                      <a:noAutofit/>
                    </a:bodyPr>
                    <a:lstStyle/>
                    <a:p>
                      <a:pPr algn="l">
                        <a:lnSpc>
                          <a:spcPct val="106000"/>
                        </a:lnSpc>
                        <a:spcAft>
                          <a:spcPts val="0"/>
                        </a:spcAft>
                      </a:pPr>
                      <a:r>
                        <a:rPr sz="1100" b="1">
                          <a:solidFill>
                            <a:srgbClr val="333333"/>
                          </a:solidFill>
                          <a:latin typeface="Inter"/>
                        </a:rPr>
                        <a:t>Sub-register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Title,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 supporting-library register (AAP 0.3.1) — AC_Fence / AP_BattMonitor / AP_RCProtocol: non-PNT triggers whose failsafe action is PNT-gated, plus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Cross-vehicle indirect safety-surface register (F16) — Rover / ArduSub failsafe, fence, and mode surfaces, each resolved to its catalogued numbered-table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AntennaTracker &amp; Blimp PNT-intersection register (F18; AAP 0.3.2 — included only where they observe / consume PNT): presence sites, per-mode gating, and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ArduPlane vehicle-dir indirect glue register (vehicle-symmetry completeness, AAP 0.3.1 / 0.6.1): ArduPlane failsafe-action and altitude-management glue that reacts to / consumes PNT state, mirroring the catalogued ArduCopter twins.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AP_AHRS backend register (Navigation-hub completeness): the AP_AHRS frontend hub is catalogued in Table 2 / 2a; each concrete backend overrides the navigation accessors behind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Copter flight modes PNT-gating matrix — 29 files (21 PNT-relevant, 8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Plane flight modes PNT-gating matrix — 26 files (20 PNT-relevant, 6 checked-absence). Predicate: does_auto_navigation().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drive modes PNT-gating matrix — 14 files (11 PNT-relevant, 3 checked-absence). Predicate: requires_position().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Sub flight modes PNT-gating matrix — 12 files (7 PNT-relevant, 5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Indirect supporting-library register (AAP 0.3.1) — AC_Fence / AP_BattMonitor / AP_RCProtocol: non-PNT triggers whose failsafe action is PNT-gated, plus checked absences.</a:t>
            </a:r>
          </a:p>
        </p:txBody>
      </p:sp>
      <p:graphicFrame>
        <p:nvGraphicFramePr>
          <p:cNvPr id="7" name="Table 6"/>
          <p:cNvGraphicFramePr>
            <a:graphicFrameLocks noGrp="1"/>
          </p:cNvGraphicFramePr>
          <p:nvPr/>
        </p:nvGraphicFramePr>
        <p:xfrm>
          <a:off x="566928" y="2063953"/>
          <a:ext cx="11058144" cy="386656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libraries/AC_Fence/ (AC_Fence::check + check_fence_polygon / 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 position vs polygon / circle / altitude fence; position-dependent breach. Fully catalogued in the numbered tables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libraries/AC_Fence/AC_Fence.cpp:679-843 · Table 4 #4-#8 / 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libraries/AP_BattMonitor/ (58 source files; AP_BattMonitor::check_failsafes)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Directory-wide token sweep found ZERO PNT reads (no ahrs. / gps. / get_location / position_ok / get_velocity_NED). Failsafe trigger is voltage / capacity only; PNT enters at the vehicle action layer, not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libraries/AP_BattMonitor/AP_BattMonitor.cpp:781 (check_failsafes)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libraries/AP_RCProtocol/ (RC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Token sweep found ZERO PNT reads. Failsafe is a boolean signal-present flag (failsafe_active); no position / nav / PNT-timing observation. PNT enters at the vehicle action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libraries/AP_RCProtocol/AP_RCProtocol.h:126-130 (failsafe_active)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ArduCopter/events.cpp (handle_battery_failsafe / radio / GCS FS action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Non-PNT trigger (battery / RC / GCS) but the chosen failsafe action (RTL / SmartRTL) is gated on position_ok and degrades to LAND when position is invalid — the relational PNT site for batt / RC / GCS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ArduCopter/events.cpp:99-121 (do_failsafe_action BATTERY_FAILSAFE) · gate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(2)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(2)</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Cross-vehicle indirect safety-surface register (F16) — Rover / ArduSub failsafe, fence, and mode surfaces, each resolved to its catalogued numbered-table row.</a:t>
            </a:r>
          </a:p>
        </p:txBody>
      </p:sp>
      <p:graphicFrame>
        <p:nvGraphicFramePr>
          <p:cNvPr id="7" name="Table 6"/>
          <p:cNvGraphicFramePr>
            <a:graphicFrameLocks noGrp="1"/>
          </p:cNvGraphicFramePr>
          <p:nvPr/>
        </p:nvGraphicFramePr>
        <p:xfrm>
          <a:off x="566928" y="2063953"/>
          <a:ext cx="11058144" cy="286290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Rover/failsafe.cpp (Rover::failsafe_check main-loop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Main-loop-lockup watchdog reading scheduler ticks + micros; 0.2 s trip → arming.disarm(CPUFAILSAFE).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Rover/failsafe.cpp:18-31 · Table 6 #3 / 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Rover/fence.cpp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Geofence position-vs-boundary check on a 100 ms (10 Hz) timing gate; position-dependent breach.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Rover/fence.cpp:6-14 · Table 6 #11 / 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EKF-variance health watchdog with 2 s confirm + 20 s warn hysteresis.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ArduSub/failsafe.cpp:100-150 · Table 5 #4 / Table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motors.output_min).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ArduSub/failsafe.cpp:29-55 · Table 6 #4 / 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ArduSub/mode*.cpp (12 files)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12 Sub mode files enumerated with per-file requires_GPS gating and checked absences in the Sub mode-gating matrix below.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 (set_mode gate) · Sub mode-gating matrix (this appendix)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AntennaTracker &amp; Blimp PNT-intersection register (F18; AAP 0.3.2 — included only where they observe / consume PNT): presence sites, per-mode gating, and checked absences.</a:t>
            </a:r>
          </a:p>
        </p:txBody>
      </p:sp>
      <p:graphicFrame>
        <p:nvGraphicFramePr>
          <p:cNvPr id="7" name="Table 6"/>
          <p:cNvGraphicFramePr>
            <a:graphicFrameLocks noGrp="1"/>
          </p:cNvGraphicFramePr>
          <p:nvPr/>
        </p:nvGraphicFramePr>
        <p:xfrm>
          <a:off x="566928" y="2063953"/>
          <a:ext cx="11058144" cy="3991613"/>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AntennaTracker/tracking.cpp (Tracker::update_vehicle_pos_estimate)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vehicle.location and vehicle.vel and dead-reckons location_estimate (offset by vel times dt) to point the antenna. Direct PNT consumption (presence, not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AntennaTracker/mode_auto.cpp + mode_guided.cpp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Auto / Guided pointing modes consume the tracked vehicle position / bearing to drive pitch and yaw. PNT-reactive.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AntennaTracker/mode_auto.cpp:5-10 · consumes 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AntennaTracker/mode_manual.cpp + mode_scan.cpp + mode_servotest.cpp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Manual / Scan / Servotest drive the antenna by stick / pattern / test only; token sweep found ZERO vehicle-position reads.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AntennaTracker/mode_servotest.cpp (0 PNT tokens) · mode_scan.cpp / mode_manual.cpp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Blimp/mode.cpp (Blimp::set_mode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PNT modes when position invalid: requires_GPS() and not blimp.position_ok(). Same gate idiom as Copter /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Blimp/mode_velocity.cpp (ModeVelocity)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needs a valid position / velocity estimate to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Blimp/mode.h:181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Blimp/mode.h:226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 (continued)</a:t>
            </a:r>
          </a:p>
        </p:txBody>
      </p:sp>
      <p:graphicFrame>
        <p:nvGraphicFramePr>
          <p:cNvPr id="6" name="Table 5"/>
          <p:cNvGraphicFramePr>
            <a:graphicFrameLocks noGrp="1"/>
          </p:cNvGraphicFramePr>
          <p:nvPr/>
        </p:nvGraphicFramePr>
        <p:xfrm>
          <a:off x="566928" y="1591056"/>
          <a:ext cx="11058144" cy="2444984"/>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Blimp/mode_rtl.cpp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Blimp/mode.h:315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Blimp/mode_manual.cpp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 no position gate; manual stick control.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Blimp/mode.h:138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 no horizontal-position gate (descent uses non-PNT references). Checked absence for horizontal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Blimp/mode.h:271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Blimp/failsafe.cpp (Blimp::failsafe_check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Blimp/failsafe.cpp:37-45 · Table 6 #5 / 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p:txBody>
      </p:sp>
      <p:graphicFrame>
        <p:nvGraphicFramePr>
          <p:cNvPr id="7" name="Table 6"/>
          <p:cNvGraphicFramePr>
            <a:graphicFrameLocks noGrp="1"/>
          </p:cNvGraphicFramePr>
          <p:nvPr/>
        </p:nvGraphicFramePr>
        <p:xfrm>
          <a:off x="566928" y="2257806"/>
          <a:ext cx="11058144" cy="273786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modules/mavlink (MAVLink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GPS_INPUT ingress (AP_GPS_MAV Source backend) and NAV_CONTROLLER_OUTPUT egress (navigation-health reporting to the GCS). PNT telemetry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.gitmodules:7-9 · Table 1 (AP_GPS_MAV.cpp:67-75 handle_msg) · Table 5 (ArduPlane/GCS_MAVLink_Plane.cpp:204-212 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modules/DroneCAN/DSDL + libcanard (CAN-bus GNSS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DroneCAN / UAVCAN Fix2 GNSS messages decoded into GPS_State. Positioning-source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.gitmodules:19-32 · Table 1 (AP_GPS_DroneCAN.cpp:388-396 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modules/ChibiOS (RTOS low-level clock / tick primitives)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Board RTOS timer backs the AP_HAL::micros() / millis() monotonic-time primitives. Timing boundary — named explicitly here as the board-timer origin of Table 3a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.gitmodules:13-15 · Table 3 #1 (AP_HAL/system.h:15-20) · Table 3a #1 (RTOS / board-hardware-timer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 (continued)</a:t>
            </a:r>
          </a:p>
        </p:txBody>
      </p:sp>
      <p:graphicFrame>
        <p:nvGraphicFramePr>
          <p:cNvPr id="6" name="Table 5"/>
          <p:cNvGraphicFramePr>
            <a:graphicFrameLocks noGrp="1"/>
          </p:cNvGraphicFramePr>
          <p:nvPr/>
        </p:nvGraphicFramePr>
        <p:xfrm>
          <a:off x="566928" y="1591056"/>
          <a:ext cx="11058144" cy="1724327"/>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l">
                        <a:lnSpc>
                          <a:spcPct val="106000"/>
                        </a:lnSpc>
                        <a:spcAft>
                          <a:spcPts val="0"/>
                        </a:spcAft>
                      </a:pPr>
                      <a:r>
                        <a:rPr sz="1100" b="0">
                          <a:solidFill>
                            <a:srgbClr val="333333"/>
                          </a:solidFill>
                          <a:latin typeface="Fira Code"/>
                        </a:rPr>
                        <a:t>modules/Micro-XRCE-DDS-Client + modules/Micro-CDR (DDS transport, AP_DDS → ROS2)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publisher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AP_DDS (AP_DDS_ENABLED=1 by default) reads PNT state and publishes it over the Micro-XRCE-DDS / Micro-CDR transport to ROS2: sensor_msgs/NavSatFix from gps.location() and geographic_msgs/GeoPoseStamped from ahrs.get_location(). PNT-egress boundary — same edge treatment as mavlink / DroneCAN.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.gitmodules:34-40 · libraries/AP_DDS/AP_DDS_Client.cpp:268-270 (NavSatFix ← gps.location) · :577-584 (GeoPose ← ahrs.get_location) · AP_DDS_config.h:11 (#define AP_DDS_ENABLED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(5)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(5)</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ArduPlane vehicle-dir indirect glue register (vehicle-symmetry completeness, AAP 0.3.1 / 0.6.1): ArduPlane failsafe-action and altitude-management glue that reacts to / consumes PNT state, mirroring the catalogued ArduCopter twins.</a:t>
            </a:r>
          </a:p>
        </p:txBody>
      </p:sp>
      <p:graphicFrame>
        <p:nvGraphicFramePr>
          <p:cNvPr id="7" name="Table 6"/>
          <p:cNvGraphicFramePr>
            <a:graphicFrameLocks noGrp="1"/>
          </p:cNvGraphicFramePr>
          <p:nvPr/>
        </p:nvGraphicFramePr>
        <p:xfrm>
          <a:off x="566928" y="2257806"/>
          <a:ext cx="11058144" cy="249764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ArduPlane/events.cpp (Plane::handle_battery_failsafe / failsafe_long_on_event / failsafe_short_on_event)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Non-PNT trigger (battery / radio / GCS) but the chosen failsafe action is PNT-gated: handle_battery_failsafe reads plane.have_position and plane.current_loc to choose land-sequence continuation vs RTL. Direct Plane analog of the catalogued ArduCopter/events.cpp.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ArduPlane/events.cpp:290-300 (have_position / current_loc land-sequence gate; def @265) · symmetric with ArduCopter/events.cpp:99-121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0">
                          <a:solidFill>
                            <a:srgbClr val="333333"/>
                          </a:solidFill>
                          <a:latin typeface="Fira Code"/>
                        </a:rPr>
                        <a:t>ArduPlane/altitude.cpp (Plane::setup_alt_slope / check_home_alt_change)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(Sink)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Positioning Sink: re-reads already-catalogued PNT state — current_loc.get_distance() / line_path_proportion() (AHRS get_location, Table 2) and ahrs.get_home() — to derive the glide slope and altitude target. Consumes, does not produce,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ArduPlane/altitude.cpp:48-55 (setup_alt_slope current_loc distance) · :31-43 (check_home_alt_change ahrs.get_home) · :109 &amp; :202 (current_loc.alt)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(6)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(6)</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AP_AHRS backend register (Navigation-hub completeness): the AP_AHRS frontend hub is catalogued in Table 2 / 2a; each concrete backend overrides the navigation accessors behind the hub.</a:t>
            </a:r>
          </a:p>
        </p:txBody>
      </p:sp>
      <p:graphicFrame>
        <p:nvGraphicFramePr>
          <p:cNvPr id="7" name="Table 6"/>
          <p:cNvGraphicFramePr>
            <a:graphicFrameLocks noGrp="1"/>
          </p:cNvGraphicFramePr>
          <p:nvPr/>
        </p:nvGraphicFramePr>
        <p:xfrm>
          <a:off x="566928" y="2063953"/>
          <a:ext cx="11058144" cy="256016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AP_AHRS_DCM (libraries/AP_AHRS/AP_AHRS_DCM.cpp)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Legacy DCM estimator backend; overrides get_location / groundspeed. Cited in the numbered Navigation tables alongside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libraries/AP_AHRS/AP_AHRS_DCM.cpp · Table 2 / Table 2a (AHRS hub + DCM)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AP_AHRS_External (libraries/AP_AHRS/AP_AHRS_External.cpp)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External-AHRS backend feeding the hub from an external INS; overrides the position accessor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libraries/AP_AHRS/AP_AHRS_External.cpp:128 (get_origin) · AP_AHRS_External.h:30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AP_AHRS_SIM (libraries/AP_AHRS/AP_AHRS_SIM.cpp)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SITL simulation backend supplying simulated navigation state to the hub; overrides get_location /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libraries/AP_AHRS/AP_AHRS_SIM.cpp:7 (get_location) · :194 (get_origin) · AP_AHRS_SIM.h:37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Copter flight modes PNT-gating matrix — 29 files (21 PNT-relevant, 8 checked-absence). Predicate: requires_GPS().</a:t>
            </a:r>
          </a:p>
        </p:txBody>
      </p:sp>
      <p:graphicFrame>
        <p:nvGraphicFramePr>
          <p:cNvPr id="7" name="Table 6"/>
          <p:cNvGraphicFramePr>
            <a:graphicFrameLocks noGrp="1"/>
          </p:cNvGraphicFramePr>
          <p:nvPr/>
        </p:nvGraphicFramePr>
        <p:xfrm>
          <a:off x="566928" y="1870100"/>
          <a:ext cx="11058144" cy="416931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mode.cpp (Copter::set_mode()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 rejects PNT modes when position invalid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ArduCopter/mode.cpp:303-307 ·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mode_acro_heli.cpp (ModeAcro_Heli)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ArduCopter/mode.h:484 · use ArduCopter/mode_althold.cpp:13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(conditional: all sub-modes except NAV_ATTITUDE_TIME)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ArduCopter/mode_auto.cpp:178 · use ArduCopter/mode_auto.cpp:42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mode_autorotate.cpp (ModeAutorotate)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ArduCopter/mode.h:2047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ArduCopter/mode.h:829 · use ArduCopter/mode_autotune.cpp:31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mode_avoid_adsb.cpp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ArduCopter/mode.h:1888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mode_brake.cpp (ModeBrake)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ArduCopter/mode.h:854 · use ArduCopter/mode_brake.cpp:13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ArduCopter/mode.h:884 · use ArduCopter/mode_circle.cpp:16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mode_drift.cpp (ModeDrift)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ArduCopter/mode.h:914 · use ArduCopter/mode_drift.cpp:54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mode_flip.cpp (ModeFlip)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ArduCopter/mode.h:942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mode_flowhold.cpp (ModeFlowHold)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×12;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ArduCopter/mode.h:989 · use ArduCopter/mode_flowhold.cpp:92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ArduCopter/mode.h:1918 · use ArduCopter/mode_follow.cpp:33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ArduCopter/mode.h:1077 · use ArduCopter/mode_guided.cpp:77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mode_guided_custom.cpp (ModeGuidedCustom)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ArduCopter/mode.h:1077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mode_guided_nogps.cpp (ModeGuidedNoGPS)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ArduCopter/mode.h:1253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(position_ok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ArduCopter/mode.h:1277 · use ArduCopter/mode_land.cpp:7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ArduCopter/mode.h:1323 · use ArduCopter/mode_loiter.cpp:17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ArduCopter/mode.h:1373 · use ArduCopter/mode_poshold.cpp:28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ArduCopter/mode.h:1461 · use ArduCopter/mode_rtl.cpp:21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ArduCopter/mode.h:1577 · use ArduCopter/mode_smart_rtl.cpp:16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mode_sport.cpp (ModeSport)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ArduCopter/mode.h:1637 · use ArduCopter/mode_sport.cpp:13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mode_stabilize_heli.cpp (ModeStabilize_Heli)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mode_systemid.cpp (ModeSystemId)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×22;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ArduCopter/mode.h:1712 · use ArduCopter/mode_systemid.cpp:115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mode_throw.cpp (ModeThrow)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ArduCopter/mode.h:1791 · use ArduCopter/mode_throw.cpp:23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mode_turtle.cpp (ModeTurtle)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ArduCopter/mode.h:1849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mode_zigzag.cpp (ModeZigZag)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ArduCopter/mode.h:1967 · use ArduCopter/mode_zigzag.cpp:75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Plane flight modes PNT-gating matrix — 26 files (20 PNT-relevant, 6 checked-absence). Predicate: does_auto_navigation().</a:t>
            </a:r>
          </a:p>
        </p:txBody>
      </p:sp>
      <p:graphicFrame>
        <p:nvGraphicFramePr>
          <p:cNvPr id="7" name="Table 6"/>
          <p:cNvGraphicFramePr>
            <a:graphicFrameLocks noGrp="1"/>
          </p:cNvGraphicFramePr>
          <p:nvPr/>
        </p:nvGraphicFramePr>
        <p:xfrm>
          <a:off x="566928" y="2063953"/>
          <a:ext cx="11058144" cy="3636216"/>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(Plane::set_mode() / mode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 consulted; nav modes consume EKF/AHRS nav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mode_LoiterAltQLand.cpp (ModeLoiterAltQLand)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ArduPlane/mode_LoiterAltQLand.cpp:8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ArduPlane/mode_auto.cpp:137 · use ArduPlane/mode_auto.cpp:10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mode_autoland.cpp (ModeAutoLand)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ArduPlane/mode.h:957 · use ArduPlane/mode_autoland.cpp:79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mode_avoidADSB.cpp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(update_loiter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ArduPlane/mode_avoidADSB.cpp:19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ArduPlane/mode.h:399 · use ArduPlane/mode_circle.cpp:7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mode_cruise.cpp (ModeCruise)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(prev_WP_loc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ArduPlane/mode_cruise.cpp:83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mode_fbwa.cpp (ModeFBWA)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mode_fbwb.cpp (ModeFBWB)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ArduPlane/mode.h:360 · use ArduPlane/mode_guided.cpp:11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ArduPlane/mode_manual.cpp:26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mode_qacro.cpp (ModeQAcro)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×16;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ArduPlane/mode_qacro.cpp:8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mode_qautotune.cpp (ModeQAutotune)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ArduPlane/mode_qautotune.cpp:11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mode_qhover.cpp (ModeQHover)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(pos_control ×13;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ArduPlane/mode_qhover.cpp:9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mode_qland.cpp (ModeQLand)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ArduPlane/mode_qland.cpp:9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mode_qloiter.cpp (ModeQLoiter)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(loiter_nav ×52;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ArduPlane/mode_qloiter.cpp:9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mode_qrtl.cpp (ModeQRTL)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×47;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ArduPlane/mode_qrtl.cpp:10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graphicFrame>
        <p:nvGraphicFramePr>
          <p:cNvPr id="6" name="Table 5"/>
          <p:cNvGraphicFramePr>
            <a:graphicFrameLocks noGrp="1"/>
          </p:cNvGraphicFramePr>
          <p:nvPr/>
        </p:nvGraphicFramePr>
        <p:xfrm>
          <a:off x="566928" y="1591056"/>
          <a:ext cx="11058144" cy="3813915"/>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mode_qstabilize.cpp (ModeQStabilize)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ArduPlane/mode_qstabilize.cpp:8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ArduPlane/mode.h:507 · use ArduPlane/mode_rtl.cpp:6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mode_takeoff.cpp (ModeTakeoff)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ArduPlane/mode.h:909 · use ArduPlane/mode_takeoff.cpp:74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mode_thermal.cpp (ModeThermal)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ArduPlane/mode.h:1025 · use ArduPlane/mode_thermal.cpp:16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mode_training.cpp (ModeTraining)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Rover drive modes PNT-gating matrix — 14 files (11 PNT-relevant, 3 checked-absence). Predicate: requires_position().</a:t>
            </a:r>
          </a:p>
        </p:txBody>
      </p:sp>
      <p:graphicFrame>
        <p:nvGraphicFramePr>
          <p:cNvPr id="7" name="Table 6"/>
          <p:cNvGraphicFramePr>
            <a:graphicFrameLocks noGrp="1"/>
          </p:cNvGraphicFramePr>
          <p:nvPr/>
        </p:nvGraphicFramePr>
        <p:xfrm>
          <a:off x="566928" y="1870100"/>
          <a:ext cx="11058144" cy="435687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(Mode::enter()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rover.ekf_position_ok() &amp;&amp; requires_position()/requires_velocity() gate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Rover/mode.h:235 · use Rover/mode_acro.cpp:37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Rover/mode_auto.cpp:14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Rover/mode_circle.cpp:85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mode_dock.cpp (ModeDock)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Rover/mode_dock.cpp:75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Rover/mode_follow.cpp:12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Rover/mode_guided.cpp:15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mode_hold.cpp (ModeHold)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Rover/mode.h:630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Rover/mode_loiter.cpp:6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 (continued)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Rover/mode.h:681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Rover/mode_rtl.cpp:11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mode_simple.cpp (ModeSimple)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Rover/mode_smart_rtl.cpp:17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mode_steering.cpp (ModeSteering)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Rover/mode.h:785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Sub flight modes PNT-gating matrix — 12 files (7 PNT-relevant, 5 checked-absence). Predicate: requires_GPS().</a:t>
            </a:r>
          </a:p>
        </p:txBody>
      </p:sp>
      <p:graphicFrame>
        <p:nvGraphicFramePr>
          <p:cNvPr id="7" name="Table 6"/>
          <p:cNvGraphicFramePr>
            <a:graphicFrameLocks noGrp="1"/>
          </p:cNvGraphicFramePr>
          <p:nvPr/>
        </p:nvGraphicFramePr>
        <p:xfrm>
          <a:off x="566928" y="1870100"/>
          <a:ext cx="11058144" cy="423183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(Sub::set_mode()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!sub.position_ok() rejects PNT 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ArduSub/mode.h:155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ArduSub/mode.h:314 · use ArduSub/mode_auto.cpp:11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ArduSub/mode.h:382 · use ArduSub/mode_circle.cpp:10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ArduSub/mode.h:260 · use ArduSub/mode_guided.cpp:34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ArduSub/mode.h:132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 (continued)</a:t>
            </a:r>
          </a:p>
        </p:txBody>
      </p:sp>
      <p:graphicFrame>
        <p:nvGraphicFramePr>
          <p:cNvPr id="6" name="Table 5"/>
          <p:cNvGraphicFramePr>
            <a:graphicFrameLocks noGrp="1"/>
          </p:cNvGraphicFramePr>
          <p:nvPr/>
        </p:nvGraphicFramePr>
        <p:xfrm>
          <a:off x="566928" y="1591056"/>
          <a:ext cx="11058144" cy="321829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mode_motordetect.cpp (ModeMotordetect)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ArduSub/mode.h:427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ArduSub/mode.h:355 · use ArduSub/mode_poshold.cpp:13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ArduSub/mode.h:178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mode_surface.cpp (ModeSurface)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ArduSub/mode.h:404 · use ArduSub/mode_surface.cpp:54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mode_surftrak.cpp (ModeSurftrak)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use ArduSub/mode_surftrak.cpp:91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PROVENANCE  ·  THE AUDIT’S OWN GUARANTEE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Provenance, in the audit’s own words</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QUOTED FROM THE AUDIT’S EXECUTIVE SUMMARY</a:t>
            </a:r>
          </a:p>
        </p:txBody>
      </p:sp>
      <p:sp>
        <p:nvSpPr>
          <p:cNvPr id="7" name="Rectangle 6"/>
          <p:cNvSpPr/>
          <p:nvPr/>
        </p:nvSpPr>
        <p:spPr>
          <a:xfrm>
            <a:off x="566928" y="1761896"/>
            <a:ext cx="32004" cy="912837"/>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912837"/>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“Provenance. This Executive Summary is derived entirely from the findings already catalogued in this document — the numbered tables, the instance mapping and the registers that follow — and no new static analysis of the ArduPilot codebase was performed to produce it. Every figure above is a reconciled total of that catalog, and every cited path:line reference in this document is unchanged: none was re-derived, re-scored or re-verified for this summary.”</a:t>
            </a:r>
          </a:p>
        </p:txBody>
      </p:sp>
      <p:sp>
        <p:nvSpPr>
          <p:cNvPr id="9" name="TextBox 8"/>
          <p:cNvSpPr txBox="1"/>
          <p:nvPr/>
        </p:nvSpPr>
        <p:spPr>
          <a:xfrm>
            <a:off x="566928" y="287590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WHAT THAT MEANS FOR THIS DECK</a:t>
            </a:r>
          </a:p>
        </p:txBody>
      </p:sp>
      <p:sp>
        <p:nvSpPr>
          <p:cNvPr id="10" name="TextBox 9"/>
          <p:cNvSpPr txBox="1"/>
          <p:nvPr/>
        </p:nvSpPr>
        <p:spPr>
          <a:xfrm>
            <a:off x="566928" y="3101605"/>
            <a:ext cx="11003280" cy="2855125"/>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This deck adds no finding and no score: every audit-derived figure is preserved exactly as the audit states it, and every row is the audit’s row.</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Where a figure is the deck’s own rather than the audit’s, the slide that carries it says so: the roll-up of the audit’s own Dependency Type column across the Layer 1 rows is labelled a roll-up, and the reconciliation’s deck-coverage column and slide locators are labelled as this deck’s own navigation metadata.</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No cited path:line reference was re-derived, re-scored or re-verified for this deck, and the audit’s line-number-basis notes are quoted, not reconciled.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audit’s own flag tokens, [FIX F*] markers and AAP cross-references are transcribed exactly as printed, including where their referents lie outside the document.</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source PDF is unchanged: it was read, never rewritten, re-rendered or regenerated.</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construct in the source, the figure the audit states for it, and the slides that carry it. Read across a row to check the audit’s own figure against the slides that represent it.</a:t>
            </a:r>
          </a:p>
        </p:txBody>
      </p:sp>
      <p:graphicFrame>
        <p:nvGraphicFramePr>
          <p:cNvPr id="7" name="Table 6"/>
          <p:cNvGraphicFramePr>
            <a:graphicFrameLocks noGrp="1"/>
          </p:cNvGraphicFramePr>
          <p:nvPr/>
        </p:nvGraphicFramePr>
        <p:xfrm>
          <a:off x="566928" y="2228202"/>
          <a:ext cx="11058144" cy="2935285"/>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Audit-Discipline Flags — taxonomy with the audit’s stated counts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[SHARED-STRUCT]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[DUPLICATED]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20–23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[CIRCULAR]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24–25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[MULTI-CATEGORY]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26–27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Inter"/>
                        </a:rPr>
                        <a:t>Flag [ABSENT]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28–30, 212, 214–215, 220–222, 224–226, 228–232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The two touch-points named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 — Core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33–37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38–51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291503"/>
            <a:ext cx="11003280" cy="864565"/>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Where a row names a single flag token, Stated by the audit is a token-occurrence figure: it counts occurrences of that token in the audit’s text, not the rows listed on the severity axis. The corpus is the Notes of every main row and every Layer 2 chain, the Legend entry that defines the flag and, for [ABSENT], the Coverage register’s checked absences, so the Slides column locates the Legend, the flags table, the severity-axis listing and, for [ABSENT], the register.</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graphicFrame>
        <p:nvGraphicFramePr>
          <p:cNvPr id="6" name="Table 5"/>
          <p:cNvGraphicFramePr>
            <a:graphicFrameLocks noGrp="1"/>
          </p:cNvGraphicFramePr>
          <p:nvPr/>
        </p:nvGraphicFramePr>
        <p:xfrm>
          <a:off x="566928" y="1591056"/>
          <a:ext cx="11058144" cy="4564161"/>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55–67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68–77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 — Core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79–85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86–99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100–102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103–116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117–121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 — Core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123–124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125–129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130–131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132–136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137–138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 — Indirect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140–143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144–149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150–151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152–156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157–158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graphicFrame>
        <p:nvGraphicFramePr>
          <p:cNvPr id="6" name="Table 5"/>
          <p:cNvGraphicFramePr>
            <a:graphicFrameLocks noGrp="1"/>
          </p:cNvGraphicFramePr>
          <p:nvPr/>
        </p:nvGraphicFramePr>
        <p:xfrm>
          <a:off x="566928" y="1591056"/>
          <a:ext cx="11058144" cy="4564161"/>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5 — Indirect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160–163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164–169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170–171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172–176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177–178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 — Indirect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180–186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187–192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193–194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195–199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200–202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Layer 1 Dependency Type roll-up, every Layer 1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Layer 2 Chain Depth ranges, one per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PNT Instance Audit — every mapping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206–207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(2)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(3)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214–215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(4)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216–217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(5)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graphicFrame>
        <p:nvGraphicFramePr>
          <p:cNvPr id="6" name="Table 5"/>
          <p:cNvGraphicFramePr>
            <a:graphicFrameLocks noGrp="1"/>
          </p:cNvGraphicFramePr>
          <p:nvPr/>
        </p:nvGraphicFramePr>
        <p:xfrm>
          <a:off x="566928" y="1591056"/>
          <a:ext cx="11058144" cy="1441314"/>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(6)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(7)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220–224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(8)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225–228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(9)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229–230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(10)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231–232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TOTALS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totals, reconciled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Each total the audit states, beside the number of rows this deck actually carries.</a:t>
            </a:r>
          </a:p>
        </p:txBody>
      </p:sp>
      <p:graphicFrame>
        <p:nvGraphicFramePr>
          <p:cNvPr id="7" name="Table 6"/>
          <p:cNvGraphicFramePr>
            <a:graphicFrameLocks noGrp="1"/>
          </p:cNvGraphicFramePr>
          <p:nvPr/>
        </p:nvGraphicFramePr>
        <p:xfrm>
          <a:off x="566928" y="1852079"/>
          <a:ext cx="11058144" cy="2438343"/>
        </p:xfrm>
        <a:graphic>
          <a:graphicData uri="http://schemas.openxmlformats.org/drawingml/2006/table">
            <a:tbl>
              <a:tblPr>
                <a:tableStyleId>{5C22544A-7EE6-4342-B048-85BDC9FD1C3A}</a:tableStyleId>
              </a:tblPr>
              <a:tblGrid>
                <a:gridCol w="5757546"/>
                <a:gridCol w="2741688"/>
                <a:gridCol w="2558910"/>
              </a:tblGrid>
              <a:tr h="270927">
                <a:tc>
                  <a:txBody>
                    <a:bodyPr wrap="square">
                      <a:noAutofit/>
                    </a:bodyPr>
                    <a:lstStyle/>
                    <a:p>
                      <a:pPr algn="l">
                        <a:lnSpc>
                          <a:spcPct val="106000"/>
                        </a:lnSpc>
                        <a:spcAft>
                          <a:spcPts val="0"/>
                        </a:spcAft>
                      </a:pPr>
                      <a:r>
                        <a:rPr sz="1300" b="1">
                          <a:solidFill>
                            <a:srgbClr val="333333"/>
                          </a:solidFill>
                          <a:latin typeface="Inter"/>
                        </a:rPr>
                        <a:t>Reconciled total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As the audit states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0">
                          <a:solidFill>
                            <a:srgbClr val="333333"/>
                          </a:solidFill>
                          <a:latin typeface="Inter"/>
                        </a:rPr>
                        <a:t>Core references (Tables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Indirect references (Tables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Total catalogued main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Evidence rows (main + Layer 1 + Layer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Main-row Code Snippet (5-10 lines)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Layer 1 Code Snippet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Coverage register entries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Current → new service mapping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491590"/>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EVERY COLUMN OF THE SOURCE TABLES, SET ON A SLIDE</a:t>
            </a:r>
          </a:p>
        </p:txBody>
      </p:sp>
      <p:sp>
        <p:nvSpPr>
          <p:cNvPr id="9" name="TextBox 8"/>
          <p:cNvSpPr txBox="1"/>
          <p:nvPr/>
        </p:nvSpPr>
        <p:spPr>
          <a:xfrm>
            <a:off x="566928" y="4717294"/>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Every column of every source table is carried on these slides, Code Snippet (5-10 lines) included: each main row and each Layer 1 edge has its own cell set out verbatim, one paragraph per source line, under the File Path and Line(s) the audit prints for it. Nothing is abbreviated, summarised or left at its citation.</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225296"/>
            <a:ext cx="10424160" cy="659739"/>
          </a:xfrm>
          <a:prstGeom prst="rect">
            <a:avLst/>
          </a:prstGeom>
          <a:noFill/>
        </p:spPr>
        <p:txBody>
          <a:bodyPr wrap="square" lIns="0" rIns="0" tIns="0" bIns="0" anchor="t">
            <a:noAutofit/>
          </a:bodyPr>
          <a:lstStyle/>
          <a:p>
            <a:pPr algn="l">
              <a:lnSpc>
                <a:spcPct val="108000"/>
              </a:lnSpc>
              <a:spcAft>
                <a:spcPts val="0"/>
              </a:spcAft>
            </a:pPr>
            <a:r>
              <a:rPr sz="3600" b="1">
                <a:solidFill>
                  <a:srgbClr val="FFFFFF"/>
                </a:solidFill>
                <a:latin typeface="Space Grotesk"/>
              </a:rPr>
              <a:t>Every finding, exactly as catalogued</a:t>
            </a:r>
          </a:p>
        </p:txBody>
      </p:sp>
      <p:sp>
        <p:nvSpPr>
          <p:cNvPr id="3" name="TextBox 2"/>
          <p:cNvSpPr txBox="1"/>
          <p:nvPr/>
        </p:nvSpPr>
        <p:spPr>
          <a:xfrm>
            <a:off x="566928" y="2159355"/>
            <a:ext cx="8412480" cy="2214676"/>
          </a:xfrm>
          <a:prstGeom prst="rect">
            <a:avLst/>
          </a:prstGeom>
          <a:noFill/>
        </p:spPr>
        <p:txBody>
          <a:bodyPr wrap="square" lIns="0" rIns="0" tIns="0" bIns="0" anchor="t">
            <a:noAutofit/>
          </a:bodyPr>
          <a:lstStyle/>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Both axes are the audit’s own: its Audit-Discipline Flags for severity, its Group and pillar structure for category.</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Every audit-derived figure is preserved exactly as stated; every row keeps its own number, citation and Notes text.</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The source of record stays exactly as it is: ArduPilot_PNT_Reference_Audit.pdf at audited HEAD 5b67e27b0a.</a:t>
            </a:r>
          </a:p>
        </p:txBody>
      </p:sp>
      <p:sp>
        <p:nvSpPr>
          <p:cNvPr id="4" name="Rectangle 3"/>
          <p:cNvSpPr/>
          <p:nvPr/>
        </p:nvSpPr>
        <p:spPr>
          <a:xfrm>
            <a:off x="566928" y="4846320"/>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5102352"/>
            <a:ext cx="3840480" cy="347472"/>
          </a:xfrm>
          <a:prstGeom prst="rect">
            <a:avLst/>
          </a:prstGeom>
          <a:noFill/>
        </p:spPr>
        <p:txBody>
          <a:bodyPr wrap="square" lIns="0" rIns="0" tIns="0" bIns="0" anchor="t">
            <a:noAutofit/>
          </a:bodyPr>
          <a:lstStyle/>
          <a:p>
            <a:pPr algn="l">
              <a:lnSpc>
                <a:spcPct val="100000"/>
              </a:lnSpc>
              <a:spcAft>
                <a:spcPts val="0"/>
              </a:spcAft>
            </a:pPr>
            <a:r>
              <a:rPr sz="1600" b="1">
                <a:solidFill>
                  <a:srgbClr val="94FAD5"/>
                </a:solidFill>
                <a:latin typeface="Space Grotesk"/>
              </a:rPr>
              <a:t>Blitzy</a:t>
            </a:r>
          </a:p>
        </p:txBody>
      </p:sp>
      <p:sp>
        <p:nvSpPr>
          <p:cNvPr id="6" name="TextBox 5"/>
          <p:cNvSpPr txBox="1"/>
          <p:nvPr/>
        </p:nvSpPr>
        <p:spPr>
          <a:xfrm>
            <a:off x="566928" y="5522976"/>
            <a:ext cx="11058144" cy="214960"/>
          </a:xfrm>
          <a:prstGeom prst="rect">
            <a:avLst/>
          </a:prstGeom>
          <a:noFill/>
        </p:spPr>
        <p:txBody>
          <a:bodyPr wrap="square" lIns="0" rIns="0" tIns="0" bIns="0" anchor="t">
            <a:noAutofit/>
          </a:bodyPr>
          <a:lstStyle/>
          <a:p>
            <a:pPr algn="l">
              <a:lnSpc>
                <a:spcPct val="100000"/>
              </a:lnSpc>
              <a:spcAft>
                <a:spcPts val="0"/>
              </a:spcAft>
            </a:pPr>
            <a:r>
              <a:rPr sz="1400" b="0">
                <a:solidFill>
                  <a:srgbClr val="94FAD5"/>
                </a:solidFill>
                <a:latin typeface="Inter"/>
              </a:rPr>
              <a:t>ArduPilot PNT (Positioning, Navigation, Timing) Reference Audit  ·  43 pages  ·  94 catalogued references  ·  282 evidence rows</a:t>
            </a:r>
          </a:p>
        </p:txBody>
      </p:sp>
    </p:spTree>
  </p:cSld>
  <p:clrMapOvr>
    <a:masterClrMapping/>
  </p:clrMapOvr>
</p:sld>
</file>

<file path=ppt/theme/theme1.xml><?xml version="1.0" encoding="utf-8"?>
<a:theme xmlns:a="http://schemas.openxmlformats.org/drawingml/2006/main" name="Blitzy Presentation">
  <a:themeElements>
    <a:clrScheme name="Blitzy">
      <a:dk1>
        <a:srgbClr val="333333"/>
      </a:dk1>
      <a:lt1>
        <a:srgbClr val="FFFFFF"/>
      </a:lt1>
      <a:dk2>
        <a:srgbClr val="1A105F"/>
      </a:dk2>
      <a:lt2>
        <a:srgbClr val="F4EFF6"/>
      </a:lt2>
      <a:accent1>
        <a:srgbClr val="5B39F3"/>
      </a:accent1>
      <a:accent2>
        <a:srgbClr val="7A6DEC"/>
      </a:accent2>
      <a:accent3>
        <a:srgbClr val="4101DB"/>
      </a:accent3>
      <a:accent4>
        <a:srgbClr val="2D1C77"/>
      </a:accent4>
      <a:accent5>
        <a:srgbClr val="94FAD5"/>
      </a:accent5>
      <a:accent6>
        <a:srgbClr val="999999"/>
      </a:accent6>
      <a:hlink>
        <a:srgbClr val="5B39F3"/>
      </a:hlink>
      <a:folHlink>
        <a:srgbClr val="2D1C77"/>
      </a:folHlink>
    </a:clrScheme>
    <a:fontScheme name="Blitzy">
      <a:majorFont>
        <a:latin typeface="Space Grotesk"/>
        <a:ea typeface=""/>
        <a:cs typeface=""/>
      </a:majorFont>
      <a:minorFont>
        <a:latin typeface="Inter"/>
        <a:ea typeface=""/>
        <a:cs typeface=""/>
      </a:minorFont>
    </a:fontScheme>
    <a:fmtScheme name="Blitz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33741</Words>
  <PresentationFormat>Widescreen</PresentationFormat>
  <Paragraphs>7022</Paragraphs>
  <Slides>239</Slides>
  <Notes>0</Notes>
  <HiddenSlides>0</HiddenSlides>
  <MMClips>0</MMClips>
  <ScaleCrop>false</ScaleCrop>
  <HeadingPairs>
    <vt:vector size="4" baseType="variant">
      <vt:variant>
        <vt:lpstr>Theme</vt:lpstr>
      </vt:variant>
      <vt:variant>
        <vt:i4>1</vt:i4>
      </vt:variant>
      <vt:variant>
        <vt:lpstr>Slide Titles</vt:lpstr>
      </vt:variant>
      <vt:variant>
        <vt:i4>239</vt:i4>
      </vt:variant>
    </vt:vector>
  </HeadingPairs>
  <TitlesOfParts>
    <vt:vector size="240" baseType="lpstr">
      <vt:lpstr>Blitzy Presentation</vt:lpstr>
      <vt:lpstr>ArduPilot PNT (Positioning, Navigation, Timing) Reference Audit</vt:lpstr>
      <vt:lpstr>How to read this deck</vt:lpstr>
      <vt:lpstr>The audit at a glance</vt:lpstr>
      <vt:lpstr>Legend</vt:lpstr>
      <vt:lpstr>Scope of the catalog</vt:lpstr>
      <vt:lpstr>Footprint Summary</vt:lpstr>
      <vt:lpstr>Project overview and the core problem addressed</vt:lpstr>
      <vt:lpstr>Project overview and the core problem addressed (continued)</vt:lpstr>
      <vt:lpstr>Key Stakeholders and Users</vt:lpstr>
      <vt:lpstr>Which part of this deck each audience needs</vt:lpstr>
      <vt:lpstr>Key Findings at a Glance</vt:lpstr>
      <vt:lpstr>Key Findings at a Glance (continued)</vt:lpstr>
      <vt:lpstr>Expected Impact and Value Proposition</vt:lpstr>
      <vt:lpstr>Document Roadmap / How to Read This Document</vt:lpstr>
      <vt:lpstr>Severity axis</vt:lpstr>
      <vt:lpstr>Audit-Discipline Flags</vt:lpstr>
      <vt:lpstr>Flag [SHARED-STRUCT] – where it is applied</vt:lpstr>
      <vt:lpstr>Flag [SHARED-STRUCT] (continued)</vt:lpstr>
      <vt:lpstr>Flag [SHARED-STRUCT] in the Layer 2 chains</vt:lpstr>
      <vt:lpstr>Flag [DUPLICATED] – where it is applied</vt:lpstr>
      <vt:lpstr>Flag [DUPLICATED] (continued)</vt:lpstr>
      <vt:lpstr>Flag [DUPLICATED] in the Layer 2 chains</vt:lpstr>
      <vt:lpstr>Flag [DUPLICATED] in the Layer 2 chains (continued)</vt:lpstr>
      <vt:lpstr>Flag [CIRCULAR] – where it is applied</vt:lpstr>
      <vt:lpstr>Flag [CIRCULAR] in the Layer 2 chains</vt:lpstr>
      <vt:lpstr>Flag [MULTI-CATEGORY] – where it is applied</vt:lpstr>
      <vt:lpstr>Flag [MULTI-CATEGORY] in the Layer 2 chains</vt:lpstr>
      <vt:lpstr>Flag [ABSENT] – where it is applied</vt:lpstr>
      <vt:lpstr>Flag [ABSENT] in the Layer 2 chains</vt:lpstr>
      <vt:lpstr>Flag [ABSENT] – the checked absences</vt:lpstr>
      <vt:lpstr>The two touch-points the audit itself singles out</vt:lpstr>
      <vt:lpstr>Table 1 — Core Positioning</vt:lpstr>
      <vt:lpstr>Table 1 — Core Positioning</vt:lpstr>
      <vt:lpstr>Table 1 — Core Positioning (continued)</vt:lpstr>
      <vt:lpstr>Table 1 — Core Positioning (continued)</vt:lpstr>
      <vt:lpstr>Table 1 — Core Positioning (continued)</vt:lpstr>
      <vt:lpstr>Table 1 — Core Positioning (continued)</vt:lpstr>
      <vt:lpstr>Table 1 — Code Snippet (5-10 lines)</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1a — Layer 1 dependency map</vt:lpstr>
      <vt:lpstr>Table 1a — Layer 1 dependency map (continued)</vt:lpstr>
      <vt:lpstr>Table 1a — Layer 1 dependency map (continued)</vt:lpstr>
      <vt:lpstr>Table 1a — Layer 1 Code Snippet</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2 transitive chains</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2 — Core Navigation</vt:lpstr>
      <vt:lpstr>Table 2 — Core Navigation</vt:lpstr>
      <vt:lpstr>Table 2 — Core Navigation (continued)</vt:lpstr>
      <vt:lpstr>Table 2 — Core Navigation (continued)</vt:lpstr>
      <vt:lpstr>Table 2 — Core Navigation (continued)</vt:lpstr>
      <vt:lpstr>Table 2 — Core Navigation (continued)</vt:lpstr>
      <vt:lpstr>Table 2 — Core Navigation (continued)</vt:lpstr>
      <vt:lpstr>Table 2 — Core Navigation (continued)</vt:lpstr>
      <vt:lpstr>Table 2 — Code Snippet (5-10 lines)</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2a — Layer 1 dependency map</vt:lpstr>
      <vt:lpstr>Table 2a — Layer 1 dependency map (continued)</vt:lpstr>
      <vt:lpstr>Table 2a — Layer 1 dependency map (continued)</vt:lpstr>
      <vt:lpstr>Table 2a — Layer 1 Code Snippet</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2 transitive chains</vt:lpstr>
      <vt:lpstr>Table 2a — Layer 2 transitive chains (continued)</vt:lpstr>
      <vt:lpstr>Table 2a — Layer 2 transitive chains (continued)</vt:lpstr>
      <vt:lpstr>Table 2a — Layer 2 transitive chains (continued)</vt:lpstr>
      <vt:lpstr>Table 2a — Layer 2 transitive chains (continued)</vt:lpstr>
      <vt:lpstr>Table 3 — Core Timing</vt:lpstr>
      <vt:lpstr>Table 3 — Core Timing</vt:lpstr>
      <vt:lpstr>Table 3 — Core Timing (continued)</vt:lpstr>
      <vt:lpstr>Table 3 — Code Snippet (5-10 lines)</vt:lpstr>
      <vt:lpstr>Table 3 — Code Snippet (5-10 lines) (continued)</vt:lpstr>
      <vt:lpstr>Table 3 — Code Snippet (5-10 lines) (continued)</vt:lpstr>
      <vt:lpstr>Table 3 — Code Snippet (5-10 lines) (continued)</vt:lpstr>
      <vt:lpstr>Table 3 — Code Snippet (5-10 lines) (continued)</vt:lpstr>
      <vt:lpstr>Table 3a — Layer 1 dependency map</vt:lpstr>
      <vt:lpstr>Table 3a — Layer 1 dependency map (continued)</vt:lpstr>
      <vt:lpstr>Table 3a — Layer 1 Code Snippet</vt:lpstr>
      <vt:lpstr>Table 3a — Layer 1 Code Snippet (continued)</vt:lpstr>
      <vt:lpstr>Table 3a — Layer 1 Code Snippet (continued)</vt:lpstr>
      <vt:lpstr>Table 3a — Layer 1 Code Snippet (continued)</vt:lpstr>
      <vt:lpstr>Table 3a — Layer 1 Code Snippet (continued)</vt:lpstr>
      <vt:lpstr>Table 3a — Layer 2 transitive chains</vt:lpstr>
      <vt:lpstr>Table 3a — Layer 2 transitive chains (continued)</vt:lpstr>
      <vt:lpstr>Table 4 — Indirect Positioning</vt:lpstr>
      <vt:lpstr>Table 4 — Indirect Positioning</vt:lpstr>
      <vt:lpstr>Table 4 — Indirect Positioning (continued)</vt:lpstr>
      <vt:lpstr>Table 4 — Indirect Positioning (continued)</vt:lpstr>
      <vt:lpstr>Table 4 — Indirect Positioning (continued)</vt:lpstr>
      <vt:lpstr>Table 4 — Code Snippet (5-10 lines)</vt:lpstr>
      <vt:lpstr>Table 4 — Code Snippet (5-10 lines) (continued)</vt:lpstr>
      <vt:lpstr>Table 4 — Code Snippet (5-10 lines) (continued)</vt:lpstr>
      <vt:lpstr>Table 4 — Code Snippet (5-10 lines) (continued)</vt:lpstr>
      <vt:lpstr>Table 4 — Code Snippet (5-10 lines) (continued)</vt:lpstr>
      <vt:lpstr>Table 4 — Code Snippet (5-10 lines) (continued)</vt:lpstr>
      <vt:lpstr>Table 4a — Layer 1 dependency map</vt:lpstr>
      <vt:lpstr>Table 4a — Layer 1 dependency map (continued)</vt:lpstr>
      <vt:lpstr>Table 4a — Layer 1 Code Snippet</vt:lpstr>
      <vt:lpstr>Table 4a — Layer 1 Code Snippet (continued)</vt:lpstr>
      <vt:lpstr>Table 4a — Layer 1 Code Snippet (continued)</vt:lpstr>
      <vt:lpstr>Table 4a — Layer 1 Code Snippet (continued)</vt:lpstr>
      <vt:lpstr>Table 4a — Layer 1 Code Snippet (continued)</vt:lpstr>
      <vt:lpstr>Table 4a — Layer 2 transitive chains</vt:lpstr>
      <vt:lpstr>Table 4a — Layer 2 transitive chains (continued)</vt:lpstr>
      <vt:lpstr>Table 5 — Indirect Navigation</vt:lpstr>
      <vt:lpstr>Table 5 — Indirect Navigation</vt:lpstr>
      <vt:lpstr>Table 5 — Indirect Navigation (continued)</vt:lpstr>
      <vt:lpstr>Table 5 — Indirect Navigation (continued)</vt:lpstr>
      <vt:lpstr>Table 5 — Indirect Navigation (continued)</vt:lpstr>
      <vt:lpstr>Table 5 — Code Snippet (5-10 lines)</vt:lpstr>
      <vt:lpstr>Table 5 — Code Snippet (5-10 lines) (continued)</vt:lpstr>
      <vt:lpstr>Table 5 — Code Snippet (5-10 lines) (continued)</vt:lpstr>
      <vt:lpstr>Table 5 — Code Snippet (5-10 lines) (continued)</vt:lpstr>
      <vt:lpstr>Table 5 — Code Snippet (5-10 lines) (continued)</vt:lpstr>
      <vt:lpstr>Table 5 — Code Snippet (5-10 lines) (continued)</vt:lpstr>
      <vt:lpstr>Table 5a — Layer 1 dependency map</vt:lpstr>
      <vt:lpstr>Table 5a — Layer 1 dependency map (continued)</vt:lpstr>
      <vt:lpstr>Table 5a — Layer 1 Code Snippet</vt:lpstr>
      <vt:lpstr>Table 5a — Layer 1 Code Snippet (continued)</vt:lpstr>
      <vt:lpstr>Table 5a — Layer 1 Code Snippet (continued)</vt:lpstr>
      <vt:lpstr>Table 5a — Layer 1 Code Snippet (continued)</vt:lpstr>
      <vt:lpstr>Table 5a — Layer 1 Code Snippet (continued)</vt:lpstr>
      <vt:lpstr>Table 5a — Layer 2 transitive chains</vt:lpstr>
      <vt:lpstr>Table 5a — Layer 2 transitive chains (continued)</vt:lpstr>
      <vt:lpstr>Table 6 — Indirect Timing</vt:lpstr>
      <vt:lpstr>Table 6 — Indirect Timing</vt:lpstr>
      <vt:lpstr>Table 6 — Indirect Timing (continued)</vt:lpstr>
      <vt:lpstr>Table 6 — Indirect Timing (continued)</vt:lpstr>
      <vt:lpstr>Table 6 — Indirect Timing (continued)</vt:lpstr>
      <vt:lpstr>Table 6 — Indirect Timing (continued)</vt:lpstr>
      <vt:lpstr>Table 6 — Indirect Timing (continued)</vt:lpstr>
      <vt:lpstr>Table 6 — Indirect Timing (continued)</vt:lpstr>
      <vt:lpstr>Table 6 — Code Snippet (5-10 lines)</vt:lpstr>
      <vt:lpstr>Table 6 — Code Snippet (5-10 lines) (continued)</vt:lpstr>
      <vt:lpstr>Table 6 — Code Snippet (5-10 lines) (continued)</vt:lpstr>
      <vt:lpstr>Table 6 — Code Snippet (5-10 lines) (continued)</vt:lpstr>
      <vt:lpstr>Table 6 — Code Snippet (5-10 lines) (continued)</vt:lpstr>
      <vt:lpstr>Table 6 — Code Snippet (5-10 lines) (continued)</vt:lpstr>
      <vt:lpstr>Table 6a — Layer 1 dependency map</vt:lpstr>
      <vt:lpstr>Table 6a — Layer 1 dependency map (continued)</vt:lpstr>
      <vt:lpstr>Table 6a — Layer 1 Code Snippet</vt:lpstr>
      <vt:lpstr>Table 6a — Layer 1 Code Snippet (continued)</vt:lpstr>
      <vt:lpstr>Table 6a — Layer 1 Code Snippet (continued)</vt:lpstr>
      <vt:lpstr>Table 6a — Layer 1 Code Snippet (continued)</vt:lpstr>
      <vt:lpstr>Table 6a — Layer 1 Code Snippet (continued)</vt:lpstr>
      <vt:lpstr>Table 6a — Layer 2 transitive chains</vt:lpstr>
      <vt:lpstr>Table 6a — Layer 2 transitive chains (continued)</vt:lpstr>
      <vt:lpstr>Table 6a — Layer 2 transitive chains (continued)</vt:lpstr>
      <vt:lpstr>Layer 1 dependency types across all 94 rows</vt:lpstr>
      <vt:lpstr>Layer 2 chain depth, and the evidence-row reconciliation</vt:lpstr>
      <vt:lpstr>PNT Instance Audit</vt:lpstr>
      <vt:lpstr>PNT Instance Audit</vt:lpstr>
      <vt:lpstr>PNT Instance Audit (continued)</vt:lpstr>
      <vt:lpstr>The line-number basis, reproduced unchanged</vt:lpstr>
      <vt:lpstr>Coverage &amp; Explicit-Absence Register</vt:lpstr>
      <vt:lpstr>What the register establishes</vt:lpstr>
      <vt:lpstr>The ten sub-registers, in the audit’s own order</vt:lpstr>
      <vt:lpstr>Coverage sub-register (1)</vt:lpstr>
      <vt:lpstr>Coverage sub-register (2)</vt:lpstr>
      <vt:lpstr>Coverage sub-register (3)</vt:lpstr>
      <vt:lpstr>Coverage sub-register (3) (continued)</vt:lpstr>
      <vt:lpstr>Coverage sub-register (4)</vt:lpstr>
      <vt:lpstr>Coverage sub-register (4) (continued)</vt:lpstr>
      <vt:lpstr>Coverage sub-register (5)</vt:lpstr>
      <vt:lpstr>Coverage sub-register (6)</vt:lpstr>
      <vt:lpstr>Coverage sub-register (7)</vt:lpstr>
      <vt:lpstr>Coverage sub-register (7) (continued)</vt:lpstr>
      <vt:lpstr>Coverage sub-register (7) (continued)</vt:lpstr>
      <vt:lpstr>Coverage sub-register (7) (continued)</vt:lpstr>
      <vt:lpstr>Coverage sub-register (7) (continued)</vt:lpstr>
      <vt:lpstr>Coverage sub-register (8)</vt:lpstr>
      <vt:lpstr>Coverage sub-register (8) (continued)</vt:lpstr>
      <vt:lpstr>Coverage sub-register (8) (continued)</vt:lpstr>
      <vt:lpstr>Coverage sub-register (8) (continued)</vt:lpstr>
      <vt:lpstr>Coverage sub-register (9)</vt:lpstr>
      <vt:lpstr>Coverage sub-register (9) (continued)</vt:lpstr>
      <vt:lpstr>Coverage sub-register (10)</vt:lpstr>
      <vt:lpstr>Coverage sub-register (10) (continued)</vt:lpstr>
      <vt:lpstr>Provenance, in the audit’s own words</vt:lpstr>
      <vt:lpstr>Coverage reconciliation</vt:lpstr>
      <vt:lpstr>Coverage reconciliation (continued)</vt:lpstr>
      <vt:lpstr>Coverage reconciliation (continued)</vt:lpstr>
      <vt:lpstr>Coverage reconciliation (continued)</vt:lpstr>
      <vt:lpstr>The totals, reconciled</vt:lpstr>
      <vt:lpstr>Every finding, exactly as catalogued</vt:lpstr>
    </vt:vector>
  </TitlesOfParts>
  <Company>Blitzy</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ArduPilot PNT Reference Audit — Full Findings</dc:title>
  <dc:creator>Blitzy</dc:creator>
  <cp:lastModifiedBy>Blitzy</cp:lastModifiedBy>
  <cp:revision>1</cp:revision>
  <dc:subject>Every catalogued finding of the ArduPilot PNT Reference Audit, ordered by the audit’s own Audit-Discipline Flags severity axis and its own Group and pillar category axis.</dc:subject>
  <dc:description>Comprehensive findings deck over the ArduPilot PNT Reference Audit at audited HEAD 5b67e27b0a: all 94 catalogued main rows with their paired Layer 1 and Layer 2 dependency maps, the 12-row service mapping and all 109 coverage entries, quoted verbatim.</dc:description>
  <cp:keywords>ArduPilot; PNT; positioning; navigation; timing; static-analysis catalog; audit findings; dependency map</cp:keywords>
  <cp:category>Audit findings reference</cp:category>
  <cp:contentStatus>Final</cp:contentStatus>
  <dc:language>en-GB</dc:language>
  <dcterms:created xsi:type="dcterms:W3CDTF">2026-08-01T21:17:14Z</dcterms:created>
  <dcterms:modified xsi:type="dcterms:W3CDTF">2026-08-01T21:17:14Z</dcterms:modified>
</cp:coreProperties>
</file>