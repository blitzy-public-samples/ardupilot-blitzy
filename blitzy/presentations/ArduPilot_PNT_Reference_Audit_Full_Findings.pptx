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 id="342" r:id="rId92"/>
    <p:sldId id="343" r:id="rId93"/>
    <p:sldId id="344" r:id="rId94"/>
    <p:sldId id="345" r:id="rId95"/>
    <p:sldId id="346" r:id="rId96"/>
    <p:sldId id="347" r:id="rId97"/>
    <p:sldId id="348" r:id="rId98"/>
    <p:sldId id="349" r:id="rId99"/>
    <p:sldId id="350" r:id="rId100"/>
    <p:sldId id="351" r:id="rId101"/>
    <p:sldId id="352" r:id="rId102"/>
    <p:sldId id="353" r:id="rId103"/>
    <p:sldId id="354" r:id="rId104"/>
    <p:sldId id="355" r:id="rId105"/>
    <p:sldId id="356" r:id="rId106"/>
    <p:sldId id="357" r:id="rId107"/>
    <p:sldId id="358" r:id="rId108"/>
    <p:sldId id="359" r:id="rId109"/>
    <p:sldId id="360" r:id="rId110"/>
    <p:sldId id="361" r:id="rId111"/>
    <p:sldId id="362" r:id="rId112"/>
    <p:sldId id="363" r:id="rId113"/>
    <p:sldId id="364" r:id="rId114"/>
    <p:sldId id="365" r:id="rId115"/>
    <p:sldId id="366" r:id="rId116"/>
    <p:sldId id="367" r:id="rId117"/>
    <p:sldId id="368" r:id="rId118"/>
    <p:sldId id="369" r:id="rId119"/>
    <p:sldId id="370" r:id="rId120"/>
    <p:sldId id="371" r:id="rId121"/>
    <p:sldId id="372" r:id="rId122"/>
    <p:sldId id="373" r:id="rId123"/>
    <p:sldId id="374" r:id="rId124"/>
    <p:sldId id="375" r:id="rId125"/>
    <p:sldId id="376" r:id="rId126"/>
    <p:sldId id="377" r:id="rId127"/>
    <p:sldId id="378" r:id="rId128"/>
    <p:sldId id="379" r:id="rId129"/>
    <p:sldId id="380" r:id="rId130"/>
    <p:sldId id="381" r:id="rId131"/>
    <p:sldId id="382" r:id="rId132"/>
    <p:sldId id="383" r:id="rId133"/>
    <p:sldId id="384" r:id="rId134"/>
    <p:sldId id="385" r:id="rId135"/>
    <p:sldId id="386" r:id="rId136"/>
    <p:sldId id="387" r:id="rId137"/>
    <p:sldId id="388" r:id="rId138"/>
    <p:sldId id="389" r:id="rId139"/>
    <p:sldId id="390" r:id="rId140"/>
    <p:sldId id="391" r:id="rId141"/>
    <p:sldId id="392" r:id="rId142"/>
    <p:sldId id="393" r:id="rId143"/>
    <p:sldId id="394" r:id="rId144"/>
    <p:sldId id="395" r:id="rId145"/>
    <p:sldId id="396" r:id="rId146"/>
    <p:sldId id="397" r:id="rId147"/>
    <p:sldId id="398" r:id="rId148"/>
    <p:sldId id="399" r:id="rId149"/>
    <p:sldId id="400" r:id="rId150"/>
    <p:sldId id="401" r:id="rId151"/>
    <p:sldId id="402" r:id="rId152"/>
    <p:sldId id="403" r:id="rId153"/>
    <p:sldId id="404" r:id="rId154"/>
    <p:sldId id="405" r:id="rId155"/>
    <p:sldId id="406" r:id="rId156"/>
    <p:sldId id="407" r:id="rId157"/>
    <p:sldId id="408" r:id="rId158"/>
    <p:sldId id="409" r:id="rId159"/>
    <p:sldId id="410" r:id="rId160"/>
    <p:sldId id="411" r:id="rId161"/>
    <p:sldId id="412" r:id="rId162"/>
    <p:sldId id="413" r:id="rId163"/>
    <p:sldId id="414" r:id="rId164"/>
    <p:sldId id="415" r:id="rId165"/>
    <p:sldId id="416" r:id="rId166"/>
    <p:sldId id="417" r:id="rId167"/>
    <p:sldId id="418" r:id="rId168"/>
    <p:sldId id="419" r:id="rId169"/>
    <p:sldId id="420" r:id="rId170"/>
    <p:sldId id="421" r:id="rId171"/>
    <p:sldId id="422" r:id="rId172"/>
    <p:sldId id="423" r:id="rId173"/>
    <p:sldId id="424" r:id="rId174"/>
    <p:sldId id="425" r:id="rId175"/>
    <p:sldId id="426" r:id="rId176"/>
    <p:sldId id="427" r:id="rId177"/>
    <p:sldId id="428" r:id="rId178"/>
    <p:sldId id="429" r:id="rId179"/>
    <p:sldId id="430" r:id="rId180"/>
    <p:sldId id="431" r:id="rId181"/>
    <p:sldId id="432" r:id="rId182"/>
    <p:sldId id="433" r:id="rId183"/>
    <p:sldId id="434" r:id="rId184"/>
    <p:sldId id="435" r:id="rId185"/>
    <p:sldId id="436" r:id="rId186"/>
    <p:sldId id="437" r:id="rId187"/>
    <p:sldId id="438" r:id="rId188"/>
    <p:sldId id="439" r:id="rId189"/>
    <p:sldId id="440" r:id="rId190"/>
    <p:sldId id="441" r:id="rId191"/>
    <p:sldId id="442" r:id="rId192"/>
    <p:sldId id="443" r:id="rId193"/>
    <p:sldId id="444" r:id="rId194"/>
    <p:sldId id="445" r:id="rId195"/>
    <p:sldId id="446" r:id="rId196"/>
    <p:sldId id="447" r:id="rId197"/>
    <p:sldId id="448" r:id="rId198"/>
    <p:sldId id="449" r:id="rId199"/>
    <p:sldId id="450" r:id="rId200"/>
    <p:sldId id="451" r:id="rId201"/>
    <p:sldId id="452" r:id="rId202"/>
    <p:sldId id="453" r:id="rId203"/>
    <p:sldId id="454" r:id="rId204"/>
    <p:sldId id="455" r:id="rId205"/>
    <p:sldId id="456" r:id="rId206"/>
    <p:sldId id="457" r:id="rId207"/>
    <p:sldId id="458" r:id="rId208"/>
    <p:sldId id="459" r:id="rId209"/>
    <p:sldId id="460" r:id="rId210"/>
    <p:sldId id="461" r:id="rId211"/>
    <p:sldId id="462" r:id="rId212"/>
    <p:sldId id="463" r:id="rId213"/>
    <p:sldId id="464" r:id="rId214"/>
    <p:sldId id="465" r:id="rId215"/>
    <p:sldId id="466" r:id="rId216"/>
    <p:sldId id="467" r:id="rId217"/>
    <p:sldId id="468" r:id="rId218"/>
    <p:sldId id="469" r:id="rId219"/>
    <p:sldId id="470" r:id="rId220"/>
    <p:sldId id="471" r:id="rId221"/>
    <p:sldId id="472" r:id="rId222"/>
    <p:sldId id="473" r:id="rId223"/>
    <p:sldId id="474" r:id="rId224"/>
    <p:sldId id="475" r:id="rId225"/>
    <p:sldId id="476" r:id="rId226"/>
    <p:sldId id="477" r:id="rId227"/>
    <p:sldId id="478" r:id="rId228"/>
    <p:sldId id="479" r:id="rId229"/>
    <p:sldId id="480" r:id="rId230"/>
    <p:sldId id="481" r:id="rId231"/>
    <p:sldId id="482" r:id="rId232"/>
    <p:sldId id="483" r:id="rId233"/>
    <p:sldId id="484" r:id="rId234"/>
    <p:sldId id="485" r:id="rId235"/>
    <p:sldId id="486" r:id="rId236"/>
    <p:sldId id="487" r:id="rId237"/>
    <p:sldId id="488" r:id="rId238"/>
    <p:sldId id="489" r:id="rId239"/>
    <p:sldId id="490" r:id="rId240"/>
    <p:sldId id="491" r:id="rId241"/>
    <p:sldId id="492" r:id="rId242"/>
    <p:sldId id="493" r:id="rId243"/>
    <p:sldId id="494" r:id="rId24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 Id="rId75" Type="http://schemas.openxmlformats.org/officeDocument/2006/relationships/slide" Target="slides/slide70.xml"/><Relationship Id="rId76" Type="http://schemas.openxmlformats.org/officeDocument/2006/relationships/slide" Target="slides/slide71.xml"/><Relationship Id="rId77" Type="http://schemas.openxmlformats.org/officeDocument/2006/relationships/slide" Target="slides/slide72.xml"/><Relationship Id="rId78" Type="http://schemas.openxmlformats.org/officeDocument/2006/relationships/slide" Target="slides/slide73.xml"/><Relationship Id="rId79" Type="http://schemas.openxmlformats.org/officeDocument/2006/relationships/slide" Target="slides/slide74.xml"/><Relationship Id="rId80" Type="http://schemas.openxmlformats.org/officeDocument/2006/relationships/slide" Target="slides/slide75.xml"/><Relationship Id="rId81" Type="http://schemas.openxmlformats.org/officeDocument/2006/relationships/slide" Target="slides/slide76.xml"/><Relationship Id="rId82" Type="http://schemas.openxmlformats.org/officeDocument/2006/relationships/slide" Target="slides/slide77.xml"/><Relationship Id="rId83" Type="http://schemas.openxmlformats.org/officeDocument/2006/relationships/slide" Target="slides/slide78.xml"/><Relationship Id="rId84" Type="http://schemas.openxmlformats.org/officeDocument/2006/relationships/slide" Target="slides/slide79.xml"/><Relationship Id="rId85" Type="http://schemas.openxmlformats.org/officeDocument/2006/relationships/slide" Target="slides/slide80.xml"/><Relationship Id="rId86" Type="http://schemas.openxmlformats.org/officeDocument/2006/relationships/slide" Target="slides/slide81.xml"/><Relationship Id="rId87" Type="http://schemas.openxmlformats.org/officeDocument/2006/relationships/slide" Target="slides/slide82.xml"/><Relationship Id="rId88" Type="http://schemas.openxmlformats.org/officeDocument/2006/relationships/slide" Target="slides/slide83.xml"/><Relationship Id="rId89" Type="http://schemas.openxmlformats.org/officeDocument/2006/relationships/slide" Target="slides/slide84.xml"/><Relationship Id="rId90" Type="http://schemas.openxmlformats.org/officeDocument/2006/relationships/slide" Target="slides/slide85.xml"/><Relationship Id="rId91" Type="http://schemas.openxmlformats.org/officeDocument/2006/relationships/slide" Target="slides/slide86.xml"/><Relationship Id="rId92" Type="http://schemas.openxmlformats.org/officeDocument/2006/relationships/slide" Target="slides/slide87.xml"/><Relationship Id="rId93" Type="http://schemas.openxmlformats.org/officeDocument/2006/relationships/slide" Target="slides/slide88.xml"/><Relationship Id="rId94" Type="http://schemas.openxmlformats.org/officeDocument/2006/relationships/slide" Target="slides/slide89.xml"/><Relationship Id="rId95" Type="http://schemas.openxmlformats.org/officeDocument/2006/relationships/slide" Target="slides/slide90.xml"/><Relationship Id="rId96" Type="http://schemas.openxmlformats.org/officeDocument/2006/relationships/slide" Target="slides/slide91.xml"/><Relationship Id="rId97" Type="http://schemas.openxmlformats.org/officeDocument/2006/relationships/slide" Target="slides/slide92.xml"/><Relationship Id="rId98" Type="http://schemas.openxmlformats.org/officeDocument/2006/relationships/slide" Target="slides/slide93.xml"/><Relationship Id="rId99" Type="http://schemas.openxmlformats.org/officeDocument/2006/relationships/slide" Target="slides/slide94.xml"/><Relationship Id="rId100" Type="http://schemas.openxmlformats.org/officeDocument/2006/relationships/slide" Target="slides/slide95.xml"/><Relationship Id="rId101" Type="http://schemas.openxmlformats.org/officeDocument/2006/relationships/slide" Target="slides/slide96.xml"/><Relationship Id="rId102" Type="http://schemas.openxmlformats.org/officeDocument/2006/relationships/slide" Target="slides/slide97.xml"/><Relationship Id="rId103" Type="http://schemas.openxmlformats.org/officeDocument/2006/relationships/slide" Target="slides/slide98.xml"/><Relationship Id="rId104" Type="http://schemas.openxmlformats.org/officeDocument/2006/relationships/slide" Target="slides/slide99.xml"/><Relationship Id="rId105" Type="http://schemas.openxmlformats.org/officeDocument/2006/relationships/slide" Target="slides/slide100.xml"/><Relationship Id="rId106" Type="http://schemas.openxmlformats.org/officeDocument/2006/relationships/slide" Target="slides/slide101.xml"/><Relationship Id="rId107" Type="http://schemas.openxmlformats.org/officeDocument/2006/relationships/slide" Target="slides/slide102.xml"/><Relationship Id="rId108" Type="http://schemas.openxmlformats.org/officeDocument/2006/relationships/slide" Target="slides/slide103.xml"/><Relationship Id="rId109" Type="http://schemas.openxmlformats.org/officeDocument/2006/relationships/slide" Target="slides/slide104.xml"/><Relationship Id="rId110" Type="http://schemas.openxmlformats.org/officeDocument/2006/relationships/slide" Target="slides/slide105.xml"/><Relationship Id="rId111" Type="http://schemas.openxmlformats.org/officeDocument/2006/relationships/slide" Target="slides/slide106.xml"/><Relationship Id="rId112" Type="http://schemas.openxmlformats.org/officeDocument/2006/relationships/slide" Target="slides/slide107.xml"/><Relationship Id="rId113" Type="http://schemas.openxmlformats.org/officeDocument/2006/relationships/slide" Target="slides/slide108.xml"/><Relationship Id="rId114" Type="http://schemas.openxmlformats.org/officeDocument/2006/relationships/slide" Target="slides/slide109.xml"/><Relationship Id="rId115" Type="http://schemas.openxmlformats.org/officeDocument/2006/relationships/slide" Target="slides/slide110.xml"/><Relationship Id="rId116" Type="http://schemas.openxmlformats.org/officeDocument/2006/relationships/slide" Target="slides/slide111.xml"/><Relationship Id="rId117" Type="http://schemas.openxmlformats.org/officeDocument/2006/relationships/slide" Target="slides/slide112.xml"/><Relationship Id="rId118" Type="http://schemas.openxmlformats.org/officeDocument/2006/relationships/slide" Target="slides/slide113.xml"/><Relationship Id="rId119" Type="http://schemas.openxmlformats.org/officeDocument/2006/relationships/slide" Target="slides/slide114.xml"/><Relationship Id="rId120" Type="http://schemas.openxmlformats.org/officeDocument/2006/relationships/slide" Target="slides/slide115.xml"/><Relationship Id="rId121" Type="http://schemas.openxmlformats.org/officeDocument/2006/relationships/slide" Target="slides/slide116.xml"/><Relationship Id="rId122" Type="http://schemas.openxmlformats.org/officeDocument/2006/relationships/slide" Target="slides/slide117.xml"/><Relationship Id="rId123" Type="http://schemas.openxmlformats.org/officeDocument/2006/relationships/slide" Target="slides/slide118.xml"/><Relationship Id="rId124" Type="http://schemas.openxmlformats.org/officeDocument/2006/relationships/slide" Target="slides/slide119.xml"/><Relationship Id="rId125" Type="http://schemas.openxmlformats.org/officeDocument/2006/relationships/slide" Target="slides/slide120.xml"/><Relationship Id="rId126" Type="http://schemas.openxmlformats.org/officeDocument/2006/relationships/slide" Target="slides/slide121.xml"/><Relationship Id="rId127" Type="http://schemas.openxmlformats.org/officeDocument/2006/relationships/slide" Target="slides/slide122.xml"/><Relationship Id="rId128" Type="http://schemas.openxmlformats.org/officeDocument/2006/relationships/slide" Target="slides/slide123.xml"/><Relationship Id="rId129" Type="http://schemas.openxmlformats.org/officeDocument/2006/relationships/slide" Target="slides/slide124.xml"/><Relationship Id="rId130" Type="http://schemas.openxmlformats.org/officeDocument/2006/relationships/slide" Target="slides/slide125.xml"/><Relationship Id="rId131" Type="http://schemas.openxmlformats.org/officeDocument/2006/relationships/slide" Target="slides/slide126.xml"/><Relationship Id="rId132" Type="http://schemas.openxmlformats.org/officeDocument/2006/relationships/slide" Target="slides/slide127.xml"/><Relationship Id="rId133" Type="http://schemas.openxmlformats.org/officeDocument/2006/relationships/slide" Target="slides/slide128.xml"/><Relationship Id="rId134" Type="http://schemas.openxmlformats.org/officeDocument/2006/relationships/slide" Target="slides/slide129.xml"/><Relationship Id="rId135" Type="http://schemas.openxmlformats.org/officeDocument/2006/relationships/slide" Target="slides/slide130.xml"/><Relationship Id="rId136" Type="http://schemas.openxmlformats.org/officeDocument/2006/relationships/slide" Target="slides/slide131.xml"/><Relationship Id="rId137" Type="http://schemas.openxmlformats.org/officeDocument/2006/relationships/slide" Target="slides/slide132.xml"/><Relationship Id="rId138" Type="http://schemas.openxmlformats.org/officeDocument/2006/relationships/slide" Target="slides/slide133.xml"/><Relationship Id="rId139" Type="http://schemas.openxmlformats.org/officeDocument/2006/relationships/slide" Target="slides/slide134.xml"/><Relationship Id="rId140" Type="http://schemas.openxmlformats.org/officeDocument/2006/relationships/slide" Target="slides/slide135.xml"/><Relationship Id="rId141" Type="http://schemas.openxmlformats.org/officeDocument/2006/relationships/slide" Target="slides/slide136.xml"/><Relationship Id="rId142" Type="http://schemas.openxmlformats.org/officeDocument/2006/relationships/slide" Target="slides/slide137.xml"/><Relationship Id="rId143" Type="http://schemas.openxmlformats.org/officeDocument/2006/relationships/slide" Target="slides/slide138.xml"/><Relationship Id="rId144" Type="http://schemas.openxmlformats.org/officeDocument/2006/relationships/slide" Target="slides/slide139.xml"/><Relationship Id="rId145" Type="http://schemas.openxmlformats.org/officeDocument/2006/relationships/slide" Target="slides/slide140.xml"/><Relationship Id="rId146" Type="http://schemas.openxmlformats.org/officeDocument/2006/relationships/slide" Target="slides/slide141.xml"/><Relationship Id="rId147" Type="http://schemas.openxmlformats.org/officeDocument/2006/relationships/slide" Target="slides/slide142.xml"/><Relationship Id="rId148" Type="http://schemas.openxmlformats.org/officeDocument/2006/relationships/slide" Target="slides/slide143.xml"/><Relationship Id="rId149" Type="http://schemas.openxmlformats.org/officeDocument/2006/relationships/slide" Target="slides/slide144.xml"/><Relationship Id="rId150" Type="http://schemas.openxmlformats.org/officeDocument/2006/relationships/slide" Target="slides/slide145.xml"/><Relationship Id="rId151" Type="http://schemas.openxmlformats.org/officeDocument/2006/relationships/slide" Target="slides/slide146.xml"/><Relationship Id="rId152" Type="http://schemas.openxmlformats.org/officeDocument/2006/relationships/slide" Target="slides/slide147.xml"/><Relationship Id="rId153" Type="http://schemas.openxmlformats.org/officeDocument/2006/relationships/slide" Target="slides/slide148.xml"/><Relationship Id="rId154" Type="http://schemas.openxmlformats.org/officeDocument/2006/relationships/slide" Target="slides/slide149.xml"/><Relationship Id="rId155" Type="http://schemas.openxmlformats.org/officeDocument/2006/relationships/slide" Target="slides/slide150.xml"/><Relationship Id="rId156" Type="http://schemas.openxmlformats.org/officeDocument/2006/relationships/slide" Target="slides/slide151.xml"/><Relationship Id="rId157" Type="http://schemas.openxmlformats.org/officeDocument/2006/relationships/slide" Target="slides/slide152.xml"/><Relationship Id="rId158" Type="http://schemas.openxmlformats.org/officeDocument/2006/relationships/slide" Target="slides/slide153.xml"/><Relationship Id="rId159" Type="http://schemas.openxmlformats.org/officeDocument/2006/relationships/slide" Target="slides/slide154.xml"/><Relationship Id="rId160" Type="http://schemas.openxmlformats.org/officeDocument/2006/relationships/slide" Target="slides/slide155.xml"/><Relationship Id="rId161" Type="http://schemas.openxmlformats.org/officeDocument/2006/relationships/slide" Target="slides/slide156.xml"/><Relationship Id="rId162" Type="http://schemas.openxmlformats.org/officeDocument/2006/relationships/slide" Target="slides/slide157.xml"/><Relationship Id="rId163" Type="http://schemas.openxmlformats.org/officeDocument/2006/relationships/slide" Target="slides/slide158.xml"/><Relationship Id="rId164" Type="http://schemas.openxmlformats.org/officeDocument/2006/relationships/slide" Target="slides/slide159.xml"/><Relationship Id="rId165" Type="http://schemas.openxmlformats.org/officeDocument/2006/relationships/slide" Target="slides/slide160.xml"/><Relationship Id="rId166" Type="http://schemas.openxmlformats.org/officeDocument/2006/relationships/slide" Target="slides/slide161.xml"/><Relationship Id="rId167" Type="http://schemas.openxmlformats.org/officeDocument/2006/relationships/slide" Target="slides/slide162.xml"/><Relationship Id="rId168" Type="http://schemas.openxmlformats.org/officeDocument/2006/relationships/slide" Target="slides/slide163.xml"/><Relationship Id="rId169" Type="http://schemas.openxmlformats.org/officeDocument/2006/relationships/slide" Target="slides/slide164.xml"/><Relationship Id="rId170" Type="http://schemas.openxmlformats.org/officeDocument/2006/relationships/slide" Target="slides/slide165.xml"/><Relationship Id="rId171" Type="http://schemas.openxmlformats.org/officeDocument/2006/relationships/slide" Target="slides/slide166.xml"/><Relationship Id="rId172" Type="http://schemas.openxmlformats.org/officeDocument/2006/relationships/slide" Target="slides/slide167.xml"/><Relationship Id="rId173" Type="http://schemas.openxmlformats.org/officeDocument/2006/relationships/slide" Target="slides/slide168.xml"/><Relationship Id="rId174" Type="http://schemas.openxmlformats.org/officeDocument/2006/relationships/slide" Target="slides/slide169.xml"/><Relationship Id="rId175" Type="http://schemas.openxmlformats.org/officeDocument/2006/relationships/slide" Target="slides/slide170.xml"/><Relationship Id="rId176" Type="http://schemas.openxmlformats.org/officeDocument/2006/relationships/slide" Target="slides/slide171.xml"/><Relationship Id="rId177" Type="http://schemas.openxmlformats.org/officeDocument/2006/relationships/slide" Target="slides/slide172.xml"/><Relationship Id="rId178" Type="http://schemas.openxmlformats.org/officeDocument/2006/relationships/slide" Target="slides/slide173.xml"/><Relationship Id="rId179" Type="http://schemas.openxmlformats.org/officeDocument/2006/relationships/slide" Target="slides/slide174.xml"/><Relationship Id="rId180" Type="http://schemas.openxmlformats.org/officeDocument/2006/relationships/slide" Target="slides/slide175.xml"/><Relationship Id="rId181" Type="http://schemas.openxmlformats.org/officeDocument/2006/relationships/slide" Target="slides/slide176.xml"/><Relationship Id="rId182" Type="http://schemas.openxmlformats.org/officeDocument/2006/relationships/slide" Target="slides/slide177.xml"/><Relationship Id="rId183" Type="http://schemas.openxmlformats.org/officeDocument/2006/relationships/slide" Target="slides/slide178.xml"/><Relationship Id="rId184" Type="http://schemas.openxmlformats.org/officeDocument/2006/relationships/slide" Target="slides/slide179.xml"/><Relationship Id="rId185" Type="http://schemas.openxmlformats.org/officeDocument/2006/relationships/slide" Target="slides/slide180.xml"/><Relationship Id="rId186" Type="http://schemas.openxmlformats.org/officeDocument/2006/relationships/slide" Target="slides/slide181.xml"/><Relationship Id="rId187" Type="http://schemas.openxmlformats.org/officeDocument/2006/relationships/slide" Target="slides/slide182.xml"/><Relationship Id="rId188" Type="http://schemas.openxmlformats.org/officeDocument/2006/relationships/slide" Target="slides/slide183.xml"/><Relationship Id="rId189" Type="http://schemas.openxmlformats.org/officeDocument/2006/relationships/slide" Target="slides/slide184.xml"/><Relationship Id="rId190" Type="http://schemas.openxmlformats.org/officeDocument/2006/relationships/slide" Target="slides/slide185.xml"/><Relationship Id="rId191" Type="http://schemas.openxmlformats.org/officeDocument/2006/relationships/slide" Target="slides/slide186.xml"/><Relationship Id="rId192" Type="http://schemas.openxmlformats.org/officeDocument/2006/relationships/slide" Target="slides/slide187.xml"/><Relationship Id="rId193" Type="http://schemas.openxmlformats.org/officeDocument/2006/relationships/slide" Target="slides/slide188.xml"/><Relationship Id="rId194" Type="http://schemas.openxmlformats.org/officeDocument/2006/relationships/slide" Target="slides/slide189.xml"/><Relationship Id="rId195" Type="http://schemas.openxmlformats.org/officeDocument/2006/relationships/slide" Target="slides/slide190.xml"/><Relationship Id="rId196" Type="http://schemas.openxmlformats.org/officeDocument/2006/relationships/slide" Target="slides/slide191.xml"/><Relationship Id="rId197" Type="http://schemas.openxmlformats.org/officeDocument/2006/relationships/slide" Target="slides/slide192.xml"/><Relationship Id="rId198" Type="http://schemas.openxmlformats.org/officeDocument/2006/relationships/slide" Target="slides/slide193.xml"/><Relationship Id="rId199" Type="http://schemas.openxmlformats.org/officeDocument/2006/relationships/slide" Target="slides/slide194.xml"/><Relationship Id="rId200" Type="http://schemas.openxmlformats.org/officeDocument/2006/relationships/slide" Target="slides/slide195.xml"/><Relationship Id="rId201" Type="http://schemas.openxmlformats.org/officeDocument/2006/relationships/slide" Target="slides/slide196.xml"/><Relationship Id="rId202" Type="http://schemas.openxmlformats.org/officeDocument/2006/relationships/slide" Target="slides/slide197.xml"/><Relationship Id="rId203" Type="http://schemas.openxmlformats.org/officeDocument/2006/relationships/slide" Target="slides/slide198.xml"/><Relationship Id="rId204" Type="http://schemas.openxmlformats.org/officeDocument/2006/relationships/slide" Target="slides/slide199.xml"/><Relationship Id="rId205" Type="http://schemas.openxmlformats.org/officeDocument/2006/relationships/slide" Target="slides/slide200.xml"/><Relationship Id="rId206" Type="http://schemas.openxmlformats.org/officeDocument/2006/relationships/slide" Target="slides/slide201.xml"/><Relationship Id="rId207" Type="http://schemas.openxmlformats.org/officeDocument/2006/relationships/slide" Target="slides/slide202.xml"/><Relationship Id="rId208" Type="http://schemas.openxmlformats.org/officeDocument/2006/relationships/slide" Target="slides/slide203.xml"/><Relationship Id="rId209" Type="http://schemas.openxmlformats.org/officeDocument/2006/relationships/slide" Target="slides/slide204.xml"/><Relationship Id="rId210" Type="http://schemas.openxmlformats.org/officeDocument/2006/relationships/slide" Target="slides/slide205.xml"/><Relationship Id="rId211" Type="http://schemas.openxmlformats.org/officeDocument/2006/relationships/slide" Target="slides/slide206.xml"/><Relationship Id="rId212" Type="http://schemas.openxmlformats.org/officeDocument/2006/relationships/slide" Target="slides/slide207.xml"/><Relationship Id="rId213" Type="http://schemas.openxmlformats.org/officeDocument/2006/relationships/slide" Target="slides/slide208.xml"/><Relationship Id="rId214" Type="http://schemas.openxmlformats.org/officeDocument/2006/relationships/slide" Target="slides/slide209.xml"/><Relationship Id="rId215" Type="http://schemas.openxmlformats.org/officeDocument/2006/relationships/slide" Target="slides/slide210.xml"/><Relationship Id="rId216" Type="http://schemas.openxmlformats.org/officeDocument/2006/relationships/slide" Target="slides/slide211.xml"/><Relationship Id="rId217" Type="http://schemas.openxmlformats.org/officeDocument/2006/relationships/slide" Target="slides/slide212.xml"/><Relationship Id="rId218" Type="http://schemas.openxmlformats.org/officeDocument/2006/relationships/slide" Target="slides/slide213.xml"/><Relationship Id="rId219" Type="http://schemas.openxmlformats.org/officeDocument/2006/relationships/slide" Target="slides/slide214.xml"/><Relationship Id="rId220" Type="http://schemas.openxmlformats.org/officeDocument/2006/relationships/slide" Target="slides/slide215.xml"/><Relationship Id="rId221" Type="http://schemas.openxmlformats.org/officeDocument/2006/relationships/slide" Target="slides/slide216.xml"/><Relationship Id="rId222" Type="http://schemas.openxmlformats.org/officeDocument/2006/relationships/slide" Target="slides/slide217.xml"/><Relationship Id="rId223" Type="http://schemas.openxmlformats.org/officeDocument/2006/relationships/slide" Target="slides/slide218.xml"/><Relationship Id="rId224" Type="http://schemas.openxmlformats.org/officeDocument/2006/relationships/slide" Target="slides/slide219.xml"/><Relationship Id="rId225" Type="http://schemas.openxmlformats.org/officeDocument/2006/relationships/slide" Target="slides/slide220.xml"/><Relationship Id="rId226" Type="http://schemas.openxmlformats.org/officeDocument/2006/relationships/slide" Target="slides/slide221.xml"/><Relationship Id="rId227" Type="http://schemas.openxmlformats.org/officeDocument/2006/relationships/slide" Target="slides/slide222.xml"/><Relationship Id="rId228" Type="http://schemas.openxmlformats.org/officeDocument/2006/relationships/slide" Target="slides/slide223.xml"/><Relationship Id="rId229" Type="http://schemas.openxmlformats.org/officeDocument/2006/relationships/slide" Target="slides/slide224.xml"/><Relationship Id="rId230" Type="http://schemas.openxmlformats.org/officeDocument/2006/relationships/slide" Target="slides/slide225.xml"/><Relationship Id="rId231" Type="http://schemas.openxmlformats.org/officeDocument/2006/relationships/slide" Target="slides/slide226.xml"/><Relationship Id="rId232" Type="http://schemas.openxmlformats.org/officeDocument/2006/relationships/slide" Target="slides/slide227.xml"/><Relationship Id="rId233" Type="http://schemas.openxmlformats.org/officeDocument/2006/relationships/slide" Target="slides/slide228.xml"/><Relationship Id="rId234" Type="http://schemas.openxmlformats.org/officeDocument/2006/relationships/slide" Target="slides/slide229.xml"/><Relationship Id="rId235" Type="http://schemas.openxmlformats.org/officeDocument/2006/relationships/slide" Target="slides/slide230.xml"/><Relationship Id="rId236" Type="http://schemas.openxmlformats.org/officeDocument/2006/relationships/slide" Target="slides/slide231.xml"/><Relationship Id="rId237" Type="http://schemas.openxmlformats.org/officeDocument/2006/relationships/slide" Target="slides/slide232.xml"/><Relationship Id="rId238" Type="http://schemas.openxmlformats.org/officeDocument/2006/relationships/slide" Target="slides/slide233.xml"/><Relationship Id="rId239" Type="http://schemas.openxmlformats.org/officeDocument/2006/relationships/slide" Target="slides/slide234.xml"/><Relationship Id="rId240" Type="http://schemas.openxmlformats.org/officeDocument/2006/relationships/slide" Target="slides/slide235.xml"/><Relationship Id="rId241" Type="http://schemas.openxmlformats.org/officeDocument/2006/relationships/slide" Target="slides/slide236.xml"/><Relationship Id="rId242" Type="http://schemas.openxmlformats.org/officeDocument/2006/relationships/slide" Target="slides/slide237.xml"/><Relationship Id="rId243" Type="http://schemas.openxmlformats.org/officeDocument/2006/relationships/slide" Target="slides/slide238.xml"/><Relationship Id="rId244" Type="http://schemas.openxmlformats.org/officeDocument/2006/relationships/slide" Target="slides/slide2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Blitzy Title">
    <p:bg>
      <p:bgPr>
        <a:gradFill rotWithShape="0">
          <a:gsLst>
            <a:gs pos="15560">
              <a:srgbClr val="7A6DEC"/>
            </a:gs>
            <a:gs pos="62740">
              <a:srgbClr val="5B39F3"/>
            </a:gs>
            <a:gs pos="84440">
              <a:srgbClr val="4101DB"/>
            </a:gs>
          </a:gsLst>
          <a:lin ang="20280000" scaled="0"/>
        </a:gradFill>
        <a:effectLst/>
      </p:bgPr>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litzy Content">
    <p:bg>
      <p:bgPr>
        <a:solidFill>
          <a:srgbClr val="FFFFFF"/>
        </a:solidFill>
        <a:effectLst/>
      </p:bgPr>
    </p:bg>
    <p:spTree>
      <p:nvGrpSpPr>
        <p:cNvPr id="1" name=""/>
        <p:cNvGrpSpPr/>
        <p:nvPr/>
      </p:nvGrpSpPr>
      <p:grpSpPr>
        <a:xfrm>
          <a:off x="0" y="0"/>
          <a:ext cx="0" cy="0"/>
          <a:chOff x="0" y="0"/>
          <a:chExt cx="0" cy="0"/>
        </a:xfrm>
      </p:grpSpPr>
      <p:sp>
        <p:nvSpPr>
          <p:cNvPr id="2"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333333"/>
                </a:solidFill>
                <a:latin typeface="Fira Code"/>
              </a:rPr>
              <a:t>Source: ArduPilot_PNT_Reference_Audit.pdf  ·  audited HEAD 5b67e27b0a  ·  read-only static-analysis catalog  ·  every audit figure as stated</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Blitzy Section Divider">
    <p:bg>
      <p:bgPr>
        <a:gradFill rotWithShape="0">
          <a:gsLst>
            <a:gs pos="0">
              <a:srgbClr val="2D1C77"/>
            </a:gs>
            <a:gs pos="100000">
              <a:srgbClr val="5B39F3"/>
            </a:gs>
          </a:gsLst>
          <a:lin ang="2700000" scaled="0"/>
        </a:grad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itzy Closing">
    <p:bg>
      <p:bgPr>
        <a:solidFill>
          <a:srgbClr val="1A105F"/>
        </a:solidFill>
        <a:effectLst/>
      </p:bgPr>
    </p:bg>
    <p:spTree>
      <p:nvGrpSpPr>
        <p:cNvPr id="1" name=""/>
        <p:cNvGrpSpPr/>
        <p:nvPr/>
      </p:nvGrpSpPr>
      <p:grpSpPr>
        <a:xfrm>
          <a:off x="0" y="0"/>
          <a:ext cx="0" cy="0"/>
          <a:chOff x="0" y="0"/>
          <a:chExt cx="0" cy="0"/>
        </a:xfrm>
      </p:grpSpPr>
      <p:sp>
        <p:nvSpPr>
          <p:cNvPr id="2" name="Closing full-bleed fill"/>
          <p:cNvSpPr/>
          <p:nvPr/>
        </p:nvSpPr>
        <p:spPr>
          <a:xfrm>
            <a:off x="0" y="0"/>
            <a:ext cx="12198350" cy="6864350"/>
          </a:xfrm>
          <a:prstGeom prst="rect">
            <a:avLst/>
          </a:prstGeom>
          <a:solidFill>
            <a:srgbClr val="1A105F"/>
          </a:solidFill>
          <a:ln>
            <a:noFill/>
          </a:ln>
        </p:spPr>
        <p:txBody>
          <a:body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txStyles>
    <p:titleStyle>
      <a:lvl1pPr>
        <a:defRPr>
          <a:solidFill>
            <a:schemeClr val="tx1"/>
          </a:solidFill>
          <a:latin typeface="+mj-lt"/>
        </a:defRPr>
      </a:lvl1pPr>
      <a:lvl2pPr>
        <a:defRPr>
          <a:solidFill>
            <a:schemeClr val="tx1"/>
          </a:solidFill>
          <a:latin typeface="+mj-lt"/>
        </a:defRPr>
      </a:lvl2pPr>
      <a:lvl3pPr>
        <a:defRPr>
          <a:solidFill>
            <a:schemeClr val="tx1"/>
          </a:solidFill>
          <a:latin typeface="+mj-lt"/>
        </a:defRPr>
      </a:lvl3pPr>
      <a:lvl4pPr>
        <a:defRPr>
          <a:solidFill>
            <a:schemeClr val="tx1"/>
          </a:solidFill>
          <a:latin typeface="+mj-lt"/>
        </a:defRPr>
      </a:lvl4pPr>
      <a:lvl5pPr>
        <a:defRPr>
          <a:solidFill>
            <a:schemeClr val="tx1"/>
          </a:solidFill>
          <a:latin typeface="+mj-lt"/>
        </a:defRPr>
      </a:lvl5pPr>
      <a:lvl6pPr>
        <a:defRPr>
          <a:solidFill>
            <a:schemeClr val="tx1"/>
          </a:solidFill>
          <a:latin typeface="+mj-lt"/>
        </a:defRPr>
      </a:lvl6pPr>
      <a:lvl7pPr>
        <a:defRPr>
          <a:solidFill>
            <a:schemeClr val="tx1"/>
          </a:solidFill>
          <a:latin typeface="+mj-lt"/>
        </a:defRPr>
      </a:lvl7pPr>
      <a:lvl8pPr>
        <a:defRPr>
          <a:solidFill>
            <a:schemeClr val="tx1"/>
          </a:solidFill>
          <a:latin typeface="+mj-lt"/>
        </a:defRPr>
      </a:lvl8pPr>
      <a:lvl9pPr>
        <a:defRPr>
          <a:solidFill>
            <a:schemeClr val="tx1"/>
          </a:solidFill>
          <a:latin typeface="+mj-lt"/>
        </a:defRPr>
      </a:lvl9pPr>
    </p:titleStyle>
    <p:body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vl6pPr>
        <a:defRPr>
          <a:solidFill>
            <a:schemeClr val="tx1"/>
          </a:solidFill>
          <a:latin typeface="+mn-lt"/>
        </a:defRPr>
      </a:lvl6pPr>
      <a:lvl7pPr>
        <a:defRPr>
          <a:solidFill>
            <a:schemeClr val="tx1"/>
          </a:solidFill>
          <a:latin typeface="+mn-lt"/>
        </a:defRPr>
      </a:lvl7pPr>
      <a:lvl8pPr>
        <a:defRPr>
          <a:solidFill>
            <a:schemeClr val="tx1"/>
          </a:solidFill>
          <a:latin typeface="+mn-lt"/>
        </a:defRPr>
      </a:lvl8pPr>
      <a:lvl9pPr>
        <a:defRPr>
          <a:solidFill>
            <a:schemeClr val="tx1"/>
          </a:solidFill>
          <a:latin typeface="+mn-lt"/>
        </a:defRPr>
      </a:lvl9pPr>
    </p:bodyStyle>
    <p:other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vl6pPr>
        <a:defRPr>
          <a:solidFill>
            <a:schemeClr val="tx1"/>
          </a:solidFill>
          <a:latin typeface="+mn-lt"/>
        </a:defRPr>
      </a:lvl6pPr>
      <a:lvl7pPr>
        <a:defRPr>
          <a:solidFill>
            <a:schemeClr val="tx1"/>
          </a:solidFill>
          <a:latin typeface="+mn-lt"/>
        </a:defRPr>
      </a:lvl7pPr>
      <a:lvl8pPr>
        <a:defRPr>
          <a:solidFill>
            <a:schemeClr val="tx1"/>
          </a:solidFill>
          <a:latin typeface="+mn-lt"/>
        </a:defRPr>
      </a:lvl8pPr>
      <a:lvl9pPr>
        <a:defRPr>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1481328"/>
            <a:ext cx="11058144" cy="310896"/>
          </a:xfrm>
          <a:prstGeom prst="rect">
            <a:avLst/>
          </a:prstGeom>
          <a:noFill/>
        </p:spPr>
        <p:txBody>
          <a:bodyPr wrap="square" lIns="0" rIns="0" tIns="0" bIns="0" anchor="t">
            <a:noAutofit/>
          </a:bodyPr>
          <a:lstStyle/>
          <a:p>
            <a:pPr algn="l">
              <a:lnSpc>
                <a:spcPct val="100000"/>
              </a:lnSpc>
              <a:spcAft>
                <a:spcPts val="0"/>
              </a:spcAft>
            </a:pPr>
            <a:r>
              <a:rPr sz="1300" b="0">
                <a:solidFill>
                  <a:srgbClr val="94FAD5"/>
                </a:solidFill>
                <a:latin typeface="Fira Code"/>
              </a:rPr>
              <a:t>FULL FINDINGS  ·  COMPREHENSIVE REFERENCE DECK</a:t>
            </a:r>
          </a:p>
        </p:txBody>
      </p:sp>
      <p:sp>
        <p:nvSpPr>
          <p:cNvPr id="3" name="TextBox 2"/>
          <p:cNvSpPr txBox="1"/>
          <p:nvPr/>
        </p:nvSpPr>
        <p:spPr>
          <a:xfrm>
            <a:off x="566928" y="1920240"/>
            <a:ext cx="10424160" cy="1737360"/>
          </a:xfrm>
          <a:prstGeom prst="rect">
            <a:avLst/>
          </a:prstGeom>
          <a:noFill/>
        </p:spPr>
        <p:txBody>
          <a:bodyPr wrap="square" lIns="0" rIns="0" tIns="0" bIns="0" anchor="t">
            <a:noAutofit/>
          </a:bodyPr>
          <a:lstStyle/>
          <a:p>
            <a:pPr algn="l">
              <a:lnSpc>
                <a:spcPct val="130000"/>
              </a:lnSpc>
              <a:spcAft>
                <a:spcPts val="0"/>
              </a:spcAft>
            </a:pPr>
            <a:r>
              <a:rPr sz="4000" b="1">
                <a:solidFill>
                  <a:srgbClr val="FFFFFF"/>
                </a:solidFill>
                <a:latin typeface="Space Grotesk"/>
              </a:rPr>
              <a:t>ArduPilot PNT (Positioning, Navigation, Timing) Reference Audit</a:t>
            </a:r>
          </a:p>
        </p:txBody>
      </p:sp>
      <p:sp>
        <p:nvSpPr>
          <p:cNvPr id="4" name="TextBox 3"/>
          <p:cNvSpPr txBox="1"/>
          <p:nvPr/>
        </p:nvSpPr>
        <p:spPr>
          <a:xfrm>
            <a:off x="566928" y="3675887"/>
            <a:ext cx="7863840" cy="731520"/>
          </a:xfrm>
          <a:prstGeom prst="rect">
            <a:avLst/>
          </a:prstGeom>
          <a:noFill/>
        </p:spPr>
        <p:txBody>
          <a:bodyPr wrap="square" lIns="0" rIns="0" tIns="0" bIns="0" anchor="t">
            <a:noAutofit/>
          </a:bodyPr>
          <a:lstStyle/>
          <a:p>
            <a:pPr algn="l">
              <a:lnSpc>
                <a:spcPct val="124000"/>
              </a:lnSpc>
              <a:spcAft>
                <a:spcPts val="0"/>
              </a:spcAft>
            </a:pPr>
            <a:r>
              <a:rPr sz="1800" b="0">
                <a:solidFill>
                  <a:srgbClr val="FFFFFF"/>
                </a:solidFill>
                <a:latin typeface="Inter"/>
              </a:rPr>
              <a:t>Read-only static-analysis audit — every snippet reproduced verbatim from the cited path:line range</a:t>
            </a:r>
          </a:p>
        </p:txBody>
      </p:sp>
      <p:sp>
        <p:nvSpPr>
          <p:cNvPr id="5" name="Rectangle 4"/>
          <p:cNvSpPr/>
          <p:nvPr/>
        </p:nvSpPr>
        <p:spPr>
          <a:xfrm>
            <a:off x="566928" y="4498848"/>
            <a:ext cx="420624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66928" y="4773168"/>
            <a:ext cx="11058144" cy="310896"/>
          </a:xfrm>
          <a:prstGeom prst="rect">
            <a:avLst/>
          </a:prstGeom>
          <a:noFill/>
        </p:spPr>
        <p:txBody>
          <a:bodyPr wrap="square" lIns="0" rIns="0" tIns="0" bIns="0" anchor="t">
            <a:noAutofit/>
          </a:bodyPr>
          <a:lstStyle/>
          <a:p>
            <a:pPr algn="l">
              <a:lnSpc>
                <a:spcPct val="100000"/>
              </a:lnSpc>
              <a:spcAft>
                <a:spcPts val="0"/>
              </a:spcAft>
            </a:pPr>
            <a:r>
              <a:rPr sz="1200" b="0">
                <a:solidFill>
                  <a:srgbClr val="94FAD5"/>
                </a:solidFill>
                <a:latin typeface="Fira Code"/>
              </a:rPr>
              <a:t>HEAD 5b67e27b0a  ·  43 pages  ·  Read-only static-analysis catalog</a:t>
            </a:r>
          </a:p>
        </p:txBody>
      </p:sp>
      <p:sp>
        <p:nvSpPr>
          <p:cNvPr id="7" name="TextBox 6"/>
          <p:cNvSpPr txBox="1"/>
          <p:nvPr/>
        </p:nvSpPr>
        <p:spPr>
          <a:xfrm>
            <a:off x="566928" y="5138928"/>
            <a:ext cx="10424160" cy="548640"/>
          </a:xfrm>
          <a:prstGeom prst="rect">
            <a:avLst/>
          </a:prstGeom>
          <a:noFill/>
        </p:spPr>
        <p:txBody>
          <a:bodyPr wrap="square" lIns="0" rIns="0" tIns="0" bIns="0" anchor="t">
            <a:noAutofit/>
          </a:bodyPr>
          <a:lstStyle/>
          <a:p>
            <a:pPr algn="l">
              <a:lnSpc>
                <a:spcPct val="120000"/>
              </a:lnSpc>
              <a:spcAft>
                <a:spcPts val="0"/>
              </a:spcAft>
            </a:pPr>
            <a:r>
              <a:rPr sz="1400" b="0">
                <a:solidFill>
                  <a:srgbClr val="FFFFFF"/>
                </a:solidFill>
                <a:latin typeface="Inter"/>
              </a:rPr>
              <a:t>Every catalogued finding, ordered by the audit’s own severity and category axes.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TWO AXES, BOTH THE AUDIT’S OWN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How to read this deck</a:t>
            </a: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This deck is a communication layer over a finished audit: it selects nothing, scores nothing and omits nothing.</a:t>
            </a:r>
          </a:p>
        </p:txBody>
      </p:sp>
      <p:graphicFrame>
        <p:nvGraphicFramePr>
          <p:cNvPr id="7" name="Table 6"/>
          <p:cNvGraphicFramePr>
            <a:graphicFrameLocks noGrp="1"/>
          </p:cNvGraphicFramePr>
          <p:nvPr/>
        </p:nvGraphicFramePr>
        <p:xfrm>
          <a:off x="566928" y="2173338"/>
          <a:ext cx="11058144" cy="1609149"/>
        </p:xfrm>
        <a:graphic>
          <a:graphicData uri="http://schemas.openxmlformats.org/drawingml/2006/table">
            <a:tbl>
              <a:tblPr>
                <a:tableStyleId>{5C22544A-7EE6-4342-B048-85BDC9FD1C3A}</a:tableStyleId>
              </a:tblPr>
              <a:tblGrid>
                <a:gridCol w="1279454"/>
                <a:gridCol w="5940325"/>
                <a:gridCol w="3838365"/>
              </a:tblGrid>
              <a:tr h="240219">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orders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Where the axis comes from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1">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audit’s five Audit-Discipline Flags, presented with the audit’s own stated occurrence counts, followed by the two touch-points the audit itself singles out in superlative risk language.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Audit-Discipline Flags, transcribed with its own footnote.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1">
                          <a:solidFill>
                            <a:srgbClr val="333333"/>
                          </a:solidFill>
                          <a:latin typeface="Inter"/>
                        </a:rPr>
                        <a:t>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catalog’s own structure: GROUP 1 core references and GROUP 2 indirect / relational references across Positioning, Navigation and Timing, each main table followed by its paired Layer 1 and Layer 2 dependency map, then the instance mapping and the 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audit’s own table numbering,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4020231"/>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FIDELITY RULES FOR EVERY AUDIT-DERIVED FIGURE  ·  THE DECK LABELS ITS OWN</a:t>
            </a:r>
          </a:p>
        </p:txBody>
      </p:sp>
      <p:sp>
        <p:nvSpPr>
          <p:cNvPr id="9" name="TextBox 8"/>
          <p:cNvSpPr txBox="1"/>
          <p:nvPr/>
        </p:nvSpPr>
        <p:spPr>
          <a:xfrm>
            <a:off x="566928" y="4245935"/>
            <a:ext cx="11003280" cy="1783549"/>
          </a:xfrm>
          <a:prstGeom prst="rect">
            <a:avLst/>
          </a:prstGeom>
          <a:noFill/>
        </p:spPr>
        <p:txBody>
          <a:bodyPr wrap="square" lIns="0" rIns="0" tIns="0" bIns="0" anchor="t">
            <a:noAutofit/>
          </a:bodyPr>
          <a:lstStyle/>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Every audit-derived figure is preserved exactly as the audit states it: nothing is recomputed, re-scored or re-worded.</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Every row keeps its own number, file path, line range, classification and the audit’s own Notes text, including its flag tokens and its [FIX F*] and AAP cross-references, exactly as printed.</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Cited path:line ranges are transcribed, never re-derived: they are stated as of the audited HEAD 5b67e27b0a, the pre-refactor baseline.</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Every column of every source table is carried, Code Snippet (5-10 lines) included, and each cell’s lines are set one paragraph per line exactly as the audit records them: the main tables keep their indentation and blank lines, the Layer 1 blocks are flush left.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EVERY FIGURE AS THE AUDIT STATES IT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audit at a glance</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The audit prints these totals on its own face; they reconcile against the rows that follow.</a:t>
            </a:r>
          </a:p>
        </p:txBody>
      </p:sp>
      <p:sp>
        <p:nvSpPr>
          <p:cNvPr id="7" name="TextBox 6"/>
          <p:cNvSpPr txBox="1"/>
          <p:nvPr/>
        </p:nvSpPr>
        <p:spPr>
          <a:xfrm>
            <a:off x="566928" y="1852079"/>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AUDIT’S OWN FRONT-MATTER LINE</a:t>
            </a:r>
          </a:p>
        </p:txBody>
      </p:sp>
      <p:sp>
        <p:nvSpPr>
          <p:cNvPr id="8" name="Rectangle 7"/>
          <p:cNvSpPr/>
          <p:nvPr/>
        </p:nvSpPr>
        <p:spPr>
          <a:xfrm>
            <a:off x="566928" y="2077783"/>
            <a:ext cx="32004" cy="470992"/>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13232" y="2077783"/>
            <a:ext cx="10856976" cy="470992"/>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“Audited HEAD 5b67e27b0a · Core references: 63 · Indirect references: 31 · Total references: 94 · Evidence rows: 282 (main + Layer 1 + Layer 2)”</a:t>
            </a:r>
          </a:p>
        </p:txBody>
      </p:sp>
      <p:sp>
        <p:nvSpPr>
          <p:cNvPr id="10" name="Rounded Rectangle 9"/>
          <p:cNvSpPr/>
          <p:nvPr/>
        </p:nvSpPr>
        <p:spPr>
          <a:xfrm>
            <a:off x="566928" y="2749943"/>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63</a:t>
            </a:r>
          </a:p>
          <a:p>
            <a:pPr algn="ctr">
              <a:lnSpc>
                <a:spcPct val="124000"/>
              </a:lnSpc>
            </a:pPr>
            <a:r>
              <a:rPr sz="1200">
                <a:solidFill>
                  <a:srgbClr val="999999"/>
                </a:solidFill>
                <a:latin typeface="Inter"/>
              </a:rPr>
              <a:t>core references (Tables 1–3)</a:t>
            </a:r>
          </a:p>
        </p:txBody>
      </p:sp>
      <p:sp>
        <p:nvSpPr>
          <p:cNvPr id="11" name="Rounded Rectangle 10"/>
          <p:cNvSpPr/>
          <p:nvPr/>
        </p:nvSpPr>
        <p:spPr>
          <a:xfrm>
            <a:off x="3381756" y="2749943"/>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31</a:t>
            </a:r>
          </a:p>
          <a:p>
            <a:pPr algn="ctr">
              <a:lnSpc>
                <a:spcPct val="124000"/>
              </a:lnSpc>
            </a:pPr>
            <a:r>
              <a:rPr sz="1200">
                <a:solidFill>
                  <a:srgbClr val="999999"/>
                </a:solidFill>
                <a:latin typeface="Inter"/>
              </a:rPr>
              <a:t>indirect references (Tables 4–6)</a:t>
            </a:r>
          </a:p>
        </p:txBody>
      </p:sp>
      <p:sp>
        <p:nvSpPr>
          <p:cNvPr id="12" name="Rounded Rectangle 11"/>
          <p:cNvSpPr/>
          <p:nvPr/>
        </p:nvSpPr>
        <p:spPr>
          <a:xfrm>
            <a:off x="6196584" y="2749943"/>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94</a:t>
            </a:r>
          </a:p>
          <a:p>
            <a:pPr algn="ctr">
              <a:lnSpc>
                <a:spcPct val="124000"/>
              </a:lnSpc>
            </a:pPr>
            <a:r>
              <a:rPr sz="1200">
                <a:solidFill>
                  <a:srgbClr val="999999"/>
                </a:solidFill>
                <a:latin typeface="Inter"/>
              </a:rPr>
              <a:t>main rows catalogued</a:t>
            </a:r>
          </a:p>
        </p:txBody>
      </p:sp>
      <p:sp>
        <p:nvSpPr>
          <p:cNvPr id="13" name="Rounded Rectangle 12"/>
          <p:cNvSpPr/>
          <p:nvPr/>
        </p:nvSpPr>
        <p:spPr>
          <a:xfrm>
            <a:off x="9011412" y="2749943"/>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282</a:t>
            </a:r>
          </a:p>
          <a:p>
            <a:pPr algn="ctr">
              <a:lnSpc>
                <a:spcPct val="124000"/>
              </a:lnSpc>
            </a:pPr>
            <a:r>
              <a:rPr sz="1200">
                <a:solidFill>
                  <a:srgbClr val="999999"/>
                </a:solidFill>
                <a:latin typeface="Inter"/>
              </a:rPr>
              <a:t>evidence rows in total</a:t>
            </a:r>
          </a:p>
        </p:txBody>
      </p:sp>
      <p:sp>
        <p:nvSpPr>
          <p:cNvPr id="14" name="Rounded Rectangle 13"/>
          <p:cNvSpPr/>
          <p:nvPr/>
        </p:nvSpPr>
        <p:spPr>
          <a:xfrm>
            <a:off x="566928" y="3947807"/>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18</a:t>
            </a:r>
          </a:p>
          <a:p>
            <a:pPr algn="ctr">
              <a:lnSpc>
                <a:spcPct val="124000"/>
              </a:lnSpc>
            </a:pPr>
            <a:r>
              <a:rPr sz="1200">
                <a:solidFill>
                  <a:srgbClr val="999999"/>
                </a:solidFill>
                <a:latin typeface="Inter"/>
              </a:rPr>
              <a:t>data objects</a:t>
            </a:r>
          </a:p>
        </p:txBody>
      </p:sp>
      <p:sp>
        <p:nvSpPr>
          <p:cNvPr id="15" name="Rounded Rectangle 14"/>
          <p:cNvSpPr/>
          <p:nvPr/>
        </p:nvSpPr>
        <p:spPr>
          <a:xfrm>
            <a:off x="3381756" y="3947807"/>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12</a:t>
            </a:r>
          </a:p>
          <a:p>
            <a:pPr algn="ctr">
              <a:lnSpc>
                <a:spcPct val="124000"/>
              </a:lnSpc>
            </a:pPr>
            <a:r>
              <a:rPr sz="1200">
                <a:solidFill>
                  <a:srgbClr val="999999"/>
                </a:solidFill>
                <a:latin typeface="Inter"/>
              </a:rPr>
              <a:t>catalog tables in 6 groups</a:t>
            </a:r>
          </a:p>
        </p:txBody>
      </p:sp>
      <p:sp>
        <p:nvSpPr>
          <p:cNvPr id="16" name="Rounded Rectangle 15"/>
          <p:cNvSpPr/>
          <p:nvPr/>
        </p:nvSpPr>
        <p:spPr>
          <a:xfrm>
            <a:off x="6196584" y="3947807"/>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12</a:t>
            </a:r>
          </a:p>
          <a:p>
            <a:pPr algn="ctr">
              <a:lnSpc>
                <a:spcPct val="124000"/>
              </a:lnSpc>
            </a:pPr>
            <a:r>
              <a:rPr sz="1200">
                <a:solidFill>
                  <a:srgbClr val="999999"/>
                </a:solidFill>
                <a:latin typeface="Inter"/>
              </a:rPr>
              <a:t>current → new mapping rows</a:t>
            </a:r>
          </a:p>
        </p:txBody>
      </p:sp>
      <p:sp>
        <p:nvSpPr>
          <p:cNvPr id="17" name="Rounded Rectangle 16"/>
          <p:cNvSpPr/>
          <p:nvPr/>
        </p:nvSpPr>
        <p:spPr>
          <a:xfrm>
            <a:off x="9011412" y="3947807"/>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109</a:t>
            </a:r>
          </a:p>
          <a:p>
            <a:pPr algn="ctr">
              <a:lnSpc>
                <a:spcPct val="124000"/>
              </a:lnSpc>
            </a:pPr>
            <a:r>
              <a:rPr sz="1200">
                <a:solidFill>
                  <a:srgbClr val="999999"/>
                </a:solidFill>
                <a:latin typeface="Inter"/>
              </a:rPr>
              <a:t>coverage register entries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LEGEND  ·  THE AUDIT’S OWN CLASSIFICATION VOCABULARY</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Legend</a:t>
            </a:r>
          </a:p>
        </p:txBody>
      </p:sp>
      <p:graphicFrame>
        <p:nvGraphicFramePr>
          <p:cNvPr id="6" name="Table 5"/>
          <p:cNvGraphicFramePr>
            <a:graphicFrameLocks noGrp="1"/>
          </p:cNvGraphicFramePr>
          <p:nvPr/>
        </p:nvGraphicFramePr>
        <p:xfrm>
          <a:off x="566928" y="1591056"/>
          <a:ext cx="11058144" cy="2685202"/>
        </p:xfrm>
        <a:graphic>
          <a:graphicData uri="http://schemas.openxmlformats.org/drawingml/2006/table">
            <a:tbl>
              <a:tblPr>
                <a:tableStyleId>{5C22544A-7EE6-4342-B048-85BDC9FD1C3A}</a:tableStyleId>
              </a:tblPr>
              <a:tblGrid>
                <a:gridCol w="2010571"/>
                <a:gridCol w="9047573"/>
              </a:tblGrid>
              <a:tr h="240219">
                <a:tc>
                  <a:txBody>
                    <a:bodyPr wrap="square">
                      <a:noAutofit/>
                    </a:bodyPr>
                    <a:lstStyle/>
                    <a:p>
                      <a:pPr algn="l">
                        <a:lnSpc>
                          <a:spcPct val="106000"/>
                        </a:lnSpc>
                        <a:spcAft>
                          <a:spcPts val="0"/>
                        </a:spcAft>
                      </a:pPr>
                      <a:r>
                        <a:rPr sz="1100" b="1">
                          <a:solidFill>
                            <a:srgbClr val="333333"/>
                          </a:solidFill>
                          <a:latin typeface="Inter"/>
                        </a:rPr>
                        <a:t>Term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Meaning, as the audit defines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Inter"/>
                        </a:rPr>
                        <a:t>Role (Group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 = produces/writes PNT state from a measurement | Transform = fuses/derives/converts PNT state (EKF fusion, GPS blending, geodetic↔NED) | Sink = only reads PNT state to drive control/behavior.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Group 2 columns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Trigger Condition (what invokes the code) | PNT State Observed (the exact accessor/value read, e.g. gps.status(), ahrs.have_inertial_nav(), EKF variance) — the discriminator from Group 1 | Behavior Change Description (how behavior changes).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Dependency Type (Layer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 (shared data value/struct field) | Function call (direct call) | Inheritance / Interface (backend overrides a virtual frontend interface) | Shared global / singleton (access via an AP:: accessor — AP::gps(), AP::ahrs(), AP::scheduler(), AP::rtc()).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Inter"/>
                        </a:rPr>
                        <a:t>Notes flags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[CIRCULAR] circular dependency (e.g. AHRS↔EKF) | [SHARED-STRUCT] PNT fields packed with non-PNT fields (extraction risk) | [DUPLICATED] copy-pasted PNT logic across locations | [MULTI-CATEGORY] spans &gt;1 PNT category (emitted once per table) | [ABSENT] expected PNT element not found where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1">
                          <a:solidFill>
                            <a:srgbClr val="333333"/>
                          </a:solidFill>
                          <a:latin typeface="Inter"/>
                        </a:rPr>
                        <a:t>Cross-reference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Each main table owns a monotonic, per-table # space (1,2,3…). Its dependency sub-table (the matching Xa table) reuses those exact numbers as Ref #. Each Xa table contains a Layer 1 block (direct edges) followed by a Layer 2 block (full transitive chain + final consumer + Chain Depth = the number of → hops explicitly listed in that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4404274"/>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follows the same convention throughout: the number of → hops explicitly listed in that chain.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SCOPE AND LINE-NUMBER BASIS, VERBATIM</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Scope of the catalog</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SCOPE</a:t>
            </a:r>
          </a:p>
        </p:txBody>
      </p:sp>
      <p:sp>
        <p:nvSpPr>
          <p:cNvPr id="7" name="TextBox 6"/>
          <p:cNvSpPr txBox="1"/>
          <p:nvPr/>
        </p:nvSpPr>
        <p:spPr>
          <a:xfrm>
            <a:off x="566928" y="1761896"/>
            <a:ext cx="11003280" cy="1802358"/>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Scope. This document is an audit-grade, read-only static-analysis catalog of every location in the ArduPilot firmware codebase (repository root containing ArduCopter/, ArduPlane/, Rover/, ArduSub/, AntennaTracker/, Blimp/, libraries/, modules/) where Positioning, Navigation, and Timing (PNT) data is handled, together with a two-layer dependency map for every catalogued reference. GROUP 1 catalogs core references — code that directly implements, reads, writes, or processes PNT data. GROUP 2 catalogs indirect / relational references — code that does not directly read or write PNT data but whose behavior changes as a result of PNT state. All file paths are repository-root-relative; every code snippet is reproduced VERBATIM from the cited path and line range so each row is independently verifiable. No source file is modified by this audit.</a:t>
            </a:r>
          </a:p>
        </p:txBody>
      </p:sp>
      <p:sp>
        <p:nvSpPr>
          <p:cNvPr id="8" name="TextBox 7"/>
          <p:cNvSpPr txBox="1"/>
          <p:nvPr/>
        </p:nvSpPr>
        <p:spPr>
          <a:xfrm>
            <a:off x="566928" y="376542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LINE-NUMBER BASIS, AS PRINTED ON THE AUDIT’S FIRST PAGE</a:t>
            </a:r>
          </a:p>
        </p:txBody>
      </p:sp>
      <p:sp>
        <p:nvSpPr>
          <p:cNvPr id="9" name="Rectangle 8"/>
          <p:cNvSpPr/>
          <p:nvPr/>
        </p:nvSpPr>
        <p:spPr>
          <a:xfrm>
            <a:off x="566928" y="3991126"/>
            <a:ext cx="32004" cy="983056"/>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713232" y="3991126"/>
            <a:ext cx="10856976" cy="983056"/>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“Line-number basis: every cited path:line range in this document is stated as of the audited HEAD 5b67e27b0a (the pre-refactor baseline). The reusable-service extraction adds one additive, default-off set_update_dt timing seam to AP_L1_Control.cpp / .h after that commit; that seam relocates no behavior and only shifts those two files' line numbers, so the numbers here are intentionally not post-seam current-source lines.”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THE SURVEYED SURFACE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Footprint Summary</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The surface swept to make the catalog exhaustive, in the audit’s own words and figures.</a:t>
            </a:r>
          </a:p>
        </p:txBody>
      </p:sp>
      <p:sp>
        <p:nvSpPr>
          <p:cNvPr id="7" name="TextBox 6"/>
          <p:cNvSpPr txBox="1"/>
          <p:nvPr/>
        </p:nvSpPr>
        <p:spPr>
          <a:xfrm>
            <a:off x="566928" y="1852079"/>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Footprint surveyed: libraries/ = 151 subsystems; libraries/AP_GPS/*.{cpp,h} = 44 files (14 receiver backends each catalogued individually + AP_GPS_Blended + GPS_Backend base); EKF families AP_NavEKF/AP_NavEKF2/AP_NavEKF3 with AP_NavEKF3 split across 13 fusion modules (all catalogued); flight/drive-mode files = 81 (ArduCopter 29 + ArduPlane 26 + Rover 14 + ArduSub 12), enumerated in the Coverage &amp; Explicit-Absence Register. PNT state is produced under libraries/ and consumed/acted-upon in vehicle glue code (failsafe, ekf_check, fence, flight-mode gating).</a:t>
            </a:r>
          </a:p>
        </p:txBody>
      </p:sp>
      <p:sp>
        <p:nvSpPr>
          <p:cNvPr id="8" name="Rounded Rectangle 7"/>
          <p:cNvSpPr/>
          <p:nvPr/>
        </p:nvSpPr>
        <p:spPr>
          <a:xfrm>
            <a:off x="566928"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151</a:t>
            </a:r>
          </a:p>
          <a:p>
            <a:pPr algn="ctr">
              <a:lnSpc>
                <a:spcPct val="124000"/>
              </a:lnSpc>
            </a:pPr>
            <a:r>
              <a:rPr sz="1200">
                <a:solidFill>
                  <a:srgbClr val="999999"/>
                </a:solidFill>
                <a:latin typeface="Inter"/>
              </a:rPr>
              <a:t>subsystems in libraries/</a:t>
            </a:r>
          </a:p>
        </p:txBody>
      </p:sp>
      <p:sp>
        <p:nvSpPr>
          <p:cNvPr id="9" name="Rounded Rectangle 8"/>
          <p:cNvSpPr/>
          <p:nvPr/>
        </p:nvSpPr>
        <p:spPr>
          <a:xfrm>
            <a:off x="2818790"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44</a:t>
            </a:r>
          </a:p>
          <a:p>
            <a:pPr algn="ctr">
              <a:lnSpc>
                <a:spcPct val="124000"/>
              </a:lnSpc>
            </a:pPr>
            <a:r>
              <a:rPr sz="1200">
                <a:solidFill>
                  <a:srgbClr val="999999"/>
                </a:solidFill>
                <a:latin typeface="Inter"/>
              </a:rPr>
              <a:t>AP_GPS files</a:t>
            </a:r>
          </a:p>
        </p:txBody>
      </p:sp>
      <p:sp>
        <p:nvSpPr>
          <p:cNvPr id="10" name="Rounded Rectangle 9"/>
          <p:cNvSpPr/>
          <p:nvPr/>
        </p:nvSpPr>
        <p:spPr>
          <a:xfrm>
            <a:off x="5070652"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14</a:t>
            </a:r>
          </a:p>
          <a:p>
            <a:pPr algn="ctr">
              <a:lnSpc>
                <a:spcPct val="124000"/>
              </a:lnSpc>
            </a:pPr>
            <a:r>
              <a:rPr sz="1200">
                <a:solidFill>
                  <a:srgbClr val="999999"/>
                </a:solidFill>
                <a:latin typeface="Inter"/>
              </a:rPr>
              <a:t>receiver backends</a:t>
            </a:r>
          </a:p>
        </p:txBody>
      </p:sp>
      <p:sp>
        <p:nvSpPr>
          <p:cNvPr id="11" name="Rounded Rectangle 10"/>
          <p:cNvSpPr/>
          <p:nvPr/>
        </p:nvSpPr>
        <p:spPr>
          <a:xfrm>
            <a:off x="7322514"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13</a:t>
            </a:r>
          </a:p>
          <a:p>
            <a:pPr algn="ctr">
              <a:lnSpc>
                <a:spcPct val="124000"/>
              </a:lnSpc>
            </a:pPr>
            <a:r>
              <a:rPr sz="1200">
                <a:solidFill>
                  <a:srgbClr val="999999"/>
                </a:solidFill>
                <a:latin typeface="Inter"/>
              </a:rPr>
              <a:t>EKF3 fusion modules</a:t>
            </a:r>
          </a:p>
        </p:txBody>
      </p:sp>
      <p:sp>
        <p:nvSpPr>
          <p:cNvPr id="12" name="Rounded Rectangle 11"/>
          <p:cNvSpPr/>
          <p:nvPr/>
        </p:nvSpPr>
        <p:spPr>
          <a:xfrm>
            <a:off x="9574376"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81</a:t>
            </a:r>
          </a:p>
          <a:p>
            <a:pPr algn="ctr">
              <a:lnSpc>
                <a:spcPct val="124000"/>
              </a:lnSpc>
            </a:pPr>
            <a:r>
              <a:rPr sz="1200">
                <a:solidFill>
                  <a:srgbClr val="999999"/>
                </a:solidFill>
                <a:latin typeface="Inter"/>
              </a:rPr>
              <a:t>flight / drive-mode files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EXECUTIVE SUMMARY  ·  AS THE AUDIT OPENS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Project overview and the core problem addressed</a:t>
            </a:r>
          </a:p>
        </p:txBody>
      </p:sp>
      <p:sp>
        <p:nvSpPr>
          <p:cNvPr id="6" name="Rectangle 5"/>
          <p:cNvSpPr/>
          <p:nvPr/>
        </p:nvSpPr>
        <p:spPr>
          <a:xfrm>
            <a:off x="566928" y="1536192"/>
            <a:ext cx="32004" cy="983056"/>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713232" y="1536192"/>
            <a:ext cx="10856976" cy="983056"/>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“This Executive Summary opens the audit and states up front what the catalog behind it establishes: where every Positioning, Navigation and Timing behavior in the ArduPilot firmware lives today, what depends on it, and — for the L1 lateral-navigation slice — which member of the reusable AfsimL1Behavior service each behavior is refactored into. It is a reading aid: the numbered tables, the instance mapping and the registers that follow remain the authoritative record.”</a:t>
            </a:r>
          </a:p>
        </p:txBody>
      </p:sp>
      <p:sp>
        <p:nvSpPr>
          <p:cNvPr id="8" name="TextBox 7"/>
          <p:cNvSpPr txBox="1"/>
          <p:nvPr/>
        </p:nvSpPr>
        <p:spPr>
          <a:xfrm>
            <a:off x="566928" y="2720416"/>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PROJECT OVERVIEW</a:t>
            </a:r>
          </a:p>
        </p:txBody>
      </p:sp>
      <p:sp>
        <p:nvSpPr>
          <p:cNvPr id="9" name="TextBox 8"/>
          <p:cNvSpPr txBox="1"/>
          <p:nvPr/>
        </p:nvSpPr>
        <p:spPr>
          <a:xfrm>
            <a:off x="566928" y="2946120"/>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This deliverable is an audit-grade, read-only static-analysis catalog of every location in the ArduPilot firmware codebase where Positioning, Navigation and Timing (PNT) data is handled, taken at audited HEAD 5b67e27b0a. Every catalogued reference reproduces the code at its cited path:line range verbatim and carries a two-layer dependency map: Layer 1 records the direct callers, callees and typed data edges around the reference, and Layer 2 records the full transitive chain through to the final consumer that acts on the value.</a:t>
            </a:r>
          </a:p>
        </p:txBody>
      </p:sp>
      <p:sp>
        <p:nvSpPr>
          <p:cNvPr id="10" name="TextBox 9"/>
          <p:cNvSpPr txBox="1"/>
          <p:nvPr/>
        </p:nvSpPr>
        <p:spPr>
          <a:xfrm>
            <a:off x="566928" y="4420513"/>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catalog is extended with a current-location → new-service-location mapping. For every PNT touch-point inside the wrapped L1 guidance controller it names the member of the reusable AfsimL1Behavior service that the behavior is refactored into: the AHRS state shim that supplies injected position, velocity and attitude, the injected-dt timing seam that replaces the internal hardware clock, and the extern "C" command surface that returns the roll and lateral-acceleration commands. No source file is modified by this audit.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EXECUTIVE SUMMARY  ·  AS THE AUDIT OPENS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Project overview and the core problem addressed (continued)</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CORE PROBLEM ADDRESSED</a:t>
            </a:r>
          </a:p>
        </p:txBody>
      </p:sp>
      <p:sp>
        <p:nvSpPr>
          <p:cNvPr id="7" name="TextBox 6"/>
          <p:cNvSpPr txBox="1"/>
          <p:nvPr/>
        </p:nvSpPr>
        <p:spPr>
          <a:xfrm>
            <a:off x="566928" y="1761896"/>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PNT behavior in ArduPilot is not a library that a host can call — it is embedded in the vehicle flight loop and duplicated across vehicles. Position, velocity, attitude and the control-step timebase are pulled implicitly from shared AHRS/EKF state and the hardware clock; PNT values arrive packed into structures alongside non-PNT fields; and the same derivation is repeated across the vehicle glue code. The catalog records that coupling directly: [SHARED-STRUCT] marks the packed structures, [DUPLICATED] marks the repeated derivations, and [CIRCULAR] marks the state that depends on itself.</a:t>
            </a:r>
          </a:p>
        </p:txBody>
      </p:sp>
      <p:sp>
        <p:nvSpPr>
          <p:cNvPr id="8" name="TextBox 7"/>
          <p:cNvSpPr txBox="1"/>
          <p:nvPr/>
        </p:nvSpPr>
        <p:spPr>
          <a:xfrm>
            <a:off x="566928" y="3236289"/>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consequence is that an external host cannot reuse a PNT behavior without first knowing every place that behavior lives, what it reads, and what breaks if it moves. This audit establishes exactly that ground truth — an enumerated, independently verifiable inventory of every PNT touch-point together with its dependency neighbourhood — and, for the L1-navigation slice, names the service member each behavior moves to, so the extraction can be reviewed as a mapping between named locations rather than as a rewrite.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STAKEHOLDER ROUTING  ·  THE AUDIT’S OWN AUDIENCES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Key Stakeholders and Users</a:t>
            </a:r>
          </a:p>
        </p:txBody>
      </p:sp>
      <p:sp>
        <p:nvSpPr>
          <p:cNvPr id="6" name="TextBox 5"/>
          <p:cNvSpPr txBox="1"/>
          <p:nvPr/>
        </p:nvSpPr>
        <p:spPr>
          <a:xfrm>
            <a:off x="566928" y="1536192"/>
            <a:ext cx="11003280" cy="1008659"/>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Integration and host engineers embedding the extracted guidance service use the current → new service location mapping as the wiring contract: it names, accessor by accessor, the value the host must inject and the service member that now supplies it. Flight-controls reviewers signing off the guidance seam use the Core Navigation and Core Timing tables, with their paired dependency sub-tables, to confirm that nothing outside the audited seam observes the values being injected.</a:t>
            </a:r>
          </a:p>
        </p:txBody>
      </p:sp>
      <p:sp>
        <p:nvSpPr>
          <p:cNvPr id="7" name="TextBox 6"/>
          <p:cNvSpPr txBox="1"/>
          <p:nvPr/>
        </p:nvSpPr>
        <p:spPr>
          <a:xfrm>
            <a:off x="566928" y="2746019"/>
            <a:ext cx="11003280" cy="1008659"/>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Firmware maintainers auditing PNT coupling use the audit-discipline flags to locate circular state, shared structures and duplicated derivations before touching shared state, and the Coverage &amp; Explicit-Absence Register to see which surfaces were swept and found clear. Reviewers and auditors rely on the read-only guarantee and on the verbatim path:line citations, which make every row independently checkable against the tree at the audited HEAD rather than something that has to be taken on trust.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STAKEHOLDER ROUTING  ·  WHICH PART CARRIES WHAT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Which part of this deck each audience needs</a:t>
            </a:r>
          </a:p>
        </p:txBody>
      </p:sp>
      <p:graphicFrame>
        <p:nvGraphicFramePr>
          <p:cNvPr id="6" name="Table 5"/>
          <p:cNvGraphicFramePr>
            <a:graphicFrameLocks noGrp="1"/>
          </p:cNvGraphicFramePr>
          <p:nvPr/>
        </p:nvGraphicFramePr>
        <p:xfrm>
          <a:off x="566928" y="1591056"/>
          <a:ext cx="11058144" cy="2267285"/>
        </p:xfrm>
        <a:graphic>
          <a:graphicData uri="http://schemas.openxmlformats.org/drawingml/2006/table">
            <a:tbl>
              <a:tblPr>
                <a:tableStyleId>{5C22544A-7EE6-4342-B048-85BDC9FD1C3A}</a:tableStyleId>
              </a:tblPr>
              <a:tblGrid>
                <a:gridCol w="2193350"/>
                <a:gridCol w="5940325"/>
                <a:gridCol w="2924469"/>
              </a:tblGrid>
              <a:tr h="240219">
                <a:tc>
                  <a:txBody>
                    <a:bodyPr wrap="square">
                      <a:noAutofit/>
                    </a:bodyPr>
                    <a:lstStyle/>
                    <a:p>
                      <a:pPr algn="l">
                        <a:lnSpc>
                          <a:spcPct val="106000"/>
                        </a:lnSpc>
                        <a:spcAft>
                          <a:spcPts val="0"/>
                        </a:spcAft>
                      </a:pPr>
                      <a:r>
                        <a:rPr sz="1100" b="1">
                          <a:solidFill>
                            <a:srgbClr val="333333"/>
                          </a:solidFill>
                          <a:latin typeface="Inter"/>
                        </a:rPr>
                        <a:t>Audience the audit names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they use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Where it is in this deck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Inter"/>
                        </a:rPr>
                        <a:t>Integration and host engineers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current → new service location mapping, as the wiring contract: accessor by accessor, the value the host must inject and the service member that now supplies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Part 11 · PNT Instance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Flight-controls reviewers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Core Navigation and Core Timing with their paired dependency sub-tables, to confirm that nothing outside the audited seam observes the values being injected.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Parts 5 and 6 · Core Navigation, Core 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1">
                          <a:solidFill>
                            <a:srgbClr val="333333"/>
                          </a:solidFill>
                          <a:latin typeface="Inter"/>
                        </a:rPr>
                        <a:t>Firmware maintainers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audit-discipline flags, to locate circular state, shared structures and duplicated derivations before touching shared state, and the Coverage &amp; Explicit-Absence Register to see which surfaces were swept and found clear.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Part 3 · severity axis; Part 12 · 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Inter"/>
                        </a:rPr>
                        <a:t>Reviewers and auditors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read-only guarantee and the verbatim path:line citations, which make every row independently checkable against the tree at the audited HEAD rather than something that has to be taken on trust.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Part 13 · provenance and reconciliation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KEY FINDINGS AT A GLANCE  ·  EVERY FIGURE AS STATED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Key Findings at a Glance</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Every figure below is a reconciled total of the catalog itself, carried forward unchanged from the tables, the instance mapping and the registers that follow.</a:t>
            </a:r>
          </a:p>
        </p:txBody>
      </p:sp>
      <p:graphicFrame>
        <p:nvGraphicFramePr>
          <p:cNvPr id="7" name="Table 6"/>
          <p:cNvGraphicFramePr>
            <a:graphicFrameLocks noGrp="1"/>
          </p:cNvGraphicFramePr>
          <p:nvPr/>
        </p:nvGraphicFramePr>
        <p:xfrm>
          <a:off x="566928" y="2063953"/>
          <a:ext cx="11058144" cy="2862900"/>
        </p:xfrm>
        <a:graphic>
          <a:graphicData uri="http://schemas.openxmlformats.org/drawingml/2006/table">
            <a:tbl>
              <a:tblPr>
                <a:tableStyleId>{5C22544A-7EE6-4342-B048-85BDC9FD1C3A}</a:tableStyleId>
              </a:tblPr>
              <a:tblGrid>
                <a:gridCol w="2101961"/>
                <a:gridCol w="822506"/>
                <a:gridCol w="4203922"/>
                <a:gridCol w="3929755"/>
              </a:tblGrid>
              <a:tr h="240219">
                <a:tc>
                  <a:txBody>
                    <a:bodyPr wrap="square">
                      <a:noAutofit/>
                    </a:bodyPr>
                    <a:lstStyle/>
                    <a:p>
                      <a:pPr algn="l">
                        <a:lnSpc>
                          <a:spcPct val="106000"/>
                        </a:lnSpc>
                        <a:spcAft>
                          <a:spcPts val="0"/>
                        </a:spcAft>
                      </a:pPr>
                      <a:r>
                        <a:rPr sz="1100" b="1">
                          <a:solidFill>
                            <a:srgbClr val="333333"/>
                          </a:solidFill>
                          <a:latin typeface="Inter"/>
                        </a:rPr>
                        <a:t>Dimension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Value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the Catalog Establishes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Where It Is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1">
                          <a:solidFill>
                            <a:srgbClr val="333333"/>
                          </a:solidFill>
                          <a:latin typeface="Inter"/>
                        </a:rPr>
                        <a:t>Core PNT references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Courier New"/>
                        </a:rPr>
                        <a:t>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Code that directly implements, reads, writes or processes PNT 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 — CORE PNT REFERENCES: Table 1 Core Positioning, Table 2 Core Navigation, Table 3 Core Timing, each with its 1a / 2a / 3a dependency map.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1">
                          <a:solidFill>
                            <a:srgbClr val="333333"/>
                          </a:solidFill>
                          <a:latin typeface="Inter"/>
                        </a:rPr>
                        <a:t>Indirect / relational PNT references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1">
                          <a:solidFill>
                            <a:srgbClr val="5B39F3"/>
                          </a:solidFill>
                          <a:latin typeface="Courier New"/>
                        </a:rPr>
                        <a:t>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Code that reads no PNT data itself but whose behavior changes as a result of PNT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 — INDIRECT / RELATIONAL PNT REFERENCES: Table 4 Indirect Positioning, Table 5 Indirect Navigation, Table 6 Indirect Timing, each with its 4a / 5a / 6a dependency map.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Total catalogued touch-points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Courier New"/>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Core plus indirect — the complete PNT surface enumerated by this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All GROUP 1 and GROUP 2 main tables.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Evidence 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1">
                          <a:solidFill>
                            <a:srgbClr val="5B39F3"/>
                          </a:solidFill>
                          <a:latin typeface="Courier New"/>
                        </a:rPr>
                        <a:t>282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94 touch-points × 3 layers: the main row, its Layer 1 direct edges and its Layer 2 transitive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Each main table together with its matching Xa dependency sub-table.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Data objects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Courier New"/>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table objects: 6 main tables plus their 6 Layer 1 and 6 Layer 2 blocks.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Tables 1 / 1a through 6 / 6a.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KEY FINDINGS AT A GLANCE  ·  EVERY FIGURE AS STATED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Key Findings at a Glance (continued)</a:t>
            </a:r>
          </a:p>
        </p:txBody>
      </p:sp>
      <p:graphicFrame>
        <p:nvGraphicFramePr>
          <p:cNvPr id="6" name="Table 5"/>
          <p:cNvGraphicFramePr>
            <a:graphicFrameLocks noGrp="1"/>
          </p:cNvGraphicFramePr>
          <p:nvPr/>
        </p:nvGraphicFramePr>
        <p:xfrm>
          <a:off x="566928" y="1591056"/>
          <a:ext cx="11058144" cy="2978078"/>
        </p:xfrm>
        <a:graphic>
          <a:graphicData uri="http://schemas.openxmlformats.org/drawingml/2006/table">
            <a:tbl>
              <a:tblPr>
                <a:tableStyleId>{5C22544A-7EE6-4342-B048-85BDC9FD1C3A}</a:tableStyleId>
              </a:tblPr>
              <a:tblGrid>
                <a:gridCol w="2101961"/>
                <a:gridCol w="822506"/>
                <a:gridCol w="4203922"/>
                <a:gridCol w="3929755"/>
              </a:tblGrid>
              <a:tr h="240219">
                <a:tc>
                  <a:txBody>
                    <a:bodyPr wrap="square">
                      <a:noAutofit/>
                    </a:bodyPr>
                    <a:lstStyle/>
                    <a:p>
                      <a:pPr algn="l">
                        <a:lnSpc>
                          <a:spcPct val="106000"/>
                        </a:lnSpc>
                        <a:spcAft>
                          <a:spcPts val="0"/>
                        </a:spcAft>
                      </a:pPr>
                      <a:r>
                        <a:rPr sz="1100" b="1">
                          <a:solidFill>
                            <a:srgbClr val="333333"/>
                          </a:solidFill>
                          <a:latin typeface="Inter"/>
                        </a:rPr>
                        <a:t>Dimension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Value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the Catalog Establishes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Where It Is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Inter"/>
                        </a:rPr>
                        <a:t>Catalog structure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1">
                          <a:solidFill>
                            <a:srgbClr val="5B39F3"/>
                          </a:solidFill>
                          <a:latin typeface="Courier New"/>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Tables in 6 numbered groups: 6 main tables, each paired with an Xa sub-table holding its Layer 1 and Layer 2 blocks.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Tables 1 / 1a through 6 / 6a, rendered in that order.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l">
                        <a:lnSpc>
                          <a:spcPct val="106000"/>
                        </a:lnSpc>
                        <a:spcAft>
                          <a:spcPts val="0"/>
                        </a:spcAft>
                      </a:pPr>
                      <a:r>
                        <a:rPr sz="1100" b="1">
                          <a:solidFill>
                            <a:srgbClr val="333333"/>
                          </a:solidFill>
                          <a:latin typeface="Inter"/>
                        </a:rPr>
                        <a:t>Audit-discipline flags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Courier New"/>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Flag kinds, with occurrences [CIRCULAR] 8 · [SHARED-STRUCT] 19 · [DUPLICATED] 36 · [MULTI-CATEGORY] 7 · [ABSENT] 30. They mark extraction risk and enforce non-inference discipline inline in the Notes columns.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Notes columns throughout; taxonomy and occurrence counts in Audit-Discipline Flags.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Inter"/>
                        </a:rPr>
                        <a:t>Coverage and explicit absences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1">
                          <a:solidFill>
                            <a:srgbClr val="5B39F3"/>
                          </a:solidFill>
                          <a:latin typeface="Courier New"/>
                        </a:rPr>
                        <a:t>109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Register entries across 10 sub-registers, including 27 checked, explicitly documented absences — evidence that the sweep was exhaustive rather than opportunistic.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&amp; Explicit-Absence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1">
                          <a:solidFill>
                            <a:srgbClr val="333333"/>
                          </a:solidFill>
                          <a:latin typeface="Inter"/>
                        </a:rPr>
                        <a:t>Current → new service mapping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Courier New"/>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L1-navigation touch-points mapped onto the AfsimL1Behavior member each is refactored into, spanning position, velocity, attitude, airspeed scaling, timing, geometry and the command outputs.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Instance Audit — Current Location → 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EXECUTIVE SUMMARY  ·  WHAT THE CATALOG IS FOR</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Expected Impact and Value Proposition</a:t>
            </a:r>
          </a:p>
        </p:txBody>
      </p:sp>
      <p:sp>
        <p:nvSpPr>
          <p:cNvPr id="6" name="TextBox 5"/>
          <p:cNvSpPr txBox="1"/>
          <p:nvPr/>
        </p:nvSpPr>
        <p:spPr>
          <a:xfrm>
            <a:off x="566928" y="1536192"/>
            <a:ext cx="11003280" cy="744093"/>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audit converts an implicit understanding of ArduPilot PNT coupling into a verifiable extraction baseline. Because every row cites a path:line range and reproduces the code at that range verbatim, the inventory can be re-checked against the tree at audited HEAD 5b67e27b0a rather than taken on trust, and the totals above reconcile against the catalog they summarise.</a:t>
            </a:r>
          </a:p>
        </p:txBody>
      </p:sp>
      <p:sp>
        <p:nvSpPr>
          <p:cNvPr id="7" name="TextBox 6"/>
          <p:cNvSpPr txBox="1"/>
          <p:nvPr/>
        </p:nvSpPr>
        <p:spPr>
          <a:xfrm>
            <a:off x="566928" y="2481453"/>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audit-discipline flags turn extraction risk into explicit, addressable markers — where state is circular, where PNT fields are packed with non-PNT fields, where a derivation is duplicated, and, through the checked absences, where an expected PNT element was looked for and genuinely is not present. For the L1-navigation slice the current → new mapping supplies a documented wiring contract for the reusable service, so the guidance seam can be reviewed and signed off against named locations on both sides of the extraction.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DOCUMENT ROADMAP  ·  THE AUDIT’S OWN READING ORDER</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Document Roadmap / How to Read This Document</a:t>
            </a:r>
          </a:p>
        </p:txBody>
      </p:sp>
      <p:sp>
        <p:nvSpPr>
          <p:cNvPr id="6" name="TextBox 5"/>
          <p:cNvSpPr txBox="1"/>
          <p:nvPr/>
        </p:nvSpPr>
        <p:spPr>
          <a:xfrm>
            <a:off x="566928" y="1591056"/>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The sections below appear in this order. Section names, table numbers and row numbering are exactly as catalogued.</a:t>
            </a:r>
          </a:p>
        </p:txBody>
      </p:sp>
      <p:graphicFrame>
        <p:nvGraphicFramePr>
          <p:cNvPr id="7" name="Table 6"/>
          <p:cNvGraphicFramePr>
            <a:graphicFrameLocks noGrp="1"/>
          </p:cNvGraphicFramePr>
          <p:nvPr/>
        </p:nvGraphicFramePr>
        <p:xfrm>
          <a:off x="566928" y="1870100"/>
          <a:ext cx="11058144" cy="3165639"/>
        </p:xfrm>
        <a:graphic>
          <a:graphicData uri="http://schemas.openxmlformats.org/drawingml/2006/table">
            <a:tbl>
              <a:tblPr>
                <a:tableStyleId>{5C22544A-7EE6-4342-B048-85BDC9FD1C3A}</a:tableStyleId>
              </a:tblPr>
              <a:tblGrid>
                <a:gridCol w="3198636"/>
                <a:gridCol w="7859508"/>
              </a:tblGrid>
              <a:tr h="240219">
                <a:tc>
                  <a:txBody>
                    <a:bodyPr wrap="square">
                      <a:noAutofit/>
                    </a:bodyPr>
                    <a:lstStyle/>
                    <a:p>
                      <a:pPr algn="l">
                        <a:lnSpc>
                          <a:spcPct val="106000"/>
                        </a:lnSpc>
                        <a:spcAft>
                          <a:spcPts val="0"/>
                        </a:spcAft>
                      </a:pPr>
                      <a:r>
                        <a:rPr sz="1100" b="1">
                          <a:solidFill>
                            <a:srgbClr val="333333"/>
                          </a:solidFill>
                          <a:latin typeface="Inter"/>
                        </a:rPr>
                        <a:t>Section, as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it contains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1">
                          <a:solidFill>
                            <a:srgbClr val="333333"/>
                          </a:solidFill>
                          <a:latin typeface="Inter"/>
                        </a:rPr>
                        <a:t>Legend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classification vocabularies — Role for Group 1, the Trigger Condition / PNT State Observed / Behavior Change discriminators for Group 2, Dependency Type for Layer 1 — plus the Notes-flag meanings and the cross-reference rule that ties each Xa table back to its main table numbering. Read this first.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Footprint Summary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surveyed surface: the subsystems, receiver backends, EKF families and flight-mode files swept to make the catalog exhaustive.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GROUP 1 — CORE PNT REFERENCES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Tables 1 / 1a Core Positioning, 2 / 2a Core Navigation and 3 / 3a Core Timing: code that directly implements, reads, writes or processes PNT data. Table 2 also carries the New Service Location column.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GROUP 2 — INDIRECT / RELATIONAL PNT REFERENCES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Tables 4 / 4a Indirect Positioning, 5 / 5a Indirect Navigation and 6 / 6a Indirect Timing: code whose behavior changes as a result of PNT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PNT Instance Audit — Current Location → 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consolidated mapping of every PNT touch-point inside the wrapped L1 controller onto its AfsimL1Behavior member, with the line-number basis stated alongside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Inter"/>
                        </a:rPr>
                        <a:t>Audit-Discipline Flags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flag taxonomy with its occurrence counts, reconciled against the catalog.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Coverage &amp; Explicit-Absence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directory-wide token sweeps and checked absences that establish exhaustiveness across libraries/, the vehicle directories and the submodule boundary edges.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Severity axis</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The audit’s own Audit-Discipline Flags, with its own stated occurrence counts. No new scale is introduced.</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AUDIT-DISCIPLINE FLAGS  ·  5 KINDS, CATALOG-WIDE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Audit-Discipline Flags</a:t>
            </a:r>
          </a:p>
        </p:txBody>
      </p:sp>
      <p:sp>
        <p:nvSpPr>
          <p:cNvPr id="6" name="TextBox 5"/>
          <p:cNvSpPr txBox="1"/>
          <p:nvPr/>
        </p:nvSpPr>
        <p:spPr>
          <a:xfrm>
            <a:off x="566928" y="1591056"/>
            <a:ext cx="11003280" cy="769162"/>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Extraction-risk and non-inference discipline markers applied inline in the Notes columns throughout the catalog.  Each occurrence figure is the audit’s own count of that token across its whole annotation corpus: the Notes of every main row and every Layer 2 chain, the Legend entry that defines the flag and, for [ABSENT], the Coverage register’s checked absences.</a:t>
            </a:r>
          </a:p>
        </p:txBody>
      </p:sp>
      <p:graphicFrame>
        <p:nvGraphicFramePr>
          <p:cNvPr id="7" name="Table 6"/>
          <p:cNvGraphicFramePr>
            <a:graphicFrameLocks noGrp="1"/>
          </p:cNvGraphicFramePr>
          <p:nvPr/>
        </p:nvGraphicFramePr>
        <p:xfrm>
          <a:off x="566928" y="2451658"/>
          <a:ext cx="11058144" cy="1625562"/>
        </p:xfrm>
        <a:graphic>
          <a:graphicData uri="http://schemas.openxmlformats.org/drawingml/2006/table">
            <a:tbl>
              <a:tblPr>
                <a:tableStyleId>{5C22544A-7EE6-4342-B048-85BDC9FD1C3A}</a:tableStyleId>
              </a:tblPr>
              <a:tblGrid>
                <a:gridCol w="2101961"/>
                <a:gridCol w="1370844"/>
                <a:gridCol w="7585339"/>
              </a:tblGrid>
              <a:tr h="270927">
                <a:tc>
                  <a:txBody>
                    <a:bodyPr wrap="square">
                      <a:noAutofit/>
                    </a:bodyPr>
                    <a:lstStyle/>
                    <a:p>
                      <a:pPr algn="l">
                        <a:lnSpc>
                          <a:spcPct val="106000"/>
                        </a:lnSpc>
                        <a:spcAft>
                          <a:spcPts val="0"/>
                        </a:spcAft>
                      </a:pPr>
                      <a:r>
                        <a:rPr sz="1300" b="1">
                          <a:solidFill>
                            <a:srgbClr val="333333"/>
                          </a:solidFill>
                          <a:latin typeface="Inter"/>
                        </a:rPr>
                        <a:t>Flag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Occurrences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Meaning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70927">
                <a:tc>
                  <a:txBody>
                    <a:bodyPr wrap="square">
                      <a:noAutofit/>
                    </a:bodyPr>
                    <a:lstStyle/>
                    <a:p>
                      <a:pPr algn="l">
                        <a:lnSpc>
                          <a:spcPct val="106000"/>
                        </a:lnSpc>
                        <a:spcAft>
                          <a:spcPts val="0"/>
                        </a:spcAft>
                      </a:pPr>
                      <a:r>
                        <a:rPr sz="1300" b="1">
                          <a:solidFill>
                            <a:srgbClr val="5B39F3"/>
                          </a:solidFill>
                          <a:latin typeface="Courier New"/>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Courier New"/>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Circular dependency (e.g. AHRS ↔ EKF).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5B39F3"/>
                          </a:solidFill>
                          <a:latin typeface="Courier New"/>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Courier New"/>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PNT fields packed with non-PNT fields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1">
                          <a:solidFill>
                            <a:srgbClr val="5B39F3"/>
                          </a:solidFill>
                          <a:latin typeface="Courier New"/>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Courier New"/>
                        </a:rPr>
                        <a:t>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Same PNT value read/derived in multiple places.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5B39F3"/>
                          </a:solidFill>
                          <a:latin typeface="Courier New"/>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Courier New"/>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Touch-point spans more than one PNT pillar.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1">
                          <a:solidFill>
                            <a:srgbClr val="5B39F3"/>
                          </a:solidFill>
                          <a:latin typeface="Courier New"/>
                        </a:rPr>
                        <a:t>[ABSENT]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Courier New"/>
                        </a:rPr>
                        <a:t>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A checked, explicitly-documented absence (non-inference discipline).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4205236"/>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Explicitly-documented absences catalogued in the Coverage register: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[SHARED-STRUCT]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[SHARED-STRUCT] – where it is applied</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PNT fields packed with non-PNT fields (extraction risk).</a:t>
            </a:r>
          </a:p>
        </p:txBody>
      </p:sp>
      <p:sp>
        <p:nvSpPr>
          <p:cNvPr id="7" name="TextBox 6"/>
          <p:cNvSpPr txBox="1"/>
          <p:nvPr/>
        </p:nvSpPr>
        <p:spPr>
          <a:xfrm>
            <a:off x="566928" y="1906943"/>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19  ·  [SHARED-STRUCT] marks the packed structures</a:t>
            </a:r>
          </a:p>
        </p:txBody>
      </p:sp>
      <p:graphicFrame>
        <p:nvGraphicFramePr>
          <p:cNvPr id="8" name="Table 7"/>
          <p:cNvGraphicFramePr>
            <a:graphicFrameLocks noGrp="1"/>
          </p:cNvGraphicFramePr>
          <p:nvPr/>
        </p:nvGraphicFramePr>
        <p:xfrm>
          <a:off x="566928" y="2185987"/>
          <a:ext cx="11058144" cy="2640330"/>
        </p:xfrm>
        <a:graphic>
          <a:graphicData uri="http://schemas.openxmlformats.org/drawingml/2006/table">
            <a:tbl>
              <a:tblPr>
                <a:tableStyleId>{5C22544A-7EE6-4342-B048-85BDC9FD1C3A}</a:tableStyleId>
              </a:tblPr>
              <a:tblGrid>
                <a:gridCol w="1135380"/>
                <a:gridCol w="3611880"/>
                <a:gridCol w="919480"/>
                <a:gridCol w="3575685"/>
                <a:gridCol w="1815465"/>
              </a:tblGrid>
              <a:tr h="240030">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030">
                <a:tc>
                  <a:txBody>
                    <a:bodyPr wrap="square">
                      <a:noAutofit/>
                    </a:bodyPr>
                    <a:lstStyle/>
                    <a:p>
                      <a:pPr algn="l">
                        <a:lnSpc>
                          <a:spcPct val="106000"/>
                        </a:lnSpc>
                        <a:spcAft>
                          <a:spcPts val="0"/>
                        </a:spcAft>
                      </a:pPr>
                      <a:r>
                        <a:rPr sz="1100" b="1">
                          <a:solidFill>
                            <a:srgbClr val="333333"/>
                          </a:solidFill>
                          <a:latin typeface="Courier New"/>
                        </a:rPr>
                        <a:t>Table 1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libraries/AP_GPS/AP_GPS_UBLOX.cpp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1510-1518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AP_GPS_UBLOX::_parse_gps()(NAV-POSLLH)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030">
                <a:tc>
                  <a:txBody>
                    <a:bodyPr wrap="square">
                      <a:noAutofit/>
                    </a:bodyPr>
                    <a:lstStyle/>
                    <a:p>
                      <a:pPr algn="l">
                        <a:lnSpc>
                          <a:spcPct val="106000"/>
                        </a:lnSpc>
                        <a:spcAft>
                          <a:spcPts val="0"/>
                        </a:spcAft>
                      </a:pPr>
                      <a:r>
                        <a:rPr sz="1100" b="1">
                          <a:solidFill>
                            <a:srgbClr val="333333"/>
                          </a:solidFill>
                          <a:latin typeface="Courier New"/>
                        </a:rPr>
                        <a:t>Table 1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libraries/AP_GPS/AP_GPS_NMEA.cpp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333-340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AP_GPS_NMEA::_term_complete()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Courier New"/>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030">
                <a:tc>
                  <a:txBody>
                    <a:bodyPr wrap="square">
                      <a:noAutofit/>
                    </a:bodyPr>
                    <a:lstStyle/>
                    <a:p>
                      <a:pPr algn="l">
                        <a:lnSpc>
                          <a:spcPct val="106000"/>
                        </a:lnSpc>
                        <a:spcAft>
                          <a:spcPts val="0"/>
                        </a:spcAft>
                      </a:pPr>
                      <a:r>
                        <a:rPr sz="1100" b="1">
                          <a:solidFill>
                            <a:srgbClr val="333333"/>
                          </a:solidFill>
                          <a:latin typeface="Courier New"/>
                        </a:rPr>
                        <a:t>Table 1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libraries/AP_GPS/AP_GPS_SBF.cpp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484-491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AP_GPS_SBF::process_message()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030">
                <a:tc>
                  <a:txBody>
                    <a:bodyPr wrap="square">
                      <a:noAutofit/>
                    </a:bodyPr>
                    <a:lstStyle/>
                    <a:p>
                      <a:pPr algn="l">
                        <a:lnSpc>
                          <a:spcPct val="106000"/>
                        </a:lnSpc>
                        <a:spcAft>
                          <a:spcPts val="0"/>
                        </a:spcAft>
                      </a:pPr>
                      <a:r>
                        <a:rPr sz="1100" b="1">
                          <a:solidFill>
                            <a:srgbClr val="333333"/>
                          </a:solidFill>
                          <a:latin typeface="Courier New"/>
                        </a:rPr>
                        <a:t>Table 1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libraries/AP_GPS/AP_GPS_NOVA.cpp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209-216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AP_GPS_NOVA::process_message()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Courier New"/>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030">
                <a:tc>
                  <a:txBody>
                    <a:bodyPr wrap="square">
                      <a:noAutofit/>
                    </a:bodyPr>
                    <a:lstStyle/>
                    <a:p>
                      <a:pPr algn="l">
                        <a:lnSpc>
                          <a:spcPct val="106000"/>
                        </a:lnSpc>
                        <a:spcAft>
                          <a:spcPts val="0"/>
                        </a:spcAft>
                      </a:pPr>
                      <a:r>
                        <a:rPr sz="1100" b="1">
                          <a:solidFill>
                            <a:srgbClr val="333333"/>
                          </a:solidFill>
                          <a:latin typeface="Courier New"/>
                        </a:rPr>
                        <a:t>Table 1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libraries/AP_GPS/AP_GPS_SBP.cpp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276-283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AP_GPS_SBP::_attempt_state_update()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030">
                <a:tc>
                  <a:txBody>
                    <a:bodyPr wrap="square">
                      <a:noAutofit/>
                    </a:bodyPr>
                    <a:lstStyle/>
                    <a:p>
                      <a:pPr algn="l">
                        <a:lnSpc>
                          <a:spcPct val="106000"/>
                        </a:lnSpc>
                        <a:spcAft>
                          <a:spcPts val="0"/>
                        </a:spcAft>
                      </a:pPr>
                      <a:r>
                        <a:rPr sz="1100" b="1">
                          <a:solidFill>
                            <a:srgbClr val="333333"/>
                          </a:solidFill>
                          <a:latin typeface="Courier New"/>
                        </a:rPr>
                        <a:t>Table 1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libraries/AP_GPS/AP_GPS_SBP2.cpp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328-335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AP_GPS_SBP2::_attempt_state_update()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Courier New"/>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030">
                <a:tc>
                  <a:txBody>
                    <a:bodyPr wrap="square">
                      <a:noAutofit/>
                    </a:bodyPr>
                    <a:lstStyle/>
                    <a:p>
                      <a:pPr algn="l">
                        <a:lnSpc>
                          <a:spcPct val="106000"/>
                        </a:lnSpc>
                        <a:spcAft>
                          <a:spcPts val="0"/>
                        </a:spcAft>
                      </a:pPr>
                      <a:r>
                        <a:rPr sz="1100" b="1">
                          <a:solidFill>
                            <a:srgbClr val="333333"/>
                          </a:solidFill>
                          <a:latin typeface="Courier New"/>
                        </a:rPr>
                        <a:t>Table 1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libraries/AP_GPS/AP_GPS_SIRF.cpp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178-185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AP_GPS_SIRF::_parse_gps()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030">
                <a:tc>
                  <a:txBody>
                    <a:bodyPr wrap="square">
                      <a:noAutofit/>
                    </a:bodyPr>
                    <a:lstStyle/>
                    <a:p>
                      <a:pPr algn="l">
                        <a:lnSpc>
                          <a:spcPct val="106000"/>
                        </a:lnSpc>
                        <a:spcAft>
                          <a:spcPts val="0"/>
                        </a:spcAft>
                      </a:pPr>
                      <a:r>
                        <a:rPr sz="1100" b="1">
                          <a:solidFill>
                            <a:srgbClr val="333333"/>
                          </a:solidFill>
                          <a:latin typeface="Courier New"/>
                        </a:rPr>
                        <a:t>Table 1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libraries/AP_GPS/AP_GPS_ERB.cpp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150-157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AP_GPS_ERB::_parse_gps()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Courier New"/>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030">
                <a:tc>
                  <a:txBody>
                    <a:bodyPr wrap="square">
                      <a:noAutofit/>
                    </a:bodyPr>
                    <a:lstStyle/>
                    <a:p>
                      <a:pPr algn="l">
                        <a:lnSpc>
                          <a:spcPct val="106000"/>
                        </a:lnSpc>
                        <a:spcAft>
                          <a:spcPts val="0"/>
                        </a:spcAft>
                      </a:pPr>
                      <a:r>
                        <a:rPr sz="1100" b="1">
                          <a:solidFill>
                            <a:srgbClr val="333333"/>
                          </a:solidFill>
                          <a:latin typeface="Courier New"/>
                        </a:rPr>
                        <a:t>Table 1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libraries/AP_GPS/AP_GPS_MAV.cpp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67-75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AP_GPS_MAV::handle_msg()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030">
                <a:tc>
                  <a:txBody>
                    <a:bodyPr wrap="square">
                      <a:noAutofit/>
                    </a:bodyPr>
                    <a:lstStyle/>
                    <a:p>
                      <a:pPr algn="l">
                        <a:lnSpc>
                          <a:spcPct val="106000"/>
                        </a:lnSpc>
                        <a:spcAft>
                          <a:spcPts val="0"/>
                        </a:spcAft>
                      </a:pPr>
                      <a:r>
                        <a:rPr sz="1100" b="1">
                          <a:solidFill>
                            <a:srgbClr val="333333"/>
                          </a:solidFill>
                          <a:latin typeface="Courier New"/>
                        </a:rPr>
                        <a:t>Table 1 #10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libraries/AP_GPS/AP_GPS_MSP.cpp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44-51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AP_GPS_MSP::handle_msp()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9" name="TextBox 8"/>
          <p:cNvSpPr txBox="1"/>
          <p:nvPr/>
        </p:nvSpPr>
        <p:spPr>
          <a:xfrm>
            <a:off x="566928" y="5782381"/>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[SHARED-STRUCT]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[SHARED-STRUCT] (continued)</a:t>
            </a:r>
          </a:p>
        </p:txBody>
      </p:sp>
      <p:graphicFrame>
        <p:nvGraphicFramePr>
          <p:cNvPr id="6" name="Table 5"/>
          <p:cNvGraphicFramePr>
            <a:graphicFrameLocks noGrp="1"/>
          </p:cNvGraphicFramePr>
          <p:nvPr/>
        </p:nvGraphicFramePr>
        <p:xfrm>
          <a:off x="566928" y="1591056"/>
          <a:ext cx="11058144" cy="1858010"/>
        </p:xfrm>
        <a:graphic>
          <a:graphicData uri="http://schemas.openxmlformats.org/drawingml/2006/table">
            <a:tbl>
              <a:tblPr>
                <a:tableStyleId>{5C22544A-7EE6-4342-B048-85BDC9FD1C3A}</a:tableStyleId>
              </a:tblPr>
              <a:tblGrid>
                <a:gridCol w="1135380"/>
                <a:gridCol w="3611880"/>
                <a:gridCol w="919480"/>
                <a:gridCol w="3575685"/>
                <a:gridCol w="1815465"/>
              </a:tblGrid>
              <a:tr h="240030">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030">
                <a:tc>
                  <a:txBody>
                    <a:bodyPr wrap="square">
                      <a:noAutofit/>
                    </a:bodyPr>
                    <a:lstStyle/>
                    <a:p>
                      <a:pPr algn="l">
                        <a:lnSpc>
                          <a:spcPct val="106000"/>
                        </a:lnSpc>
                        <a:spcAft>
                          <a:spcPts val="0"/>
                        </a:spcAft>
                      </a:pPr>
                      <a:r>
                        <a:rPr sz="1100" b="1">
                          <a:solidFill>
                            <a:srgbClr val="333333"/>
                          </a:solidFill>
                          <a:latin typeface="Courier New"/>
                        </a:rPr>
                        <a:t>Table 1 #11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libraries/AP_GPS/AP_GPS_GSOF.cpp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231-238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AP_GPS_GSOF::pack_state_data()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Courier New"/>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030">
                <a:tc>
                  <a:txBody>
                    <a:bodyPr wrap="square">
                      <a:noAutofit/>
                    </a:bodyPr>
                    <a:lstStyle/>
                    <a:p>
                      <a:pPr algn="l">
                        <a:lnSpc>
                          <a:spcPct val="106000"/>
                        </a:lnSpc>
                        <a:spcAft>
                          <a:spcPts val="0"/>
                        </a:spcAft>
                      </a:pPr>
                      <a:r>
                        <a:rPr sz="1100" b="1">
                          <a:solidFill>
                            <a:srgbClr val="333333"/>
                          </a:solidFill>
                          <a:latin typeface="Courier New"/>
                        </a:rPr>
                        <a:t>Table 1 #12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libraries/AP_GPS/AP_GPS_DroneCAN.cpp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388-396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AP_GPS_DroneCAN::handle_fix2_msg()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030">
                <a:tc>
                  <a:txBody>
                    <a:bodyPr wrap="square">
                      <a:noAutofit/>
                    </a:bodyPr>
                    <a:lstStyle/>
                    <a:p>
                      <a:pPr algn="l">
                        <a:lnSpc>
                          <a:spcPct val="106000"/>
                        </a:lnSpc>
                        <a:spcAft>
                          <a:spcPts val="0"/>
                        </a:spcAft>
                      </a:pPr>
                      <a:r>
                        <a:rPr sz="1100" b="1">
                          <a:solidFill>
                            <a:srgbClr val="333333"/>
                          </a:solidFill>
                          <a:latin typeface="Courier New"/>
                        </a:rPr>
                        <a:t>Table 1 #13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libraries/AP_GPS/AP_GPS_ExternalAHRS.cpp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49-56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AP_GPS_ExternalAHRS::handle_external()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Courier New"/>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030">
                <a:tc>
                  <a:txBody>
                    <a:bodyPr wrap="square">
                      <a:noAutofit/>
                    </a:bodyPr>
                    <a:lstStyle/>
                    <a:p>
                      <a:pPr algn="l">
                        <a:lnSpc>
                          <a:spcPct val="106000"/>
                        </a:lnSpc>
                        <a:spcAft>
                          <a:spcPts val="0"/>
                        </a:spcAft>
                      </a:pPr>
                      <a:r>
                        <a:rPr sz="1100" b="1">
                          <a:solidFill>
                            <a:srgbClr val="333333"/>
                          </a:solidFill>
                          <a:latin typeface="Courier New"/>
                        </a:rPr>
                        <a:t>Table 1 #14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libraries/AP_GPS/AP_GPS_SITL.cpp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86-93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AP_GPS_SITL::read()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1">
                          <a:solidFill>
                            <a:srgbClr val="333333"/>
                          </a:solidFill>
                          <a:latin typeface="Courier New"/>
                        </a:rPr>
                        <a:t>Table 1 #18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192-201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structAP_GPS::GPS_State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Courier New"/>
                        </a:rPr>
                        <a:t>[SHARED-STRUCT]  [MULTI-CATEGORY]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030">
                <a:tc>
                  <a:txBody>
                    <a:bodyPr wrap="square">
                      <a:noAutofit/>
                    </a:bodyPr>
                    <a:lstStyle/>
                    <a:p>
                      <a:pPr algn="l">
                        <a:lnSpc>
                          <a:spcPct val="106000"/>
                        </a:lnSpc>
                        <a:spcAft>
                          <a:spcPts val="0"/>
                        </a:spcAft>
                      </a:pPr>
                      <a:r>
                        <a:rPr sz="1100" b="1">
                          <a:solidFill>
                            <a:srgbClr val="333333"/>
                          </a:solidFill>
                          <a:latin typeface="Courier New"/>
                        </a:rPr>
                        <a:t>Table 1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libraries/AP_Common/Location.h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11-20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classLocation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4351616"/>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[SHARED-STRUCT]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[SHARED-STRUCT] in the Layer 2 chains</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graphicFrame>
        <p:nvGraphicFramePr>
          <p:cNvPr id="7" name="Table 6"/>
          <p:cNvGraphicFramePr>
            <a:graphicFrameLocks noGrp="1"/>
          </p:cNvGraphicFramePr>
          <p:nvPr/>
        </p:nvGraphicFramePr>
        <p:xfrm>
          <a:off x="566928" y="1906943"/>
          <a:ext cx="11058144" cy="1076053"/>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Courier New"/>
                        </a:rPr>
                        <a:t>Table 1a #18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GPS_State (struct)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AP_Motors and AP_RTC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[SHARED-STRUCT]  [MULTI-CATEGORY]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Courier New"/>
                        </a:rPr>
                        <a:t>Table 1a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class Location (geodetic value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Courier New"/>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[DUPLICATED]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[DUPLICATED] – where it is applied</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Same PNT value read/derived in multiple places.</a:t>
            </a:r>
          </a:p>
        </p:txBody>
      </p:sp>
      <p:sp>
        <p:nvSpPr>
          <p:cNvPr id="7" name="TextBox 6"/>
          <p:cNvSpPr txBox="1"/>
          <p:nvPr/>
        </p:nvSpPr>
        <p:spPr>
          <a:xfrm>
            <a:off x="566928" y="1906943"/>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36  ·  [DUPLICATED] marks the repeated derivations</a:t>
            </a:r>
          </a:p>
        </p:txBody>
      </p:sp>
      <p:graphicFrame>
        <p:nvGraphicFramePr>
          <p:cNvPr id="8" name="Table 7"/>
          <p:cNvGraphicFramePr>
            <a:graphicFrameLocks noGrp="1"/>
          </p:cNvGraphicFramePr>
          <p:nvPr/>
        </p:nvGraphicFramePr>
        <p:xfrm>
          <a:off x="566928" y="2185987"/>
          <a:ext cx="11058144" cy="2755900"/>
        </p:xfrm>
        <a:graphic>
          <a:graphicData uri="http://schemas.openxmlformats.org/drawingml/2006/table">
            <a:tbl>
              <a:tblPr>
                <a:tableStyleId>{5C22544A-7EE6-4342-B048-85BDC9FD1C3A}</a:tableStyleId>
              </a:tblPr>
              <a:tblGrid>
                <a:gridCol w="1135380"/>
                <a:gridCol w="3611880"/>
                <a:gridCol w="919480"/>
                <a:gridCol w="3575685"/>
                <a:gridCol w="1815465"/>
              </a:tblGrid>
              <a:tr h="240030">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l">
                        <a:lnSpc>
                          <a:spcPct val="106000"/>
                        </a:lnSpc>
                        <a:spcAft>
                          <a:spcPts val="0"/>
                        </a:spcAft>
                      </a:pPr>
                      <a:r>
                        <a:rPr sz="1100" b="1">
                          <a:solidFill>
                            <a:srgbClr val="333333"/>
                          </a:solidFill>
                          <a:latin typeface="Courier New"/>
                        </a:rPr>
                        <a:t>Table 2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libraries/AP_NavEKF2/AP_NavEKF2_core.cpp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528-536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[CIRCULAR]  [DUPLICATED]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1">
                          <a:solidFill>
                            <a:srgbClr val="333333"/>
                          </a:solidFill>
                          <a:latin typeface="Courier New"/>
                        </a:rPr>
                        <a:t>Table 2 #21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libraries/AP_NavEKF2/AP_NavEKF2_PosVelFusion.cpp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560-568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Courier New"/>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030">
                <a:tc>
                  <a:txBody>
                    <a:bodyPr wrap="square">
                      <a:noAutofit/>
                    </a:bodyPr>
                    <a:lstStyle/>
                    <a:p>
                      <a:pPr algn="l">
                        <a:lnSpc>
                          <a:spcPct val="106000"/>
                        </a:lnSpc>
                        <a:spcAft>
                          <a:spcPts val="0"/>
                        </a:spcAft>
                      </a:pPr>
                      <a:r>
                        <a:rPr sz="1100" b="1">
                          <a:solidFill>
                            <a:srgbClr val="333333"/>
                          </a:solidFill>
                          <a:latin typeface="Courier New"/>
                        </a:rPr>
                        <a:t>Table 4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ArduCopter/fence.cpp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20-28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030">
                <a:tc>
                  <a:txBody>
                    <a:bodyPr wrap="square">
                      <a:noAutofit/>
                    </a:bodyPr>
                    <a:lstStyle/>
                    <a:p>
                      <a:pPr algn="l">
                        <a:lnSpc>
                          <a:spcPct val="106000"/>
                        </a:lnSpc>
                        <a:spcAft>
                          <a:spcPts val="0"/>
                        </a:spcAft>
                      </a:pPr>
                      <a:r>
                        <a:rPr sz="1100" b="1">
                          <a:solidFill>
                            <a:srgbClr val="333333"/>
                          </a:solidFill>
                          <a:latin typeface="Courier New"/>
                        </a:rPr>
                        <a:t>Table 4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Rover/fence.cpp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17-25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Courier New"/>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030">
                <a:tc>
                  <a:txBody>
                    <a:bodyPr wrap="square">
                      <a:noAutofit/>
                    </a:bodyPr>
                    <a:lstStyle/>
                    <a:p>
                      <a:pPr algn="l">
                        <a:lnSpc>
                          <a:spcPct val="106000"/>
                        </a:lnSpc>
                        <a:spcAft>
                          <a:spcPts val="0"/>
                        </a:spcAft>
                      </a:pPr>
                      <a:r>
                        <a:rPr sz="1100" b="1">
                          <a:solidFill>
                            <a:srgbClr val="333333"/>
                          </a:solidFill>
                          <a:latin typeface="Courier New"/>
                        </a:rPr>
                        <a:t>Table 4 #10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ArduPlane/takeoff.cpp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58-62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Plane::auto_takeoff_check()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030">
                <a:tc>
                  <a:txBody>
                    <a:bodyPr wrap="square">
                      <a:noAutofit/>
                    </a:bodyPr>
                    <a:lstStyle/>
                    <a:p>
                      <a:pPr algn="l">
                        <a:lnSpc>
                          <a:spcPct val="106000"/>
                        </a:lnSpc>
                        <a:spcAft>
                          <a:spcPts val="0"/>
                        </a:spcAft>
                      </a:pPr>
                      <a:r>
                        <a:rPr sz="1100" b="1">
                          <a:solidFill>
                            <a:srgbClr val="333333"/>
                          </a:solidFill>
                          <a:latin typeface="Courier New"/>
                        </a:rPr>
                        <a:t>Table 5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ArduCopter/ekf_check.cpp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117-125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Copter::ekf_over_threshold()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Courier New"/>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030">
                <a:tc>
                  <a:txBody>
                    <a:bodyPr wrap="square">
                      <a:noAutofit/>
                    </a:bodyPr>
                    <a:lstStyle/>
                    <a:p>
                      <a:pPr algn="l">
                        <a:lnSpc>
                          <a:spcPct val="106000"/>
                        </a:lnSpc>
                        <a:spcAft>
                          <a:spcPts val="0"/>
                        </a:spcAft>
                      </a:pPr>
                      <a:r>
                        <a:rPr sz="1100" b="1">
                          <a:solidFill>
                            <a:srgbClr val="333333"/>
                          </a:solidFill>
                          <a:latin typeface="Courier New"/>
                        </a:rPr>
                        <a:t>Table 5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ArduPlane/ekf_check.cpp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56-65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Plane::ekf_check()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030">
                <a:tc>
                  <a:txBody>
                    <a:bodyPr wrap="square">
                      <a:noAutofit/>
                    </a:bodyPr>
                    <a:lstStyle/>
                    <a:p>
                      <a:pPr algn="l">
                        <a:lnSpc>
                          <a:spcPct val="106000"/>
                        </a:lnSpc>
                        <a:spcAft>
                          <a:spcPts val="0"/>
                        </a:spcAft>
                      </a:pPr>
                      <a:r>
                        <a:rPr sz="1100" b="1">
                          <a:solidFill>
                            <a:srgbClr val="333333"/>
                          </a:solidFill>
                          <a:latin typeface="Courier New"/>
                        </a:rPr>
                        <a:t>Table 5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Rover/ekf_check.cpp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93-102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Rover::ekf_over_threshold()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Courier New"/>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030">
                <a:tc>
                  <a:txBody>
                    <a:bodyPr wrap="square">
                      <a:noAutofit/>
                    </a:bodyPr>
                    <a:lstStyle/>
                    <a:p>
                      <a:pPr algn="l">
                        <a:lnSpc>
                          <a:spcPct val="106000"/>
                        </a:lnSpc>
                        <a:spcAft>
                          <a:spcPts val="0"/>
                        </a:spcAft>
                      </a:pPr>
                      <a:r>
                        <a:rPr sz="1100" b="1">
                          <a:solidFill>
                            <a:srgbClr val="333333"/>
                          </a:solidFill>
                          <a:latin typeface="Courier New"/>
                        </a:rPr>
                        <a:t>Table 5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ArduSub/failsafe.cpp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112-121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Sub::failsafe_ekf_check()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9" name="TextBox 8"/>
          <p:cNvSpPr txBox="1"/>
          <p:nvPr/>
        </p:nvSpPr>
        <p:spPr>
          <a:xfrm>
            <a:off x="566928" y="5719860"/>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[DUPLICATED]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[DUPLICATED] (continued)</a:t>
            </a:r>
          </a:p>
        </p:txBody>
      </p:sp>
      <p:graphicFrame>
        <p:nvGraphicFramePr>
          <p:cNvPr id="6" name="Table 5"/>
          <p:cNvGraphicFramePr>
            <a:graphicFrameLocks noGrp="1"/>
          </p:cNvGraphicFramePr>
          <p:nvPr/>
        </p:nvGraphicFramePr>
        <p:xfrm>
          <a:off x="566928" y="1591056"/>
          <a:ext cx="11058144" cy="2400300"/>
        </p:xfrm>
        <a:graphic>
          <a:graphicData uri="http://schemas.openxmlformats.org/drawingml/2006/table">
            <a:tbl>
              <a:tblPr>
                <a:tableStyleId>{5C22544A-7EE6-4342-B048-85BDC9FD1C3A}</a:tableStyleId>
              </a:tblPr>
              <a:tblGrid>
                <a:gridCol w="1135380"/>
                <a:gridCol w="3611880"/>
                <a:gridCol w="919480"/>
                <a:gridCol w="3575685"/>
                <a:gridCol w="1815465"/>
              </a:tblGrid>
              <a:tr h="240030">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030">
                <a:tc>
                  <a:txBody>
                    <a:bodyPr wrap="square">
                      <a:noAutofit/>
                    </a:bodyPr>
                    <a:lstStyle/>
                    <a:p>
                      <a:pPr algn="l">
                        <a:lnSpc>
                          <a:spcPct val="106000"/>
                        </a:lnSpc>
                        <a:spcAft>
                          <a:spcPts val="0"/>
                        </a:spcAft>
                      </a:pPr>
                      <a:r>
                        <a:rPr sz="1100" b="1">
                          <a:solidFill>
                            <a:srgbClr val="333333"/>
                          </a:solidFill>
                          <a:latin typeface="Courier New"/>
                        </a:rPr>
                        <a:t>Table 6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ArduCopter/failsafe.cpp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37-45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Copter::failsafe_check()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Courier New"/>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030">
                <a:tc>
                  <a:txBody>
                    <a:bodyPr wrap="square">
                      <a:noAutofit/>
                    </a:bodyPr>
                    <a:lstStyle/>
                    <a:p>
                      <a:pPr algn="l">
                        <a:lnSpc>
                          <a:spcPct val="106000"/>
                        </a:lnSpc>
                        <a:spcAft>
                          <a:spcPts val="0"/>
                        </a:spcAft>
                      </a:pPr>
                      <a:r>
                        <a:rPr sz="1100" b="1">
                          <a:solidFill>
                            <a:srgbClr val="333333"/>
                          </a:solidFill>
                          <a:latin typeface="Courier New"/>
                        </a:rPr>
                        <a:t>Table 6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ArduPlane/failsafe.cpp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22-30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Plane::failsafe_check()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030">
                <a:tc>
                  <a:txBody>
                    <a:bodyPr wrap="square">
                      <a:noAutofit/>
                    </a:bodyPr>
                    <a:lstStyle/>
                    <a:p>
                      <a:pPr algn="l">
                        <a:lnSpc>
                          <a:spcPct val="106000"/>
                        </a:lnSpc>
                        <a:spcAft>
                          <a:spcPts val="0"/>
                        </a:spcAft>
                      </a:pPr>
                      <a:r>
                        <a:rPr sz="1100" b="1">
                          <a:solidFill>
                            <a:srgbClr val="333333"/>
                          </a:solidFill>
                          <a:latin typeface="Courier New"/>
                        </a:rPr>
                        <a:t>Table 6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Rover/failsafe.cpp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22-30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Rover::failsafe_check()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Courier New"/>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030">
                <a:tc>
                  <a:txBody>
                    <a:bodyPr wrap="square">
                      <a:noAutofit/>
                    </a:bodyPr>
                    <a:lstStyle/>
                    <a:p>
                      <a:pPr algn="l">
                        <a:lnSpc>
                          <a:spcPct val="106000"/>
                        </a:lnSpc>
                        <a:spcAft>
                          <a:spcPts val="0"/>
                        </a:spcAft>
                      </a:pPr>
                      <a:r>
                        <a:rPr sz="1100" b="1">
                          <a:solidFill>
                            <a:srgbClr val="333333"/>
                          </a:solidFill>
                          <a:latin typeface="Courier New"/>
                        </a:rPr>
                        <a:t>Table 6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ArduSub/failsafe.cpp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31-39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Sub::mainloop_failsafe_check()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030">
                <a:tc>
                  <a:txBody>
                    <a:bodyPr wrap="square">
                      <a:noAutofit/>
                    </a:bodyPr>
                    <a:lstStyle/>
                    <a:p>
                      <a:pPr algn="l">
                        <a:lnSpc>
                          <a:spcPct val="106000"/>
                        </a:lnSpc>
                        <a:spcAft>
                          <a:spcPts val="0"/>
                        </a:spcAft>
                      </a:pPr>
                      <a:r>
                        <a:rPr sz="1100" b="1">
                          <a:solidFill>
                            <a:srgbClr val="333333"/>
                          </a:solidFill>
                          <a:latin typeface="Courier New"/>
                        </a:rPr>
                        <a:t>Table 6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Blimp/failsafe.cpp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37-45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Blimp::failsafe_check()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Courier New"/>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030">
                <a:tc>
                  <a:txBody>
                    <a:bodyPr wrap="square">
                      <a:noAutofit/>
                    </a:bodyPr>
                    <a:lstStyle/>
                    <a:p>
                      <a:pPr algn="l">
                        <a:lnSpc>
                          <a:spcPct val="106000"/>
                        </a:lnSpc>
                        <a:spcAft>
                          <a:spcPts val="0"/>
                        </a:spcAft>
                      </a:pPr>
                      <a:r>
                        <a:rPr sz="1100" b="1">
                          <a:solidFill>
                            <a:srgbClr val="333333"/>
                          </a:solidFill>
                          <a:latin typeface="Courier New"/>
                        </a:rPr>
                        <a:t>Table 6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ArduCopter/ekf_check.cpp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84-88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Copter::ekf_check() — GCS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030">
                <a:tc>
                  <a:txBody>
                    <a:bodyPr wrap="square">
                      <a:noAutofit/>
                    </a:bodyPr>
                    <a:lstStyle/>
                    <a:p>
                      <a:pPr algn="l">
                        <a:lnSpc>
                          <a:spcPct val="106000"/>
                        </a:lnSpc>
                        <a:spcAft>
                          <a:spcPts val="0"/>
                        </a:spcAft>
                      </a:pPr>
                      <a:r>
                        <a:rPr sz="1100" b="1">
                          <a:solidFill>
                            <a:srgbClr val="333333"/>
                          </a:solidFill>
                          <a:latin typeface="Courier New"/>
                        </a:rPr>
                        <a:t>Table 6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ArduPlane/ekf_check.cpp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78-82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Plane::ekf_check() — GCS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Courier New"/>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030">
                <a:tc>
                  <a:txBody>
                    <a:bodyPr wrap="square">
                      <a:noAutofit/>
                    </a:bodyPr>
                    <a:lstStyle/>
                    <a:p>
                      <a:pPr algn="l">
                        <a:lnSpc>
                          <a:spcPct val="106000"/>
                        </a:lnSpc>
                        <a:spcAft>
                          <a:spcPts val="0"/>
                        </a:spcAft>
                      </a:pPr>
                      <a:r>
                        <a:rPr sz="1100" b="1">
                          <a:solidFill>
                            <a:srgbClr val="333333"/>
                          </a:solidFill>
                          <a:latin typeface="Courier New"/>
                        </a:rPr>
                        <a:t>Table 6 #10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ArduCopter/fence.cpp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8-16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030">
                <a:tc>
                  <a:txBody>
                    <a:bodyPr wrap="square">
                      <a:noAutofit/>
                    </a:bodyPr>
                    <a:lstStyle/>
                    <a:p>
                      <a:pPr algn="l">
                        <a:lnSpc>
                          <a:spcPct val="106000"/>
                        </a:lnSpc>
                        <a:spcAft>
                          <a:spcPts val="0"/>
                        </a:spcAft>
                      </a:pPr>
                      <a:r>
                        <a:rPr sz="1100" b="1">
                          <a:solidFill>
                            <a:srgbClr val="333333"/>
                          </a:solidFill>
                          <a:latin typeface="Courier New"/>
                        </a:rPr>
                        <a:t>Table 6 #11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Rover/fence.cpp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6-14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Courier New"/>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249971"/>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[DUPLICATED]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[DUPLICATED] in the Layer 2 chains</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graphicFrame>
        <p:nvGraphicFramePr>
          <p:cNvPr id="7" name="Table 6"/>
          <p:cNvGraphicFramePr>
            <a:graphicFrameLocks noGrp="1"/>
          </p:cNvGraphicFramePr>
          <p:nvPr/>
        </p:nvGraphicFramePr>
        <p:xfrm>
          <a:off x="566928" y="1906943"/>
          <a:ext cx="11058144" cy="2935284"/>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Courier New"/>
                        </a:rPr>
                        <a:t>Table 2a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[CIRCULAR]  [DUPLICATED]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Courier New"/>
                        </a:rPr>
                        <a:t>Table 2a #21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Courier New"/>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Courier New"/>
                        </a:rPr>
                        <a:t>Table 4a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AP_AHRS vehicle position (via AC_Fence)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Copter fence failsafe (RTL/LAND)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Courier New"/>
                        </a:rPr>
                        <a:t>Table 4a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AP_AHRS vehicle position (via AC_Fence)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Rover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Courier New"/>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Courier New"/>
                        </a:rPr>
                        <a:t>Table 5a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EKF variances (via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EKF failsafe action (LAND)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Courier New"/>
                        </a:rPr>
                        <a:t>Table 5a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EKF variances (Plane)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Plane EKF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Courier New"/>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Courier New"/>
                        </a:rPr>
                        <a:t>Table 5a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EKF variances (Rover)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Rover EKF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Courier New"/>
                        </a:rPr>
                        <a:t>Table 5a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EKF variances (Sub)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Sub EKF failsafe flag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Courier New"/>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Courier New"/>
                        </a:rPr>
                        <a:t>Table 6a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AP_Motors (motor min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[DUPLICATED]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[DUPLICATED] in the Layer 2 chains (continued)</a:t>
            </a:r>
          </a:p>
        </p:txBody>
      </p:sp>
      <p:graphicFrame>
        <p:nvGraphicFramePr>
          <p:cNvPr id="6" name="Table 5"/>
          <p:cNvGraphicFramePr>
            <a:graphicFrameLocks noGrp="1"/>
          </p:cNvGraphicFramePr>
          <p:nvPr/>
        </p:nvGraphicFramePr>
        <p:xfrm>
          <a:off x="566928" y="1591056"/>
          <a:ext cx="11058144" cy="2872763"/>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Courier New"/>
                        </a:rPr>
                        <a:t>Table 6a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SRV_Channels (RC passthrough)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Courier New"/>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Courier New"/>
                        </a:rPr>
                        <a:t>Table 6a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AP_Arming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Courier New"/>
                        </a:rPr>
                        <a:t>Table 6a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AP_Motors (motor 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Courier New"/>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Courier New"/>
                        </a:rPr>
                        <a:t>Table 6a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AP_Motors (motor 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Courier New"/>
                        </a:rPr>
                        <a:t>Table 6a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GCS_MAVLINK (telemetry 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Courier New"/>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Courier New"/>
                        </a:rPr>
                        <a:t>Table 6a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GCS_MAVLINK (telemetry 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Courier New"/>
                        </a:rPr>
                        <a:t>Table 6a #10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AC_Fence /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Courier New"/>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Courier New"/>
                        </a:rPr>
                        <a:t>Table 6a #11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AC_Fence /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[CIRCULAR]</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[CIRCULAR] – where it is applied</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Circular dependency (e.g. AHRS ↔ EKF).</a:t>
            </a:r>
          </a:p>
        </p:txBody>
      </p:sp>
      <p:sp>
        <p:nvSpPr>
          <p:cNvPr id="7" name="TextBox 6"/>
          <p:cNvSpPr txBox="1"/>
          <p:nvPr/>
        </p:nvSpPr>
        <p:spPr>
          <a:xfrm>
            <a:off x="566928" y="1906943"/>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8  ·  [CIRCULAR] marks the state that depends on itself</a:t>
            </a:r>
          </a:p>
        </p:txBody>
      </p:sp>
      <p:graphicFrame>
        <p:nvGraphicFramePr>
          <p:cNvPr id="8" name="Table 7"/>
          <p:cNvGraphicFramePr>
            <a:graphicFrameLocks noGrp="1"/>
          </p:cNvGraphicFramePr>
          <p:nvPr/>
        </p:nvGraphicFramePr>
        <p:xfrm>
          <a:off x="566928" y="2185987"/>
          <a:ext cx="11058144" cy="1973580"/>
        </p:xfrm>
        <a:graphic>
          <a:graphicData uri="http://schemas.openxmlformats.org/drawingml/2006/table">
            <a:tbl>
              <a:tblPr>
                <a:tableStyleId>{5C22544A-7EE6-4342-B048-85BDC9FD1C3A}</a:tableStyleId>
              </a:tblPr>
              <a:tblGrid>
                <a:gridCol w="1135380"/>
                <a:gridCol w="3611880"/>
                <a:gridCol w="919480"/>
                <a:gridCol w="3575685"/>
                <a:gridCol w="1815465"/>
              </a:tblGrid>
              <a:tr h="240030">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030">
                <a:tc>
                  <a:txBody>
                    <a:bodyPr wrap="square">
                      <a:noAutofit/>
                    </a:bodyPr>
                    <a:lstStyle/>
                    <a:p>
                      <a:pPr algn="l">
                        <a:lnSpc>
                          <a:spcPct val="106000"/>
                        </a:lnSpc>
                        <a:spcAft>
                          <a:spcPts val="0"/>
                        </a:spcAft>
                      </a:pPr>
                      <a:r>
                        <a:rPr sz="1100" b="1">
                          <a:solidFill>
                            <a:srgbClr val="333333"/>
                          </a:solidFill>
                          <a:latin typeface="Courier New"/>
                        </a:rPr>
                        <a:t>Table 2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libraries/AP_AHRS/AP_AHRS.cpp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3600-3604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030">
                <a:tc>
                  <a:txBody>
                    <a:bodyPr wrap="square">
                      <a:noAutofit/>
                    </a:bodyPr>
                    <a:lstStyle/>
                    <a:p>
                      <a:pPr algn="l">
                        <a:lnSpc>
                          <a:spcPct val="106000"/>
                        </a:lnSpc>
                        <a:spcAft>
                          <a:spcPts val="0"/>
                        </a:spcAft>
                      </a:pPr>
                      <a:r>
                        <a:rPr sz="1100" b="1">
                          <a:solidFill>
                            <a:srgbClr val="333333"/>
                          </a:solidFill>
                          <a:latin typeface="Courier New"/>
                        </a:rPr>
                        <a:t>Table 2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libraries/AP_NavEKF3/AP_NavEKF3_core.cpp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627-636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Courier New"/>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l">
                        <a:lnSpc>
                          <a:spcPct val="106000"/>
                        </a:lnSpc>
                        <a:spcAft>
                          <a:spcPts val="0"/>
                        </a:spcAft>
                      </a:pPr>
                      <a:r>
                        <a:rPr sz="1100" b="1">
                          <a:solidFill>
                            <a:srgbClr val="333333"/>
                          </a:solidFill>
                          <a:latin typeface="Courier New"/>
                        </a:rPr>
                        <a:t>Table 2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libraries/AP_NavEKF3/AP_NavEKF3_PosVelFusion.cpp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502-511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NavEKF3_core::SelectVelPosFusion()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1">
                          <a:solidFill>
                            <a:srgbClr val="333333"/>
                          </a:solidFill>
                          <a:latin typeface="Courier New"/>
                        </a:rPr>
                        <a:t>Table 2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libraries/AP_NavEKF3/AP_NavEKF3_Measurements.cpp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559-567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NavEKF3_core::readGpsData()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Courier New"/>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l">
                        <a:lnSpc>
                          <a:spcPct val="106000"/>
                        </a:lnSpc>
                        <a:spcAft>
                          <a:spcPts val="0"/>
                        </a:spcAft>
                      </a:pPr>
                      <a:r>
                        <a:rPr sz="1100" b="1">
                          <a:solidFill>
                            <a:srgbClr val="333333"/>
                          </a:solidFill>
                          <a:latin typeface="Courier New"/>
                        </a:rPr>
                        <a:t>Table 2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libraries/AP_NavEKF2/AP_NavEKF2_core.cpp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528-536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[CIRCULAR]  [DUPLICATED]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9" name="TextBox 8"/>
          <p:cNvSpPr txBox="1"/>
          <p:nvPr/>
        </p:nvSpPr>
        <p:spPr>
          <a:xfrm>
            <a:off x="566928" y="4466109"/>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[CIRCULAR]</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[CIRCULAR] in the Layer 2 chains</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graphicFrame>
        <p:nvGraphicFramePr>
          <p:cNvPr id="7" name="Table 6"/>
          <p:cNvGraphicFramePr>
            <a:graphicFrameLocks noGrp="1"/>
          </p:cNvGraphicFramePr>
          <p:nvPr/>
        </p:nvGraphicFramePr>
        <p:xfrm>
          <a:off x="566928" y="1906943"/>
          <a:ext cx="11058144" cy="720657"/>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Courier New"/>
                        </a:rPr>
                        <a:t>Table 2a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Courier New"/>
                        </a:rPr>
                        <a:t>Table 2a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Courier New"/>
                        </a:rPr>
                        <a:t>[CIRCULAR]  [DUPLICATED]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[MULTI-CATEGORY]</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[MULTI-CATEGORY] – where it is applied</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Touch-point spans more than one PNT pillar.</a:t>
            </a:r>
          </a:p>
        </p:txBody>
      </p:sp>
      <p:sp>
        <p:nvSpPr>
          <p:cNvPr id="7" name="TextBox 6"/>
          <p:cNvSpPr txBox="1"/>
          <p:nvPr/>
        </p:nvSpPr>
        <p:spPr>
          <a:xfrm>
            <a:off x="566928" y="1906943"/>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7  ·  [MULTI-CATEGORY] spans &gt;1 PNT category (emitted once per table)</a:t>
            </a:r>
          </a:p>
        </p:txBody>
      </p:sp>
      <p:graphicFrame>
        <p:nvGraphicFramePr>
          <p:cNvPr id="8" name="Table 7"/>
          <p:cNvGraphicFramePr>
            <a:graphicFrameLocks noGrp="1"/>
          </p:cNvGraphicFramePr>
          <p:nvPr/>
        </p:nvGraphicFramePr>
        <p:xfrm>
          <a:off x="566928" y="2379840"/>
          <a:ext cx="11058144" cy="1137920"/>
        </p:xfrm>
        <a:graphic>
          <a:graphicData uri="http://schemas.openxmlformats.org/drawingml/2006/table">
            <a:tbl>
              <a:tblPr>
                <a:tableStyleId>{5C22544A-7EE6-4342-B048-85BDC9FD1C3A}</a:tableStyleId>
              </a:tblPr>
              <a:tblGrid>
                <a:gridCol w="1135380"/>
                <a:gridCol w="3611880"/>
                <a:gridCol w="919480"/>
                <a:gridCol w="3575685"/>
                <a:gridCol w="1815465"/>
              </a:tblGrid>
              <a:tr h="240030">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030">
                <a:tc>
                  <a:txBody>
                    <a:bodyPr wrap="square">
                      <a:noAutofit/>
                    </a:bodyPr>
                    <a:lstStyle/>
                    <a:p>
                      <a:pPr algn="l">
                        <a:lnSpc>
                          <a:spcPct val="106000"/>
                        </a:lnSpc>
                        <a:spcAft>
                          <a:spcPts val="0"/>
                        </a:spcAft>
                      </a:pPr>
                      <a:r>
                        <a:rPr sz="1100" b="1">
                          <a:solidFill>
                            <a:srgbClr val="333333"/>
                          </a:solidFill>
                          <a:latin typeface="Courier New"/>
                        </a:rPr>
                        <a:t>Table 1 #17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360-365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1">
                          <a:solidFill>
                            <a:srgbClr val="333333"/>
                          </a:solidFill>
                          <a:latin typeface="Courier New"/>
                        </a:rPr>
                        <a:t>Table 1 #18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192-201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structAP_GPS::GPS_State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Courier New"/>
                        </a:rPr>
                        <a:t>[SHARED-STRUCT]  [MULTI-CATEGORY]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030">
                <a:tc>
                  <a:txBody>
                    <a:bodyPr wrap="square">
                      <a:noAutofit/>
                    </a:bodyPr>
                    <a:lstStyle/>
                    <a:p>
                      <a:pPr algn="l">
                        <a:lnSpc>
                          <a:spcPct val="106000"/>
                        </a:lnSpc>
                        <a:spcAft>
                          <a:spcPts val="0"/>
                        </a:spcAft>
                      </a:pPr>
                      <a:r>
                        <a:rPr sz="1100" b="1">
                          <a:solidFill>
                            <a:srgbClr val="333333"/>
                          </a:solidFill>
                          <a:latin typeface="Courier New"/>
                        </a:rPr>
                        <a:t>Table 3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409-418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AP_GPS::time_week_ms()/time_week()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9" name="TextBox 8"/>
          <p:cNvSpPr txBox="1"/>
          <p:nvPr/>
        </p:nvSpPr>
        <p:spPr>
          <a:xfrm>
            <a:off x="566928" y="3824128"/>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[MULTI-CATEGORY]</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[MULTI-CATEGORY] in the Layer 2 chains</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graphicFrame>
        <p:nvGraphicFramePr>
          <p:cNvPr id="7" name="Table 6"/>
          <p:cNvGraphicFramePr>
            <a:graphicFrameLocks noGrp="1"/>
          </p:cNvGraphicFramePr>
          <p:nvPr/>
        </p:nvGraphicFramePr>
        <p:xfrm>
          <a:off x="566928" y="1906943"/>
          <a:ext cx="11058144" cy="1138574"/>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Courier New"/>
                        </a:rPr>
                        <a:t>Table 1a #15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GPS velocity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Courier New"/>
                        </a:rPr>
                        <a:t>Table 1a #18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GPS_State (struct)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AP_Motors and AP_RTC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Courier New"/>
                        </a:rPr>
                        <a:t>[SHARED-STRUCT]  [MULTI-CATEGORY]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Courier New"/>
                        </a:rPr>
                        <a:t>Table 3a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GPS receiver (time-of-week)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EKF GPS-time / UTC conversion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[ABSENT]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[ABSENT] – where it is applied</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 checked, explicitly-documented absence (non-inference discipline).</a:t>
            </a:r>
          </a:p>
        </p:txBody>
      </p:sp>
      <p:sp>
        <p:nvSpPr>
          <p:cNvPr id="7" name="TextBox 6"/>
          <p:cNvSpPr txBox="1"/>
          <p:nvPr/>
        </p:nvSpPr>
        <p:spPr>
          <a:xfrm>
            <a:off x="566928" y="1906943"/>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30  ·  where an expected PNT element was looked for and genuinely is not present</a:t>
            </a:r>
          </a:p>
        </p:txBody>
      </p:sp>
      <p:graphicFrame>
        <p:nvGraphicFramePr>
          <p:cNvPr id="8" name="Table 7"/>
          <p:cNvGraphicFramePr>
            <a:graphicFrameLocks noGrp="1"/>
          </p:cNvGraphicFramePr>
          <p:nvPr/>
        </p:nvGraphicFramePr>
        <p:xfrm>
          <a:off x="566928" y="2379840"/>
          <a:ext cx="11058144" cy="835660"/>
        </p:xfrm>
        <a:graphic>
          <a:graphicData uri="http://schemas.openxmlformats.org/drawingml/2006/table">
            <a:tbl>
              <a:tblPr>
                <a:tableStyleId>{5C22544A-7EE6-4342-B048-85BDC9FD1C3A}</a:tableStyleId>
              </a:tblPr>
              <a:tblGrid>
                <a:gridCol w="1135380"/>
                <a:gridCol w="3611880"/>
                <a:gridCol w="919480"/>
                <a:gridCol w="3575685"/>
                <a:gridCol w="1815465"/>
              </a:tblGrid>
              <a:tr h="417830">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l">
                        <a:lnSpc>
                          <a:spcPct val="106000"/>
                        </a:lnSpc>
                        <a:spcAft>
                          <a:spcPts val="0"/>
                        </a:spcAft>
                      </a:pPr>
                      <a:r>
                        <a:rPr sz="1100" b="1">
                          <a:solidFill>
                            <a:srgbClr val="333333"/>
                          </a:solidFill>
                          <a:latin typeface="Courier New"/>
                        </a:rPr>
                        <a:t>Table 1 #23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libraries/AC_AttitudeControl/AC_PosControl.cpp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363-372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AC_PosControl::input_pos_NEU_cm()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[ABSENT]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9" name="TextBox 8"/>
          <p:cNvSpPr txBox="1"/>
          <p:nvPr/>
        </p:nvSpPr>
        <p:spPr>
          <a:xfrm>
            <a:off x="566928" y="3343910"/>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[ABSENT]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[ABSENT] in the Layer 2 chains</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graphicFrame>
        <p:nvGraphicFramePr>
          <p:cNvPr id="7" name="Table 6"/>
          <p:cNvGraphicFramePr>
            <a:graphicFrameLocks noGrp="1"/>
          </p:cNvGraphicFramePr>
          <p:nvPr/>
        </p:nvGraphicFramePr>
        <p:xfrm>
          <a:off x="566928" y="1906943"/>
          <a:ext cx="11058144" cy="835660"/>
        </p:xfrm>
        <a:graphic>
          <a:graphicData uri="http://schemas.openxmlformats.org/drawingml/2006/table">
            <a:tbl>
              <a:tblPr>
                <a:tableStyleId>{5C22544A-7EE6-4342-B048-85BDC9FD1C3A}</a:tableStyleId>
              </a:tblPr>
              <a:tblGrid>
                <a:gridCol w="1553623"/>
                <a:gridCol w="2833078"/>
                <a:gridCol w="2833078"/>
                <a:gridCol w="1096675"/>
                <a:gridCol w="2741690"/>
              </a:tblGrid>
              <a:tr h="417830">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l">
                        <a:lnSpc>
                          <a:spcPct val="106000"/>
                        </a:lnSpc>
                        <a:spcAft>
                          <a:spcPts val="0"/>
                        </a:spcAft>
                      </a:pPr>
                      <a:r>
                        <a:rPr sz="1100" b="1">
                          <a:solidFill>
                            <a:srgbClr val="333333"/>
                          </a:solidFill>
                          <a:latin typeface="Courier New"/>
                        </a:rPr>
                        <a:t>Table 4a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(no PNT — GPS-independent)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Courier New"/>
                        </a:rPr>
                        <a:t>[ABSENT]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[ABSENT]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[ABSENT] – the checked absences</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AUDIT’S OWN FOOTNOTE TO THE FLAGS TABLE</a:t>
            </a:r>
          </a:p>
        </p:txBody>
      </p:sp>
      <p:sp>
        <p:nvSpPr>
          <p:cNvPr id="7" name="Rectangle 6"/>
          <p:cNvSpPr/>
          <p:nvPr/>
        </p:nvSpPr>
        <p:spPr>
          <a:xfrm>
            <a:off x="566928" y="1761896"/>
            <a:ext cx="32004" cy="214960"/>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13232" y="1761896"/>
            <a:ext cx="10856976" cy="214960"/>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“Explicitly-documented absences catalogued in the Coverage register: 27.”</a:t>
            </a:r>
          </a:p>
        </p:txBody>
      </p:sp>
      <p:sp>
        <p:nvSpPr>
          <p:cNvPr id="9" name="TextBox 8"/>
          <p:cNvSpPr txBox="1"/>
          <p:nvPr/>
        </p:nvSpPr>
        <p:spPr>
          <a:xfrm>
            <a:off x="566928" y="2178024"/>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WHERE THEY ARE CATALOGUED</a:t>
            </a:r>
          </a:p>
        </p:txBody>
      </p:sp>
      <p:sp>
        <p:nvSpPr>
          <p:cNvPr id="10" name="TextBox 9"/>
          <p:cNvSpPr txBox="1"/>
          <p:nvPr/>
        </p:nvSpPr>
        <p:spPr>
          <a:xfrm>
            <a:off x="566928" y="2403728"/>
            <a:ext cx="11003280" cy="479526"/>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checked absences are catalogued entry by entry in the Coverage &amp; Explicit-Absence Register, which is carried in full in Part 12 of this deck: each one names the surface that was swept, what was looked for, and the evidence that it is not present.</a:t>
            </a:r>
          </a:p>
        </p:txBody>
      </p:sp>
      <p:sp>
        <p:nvSpPr>
          <p:cNvPr id="11" name="TextBox 10"/>
          <p:cNvSpPr txBox="1"/>
          <p:nvPr/>
        </p:nvSpPr>
        <p:spPr>
          <a:xfrm>
            <a:off x="566928" y="308442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DISCIPLINE THE FLAG ENFORCES</a:t>
            </a:r>
          </a:p>
        </p:txBody>
      </p:sp>
      <p:sp>
        <p:nvSpPr>
          <p:cNvPr id="12" name="Rectangle 11"/>
          <p:cNvSpPr/>
          <p:nvPr/>
        </p:nvSpPr>
        <p:spPr>
          <a:xfrm>
            <a:off x="566928" y="3310126"/>
            <a:ext cx="32004" cy="214960"/>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713232" y="3310126"/>
            <a:ext cx="10856976" cy="214960"/>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“A checked, explicitly-documented absence (non-inference discipline).”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THE TWO NAMED TOP RISKS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two touch-points the audit itself singles out</a:t>
            </a:r>
          </a:p>
        </p:txBody>
      </p:sp>
      <p:sp>
        <p:nvSpPr>
          <p:cNvPr id="6" name="TextBox 5"/>
          <p:cNvSpPr txBox="1"/>
          <p:nvPr/>
        </p:nvSpPr>
        <p:spPr>
          <a:xfrm>
            <a:off x="566928" y="1536192"/>
            <a:ext cx="11003280" cy="199605"/>
          </a:xfrm>
          <a:prstGeom prst="rect">
            <a:avLst/>
          </a:prstGeom>
          <a:noFill/>
        </p:spPr>
        <p:txBody>
          <a:bodyPr wrap="square" lIns="0" rIns="0" tIns="0" bIns="0" anchor="t">
            <a:noAutofit/>
          </a:bodyPr>
          <a:lstStyle/>
          <a:p>
            <a:pPr algn="l">
              <a:lnSpc>
                <a:spcPct val="124000"/>
              </a:lnSpc>
              <a:spcAft>
                <a:spcPts val="0"/>
              </a:spcAft>
            </a:pPr>
            <a:r>
              <a:rPr sz="1300" b="0">
                <a:solidFill>
                  <a:srgbClr val="333333"/>
                </a:solidFill>
                <a:latin typeface="Inter"/>
              </a:rPr>
              <a:t>The audit applies superlative risk language to exactly two catalogued touch-points. Both are quoted here in full, as printed.</a:t>
            </a:r>
          </a:p>
        </p:txBody>
      </p:sp>
      <p:sp>
        <p:nvSpPr>
          <p:cNvPr id="7" name="TextBox 6"/>
          <p:cNvSpPr txBox="1"/>
          <p:nvPr/>
        </p:nvSpPr>
        <p:spPr>
          <a:xfrm>
            <a:off x="566928" y="1936965"/>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Courier New"/>
              </a:rPr>
              <a:t>Table 1 #18  ·  libraries/AP_GPS/AP_GPS.h  192-201  structAP_GPS::GPS_State</a:t>
            </a:r>
          </a:p>
        </p:txBody>
      </p:sp>
      <p:sp>
        <p:nvSpPr>
          <p:cNvPr id="8" name="Rectangle 7"/>
          <p:cNvSpPr/>
          <p:nvPr/>
        </p:nvSpPr>
        <p:spPr>
          <a:xfrm>
            <a:off x="566928" y="2162669"/>
            <a:ext cx="32004" cy="437349"/>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13232" y="2162669"/>
            <a:ext cx="10856976" cy="437349"/>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“[SHARED-STRUCT] [MULTI-CATEGORY] One struct mixes Positioning (location), Navigation (velocity, ground_speed, ground_course) and Timing (time_week_ms, time_week) — see Table 3 #8. Primary extraction-risk struct for a PNT split.”</a:t>
            </a:r>
          </a:p>
        </p:txBody>
      </p:sp>
      <p:sp>
        <p:nvSpPr>
          <p:cNvPr id="10" name="TextBox 9"/>
          <p:cNvSpPr txBox="1"/>
          <p:nvPr/>
        </p:nvSpPr>
        <p:spPr>
          <a:xfrm>
            <a:off x="566928" y="2801186"/>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Courier New"/>
              </a:rPr>
              <a:t>Table 1 #20  ·  libraries/AP_Common/Location.h  11-20  classLocation</a:t>
            </a:r>
          </a:p>
        </p:txBody>
      </p:sp>
      <p:sp>
        <p:nvSpPr>
          <p:cNvPr id="11" name="Rectangle 10"/>
          <p:cNvSpPr/>
          <p:nvPr/>
        </p:nvSpPr>
        <p:spPr>
          <a:xfrm>
            <a:off x="566928" y="3026890"/>
            <a:ext cx="32004" cy="437349"/>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13232" y="3026890"/>
            <a:ext cx="10856976" cy="437349"/>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“[SHARED-STRUCT] Geodetic PNT fields lat/lng (1E7 deg) and alt (cm) packed with NON-PNT bitfields relative_alt, loiter_ccw, terrain_alt, origin_alt, loiter_xtrack. Ubiquitous value type; top extraction risk.”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1 — Core Positioning</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Where PNT is born: receiver backends, the shared state struct and the location value type.</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26 catalogued rows, with every Notes annotation, flag token and cited path:line range exactly as printed.</a:t>
            </a:r>
          </a:p>
        </p:txBody>
      </p:sp>
      <p:graphicFrame>
        <p:nvGraphicFramePr>
          <p:cNvPr id="7" name="Table 6"/>
          <p:cNvGraphicFramePr>
            <a:graphicFrameLocks noGrp="1"/>
          </p:cNvGraphicFramePr>
          <p:nvPr/>
        </p:nvGraphicFramePr>
        <p:xfrm>
          <a:off x="566928" y="1906943"/>
          <a:ext cx="11058144" cy="4107180"/>
        </p:xfrm>
        <a:graphic>
          <a:graphicData uri="http://schemas.openxmlformats.org/drawingml/2006/table">
            <a:tbl>
              <a:tblPr>
                <a:tableStyleId>{5C22544A-7EE6-4342-B048-85BDC9FD1C3A}</a:tableStyleId>
              </a:tblPr>
              <a:tblGrid>
                <a:gridCol w="297815"/>
                <a:gridCol w="2220595"/>
                <a:gridCol w="919480"/>
                <a:gridCol w="3068320"/>
                <a:gridCol w="817245"/>
                <a:gridCol w="3733800"/>
              </a:tblGrid>
              <a:tr h="240030">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430">
                <a:tc>
                  <a:txBody>
                    <a:bodyPr wrap="square">
                      <a:noAutofit/>
                    </a:bodyPr>
                    <a:lstStyle/>
                    <a:p>
                      <a:pPr algn="r">
                        <a:lnSpc>
                          <a:spcPct val="106000"/>
                        </a:lnSpc>
                        <a:spcAft>
                          <a:spcPts val="0"/>
                        </a:spcAft>
                      </a:pPr>
                      <a:r>
                        <a:rPr sz="1100" b="1">
                          <a:solidFill>
                            <a:srgbClr val="333333"/>
                          </a:solidFill>
                          <a:latin typeface="Courier New"/>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libraries/AP_GPS/AP_GPS_UBLOX.cpp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1510-1518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AP_GPS_UBLOX::_parse_gps()(NAV-POSLLH)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u-blox UBX binary NAV-POSLLH.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430">
                <a:tc>
                  <a:txBody>
                    <a:bodyPr wrap="square">
                      <a:noAutofit/>
                    </a:bodyPr>
                    <a:lstStyle/>
                    <a:p>
                      <a:pPr algn="r">
                        <a:lnSpc>
                          <a:spcPct val="106000"/>
                        </a:lnSpc>
                        <a:spcAft>
                          <a:spcPts val="0"/>
                        </a:spcAft>
                      </a:pPr>
                      <a:r>
                        <a:rPr sz="1100" b="1">
                          <a:solidFill>
                            <a:srgbClr val="333333"/>
                          </a:solidFill>
                          <a:latin typeface="Courier New"/>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libraries/AP_GPS/AP_GPS_NMEA.cpp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333-340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AP_GPS_NMEA::_term_complete()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NMEA-0183 ASCII (GGA/RMC) sentence.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430">
                <a:tc>
                  <a:txBody>
                    <a:bodyPr wrap="square">
                      <a:noAutofit/>
                    </a:bodyPr>
                    <a:lstStyle/>
                    <a:p>
                      <a:pPr algn="r">
                        <a:lnSpc>
                          <a:spcPct val="106000"/>
                        </a:lnSpc>
                        <a:spcAft>
                          <a:spcPts val="0"/>
                        </a:spcAft>
                      </a:pPr>
                      <a:r>
                        <a:rPr sz="1100" b="1">
                          <a:solidFill>
                            <a:srgbClr val="333333"/>
                          </a:solidFill>
                          <a:latin typeface="Courier New"/>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libraries/AP_GPS/AP_GPS_SBF.cpp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484-491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AP_GPS_SBF::process_message()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Septentrio SBF binary PVTGeodetic.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430">
                <a:tc>
                  <a:txBody>
                    <a:bodyPr wrap="square">
                      <a:noAutofit/>
                    </a:bodyPr>
                    <a:lstStyle/>
                    <a:p>
                      <a:pPr algn="r">
                        <a:lnSpc>
                          <a:spcPct val="106000"/>
                        </a:lnSpc>
                        <a:spcAft>
                          <a:spcPts val="0"/>
                        </a:spcAft>
                      </a:pPr>
                      <a:r>
                        <a:rPr sz="1100" b="1">
                          <a:solidFill>
                            <a:srgbClr val="333333"/>
                          </a:solidFill>
                          <a:latin typeface="Courier New"/>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libraries/AP_GPS/AP_GPS_NOVA.cpp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209-216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AP_GPS_NOVA::process_message()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NovAtel OEM BESTPOS.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430">
                <a:tc>
                  <a:txBody>
                    <a:bodyPr wrap="square">
                      <a:noAutofit/>
                    </a:bodyPr>
                    <a:lstStyle/>
                    <a:p>
                      <a:pPr algn="r">
                        <a:lnSpc>
                          <a:spcPct val="106000"/>
                        </a:lnSpc>
                        <a:spcAft>
                          <a:spcPts val="0"/>
                        </a:spcAft>
                      </a:pPr>
                      <a:r>
                        <a:rPr sz="1100" b="1">
                          <a:solidFill>
                            <a:srgbClr val="333333"/>
                          </a:solidFill>
                          <a:latin typeface="Courier New"/>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libraries/AP_GPS/AP_GPS_SBP.cpp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276-283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AP_GPS_SBP::_attempt_state_update()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Swift Navigation SBP v1 POS_LLH.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 (continued)</a:t>
            </a:r>
          </a:p>
        </p:txBody>
      </p:sp>
      <p:graphicFrame>
        <p:nvGraphicFramePr>
          <p:cNvPr id="6" name="Table 5"/>
          <p:cNvGraphicFramePr>
            <a:graphicFrameLocks noGrp="1"/>
          </p:cNvGraphicFramePr>
          <p:nvPr/>
        </p:nvGraphicFramePr>
        <p:xfrm>
          <a:off x="566928" y="1591056"/>
          <a:ext cx="11058144" cy="4107180"/>
        </p:xfrm>
        <a:graphic>
          <a:graphicData uri="http://schemas.openxmlformats.org/drawingml/2006/table">
            <a:tbl>
              <a:tblPr>
                <a:tableStyleId>{5C22544A-7EE6-4342-B048-85BDC9FD1C3A}</a:tableStyleId>
              </a:tblPr>
              <a:tblGrid>
                <a:gridCol w="297815"/>
                <a:gridCol w="2220595"/>
                <a:gridCol w="919480"/>
                <a:gridCol w="3068320"/>
                <a:gridCol w="817245"/>
                <a:gridCol w="3733800"/>
              </a:tblGrid>
              <a:tr h="240030">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430">
                <a:tc>
                  <a:txBody>
                    <a:bodyPr wrap="square">
                      <a:noAutofit/>
                    </a:bodyPr>
                    <a:lstStyle/>
                    <a:p>
                      <a:pPr algn="r">
                        <a:lnSpc>
                          <a:spcPct val="106000"/>
                        </a:lnSpc>
                        <a:spcAft>
                          <a:spcPts val="0"/>
                        </a:spcAft>
                      </a:pPr>
                      <a:r>
                        <a:rPr sz="1100" b="1">
                          <a:solidFill>
                            <a:srgbClr val="333333"/>
                          </a:solidFill>
                          <a:latin typeface="Courier New"/>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libraries/AP_GPS/AP_GPS_SBP2.cpp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328-335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AP_GPS_SBP2::_attempt_state_update()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Swift Navigation SBP v2 POS_LLH.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430">
                <a:tc>
                  <a:txBody>
                    <a:bodyPr wrap="square">
                      <a:noAutofit/>
                    </a:bodyPr>
                    <a:lstStyle/>
                    <a:p>
                      <a:pPr algn="r">
                        <a:lnSpc>
                          <a:spcPct val="106000"/>
                        </a:lnSpc>
                        <a:spcAft>
                          <a:spcPts val="0"/>
                        </a:spcAft>
                      </a:pPr>
                      <a:r>
                        <a:rPr sz="1100" b="1">
                          <a:solidFill>
                            <a:srgbClr val="333333"/>
                          </a:solidFill>
                          <a:latin typeface="Courier New"/>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libraries/AP_GPS/AP_GPS_SIRF.cpp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178-185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AP_GPS_SIRF::_parse_gps()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SiRF binary geodetic navigation.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430">
                <a:tc>
                  <a:txBody>
                    <a:bodyPr wrap="square">
                      <a:noAutofit/>
                    </a:bodyPr>
                    <a:lstStyle/>
                    <a:p>
                      <a:pPr algn="r">
                        <a:lnSpc>
                          <a:spcPct val="106000"/>
                        </a:lnSpc>
                        <a:spcAft>
                          <a:spcPts val="0"/>
                        </a:spcAft>
                      </a:pPr>
                      <a:r>
                        <a:rPr sz="1100" b="1">
                          <a:solidFill>
                            <a:srgbClr val="333333"/>
                          </a:solidFill>
                          <a:latin typeface="Courier New"/>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libraries/AP_GPS/AP_GPS_ERB.cpp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150-157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AP_GPS_ERB::_parse_gps()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Emlid Reach ERB protocol.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430">
                <a:tc>
                  <a:txBody>
                    <a:bodyPr wrap="square">
                      <a:noAutofit/>
                    </a:bodyPr>
                    <a:lstStyle/>
                    <a:p>
                      <a:pPr algn="r">
                        <a:lnSpc>
                          <a:spcPct val="106000"/>
                        </a:lnSpc>
                        <a:spcAft>
                          <a:spcPts val="0"/>
                        </a:spcAft>
                      </a:pPr>
                      <a:r>
                        <a:rPr sz="1100" b="1">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libraries/AP_GPS/AP_GPS_MAV.cpp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67-75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AP_GPS_MAV::handle_msg()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MAVLink GPS_INPUT message.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430">
                <a:tc>
                  <a:txBody>
                    <a:bodyPr wrap="square">
                      <a:noAutofit/>
                    </a:bodyPr>
                    <a:lstStyle/>
                    <a:p>
                      <a:pPr algn="r">
                        <a:lnSpc>
                          <a:spcPct val="106000"/>
                        </a:lnSpc>
                        <a:spcAft>
                          <a:spcPts val="0"/>
                        </a:spcAft>
                      </a:pPr>
                      <a:r>
                        <a:rPr sz="1100" b="1">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libraries/AP_GPS/AP_GPS_MSP.cpp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44-51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AP_GPS_MSP::handle_msp()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MSP protocol GPS data.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025879" y="384048"/>
            <a:ext cx="59919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6–10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 (continued)</a:t>
            </a:r>
          </a:p>
        </p:txBody>
      </p:sp>
      <p:graphicFrame>
        <p:nvGraphicFramePr>
          <p:cNvPr id="6" name="Table 5"/>
          <p:cNvGraphicFramePr>
            <a:graphicFrameLocks noGrp="1"/>
          </p:cNvGraphicFramePr>
          <p:nvPr/>
        </p:nvGraphicFramePr>
        <p:xfrm>
          <a:off x="566928" y="1591056"/>
          <a:ext cx="11058144" cy="4107180"/>
        </p:xfrm>
        <a:graphic>
          <a:graphicData uri="http://schemas.openxmlformats.org/drawingml/2006/table">
            <a:tbl>
              <a:tblPr>
                <a:tableStyleId>{5C22544A-7EE6-4342-B048-85BDC9FD1C3A}</a:tableStyleId>
              </a:tblPr>
              <a:tblGrid>
                <a:gridCol w="297815"/>
                <a:gridCol w="2220595"/>
                <a:gridCol w="919480"/>
                <a:gridCol w="3068320"/>
                <a:gridCol w="817245"/>
                <a:gridCol w="3733800"/>
              </a:tblGrid>
              <a:tr h="240030">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430">
                <a:tc>
                  <a:txBody>
                    <a:bodyPr wrap="square">
                      <a:noAutofit/>
                    </a:bodyPr>
                    <a:lstStyle/>
                    <a:p>
                      <a:pPr algn="r">
                        <a:lnSpc>
                          <a:spcPct val="106000"/>
                        </a:lnSpc>
                        <a:spcAft>
                          <a:spcPts val="0"/>
                        </a:spcAft>
                      </a:pPr>
                      <a:r>
                        <a:rPr sz="1100" b="1">
                          <a:solidFill>
                            <a:srgbClr val="333333"/>
                          </a:solidFill>
                          <a:latin typeface="Courier New"/>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libraries/AP_GPS/AP_GPS_GSOF.cpp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231-238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AP_GPS_GSOF::pack_state_data()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Trimble GSOF binary.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230">
                <a:tc>
                  <a:txBody>
                    <a:bodyPr wrap="square">
                      <a:noAutofit/>
                    </a:bodyPr>
                    <a:lstStyle/>
                    <a:p>
                      <a:pPr algn="r">
                        <a:lnSpc>
                          <a:spcPct val="106000"/>
                        </a:lnSpc>
                        <a:spcAft>
                          <a:spcPts val="0"/>
                        </a:spcAft>
                      </a:pPr>
                      <a:r>
                        <a:rPr sz="1100" b="1">
                          <a:solidFill>
                            <a:srgbClr val="333333"/>
                          </a:solidFill>
                          <a:latin typeface="Courier New"/>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libraries/AP_GPS/AP_GPS_DroneCAN.cpp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388-396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AP_GPS_DroneCAN::handle_fix2_msg()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DroneCAN/UAVCAN Fix2 (external boundary modules/DroneCAN).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430">
                <a:tc>
                  <a:txBody>
                    <a:bodyPr wrap="square">
                      <a:noAutofit/>
                    </a:bodyPr>
                    <a:lstStyle/>
                    <a:p>
                      <a:pPr algn="r">
                        <a:lnSpc>
                          <a:spcPct val="106000"/>
                        </a:lnSpc>
                        <a:spcAft>
                          <a:spcPts val="0"/>
                        </a:spcAft>
                      </a:pPr>
                      <a:r>
                        <a:rPr sz="1100" b="1">
                          <a:solidFill>
                            <a:srgbClr val="333333"/>
                          </a:solidFill>
                          <a:latin typeface="Courier New"/>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libraries/AP_GPS/AP_GPS_ExternalAHRS.cpp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49-56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AP_GPS_ExternalAHRS::handle_external()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External AHRS/INS GPS feed.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430">
                <a:tc>
                  <a:txBody>
                    <a:bodyPr wrap="square">
                      <a:noAutofit/>
                    </a:bodyPr>
                    <a:lstStyle/>
                    <a:p>
                      <a:pPr algn="r">
                        <a:lnSpc>
                          <a:spcPct val="106000"/>
                        </a:lnSpc>
                        <a:spcAft>
                          <a:spcPts val="0"/>
                        </a:spcAft>
                      </a:pPr>
                      <a:r>
                        <a:rPr sz="1100" b="1">
                          <a:solidFill>
                            <a:srgbClr val="333333"/>
                          </a:solidFill>
                          <a:latin typeface="Courier New"/>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libraries/AP_GPS/AP_GPS_SITL.cpp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86-93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AP_GPS_SITL::read()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Software-in-the-loop simulated GPS.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r">
                        <a:lnSpc>
                          <a:spcPct val="106000"/>
                        </a:lnSpc>
                        <a:spcAft>
                          <a:spcPts val="0"/>
                        </a:spcAft>
                      </a:pPr>
                      <a:r>
                        <a:rPr sz="1100" b="1">
                          <a:solidFill>
                            <a:srgbClr val="333333"/>
                          </a:solidFill>
                          <a:latin typeface="Courier New"/>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libraries/AP_GPS/GPS_Backend.cpp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101-109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AP_GPS_Backend::fill_3d_velocity()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Backend base class; derives state.velocity (NED) from ground_speed + ground_course for receivers that do not report 3D velocity. Shared by all backends.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11–15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 (continued)</a:t>
            </a:r>
          </a:p>
        </p:txBody>
      </p:sp>
      <p:graphicFrame>
        <p:nvGraphicFramePr>
          <p:cNvPr id="6" name="Table 5"/>
          <p:cNvGraphicFramePr>
            <a:graphicFrameLocks noGrp="1"/>
          </p:cNvGraphicFramePr>
          <p:nvPr/>
        </p:nvGraphicFramePr>
        <p:xfrm>
          <a:off x="566928" y="1591056"/>
          <a:ext cx="11058144" cy="3929380"/>
        </p:xfrm>
        <a:graphic>
          <a:graphicData uri="http://schemas.openxmlformats.org/drawingml/2006/table">
            <a:tbl>
              <a:tblPr>
                <a:tableStyleId>{5C22544A-7EE6-4342-B048-85BDC9FD1C3A}</a:tableStyleId>
              </a:tblPr>
              <a:tblGrid>
                <a:gridCol w="297815"/>
                <a:gridCol w="2220595"/>
                <a:gridCol w="919480"/>
                <a:gridCol w="3068320"/>
                <a:gridCol w="817245"/>
                <a:gridCol w="3733800"/>
              </a:tblGrid>
              <a:tr h="240030">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30">
                <a:tc>
                  <a:txBody>
                    <a:bodyPr wrap="square">
                      <a:noAutofit/>
                    </a:bodyPr>
                    <a:lstStyle/>
                    <a:p>
                      <a:pPr algn="r">
                        <a:lnSpc>
                          <a:spcPct val="106000"/>
                        </a:lnSpc>
                        <a:spcAft>
                          <a:spcPts val="0"/>
                        </a:spcAft>
                      </a:pPr>
                      <a:r>
                        <a:rPr sz="1100" b="1">
                          <a:solidFill>
                            <a:srgbClr val="333333"/>
                          </a:solidFill>
                          <a:latin typeface="Courier New"/>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324-329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Frontend accessor exposing backend-measured GPS_State.location; dispatches to primary_instance. Reached vehicle-side via the AP::gps() 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r">
                        <a:lnSpc>
                          <a:spcPct val="106000"/>
                        </a:lnSpc>
                        <a:spcAft>
                          <a:spcPts val="0"/>
                        </a:spcAft>
                      </a:pPr>
                      <a:r>
                        <a:rPr sz="1100" b="1">
                          <a:solidFill>
                            <a:srgbClr val="333333"/>
                          </a:solidFill>
                          <a:latin typeface="Courier New"/>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360-365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[MULTI-CATEGORY] 3D NED velocity accessor of measured GPS_State.velocity. velocity also drives Navigation fusion (Table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230">
                <a:tc>
                  <a:txBody>
                    <a:bodyPr wrap="square">
                      <a:noAutofit/>
                    </a:bodyPr>
                    <a:lstStyle/>
                    <a:p>
                      <a:pPr algn="r">
                        <a:lnSpc>
                          <a:spcPct val="106000"/>
                        </a:lnSpc>
                        <a:spcAft>
                          <a:spcPts val="0"/>
                        </a:spcAft>
                      </a:pPr>
                      <a:r>
                        <a:rPr sz="1100" b="1">
                          <a:solidFill>
                            <a:srgbClr val="333333"/>
                          </a:solidFill>
                          <a:latin typeface="Courier New"/>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192-201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structAP_GPS::GPS_State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[MULTI-CATEGORY] One struct mixes Positioning (location), Navigation (velocity, ground_speed, ground_course) and Timing (time_week_ms, time_week) — see Table 3 #8. Primary extraction-risk struct for a PNT split.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r">
                        <a:lnSpc>
                          <a:spcPct val="106000"/>
                        </a:lnSpc>
                        <a:spcAft>
                          <a:spcPts val="0"/>
                        </a:spcAft>
                      </a:pPr>
                      <a:r>
                        <a:rPr sz="1100" b="1">
                          <a:solidFill>
                            <a:srgbClr val="333333"/>
                          </a:solidFill>
                          <a:latin typeface="Courier New"/>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libraries/AP_GPS/AP_GPS_Blended.cpp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17-25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AP_GPS_Blended::_calc_weights()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Multi-receiver blending of location/velocity (GPS_MAX_RECEIVERS==2). Reads gps.state[].status (Data dependency) to weight receivers.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230">
                <a:tc>
                  <a:txBody>
                    <a:bodyPr wrap="square">
                      <a:noAutofit/>
                    </a:bodyPr>
                    <a:lstStyle/>
                    <a:p>
                      <a:pPr algn="r">
                        <a:lnSpc>
                          <a:spcPct val="106000"/>
                        </a:lnSpc>
                        <a:spcAft>
                          <a:spcPts val="0"/>
                        </a:spcAft>
                      </a:pPr>
                      <a:r>
                        <a:rPr sz="1100" b="1">
                          <a:solidFill>
                            <a:srgbClr val="333333"/>
                          </a:solidFill>
                          <a:latin typeface="Courier New"/>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libraries/AP_Common/Location.h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11-20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classLocation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Geodetic PNT fields lat/lng (1E7 deg) and alt (cm) packed with NON-PNT bitfields relative_alt, loiter_ccw, terrain_alt, origin_alt, loiter_xtrack. Ubiquitous value type; top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16–20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 (continued)</a:t>
            </a:r>
          </a:p>
        </p:txBody>
      </p:sp>
      <p:graphicFrame>
        <p:nvGraphicFramePr>
          <p:cNvPr id="6" name="Table 5"/>
          <p:cNvGraphicFramePr>
            <a:graphicFrameLocks noGrp="1"/>
          </p:cNvGraphicFramePr>
          <p:nvPr/>
        </p:nvGraphicFramePr>
        <p:xfrm>
          <a:off x="566928" y="1591056"/>
          <a:ext cx="11058144" cy="3636010"/>
        </p:xfrm>
        <a:graphic>
          <a:graphicData uri="http://schemas.openxmlformats.org/drawingml/2006/table">
            <a:tbl>
              <a:tblPr>
                <a:tableStyleId>{5C22544A-7EE6-4342-B048-85BDC9FD1C3A}</a:tableStyleId>
              </a:tblPr>
              <a:tblGrid>
                <a:gridCol w="297815"/>
                <a:gridCol w="2220595"/>
                <a:gridCol w="919480"/>
                <a:gridCol w="3068320"/>
                <a:gridCol w="817245"/>
                <a:gridCol w="3733800"/>
              </a:tblGrid>
              <a:tr h="240030">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r">
                        <a:lnSpc>
                          <a:spcPct val="106000"/>
                        </a:lnSpc>
                        <a:spcAft>
                          <a:spcPts val="0"/>
                        </a:spcAft>
                      </a:pPr>
                      <a:r>
                        <a:rPr sz="1100" b="1">
                          <a:solidFill>
                            <a:srgbClr val="333333"/>
                          </a:solidFill>
                          <a:latin typeface="Courier New"/>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libraries/AP_Common/Location.cpp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259-268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Location::get_vector_from_origin_NEU_cm()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Geodetic (lat/lng/alt) → NEU centimetre vector relative to the EKF origin (geodetic↔NED duality).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r">
                        <a:lnSpc>
                          <a:spcPct val="106000"/>
                        </a:lnSpc>
                        <a:spcAft>
                          <a:spcPts val="0"/>
                        </a:spcAft>
                      </a:pPr>
                      <a:r>
                        <a:rPr sz="1100" b="1">
                          <a:solidFill>
                            <a:srgbClr val="333333"/>
                          </a:solidFill>
                          <a:latin typeface="Courier New"/>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libraries/AP_InertialNav/AP_InertialNav.cpp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14-23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AP_InertialNav::update()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Pulls EKF origin-relative NE/D position into _relpos_cm (cm). get_position_neu_cm() exposes it to vehicle code.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430">
                <a:tc>
                  <a:txBody>
                    <a:bodyPr wrap="square">
                      <a:noAutofit/>
                    </a:bodyPr>
                    <a:lstStyle/>
                    <a:p>
                      <a:pPr algn="r">
                        <a:lnSpc>
                          <a:spcPct val="106000"/>
                        </a:lnSpc>
                        <a:spcAft>
                          <a:spcPts val="0"/>
                        </a:spcAft>
                      </a:pPr>
                      <a:r>
                        <a:rPr sz="1100" b="1">
                          <a:solidFill>
                            <a:srgbClr val="333333"/>
                          </a:solidFill>
                          <a:latin typeface="Courier New"/>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libraries/AC_AttitudeControl/AC_PosControl.cpp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363-372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AC_PosControl::input_pos_NEU_cm()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3D position/velocity controller consuming the position target. there is no standalone AC_PosControl library — it physically resides under libraries/AC_AttitudeControl/ (snapshot-fidelity note).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430">
                <a:tc>
                  <a:txBody>
                    <a:bodyPr wrap="square">
                      <a:noAutofit/>
                    </a:bodyPr>
                    <a:lstStyle/>
                    <a:p>
                      <a:pPr algn="r">
                        <a:lnSpc>
                          <a:spcPct val="106000"/>
                        </a:lnSpc>
                        <a:spcAft>
                          <a:spcPts val="0"/>
                        </a:spcAft>
                      </a:pPr>
                      <a:r>
                        <a:rPr sz="1100" b="1">
                          <a:solidFill>
                            <a:srgbClr val="333333"/>
                          </a:solidFill>
                          <a:latin typeface="Courier New"/>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libraries/APM_Control/AR_PosControl.cpp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114-123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AR_PosControl::update()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 position controller; reads AP::ahrs().get_relative_position_NED_origin() and get_velocity_NED() (Shared global/singleton). Separate controller from Copter's AC_PosControl.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libraries/AP_Beacon/AP_Beacon.cpp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175-184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AP_Beacon::get_vehicle_position_ned()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Non-GPS (GPS-denied) positioning source; returns vehicle NED position with a staleness timeout.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libraries/AP_VisualOdom/AP_VisualOdom.cpp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201-210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AP_VisualOdom::handle_pose_estimate()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Non-GPS visual-odometry position/attitude source feeding EKF external-nav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21–26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a:t>
            </a:r>
          </a:p>
        </p:txBody>
      </p:sp>
      <p:sp>
        <p:nvSpPr>
          <p:cNvPr id="5" name="TextBox 4"/>
          <p:cNvSpPr txBox="1"/>
          <p:nvPr/>
        </p:nvSpPr>
        <p:spPr>
          <a:xfrm>
            <a:off x="566928" y="1426464"/>
            <a:ext cx="11064240" cy="903541"/>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(5-10 lines), reproduced verbatim from the cited path:line range: one paragraph per source line, in the audit’s own order, with its indentation and its blank lines intact and nothing abbreviated.</a:t>
            </a:r>
          </a:p>
        </p:txBody>
      </p:sp>
      <p:graphicFrame>
        <p:nvGraphicFramePr>
          <p:cNvPr id="7" name="Table 6"/>
          <p:cNvGraphicFramePr>
            <a:graphicFrameLocks noGrp="1"/>
          </p:cNvGraphicFramePr>
          <p:nvPr/>
        </p:nvGraphicFramePr>
        <p:xfrm>
          <a:off x="566928" y="2549461"/>
          <a:ext cx="11058144" cy="208279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Courier New"/>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libraries/AP_GPS/AP_GPS_UBLOX.cpp</a:t>
                      </a:r>
                      <a:r>
                        <a:rPr sz="1100" b="0">
                          <a:solidFill>
                            <a:srgbClr val="999999"/>
                          </a:solidFill>
                          <a:latin typeface="Courier New"/>
                        </a:rPr>
                        <a:t>  ·  </a:t>
                      </a:r>
                      <a:r>
                        <a:rPr sz="1100" b="0">
                          <a:solidFill>
                            <a:srgbClr val="999999"/>
                          </a:solidFill>
                          <a:latin typeface="Courier New"/>
                        </a:rPr>
                        <a:t>1510-1518</a:t>
                      </a:r>
                      <a:r>
                        <a:rPr sz="1100" b="0">
                          <a:solidFill>
                            <a:srgbClr val="999999"/>
                          </a:solidFill>
                          <a:latin typeface="Courier New"/>
                        </a:rPr>
                        <a:t>  ·  </a:t>
                      </a:r>
                      <a:r>
                        <a:rPr sz="1100" b="0">
                          <a:solidFill>
                            <a:srgbClr val="999999"/>
                          </a:solidFill>
                          <a:latin typeface="Courier New"/>
                        </a:rPr>
                        <a:t>AP_GPS_UBLOX::_parse_gps()(NAV-POSLLH)</a:t>
                      </a:r>
                    </a:p>
                    <a:p>
                      <a:pPr algn="l">
                        <a:lnSpc>
                          <a:spcPct val="106000"/>
                        </a:lnSpc>
                        <a:spcAft>
                          <a:spcPts val="0"/>
                        </a:spcAft>
                      </a:pPr>
                      <a:r>
                        <a:rPr sz="1100" b="0">
                          <a:solidFill>
                            <a:srgbClr val="333333"/>
                          </a:solidFill>
                          <a:latin typeface="Courier New"/>
                        </a:rPr>
                        <a:t>        _last_pos_time        = _buffer.posllh.itow;</a:t>
                      </a:r>
                    </a:p>
                    <a:p>
                      <a:pPr algn="l">
                        <a:lnSpc>
                          <a:spcPct val="106000"/>
                        </a:lnSpc>
                        <a:spcAft>
                          <a:spcPts val="0"/>
                        </a:spcAft>
                      </a:pPr>
                      <a:r>
                        <a:rPr sz="1100" b="0">
                          <a:solidFill>
                            <a:srgbClr val="333333"/>
                          </a:solidFill>
                          <a:latin typeface="Courier New"/>
                        </a:rPr>
                        <a:t>        state.location.lng    = _buffer.posllh.longitude;</a:t>
                      </a:r>
                    </a:p>
                    <a:p>
                      <a:pPr algn="l">
                        <a:lnSpc>
                          <a:spcPct val="106000"/>
                        </a:lnSpc>
                        <a:spcAft>
                          <a:spcPts val="0"/>
                        </a:spcAft>
                      </a:pPr>
                      <a:r>
                        <a:rPr sz="1100" b="0">
                          <a:solidFill>
                            <a:srgbClr val="333333"/>
                          </a:solidFill>
                          <a:latin typeface="Courier New"/>
                        </a:rPr>
                        <a:t>        state.location.lat    = _buffer.posllh.latitude;</a:t>
                      </a:r>
                    </a:p>
                    <a:p>
                      <a:pPr algn="l">
                        <a:lnSpc>
                          <a:spcPct val="106000"/>
                        </a:lnSpc>
                        <a:spcAft>
                          <a:spcPts val="0"/>
                        </a:spcAft>
                      </a:pPr>
                      <a:r>
                        <a:rPr sz="1100" b="0">
                          <a:solidFill>
                            <a:srgbClr val="333333"/>
                          </a:solidFill>
                          <a:latin typeface="Courier New"/>
                        </a:rPr>
                        <a:t>        state.have_undulation = true;</a:t>
                      </a:r>
                    </a:p>
                    <a:p>
                      <a:pPr algn="l">
                        <a:lnSpc>
                          <a:spcPct val="106000"/>
                        </a:lnSpc>
                        <a:spcAft>
                          <a:spcPts val="0"/>
                        </a:spcAft>
                      </a:pPr>
                      <a:r>
                        <a:rPr sz="1100" b="0">
                          <a:solidFill>
                            <a:srgbClr val="333333"/>
                          </a:solidFill>
                          <a:latin typeface="Courier New"/>
                        </a:rPr>
                        <a:t>        state.undulation = (_buffer.posllh.altitude_msl - _buffer.posllh.altitude_ellipsoid) * 0.001;</a:t>
                      </a:r>
                    </a:p>
                    <a:p>
                      <a:pPr algn="l">
                        <a:lnSpc>
                          <a:spcPct val="106000"/>
                        </a:lnSpc>
                        <a:spcAft>
                          <a:spcPts val="0"/>
                        </a:spcAft>
                      </a:pPr>
                      <a:r>
                        <a:rPr sz="1100" b="0">
                          <a:solidFill>
                            <a:srgbClr val="333333"/>
                          </a:solidFill>
                          <a:latin typeface="Courier New"/>
                        </a:rPr>
                        <a:t>        set_alt_amsl_cm(state, _buffer.posllh.altitude_msl / 10);</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state.status          = next_fix;</a:t>
                      </a:r>
                    </a:p>
                    <a:p>
                      <a:pPr algn="l">
                        <a:lnSpc>
                          <a:spcPct val="106000"/>
                        </a:lnSpc>
                        <a:spcAft>
                          <a:spcPts val="0"/>
                        </a:spcAft>
                      </a:pPr>
                      <a:r>
                        <a:rPr sz="1100" b="0">
                          <a:solidFill>
                            <a:srgbClr val="333333"/>
                          </a:solidFill>
                          <a:latin typeface="Courier New"/>
                        </a:rPr>
                        <a:t>        _new_position = true;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Courier New"/>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libraries/AP_GPS/AP_GPS_NMEA.cpp</a:t>
                      </a:r>
                      <a:r>
                        <a:rPr sz="1100" b="0">
                          <a:solidFill>
                            <a:srgbClr val="999999"/>
                          </a:solidFill>
                          <a:latin typeface="Courier New"/>
                        </a:rPr>
                        <a:t>  ·  </a:t>
                      </a:r>
                      <a:r>
                        <a:rPr sz="1100" b="0">
                          <a:solidFill>
                            <a:srgbClr val="999999"/>
                          </a:solidFill>
                          <a:latin typeface="Courier New"/>
                        </a:rPr>
                        <a:t>333-340</a:t>
                      </a:r>
                      <a:r>
                        <a:rPr sz="1100" b="0">
                          <a:solidFill>
                            <a:srgbClr val="999999"/>
                          </a:solidFill>
                          <a:latin typeface="Courier New"/>
                        </a:rPr>
                        <a:t>  ·  </a:t>
                      </a:r>
                      <a:r>
                        <a:rPr sz="1100" b="0">
                          <a:solidFill>
                            <a:srgbClr val="999999"/>
                          </a:solidFill>
                          <a:latin typeface="Courier New"/>
                        </a:rPr>
                        <a:t>AP_GPS_NMEA::_term_complete()</a:t>
                      </a:r>
                    </a:p>
                    <a:p>
                      <a:pPr algn="l">
                        <a:lnSpc>
                          <a:spcPct val="106000"/>
                        </a:lnSpc>
                        <a:spcAft>
                          <a:spcPts val="0"/>
                        </a:spcAft>
                      </a:pPr>
                      <a:r>
                        <a:rPr sz="1100" b="0">
                          <a:solidFill>
                            <a:srgbClr val="333333"/>
                          </a:solidFill>
                          <a:latin typeface="Courier New"/>
                        </a:rPr>
                        <a:t>                    state.location.lat  = _new_latitude;</a:t>
                      </a:r>
                    </a:p>
                    <a:p>
                      <a:pPr algn="l">
                        <a:lnSpc>
                          <a:spcPct val="106000"/>
                        </a:lnSpc>
                        <a:spcAft>
                          <a:spcPts val="0"/>
                        </a:spcAft>
                      </a:pPr>
                      <a:r>
                        <a:rPr sz="1100" b="0">
                          <a:solidFill>
                            <a:srgbClr val="333333"/>
                          </a:solidFill>
                          <a:latin typeface="Courier New"/>
                        </a:rPr>
                        <a:t>                    state.location.lng  = _new_longitude;</a:t>
                      </a:r>
                    </a:p>
                    <a:p>
                      <a:pPr algn="l">
                        <a:lnSpc>
                          <a:spcPct val="106000"/>
                        </a:lnSpc>
                        <a:spcAft>
                          <a:spcPts val="0"/>
                        </a:spcAft>
                      </a:pPr>
                      <a:r>
                        <a:rPr sz="1100" b="0">
                          <a:solidFill>
                            <a:srgbClr val="333333"/>
                          </a:solidFill>
                          <a:latin typeface="Courier New"/>
                        </a:rPr>
                        <a:t>                }</a:t>
                      </a:r>
                    </a:p>
                    <a:p>
                      <a:pPr algn="l">
                        <a:lnSpc>
                          <a:spcPct val="106000"/>
                        </a:lnSpc>
                        <a:spcAft>
                          <a:spcPts val="0"/>
                        </a:spcAft>
                      </a:pPr>
                      <a:r>
                        <a:rPr sz="1100" b="0">
                          <a:solidFill>
                            <a:srgbClr val="333333"/>
                          </a:solidFill>
                          <a:latin typeface="Courier New"/>
                        </a:rPr>
                        <a:t>                state.num_sats      = _new_satellite_count;</a:t>
                      </a:r>
                    </a:p>
                    <a:p>
                      <a:pPr algn="l">
                        <a:lnSpc>
                          <a:spcPct val="106000"/>
                        </a:lnSpc>
                        <a:spcAft>
                          <a:spcPts val="0"/>
                        </a:spcAft>
                      </a:pPr>
                      <a:r>
                        <a:rPr sz="1100" b="0">
                          <a:solidFill>
                            <a:srgbClr val="333333"/>
                          </a:solidFill>
                          <a:latin typeface="Courier New"/>
                        </a:rPr>
                        <a:t>                state.hdop          = _new_hdop;</a:t>
                      </a:r>
                    </a:p>
                    <a:p>
                      <a:pPr algn="l">
                        <a:lnSpc>
                          <a:spcPct val="106000"/>
                        </a:lnSpc>
                        <a:spcAft>
                          <a:spcPts val="0"/>
                        </a:spcAft>
                      </a:pPr>
                      <a:r>
                        <a:rPr sz="1100" b="0">
                          <a:solidFill>
                            <a:srgbClr val="333333"/>
                          </a:solidFill>
                          <a:latin typeface="Courier New"/>
                        </a:rPr>
                        <a:t>                switch(_new_quality_indicator) {</a:t>
                      </a:r>
                    </a:p>
                    <a:p>
                      <a:pPr algn="l">
                        <a:lnSpc>
                          <a:spcPct val="106000"/>
                        </a:lnSpc>
                        <a:spcAft>
                          <a:spcPts val="0"/>
                        </a:spcAft>
                      </a:pPr>
                      <a:r>
                        <a:rPr sz="1100" b="0">
                          <a:solidFill>
                            <a:srgbClr val="333333"/>
                          </a:solidFill>
                          <a:latin typeface="Courier New"/>
                        </a:rPr>
                        <a:t>                case 0: // Fix not available or invalid</a:t>
                      </a:r>
                    </a:p>
                    <a:p>
                      <a:pPr algn="l">
                        <a:lnSpc>
                          <a:spcPct val="106000"/>
                        </a:lnSpc>
                        <a:spcAft>
                          <a:spcPts val="0"/>
                        </a:spcAft>
                      </a:pPr>
                      <a:r>
                        <a:rPr sz="1100" b="0">
                          <a:solidFill>
                            <a:srgbClr val="333333"/>
                          </a:solidFill>
                          <a:latin typeface="Courier New"/>
                        </a:rPr>
                        <a:t>                    state.status = AP_GPS::NO_FIX;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Courier New"/>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libraries/AP_GPS/AP_GPS_SBF.cpp</a:t>
                      </a:r>
                      <a:r>
                        <a:rPr sz="1100" b="0">
                          <a:solidFill>
                            <a:srgbClr val="999999"/>
                          </a:solidFill>
                          <a:latin typeface="Courier New"/>
                        </a:rPr>
                        <a:t>  ·  </a:t>
                      </a:r>
                      <a:r>
                        <a:rPr sz="1100" b="0">
                          <a:solidFill>
                            <a:srgbClr val="999999"/>
                          </a:solidFill>
                          <a:latin typeface="Courier New"/>
                        </a:rPr>
                        <a:t>484-491</a:t>
                      </a:r>
                      <a:r>
                        <a:rPr sz="1100" b="0">
                          <a:solidFill>
                            <a:srgbClr val="999999"/>
                          </a:solidFill>
                          <a:latin typeface="Courier New"/>
                        </a:rPr>
                        <a:t>  ·  </a:t>
                      </a:r>
                      <a:r>
                        <a:rPr sz="1100" b="0">
                          <a:solidFill>
                            <a:srgbClr val="999999"/>
                          </a:solidFill>
                          <a:latin typeface="Courier New"/>
                        </a:rPr>
                        <a:t>AP_GPS_SBF::process_message()</a:t>
                      </a:r>
                    </a:p>
                    <a:p>
                      <a:pPr algn="l">
                        <a:lnSpc>
                          <a:spcPct val="106000"/>
                        </a:lnSpc>
                        <a:spcAft>
                          <a:spcPts val="0"/>
                        </a:spcAft>
                      </a:pPr>
                      <a:r>
                        <a:rPr sz="1100" b="0">
                          <a:solidFill>
                            <a:srgbClr val="333333"/>
                          </a:solidFill>
                          <a:latin typeface="Courier New"/>
                        </a:rPr>
                        <a:t>            state.location.lat = (int32_t)(temp.Latitude * RAD_TO_DEG_DOUBLE * (double)1e7);</a:t>
                      </a:r>
                    </a:p>
                    <a:p>
                      <a:pPr algn="l">
                        <a:lnSpc>
                          <a:spcPct val="106000"/>
                        </a:lnSpc>
                        <a:spcAft>
                          <a:spcPts val="0"/>
                        </a:spcAft>
                      </a:pPr>
                      <a:r>
                        <a:rPr sz="1100" b="0">
                          <a:solidFill>
                            <a:srgbClr val="333333"/>
                          </a:solidFill>
                          <a:latin typeface="Courier New"/>
                        </a:rPr>
                        <a:t>            state.location.lng = (int32_t)(temp.Longitude * RAD_TO_DEG_DOUBLE * (double)1e7);</a:t>
                      </a:r>
                    </a:p>
                    <a:p>
                      <a:pPr algn="l">
                        <a:lnSpc>
                          <a:spcPct val="106000"/>
                        </a:lnSpc>
                        <a:spcAft>
                          <a:spcPts val="0"/>
                        </a:spcAft>
                      </a:pPr>
                      <a:r>
                        <a:rPr sz="1100" b="0">
                          <a:solidFill>
                            <a:srgbClr val="333333"/>
                          </a:solidFill>
                          <a:latin typeface="Courier New"/>
                        </a:rPr>
                        <a:t>            state.have_undulation = !is_DNU(temp.Undulation);</a:t>
                      </a:r>
                    </a:p>
                    <a:p>
                      <a:pPr algn="l">
                        <a:lnSpc>
                          <a:spcPct val="106000"/>
                        </a:lnSpc>
                        <a:spcAft>
                          <a:spcPts val="0"/>
                        </a:spcAft>
                      </a:pPr>
                      <a:r>
                        <a:rPr sz="1100" b="0">
                          <a:solidFill>
                            <a:srgbClr val="333333"/>
                          </a:solidFill>
                          <a:latin typeface="Courier New"/>
                        </a:rPr>
                        <a:t>            double height = temp.Height;  // in metres</a:t>
                      </a:r>
                    </a:p>
                    <a:p>
                      <a:pPr algn="l">
                        <a:lnSpc>
                          <a:spcPct val="106000"/>
                        </a:lnSpc>
                        <a:spcAft>
                          <a:spcPts val="0"/>
                        </a:spcAft>
                      </a:pPr>
                      <a:r>
                        <a:rPr sz="1100" b="0">
                          <a:solidFill>
                            <a:srgbClr val="333333"/>
                          </a:solidFill>
                          <a:latin typeface="Courier New"/>
                        </a:rPr>
                        <a:t>            if (state.have_undulation) {</a:t>
                      </a:r>
                    </a:p>
                    <a:p>
                      <a:pPr algn="l">
                        <a:lnSpc>
                          <a:spcPct val="106000"/>
                        </a:lnSpc>
                        <a:spcAft>
                          <a:spcPts val="0"/>
                        </a:spcAft>
                      </a:pPr>
                      <a:r>
                        <a:rPr sz="1100" b="0">
                          <a:solidFill>
                            <a:srgbClr val="333333"/>
                          </a:solidFill>
                          <a:latin typeface="Courier New"/>
                        </a:rPr>
                        <a:t>                height -= temp.Undulation;</a:t>
                      </a:r>
                    </a:p>
                    <a:p>
                      <a:pPr algn="l">
                        <a:lnSpc>
                          <a:spcPct val="106000"/>
                        </a:lnSpc>
                        <a:spcAft>
                          <a:spcPts val="0"/>
                        </a:spcAft>
                      </a:pPr>
                      <a:r>
                        <a:rPr sz="1100" b="0">
                          <a:solidFill>
                            <a:srgbClr val="333333"/>
                          </a:solidFill>
                          <a:latin typeface="Courier New"/>
                        </a:rPr>
                        <a:t>                state.undulation = -temp.Undulation;</a:t>
                      </a:r>
                    </a:p>
                    <a:p>
                      <a:pPr algn="l">
                        <a:lnSpc>
                          <a:spcPct val="106000"/>
                        </a:lnSpc>
                        <a:spcAft>
                          <a:spcPts val="0"/>
                        </a:spcAft>
                      </a:pPr>
                      <a:r>
                        <a:rPr sz="1100" b="0">
                          <a:solidFill>
                            <a:srgbClr val="333333"/>
                          </a:solidFill>
                          <a:latin typeface="Courier New"/>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Courier New"/>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libraries/AP_GPS/AP_GPS_NOVA.cpp</a:t>
                      </a:r>
                      <a:r>
                        <a:rPr sz="1100" b="0">
                          <a:solidFill>
                            <a:srgbClr val="999999"/>
                          </a:solidFill>
                          <a:latin typeface="Courier New"/>
                        </a:rPr>
                        <a:t>  ·  </a:t>
                      </a:r>
                      <a:r>
                        <a:rPr sz="1100" b="0">
                          <a:solidFill>
                            <a:srgbClr val="999999"/>
                          </a:solidFill>
                          <a:latin typeface="Courier New"/>
                        </a:rPr>
                        <a:t>209-216</a:t>
                      </a:r>
                      <a:r>
                        <a:rPr sz="1100" b="0">
                          <a:solidFill>
                            <a:srgbClr val="999999"/>
                          </a:solidFill>
                          <a:latin typeface="Courier New"/>
                        </a:rPr>
                        <a:t>  ·  </a:t>
                      </a:r>
                      <a:r>
                        <a:rPr sz="1100" b="0">
                          <a:solidFill>
                            <a:srgbClr val="999999"/>
                          </a:solidFill>
                          <a:latin typeface="Courier New"/>
                        </a:rPr>
                        <a:t>AP_GPS_NOVA::process_message()</a:t>
                      </a:r>
                    </a:p>
                    <a:p>
                      <a:pPr algn="l">
                        <a:lnSpc>
                          <a:spcPct val="106000"/>
                        </a:lnSpc>
                        <a:spcAft>
                          <a:spcPts val="0"/>
                        </a:spcAft>
                      </a:pPr>
                      <a:r>
                        <a:rPr sz="1100" b="0">
                          <a:solidFill>
                            <a:srgbClr val="333333"/>
                          </a:solidFill>
                          <a:latin typeface="Courier New"/>
                        </a:rPr>
                        <a:t>        state.last_gps_time_ms = AP_HAL::millis();</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state.location.lat = (int32_t) (bestposu.lat * (double)1e7);</a:t>
                      </a:r>
                    </a:p>
                    <a:p>
                      <a:pPr algn="l">
                        <a:lnSpc>
                          <a:spcPct val="106000"/>
                        </a:lnSpc>
                        <a:spcAft>
                          <a:spcPts val="0"/>
                        </a:spcAft>
                      </a:pPr>
                      <a:r>
                        <a:rPr sz="1100" b="0">
                          <a:solidFill>
                            <a:srgbClr val="333333"/>
                          </a:solidFill>
                          <a:latin typeface="Courier New"/>
                        </a:rPr>
                        <a:t>        state.location.lng = (int32_t) (bestposu.lng * (double)1e7);</a:t>
                      </a:r>
                    </a:p>
                    <a:p>
                      <a:pPr algn="l">
                        <a:lnSpc>
                          <a:spcPct val="106000"/>
                        </a:lnSpc>
                        <a:spcAft>
                          <a:spcPts val="0"/>
                        </a:spcAft>
                      </a:pPr>
                      <a:r>
                        <a:rPr sz="1100" b="0">
                          <a:solidFill>
                            <a:srgbClr val="333333"/>
                          </a:solidFill>
                          <a:latin typeface="Courier New"/>
                        </a:rPr>
                        <a:t>        state.have_undulation = true;</a:t>
                      </a:r>
                    </a:p>
                    <a:p>
                      <a:pPr algn="l">
                        <a:lnSpc>
                          <a:spcPct val="106000"/>
                        </a:lnSpc>
                        <a:spcAft>
                          <a:spcPts val="0"/>
                        </a:spcAft>
                      </a:pPr>
                      <a:r>
                        <a:rPr sz="1100" b="0">
                          <a:solidFill>
                            <a:srgbClr val="333333"/>
                          </a:solidFill>
                          <a:latin typeface="Courier New"/>
                        </a:rPr>
                        <a:t>        state.undulation = -bestposu.undulation;</a:t>
                      </a:r>
                    </a:p>
                    <a:p>
                      <a:pPr algn="l">
                        <a:lnSpc>
                          <a:spcPct val="106000"/>
                        </a:lnSpc>
                        <a:spcAft>
                          <a:spcPts val="0"/>
                        </a:spcAft>
                      </a:pPr>
                      <a:r>
                        <a:rPr sz="1100" b="0">
                          <a:solidFill>
                            <a:srgbClr val="333333"/>
                          </a:solidFill>
                          <a:latin typeface="Courier New"/>
                        </a:rPr>
                        <a:t>        set_alt_amsl_cm(state, bestposu.hgt * 100);</a:t>
                      </a:r>
                    </a:p>
                    <a:p>
                      <a:pPr algn="l">
                        <a:lnSpc>
                          <a:spcPct val="106000"/>
                        </a:lnSpc>
                        <a:spcAft>
                          <a:spcPts val="0"/>
                        </a:spcAft>
                        <a:defRPr sz="1100">
                          <a:latin typeface="Courier New"/>
                        </a:defRPr>
                      </a:pPr>
                      <a:r>
                        <a:rPr sz="1100" b="0">
                          <a:solidFill>
                            <a:srgbClr val="333333"/>
                          </a:solidFill>
                          <a:latin typeface="Courier New"/>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Courier New"/>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libraries/AP_GPS/AP_GPS_SBP.cpp</a:t>
                      </a:r>
                      <a:r>
                        <a:rPr sz="1100" b="0">
                          <a:solidFill>
                            <a:srgbClr val="999999"/>
                          </a:solidFill>
                          <a:latin typeface="Courier New"/>
                        </a:rPr>
                        <a:t>  ·  </a:t>
                      </a:r>
                      <a:r>
                        <a:rPr sz="1100" b="0">
                          <a:solidFill>
                            <a:srgbClr val="999999"/>
                          </a:solidFill>
                          <a:latin typeface="Courier New"/>
                        </a:rPr>
                        <a:t>276-283</a:t>
                      </a:r>
                      <a:r>
                        <a:rPr sz="1100" b="0">
                          <a:solidFill>
                            <a:srgbClr val="999999"/>
                          </a:solidFill>
                          <a:latin typeface="Courier New"/>
                        </a:rPr>
                        <a:t>  ·  </a:t>
                      </a:r>
                      <a:r>
                        <a:rPr sz="1100" b="0">
                          <a:solidFill>
                            <a:srgbClr val="999999"/>
                          </a:solidFill>
                          <a:latin typeface="Courier New"/>
                        </a:rPr>
                        <a:t>AP_GPS_SBP::_attempt_state_update()</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state.location.lat      = (int32_t) (pos_llh-&gt;lat * (double)1e7);</a:t>
                      </a:r>
                    </a:p>
                    <a:p>
                      <a:pPr algn="l">
                        <a:lnSpc>
                          <a:spcPct val="106000"/>
                        </a:lnSpc>
                        <a:spcAft>
                          <a:spcPts val="0"/>
                        </a:spcAft>
                      </a:pPr>
                      <a:r>
                        <a:rPr sz="1100" b="0">
                          <a:solidFill>
                            <a:srgbClr val="333333"/>
                          </a:solidFill>
                          <a:latin typeface="Courier New"/>
                        </a:rPr>
                        <a:t>        state.location.lng      = (int32_t) (pos_llh-&gt;lon * (double)1e7);</a:t>
                      </a:r>
                    </a:p>
                    <a:p>
                      <a:pPr algn="l">
                        <a:lnSpc>
                          <a:spcPct val="106000"/>
                        </a:lnSpc>
                        <a:spcAft>
                          <a:spcPts val="0"/>
                        </a:spcAft>
                      </a:pPr>
                      <a:r>
                        <a:rPr sz="1100" b="0">
                          <a:solidFill>
                            <a:srgbClr val="333333"/>
                          </a:solidFill>
                          <a:latin typeface="Courier New"/>
                        </a:rPr>
                        <a:t>        state.location.alt      = (int32_t) (pos_llh-&gt;height * 100);</a:t>
                      </a:r>
                    </a:p>
                    <a:p>
                      <a:pPr algn="l">
                        <a:lnSpc>
                          <a:spcPct val="106000"/>
                        </a:lnSpc>
                        <a:spcAft>
                          <a:spcPts val="0"/>
                        </a:spcAft>
                      </a:pPr>
                      <a:r>
                        <a:rPr sz="1100" b="0">
                          <a:solidFill>
                            <a:srgbClr val="333333"/>
                          </a:solidFill>
                          <a:latin typeface="Courier New"/>
                        </a:rPr>
                        <a:t>        state.num_sats          = pos_llh-&gt;n_sats;</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if (pos_llh-&gt;flags == 0) {</a:t>
                      </a:r>
                    </a:p>
                    <a:p>
                      <a:pPr algn="l">
                        <a:lnSpc>
                          <a:spcPct val="106000"/>
                        </a:lnSpc>
                        <a:spcAft>
                          <a:spcPts val="0"/>
                        </a:spcAft>
                      </a:pPr>
                      <a:r>
                        <a:rPr sz="1100" b="0">
                          <a:solidFill>
                            <a:srgbClr val="333333"/>
                          </a:solidFill>
                          <a:latin typeface="Courier New"/>
                        </a:rPr>
                        <a:t>            state.status = AP_GPS::GPS_OK_FIX_3D;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Courier New"/>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libraries/AP_GPS/AP_GPS_SBP2.cpp</a:t>
                      </a:r>
                      <a:r>
                        <a:rPr sz="1100" b="0">
                          <a:solidFill>
                            <a:srgbClr val="999999"/>
                          </a:solidFill>
                          <a:latin typeface="Courier New"/>
                        </a:rPr>
                        <a:t>  ·  </a:t>
                      </a:r>
                      <a:r>
                        <a:rPr sz="1100" b="0">
                          <a:solidFill>
                            <a:srgbClr val="999999"/>
                          </a:solidFill>
                          <a:latin typeface="Courier New"/>
                        </a:rPr>
                        <a:t>328-335</a:t>
                      </a:r>
                      <a:r>
                        <a:rPr sz="1100" b="0">
                          <a:solidFill>
                            <a:srgbClr val="999999"/>
                          </a:solidFill>
                          <a:latin typeface="Courier New"/>
                        </a:rPr>
                        <a:t>  ·  </a:t>
                      </a:r>
                      <a:r>
                        <a:rPr sz="1100" b="0">
                          <a:solidFill>
                            <a:srgbClr val="999999"/>
                          </a:solidFill>
                          <a:latin typeface="Courier New"/>
                        </a:rPr>
                        <a:t>AP_GPS_SBP2::_attempt_state_update()</a:t>
                      </a:r>
                    </a:p>
                    <a:p>
                      <a:pPr algn="l">
                        <a:lnSpc>
                          <a:spcPct val="106000"/>
                        </a:lnSpc>
                        <a:spcAft>
                          <a:spcPts val="0"/>
                        </a:spcAft>
                      </a:pPr>
                      <a:r>
                        <a:rPr sz="1100" b="0">
                          <a:solidFill>
                            <a:srgbClr val="333333"/>
                          </a:solidFill>
                          <a:latin typeface="Courier New"/>
                        </a:rPr>
                        <a:t>        //</a:t>
                      </a:r>
                    </a:p>
                    <a:p>
                      <a:pPr algn="l">
                        <a:lnSpc>
                          <a:spcPct val="106000"/>
                        </a:lnSpc>
                        <a:spcAft>
                          <a:spcPts val="0"/>
                        </a:spcAft>
                      </a:pPr>
                      <a:r>
                        <a:rPr sz="1100" b="0">
                          <a:solidFill>
                            <a:srgbClr val="333333"/>
                          </a:solidFill>
                          <a:latin typeface="Courier New"/>
                        </a:rPr>
                        <a:t>        state.location.lat      = (int32_t) (last_pos_llh.lat * (double)1e7);</a:t>
                      </a:r>
                    </a:p>
                    <a:p>
                      <a:pPr algn="l">
                        <a:lnSpc>
                          <a:spcPct val="106000"/>
                        </a:lnSpc>
                        <a:spcAft>
                          <a:spcPts val="0"/>
                        </a:spcAft>
                      </a:pPr>
                      <a:r>
                        <a:rPr sz="1100" b="0">
                          <a:solidFill>
                            <a:srgbClr val="333333"/>
                          </a:solidFill>
                          <a:latin typeface="Courier New"/>
                        </a:rPr>
                        <a:t>        state.location.lng      = (int32_t) (last_pos_llh.lon * (double)1e7);</a:t>
                      </a:r>
                    </a:p>
                    <a:p>
                      <a:pPr algn="l">
                        <a:lnSpc>
                          <a:spcPct val="106000"/>
                        </a:lnSpc>
                        <a:spcAft>
                          <a:spcPts val="0"/>
                        </a:spcAft>
                      </a:pPr>
                      <a:r>
                        <a:rPr sz="1100" b="0">
                          <a:solidFill>
                            <a:srgbClr val="333333"/>
                          </a:solidFill>
                          <a:latin typeface="Courier New"/>
                        </a:rPr>
                        <a:t>        state.location.alt      = (int32_t) (last_pos_llh.height * 100);</a:t>
                      </a:r>
                    </a:p>
                    <a:p>
                      <a:pPr algn="l">
                        <a:lnSpc>
                          <a:spcPct val="106000"/>
                        </a:lnSpc>
                        <a:spcAft>
                          <a:spcPts val="0"/>
                        </a:spcAft>
                      </a:pPr>
                      <a:r>
                        <a:rPr sz="1100" b="0">
                          <a:solidFill>
                            <a:srgbClr val="333333"/>
                          </a:solidFill>
                          <a:latin typeface="Courier New"/>
                        </a:rPr>
                        <a:t>        state.num_sats          = last_pos_llh.n_sats;</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switch (last_pos_llh.flags.fix_mode) {</a:t>
                      </a:r>
                    </a:p>
                    <a:p>
                      <a:pPr algn="l">
                        <a:lnSpc>
                          <a:spcPct val="106000"/>
                        </a:lnSpc>
                        <a:spcAft>
                          <a:spcPts val="0"/>
                        </a:spcAft>
                      </a:pPr>
                      <a:r>
                        <a:rPr sz="1100" b="0">
                          <a:solidFill>
                            <a:srgbClr val="333333"/>
                          </a:solidFill>
                          <a:latin typeface="Courier New"/>
                        </a:rPr>
                        <a:t>            case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Courier New"/>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libraries/AP_GPS/AP_GPS_SIRF.cpp</a:t>
                      </a:r>
                      <a:r>
                        <a:rPr sz="1100" b="0">
                          <a:solidFill>
                            <a:srgbClr val="999999"/>
                          </a:solidFill>
                          <a:latin typeface="Courier New"/>
                        </a:rPr>
                        <a:t>  ·  </a:t>
                      </a:r>
                      <a:r>
                        <a:rPr sz="1100" b="0">
                          <a:solidFill>
                            <a:srgbClr val="999999"/>
                          </a:solidFill>
                          <a:latin typeface="Courier New"/>
                        </a:rPr>
                        <a:t>178-185</a:t>
                      </a:r>
                      <a:r>
                        <a:rPr sz="1100" b="0">
                          <a:solidFill>
                            <a:srgbClr val="999999"/>
                          </a:solidFill>
                          <a:latin typeface="Courier New"/>
                        </a:rPr>
                        <a:t>  ·  </a:t>
                      </a:r>
                      <a:r>
                        <a:rPr sz="1100" b="0">
                          <a:solidFill>
                            <a:srgbClr val="999999"/>
                          </a:solidFill>
                          <a:latin typeface="Courier New"/>
                        </a:rPr>
                        <a:t>AP_GPS_SIRF::_parse_gps()</a:t>
                      </a:r>
                    </a:p>
                    <a:p>
                      <a:pPr algn="l">
                        <a:lnSpc>
                          <a:spcPct val="106000"/>
                        </a:lnSpc>
                        <a:spcAft>
                          <a:spcPts val="0"/>
                        </a:spcAft>
                      </a:pPr>
                      <a:r>
                        <a:rPr sz="1100" b="0">
                          <a:solidFill>
                            <a:srgbClr val="333333"/>
                          </a:solidFill>
                          <a:latin typeface="Courier New"/>
                        </a:rPr>
                        <a:t>            state.status = AP_GPS::NO_FIX;</a:t>
                      </a:r>
                    </a:p>
                    <a:p>
                      <a:pPr algn="l">
                        <a:lnSpc>
                          <a:spcPct val="106000"/>
                        </a:lnSpc>
                        <a:spcAft>
                          <a:spcPts val="0"/>
                        </a:spcAft>
                      </a:pPr>
                      <a:r>
                        <a:rPr sz="1100" b="0">
                          <a:solidFill>
                            <a:srgbClr val="333333"/>
                          </a:solidFill>
                          <a:latin typeface="Courier New"/>
                        </a:rPr>
                        <a:t>        }else if ((_buffer.nav.fix_type &amp; FIX_MASK) == FIX_3D) {</a:t>
                      </a:r>
                    </a:p>
                    <a:p>
                      <a:pPr algn="l">
                        <a:lnSpc>
                          <a:spcPct val="106000"/>
                        </a:lnSpc>
                        <a:spcAft>
                          <a:spcPts val="0"/>
                        </a:spcAft>
                      </a:pPr>
                      <a:r>
                        <a:rPr sz="1100" b="0">
                          <a:solidFill>
                            <a:srgbClr val="333333"/>
                          </a:solidFill>
                          <a:latin typeface="Courier New"/>
                        </a:rPr>
                        <a:t>            state.status = AP_GPS::GPS_OK_FIX_3D;</a:t>
                      </a:r>
                    </a:p>
                    <a:p>
                      <a:pPr algn="l">
                        <a:lnSpc>
                          <a:spcPct val="106000"/>
                        </a:lnSpc>
                        <a:spcAft>
                          <a:spcPts val="0"/>
                        </a:spcAft>
                      </a:pPr>
                      <a:r>
                        <a:rPr sz="1100" b="0">
                          <a:solidFill>
                            <a:srgbClr val="333333"/>
                          </a:solidFill>
                          <a:latin typeface="Courier New"/>
                        </a:rPr>
                        <a:t>        }else{</a:t>
                      </a:r>
                    </a:p>
                    <a:p>
                      <a:pPr algn="l">
                        <a:lnSpc>
                          <a:spcPct val="106000"/>
                        </a:lnSpc>
                        <a:spcAft>
                          <a:spcPts val="0"/>
                        </a:spcAft>
                      </a:pPr>
                      <a:r>
                        <a:rPr sz="1100" b="0">
                          <a:solidFill>
                            <a:srgbClr val="333333"/>
                          </a:solidFill>
                          <a:latin typeface="Courier New"/>
                        </a:rPr>
                        <a:t>            state.status = AP_GPS::GPS_OK_FIX_2D;</a:t>
                      </a:r>
                    </a:p>
                    <a:p>
                      <a:pPr algn="l">
                        <a:lnSpc>
                          <a:spcPct val="106000"/>
                        </a:lnSpc>
                        <a:spcAft>
                          <a:spcPts val="0"/>
                        </a:spcAft>
                      </a:pPr>
                      <a:r>
                        <a:rPr sz="1100" b="0">
                          <a:solidFill>
                            <a:srgbClr val="333333"/>
                          </a:solidFill>
                          <a:latin typeface="Courier New"/>
                        </a:rPr>
                        <a:t>        }</a:t>
                      </a:r>
                    </a:p>
                    <a:p>
                      <a:pPr algn="l">
                        <a:lnSpc>
                          <a:spcPct val="106000"/>
                        </a:lnSpc>
                        <a:spcAft>
                          <a:spcPts val="0"/>
                        </a:spcAft>
                      </a:pPr>
                      <a:r>
                        <a:rPr sz="1100" b="0">
                          <a:solidFill>
                            <a:srgbClr val="333333"/>
                          </a:solidFill>
                          <a:latin typeface="Courier New"/>
                        </a:rPr>
                        <a:t>        state.location.lat      = int32_t(be32toh(_buffer.nav.latitude));</a:t>
                      </a:r>
                    </a:p>
                    <a:p>
                      <a:pPr algn="l">
                        <a:lnSpc>
                          <a:spcPct val="106000"/>
                        </a:lnSpc>
                        <a:spcAft>
                          <a:spcPts val="0"/>
                        </a:spcAft>
                      </a:pPr>
                      <a:r>
                        <a:rPr sz="1100" b="0">
                          <a:solidFill>
                            <a:srgbClr val="333333"/>
                          </a:solidFill>
                          <a:latin typeface="Courier New"/>
                        </a:rPr>
                        <a:t>        state.location.lng      = int32_t(be32toh(_buffer.nav.longitude));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Courier New"/>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libraries/AP_GPS/AP_GPS_ERB.cpp</a:t>
                      </a:r>
                      <a:r>
                        <a:rPr sz="1100" b="0">
                          <a:solidFill>
                            <a:srgbClr val="999999"/>
                          </a:solidFill>
                          <a:latin typeface="Courier New"/>
                        </a:rPr>
                        <a:t>  ·  </a:t>
                      </a:r>
                      <a:r>
                        <a:rPr sz="1100" b="0">
                          <a:solidFill>
                            <a:srgbClr val="999999"/>
                          </a:solidFill>
                          <a:latin typeface="Courier New"/>
                        </a:rPr>
                        <a:t>150-157</a:t>
                      </a:r>
                      <a:r>
                        <a:rPr sz="1100" b="0">
                          <a:solidFill>
                            <a:srgbClr val="999999"/>
                          </a:solidFill>
                          <a:latin typeface="Courier New"/>
                        </a:rPr>
                        <a:t>  ·  </a:t>
                      </a:r>
                      <a:r>
                        <a:rPr sz="1100" b="0">
                          <a:solidFill>
                            <a:srgbClr val="999999"/>
                          </a:solidFill>
                          <a:latin typeface="Courier New"/>
                        </a:rPr>
                        <a:t>AP_GPS_ERB::_parse_gps()</a:t>
                      </a:r>
                    </a:p>
                    <a:p>
                      <a:pPr algn="l">
                        <a:lnSpc>
                          <a:spcPct val="106000"/>
                        </a:lnSpc>
                        <a:spcAft>
                          <a:spcPts val="0"/>
                        </a:spcAft>
                      </a:pPr>
                      <a:r>
                        <a:rPr sz="1100" b="0">
                          <a:solidFill>
                            <a:srgbClr val="333333"/>
                          </a:solidFill>
                          <a:latin typeface="Courier New"/>
                        </a:rPr>
                        <a:t>        _last_pos_time        = _buffer.pos.time;</a:t>
                      </a:r>
                    </a:p>
                    <a:p>
                      <a:pPr algn="l">
                        <a:lnSpc>
                          <a:spcPct val="106000"/>
                        </a:lnSpc>
                        <a:spcAft>
                          <a:spcPts val="0"/>
                        </a:spcAft>
                      </a:pPr>
                      <a:r>
                        <a:rPr sz="1100" b="0">
                          <a:solidFill>
                            <a:srgbClr val="333333"/>
                          </a:solidFill>
                          <a:latin typeface="Courier New"/>
                        </a:rPr>
                        <a:t>        state.location.lng    = (int32_t)(_buffer.pos.longitude * (double)1e7);</a:t>
                      </a:r>
                    </a:p>
                    <a:p>
                      <a:pPr algn="l">
                        <a:lnSpc>
                          <a:spcPct val="106000"/>
                        </a:lnSpc>
                        <a:spcAft>
                          <a:spcPts val="0"/>
                        </a:spcAft>
                      </a:pPr>
                      <a:r>
                        <a:rPr sz="1100" b="0">
                          <a:solidFill>
                            <a:srgbClr val="333333"/>
                          </a:solidFill>
                          <a:latin typeface="Courier New"/>
                        </a:rPr>
                        <a:t>        state.location.lat    = (int32_t)(_buffer.pos.latitude * (double)1e7);</a:t>
                      </a:r>
                    </a:p>
                    <a:p>
                      <a:pPr algn="l">
                        <a:lnSpc>
                          <a:spcPct val="106000"/>
                        </a:lnSpc>
                        <a:spcAft>
                          <a:spcPts val="0"/>
                        </a:spcAft>
                      </a:pPr>
                      <a:r>
                        <a:rPr sz="1100" b="0">
                          <a:solidFill>
                            <a:srgbClr val="333333"/>
                          </a:solidFill>
                          <a:latin typeface="Courier New"/>
                        </a:rPr>
                        <a:t>        state.have_undulation = true;</a:t>
                      </a:r>
                    </a:p>
                    <a:p>
                      <a:pPr algn="l">
                        <a:lnSpc>
                          <a:spcPct val="106000"/>
                        </a:lnSpc>
                        <a:spcAft>
                          <a:spcPts val="0"/>
                        </a:spcAft>
                      </a:pPr>
                      <a:r>
                        <a:rPr sz="1100" b="0">
                          <a:solidFill>
                            <a:srgbClr val="333333"/>
                          </a:solidFill>
                          <a:latin typeface="Courier New"/>
                        </a:rPr>
                        <a:t>        state.undulation = _buffer.pos.altitude_msl - _buffer.pos.altitude_ellipsoid;</a:t>
                      </a:r>
                    </a:p>
                    <a:p>
                      <a:pPr algn="l">
                        <a:lnSpc>
                          <a:spcPct val="106000"/>
                        </a:lnSpc>
                        <a:spcAft>
                          <a:spcPts val="0"/>
                        </a:spcAft>
                      </a:pPr>
                      <a:r>
                        <a:rPr sz="1100" b="0">
                          <a:solidFill>
                            <a:srgbClr val="333333"/>
                          </a:solidFill>
                          <a:latin typeface="Courier New"/>
                        </a:rPr>
                        <a:t>        set_alt_amsl_cm(state, _buffer.pos.altitude_msl * 100);</a:t>
                      </a:r>
                    </a:p>
                    <a:p>
                      <a:pPr algn="l">
                        <a:lnSpc>
                          <a:spcPct val="106000"/>
                        </a:lnSpc>
                        <a:spcAft>
                          <a:spcPts val="0"/>
                        </a:spcAft>
                      </a:pPr>
                      <a:r>
                        <a:rPr sz="1100" b="0">
                          <a:solidFill>
                            <a:srgbClr val="333333"/>
                          </a:solidFill>
                          <a:latin typeface="Courier New"/>
                        </a:rPr>
                        <a:t>        state.status          = next_fix;</a:t>
                      </a:r>
                    </a:p>
                    <a:p>
                      <a:pPr algn="l">
                        <a:lnSpc>
                          <a:spcPct val="106000"/>
                        </a:lnSpc>
                        <a:spcAft>
                          <a:spcPts val="0"/>
                        </a:spcAft>
                      </a:pPr>
                      <a:r>
                        <a:rPr sz="1100" b="0">
                          <a:solidFill>
                            <a:srgbClr val="333333"/>
                          </a:solidFill>
                          <a:latin typeface="Courier New"/>
                        </a:rPr>
                        <a:t>        _new_position = true;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libraries/AP_GPS/AP_GPS_MAV.cpp</a:t>
                      </a:r>
                      <a:r>
                        <a:rPr sz="1100" b="0">
                          <a:solidFill>
                            <a:srgbClr val="999999"/>
                          </a:solidFill>
                          <a:latin typeface="Courier New"/>
                        </a:rPr>
                        <a:t>  ·  </a:t>
                      </a:r>
                      <a:r>
                        <a:rPr sz="1100" b="0">
                          <a:solidFill>
                            <a:srgbClr val="999999"/>
                          </a:solidFill>
                          <a:latin typeface="Courier New"/>
                        </a:rPr>
                        <a:t>67-75</a:t>
                      </a:r>
                      <a:r>
                        <a:rPr sz="1100" b="0">
                          <a:solidFill>
                            <a:srgbClr val="999999"/>
                          </a:solidFill>
                          <a:latin typeface="Courier New"/>
                        </a:rPr>
                        <a:t>  ·  </a:t>
                      </a:r>
                      <a:r>
                        <a:rPr sz="1100" b="0">
                          <a:solidFill>
                            <a:srgbClr val="999999"/>
                          </a:solidFill>
                          <a:latin typeface="Courier New"/>
                        </a:rPr>
                        <a:t>AP_GPS_MAV::handle_msg()</a:t>
                      </a:r>
                    </a:p>
                    <a:p>
                      <a:pPr algn="l">
                        <a:lnSpc>
                          <a:spcPct val="106000"/>
                        </a:lnSpc>
                        <a:spcAft>
                          <a:spcPts val="0"/>
                        </a:spcAft>
                      </a:pPr>
                      <a:r>
                        <a:rPr sz="1100" b="0">
                          <a:solidFill>
                            <a:srgbClr val="333333"/>
                          </a:solidFill>
                          <a:latin typeface="Courier New"/>
                        </a:rPr>
                        <a:t>            state.status = (AP_GPS::GPS_Status)packet.fix_type;</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Location loc = {};</a:t>
                      </a:r>
                    </a:p>
                    <a:p>
                      <a:pPr algn="l">
                        <a:lnSpc>
                          <a:spcPct val="106000"/>
                        </a:lnSpc>
                        <a:spcAft>
                          <a:spcPts val="0"/>
                        </a:spcAft>
                      </a:pPr>
                      <a:r>
                        <a:rPr sz="1100" b="0">
                          <a:solidFill>
                            <a:srgbClr val="333333"/>
                          </a:solidFill>
                          <a:latin typeface="Courier New"/>
                        </a:rPr>
                        <a:t>            loc.lat = packet.lat;</a:t>
                      </a:r>
                    </a:p>
                    <a:p>
                      <a:pPr algn="l">
                        <a:lnSpc>
                          <a:spcPct val="106000"/>
                        </a:lnSpc>
                        <a:spcAft>
                          <a:spcPts val="0"/>
                        </a:spcAft>
                      </a:pPr>
                      <a:r>
                        <a:rPr sz="1100" b="0">
                          <a:solidFill>
                            <a:srgbClr val="333333"/>
                          </a:solidFill>
                          <a:latin typeface="Courier New"/>
                        </a:rPr>
                        <a:t>            loc.lng = packet.lon;</a:t>
                      </a:r>
                    </a:p>
                    <a:p>
                      <a:pPr algn="l">
                        <a:lnSpc>
                          <a:spcPct val="106000"/>
                        </a:lnSpc>
                        <a:spcAft>
                          <a:spcPts val="0"/>
                        </a:spcAft>
                      </a:pPr>
                      <a:r>
                        <a:rPr sz="1100" b="0">
                          <a:solidFill>
                            <a:srgbClr val="333333"/>
                          </a:solidFill>
                          <a:latin typeface="Courier New"/>
                        </a:rPr>
                        <a:t>            if (have_alt) {</a:t>
                      </a:r>
                    </a:p>
                    <a:p>
                      <a:pPr algn="l">
                        <a:lnSpc>
                          <a:spcPct val="106000"/>
                        </a:lnSpc>
                        <a:spcAft>
                          <a:spcPts val="0"/>
                        </a:spcAft>
                      </a:pPr>
                      <a:r>
                        <a:rPr sz="1100" b="0">
                          <a:solidFill>
                            <a:srgbClr val="333333"/>
                          </a:solidFill>
                          <a:latin typeface="Courier New"/>
                        </a:rPr>
                        <a:t>                loc.alt = packet.alt * 100; // convert to centimeters</a:t>
                      </a:r>
                    </a:p>
                    <a:p>
                      <a:pPr algn="l">
                        <a:lnSpc>
                          <a:spcPct val="106000"/>
                        </a:lnSpc>
                        <a:spcAft>
                          <a:spcPts val="0"/>
                        </a:spcAft>
                      </a:pPr>
                      <a:r>
                        <a:rPr sz="1100" b="0">
                          <a:solidFill>
                            <a:srgbClr val="333333"/>
                          </a:solidFill>
                          <a:latin typeface="Courier New"/>
                        </a:rPr>
                        <a:t>            }</a:t>
                      </a:r>
                    </a:p>
                    <a:p>
                      <a:pPr algn="l">
                        <a:lnSpc>
                          <a:spcPct val="106000"/>
                        </a:lnSpc>
                        <a:spcAft>
                          <a:spcPts val="0"/>
                        </a:spcAft>
                      </a:pPr>
                      <a:r>
                        <a:rPr sz="1100" b="0">
                          <a:solidFill>
                            <a:srgbClr val="333333"/>
                          </a:solidFill>
                          <a:latin typeface="Courier New"/>
                        </a:rPr>
                        <a:t>            state.location = 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libraries/AP_GPS/AP_GPS_MSP.cpp</a:t>
                      </a:r>
                      <a:r>
                        <a:rPr sz="1100" b="0">
                          <a:solidFill>
                            <a:srgbClr val="999999"/>
                          </a:solidFill>
                          <a:latin typeface="Courier New"/>
                        </a:rPr>
                        <a:t>  ·  </a:t>
                      </a:r>
                      <a:r>
                        <a:rPr sz="1100" b="0">
                          <a:solidFill>
                            <a:srgbClr val="999999"/>
                          </a:solidFill>
                          <a:latin typeface="Courier New"/>
                        </a:rPr>
                        <a:t>44-51</a:t>
                      </a:r>
                      <a:r>
                        <a:rPr sz="1100" b="0">
                          <a:solidFill>
                            <a:srgbClr val="999999"/>
                          </a:solidFill>
                          <a:latin typeface="Courier New"/>
                        </a:rPr>
                        <a:t>  ·  </a:t>
                      </a:r>
                      <a:r>
                        <a:rPr sz="1100" b="0">
                          <a:solidFill>
                            <a:srgbClr val="999999"/>
                          </a:solidFill>
                          <a:latin typeface="Courier New"/>
                        </a:rPr>
                        <a:t>AP_GPS_MSP::handle_msp()</a:t>
                      </a:r>
                    </a:p>
                    <a:p>
                      <a:pPr algn="l">
                        <a:lnSpc>
                          <a:spcPct val="106000"/>
                        </a:lnSpc>
                        <a:spcAft>
                          <a:spcPts val="0"/>
                        </a:spcAft>
                      </a:pPr>
                      <a:r>
                        <a:rPr sz="1100" b="0">
                          <a:solidFill>
                            <a:srgbClr val="333333"/>
                          </a:solidFill>
                          <a:latin typeface="Courier New"/>
                        </a:rPr>
                        <a:t>    state.status = (AP_GPS::GPS_Status)pkt.fix_type;</a:t>
                      </a:r>
                    </a:p>
                    <a:p>
                      <a:pPr algn="l">
                        <a:lnSpc>
                          <a:spcPct val="106000"/>
                        </a:lnSpc>
                        <a:spcAft>
                          <a:spcPts val="0"/>
                        </a:spcAft>
                      </a:pPr>
                      <a:r>
                        <a:rPr sz="1100" b="0">
                          <a:solidFill>
                            <a:srgbClr val="333333"/>
                          </a:solidFill>
                          <a:latin typeface="Courier New"/>
                        </a:rPr>
                        <a:t>    state.num_sats = pkt.satellites_in_view;</a:t>
                      </a:r>
                    </a:p>
                    <a:p>
                      <a:pPr algn="l">
                        <a:lnSpc>
                          <a:spcPct val="106000"/>
                        </a:lnSpc>
                        <a:spcAft>
                          <a:spcPts val="0"/>
                        </a:spcAft>
                      </a:pPr>
                      <a:r>
                        <a:rPr sz="1100" b="0">
                          <a:solidFill>
                            <a:srgbClr val="333333"/>
                          </a:solidFill>
                          <a:latin typeface="Courier New"/>
                        </a:rPr>
                        <a:t>    state.location = {</a:t>
                      </a:r>
                    </a:p>
                    <a:p>
                      <a:pPr algn="l">
                        <a:lnSpc>
                          <a:spcPct val="106000"/>
                        </a:lnSpc>
                        <a:spcAft>
                          <a:spcPts val="0"/>
                        </a:spcAft>
                      </a:pPr>
                      <a:r>
                        <a:rPr sz="1100" b="0">
                          <a:solidFill>
                            <a:srgbClr val="333333"/>
                          </a:solidFill>
                          <a:latin typeface="Courier New"/>
                        </a:rPr>
                        <a:t>        pkt.latitude,</a:t>
                      </a:r>
                    </a:p>
                    <a:p>
                      <a:pPr algn="l">
                        <a:lnSpc>
                          <a:spcPct val="106000"/>
                        </a:lnSpc>
                        <a:spcAft>
                          <a:spcPts val="0"/>
                        </a:spcAft>
                      </a:pPr>
                      <a:r>
                        <a:rPr sz="1100" b="0">
                          <a:solidFill>
                            <a:srgbClr val="333333"/>
                          </a:solidFill>
                          <a:latin typeface="Courier New"/>
                        </a:rPr>
                        <a:t>        pkt.longitude,</a:t>
                      </a:r>
                    </a:p>
                    <a:p>
                      <a:pPr algn="l">
                        <a:lnSpc>
                          <a:spcPct val="106000"/>
                        </a:lnSpc>
                        <a:spcAft>
                          <a:spcPts val="0"/>
                        </a:spcAft>
                      </a:pPr>
                      <a:r>
                        <a:rPr sz="1100" b="0">
                          <a:solidFill>
                            <a:srgbClr val="333333"/>
                          </a:solidFill>
                          <a:latin typeface="Courier New"/>
                        </a:rPr>
                        <a:t>        pkt.msl_altitude,</a:t>
                      </a:r>
                    </a:p>
                    <a:p>
                      <a:pPr algn="l">
                        <a:lnSpc>
                          <a:spcPct val="106000"/>
                        </a:lnSpc>
                        <a:spcAft>
                          <a:spcPts val="0"/>
                        </a:spcAft>
                      </a:pPr>
                      <a:r>
                        <a:rPr sz="1100" b="0">
                          <a:solidFill>
                            <a:srgbClr val="333333"/>
                          </a:solidFill>
                          <a:latin typeface="Courier New"/>
                        </a:rPr>
                        <a:t>        Location::AltFrame::ABSOLUTE</a:t>
                      </a:r>
                    </a:p>
                    <a:p>
                      <a:pPr algn="l">
                        <a:lnSpc>
                          <a:spcPct val="106000"/>
                        </a:lnSpc>
                        <a:spcAft>
                          <a:spcPts val="0"/>
                        </a:spcAft>
                      </a:pPr>
                      <a:r>
                        <a:rPr sz="1100" b="0">
                          <a:solidFill>
                            <a:srgbClr val="333333"/>
                          </a:solidFill>
                          <a:latin typeface="Courier New"/>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Courier New"/>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libraries/AP_GPS/AP_GPS_GSOF.cpp</a:t>
                      </a:r>
                      <a:r>
                        <a:rPr sz="1100" b="0">
                          <a:solidFill>
                            <a:srgbClr val="999999"/>
                          </a:solidFill>
                          <a:latin typeface="Courier New"/>
                        </a:rPr>
                        <a:t>  ·  </a:t>
                      </a:r>
                      <a:r>
                        <a:rPr sz="1100" b="0">
                          <a:solidFill>
                            <a:srgbClr val="999999"/>
                          </a:solidFill>
                          <a:latin typeface="Courier New"/>
                        </a:rPr>
                        <a:t>231-238</a:t>
                      </a:r>
                      <a:r>
                        <a:rPr sz="1100" b="0">
                          <a:solidFill>
                            <a:srgbClr val="999999"/>
                          </a:solidFill>
                          <a:latin typeface="Courier New"/>
                        </a:rPr>
                        <a:t>  ·  </a:t>
                      </a:r>
                      <a:r>
                        <a:rPr sz="1100" b="0">
                          <a:solidFill>
                            <a:srgbClr val="999999"/>
                          </a:solidFill>
                          <a:latin typeface="Courier New"/>
                        </a:rPr>
                        <a:t>AP_GPS_GSOF::pack_state_data()</a:t>
                      </a:r>
                    </a:p>
                    <a:p>
                      <a:pPr algn="l">
                        <a:lnSpc>
                          <a:spcPct val="106000"/>
                        </a:lnSpc>
                        <a:spcAft>
                          <a:spcPts val="0"/>
                        </a:spcAft>
                      </a:pPr>
                      <a:r>
                        <a:rPr sz="1100" b="0">
                          <a:solidFill>
                            <a:srgbClr val="333333"/>
                          </a:solidFill>
                          <a:latin typeface="Courier New"/>
                        </a:rPr>
                        <a:t>    state.location.lat = (int32_t)(RAD_TO_DEG_DOUBLE * position.latitude_rad * (double)1e7);</a:t>
                      </a:r>
                    </a:p>
                    <a:p>
                      <a:pPr algn="l">
                        <a:lnSpc>
                          <a:spcPct val="106000"/>
                        </a:lnSpc>
                        <a:spcAft>
                          <a:spcPts val="0"/>
                        </a:spcAft>
                      </a:pPr>
                      <a:r>
                        <a:rPr sz="1100" b="0">
                          <a:solidFill>
                            <a:srgbClr val="333333"/>
                          </a:solidFill>
                          <a:latin typeface="Courier New"/>
                        </a:rPr>
                        <a:t>    state.location.lng = (int32_t)(RAD_TO_DEG_DOUBLE * position.longitude_rad * (double)1e7);</a:t>
                      </a:r>
                    </a:p>
                    <a:p>
                      <a:pPr algn="l">
                        <a:lnSpc>
                          <a:spcPct val="106000"/>
                        </a:lnSpc>
                        <a:spcAft>
                          <a:spcPts val="0"/>
                        </a:spcAft>
                      </a:pPr>
                      <a:r>
                        <a:rPr sz="1100" b="0">
                          <a:solidFill>
                            <a:srgbClr val="333333"/>
                          </a:solidFill>
                          <a:latin typeface="Courier New"/>
                        </a:rPr>
                        <a:t>    state.location.alt = (int32_t)(position.altitude * 100);</a:t>
                      </a:r>
                    </a:p>
                    <a:p>
                      <a:pPr algn="l">
                        <a:lnSpc>
                          <a:spcPct val="106000"/>
                        </a:lnSpc>
                        <a:spcAft>
                          <a:spcPts val="0"/>
                        </a:spcAft>
                      </a:pPr>
                      <a:r>
                        <a:rPr sz="1100" b="0">
                          <a:solidFill>
                            <a:srgbClr val="333333"/>
                          </a:solidFill>
                          <a:latin typeface="Courier New"/>
                        </a:rPr>
                        <a:t>    state.last_gps_time_ms = AP_HAL::millis();</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if ((vel.velocity_flags &amp; 1) == 1) {</a:t>
                      </a:r>
                    </a:p>
                    <a:p>
                      <a:pPr algn="l">
                        <a:lnSpc>
                          <a:spcPct val="106000"/>
                        </a:lnSpc>
                        <a:spcAft>
                          <a:spcPts val="0"/>
                        </a:spcAft>
                      </a:pPr>
                      <a:r>
                        <a:rPr sz="1100" b="0">
                          <a:solidFill>
                            <a:srgbClr val="333333"/>
                          </a:solidFill>
                          <a:latin typeface="Courier New"/>
                        </a:rPr>
                        <a:t>        state.ground_speed = vel.horizontal_velocity;</a:t>
                      </a:r>
                    </a:p>
                    <a:p>
                      <a:pPr algn="l">
                        <a:lnSpc>
                          <a:spcPct val="106000"/>
                        </a:lnSpc>
                        <a:spcAft>
                          <a:spcPts val="0"/>
                        </a:spcAft>
                      </a:pPr>
                      <a:r>
                        <a:rPr sz="1100" b="0">
                          <a:solidFill>
                            <a:srgbClr val="333333"/>
                          </a:solidFill>
                          <a:latin typeface="Courier New"/>
                        </a:rPr>
                        <a:t>        state.ground_course = wrap_360(degrees(vel.heading));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10–11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Courier New"/>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libraries/AP_GPS/AP_GPS_DroneCAN.cpp</a:t>
                      </a:r>
                      <a:r>
                        <a:rPr sz="1100" b="0">
                          <a:solidFill>
                            <a:srgbClr val="999999"/>
                          </a:solidFill>
                          <a:latin typeface="Courier New"/>
                        </a:rPr>
                        <a:t>  ·  </a:t>
                      </a:r>
                      <a:r>
                        <a:rPr sz="1100" b="0">
                          <a:solidFill>
                            <a:srgbClr val="999999"/>
                          </a:solidFill>
                          <a:latin typeface="Courier New"/>
                        </a:rPr>
                        <a:t>388-396</a:t>
                      </a:r>
                      <a:r>
                        <a:rPr sz="1100" b="0">
                          <a:solidFill>
                            <a:srgbClr val="999999"/>
                          </a:solidFill>
                          <a:latin typeface="Courier New"/>
                        </a:rPr>
                        <a:t>  ·  </a:t>
                      </a:r>
                      <a:r>
                        <a:rPr sz="1100" b="0">
                          <a:solidFill>
                            <a:srgbClr val="999999"/>
                          </a:solidFill>
                          <a:latin typeface="Courier New"/>
                        </a:rPr>
                        <a:t>AP_GPS_DroneCAN::handle_fix2_msg()</a:t>
                      </a:r>
                    </a:p>
                    <a:p>
                      <a:pPr algn="l">
                        <a:lnSpc>
                          <a:spcPct val="106000"/>
                        </a:lnSpc>
                        <a:spcAft>
                          <a:spcPts val="0"/>
                        </a:spcAft>
                      </a:pPr>
                      <a:r>
                        <a:rPr sz="1100" b="0">
                          <a:solidFill>
                            <a:srgbClr val="333333"/>
                          </a:solidFill>
                          <a:latin typeface="Courier New"/>
                        </a:rPr>
                        <a:t>        if (msg.height_msl_mm != msg.height_ellipsoid_mm) {</a:t>
                      </a:r>
                    </a:p>
                    <a:p>
                      <a:pPr algn="l">
                        <a:lnSpc>
                          <a:spcPct val="106000"/>
                        </a:lnSpc>
                        <a:spcAft>
                          <a:spcPts val="0"/>
                        </a:spcAft>
                      </a:pPr>
                      <a:r>
                        <a:rPr sz="1100" b="0">
                          <a:solidFill>
                            <a:srgbClr val="333333"/>
                          </a:solidFill>
                          <a:latin typeface="Courier New"/>
                        </a:rPr>
                        <a:t>            seen_valid_height_ellipsoid = true;</a:t>
                      </a:r>
                    </a:p>
                    <a:p>
                      <a:pPr algn="l">
                        <a:lnSpc>
                          <a:spcPct val="106000"/>
                        </a:lnSpc>
                        <a:spcAft>
                          <a:spcPts val="0"/>
                        </a:spcAft>
                      </a:pPr>
                      <a:r>
                        <a:rPr sz="1100" b="0">
                          <a:solidFill>
                            <a:srgbClr val="333333"/>
                          </a:solidFill>
                          <a:latin typeface="Courier New"/>
                        </a:rPr>
                        <a:t>        }</a:t>
                      </a:r>
                    </a:p>
                    <a:p>
                      <a:pPr algn="l">
                        <a:lnSpc>
                          <a:spcPct val="106000"/>
                        </a:lnSpc>
                        <a:spcAft>
                          <a:spcPts val="0"/>
                        </a:spcAft>
                      </a:pPr>
                      <a:r>
                        <a:rPr sz="1100" b="0">
                          <a:solidFill>
                            <a:srgbClr val="333333"/>
                          </a:solidFill>
                          <a:latin typeface="Courier New"/>
                        </a:rPr>
                        <a:t>        interim_state.have_undulation = seen_valid_height_ellipsoid;</a:t>
                      </a:r>
                    </a:p>
                    <a:p>
                      <a:pPr algn="l">
                        <a:lnSpc>
                          <a:spcPct val="106000"/>
                        </a:lnSpc>
                        <a:spcAft>
                          <a:spcPts val="0"/>
                        </a:spcAft>
                      </a:pPr>
                      <a:r>
                        <a:rPr sz="1100" b="0">
                          <a:solidFill>
                            <a:srgbClr val="333333"/>
                          </a:solidFill>
                          <a:latin typeface="Courier New"/>
                        </a:rPr>
                        <a:t>        if (seen_valid_height_ellipsoid) {</a:t>
                      </a:r>
                    </a:p>
                    <a:p>
                      <a:pPr algn="l">
                        <a:lnSpc>
                          <a:spcPct val="106000"/>
                        </a:lnSpc>
                        <a:spcAft>
                          <a:spcPts val="0"/>
                        </a:spcAft>
                      </a:pPr>
                      <a:r>
                        <a:rPr sz="1100" b="0">
                          <a:solidFill>
                            <a:srgbClr val="333333"/>
                          </a:solidFill>
                          <a:latin typeface="Courier New"/>
                        </a:rPr>
                        <a:t>            interim_state.undulation = (msg.height_msl_mm - msg.height_ellipsoid_mm) * 0.001;</a:t>
                      </a:r>
                    </a:p>
                    <a:p>
                      <a:pPr algn="l">
                        <a:lnSpc>
                          <a:spcPct val="106000"/>
                        </a:lnSpc>
                        <a:spcAft>
                          <a:spcPts val="0"/>
                        </a:spcAft>
                      </a:pPr>
                      <a:r>
                        <a:rPr sz="1100" b="0">
                          <a:solidFill>
                            <a:srgbClr val="333333"/>
                          </a:solidFill>
                          <a:latin typeface="Courier New"/>
                        </a:rPr>
                        <a:t>        }</a:t>
                      </a:r>
                    </a:p>
                    <a:p>
                      <a:pPr algn="l">
                        <a:lnSpc>
                          <a:spcPct val="106000"/>
                        </a:lnSpc>
                        <a:spcAft>
                          <a:spcPts val="0"/>
                        </a:spcAft>
                      </a:pPr>
                      <a:r>
                        <a:rPr sz="1100" b="0">
                          <a:solidFill>
                            <a:srgbClr val="333333"/>
                          </a:solidFill>
                          <a:latin typeface="Courier New"/>
                        </a:rPr>
                        <a:t>        interim_state.location = loc;</a:t>
                      </a:r>
                    </a:p>
                    <a:p>
                      <a:pPr algn="l">
                        <a:lnSpc>
                          <a:spcPct val="106000"/>
                        </a:lnSpc>
                        <a:spcAft>
                          <a:spcPts val="0"/>
                        </a:spcAft>
                      </a:pPr>
                      <a:r>
                        <a:rPr sz="1100" b="0">
                          <a:solidFill>
                            <a:srgbClr val="333333"/>
                          </a:solidFill>
                          <a:latin typeface="Courier New"/>
                        </a:rPr>
                        <a:t>        set_alt_amsl_cm(interim_state, alt_amsl_cm);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Courier New"/>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libraries/AP_GPS/AP_GPS_ExternalAHRS.cpp</a:t>
                      </a:r>
                      <a:r>
                        <a:rPr sz="1100" b="0">
                          <a:solidFill>
                            <a:srgbClr val="999999"/>
                          </a:solidFill>
                          <a:latin typeface="Courier New"/>
                        </a:rPr>
                        <a:t>  ·  </a:t>
                      </a:r>
                      <a:r>
                        <a:rPr sz="1100" b="0">
                          <a:solidFill>
                            <a:srgbClr val="999999"/>
                          </a:solidFill>
                          <a:latin typeface="Courier New"/>
                        </a:rPr>
                        <a:t>49-56</a:t>
                      </a:r>
                      <a:r>
                        <a:rPr sz="1100" b="0">
                          <a:solidFill>
                            <a:srgbClr val="999999"/>
                          </a:solidFill>
                          <a:latin typeface="Courier New"/>
                        </a:rPr>
                        <a:t>  ·  </a:t>
                      </a:r>
                      <a:r>
                        <a:rPr sz="1100" b="0">
                          <a:solidFill>
                            <a:srgbClr val="999999"/>
                          </a:solidFill>
                          <a:latin typeface="Courier New"/>
                        </a:rPr>
                        <a:t>AP_GPS_ExternalAHRS::handle_external()</a:t>
                      </a:r>
                    </a:p>
                    <a:p>
                      <a:pPr algn="l">
                        <a:lnSpc>
                          <a:spcPct val="106000"/>
                        </a:lnSpc>
                        <a:spcAft>
                          <a:spcPts val="0"/>
                        </a:spcAft>
                      </a:pPr>
                      <a:r>
                        <a:rPr sz="1100" b="0">
                          <a:solidFill>
                            <a:srgbClr val="333333"/>
                          </a:solidFill>
                          <a:latin typeface="Courier New"/>
                        </a:rPr>
                        <a:t>    state.num_sats = pkt.satellites_in_view;</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const Location loc {</a:t>
                      </a:r>
                    </a:p>
                    <a:p>
                      <a:pPr algn="l">
                        <a:lnSpc>
                          <a:spcPct val="106000"/>
                        </a:lnSpc>
                        <a:spcAft>
                          <a:spcPts val="0"/>
                        </a:spcAft>
                      </a:pPr>
                      <a:r>
                        <a:rPr sz="1100" b="0">
                          <a:solidFill>
                            <a:srgbClr val="333333"/>
                          </a:solidFill>
                          <a:latin typeface="Courier New"/>
                        </a:rPr>
                        <a:t>        pkt.latitude,</a:t>
                      </a:r>
                    </a:p>
                    <a:p>
                      <a:pPr algn="l">
                        <a:lnSpc>
                          <a:spcPct val="106000"/>
                        </a:lnSpc>
                        <a:spcAft>
                          <a:spcPts val="0"/>
                        </a:spcAft>
                      </a:pPr>
                      <a:r>
                        <a:rPr sz="1100" b="0">
                          <a:solidFill>
                            <a:srgbClr val="333333"/>
                          </a:solidFill>
                          <a:latin typeface="Courier New"/>
                        </a:rPr>
                        <a:t>        pkt.longitude,</a:t>
                      </a:r>
                    </a:p>
                    <a:p>
                      <a:pPr algn="l">
                        <a:lnSpc>
                          <a:spcPct val="106000"/>
                        </a:lnSpc>
                        <a:spcAft>
                          <a:spcPts val="0"/>
                        </a:spcAft>
                      </a:pPr>
                      <a:r>
                        <a:rPr sz="1100" b="0">
                          <a:solidFill>
                            <a:srgbClr val="333333"/>
                          </a:solidFill>
                          <a:latin typeface="Courier New"/>
                        </a:rPr>
                        <a:t>        pkt.msl_altitude,</a:t>
                      </a:r>
                    </a:p>
                    <a:p>
                      <a:pPr algn="l">
                        <a:lnSpc>
                          <a:spcPct val="106000"/>
                        </a:lnSpc>
                        <a:spcAft>
                          <a:spcPts val="0"/>
                        </a:spcAft>
                      </a:pPr>
                      <a:r>
                        <a:rPr sz="1100" b="0">
                          <a:solidFill>
                            <a:srgbClr val="333333"/>
                          </a:solidFill>
                          <a:latin typeface="Courier New"/>
                        </a:rPr>
                        <a:t>        Location::AltFrame::ABSOLUTE</a:t>
                      </a:r>
                    </a:p>
                    <a:p>
                      <a:pPr algn="l">
                        <a:lnSpc>
                          <a:spcPct val="106000"/>
                        </a:lnSpc>
                        <a:spcAft>
                          <a:spcPts val="0"/>
                        </a:spcAft>
                      </a:pPr>
                      <a:r>
                        <a:rPr sz="1100" b="0">
                          <a:solidFill>
                            <a:srgbClr val="333333"/>
                          </a:solidFill>
                          <a:latin typeface="Courier New"/>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12–13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Courier New"/>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libraries/AP_GPS/AP_GPS_SITL.cpp</a:t>
                      </a:r>
                      <a:r>
                        <a:rPr sz="1100" b="0">
                          <a:solidFill>
                            <a:srgbClr val="999999"/>
                          </a:solidFill>
                          <a:latin typeface="Courier New"/>
                        </a:rPr>
                        <a:t>  ·  </a:t>
                      </a:r>
                      <a:r>
                        <a:rPr sz="1100" b="0">
                          <a:solidFill>
                            <a:srgbClr val="999999"/>
                          </a:solidFill>
                          <a:latin typeface="Courier New"/>
                        </a:rPr>
                        <a:t>86-93</a:t>
                      </a:r>
                      <a:r>
                        <a:rPr sz="1100" b="0">
                          <a:solidFill>
                            <a:srgbClr val="999999"/>
                          </a:solidFill>
                          <a:latin typeface="Courier New"/>
                        </a:rPr>
                        <a:t>  ·  </a:t>
                      </a:r>
                      <a:r>
                        <a:rPr sz="1100" b="0">
                          <a:solidFill>
                            <a:srgbClr val="999999"/>
                          </a:solidFill>
                          <a:latin typeface="Courier New"/>
                        </a:rPr>
                        <a:t>AP_GPS_SITL::read()</a:t>
                      </a:r>
                    </a:p>
                    <a:p>
                      <a:pPr algn="l">
                        <a:lnSpc>
                          <a:spcPct val="106000"/>
                        </a:lnSpc>
                        <a:spcAft>
                          <a:spcPts val="0"/>
                        </a:spcAft>
                      </a:pPr>
                      <a:r>
                        <a:rPr sz="1100" b="0">
                          <a:solidFill>
                            <a:srgbClr val="333333"/>
                          </a:solidFill>
                          <a:latin typeface="Courier New"/>
                        </a:rPr>
                        <a:t>    state.status = AP_GPS::GPS_OK_FIX_3D;</a:t>
                      </a:r>
                    </a:p>
                    <a:p>
                      <a:pPr algn="l">
                        <a:lnSpc>
                          <a:spcPct val="106000"/>
                        </a:lnSpc>
                        <a:spcAft>
                          <a:spcPts val="0"/>
                        </a:spcAft>
                      </a:pPr>
                      <a:r>
                        <a:rPr sz="1100" b="0">
                          <a:solidFill>
                            <a:srgbClr val="333333"/>
                          </a:solidFill>
                          <a:latin typeface="Courier New"/>
                        </a:rPr>
                        <a:t>    state.num_sats = 15;</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state.location = Location{</a:t>
                      </a:r>
                    </a:p>
                    <a:p>
                      <a:pPr algn="l">
                        <a:lnSpc>
                          <a:spcPct val="106000"/>
                        </a:lnSpc>
                        <a:spcAft>
                          <a:spcPts val="0"/>
                        </a:spcAft>
                      </a:pPr>
                      <a:r>
                        <a:rPr sz="1100" b="0">
                          <a:solidFill>
                            <a:srgbClr val="333333"/>
                          </a:solidFill>
                          <a:latin typeface="Courier New"/>
                        </a:rPr>
                        <a:t>        int32_t(latitude*1e7),</a:t>
                      </a:r>
                    </a:p>
                    <a:p>
                      <a:pPr algn="l">
                        <a:lnSpc>
                          <a:spcPct val="106000"/>
                        </a:lnSpc>
                        <a:spcAft>
                          <a:spcPts val="0"/>
                        </a:spcAft>
                      </a:pPr>
                      <a:r>
                        <a:rPr sz="1100" b="0">
                          <a:solidFill>
                            <a:srgbClr val="333333"/>
                          </a:solidFill>
                          <a:latin typeface="Courier New"/>
                        </a:rPr>
                        <a:t>        int32_t(longitude*1e7),</a:t>
                      </a:r>
                    </a:p>
                    <a:p>
                      <a:pPr algn="l">
                        <a:lnSpc>
                          <a:spcPct val="106000"/>
                        </a:lnSpc>
                        <a:spcAft>
                          <a:spcPts val="0"/>
                        </a:spcAft>
                      </a:pPr>
                      <a:r>
                        <a:rPr sz="1100" b="0">
                          <a:solidFill>
                            <a:srgbClr val="333333"/>
                          </a:solidFill>
                          <a:latin typeface="Courier New"/>
                        </a:rPr>
                        <a:t>        int32_t(altitude*100),</a:t>
                      </a:r>
                    </a:p>
                    <a:p>
                      <a:pPr algn="l">
                        <a:lnSpc>
                          <a:spcPct val="106000"/>
                        </a:lnSpc>
                        <a:spcAft>
                          <a:spcPts val="0"/>
                        </a:spcAft>
                      </a:pPr>
                      <a:r>
                        <a:rPr sz="1100" b="0">
                          <a:solidFill>
                            <a:srgbClr val="333333"/>
                          </a:solidFill>
                          <a:latin typeface="Courier New"/>
                        </a:rPr>
                        <a:t>        Location::AltFrame::ABSOLUTE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Courier New"/>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libraries/AP_GPS/GPS_Backend.cpp</a:t>
                      </a:r>
                      <a:r>
                        <a:rPr sz="1100" b="0">
                          <a:solidFill>
                            <a:srgbClr val="999999"/>
                          </a:solidFill>
                          <a:latin typeface="Courier New"/>
                        </a:rPr>
                        <a:t>  ·  </a:t>
                      </a:r>
                      <a:r>
                        <a:rPr sz="1100" b="0">
                          <a:solidFill>
                            <a:srgbClr val="999999"/>
                          </a:solidFill>
                          <a:latin typeface="Courier New"/>
                        </a:rPr>
                        <a:t>101-109</a:t>
                      </a:r>
                      <a:r>
                        <a:rPr sz="1100" b="0">
                          <a:solidFill>
                            <a:srgbClr val="999999"/>
                          </a:solidFill>
                          <a:latin typeface="Courier New"/>
                        </a:rPr>
                        <a:t>  ·  </a:t>
                      </a:r>
                      <a:r>
                        <a:rPr sz="1100" b="0">
                          <a:solidFill>
                            <a:srgbClr val="999999"/>
                          </a:solidFill>
                          <a:latin typeface="Courier New"/>
                        </a:rPr>
                        <a:t>AP_GPS_Backend::fill_3d_velocity()</a:t>
                      </a:r>
                    </a:p>
                    <a:p>
                      <a:pPr algn="l">
                        <a:lnSpc>
                          <a:spcPct val="106000"/>
                        </a:lnSpc>
                        <a:spcAft>
                          <a:spcPts val="0"/>
                        </a:spcAft>
                      </a:pPr>
                      <a:r>
                        <a:rPr sz="1100" b="0">
                          <a:solidFill>
                            <a:srgbClr val="333333"/>
                          </a:solidFill>
                          <a:latin typeface="Courier New"/>
                        </a:rPr>
                        <a:t>void AP_GPS_Backend::fill_3d_velocity(void)</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float gps_heading = radians(state.ground_course);</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state.velocity.x = state.ground_speed * cosf(gps_heading);</a:t>
                      </a:r>
                    </a:p>
                    <a:p>
                      <a:pPr algn="l">
                        <a:lnSpc>
                          <a:spcPct val="106000"/>
                        </a:lnSpc>
                        <a:spcAft>
                          <a:spcPts val="0"/>
                        </a:spcAft>
                      </a:pPr>
                      <a:r>
                        <a:rPr sz="1100" b="0">
                          <a:solidFill>
                            <a:srgbClr val="333333"/>
                          </a:solidFill>
                          <a:latin typeface="Courier New"/>
                        </a:rPr>
                        <a:t>    state.velocity.y = state.ground_speed * sinf(gps_heading);</a:t>
                      </a:r>
                    </a:p>
                    <a:p>
                      <a:pPr algn="l">
                        <a:lnSpc>
                          <a:spcPct val="106000"/>
                        </a:lnSpc>
                        <a:spcAft>
                          <a:spcPts val="0"/>
                        </a:spcAft>
                      </a:pPr>
                      <a:r>
                        <a:rPr sz="1100" b="0">
                          <a:solidFill>
                            <a:srgbClr val="333333"/>
                          </a:solidFill>
                          <a:latin typeface="Courier New"/>
                        </a:rPr>
                        <a:t>    state.velocity.z = 0;</a:t>
                      </a:r>
                    </a:p>
                    <a:p>
                      <a:pPr algn="l">
                        <a:lnSpc>
                          <a:spcPct val="106000"/>
                        </a:lnSpc>
                        <a:spcAft>
                          <a:spcPts val="0"/>
                        </a:spcAft>
                      </a:pPr>
                      <a:r>
                        <a:rPr sz="1100" b="0">
                          <a:solidFill>
                            <a:srgbClr val="333333"/>
                          </a:solidFill>
                          <a:latin typeface="Courier New"/>
                        </a:rPr>
                        <a:t>    state.have_vertical_velocity = false;</a:t>
                      </a:r>
                    </a:p>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14–15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285918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9483">
                <a:tc>
                  <a:txBody>
                    <a:bodyPr wrap="square">
                      <a:noAutofit/>
                    </a:bodyPr>
                    <a:lstStyle/>
                    <a:p>
                      <a:pPr algn="r">
                        <a:lnSpc>
                          <a:spcPct val="106000"/>
                        </a:lnSpc>
                        <a:spcAft>
                          <a:spcPts val="0"/>
                        </a:spcAft>
                      </a:pPr>
                      <a:r>
                        <a:rPr sz="1100" b="1">
                          <a:solidFill>
                            <a:srgbClr val="333333"/>
                          </a:solidFill>
                          <a:latin typeface="Courier New"/>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libraries/AP_GPS/AP_GPS.h</a:t>
                      </a:r>
                      <a:r>
                        <a:rPr sz="1100" b="0">
                          <a:solidFill>
                            <a:srgbClr val="999999"/>
                          </a:solidFill>
                          <a:latin typeface="Courier New"/>
                        </a:rPr>
                        <a:t>  ·  </a:t>
                      </a:r>
                      <a:r>
                        <a:rPr sz="1100" b="0">
                          <a:solidFill>
                            <a:srgbClr val="999999"/>
                          </a:solidFill>
                          <a:latin typeface="Courier New"/>
                        </a:rPr>
                        <a:t>324-329</a:t>
                      </a:r>
                      <a:r>
                        <a:rPr sz="1100" b="0">
                          <a:solidFill>
                            <a:srgbClr val="999999"/>
                          </a:solidFill>
                          <a:latin typeface="Courier New"/>
                        </a:rPr>
                        <a:t>  ·  </a:t>
                      </a:r>
                      <a:r>
                        <a:rPr sz="1100" b="0">
                          <a:solidFill>
                            <a:srgbClr val="999999"/>
                          </a:solidFill>
                          <a:latin typeface="Courier New"/>
                        </a:rPr>
                        <a:t>AP_GPS::location()</a:t>
                      </a:r>
                    </a:p>
                    <a:p>
                      <a:pPr algn="l">
                        <a:lnSpc>
                          <a:spcPct val="106000"/>
                        </a:lnSpc>
                        <a:spcAft>
                          <a:spcPts val="0"/>
                        </a:spcAft>
                      </a:pPr>
                      <a:r>
                        <a:rPr sz="1100" b="0">
                          <a:solidFill>
                            <a:srgbClr val="333333"/>
                          </a:solidFill>
                          <a:latin typeface="Courier New"/>
                        </a:rPr>
                        <a:t>    const Location &amp;location(uint8_t instance) const {</a:t>
                      </a:r>
                    </a:p>
                    <a:p>
                      <a:pPr algn="l">
                        <a:lnSpc>
                          <a:spcPct val="106000"/>
                        </a:lnSpc>
                        <a:spcAft>
                          <a:spcPts val="0"/>
                        </a:spcAft>
                      </a:pPr>
                      <a:r>
                        <a:rPr sz="1100" b="0">
                          <a:solidFill>
                            <a:srgbClr val="333333"/>
                          </a:solidFill>
                          <a:latin typeface="Courier New"/>
                        </a:rPr>
                        <a:t>        return state[instance].location;</a:t>
                      </a:r>
                    </a:p>
                    <a:p>
                      <a:pPr algn="l">
                        <a:lnSpc>
                          <a:spcPct val="106000"/>
                        </a:lnSpc>
                        <a:spcAft>
                          <a:spcPts val="0"/>
                        </a:spcAft>
                      </a:pPr>
                      <a:r>
                        <a:rPr sz="1100" b="0">
                          <a:solidFill>
                            <a:srgbClr val="333333"/>
                          </a:solidFill>
                          <a:latin typeface="Courier New"/>
                        </a:rPr>
                        <a:t>    }</a:t>
                      </a:r>
                    </a:p>
                    <a:p>
                      <a:pPr algn="l">
                        <a:lnSpc>
                          <a:spcPct val="106000"/>
                        </a:lnSpc>
                        <a:spcAft>
                          <a:spcPts val="0"/>
                        </a:spcAft>
                      </a:pPr>
                      <a:r>
                        <a:rPr sz="1100" b="0">
                          <a:solidFill>
                            <a:srgbClr val="333333"/>
                          </a:solidFill>
                          <a:latin typeface="Courier New"/>
                        </a:rPr>
                        <a:t>    const Location &amp;location() const {</a:t>
                      </a:r>
                    </a:p>
                    <a:p>
                      <a:pPr algn="l">
                        <a:lnSpc>
                          <a:spcPct val="106000"/>
                        </a:lnSpc>
                        <a:spcAft>
                          <a:spcPts val="0"/>
                        </a:spcAft>
                      </a:pPr>
                      <a:r>
                        <a:rPr sz="1100" b="0">
                          <a:solidFill>
                            <a:srgbClr val="333333"/>
                          </a:solidFill>
                          <a:latin typeface="Courier New"/>
                        </a:rPr>
                        <a:t>        return location(primary_instance);</a:t>
                      </a:r>
                    </a:p>
                    <a:p>
                      <a:pPr algn="l">
                        <a:lnSpc>
                          <a:spcPct val="106000"/>
                        </a:lnSpc>
                        <a:spcAft>
                          <a:spcPts val="0"/>
                        </a:spcAft>
                      </a:pPr>
                      <a:r>
                        <a:rPr sz="1100" b="0">
                          <a:solidFill>
                            <a:srgbClr val="333333"/>
                          </a:solidFill>
                          <a:latin typeface="Courier New"/>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9483">
                <a:tc>
                  <a:txBody>
                    <a:bodyPr wrap="square">
                      <a:noAutofit/>
                    </a:bodyPr>
                    <a:lstStyle/>
                    <a:p>
                      <a:pPr algn="r">
                        <a:lnSpc>
                          <a:spcPct val="106000"/>
                        </a:lnSpc>
                        <a:spcAft>
                          <a:spcPts val="0"/>
                        </a:spcAft>
                      </a:pPr>
                      <a:r>
                        <a:rPr sz="1100" b="1">
                          <a:solidFill>
                            <a:srgbClr val="333333"/>
                          </a:solidFill>
                          <a:latin typeface="Courier New"/>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libraries/AP_GPS/AP_GPS.h</a:t>
                      </a:r>
                      <a:r>
                        <a:rPr sz="1100" b="0">
                          <a:solidFill>
                            <a:srgbClr val="999999"/>
                          </a:solidFill>
                          <a:latin typeface="Courier New"/>
                        </a:rPr>
                        <a:t>  ·  </a:t>
                      </a:r>
                      <a:r>
                        <a:rPr sz="1100" b="0">
                          <a:solidFill>
                            <a:srgbClr val="999999"/>
                          </a:solidFill>
                          <a:latin typeface="Courier New"/>
                        </a:rPr>
                        <a:t>360-365</a:t>
                      </a:r>
                      <a:r>
                        <a:rPr sz="1100" b="0">
                          <a:solidFill>
                            <a:srgbClr val="999999"/>
                          </a:solidFill>
                          <a:latin typeface="Courier New"/>
                        </a:rPr>
                        <a:t>  ·  </a:t>
                      </a:r>
                      <a:r>
                        <a:rPr sz="1100" b="0">
                          <a:solidFill>
                            <a:srgbClr val="999999"/>
                          </a:solidFill>
                          <a:latin typeface="Courier New"/>
                        </a:rPr>
                        <a:t>AP_GPS::velocity()</a:t>
                      </a:r>
                    </a:p>
                    <a:p>
                      <a:pPr algn="l">
                        <a:lnSpc>
                          <a:spcPct val="106000"/>
                        </a:lnSpc>
                        <a:spcAft>
                          <a:spcPts val="0"/>
                        </a:spcAft>
                      </a:pPr>
                      <a:r>
                        <a:rPr sz="1100" b="0">
                          <a:solidFill>
                            <a:srgbClr val="333333"/>
                          </a:solidFill>
                          <a:latin typeface="Courier New"/>
                        </a:rPr>
                        <a:t>    const Vector3f &amp;velocity(uint8_t instance) const {</a:t>
                      </a:r>
                    </a:p>
                    <a:p>
                      <a:pPr algn="l">
                        <a:lnSpc>
                          <a:spcPct val="106000"/>
                        </a:lnSpc>
                        <a:spcAft>
                          <a:spcPts val="0"/>
                        </a:spcAft>
                      </a:pPr>
                      <a:r>
                        <a:rPr sz="1100" b="0">
                          <a:solidFill>
                            <a:srgbClr val="333333"/>
                          </a:solidFill>
                          <a:latin typeface="Courier New"/>
                        </a:rPr>
                        <a:t>        return state[instance].velocity;</a:t>
                      </a:r>
                    </a:p>
                    <a:p>
                      <a:pPr algn="l">
                        <a:lnSpc>
                          <a:spcPct val="106000"/>
                        </a:lnSpc>
                        <a:spcAft>
                          <a:spcPts val="0"/>
                        </a:spcAft>
                      </a:pPr>
                      <a:r>
                        <a:rPr sz="1100" b="0">
                          <a:solidFill>
                            <a:srgbClr val="333333"/>
                          </a:solidFill>
                          <a:latin typeface="Courier New"/>
                        </a:rPr>
                        <a:t>    }</a:t>
                      </a:r>
                    </a:p>
                    <a:p>
                      <a:pPr algn="l">
                        <a:lnSpc>
                          <a:spcPct val="106000"/>
                        </a:lnSpc>
                        <a:spcAft>
                          <a:spcPts val="0"/>
                        </a:spcAft>
                      </a:pPr>
                      <a:r>
                        <a:rPr sz="1100" b="0">
                          <a:solidFill>
                            <a:srgbClr val="333333"/>
                          </a:solidFill>
                          <a:latin typeface="Courier New"/>
                        </a:rPr>
                        <a:t>    const Vector3f &amp;velocity() const {</a:t>
                      </a:r>
                    </a:p>
                    <a:p>
                      <a:pPr algn="l">
                        <a:lnSpc>
                          <a:spcPct val="106000"/>
                        </a:lnSpc>
                        <a:spcAft>
                          <a:spcPts val="0"/>
                        </a:spcAft>
                      </a:pPr>
                      <a:r>
                        <a:rPr sz="1100" b="0">
                          <a:solidFill>
                            <a:srgbClr val="333333"/>
                          </a:solidFill>
                          <a:latin typeface="Courier New"/>
                        </a:rPr>
                        <a:t>        return velocity(primary_instance);</a:t>
                      </a:r>
                    </a:p>
                    <a:p>
                      <a:pPr algn="l">
                        <a:lnSpc>
                          <a:spcPct val="106000"/>
                        </a:lnSpc>
                        <a:spcAft>
                          <a:spcPts val="0"/>
                        </a:spcAft>
                      </a:pPr>
                      <a:r>
                        <a:rPr sz="1100" b="0">
                          <a:solidFill>
                            <a:srgbClr val="333333"/>
                          </a:solidFill>
                          <a:latin typeface="Courier New"/>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16–17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Courier New"/>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libraries/AP_GPS/AP_GPS.h</a:t>
                      </a:r>
                      <a:r>
                        <a:rPr sz="1100" b="0">
                          <a:solidFill>
                            <a:srgbClr val="999999"/>
                          </a:solidFill>
                          <a:latin typeface="Courier New"/>
                        </a:rPr>
                        <a:t>  ·  </a:t>
                      </a:r>
                      <a:r>
                        <a:rPr sz="1100" b="0">
                          <a:solidFill>
                            <a:srgbClr val="999999"/>
                          </a:solidFill>
                          <a:latin typeface="Courier New"/>
                        </a:rPr>
                        <a:t>192-201</a:t>
                      </a:r>
                      <a:r>
                        <a:rPr sz="1100" b="0">
                          <a:solidFill>
                            <a:srgbClr val="999999"/>
                          </a:solidFill>
                          <a:latin typeface="Courier New"/>
                        </a:rPr>
                        <a:t>  ·  </a:t>
                      </a:r>
                      <a:r>
                        <a:rPr sz="1100" b="0">
                          <a:solidFill>
                            <a:srgbClr val="999999"/>
                          </a:solidFill>
                          <a:latin typeface="Courier New"/>
                        </a:rPr>
                        <a:t>structAP_GPS::GPS_State</a:t>
                      </a:r>
                    </a:p>
                    <a:p>
                      <a:pPr algn="l">
                        <a:lnSpc>
                          <a:spcPct val="106000"/>
                        </a:lnSpc>
                        <a:spcAft>
                          <a:spcPts val="0"/>
                        </a:spcAft>
                      </a:pPr>
                      <a:r>
                        <a:rPr sz="1100" b="0">
                          <a:solidFill>
                            <a:srgbClr val="333333"/>
                          </a:solidFill>
                          <a:latin typeface="Courier New"/>
                        </a:rPr>
                        <a:t>    struct GPS_State {</a:t>
                      </a:r>
                    </a:p>
                    <a:p>
                      <a:pPr algn="l">
                        <a:lnSpc>
                          <a:spcPct val="106000"/>
                        </a:lnSpc>
                        <a:spcAft>
                          <a:spcPts val="0"/>
                        </a:spcAft>
                      </a:pPr>
                      <a:r>
                        <a:rPr sz="1100" b="0">
                          <a:solidFill>
                            <a:srgbClr val="333333"/>
                          </a:solidFill>
                          <a:latin typeface="Courier New"/>
                        </a:rPr>
                        <a:t>        uint8_t instance; // the instance number of this GPS</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 all the following fields must all be filled by the backend driver</a:t>
                      </a:r>
                    </a:p>
                    <a:p>
                      <a:pPr algn="l">
                        <a:lnSpc>
                          <a:spcPct val="106000"/>
                        </a:lnSpc>
                        <a:spcAft>
                          <a:spcPts val="0"/>
                        </a:spcAft>
                      </a:pPr>
                      <a:r>
                        <a:rPr sz="1100" b="0">
                          <a:solidFill>
                            <a:srgbClr val="333333"/>
                          </a:solidFill>
                          <a:latin typeface="Courier New"/>
                        </a:rPr>
                        <a:t>        GPS_Status status;                  ///&lt; driver fix status</a:t>
                      </a:r>
                    </a:p>
                    <a:p>
                      <a:pPr algn="l">
                        <a:lnSpc>
                          <a:spcPct val="106000"/>
                        </a:lnSpc>
                        <a:spcAft>
                          <a:spcPts val="0"/>
                        </a:spcAft>
                      </a:pPr>
                      <a:r>
                        <a:rPr sz="1100" b="0">
                          <a:solidFill>
                            <a:srgbClr val="333333"/>
                          </a:solidFill>
                          <a:latin typeface="Courier New"/>
                        </a:rPr>
                        <a:t>        uint32_t time_week_ms;              ///&lt; GPS time (milliseconds from start of GPS week)</a:t>
                      </a:r>
                    </a:p>
                    <a:p>
                      <a:pPr algn="l">
                        <a:lnSpc>
                          <a:spcPct val="106000"/>
                        </a:lnSpc>
                        <a:spcAft>
                          <a:spcPts val="0"/>
                        </a:spcAft>
                      </a:pPr>
                      <a:r>
                        <a:rPr sz="1100" b="0">
                          <a:solidFill>
                            <a:srgbClr val="333333"/>
                          </a:solidFill>
                          <a:latin typeface="Courier New"/>
                        </a:rPr>
                        <a:t>        uint16_t time_week;                 ///&lt; GPS week number</a:t>
                      </a:r>
                    </a:p>
                    <a:p>
                      <a:pPr algn="l">
                        <a:lnSpc>
                          <a:spcPct val="106000"/>
                        </a:lnSpc>
                        <a:spcAft>
                          <a:spcPts val="0"/>
                        </a:spcAft>
                      </a:pPr>
                      <a:r>
                        <a:rPr sz="1100" b="0">
                          <a:solidFill>
                            <a:srgbClr val="333333"/>
                          </a:solidFill>
                          <a:latin typeface="Courier New"/>
                        </a:rPr>
                        <a:t>        Location location;                  ///&lt; last fix location</a:t>
                      </a:r>
                    </a:p>
                    <a:p>
                      <a:pPr algn="l">
                        <a:lnSpc>
                          <a:spcPct val="106000"/>
                        </a:lnSpc>
                        <a:spcAft>
                          <a:spcPts val="0"/>
                        </a:spcAft>
                      </a:pPr>
                      <a:r>
                        <a:rPr sz="1100" b="0">
                          <a:solidFill>
                            <a:srgbClr val="333333"/>
                          </a:solidFill>
                          <a:latin typeface="Courier New"/>
                        </a:rPr>
                        <a:t>        float ground_speed;                 ///&lt; ground speed in m/s</a:t>
                      </a:r>
                    </a:p>
                    <a:p>
                      <a:pPr algn="l">
                        <a:lnSpc>
                          <a:spcPct val="106000"/>
                        </a:lnSpc>
                        <a:spcAft>
                          <a:spcPts val="0"/>
                        </a:spcAft>
                      </a:pPr>
                      <a:r>
                        <a:rPr sz="1100" b="0">
                          <a:solidFill>
                            <a:srgbClr val="333333"/>
                          </a:solidFill>
                          <a:latin typeface="Courier New"/>
                        </a:rPr>
                        <a:t>        float ground_course;                ///&lt; ground course in degrees, wrapped 0-360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Courier New"/>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libraries/AP_GPS/AP_GPS_Blended.cpp</a:t>
                      </a:r>
                      <a:r>
                        <a:rPr sz="1100" b="0">
                          <a:solidFill>
                            <a:srgbClr val="999999"/>
                          </a:solidFill>
                          <a:latin typeface="Courier New"/>
                        </a:rPr>
                        <a:t>  ·  </a:t>
                      </a:r>
                      <a:r>
                        <a:rPr sz="1100" b="0">
                          <a:solidFill>
                            <a:srgbClr val="999999"/>
                          </a:solidFill>
                          <a:latin typeface="Courier New"/>
                        </a:rPr>
                        <a:t>17-25</a:t>
                      </a:r>
                      <a:r>
                        <a:rPr sz="1100" b="0">
                          <a:solidFill>
                            <a:srgbClr val="999999"/>
                          </a:solidFill>
                          <a:latin typeface="Courier New"/>
                        </a:rPr>
                        <a:t>  ·  </a:t>
                      </a:r>
                      <a:r>
                        <a:rPr sz="1100" b="0">
                          <a:solidFill>
                            <a:srgbClr val="999999"/>
                          </a:solidFill>
                          <a:latin typeface="Courier New"/>
                        </a:rPr>
                        <a:t>AP_GPS_Blended::_calc_weights()</a:t>
                      </a:r>
                    </a:p>
                    <a:p>
                      <a:pPr algn="l">
                        <a:lnSpc>
                          <a:spcPct val="106000"/>
                        </a:lnSpc>
                        <a:spcAft>
                          <a:spcPts val="0"/>
                        </a:spcAft>
                      </a:pPr>
                      <a:r>
                        <a:rPr sz="1100" b="0">
                          <a:solidFill>
                            <a:srgbClr val="333333"/>
                          </a:solidFill>
                          <a:latin typeface="Courier New"/>
                        </a:rPr>
                        <a:t>bool AP_GPS_Blended::_calc_weights(void)</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 zero the blend weights</a:t>
                      </a:r>
                    </a:p>
                    <a:p>
                      <a:pPr algn="l">
                        <a:lnSpc>
                          <a:spcPct val="106000"/>
                        </a:lnSpc>
                        <a:spcAft>
                          <a:spcPts val="0"/>
                        </a:spcAft>
                      </a:pPr>
                      <a:r>
                        <a:rPr sz="1100" b="0">
                          <a:solidFill>
                            <a:srgbClr val="333333"/>
                          </a:solidFill>
                          <a:latin typeface="Courier New"/>
                        </a:rPr>
                        <a:t>    memset(&amp;_blend_weights, 0, sizeof(_blend_weights));</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static_assert(GPS_MAX_RECEIVERS == 2, "GPS blending only currently works with 2 receivers");</a:t>
                      </a:r>
                    </a:p>
                    <a:p>
                      <a:pPr algn="l">
                        <a:lnSpc>
                          <a:spcPct val="106000"/>
                        </a:lnSpc>
                        <a:spcAft>
                          <a:spcPts val="0"/>
                        </a:spcAft>
                      </a:pPr>
                      <a:r>
                        <a:rPr sz="1100" b="0">
                          <a:solidFill>
                            <a:srgbClr val="333333"/>
                          </a:solidFill>
                          <a:latin typeface="Courier New"/>
                        </a:rPr>
                        <a:t>    // Note that the early quit below relies upon exactly 2 instances</a:t>
                      </a:r>
                    </a:p>
                    <a:p>
                      <a:pPr algn="l">
                        <a:lnSpc>
                          <a:spcPct val="106000"/>
                        </a:lnSpc>
                        <a:spcAft>
                          <a:spcPts val="0"/>
                        </a:spcAft>
                      </a:pPr>
                      <a:r>
                        <a:rPr sz="1100" b="0">
                          <a:solidFill>
                            <a:srgbClr val="333333"/>
                          </a:solidFill>
                          <a:latin typeface="Courier New"/>
                        </a:rPr>
                        <a:t>    // The time delta calculations below also rely upon every instance being currently detected and being parsed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18–19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197975">
                <a:tc>
                  <a:txBody>
                    <a:bodyPr wrap="square">
                      <a:noAutofit/>
                    </a:bodyPr>
                    <a:lstStyle/>
                    <a:p>
                      <a:pPr algn="r">
                        <a:lnSpc>
                          <a:spcPct val="106000"/>
                        </a:lnSpc>
                        <a:spcAft>
                          <a:spcPts val="0"/>
                        </a:spcAft>
                      </a:pPr>
                      <a:r>
                        <a:rPr sz="1100" b="1">
                          <a:solidFill>
                            <a:srgbClr val="333333"/>
                          </a:solidFill>
                          <a:latin typeface="Courier New"/>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libraries/AP_Common/Location.h</a:t>
                      </a:r>
                      <a:r>
                        <a:rPr sz="1100" b="0">
                          <a:solidFill>
                            <a:srgbClr val="999999"/>
                          </a:solidFill>
                          <a:latin typeface="Courier New"/>
                        </a:rPr>
                        <a:t>  ·  </a:t>
                      </a:r>
                      <a:r>
                        <a:rPr sz="1100" b="0">
                          <a:solidFill>
                            <a:srgbClr val="999999"/>
                          </a:solidFill>
                          <a:latin typeface="Courier New"/>
                        </a:rPr>
                        <a:t>11-20</a:t>
                      </a:r>
                      <a:r>
                        <a:rPr sz="1100" b="0">
                          <a:solidFill>
                            <a:srgbClr val="999999"/>
                          </a:solidFill>
                          <a:latin typeface="Courier New"/>
                        </a:rPr>
                        <a:t>  ·  </a:t>
                      </a:r>
                      <a:r>
                        <a:rPr sz="1100" b="0">
                          <a:solidFill>
                            <a:srgbClr val="999999"/>
                          </a:solidFill>
                          <a:latin typeface="Courier New"/>
                        </a:rPr>
                        <a:t>classLocation</a:t>
                      </a:r>
                    </a:p>
                    <a:p>
                      <a:pPr algn="l">
                        <a:lnSpc>
                          <a:spcPct val="106000"/>
                        </a:lnSpc>
                        <a:spcAft>
                          <a:spcPts val="0"/>
                        </a:spcAft>
                      </a:pPr>
                      <a:r>
                        <a:rPr sz="1100" b="0">
                          <a:solidFill>
                            <a:srgbClr val="333333"/>
                          </a:solidFill>
                          <a:latin typeface="Courier New"/>
                        </a:rPr>
                        <a:t>    uint8_t relative_alt : 1;           // 1 if altitude is relative to home</a:t>
                      </a:r>
                    </a:p>
                    <a:p>
                      <a:pPr algn="l">
                        <a:lnSpc>
                          <a:spcPct val="106000"/>
                        </a:lnSpc>
                        <a:spcAft>
                          <a:spcPts val="0"/>
                        </a:spcAft>
                      </a:pPr>
                      <a:r>
                        <a:rPr sz="1100" b="0">
                          <a:solidFill>
                            <a:srgbClr val="333333"/>
                          </a:solidFill>
                          <a:latin typeface="Courier New"/>
                        </a:rPr>
                        <a:t>    uint8_t loiter_ccw   : 1;           // 0 if clockwise, 1 if counter clockwise</a:t>
                      </a:r>
                    </a:p>
                    <a:p>
                      <a:pPr algn="l">
                        <a:lnSpc>
                          <a:spcPct val="106000"/>
                        </a:lnSpc>
                        <a:spcAft>
                          <a:spcPts val="0"/>
                        </a:spcAft>
                      </a:pPr>
                      <a:r>
                        <a:rPr sz="1100" b="0">
                          <a:solidFill>
                            <a:srgbClr val="333333"/>
                          </a:solidFill>
                          <a:latin typeface="Courier New"/>
                        </a:rPr>
                        <a:t>    uint8_t terrain_alt  : 1;           // this altitude is above terrain</a:t>
                      </a:r>
                    </a:p>
                    <a:p>
                      <a:pPr algn="l">
                        <a:lnSpc>
                          <a:spcPct val="106000"/>
                        </a:lnSpc>
                        <a:spcAft>
                          <a:spcPts val="0"/>
                        </a:spcAft>
                      </a:pPr>
                      <a:r>
                        <a:rPr sz="1100" b="0">
                          <a:solidFill>
                            <a:srgbClr val="333333"/>
                          </a:solidFill>
                          <a:latin typeface="Courier New"/>
                        </a:rPr>
                        <a:t>    uint8_t origin_alt   : 1;           // this altitude is above ekf origin</a:t>
                      </a:r>
                    </a:p>
                    <a:p>
                      <a:pPr algn="l">
                        <a:lnSpc>
                          <a:spcPct val="106000"/>
                        </a:lnSpc>
                        <a:spcAft>
                          <a:spcPts val="0"/>
                        </a:spcAft>
                      </a:pPr>
                      <a:r>
                        <a:rPr sz="1100" b="0">
                          <a:solidFill>
                            <a:srgbClr val="333333"/>
                          </a:solidFill>
                          <a:latin typeface="Courier New"/>
                        </a:rPr>
                        <a:t>    uint8_t loiter_xtrack : 1;          // 0 to crosstrack from center of waypoint, 1 to crosstrack from tangent exit location</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 note that mission storage only stores 24 bits of altitude (~ +/- 83km)</a:t>
                      </a:r>
                    </a:p>
                    <a:p>
                      <a:pPr algn="l">
                        <a:lnSpc>
                          <a:spcPct val="106000"/>
                        </a:lnSpc>
                        <a:spcAft>
                          <a:spcPts val="0"/>
                        </a:spcAft>
                      </a:pPr>
                      <a:r>
                        <a:rPr sz="1100" b="0">
                          <a:solidFill>
                            <a:srgbClr val="333333"/>
                          </a:solidFill>
                          <a:latin typeface="Courier New"/>
                        </a:rPr>
                        <a:t>    int32_t alt; // in cm</a:t>
                      </a:r>
                    </a:p>
                    <a:p>
                      <a:pPr algn="l">
                        <a:lnSpc>
                          <a:spcPct val="106000"/>
                        </a:lnSpc>
                        <a:spcAft>
                          <a:spcPts val="0"/>
                        </a:spcAft>
                      </a:pPr>
                      <a:r>
                        <a:rPr sz="1100" b="0">
                          <a:solidFill>
                            <a:srgbClr val="333333"/>
                          </a:solidFill>
                          <a:latin typeface="Courier New"/>
                        </a:rPr>
                        <a:t>    int32_t lat; // in 1E7 degrees</a:t>
                      </a:r>
                    </a:p>
                    <a:p>
                      <a:pPr algn="l">
                        <a:lnSpc>
                          <a:spcPct val="106000"/>
                        </a:lnSpc>
                        <a:spcAft>
                          <a:spcPts val="0"/>
                        </a:spcAft>
                      </a:pPr>
                      <a:r>
                        <a:rPr sz="1100" b="0">
                          <a:solidFill>
                            <a:srgbClr val="333333"/>
                          </a:solidFill>
                          <a:latin typeface="Courier New"/>
                        </a:rPr>
                        <a:t>    int32_t lng; // in 1E7 degrees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Courier New"/>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libraries/AP_Common/Location.cpp</a:t>
                      </a:r>
                      <a:r>
                        <a:rPr sz="1100" b="0">
                          <a:solidFill>
                            <a:srgbClr val="999999"/>
                          </a:solidFill>
                          <a:latin typeface="Courier New"/>
                        </a:rPr>
                        <a:t>  ·  </a:t>
                      </a:r>
                      <a:r>
                        <a:rPr sz="1100" b="0">
                          <a:solidFill>
                            <a:srgbClr val="999999"/>
                          </a:solidFill>
                          <a:latin typeface="Courier New"/>
                        </a:rPr>
                        <a:t>259-268</a:t>
                      </a:r>
                      <a:r>
                        <a:rPr sz="1100" b="0">
                          <a:solidFill>
                            <a:srgbClr val="999999"/>
                          </a:solidFill>
                          <a:latin typeface="Courier New"/>
                        </a:rPr>
                        <a:t>  ·  </a:t>
                      </a:r>
                      <a:r>
                        <a:rPr sz="1100" b="0">
                          <a:solidFill>
                            <a:srgbClr val="999999"/>
                          </a:solidFill>
                          <a:latin typeface="Courier New"/>
                        </a:rPr>
                        <a:t>Location::get_vector_from_origin_NEU_cm()</a:t>
                      </a:r>
                    </a:p>
                    <a:p>
                      <a:pPr algn="l">
                        <a:lnSpc>
                          <a:spcPct val="106000"/>
                        </a:lnSpc>
                        <a:spcAft>
                          <a:spcPts val="0"/>
                        </a:spcAft>
                      </a:pPr>
                      <a:r>
                        <a:rPr sz="1100" b="0">
                          <a:solidFill>
                            <a:srgbClr val="333333"/>
                          </a:solidFill>
                          <a:latin typeface="Courier New"/>
                        </a:rPr>
                        <a:t>bool Location::get_vector_from_origin_NEU_cm(T &amp;vec_neu) const</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 convert altitude</a:t>
                      </a:r>
                    </a:p>
                    <a:p>
                      <a:pPr algn="l">
                        <a:lnSpc>
                          <a:spcPct val="106000"/>
                        </a:lnSpc>
                        <a:spcAft>
                          <a:spcPts val="0"/>
                        </a:spcAft>
                      </a:pPr>
                      <a:r>
                        <a:rPr sz="1100" b="0">
                          <a:solidFill>
                            <a:srgbClr val="333333"/>
                          </a:solidFill>
                          <a:latin typeface="Courier New"/>
                        </a:rPr>
                        <a:t>    int32_t alt_above_origin_cm = 0;</a:t>
                      </a:r>
                    </a:p>
                    <a:p>
                      <a:pPr algn="l">
                        <a:lnSpc>
                          <a:spcPct val="106000"/>
                        </a:lnSpc>
                        <a:spcAft>
                          <a:spcPts val="0"/>
                        </a:spcAft>
                      </a:pPr>
                      <a:r>
                        <a:rPr sz="1100" b="0">
                          <a:solidFill>
                            <a:srgbClr val="333333"/>
                          </a:solidFill>
                          <a:latin typeface="Courier New"/>
                        </a:rPr>
                        <a:t>    if (!get_alt_cm(AltFrame::ABOVE_ORIGIN, alt_above_origin_cm)) {</a:t>
                      </a:r>
                    </a:p>
                    <a:p>
                      <a:pPr algn="l">
                        <a:lnSpc>
                          <a:spcPct val="106000"/>
                        </a:lnSpc>
                        <a:spcAft>
                          <a:spcPts val="0"/>
                        </a:spcAft>
                      </a:pPr>
                      <a:r>
                        <a:rPr sz="1100" b="0">
                          <a:solidFill>
                            <a:srgbClr val="333333"/>
                          </a:solidFill>
                          <a:latin typeface="Courier New"/>
                        </a:rPr>
                        <a:t>        return false;</a:t>
                      </a:r>
                    </a:p>
                    <a:p>
                      <a:pPr algn="l">
                        <a:lnSpc>
                          <a:spcPct val="106000"/>
                        </a:lnSpc>
                        <a:spcAft>
                          <a:spcPts val="0"/>
                        </a:spcAft>
                      </a:pPr>
                      <a:r>
                        <a:rPr sz="1100" b="0">
                          <a:solidFill>
                            <a:srgbClr val="333333"/>
                          </a:solidFill>
                          <a:latin typeface="Courier New"/>
                        </a:rPr>
                        <a:t>    }</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 convert lat, lon</a:t>
                      </a:r>
                    </a:p>
                    <a:p>
                      <a:pPr algn="l">
                        <a:lnSpc>
                          <a:spcPct val="106000"/>
                        </a:lnSpc>
                        <a:spcAft>
                          <a:spcPts val="0"/>
                        </a:spcAft>
                      </a:pPr>
                      <a:r>
                        <a:rPr sz="1100" b="0">
                          <a:solidFill>
                            <a:srgbClr val="333333"/>
                          </a:solidFill>
                          <a:latin typeface="Courier New"/>
                        </a:rPr>
                        <a:t>    if (!get_vector_xy_from_origin_NE_cm(vec_neu.xy()))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20–21</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428077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Courier New"/>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libraries/AP_InertialNav/AP_InertialNav.cpp</a:t>
                      </a:r>
                      <a:r>
                        <a:rPr sz="1100" b="0">
                          <a:solidFill>
                            <a:srgbClr val="999999"/>
                          </a:solidFill>
                          <a:latin typeface="Courier New"/>
                        </a:rPr>
                        <a:t>  ·  </a:t>
                      </a:r>
                      <a:r>
                        <a:rPr sz="1100" b="0">
                          <a:solidFill>
                            <a:srgbClr val="999999"/>
                          </a:solidFill>
                          <a:latin typeface="Courier New"/>
                        </a:rPr>
                        <a:t>14-23</a:t>
                      </a:r>
                      <a:r>
                        <a:rPr sz="1100" b="0">
                          <a:solidFill>
                            <a:srgbClr val="999999"/>
                          </a:solidFill>
                          <a:latin typeface="Courier New"/>
                        </a:rPr>
                        <a:t>  ·  </a:t>
                      </a:r>
                      <a:r>
                        <a:rPr sz="1100" b="0">
                          <a:solidFill>
                            <a:srgbClr val="999999"/>
                          </a:solidFill>
                          <a:latin typeface="Courier New"/>
                        </a:rPr>
                        <a:t>AP_InertialNav::update()</a:t>
                      </a:r>
                    </a:p>
                    <a:p>
                      <a:pPr algn="l">
                        <a:lnSpc>
                          <a:spcPct val="106000"/>
                        </a:lnSpc>
                        <a:spcAft>
                          <a:spcPts val="0"/>
                        </a:spcAft>
                      </a:pPr>
                      <a:r>
                        <a:rPr sz="1100" b="0">
                          <a:solidFill>
                            <a:srgbClr val="333333"/>
                          </a:solidFill>
                          <a:latin typeface="Courier New"/>
                        </a:rPr>
                        <a:t>void AP_InertialNav::update(bool high_vibes)</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 get the NE position relative to the local earth frame origin</a:t>
                      </a:r>
                    </a:p>
                    <a:p>
                      <a:pPr algn="l">
                        <a:lnSpc>
                          <a:spcPct val="106000"/>
                        </a:lnSpc>
                        <a:spcAft>
                          <a:spcPts val="0"/>
                        </a:spcAft>
                      </a:pPr>
                      <a:r>
                        <a:rPr sz="1100" b="0">
                          <a:solidFill>
                            <a:srgbClr val="333333"/>
                          </a:solidFill>
                          <a:latin typeface="Courier New"/>
                        </a:rPr>
                        <a:t>    Vector2f posNE;</a:t>
                      </a:r>
                    </a:p>
                    <a:p>
                      <a:pPr algn="l">
                        <a:lnSpc>
                          <a:spcPct val="106000"/>
                        </a:lnSpc>
                        <a:spcAft>
                          <a:spcPts val="0"/>
                        </a:spcAft>
                      </a:pPr>
                      <a:r>
                        <a:rPr sz="1100" b="0">
                          <a:solidFill>
                            <a:srgbClr val="333333"/>
                          </a:solidFill>
                          <a:latin typeface="Courier New"/>
                        </a:rPr>
                        <a:t>    if (_ahrs_ekf.get_relative_position_NE_origin_float(posNE)) {</a:t>
                      </a:r>
                    </a:p>
                    <a:p>
                      <a:pPr algn="l">
                        <a:lnSpc>
                          <a:spcPct val="106000"/>
                        </a:lnSpc>
                        <a:spcAft>
                          <a:spcPts val="0"/>
                        </a:spcAft>
                      </a:pPr>
                      <a:r>
                        <a:rPr sz="1100" b="0">
                          <a:solidFill>
                            <a:srgbClr val="333333"/>
                          </a:solidFill>
                          <a:latin typeface="Courier New"/>
                        </a:rPr>
                        <a:t>        _relpos_cm.x = posNE.x * 100; // convert from m to cm</a:t>
                      </a:r>
                    </a:p>
                    <a:p>
                      <a:pPr algn="l">
                        <a:lnSpc>
                          <a:spcPct val="106000"/>
                        </a:lnSpc>
                        <a:spcAft>
                          <a:spcPts val="0"/>
                        </a:spcAft>
                      </a:pPr>
                      <a:r>
                        <a:rPr sz="1100" b="0">
                          <a:solidFill>
                            <a:srgbClr val="333333"/>
                          </a:solidFill>
                          <a:latin typeface="Courier New"/>
                        </a:rPr>
                        <a:t>        _relpos_cm.y = posNE.y * 100; // convert from m to cm</a:t>
                      </a:r>
                    </a:p>
                    <a:p>
                      <a:pPr algn="l">
                        <a:lnSpc>
                          <a:spcPct val="106000"/>
                        </a:lnSpc>
                        <a:spcAft>
                          <a:spcPts val="0"/>
                        </a:spcAft>
                      </a:pPr>
                      <a:r>
                        <a:rPr sz="1100" b="0">
                          <a:solidFill>
                            <a:srgbClr val="333333"/>
                          </a:solidFill>
                          <a:latin typeface="Courier New"/>
                        </a:rPr>
                        <a:t>    }</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 get the D position relative to the local earth frame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Courier New"/>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libraries/AC_AttitudeControl/AC_PosControl.cpp</a:t>
                      </a:r>
                      <a:r>
                        <a:rPr sz="1100" b="0">
                          <a:solidFill>
                            <a:srgbClr val="999999"/>
                          </a:solidFill>
                          <a:latin typeface="Courier New"/>
                        </a:rPr>
                        <a:t>  ·  </a:t>
                      </a:r>
                      <a:r>
                        <a:rPr sz="1100" b="0">
                          <a:solidFill>
                            <a:srgbClr val="999999"/>
                          </a:solidFill>
                          <a:latin typeface="Courier New"/>
                        </a:rPr>
                        <a:t>363-372</a:t>
                      </a:r>
                      <a:r>
                        <a:rPr sz="1100" b="0">
                          <a:solidFill>
                            <a:srgbClr val="999999"/>
                          </a:solidFill>
                          <a:latin typeface="Courier New"/>
                        </a:rPr>
                        <a:t>  ·  </a:t>
                      </a:r>
                      <a:r>
                        <a:rPr sz="1100" b="0">
                          <a:solidFill>
                            <a:srgbClr val="999999"/>
                          </a:solidFill>
                          <a:latin typeface="Courier New"/>
                        </a:rPr>
                        <a:t>AC_PosControl::input_pos_NEU_cm()</a:t>
                      </a:r>
                    </a:p>
                    <a:p>
                      <a:pPr algn="l">
                        <a:lnSpc>
                          <a:spcPct val="106000"/>
                        </a:lnSpc>
                        <a:spcAft>
                          <a:spcPts val="0"/>
                        </a:spcAft>
                      </a:pPr>
                      <a:r>
                        <a:rPr sz="1100" b="0">
                          <a:solidFill>
                            <a:srgbClr val="333333"/>
                          </a:solidFill>
                          <a:latin typeface="Courier New"/>
                        </a:rPr>
                        <a:t>void AC_PosControl::input_pos_NEU_cm(const Vector3p&amp; pos_neu_cm, float pos_terrain_target_u_cm, float terrain_buffer_cm)</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input_pos_NEU_m(pos_neu_cm * 0.01, pos_terrain_target_u_cm * 0.01, terrain_buffer_cm * 0.01);</a:t>
                      </a:r>
                    </a:p>
                    <a:p>
                      <a:pPr algn="l">
                        <a:lnSpc>
                          <a:spcPct val="106000"/>
                        </a:lnSpc>
                        <a:spcAft>
                          <a:spcPts val="0"/>
                        </a:spcAft>
                      </a:pPr>
                      <a:r>
                        <a:rPr sz="1100" b="0">
                          <a:solidFill>
                            <a:srgbClr val="333333"/>
                          </a:solidFill>
                          <a:latin typeface="Courier New"/>
                        </a:rPr>
                        <a:t>}</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Sets a new NEU position target in meters and computes a jerk-limited trajectory.</a:t>
                      </a:r>
                    </a:p>
                    <a:p>
                      <a:pPr algn="l">
                        <a:lnSpc>
                          <a:spcPct val="106000"/>
                        </a:lnSpc>
                        <a:spcAft>
                          <a:spcPts val="0"/>
                        </a:spcAft>
                      </a:pPr>
                      <a:r>
                        <a:rPr sz="1100" b="0">
                          <a:solidFill>
                            <a:srgbClr val="333333"/>
                          </a:solidFill>
                          <a:latin typeface="Courier New"/>
                        </a:rPr>
                        <a:t>// Updates internal acceleration commands using a smooth kinematic path constrained</a:t>
                      </a:r>
                    </a:p>
                    <a:p>
                      <a:pPr algn="l">
                        <a:lnSpc>
                          <a:spcPct val="106000"/>
                        </a:lnSpc>
                        <a:spcAft>
                          <a:spcPts val="0"/>
                        </a:spcAft>
                      </a:pPr>
                      <a:r>
                        <a:rPr sz="1100" b="0">
                          <a:solidFill>
                            <a:srgbClr val="333333"/>
                          </a:solidFill>
                          <a:latin typeface="Courier New"/>
                        </a:rPr>
                        <a:t>// by configured acceleration and jerk limits. Terrain margin is used to constrain</a:t>
                      </a:r>
                    </a:p>
                    <a:p>
                      <a:pPr algn="l">
                        <a:lnSpc>
                          <a:spcPct val="106000"/>
                        </a:lnSpc>
                        <a:spcAft>
                          <a:spcPts val="0"/>
                        </a:spcAft>
                      </a:pPr>
                      <a:r>
                        <a:rPr sz="1100" b="0">
                          <a:solidFill>
                            <a:srgbClr val="333333"/>
                          </a:solidFill>
                          <a:latin typeface="Courier New"/>
                        </a:rPr>
                        <a:t>// horizontal velocity to avoid vertical buffer violation.</a:t>
                      </a:r>
                    </a:p>
                    <a:p>
                      <a:pPr algn="l">
                        <a:lnSpc>
                          <a:spcPct val="106000"/>
                        </a:lnSpc>
                        <a:spcAft>
                          <a:spcPts val="0"/>
                        </a:spcAft>
                      </a:pPr>
                      <a:r>
                        <a:rPr sz="1100" b="0">
                          <a:solidFill>
                            <a:srgbClr val="333333"/>
                          </a:solidFill>
                          <a:latin typeface="Courier New"/>
                        </a:rPr>
                        <a:t>void AC_PosControl::input_pos_NEU_m(const Vector3p&amp; pos_neu_m, float pos_terrain_target_u_m, float terrain_buffer_m)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22–23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428077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Courier New"/>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libraries/APM_Control/AR_PosControl.cpp</a:t>
                      </a:r>
                      <a:r>
                        <a:rPr sz="1100" b="0">
                          <a:solidFill>
                            <a:srgbClr val="999999"/>
                          </a:solidFill>
                          <a:latin typeface="Courier New"/>
                        </a:rPr>
                        <a:t>  ·  </a:t>
                      </a:r>
                      <a:r>
                        <a:rPr sz="1100" b="0">
                          <a:solidFill>
                            <a:srgbClr val="999999"/>
                          </a:solidFill>
                          <a:latin typeface="Courier New"/>
                        </a:rPr>
                        <a:t>114-123</a:t>
                      </a:r>
                      <a:r>
                        <a:rPr sz="1100" b="0">
                          <a:solidFill>
                            <a:srgbClr val="999999"/>
                          </a:solidFill>
                          <a:latin typeface="Courier New"/>
                        </a:rPr>
                        <a:t>  ·  </a:t>
                      </a:r>
                      <a:r>
                        <a:rPr sz="1100" b="0">
                          <a:solidFill>
                            <a:srgbClr val="999999"/>
                          </a:solidFill>
                          <a:latin typeface="Courier New"/>
                        </a:rPr>
                        <a:t>AR_PosControl::update()</a:t>
                      </a:r>
                    </a:p>
                    <a:p>
                      <a:pPr algn="l">
                        <a:lnSpc>
                          <a:spcPct val="106000"/>
                        </a:lnSpc>
                        <a:spcAft>
                          <a:spcPts val="0"/>
                        </a:spcAft>
                      </a:pPr>
                      <a:r>
                        <a:rPr sz="1100" b="0">
                          <a:solidFill>
                            <a:srgbClr val="333333"/>
                          </a:solidFill>
                          <a:latin typeface="Courier New"/>
                        </a:rPr>
                        <a:t>void AR_PosControl::update(float dt)</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 exit immediately if no current location, destination or disarmed</a:t>
                      </a:r>
                    </a:p>
                    <a:p>
                      <a:pPr algn="l">
                        <a:lnSpc>
                          <a:spcPct val="106000"/>
                        </a:lnSpc>
                        <a:spcAft>
                          <a:spcPts val="0"/>
                        </a:spcAft>
                      </a:pPr>
                      <a:r>
                        <a:rPr sz="1100" b="0">
                          <a:solidFill>
                            <a:srgbClr val="333333"/>
                          </a:solidFill>
                          <a:latin typeface="Courier New"/>
                        </a:rPr>
                        <a:t>    Vector3p curr_pos_NED_m;</a:t>
                      </a:r>
                    </a:p>
                    <a:p>
                      <a:pPr algn="l">
                        <a:lnSpc>
                          <a:spcPct val="106000"/>
                        </a:lnSpc>
                        <a:spcAft>
                          <a:spcPts val="0"/>
                        </a:spcAft>
                      </a:pPr>
                      <a:r>
                        <a:rPr sz="1100" b="0">
                          <a:solidFill>
                            <a:srgbClr val="333333"/>
                          </a:solidFill>
                          <a:latin typeface="Courier New"/>
                        </a:rPr>
                        <a:t>    Vector3f curr_vel_NED;</a:t>
                      </a:r>
                    </a:p>
                    <a:p>
                      <a:pPr algn="l">
                        <a:lnSpc>
                          <a:spcPct val="106000"/>
                        </a:lnSpc>
                        <a:spcAft>
                          <a:spcPts val="0"/>
                        </a:spcAft>
                      </a:pPr>
                      <a:r>
                        <a:rPr sz="1100" b="0">
                          <a:solidFill>
                            <a:srgbClr val="333333"/>
                          </a:solidFill>
                          <a:latin typeface="Courier New"/>
                        </a:rPr>
                        <a:t>    if (!hal.util-&gt;get_soft_armed() || !AP::ahrs().get_relative_position_NED_origin(curr_pos_NED_m) ||</a:t>
                      </a:r>
                    </a:p>
                    <a:p>
                      <a:pPr algn="l">
                        <a:lnSpc>
                          <a:spcPct val="106000"/>
                        </a:lnSpc>
                        <a:spcAft>
                          <a:spcPts val="0"/>
                        </a:spcAft>
                      </a:pPr>
                      <a:r>
                        <a:rPr sz="1100" b="0">
                          <a:solidFill>
                            <a:srgbClr val="333333"/>
                          </a:solidFill>
                          <a:latin typeface="Courier New"/>
                        </a:rPr>
                        <a:t>        !AP::ahrs().get_velocity_NED(curr_vel_NED)) {</a:t>
                      </a:r>
                    </a:p>
                    <a:p>
                      <a:pPr algn="l">
                        <a:lnSpc>
                          <a:spcPct val="106000"/>
                        </a:lnSpc>
                        <a:spcAft>
                          <a:spcPts val="0"/>
                        </a:spcAft>
                      </a:pPr>
                      <a:r>
                        <a:rPr sz="1100" b="0">
                          <a:solidFill>
                            <a:srgbClr val="333333"/>
                          </a:solidFill>
                          <a:latin typeface="Courier New"/>
                        </a:rPr>
                        <a:t>        _desired_speed = _atc.get_desired_speed_accel_limited(0.0f, dt);</a:t>
                      </a:r>
                    </a:p>
                    <a:p>
                      <a:pPr algn="l">
                        <a:lnSpc>
                          <a:spcPct val="106000"/>
                        </a:lnSpc>
                        <a:spcAft>
                          <a:spcPts val="0"/>
                        </a:spcAft>
                      </a:pPr>
                      <a:r>
                        <a:rPr sz="1100" b="0">
                          <a:solidFill>
                            <a:srgbClr val="333333"/>
                          </a:solidFill>
                          <a:latin typeface="Courier New"/>
                        </a:rPr>
                        <a:t>        _desired_lat_accel = 0.0f;</a:t>
                      </a:r>
                    </a:p>
                    <a:p>
                      <a:pPr algn="l">
                        <a:lnSpc>
                          <a:spcPct val="106000"/>
                        </a:lnSpc>
                        <a:spcAft>
                          <a:spcPts val="0"/>
                        </a:spcAft>
                      </a:pPr>
                      <a:r>
                        <a:rPr sz="1100" b="0">
                          <a:solidFill>
                            <a:srgbClr val="333333"/>
                          </a:solidFill>
                          <a:latin typeface="Courier New"/>
                        </a:rPr>
                        <a:t>        _desired_turn_rate_rads = 0.0f;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Courier New"/>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libraries/AP_Beacon/AP_Beacon.cpp</a:t>
                      </a:r>
                      <a:r>
                        <a:rPr sz="1100" b="0">
                          <a:solidFill>
                            <a:srgbClr val="999999"/>
                          </a:solidFill>
                          <a:latin typeface="Courier New"/>
                        </a:rPr>
                        <a:t>  ·  </a:t>
                      </a:r>
                      <a:r>
                        <a:rPr sz="1100" b="0">
                          <a:solidFill>
                            <a:srgbClr val="999999"/>
                          </a:solidFill>
                          <a:latin typeface="Courier New"/>
                        </a:rPr>
                        <a:t>175-184</a:t>
                      </a:r>
                      <a:r>
                        <a:rPr sz="1100" b="0">
                          <a:solidFill>
                            <a:srgbClr val="999999"/>
                          </a:solidFill>
                          <a:latin typeface="Courier New"/>
                        </a:rPr>
                        <a:t>  ·  </a:t>
                      </a:r>
                      <a:r>
                        <a:rPr sz="1100" b="0">
                          <a:solidFill>
                            <a:srgbClr val="999999"/>
                          </a:solidFill>
                          <a:latin typeface="Courier New"/>
                        </a:rPr>
                        <a:t>AP_Beacon::get_vehicle_position_ned()</a:t>
                      </a:r>
                    </a:p>
                    <a:p>
                      <a:pPr algn="l">
                        <a:lnSpc>
                          <a:spcPct val="106000"/>
                        </a:lnSpc>
                        <a:spcAft>
                          <a:spcPts val="0"/>
                        </a:spcAft>
                      </a:pPr>
                      <a:r>
                        <a:rPr sz="1100" b="0">
                          <a:solidFill>
                            <a:srgbClr val="333333"/>
                          </a:solidFill>
                          <a:latin typeface="Courier New"/>
                        </a:rPr>
                        <a:t>bool AP_Beacon::get_vehicle_position_ned(Vector3f &amp;position, float&amp; accuracy_estimate) const</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if (!device_ready()) {</a:t>
                      </a:r>
                    </a:p>
                    <a:p>
                      <a:pPr algn="l">
                        <a:lnSpc>
                          <a:spcPct val="106000"/>
                        </a:lnSpc>
                        <a:spcAft>
                          <a:spcPts val="0"/>
                        </a:spcAft>
                      </a:pPr>
                      <a:r>
                        <a:rPr sz="1100" b="0">
                          <a:solidFill>
                            <a:srgbClr val="333333"/>
                          </a:solidFill>
                          <a:latin typeface="Courier New"/>
                        </a:rPr>
                        <a:t>        return false;</a:t>
                      </a:r>
                    </a:p>
                    <a:p>
                      <a:pPr algn="l">
                        <a:lnSpc>
                          <a:spcPct val="106000"/>
                        </a:lnSpc>
                        <a:spcAft>
                          <a:spcPts val="0"/>
                        </a:spcAft>
                      </a:pPr>
                      <a:r>
                        <a:rPr sz="1100" b="0">
                          <a:solidFill>
                            <a:srgbClr val="333333"/>
                          </a:solidFill>
                          <a:latin typeface="Courier New"/>
                        </a:rPr>
                        <a:t>    }</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 check for timeout</a:t>
                      </a:r>
                    </a:p>
                    <a:p>
                      <a:pPr algn="l">
                        <a:lnSpc>
                          <a:spcPct val="106000"/>
                        </a:lnSpc>
                        <a:spcAft>
                          <a:spcPts val="0"/>
                        </a:spcAft>
                      </a:pPr>
                      <a:r>
                        <a:rPr sz="1100" b="0">
                          <a:solidFill>
                            <a:srgbClr val="333333"/>
                          </a:solidFill>
                          <a:latin typeface="Courier New"/>
                        </a:rPr>
                        <a:t>    if (AP_HAL::millis() - veh_pos_update_ms &gt; AP_BEACON_TIMEOUT_MS) {</a:t>
                      </a:r>
                    </a:p>
                    <a:p>
                      <a:pPr algn="l">
                        <a:lnSpc>
                          <a:spcPct val="106000"/>
                        </a:lnSpc>
                        <a:spcAft>
                          <a:spcPts val="0"/>
                        </a:spcAft>
                      </a:pPr>
                      <a:r>
                        <a:rPr sz="1100" b="0">
                          <a:solidFill>
                            <a:srgbClr val="333333"/>
                          </a:solidFill>
                          <a:latin typeface="Courier New"/>
                        </a:rPr>
                        <a:t>        return false;</a:t>
                      </a:r>
                    </a:p>
                    <a:p>
                      <a:pPr algn="l">
                        <a:lnSpc>
                          <a:spcPct val="106000"/>
                        </a:lnSpc>
                        <a:spcAft>
                          <a:spcPts val="0"/>
                        </a:spcAft>
                      </a:pPr>
                      <a:r>
                        <a:rPr sz="1100" b="0">
                          <a:solidFill>
                            <a:srgbClr val="333333"/>
                          </a:solidFill>
                          <a:latin typeface="Courier New"/>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24–25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2438194"/>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197975">
                <a:tc>
                  <a:txBody>
                    <a:bodyPr wrap="square">
                      <a:noAutofit/>
                    </a:bodyPr>
                    <a:lstStyle/>
                    <a:p>
                      <a:pPr algn="r">
                        <a:lnSpc>
                          <a:spcPct val="106000"/>
                        </a:lnSpc>
                        <a:spcAft>
                          <a:spcPts val="0"/>
                        </a:spcAft>
                      </a:pPr>
                      <a:r>
                        <a:rPr sz="1100" b="1">
                          <a:solidFill>
                            <a:srgbClr val="333333"/>
                          </a:solidFill>
                          <a:latin typeface="Courier New"/>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libraries/AP_VisualOdom/AP_VisualOdom.cpp</a:t>
                      </a:r>
                      <a:r>
                        <a:rPr sz="1100" b="0">
                          <a:solidFill>
                            <a:srgbClr val="999999"/>
                          </a:solidFill>
                          <a:latin typeface="Courier New"/>
                        </a:rPr>
                        <a:t>  ·  </a:t>
                      </a:r>
                      <a:r>
                        <a:rPr sz="1100" b="0">
                          <a:solidFill>
                            <a:srgbClr val="999999"/>
                          </a:solidFill>
                          <a:latin typeface="Courier New"/>
                        </a:rPr>
                        <a:t>201-210</a:t>
                      </a:r>
                      <a:r>
                        <a:rPr sz="1100" b="0">
                          <a:solidFill>
                            <a:srgbClr val="999999"/>
                          </a:solidFill>
                          <a:latin typeface="Courier New"/>
                        </a:rPr>
                        <a:t>  ·  </a:t>
                      </a:r>
                      <a:r>
                        <a:rPr sz="1100" b="0">
                          <a:solidFill>
                            <a:srgbClr val="999999"/>
                          </a:solidFill>
                          <a:latin typeface="Courier New"/>
                        </a:rPr>
                        <a:t>AP_VisualOdom::handle_pose_estimate()</a:t>
                      </a:r>
                    </a:p>
                    <a:p>
                      <a:pPr algn="l">
                        <a:lnSpc>
                          <a:spcPct val="106000"/>
                        </a:lnSpc>
                        <a:spcAft>
                          <a:spcPts val="0"/>
                        </a:spcAft>
                      </a:pPr>
                      <a:r>
                        <a:rPr sz="1100" b="0">
                          <a:solidFill>
                            <a:srgbClr val="333333"/>
                          </a:solidFill>
                          <a:latin typeface="Courier New"/>
                        </a:rPr>
                        <a:t>void AP_VisualOdom::handle_pose_estimate(uint64_t remote_time_us, uint32_t time_ms, float x, float y, float z, float roll, float pitch, float yaw, float posErr, float angErr, uint8_t reset_counter, int8_t quality)</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 exit immediately if not enabled</a:t>
                      </a:r>
                    </a:p>
                    <a:p>
                      <a:pPr algn="l">
                        <a:lnSpc>
                          <a:spcPct val="106000"/>
                        </a:lnSpc>
                        <a:spcAft>
                          <a:spcPts val="0"/>
                        </a:spcAft>
                      </a:pPr>
                      <a:r>
                        <a:rPr sz="1100" b="0">
                          <a:solidFill>
                            <a:srgbClr val="333333"/>
                          </a:solidFill>
                          <a:latin typeface="Courier New"/>
                        </a:rPr>
                        <a:t>    if (!enabled()) {</a:t>
                      </a:r>
                    </a:p>
                    <a:p>
                      <a:pPr algn="l">
                        <a:lnSpc>
                          <a:spcPct val="106000"/>
                        </a:lnSpc>
                        <a:spcAft>
                          <a:spcPts val="0"/>
                        </a:spcAft>
                      </a:pPr>
                      <a:r>
                        <a:rPr sz="1100" b="0">
                          <a:solidFill>
                            <a:srgbClr val="333333"/>
                          </a:solidFill>
                          <a:latin typeface="Courier New"/>
                        </a:rPr>
                        <a:t>        return;</a:t>
                      </a:r>
                    </a:p>
                    <a:p>
                      <a:pPr algn="l">
                        <a:lnSpc>
                          <a:spcPct val="106000"/>
                        </a:lnSpc>
                        <a:spcAft>
                          <a:spcPts val="0"/>
                        </a:spcAft>
                      </a:pPr>
                      <a:r>
                        <a:rPr sz="1100" b="0">
                          <a:solidFill>
                            <a:srgbClr val="333333"/>
                          </a:solidFill>
                          <a:latin typeface="Courier New"/>
                        </a:rPr>
                        <a:t>    }</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 call backend</a:t>
                      </a:r>
                    </a:p>
                    <a:p>
                      <a:pPr algn="l">
                        <a:lnSpc>
                          <a:spcPct val="106000"/>
                        </a:lnSpc>
                        <a:spcAft>
                          <a:spcPts val="0"/>
                        </a:spcAft>
                      </a:pPr>
                      <a:r>
                        <a:rPr sz="1100" b="0">
                          <a:solidFill>
                            <a:srgbClr val="333333"/>
                          </a:solidFill>
                          <a:latin typeface="Courier New"/>
                        </a:rPr>
                        <a:t>    if (_driver != nullptr) {</a:t>
                      </a:r>
                    </a:p>
                    <a:p>
                      <a:pPr algn="l">
                        <a:lnSpc>
                          <a:spcPct val="106000"/>
                        </a:lnSpc>
                        <a:spcAft>
                          <a:spcPts val="0"/>
                        </a:spcAft>
                      </a:pPr>
                      <a:r>
                        <a:rPr sz="1100" b="0">
                          <a:solidFill>
                            <a:srgbClr val="333333"/>
                          </a:solidFill>
                          <a:latin typeface="Courier New"/>
                        </a:rPr>
                        <a:t>        // convert attitude to quaternion and call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dependency map</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1a: Layer 1 — direct callers / callees with typed dependency</a:t>
            </a:r>
          </a:p>
        </p:txBody>
      </p:sp>
      <p:graphicFrame>
        <p:nvGraphicFramePr>
          <p:cNvPr id="7" name="Table 6"/>
          <p:cNvGraphicFramePr>
            <a:graphicFrameLocks noGrp="1"/>
          </p:cNvGraphicFramePr>
          <p:nvPr/>
        </p:nvGraphicFramePr>
        <p:xfrm>
          <a:off x="566928" y="1906943"/>
          <a:ext cx="11058144" cy="4178300"/>
        </p:xfrm>
        <a:graphic>
          <a:graphicData uri="http://schemas.openxmlformats.org/drawingml/2006/table">
            <a:tbl>
              <a:tblPr>
                <a:tableStyleId>{5C22544A-7EE6-4342-B048-85BDC9FD1C3A}</a:tableStyleId>
              </a:tblPr>
              <a:tblGrid>
                <a:gridCol w="347345"/>
                <a:gridCol w="3061335"/>
                <a:gridCol w="3095625"/>
                <a:gridCol w="3259455"/>
                <a:gridCol w="1294130"/>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r">
                        <a:lnSpc>
                          <a:spcPct val="106000"/>
                        </a:lnSpc>
                        <a:spcAft>
                          <a:spcPts val="0"/>
                        </a:spcAft>
                      </a:pPr>
                      <a:r>
                        <a:rPr sz="1100" b="1">
                          <a:solidFill>
                            <a:srgbClr val="333333"/>
                          </a:solidFill>
                          <a:latin typeface="Courier New"/>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AP_GPS_UBLOX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AP_GPS_NMEA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Courier New"/>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AP_GPS_SBF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AP_GPS_NOVA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Courier New"/>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AP_GPS_SBP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AP_GPS_SBP2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Courier New"/>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AP_GPS_SIRF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AP_GPS_ERB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AP_GPS_MAV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dependency map (continued)</a:t>
            </a:r>
          </a:p>
        </p:txBody>
      </p:sp>
      <p:graphicFrame>
        <p:nvGraphicFramePr>
          <p:cNvPr id="6" name="Table 5"/>
          <p:cNvGraphicFramePr>
            <a:graphicFrameLocks noGrp="1"/>
          </p:cNvGraphicFramePr>
          <p:nvPr/>
        </p:nvGraphicFramePr>
        <p:xfrm>
          <a:off x="566928" y="1591056"/>
          <a:ext cx="11058144" cy="4178300"/>
        </p:xfrm>
        <a:graphic>
          <a:graphicData uri="http://schemas.openxmlformats.org/drawingml/2006/table">
            <a:tbl>
              <a:tblPr>
                <a:tableStyleId>{5C22544A-7EE6-4342-B048-85BDC9FD1C3A}</a:tableStyleId>
              </a:tblPr>
              <a:tblGrid>
                <a:gridCol w="347345"/>
                <a:gridCol w="3061335"/>
                <a:gridCol w="3095625"/>
                <a:gridCol w="3259455"/>
                <a:gridCol w="1294130"/>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r">
                        <a:lnSpc>
                          <a:spcPct val="106000"/>
                        </a:lnSpc>
                        <a:spcAft>
                          <a:spcPts val="0"/>
                        </a:spcAft>
                      </a:pPr>
                      <a:r>
                        <a:rPr sz="1100" b="1">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AP_GPS_MSP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AP_GPS_GSOF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Courier New"/>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AP_GPS_DroneCAN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AP_GPS_ExternalAHRS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Courier New"/>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AP_GPS_SITL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AP_GPS_Backend::fill_3d_velocity()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cosf/sinf on state.ground_course; writes state.velocity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All receiver backends (UBLOX, NMEA, SIRF,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Courier New"/>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returns state[instance].location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NavEKF3_Measurements::readGpsData(); AP_AHRS; AC_WPNav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returns state[instance].velocity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NavEKF3_Measurements::readGpsData() (PosVel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Courier New"/>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AP_GPS::GPS_State (struct)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(data struct — no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All GPS backends (write); frontend accessors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10–18</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dependency map (continued)</a:t>
            </a:r>
          </a:p>
        </p:txBody>
      </p:sp>
      <p:graphicFrame>
        <p:nvGraphicFramePr>
          <p:cNvPr id="6" name="Table 5"/>
          <p:cNvGraphicFramePr>
            <a:graphicFrameLocks noGrp="1"/>
          </p:cNvGraphicFramePr>
          <p:nvPr/>
        </p:nvGraphicFramePr>
        <p:xfrm>
          <a:off x="566928" y="1591056"/>
          <a:ext cx="11058144" cy="3938270"/>
        </p:xfrm>
        <a:graphic>
          <a:graphicData uri="http://schemas.openxmlformats.org/drawingml/2006/table">
            <a:tbl>
              <a:tblPr>
                <a:tableStyleId>{5C22544A-7EE6-4342-B048-85BDC9FD1C3A}</a:tableStyleId>
              </a:tblPr>
              <a:tblGrid>
                <a:gridCol w="347345"/>
                <a:gridCol w="3061335"/>
                <a:gridCol w="3095625"/>
                <a:gridCol w="3259455"/>
                <a:gridCol w="1294130"/>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r">
                        <a:lnSpc>
                          <a:spcPct val="106000"/>
                        </a:lnSpc>
                        <a:spcAft>
                          <a:spcPts val="0"/>
                        </a:spcAft>
                      </a:pPr>
                      <a:r>
                        <a:rPr sz="1100" b="1">
                          <a:solidFill>
                            <a:srgbClr val="333333"/>
                          </a:solidFill>
                          <a:latin typeface="Courier New"/>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AP_GPS_Blended::_calc_weights()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gps.state[].status; time deltas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AP_GPS_Blended::calc_weights()/update (blended primary)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Courier New"/>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class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get_alt_cm(); get_vector_xy_from_origin_NE_cm()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GPS_State; AP_AHRS; AC_WPNav; AP_Mission (ubiquitous)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Location::get_vector_from_origin_NEU_cm()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get_alt_cm(); get_vector_xy_from_origin_NE_cm()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AC_WPNav::get_vector_NEU_cm()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r">
                        <a:lnSpc>
                          <a:spcPct val="106000"/>
                        </a:lnSpc>
                        <a:spcAft>
                          <a:spcPts val="0"/>
                        </a:spcAft>
                      </a:pPr>
                      <a:r>
                        <a:rPr sz="1100" b="1">
                          <a:solidFill>
                            <a:srgbClr val="333333"/>
                          </a:solidFill>
                          <a:latin typeface="Courier New"/>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AP_InertialNav::update()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_ahrs_ekf.get_relative_position_NE_origin_float()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Copter::read_inertia()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030">
                <a:tc>
                  <a:txBody>
                    <a:bodyPr wrap="square">
                      <a:noAutofit/>
                    </a:bodyPr>
                    <a:lstStyle/>
                    <a:p>
                      <a:pPr algn="r">
                        <a:lnSpc>
                          <a:spcPct val="106000"/>
                        </a:lnSpc>
                        <a:spcAft>
                          <a:spcPts val="0"/>
                        </a:spcAft>
                      </a:pPr>
                      <a:r>
                        <a:rPr sz="1100" b="1">
                          <a:solidFill>
                            <a:srgbClr val="333333"/>
                          </a:solidFill>
                          <a:latin typeface="Courier New"/>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AC_PosControl::input_pos_NEU_cm()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input_pos_NEU_m()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ArduCopter mode_auto.cpp / mode.cpp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r">
                        <a:lnSpc>
                          <a:spcPct val="106000"/>
                        </a:lnSpc>
                        <a:spcAft>
                          <a:spcPts val="0"/>
                        </a:spcAft>
                      </a:pPr>
                      <a:r>
                        <a:rPr sz="1100" b="1">
                          <a:solidFill>
                            <a:srgbClr val="333333"/>
                          </a:solidFill>
                          <a:latin typeface="Courier New"/>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AR_PosControl::update()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AP::ahrs().get_relative_position_NED_origin(); 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Rover mode controllers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AP_Beacon::get_vehicle_position_ned()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device_ready(); AP_HAL::millis()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NavEKF3 range-beacon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Courier New"/>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AP_VisualOdom::handle_pose_estimate()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_driver backend handle_pose_estimate()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GCS / AP_ExternalAHRS pose handlers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19–26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a:t>
            </a: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exactly as the audit records it, one paragraph per line and nothing abbreviated. The audit keeps Layer 1 lines flush left; the row’s main-table snippet keeps the source’s own indentation.</a:t>
            </a:r>
          </a:p>
        </p:txBody>
      </p:sp>
      <p:graphicFrame>
        <p:nvGraphicFramePr>
          <p:cNvPr id="7" name="Table 6"/>
          <p:cNvGraphicFramePr>
            <a:graphicFrameLocks noGrp="1"/>
          </p:cNvGraphicFramePr>
          <p:nvPr/>
        </p:nvGraphicFramePr>
        <p:xfrm>
          <a:off x="566928" y="2228202"/>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Courier New"/>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AP_GPS_UBLOX backend</a:t>
                      </a:r>
                      <a:r>
                        <a:rPr sz="1100" b="0">
                          <a:solidFill>
                            <a:srgbClr val="999999"/>
                          </a:solidFill>
                          <a:latin typeface="Courier New"/>
                        </a:rPr>
                        <a:t>  ·  </a:t>
                      </a:r>
                      <a:r>
                        <a:rPr sz="1100" b="0">
                          <a:solidFill>
                            <a:srgbClr val="999999"/>
                          </a:solidFill>
                          <a:latin typeface="Courier New"/>
                        </a:rPr>
                        <a:t>Inheritance/Interface</a:t>
                      </a:r>
                    </a:p>
                    <a:p>
                      <a:pPr algn="l">
                        <a:lnSpc>
                          <a:spcPct val="106000"/>
                        </a:lnSpc>
                        <a:spcAft>
                          <a:spcPts val="0"/>
                        </a:spcAft>
                      </a:pPr>
                      <a:r>
                        <a:rPr sz="1100" b="0">
                          <a:solidFill>
                            <a:srgbClr val="333333"/>
                          </a:solidFill>
                          <a:latin typeface="Courier New"/>
                        </a:rPr>
                        <a:t>_last_pos_time = _buffer.posllh.itow;</a:t>
                      </a:r>
                    </a:p>
                    <a:p>
                      <a:pPr algn="l">
                        <a:lnSpc>
                          <a:spcPct val="106000"/>
                        </a:lnSpc>
                        <a:spcAft>
                          <a:spcPts val="0"/>
                        </a:spcAft>
                      </a:pPr>
                      <a:r>
                        <a:rPr sz="1100" b="0">
                          <a:solidFill>
                            <a:srgbClr val="333333"/>
                          </a:solidFill>
                          <a:latin typeface="Courier New"/>
                        </a:rPr>
                        <a:t>state.location.lng = _buffer.posllh.longitude;</a:t>
                      </a:r>
                    </a:p>
                    <a:p>
                      <a:pPr algn="l">
                        <a:lnSpc>
                          <a:spcPct val="106000"/>
                        </a:lnSpc>
                        <a:spcAft>
                          <a:spcPts val="0"/>
                        </a:spcAft>
                      </a:pPr>
                      <a:r>
                        <a:rPr sz="1100" b="0">
                          <a:solidFill>
                            <a:srgbClr val="333333"/>
                          </a:solidFill>
                          <a:latin typeface="Courier New"/>
                        </a:rPr>
                        <a:t>state.location.lat = _buffer.posllh.latitude;</a:t>
                      </a:r>
                    </a:p>
                    <a:p>
                      <a:pPr algn="l">
                        <a:lnSpc>
                          <a:spcPct val="106000"/>
                        </a:lnSpc>
                        <a:spcAft>
                          <a:spcPts val="0"/>
                        </a:spcAft>
                      </a:pPr>
                      <a:r>
                        <a:rPr sz="1100" b="0">
                          <a:solidFill>
                            <a:srgbClr val="333333"/>
                          </a:solidFill>
                          <a:latin typeface="Courier New"/>
                        </a:rPr>
                        <a:t>state.have_undulation = true;</a:t>
                      </a:r>
                    </a:p>
                    <a:p>
                      <a:pPr algn="l">
                        <a:lnSpc>
                          <a:spcPct val="106000"/>
                        </a:lnSpc>
                        <a:spcAft>
                          <a:spcPts val="0"/>
                        </a:spcAft>
                      </a:pPr>
                      <a:r>
                        <a:rPr sz="1100" b="0">
                          <a:solidFill>
                            <a:srgbClr val="333333"/>
                          </a:solidFill>
                          <a:latin typeface="Courier New"/>
                        </a:rPr>
                        <a:t>state.undulation = (_buffer.posllh.altitude_msl - _buffer.</a:t>
                      </a:r>
                    </a:p>
                    <a:p>
                      <a:pPr algn="l">
                        <a:lnSpc>
                          <a:spcPct val="106000"/>
                        </a:lnSpc>
                        <a:spcAft>
                          <a:spcPts val="0"/>
                        </a:spcAft>
                      </a:pPr>
                      <a:r>
                        <a:rPr sz="1100" b="0">
                          <a:solidFill>
                            <a:srgbClr val="333333"/>
                          </a:solidFill>
                          <a:latin typeface="Courier New"/>
                        </a:rPr>
                        <a:t>posllh.altitude_ellipsoid) * 0.001;</a:t>
                      </a:r>
                    </a:p>
                    <a:p>
                      <a:pPr algn="l">
                        <a:lnSpc>
                          <a:spcPct val="106000"/>
                        </a:lnSpc>
                        <a:spcAft>
                          <a:spcPts val="0"/>
                        </a:spcAft>
                      </a:pPr>
                      <a:r>
                        <a:rPr sz="1100" b="0">
                          <a:solidFill>
                            <a:srgbClr val="333333"/>
                          </a:solidFill>
                          <a:latin typeface="Courier New"/>
                        </a:rPr>
                        <a:t>set_alt_amsl_cm(state, _buffer.posllh.altitude_msl / 10);</a:t>
                      </a:r>
                    </a:p>
                    <a:p>
                      <a:pPr algn="l">
                        <a:lnSpc>
                          <a:spcPct val="106000"/>
                        </a:lnSpc>
                        <a:spcAft>
                          <a:spcPts val="0"/>
                        </a:spcAft>
                      </a:pPr>
                      <a:r>
                        <a:rPr sz="1100" b="0">
                          <a:solidFill>
                            <a:srgbClr val="333333"/>
                          </a:solidFill>
                          <a:latin typeface="Courier New"/>
                        </a:rPr>
                        <a:t>state.status = next_fix;</a:t>
                      </a:r>
                    </a:p>
                    <a:p>
                      <a:pPr algn="l">
                        <a:lnSpc>
                          <a:spcPct val="106000"/>
                        </a:lnSpc>
                        <a:spcAft>
                          <a:spcPts val="0"/>
                        </a:spcAft>
                      </a:pPr>
                      <a:r>
                        <a:rPr sz="1100" b="0">
                          <a:solidFill>
                            <a:srgbClr val="333333"/>
                          </a:solidFill>
                          <a:latin typeface="Courier New"/>
                        </a:rPr>
                        <a:t>_new_position = true;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Courier New"/>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AP_GPS_NMEA backend</a:t>
                      </a:r>
                      <a:r>
                        <a:rPr sz="1100" b="0">
                          <a:solidFill>
                            <a:srgbClr val="999999"/>
                          </a:solidFill>
                          <a:latin typeface="Courier New"/>
                        </a:rPr>
                        <a:t>  ·  </a:t>
                      </a:r>
                      <a:r>
                        <a:rPr sz="1100" b="0">
                          <a:solidFill>
                            <a:srgbClr val="999999"/>
                          </a:solidFill>
                          <a:latin typeface="Courier New"/>
                        </a:rPr>
                        <a:t>Inheritance/Interface</a:t>
                      </a:r>
                    </a:p>
                    <a:p>
                      <a:pPr algn="l">
                        <a:lnSpc>
                          <a:spcPct val="106000"/>
                        </a:lnSpc>
                        <a:spcAft>
                          <a:spcPts val="0"/>
                        </a:spcAft>
                      </a:pPr>
                      <a:r>
                        <a:rPr sz="1100" b="0">
                          <a:solidFill>
                            <a:srgbClr val="333333"/>
                          </a:solidFill>
                          <a:latin typeface="Courier New"/>
                        </a:rPr>
                        <a:t>state.location.lat = _new_latitude;</a:t>
                      </a:r>
                    </a:p>
                    <a:p>
                      <a:pPr algn="l">
                        <a:lnSpc>
                          <a:spcPct val="106000"/>
                        </a:lnSpc>
                        <a:spcAft>
                          <a:spcPts val="0"/>
                        </a:spcAft>
                      </a:pPr>
                      <a:r>
                        <a:rPr sz="1100" b="0">
                          <a:solidFill>
                            <a:srgbClr val="333333"/>
                          </a:solidFill>
                          <a:latin typeface="Courier New"/>
                        </a:rPr>
                        <a:t>state.location.lng = _new_longitude;</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state.num_sats = _new_satellite_count;</a:t>
                      </a:r>
                    </a:p>
                    <a:p>
                      <a:pPr algn="l">
                        <a:lnSpc>
                          <a:spcPct val="106000"/>
                        </a:lnSpc>
                        <a:spcAft>
                          <a:spcPts val="0"/>
                        </a:spcAft>
                      </a:pPr>
                      <a:r>
                        <a:rPr sz="1100" b="0">
                          <a:solidFill>
                            <a:srgbClr val="333333"/>
                          </a:solidFill>
                          <a:latin typeface="Courier New"/>
                        </a:rPr>
                        <a:t>state.hdop = _new_hdop;</a:t>
                      </a:r>
                    </a:p>
                    <a:p>
                      <a:pPr algn="l">
                        <a:lnSpc>
                          <a:spcPct val="106000"/>
                        </a:lnSpc>
                        <a:spcAft>
                          <a:spcPts val="0"/>
                        </a:spcAft>
                      </a:pPr>
                      <a:r>
                        <a:rPr sz="1100" b="0">
                          <a:solidFill>
                            <a:srgbClr val="333333"/>
                          </a:solidFill>
                          <a:latin typeface="Courier New"/>
                        </a:rPr>
                        <a:t>switch(_new_quality_indicator) {</a:t>
                      </a:r>
                    </a:p>
                    <a:p>
                      <a:pPr algn="l">
                        <a:lnSpc>
                          <a:spcPct val="106000"/>
                        </a:lnSpc>
                        <a:spcAft>
                          <a:spcPts val="0"/>
                        </a:spcAft>
                      </a:pPr>
                      <a:r>
                        <a:rPr sz="1100" b="0">
                          <a:solidFill>
                            <a:srgbClr val="333333"/>
                          </a:solidFill>
                          <a:latin typeface="Courier New"/>
                        </a:rPr>
                        <a:t>case 0: // Fix not available or invalid</a:t>
                      </a:r>
                    </a:p>
                    <a:p>
                      <a:pPr algn="l">
                        <a:lnSpc>
                          <a:spcPct val="106000"/>
                        </a:lnSpc>
                        <a:spcAft>
                          <a:spcPts val="0"/>
                        </a:spcAft>
                      </a:pPr>
                      <a:r>
                        <a:rPr sz="1100" b="0">
                          <a:solidFill>
                            <a:srgbClr val="333333"/>
                          </a:solidFill>
                          <a:latin typeface="Courier New"/>
                        </a:rPr>
                        <a:t>state.status = AP_GPS::NO_FIX;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graphicFrame>
        <p:nvGraphicFramePr>
          <p:cNvPr id="6" name="Table 5"/>
          <p:cNvGraphicFramePr>
            <a:graphicFrameLocks noGrp="1"/>
          </p:cNvGraphicFramePr>
          <p:nvPr/>
        </p:nvGraphicFramePr>
        <p:xfrm>
          <a:off x="566928" y="1591056"/>
          <a:ext cx="11058144" cy="35699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Courier New"/>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AP_GPS_SBF backend</a:t>
                      </a:r>
                      <a:r>
                        <a:rPr sz="1100" b="0">
                          <a:solidFill>
                            <a:srgbClr val="999999"/>
                          </a:solidFill>
                          <a:latin typeface="Courier New"/>
                        </a:rPr>
                        <a:t>  ·  </a:t>
                      </a:r>
                      <a:r>
                        <a:rPr sz="1100" b="0">
                          <a:solidFill>
                            <a:srgbClr val="999999"/>
                          </a:solidFill>
                          <a:latin typeface="Courier New"/>
                        </a:rPr>
                        <a:t>Inheritance/Interface</a:t>
                      </a:r>
                    </a:p>
                    <a:p>
                      <a:pPr algn="l">
                        <a:lnSpc>
                          <a:spcPct val="106000"/>
                        </a:lnSpc>
                        <a:spcAft>
                          <a:spcPts val="0"/>
                        </a:spcAft>
                      </a:pPr>
                      <a:r>
                        <a:rPr sz="1100" b="0">
                          <a:solidFill>
                            <a:srgbClr val="333333"/>
                          </a:solidFill>
                          <a:latin typeface="Courier New"/>
                        </a:rPr>
                        <a:t>state.location.lat = (int32_t)(temp.Latitude * RAD_TO_DEG_DOUBLE * (double)1e7);</a:t>
                      </a:r>
                    </a:p>
                    <a:p>
                      <a:pPr algn="l">
                        <a:lnSpc>
                          <a:spcPct val="106000"/>
                        </a:lnSpc>
                        <a:spcAft>
                          <a:spcPts val="0"/>
                        </a:spcAft>
                      </a:pPr>
                      <a:r>
                        <a:rPr sz="1100" b="0">
                          <a:solidFill>
                            <a:srgbClr val="333333"/>
                          </a:solidFill>
                          <a:latin typeface="Courier New"/>
                        </a:rPr>
                        <a:t>state.location.lng = (int32_t)(temp.Longitude * RAD_TO_DEG_DOUBLE * (double)1e7);</a:t>
                      </a:r>
                    </a:p>
                    <a:p>
                      <a:pPr algn="l">
                        <a:lnSpc>
                          <a:spcPct val="106000"/>
                        </a:lnSpc>
                        <a:spcAft>
                          <a:spcPts val="0"/>
                        </a:spcAft>
                      </a:pPr>
                      <a:r>
                        <a:rPr sz="1100" b="0">
                          <a:solidFill>
                            <a:srgbClr val="333333"/>
                          </a:solidFill>
                          <a:latin typeface="Courier New"/>
                        </a:rPr>
                        <a:t>state.have_undulation = !is_DNU(temp.Undulation);</a:t>
                      </a:r>
                    </a:p>
                    <a:p>
                      <a:pPr algn="l">
                        <a:lnSpc>
                          <a:spcPct val="106000"/>
                        </a:lnSpc>
                        <a:spcAft>
                          <a:spcPts val="0"/>
                        </a:spcAft>
                      </a:pPr>
                      <a:r>
                        <a:rPr sz="1100" b="0">
                          <a:solidFill>
                            <a:srgbClr val="333333"/>
                          </a:solidFill>
                          <a:latin typeface="Courier New"/>
                        </a:rPr>
                        <a:t>double height = temp.Height; // in metres</a:t>
                      </a:r>
                    </a:p>
                    <a:p>
                      <a:pPr algn="l">
                        <a:lnSpc>
                          <a:spcPct val="106000"/>
                        </a:lnSpc>
                        <a:spcAft>
                          <a:spcPts val="0"/>
                        </a:spcAft>
                      </a:pPr>
                      <a:r>
                        <a:rPr sz="1100" b="0">
                          <a:solidFill>
                            <a:srgbClr val="333333"/>
                          </a:solidFill>
                          <a:latin typeface="Courier New"/>
                        </a:rPr>
                        <a:t>if (state.have_undulation) {</a:t>
                      </a:r>
                    </a:p>
                    <a:p>
                      <a:pPr algn="l">
                        <a:lnSpc>
                          <a:spcPct val="106000"/>
                        </a:lnSpc>
                        <a:spcAft>
                          <a:spcPts val="0"/>
                        </a:spcAft>
                      </a:pPr>
                      <a:r>
                        <a:rPr sz="1100" b="0">
                          <a:solidFill>
                            <a:srgbClr val="333333"/>
                          </a:solidFill>
                          <a:latin typeface="Courier New"/>
                        </a:rPr>
                        <a:t>height -= temp.Undulation;</a:t>
                      </a:r>
                    </a:p>
                    <a:p>
                      <a:pPr algn="l">
                        <a:lnSpc>
                          <a:spcPct val="106000"/>
                        </a:lnSpc>
                        <a:spcAft>
                          <a:spcPts val="0"/>
                        </a:spcAft>
                      </a:pPr>
                      <a:r>
                        <a:rPr sz="1100" b="0">
                          <a:solidFill>
                            <a:srgbClr val="333333"/>
                          </a:solidFill>
                          <a:latin typeface="Courier New"/>
                        </a:rPr>
                        <a:t>state.undulation = -temp.Undulation;</a:t>
                      </a:r>
                    </a:p>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Courier New"/>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AP_GPS_NOVA backend</a:t>
                      </a:r>
                      <a:r>
                        <a:rPr sz="1100" b="0">
                          <a:solidFill>
                            <a:srgbClr val="999999"/>
                          </a:solidFill>
                          <a:latin typeface="Courier New"/>
                        </a:rPr>
                        <a:t>  ·  </a:t>
                      </a:r>
                      <a:r>
                        <a:rPr sz="1100" b="0">
                          <a:solidFill>
                            <a:srgbClr val="999999"/>
                          </a:solidFill>
                          <a:latin typeface="Courier New"/>
                        </a:rPr>
                        <a:t>Inheritance/Interface</a:t>
                      </a:r>
                    </a:p>
                    <a:p>
                      <a:pPr algn="l">
                        <a:lnSpc>
                          <a:spcPct val="106000"/>
                        </a:lnSpc>
                        <a:spcAft>
                          <a:spcPts val="0"/>
                        </a:spcAft>
                      </a:pPr>
                      <a:r>
                        <a:rPr sz="1100" b="0">
                          <a:solidFill>
                            <a:srgbClr val="333333"/>
                          </a:solidFill>
                          <a:latin typeface="Courier New"/>
                        </a:rPr>
                        <a:t>state.last_gps_time_ms = AP_HAL::millis();</a:t>
                      </a:r>
                    </a:p>
                    <a:p>
                      <a:pPr algn="l">
                        <a:lnSpc>
                          <a:spcPct val="106000"/>
                        </a:lnSpc>
                        <a:spcAft>
                          <a:spcPts val="0"/>
                        </a:spcAft>
                      </a:pPr>
                      <a:r>
                        <a:rPr sz="1100" b="0">
                          <a:solidFill>
                            <a:srgbClr val="333333"/>
                          </a:solidFill>
                          <a:latin typeface="Courier New"/>
                        </a:rPr>
                        <a:t>state.location.lat = (int32_t) (bestposu.lat * (double)1e7</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state.location.lng = (int32_t) (bestposu.lng * (double)1e7</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state.have_undulation = true;</a:t>
                      </a:r>
                    </a:p>
                    <a:p>
                      <a:pPr algn="l">
                        <a:lnSpc>
                          <a:spcPct val="106000"/>
                        </a:lnSpc>
                        <a:spcAft>
                          <a:spcPts val="0"/>
                        </a:spcAft>
                      </a:pPr>
                      <a:r>
                        <a:rPr sz="1100" b="0">
                          <a:solidFill>
                            <a:srgbClr val="333333"/>
                          </a:solidFill>
                          <a:latin typeface="Courier New"/>
                        </a:rPr>
                        <a:t>state.undulation = -bestposu.undulation;</a:t>
                      </a:r>
                    </a:p>
                    <a:p>
                      <a:pPr algn="l">
                        <a:lnSpc>
                          <a:spcPct val="106000"/>
                        </a:lnSpc>
                        <a:spcAft>
                          <a:spcPts val="0"/>
                        </a:spcAft>
                      </a:pPr>
                      <a:r>
                        <a:rPr sz="1100" b="0">
                          <a:solidFill>
                            <a:srgbClr val="333333"/>
                          </a:solidFill>
                          <a:latin typeface="Courier New"/>
                        </a:rPr>
                        <a:t>set_alt_amsl_cm(state, bestposu.hgt * 100);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graphicFrame>
        <p:nvGraphicFramePr>
          <p:cNvPr id="6" name="Table 5"/>
          <p:cNvGraphicFramePr>
            <a:graphicFrameLocks noGrp="1"/>
          </p:cNvGraphicFramePr>
          <p:nvPr/>
        </p:nvGraphicFramePr>
        <p:xfrm>
          <a:off x="566928" y="1591056"/>
          <a:ext cx="11058144" cy="339227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Courier New"/>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AP_GPS_SBP backend</a:t>
                      </a:r>
                      <a:r>
                        <a:rPr sz="1100" b="0">
                          <a:solidFill>
                            <a:srgbClr val="999999"/>
                          </a:solidFill>
                          <a:latin typeface="Courier New"/>
                        </a:rPr>
                        <a:t>  ·  </a:t>
                      </a:r>
                      <a:r>
                        <a:rPr sz="1100" b="0">
                          <a:solidFill>
                            <a:srgbClr val="999999"/>
                          </a:solidFill>
                          <a:latin typeface="Courier New"/>
                        </a:rPr>
                        <a:t>Inheritance/Interface</a:t>
                      </a:r>
                    </a:p>
                    <a:p>
                      <a:pPr algn="l">
                        <a:lnSpc>
                          <a:spcPct val="106000"/>
                        </a:lnSpc>
                        <a:spcAft>
                          <a:spcPts val="0"/>
                        </a:spcAft>
                      </a:pPr>
                      <a:r>
                        <a:rPr sz="1100" b="0">
                          <a:solidFill>
                            <a:srgbClr val="333333"/>
                          </a:solidFill>
                          <a:latin typeface="Courier New"/>
                        </a:rPr>
                        <a:t>state.location.lat = (int32_t) (pos_llh-&gt;lat * (double)1e7);</a:t>
                      </a:r>
                    </a:p>
                    <a:p>
                      <a:pPr algn="l">
                        <a:lnSpc>
                          <a:spcPct val="106000"/>
                        </a:lnSpc>
                        <a:spcAft>
                          <a:spcPts val="0"/>
                        </a:spcAft>
                      </a:pPr>
                      <a:r>
                        <a:rPr sz="1100" b="0">
                          <a:solidFill>
                            <a:srgbClr val="333333"/>
                          </a:solidFill>
                          <a:latin typeface="Courier New"/>
                        </a:rPr>
                        <a:t>state.location.lng = (int32_t) (pos_llh-&gt;lon * (double)1e7);</a:t>
                      </a:r>
                    </a:p>
                    <a:p>
                      <a:pPr algn="l">
                        <a:lnSpc>
                          <a:spcPct val="106000"/>
                        </a:lnSpc>
                        <a:spcAft>
                          <a:spcPts val="0"/>
                        </a:spcAft>
                      </a:pPr>
                      <a:r>
                        <a:rPr sz="1100" b="0">
                          <a:solidFill>
                            <a:srgbClr val="333333"/>
                          </a:solidFill>
                          <a:latin typeface="Courier New"/>
                        </a:rPr>
                        <a:t>state.location.alt = (int32_t) (pos_llh-&gt;height * 100</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state.num_sats = pos_llh-&gt;n_sats;</a:t>
                      </a:r>
                    </a:p>
                    <a:p>
                      <a:pPr algn="l">
                        <a:lnSpc>
                          <a:spcPct val="106000"/>
                        </a:lnSpc>
                        <a:spcAft>
                          <a:spcPts val="0"/>
                        </a:spcAft>
                      </a:pPr>
                      <a:r>
                        <a:rPr sz="1100" b="0">
                          <a:solidFill>
                            <a:srgbClr val="333333"/>
                          </a:solidFill>
                          <a:latin typeface="Courier New"/>
                        </a:rPr>
                        <a:t>if (pos_llh-&gt;flags == 0) {</a:t>
                      </a:r>
                    </a:p>
                    <a:p>
                      <a:pPr algn="l">
                        <a:lnSpc>
                          <a:spcPct val="106000"/>
                        </a:lnSpc>
                        <a:spcAft>
                          <a:spcPts val="0"/>
                        </a:spcAft>
                      </a:pPr>
                      <a:r>
                        <a:rPr sz="1100" b="0">
                          <a:solidFill>
                            <a:srgbClr val="333333"/>
                          </a:solidFill>
                          <a:latin typeface="Courier New"/>
                        </a:rPr>
                        <a:t>state.status = AP_GPS::GPS_OK_FIX_3D;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Courier New"/>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AP_GPS_SBP2 backend</a:t>
                      </a:r>
                      <a:r>
                        <a:rPr sz="1100" b="0">
                          <a:solidFill>
                            <a:srgbClr val="999999"/>
                          </a:solidFill>
                          <a:latin typeface="Courier New"/>
                        </a:rPr>
                        <a:t>  ·  </a:t>
                      </a:r>
                      <a:r>
                        <a:rPr sz="1100" b="0">
                          <a:solidFill>
                            <a:srgbClr val="999999"/>
                          </a:solidFill>
                          <a:latin typeface="Courier New"/>
                        </a:rPr>
                        <a:t>Inheritance/Interface</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state.location.lat = (int32_t) (last_pos_llh.lat * (double)1e7);</a:t>
                      </a:r>
                    </a:p>
                    <a:p>
                      <a:pPr algn="l">
                        <a:lnSpc>
                          <a:spcPct val="106000"/>
                        </a:lnSpc>
                        <a:spcAft>
                          <a:spcPts val="0"/>
                        </a:spcAft>
                      </a:pPr>
                      <a:r>
                        <a:rPr sz="1100" b="0">
                          <a:solidFill>
                            <a:srgbClr val="333333"/>
                          </a:solidFill>
                          <a:latin typeface="Courier New"/>
                        </a:rPr>
                        <a:t>state.location.lng = (int32_t) (last_pos_llh.lon * (double)1e7);</a:t>
                      </a:r>
                    </a:p>
                    <a:p>
                      <a:pPr algn="l">
                        <a:lnSpc>
                          <a:spcPct val="106000"/>
                        </a:lnSpc>
                        <a:spcAft>
                          <a:spcPts val="0"/>
                        </a:spcAft>
                      </a:pPr>
                      <a:r>
                        <a:rPr sz="1100" b="0">
                          <a:solidFill>
                            <a:srgbClr val="333333"/>
                          </a:solidFill>
                          <a:latin typeface="Courier New"/>
                        </a:rPr>
                        <a:t>state.location.alt = (int32_t) (last_pos_llh.height *</a:t>
                      </a:r>
                    </a:p>
                    <a:p>
                      <a:pPr algn="l">
                        <a:lnSpc>
                          <a:spcPct val="106000"/>
                        </a:lnSpc>
                        <a:spcAft>
                          <a:spcPts val="0"/>
                        </a:spcAft>
                      </a:pPr>
                      <a:r>
                        <a:rPr sz="1100" b="0">
                          <a:solidFill>
                            <a:srgbClr val="333333"/>
                          </a:solidFill>
                          <a:latin typeface="Courier New"/>
                        </a:rPr>
                        <a:t>100);</a:t>
                      </a:r>
                    </a:p>
                    <a:p>
                      <a:pPr algn="l">
                        <a:lnSpc>
                          <a:spcPct val="106000"/>
                        </a:lnSpc>
                        <a:spcAft>
                          <a:spcPts val="0"/>
                        </a:spcAft>
                      </a:pPr>
                      <a:r>
                        <a:rPr sz="1100" b="0">
                          <a:solidFill>
                            <a:srgbClr val="333333"/>
                          </a:solidFill>
                          <a:latin typeface="Courier New"/>
                        </a:rPr>
                        <a:t>state.num_sats = last_pos_llh.n_sats;</a:t>
                      </a:r>
                    </a:p>
                    <a:p>
                      <a:pPr algn="l">
                        <a:lnSpc>
                          <a:spcPct val="106000"/>
                        </a:lnSpc>
                        <a:spcAft>
                          <a:spcPts val="0"/>
                        </a:spcAft>
                      </a:pPr>
                      <a:r>
                        <a:rPr sz="1100" b="0">
                          <a:solidFill>
                            <a:srgbClr val="333333"/>
                          </a:solidFill>
                          <a:latin typeface="Courier New"/>
                        </a:rPr>
                        <a:t>switch (last_pos_llh.flags.fix_mode) {</a:t>
                      </a:r>
                    </a:p>
                    <a:p>
                      <a:pPr algn="l">
                        <a:lnSpc>
                          <a:spcPct val="106000"/>
                        </a:lnSpc>
                        <a:spcAft>
                          <a:spcPts val="0"/>
                        </a:spcAft>
                      </a:pPr>
                      <a:r>
                        <a:rPr sz="1100" b="0">
                          <a:solidFill>
                            <a:srgbClr val="333333"/>
                          </a:solidFill>
                          <a:latin typeface="Courier New"/>
                        </a:rPr>
                        <a:t>case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Courier New"/>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AP_GPS_SIRF backend</a:t>
                      </a:r>
                      <a:r>
                        <a:rPr sz="1100" b="0">
                          <a:solidFill>
                            <a:srgbClr val="999999"/>
                          </a:solidFill>
                          <a:latin typeface="Courier New"/>
                        </a:rPr>
                        <a:t>  ·  </a:t>
                      </a:r>
                      <a:r>
                        <a:rPr sz="1100" b="0">
                          <a:solidFill>
                            <a:srgbClr val="999999"/>
                          </a:solidFill>
                          <a:latin typeface="Courier New"/>
                        </a:rPr>
                        <a:t>Inheritance/Interface</a:t>
                      </a:r>
                    </a:p>
                    <a:p>
                      <a:pPr algn="l">
                        <a:lnSpc>
                          <a:spcPct val="106000"/>
                        </a:lnSpc>
                        <a:spcAft>
                          <a:spcPts val="0"/>
                        </a:spcAft>
                      </a:pPr>
                      <a:r>
                        <a:rPr sz="1100" b="0">
                          <a:solidFill>
                            <a:srgbClr val="333333"/>
                          </a:solidFill>
                          <a:latin typeface="Courier New"/>
                        </a:rPr>
                        <a:t>state.status = AP_GPS::NO_FIX;</a:t>
                      </a:r>
                    </a:p>
                    <a:p>
                      <a:pPr algn="l">
                        <a:lnSpc>
                          <a:spcPct val="106000"/>
                        </a:lnSpc>
                        <a:spcAft>
                          <a:spcPts val="0"/>
                        </a:spcAft>
                      </a:pPr>
                      <a:r>
                        <a:rPr sz="1100" b="0">
                          <a:solidFill>
                            <a:srgbClr val="333333"/>
                          </a:solidFill>
                          <a:latin typeface="Courier New"/>
                        </a:rPr>
                        <a:t>}else if ((_buffer.nav.fix_type &amp; FIX_MASK) == FIX_3D) {</a:t>
                      </a:r>
                    </a:p>
                    <a:p>
                      <a:pPr algn="l">
                        <a:lnSpc>
                          <a:spcPct val="106000"/>
                        </a:lnSpc>
                        <a:spcAft>
                          <a:spcPts val="0"/>
                        </a:spcAft>
                      </a:pPr>
                      <a:r>
                        <a:rPr sz="1100" b="0">
                          <a:solidFill>
                            <a:srgbClr val="333333"/>
                          </a:solidFill>
                          <a:latin typeface="Courier New"/>
                        </a:rPr>
                        <a:t>state.status = AP_GPS::GPS_OK_FIX_3D;</a:t>
                      </a:r>
                    </a:p>
                    <a:p>
                      <a:pPr algn="l">
                        <a:lnSpc>
                          <a:spcPct val="106000"/>
                        </a:lnSpc>
                        <a:spcAft>
                          <a:spcPts val="0"/>
                        </a:spcAft>
                      </a:pPr>
                      <a:r>
                        <a:rPr sz="1100" b="0">
                          <a:solidFill>
                            <a:srgbClr val="333333"/>
                          </a:solidFill>
                          <a:latin typeface="Courier New"/>
                        </a:rPr>
                        <a:t>}else{</a:t>
                      </a:r>
                    </a:p>
                    <a:p>
                      <a:pPr algn="l">
                        <a:lnSpc>
                          <a:spcPct val="106000"/>
                        </a:lnSpc>
                        <a:spcAft>
                          <a:spcPts val="0"/>
                        </a:spcAft>
                      </a:pPr>
                      <a:r>
                        <a:rPr sz="1100" b="0">
                          <a:solidFill>
                            <a:srgbClr val="333333"/>
                          </a:solidFill>
                          <a:latin typeface="Courier New"/>
                        </a:rPr>
                        <a:t>state.status = AP_GPS::GPS_OK_FIX_2D;</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state.location.lat = int32_t(be32toh(_buffer.nav.latitude));</a:t>
                      </a:r>
                    </a:p>
                    <a:p>
                      <a:pPr algn="l">
                        <a:lnSpc>
                          <a:spcPct val="106000"/>
                        </a:lnSpc>
                        <a:spcAft>
                          <a:spcPts val="0"/>
                        </a:spcAft>
                      </a:pPr>
                      <a:r>
                        <a:rPr sz="1100" b="0">
                          <a:solidFill>
                            <a:srgbClr val="333333"/>
                          </a:solidFill>
                          <a:latin typeface="Courier New"/>
                        </a:rPr>
                        <a:t>state.location.lng = int32_t(be32toh(_buffer.nav.longitude));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197975">
                <a:tc>
                  <a:txBody>
                    <a:bodyPr wrap="square">
                      <a:noAutofit/>
                    </a:bodyPr>
                    <a:lstStyle/>
                    <a:p>
                      <a:pPr algn="r">
                        <a:lnSpc>
                          <a:spcPct val="106000"/>
                        </a:lnSpc>
                        <a:spcAft>
                          <a:spcPts val="0"/>
                        </a:spcAft>
                      </a:pPr>
                      <a:r>
                        <a:rPr sz="1100" b="1">
                          <a:solidFill>
                            <a:srgbClr val="333333"/>
                          </a:solidFill>
                          <a:latin typeface="Courier New"/>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AP_GPS_ERB backend</a:t>
                      </a:r>
                      <a:r>
                        <a:rPr sz="1100" b="0">
                          <a:solidFill>
                            <a:srgbClr val="999999"/>
                          </a:solidFill>
                          <a:latin typeface="Courier New"/>
                        </a:rPr>
                        <a:t>  ·  </a:t>
                      </a:r>
                      <a:r>
                        <a:rPr sz="1100" b="0">
                          <a:solidFill>
                            <a:srgbClr val="999999"/>
                          </a:solidFill>
                          <a:latin typeface="Courier New"/>
                        </a:rPr>
                        <a:t>Inheritance/Interface</a:t>
                      </a:r>
                    </a:p>
                    <a:p>
                      <a:pPr algn="l">
                        <a:lnSpc>
                          <a:spcPct val="106000"/>
                        </a:lnSpc>
                        <a:spcAft>
                          <a:spcPts val="0"/>
                        </a:spcAft>
                      </a:pPr>
                      <a:r>
                        <a:rPr sz="1100" b="0">
                          <a:solidFill>
                            <a:srgbClr val="333333"/>
                          </a:solidFill>
                          <a:latin typeface="Courier New"/>
                        </a:rPr>
                        <a:t>_last_pos_time = _buffer.pos.time;</a:t>
                      </a:r>
                    </a:p>
                    <a:p>
                      <a:pPr algn="l">
                        <a:lnSpc>
                          <a:spcPct val="106000"/>
                        </a:lnSpc>
                        <a:spcAft>
                          <a:spcPts val="0"/>
                        </a:spcAft>
                      </a:pPr>
                      <a:r>
                        <a:rPr sz="1100" b="0">
                          <a:solidFill>
                            <a:srgbClr val="333333"/>
                          </a:solidFill>
                          <a:latin typeface="Courier New"/>
                        </a:rPr>
                        <a:t>state.location.lng = (int32_t)(_buffer.pos.longitude *</a:t>
                      </a:r>
                    </a:p>
                    <a:p>
                      <a:pPr algn="l">
                        <a:lnSpc>
                          <a:spcPct val="106000"/>
                        </a:lnSpc>
                        <a:spcAft>
                          <a:spcPts val="0"/>
                        </a:spcAft>
                      </a:pPr>
                      <a:r>
                        <a:rPr sz="1100" b="0">
                          <a:solidFill>
                            <a:srgbClr val="333333"/>
                          </a:solidFill>
                          <a:latin typeface="Courier New"/>
                        </a:rPr>
                        <a:t>(double)1e7);</a:t>
                      </a:r>
                    </a:p>
                    <a:p>
                      <a:pPr algn="l">
                        <a:lnSpc>
                          <a:spcPct val="106000"/>
                        </a:lnSpc>
                        <a:spcAft>
                          <a:spcPts val="0"/>
                        </a:spcAft>
                      </a:pPr>
                      <a:r>
                        <a:rPr sz="1100" b="0">
                          <a:solidFill>
                            <a:srgbClr val="333333"/>
                          </a:solidFill>
                          <a:latin typeface="Courier New"/>
                        </a:rPr>
                        <a:t>state.location.lat = (int32_t)(_buffer.pos.latitude * (</a:t>
                      </a:r>
                    </a:p>
                    <a:p>
                      <a:pPr algn="l">
                        <a:lnSpc>
                          <a:spcPct val="106000"/>
                        </a:lnSpc>
                        <a:spcAft>
                          <a:spcPts val="0"/>
                        </a:spcAft>
                      </a:pPr>
                      <a:r>
                        <a:rPr sz="1100" b="0">
                          <a:solidFill>
                            <a:srgbClr val="333333"/>
                          </a:solidFill>
                          <a:latin typeface="Courier New"/>
                        </a:rPr>
                        <a:t>double)1e7);</a:t>
                      </a:r>
                    </a:p>
                    <a:p>
                      <a:pPr algn="l">
                        <a:lnSpc>
                          <a:spcPct val="106000"/>
                        </a:lnSpc>
                        <a:spcAft>
                          <a:spcPts val="0"/>
                        </a:spcAft>
                      </a:pPr>
                      <a:r>
                        <a:rPr sz="1100" b="0">
                          <a:solidFill>
                            <a:srgbClr val="333333"/>
                          </a:solidFill>
                          <a:latin typeface="Courier New"/>
                        </a:rPr>
                        <a:t>state.have_undulation = true;</a:t>
                      </a:r>
                    </a:p>
                    <a:p>
                      <a:pPr algn="l">
                        <a:lnSpc>
                          <a:spcPct val="106000"/>
                        </a:lnSpc>
                        <a:spcAft>
                          <a:spcPts val="0"/>
                        </a:spcAft>
                      </a:pPr>
                      <a:r>
                        <a:rPr sz="1100" b="0">
                          <a:solidFill>
                            <a:srgbClr val="333333"/>
                          </a:solidFill>
                          <a:latin typeface="Courier New"/>
                        </a:rPr>
                        <a:t>state.undulation = _buffer.pos.altitude_msl - _buffer.pos.</a:t>
                      </a:r>
                    </a:p>
                    <a:p>
                      <a:pPr algn="l">
                        <a:lnSpc>
                          <a:spcPct val="106000"/>
                        </a:lnSpc>
                        <a:spcAft>
                          <a:spcPts val="0"/>
                        </a:spcAft>
                      </a:pPr>
                      <a:r>
                        <a:rPr sz="1100" b="0">
                          <a:solidFill>
                            <a:srgbClr val="333333"/>
                          </a:solidFill>
                          <a:latin typeface="Courier New"/>
                        </a:rPr>
                        <a:t>altitude_ellipsoid;</a:t>
                      </a:r>
                    </a:p>
                    <a:p>
                      <a:pPr algn="l">
                        <a:lnSpc>
                          <a:spcPct val="106000"/>
                        </a:lnSpc>
                        <a:spcAft>
                          <a:spcPts val="0"/>
                        </a:spcAft>
                      </a:pPr>
                      <a:r>
                        <a:rPr sz="1100" b="0">
                          <a:solidFill>
                            <a:srgbClr val="333333"/>
                          </a:solidFill>
                          <a:latin typeface="Courier New"/>
                        </a:rPr>
                        <a:t>set_alt_amsl_cm(state, _buffer.pos.altitude_msl * 100);</a:t>
                      </a:r>
                    </a:p>
                    <a:p>
                      <a:pPr algn="l">
                        <a:lnSpc>
                          <a:spcPct val="106000"/>
                        </a:lnSpc>
                        <a:spcAft>
                          <a:spcPts val="0"/>
                        </a:spcAft>
                      </a:pPr>
                      <a:r>
                        <a:rPr sz="1100" b="0">
                          <a:solidFill>
                            <a:srgbClr val="333333"/>
                          </a:solidFill>
                          <a:latin typeface="Courier New"/>
                        </a:rPr>
                        <a:t>state.status = next_fix;</a:t>
                      </a:r>
                    </a:p>
                    <a:p>
                      <a:pPr algn="l">
                        <a:lnSpc>
                          <a:spcPct val="106000"/>
                        </a:lnSpc>
                        <a:spcAft>
                          <a:spcPts val="0"/>
                        </a:spcAft>
                      </a:pPr>
                      <a:r>
                        <a:rPr sz="1100" b="0">
                          <a:solidFill>
                            <a:srgbClr val="333333"/>
                          </a:solidFill>
                          <a:latin typeface="Courier New"/>
                        </a:rPr>
                        <a:t>_new_position = true;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graphicFrame>
        <p:nvGraphicFramePr>
          <p:cNvPr id="6" name="Table 5"/>
          <p:cNvGraphicFramePr>
            <a:graphicFrameLocks noGrp="1"/>
          </p:cNvGraphicFramePr>
          <p:nvPr/>
        </p:nvGraphicFramePr>
        <p:xfrm>
          <a:off x="566928" y="1591056"/>
          <a:ext cx="11058144" cy="35699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AP_GPS_MAV backend</a:t>
                      </a:r>
                      <a:r>
                        <a:rPr sz="1100" b="0">
                          <a:solidFill>
                            <a:srgbClr val="999999"/>
                          </a:solidFill>
                          <a:latin typeface="Courier New"/>
                        </a:rPr>
                        <a:t>  ·  </a:t>
                      </a:r>
                      <a:r>
                        <a:rPr sz="1100" b="0">
                          <a:solidFill>
                            <a:srgbClr val="999999"/>
                          </a:solidFill>
                          <a:latin typeface="Courier New"/>
                        </a:rPr>
                        <a:t>Inheritance/Interface</a:t>
                      </a:r>
                    </a:p>
                    <a:p>
                      <a:pPr algn="l">
                        <a:lnSpc>
                          <a:spcPct val="106000"/>
                        </a:lnSpc>
                        <a:spcAft>
                          <a:spcPts val="0"/>
                        </a:spcAft>
                      </a:pPr>
                      <a:r>
                        <a:rPr sz="1100" b="0">
                          <a:solidFill>
                            <a:srgbClr val="333333"/>
                          </a:solidFill>
                          <a:latin typeface="Courier New"/>
                        </a:rPr>
                        <a:t>state.status = (AP_GPS::GPS_Status)packet.fix_type;</a:t>
                      </a:r>
                    </a:p>
                    <a:p>
                      <a:pPr algn="l">
                        <a:lnSpc>
                          <a:spcPct val="106000"/>
                        </a:lnSpc>
                        <a:spcAft>
                          <a:spcPts val="0"/>
                        </a:spcAft>
                      </a:pPr>
                      <a:r>
                        <a:rPr sz="1100" b="0">
                          <a:solidFill>
                            <a:srgbClr val="333333"/>
                          </a:solidFill>
                          <a:latin typeface="Courier New"/>
                        </a:rPr>
                        <a:t>Location loc = {};</a:t>
                      </a:r>
                    </a:p>
                    <a:p>
                      <a:pPr algn="l">
                        <a:lnSpc>
                          <a:spcPct val="106000"/>
                        </a:lnSpc>
                        <a:spcAft>
                          <a:spcPts val="0"/>
                        </a:spcAft>
                      </a:pPr>
                      <a:r>
                        <a:rPr sz="1100" b="0">
                          <a:solidFill>
                            <a:srgbClr val="333333"/>
                          </a:solidFill>
                          <a:latin typeface="Courier New"/>
                        </a:rPr>
                        <a:t>loc.lat = packet.lat;</a:t>
                      </a:r>
                    </a:p>
                    <a:p>
                      <a:pPr algn="l">
                        <a:lnSpc>
                          <a:spcPct val="106000"/>
                        </a:lnSpc>
                        <a:spcAft>
                          <a:spcPts val="0"/>
                        </a:spcAft>
                      </a:pPr>
                      <a:r>
                        <a:rPr sz="1100" b="0">
                          <a:solidFill>
                            <a:srgbClr val="333333"/>
                          </a:solidFill>
                          <a:latin typeface="Courier New"/>
                        </a:rPr>
                        <a:t>loc.lng = packet.lon;</a:t>
                      </a:r>
                    </a:p>
                    <a:p>
                      <a:pPr algn="l">
                        <a:lnSpc>
                          <a:spcPct val="106000"/>
                        </a:lnSpc>
                        <a:spcAft>
                          <a:spcPts val="0"/>
                        </a:spcAft>
                      </a:pPr>
                      <a:r>
                        <a:rPr sz="1100" b="0">
                          <a:solidFill>
                            <a:srgbClr val="333333"/>
                          </a:solidFill>
                          <a:latin typeface="Courier New"/>
                        </a:rPr>
                        <a:t>if (have_alt) {</a:t>
                      </a:r>
                    </a:p>
                    <a:p>
                      <a:pPr algn="l">
                        <a:lnSpc>
                          <a:spcPct val="106000"/>
                        </a:lnSpc>
                        <a:spcAft>
                          <a:spcPts val="0"/>
                        </a:spcAft>
                      </a:pPr>
                      <a:r>
                        <a:rPr sz="1100" b="0">
                          <a:solidFill>
                            <a:srgbClr val="333333"/>
                          </a:solidFill>
                          <a:latin typeface="Courier New"/>
                        </a:rPr>
                        <a:t>loc.alt = packet.alt * 100; // convert to centimeters</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state.location = 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AP_GPS_MSP backend</a:t>
                      </a:r>
                      <a:r>
                        <a:rPr sz="1100" b="0">
                          <a:solidFill>
                            <a:srgbClr val="999999"/>
                          </a:solidFill>
                          <a:latin typeface="Courier New"/>
                        </a:rPr>
                        <a:t>  ·  </a:t>
                      </a:r>
                      <a:r>
                        <a:rPr sz="1100" b="0">
                          <a:solidFill>
                            <a:srgbClr val="999999"/>
                          </a:solidFill>
                          <a:latin typeface="Courier New"/>
                        </a:rPr>
                        <a:t>Inheritance/Interface</a:t>
                      </a:r>
                    </a:p>
                    <a:p>
                      <a:pPr algn="l">
                        <a:lnSpc>
                          <a:spcPct val="106000"/>
                        </a:lnSpc>
                        <a:spcAft>
                          <a:spcPts val="0"/>
                        </a:spcAft>
                      </a:pPr>
                      <a:r>
                        <a:rPr sz="1100" b="0">
                          <a:solidFill>
                            <a:srgbClr val="333333"/>
                          </a:solidFill>
                          <a:latin typeface="Courier New"/>
                        </a:rPr>
                        <a:t>state.status = (AP_GPS::GPS_Status)pkt.fix_type;</a:t>
                      </a:r>
                    </a:p>
                    <a:p>
                      <a:pPr algn="l">
                        <a:lnSpc>
                          <a:spcPct val="106000"/>
                        </a:lnSpc>
                        <a:spcAft>
                          <a:spcPts val="0"/>
                        </a:spcAft>
                      </a:pPr>
                      <a:r>
                        <a:rPr sz="1100" b="0">
                          <a:solidFill>
                            <a:srgbClr val="333333"/>
                          </a:solidFill>
                          <a:latin typeface="Courier New"/>
                        </a:rPr>
                        <a:t>state.num_sats = pkt.satellites_in_view;</a:t>
                      </a:r>
                    </a:p>
                    <a:p>
                      <a:pPr algn="l">
                        <a:lnSpc>
                          <a:spcPct val="106000"/>
                        </a:lnSpc>
                        <a:spcAft>
                          <a:spcPts val="0"/>
                        </a:spcAft>
                      </a:pPr>
                      <a:r>
                        <a:rPr sz="1100" b="0">
                          <a:solidFill>
                            <a:srgbClr val="333333"/>
                          </a:solidFill>
                          <a:latin typeface="Courier New"/>
                        </a:rPr>
                        <a:t>state.location = {</a:t>
                      </a:r>
                    </a:p>
                    <a:p>
                      <a:pPr algn="l">
                        <a:lnSpc>
                          <a:spcPct val="106000"/>
                        </a:lnSpc>
                        <a:spcAft>
                          <a:spcPts val="0"/>
                        </a:spcAft>
                      </a:pPr>
                      <a:r>
                        <a:rPr sz="1100" b="0">
                          <a:solidFill>
                            <a:srgbClr val="333333"/>
                          </a:solidFill>
                          <a:latin typeface="Courier New"/>
                        </a:rPr>
                        <a:t>pkt.latitude,</a:t>
                      </a:r>
                    </a:p>
                    <a:p>
                      <a:pPr algn="l">
                        <a:lnSpc>
                          <a:spcPct val="106000"/>
                        </a:lnSpc>
                        <a:spcAft>
                          <a:spcPts val="0"/>
                        </a:spcAft>
                      </a:pPr>
                      <a:r>
                        <a:rPr sz="1100" b="0">
                          <a:solidFill>
                            <a:srgbClr val="333333"/>
                          </a:solidFill>
                          <a:latin typeface="Courier New"/>
                        </a:rPr>
                        <a:t>pkt.longitude,</a:t>
                      </a:r>
                    </a:p>
                    <a:p>
                      <a:pPr algn="l">
                        <a:lnSpc>
                          <a:spcPct val="106000"/>
                        </a:lnSpc>
                        <a:spcAft>
                          <a:spcPts val="0"/>
                        </a:spcAft>
                      </a:pPr>
                      <a:r>
                        <a:rPr sz="1100" b="0">
                          <a:solidFill>
                            <a:srgbClr val="333333"/>
                          </a:solidFill>
                          <a:latin typeface="Courier New"/>
                        </a:rPr>
                        <a:t>pkt.msl_altitude,</a:t>
                      </a:r>
                    </a:p>
                    <a:p>
                      <a:pPr algn="l">
                        <a:lnSpc>
                          <a:spcPct val="106000"/>
                        </a:lnSpc>
                        <a:spcAft>
                          <a:spcPts val="0"/>
                        </a:spcAft>
                      </a:pPr>
                      <a:r>
                        <a:rPr sz="1100" b="0">
                          <a:solidFill>
                            <a:srgbClr val="333333"/>
                          </a:solidFill>
                          <a:latin typeface="Courier New"/>
                        </a:rPr>
                        <a:t>Location::AltFrame::ABSOLUTE</a:t>
                      </a:r>
                    </a:p>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879" y="384048"/>
            <a:ext cx="59919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graphicFrame>
        <p:nvGraphicFramePr>
          <p:cNvPr id="6" name="Table 5"/>
          <p:cNvGraphicFramePr>
            <a:graphicFrameLocks noGrp="1"/>
          </p:cNvGraphicFramePr>
          <p:nvPr/>
        </p:nvGraphicFramePr>
        <p:xfrm>
          <a:off x="566928" y="1591056"/>
          <a:ext cx="11058144" cy="356997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Courier New"/>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AP_GPS_GSOF backend</a:t>
                      </a:r>
                      <a:r>
                        <a:rPr sz="1100" b="0">
                          <a:solidFill>
                            <a:srgbClr val="999999"/>
                          </a:solidFill>
                          <a:latin typeface="Courier New"/>
                        </a:rPr>
                        <a:t>  ·  </a:t>
                      </a:r>
                      <a:r>
                        <a:rPr sz="1100" b="0">
                          <a:solidFill>
                            <a:srgbClr val="999999"/>
                          </a:solidFill>
                          <a:latin typeface="Courier New"/>
                        </a:rPr>
                        <a:t>Inheritance/Interface</a:t>
                      </a:r>
                    </a:p>
                    <a:p>
                      <a:pPr algn="l">
                        <a:lnSpc>
                          <a:spcPct val="106000"/>
                        </a:lnSpc>
                        <a:spcAft>
                          <a:spcPts val="0"/>
                        </a:spcAft>
                      </a:pPr>
                      <a:r>
                        <a:rPr sz="1100" b="0">
                          <a:solidFill>
                            <a:srgbClr val="333333"/>
                          </a:solidFill>
                          <a:latin typeface="Courier New"/>
                        </a:rPr>
                        <a:t>state.location.lat = (int32_t)(RAD_TO_DEG_DOUBLE * position.latitude_rad * (double)1e7);</a:t>
                      </a:r>
                    </a:p>
                    <a:p>
                      <a:pPr algn="l">
                        <a:lnSpc>
                          <a:spcPct val="106000"/>
                        </a:lnSpc>
                        <a:spcAft>
                          <a:spcPts val="0"/>
                        </a:spcAft>
                      </a:pPr>
                      <a:r>
                        <a:rPr sz="1100" b="0">
                          <a:solidFill>
                            <a:srgbClr val="333333"/>
                          </a:solidFill>
                          <a:latin typeface="Courier New"/>
                        </a:rPr>
                        <a:t>state.location.lng = (int32_t)(RAD_TO_DEG_DOUBLE * position.longitude_rad * (double)1e7);</a:t>
                      </a:r>
                    </a:p>
                    <a:p>
                      <a:pPr algn="l">
                        <a:lnSpc>
                          <a:spcPct val="106000"/>
                        </a:lnSpc>
                        <a:spcAft>
                          <a:spcPts val="0"/>
                        </a:spcAft>
                      </a:pPr>
                      <a:r>
                        <a:rPr sz="1100" b="0">
                          <a:solidFill>
                            <a:srgbClr val="333333"/>
                          </a:solidFill>
                          <a:latin typeface="Courier New"/>
                        </a:rPr>
                        <a:t>state.location.alt = (int32_t)(position.altitude * 100);</a:t>
                      </a:r>
                    </a:p>
                    <a:p>
                      <a:pPr algn="l">
                        <a:lnSpc>
                          <a:spcPct val="106000"/>
                        </a:lnSpc>
                        <a:spcAft>
                          <a:spcPts val="0"/>
                        </a:spcAft>
                      </a:pPr>
                      <a:r>
                        <a:rPr sz="1100" b="0">
                          <a:solidFill>
                            <a:srgbClr val="333333"/>
                          </a:solidFill>
                          <a:latin typeface="Courier New"/>
                        </a:rPr>
                        <a:t>state.last_gps_time_ms = AP_HAL::millis();</a:t>
                      </a:r>
                    </a:p>
                    <a:p>
                      <a:pPr algn="l">
                        <a:lnSpc>
                          <a:spcPct val="106000"/>
                        </a:lnSpc>
                        <a:spcAft>
                          <a:spcPts val="0"/>
                        </a:spcAft>
                      </a:pPr>
                      <a:r>
                        <a:rPr sz="1100" b="0">
                          <a:solidFill>
                            <a:srgbClr val="333333"/>
                          </a:solidFill>
                          <a:latin typeface="Courier New"/>
                        </a:rPr>
                        <a:t>if ((vel.velocity_flags &amp; 1) == 1) {</a:t>
                      </a:r>
                    </a:p>
                    <a:p>
                      <a:pPr algn="l">
                        <a:lnSpc>
                          <a:spcPct val="106000"/>
                        </a:lnSpc>
                        <a:spcAft>
                          <a:spcPts val="0"/>
                        </a:spcAft>
                      </a:pPr>
                      <a:r>
                        <a:rPr sz="1100" b="0">
                          <a:solidFill>
                            <a:srgbClr val="333333"/>
                          </a:solidFill>
                          <a:latin typeface="Courier New"/>
                        </a:rPr>
                        <a:t>state.ground_speed = vel.horizontal_velocity;</a:t>
                      </a:r>
                    </a:p>
                    <a:p>
                      <a:pPr algn="l">
                        <a:lnSpc>
                          <a:spcPct val="106000"/>
                        </a:lnSpc>
                        <a:spcAft>
                          <a:spcPts val="0"/>
                        </a:spcAft>
                      </a:pPr>
                      <a:r>
                        <a:rPr sz="1100" b="0">
                          <a:solidFill>
                            <a:srgbClr val="333333"/>
                          </a:solidFill>
                          <a:latin typeface="Courier New"/>
                        </a:rPr>
                        <a:t>state.ground_course = wrap_360(degrees(vel.heading));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Courier New"/>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AP_GPS_DroneCAN backend</a:t>
                      </a:r>
                      <a:r>
                        <a:rPr sz="1100" b="0">
                          <a:solidFill>
                            <a:srgbClr val="999999"/>
                          </a:solidFill>
                          <a:latin typeface="Courier New"/>
                        </a:rPr>
                        <a:t>  ·  </a:t>
                      </a:r>
                      <a:r>
                        <a:rPr sz="1100" b="0">
                          <a:solidFill>
                            <a:srgbClr val="999999"/>
                          </a:solidFill>
                          <a:latin typeface="Courier New"/>
                        </a:rPr>
                        <a:t>Inheritance/Interface</a:t>
                      </a:r>
                    </a:p>
                    <a:p>
                      <a:pPr algn="l">
                        <a:lnSpc>
                          <a:spcPct val="106000"/>
                        </a:lnSpc>
                        <a:spcAft>
                          <a:spcPts val="0"/>
                        </a:spcAft>
                      </a:pPr>
                      <a:r>
                        <a:rPr sz="1100" b="0">
                          <a:solidFill>
                            <a:srgbClr val="333333"/>
                          </a:solidFill>
                          <a:latin typeface="Courier New"/>
                        </a:rPr>
                        <a:t>if (msg.height_msl_mm != msg.height_ellipsoid_mm) {</a:t>
                      </a:r>
                    </a:p>
                    <a:p>
                      <a:pPr algn="l">
                        <a:lnSpc>
                          <a:spcPct val="106000"/>
                        </a:lnSpc>
                        <a:spcAft>
                          <a:spcPts val="0"/>
                        </a:spcAft>
                      </a:pPr>
                      <a:r>
                        <a:rPr sz="1100" b="0">
                          <a:solidFill>
                            <a:srgbClr val="333333"/>
                          </a:solidFill>
                          <a:latin typeface="Courier New"/>
                        </a:rPr>
                        <a:t>seen_valid_height_ellipsoid = true;</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interim_state.have_undulation = seen_valid_height_ellipsoid;</a:t>
                      </a:r>
                    </a:p>
                    <a:p>
                      <a:pPr algn="l">
                        <a:lnSpc>
                          <a:spcPct val="106000"/>
                        </a:lnSpc>
                        <a:spcAft>
                          <a:spcPts val="0"/>
                        </a:spcAft>
                      </a:pPr>
                      <a:r>
                        <a:rPr sz="1100" b="0">
                          <a:solidFill>
                            <a:srgbClr val="333333"/>
                          </a:solidFill>
                          <a:latin typeface="Courier New"/>
                        </a:rPr>
                        <a:t>if (seen_valid_height_ellipsoid) {</a:t>
                      </a:r>
                    </a:p>
                    <a:p>
                      <a:pPr algn="l">
                        <a:lnSpc>
                          <a:spcPct val="106000"/>
                        </a:lnSpc>
                        <a:spcAft>
                          <a:spcPts val="0"/>
                        </a:spcAft>
                      </a:pPr>
                      <a:r>
                        <a:rPr sz="1100" b="0">
                          <a:solidFill>
                            <a:srgbClr val="333333"/>
                          </a:solidFill>
                          <a:latin typeface="Courier New"/>
                        </a:rPr>
                        <a:t>interim_state.undulation = (msg.height_msl_mm - msg.height_ellipsoid_mm) * 0.001;</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interim_state.location = loc;</a:t>
                      </a:r>
                    </a:p>
                    <a:p>
                      <a:pPr algn="l">
                        <a:lnSpc>
                          <a:spcPct val="106000"/>
                        </a:lnSpc>
                        <a:spcAft>
                          <a:spcPts val="0"/>
                        </a:spcAft>
                      </a:pPr>
                      <a:r>
                        <a:rPr sz="1100" b="0">
                          <a:solidFill>
                            <a:srgbClr val="333333"/>
                          </a:solidFill>
                          <a:latin typeface="Courier New"/>
                        </a:rPr>
                        <a:t>set_alt_amsl_cm(interim_state, alt_amsl_cm);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11–12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graphicFrame>
        <p:nvGraphicFramePr>
          <p:cNvPr id="6" name="Table 5"/>
          <p:cNvGraphicFramePr>
            <a:graphicFrameLocks noGrp="1"/>
          </p:cNvGraphicFramePr>
          <p:nvPr/>
        </p:nvGraphicFramePr>
        <p:xfrm>
          <a:off x="566928" y="1591056"/>
          <a:ext cx="11058144" cy="321458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Courier New"/>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AP_GPS_ExternalAHRS backend</a:t>
                      </a:r>
                      <a:r>
                        <a:rPr sz="1100" b="0">
                          <a:solidFill>
                            <a:srgbClr val="999999"/>
                          </a:solidFill>
                          <a:latin typeface="Courier New"/>
                        </a:rPr>
                        <a:t>  ·  </a:t>
                      </a:r>
                      <a:r>
                        <a:rPr sz="1100" b="0">
                          <a:solidFill>
                            <a:srgbClr val="999999"/>
                          </a:solidFill>
                          <a:latin typeface="Courier New"/>
                        </a:rPr>
                        <a:t>Inheritance/Interface</a:t>
                      </a:r>
                    </a:p>
                    <a:p>
                      <a:pPr algn="l">
                        <a:lnSpc>
                          <a:spcPct val="106000"/>
                        </a:lnSpc>
                        <a:spcAft>
                          <a:spcPts val="0"/>
                        </a:spcAft>
                      </a:pPr>
                      <a:r>
                        <a:rPr sz="1100" b="0">
                          <a:solidFill>
                            <a:srgbClr val="333333"/>
                          </a:solidFill>
                          <a:latin typeface="Courier New"/>
                        </a:rPr>
                        <a:t>state.num_sats = pkt.satellites_in_view;</a:t>
                      </a:r>
                    </a:p>
                    <a:p>
                      <a:pPr algn="l">
                        <a:lnSpc>
                          <a:spcPct val="106000"/>
                        </a:lnSpc>
                        <a:spcAft>
                          <a:spcPts val="0"/>
                        </a:spcAft>
                      </a:pPr>
                      <a:r>
                        <a:rPr sz="1100" b="0">
                          <a:solidFill>
                            <a:srgbClr val="333333"/>
                          </a:solidFill>
                          <a:latin typeface="Courier New"/>
                        </a:rPr>
                        <a:t>const Location loc {</a:t>
                      </a:r>
                    </a:p>
                    <a:p>
                      <a:pPr algn="l">
                        <a:lnSpc>
                          <a:spcPct val="106000"/>
                        </a:lnSpc>
                        <a:spcAft>
                          <a:spcPts val="0"/>
                        </a:spcAft>
                      </a:pPr>
                      <a:r>
                        <a:rPr sz="1100" b="0">
                          <a:solidFill>
                            <a:srgbClr val="333333"/>
                          </a:solidFill>
                          <a:latin typeface="Courier New"/>
                        </a:rPr>
                        <a:t>pkt.latitude,</a:t>
                      </a:r>
                    </a:p>
                    <a:p>
                      <a:pPr algn="l">
                        <a:lnSpc>
                          <a:spcPct val="106000"/>
                        </a:lnSpc>
                        <a:spcAft>
                          <a:spcPts val="0"/>
                        </a:spcAft>
                      </a:pPr>
                      <a:r>
                        <a:rPr sz="1100" b="0">
                          <a:solidFill>
                            <a:srgbClr val="333333"/>
                          </a:solidFill>
                          <a:latin typeface="Courier New"/>
                        </a:rPr>
                        <a:t>pkt.longitude,</a:t>
                      </a:r>
                    </a:p>
                    <a:p>
                      <a:pPr algn="l">
                        <a:lnSpc>
                          <a:spcPct val="106000"/>
                        </a:lnSpc>
                        <a:spcAft>
                          <a:spcPts val="0"/>
                        </a:spcAft>
                      </a:pPr>
                      <a:r>
                        <a:rPr sz="1100" b="0">
                          <a:solidFill>
                            <a:srgbClr val="333333"/>
                          </a:solidFill>
                          <a:latin typeface="Courier New"/>
                        </a:rPr>
                        <a:t>pkt.msl_altitude,</a:t>
                      </a:r>
                    </a:p>
                    <a:p>
                      <a:pPr algn="l">
                        <a:lnSpc>
                          <a:spcPct val="106000"/>
                        </a:lnSpc>
                        <a:spcAft>
                          <a:spcPts val="0"/>
                        </a:spcAft>
                      </a:pPr>
                      <a:r>
                        <a:rPr sz="1100" b="0">
                          <a:solidFill>
                            <a:srgbClr val="333333"/>
                          </a:solidFill>
                          <a:latin typeface="Courier New"/>
                        </a:rPr>
                        <a:t>Location::AltFrame::ABSOLUTE</a:t>
                      </a:r>
                    </a:p>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Courier New"/>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AP_GPS_SITL backend</a:t>
                      </a:r>
                      <a:r>
                        <a:rPr sz="1100" b="0">
                          <a:solidFill>
                            <a:srgbClr val="999999"/>
                          </a:solidFill>
                          <a:latin typeface="Courier New"/>
                        </a:rPr>
                        <a:t>  ·  </a:t>
                      </a:r>
                      <a:r>
                        <a:rPr sz="1100" b="0">
                          <a:solidFill>
                            <a:srgbClr val="999999"/>
                          </a:solidFill>
                          <a:latin typeface="Courier New"/>
                        </a:rPr>
                        <a:t>Inheritance/Interface</a:t>
                      </a:r>
                    </a:p>
                    <a:p>
                      <a:pPr algn="l">
                        <a:lnSpc>
                          <a:spcPct val="106000"/>
                        </a:lnSpc>
                        <a:spcAft>
                          <a:spcPts val="0"/>
                        </a:spcAft>
                      </a:pPr>
                      <a:r>
                        <a:rPr sz="1100" b="0">
                          <a:solidFill>
                            <a:srgbClr val="333333"/>
                          </a:solidFill>
                          <a:latin typeface="Courier New"/>
                        </a:rPr>
                        <a:t>state.status = AP_GPS::GPS_OK_FIX_3D;</a:t>
                      </a:r>
                    </a:p>
                    <a:p>
                      <a:pPr algn="l">
                        <a:lnSpc>
                          <a:spcPct val="106000"/>
                        </a:lnSpc>
                        <a:spcAft>
                          <a:spcPts val="0"/>
                        </a:spcAft>
                      </a:pPr>
                      <a:r>
                        <a:rPr sz="1100" b="0">
                          <a:solidFill>
                            <a:srgbClr val="333333"/>
                          </a:solidFill>
                          <a:latin typeface="Courier New"/>
                        </a:rPr>
                        <a:t>state.num_sats = 15;</a:t>
                      </a:r>
                    </a:p>
                    <a:p>
                      <a:pPr algn="l">
                        <a:lnSpc>
                          <a:spcPct val="106000"/>
                        </a:lnSpc>
                        <a:spcAft>
                          <a:spcPts val="0"/>
                        </a:spcAft>
                      </a:pPr>
                      <a:r>
                        <a:rPr sz="1100" b="0">
                          <a:solidFill>
                            <a:srgbClr val="333333"/>
                          </a:solidFill>
                          <a:latin typeface="Courier New"/>
                        </a:rPr>
                        <a:t>state.location = Location{</a:t>
                      </a:r>
                    </a:p>
                    <a:p>
                      <a:pPr algn="l">
                        <a:lnSpc>
                          <a:spcPct val="106000"/>
                        </a:lnSpc>
                        <a:spcAft>
                          <a:spcPts val="0"/>
                        </a:spcAft>
                      </a:pPr>
                      <a:r>
                        <a:rPr sz="1100" b="0">
                          <a:solidFill>
                            <a:srgbClr val="333333"/>
                          </a:solidFill>
                          <a:latin typeface="Courier New"/>
                        </a:rPr>
                        <a:t>int32_t(latitude*1e7),</a:t>
                      </a:r>
                    </a:p>
                    <a:p>
                      <a:pPr algn="l">
                        <a:lnSpc>
                          <a:spcPct val="106000"/>
                        </a:lnSpc>
                        <a:spcAft>
                          <a:spcPts val="0"/>
                        </a:spcAft>
                      </a:pPr>
                      <a:r>
                        <a:rPr sz="1100" b="0">
                          <a:solidFill>
                            <a:srgbClr val="333333"/>
                          </a:solidFill>
                          <a:latin typeface="Courier New"/>
                        </a:rPr>
                        <a:t>int32_t(longitude*1e7),</a:t>
                      </a:r>
                    </a:p>
                    <a:p>
                      <a:pPr algn="l">
                        <a:lnSpc>
                          <a:spcPct val="106000"/>
                        </a:lnSpc>
                        <a:spcAft>
                          <a:spcPts val="0"/>
                        </a:spcAft>
                      </a:pPr>
                      <a:r>
                        <a:rPr sz="1100" b="0">
                          <a:solidFill>
                            <a:srgbClr val="333333"/>
                          </a:solidFill>
                          <a:latin typeface="Courier New"/>
                        </a:rPr>
                        <a:t>int32_t(altitude*100),</a:t>
                      </a:r>
                    </a:p>
                    <a:p>
                      <a:pPr algn="l">
                        <a:lnSpc>
                          <a:spcPct val="106000"/>
                        </a:lnSpc>
                        <a:spcAft>
                          <a:spcPts val="0"/>
                        </a:spcAft>
                      </a:pPr>
                      <a:r>
                        <a:rPr sz="1100" b="0">
                          <a:solidFill>
                            <a:srgbClr val="333333"/>
                          </a:solidFill>
                          <a:latin typeface="Courier New"/>
                        </a:rPr>
                        <a:t>Location::AltFrame::ABSOLUTE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13–14</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graphicFrame>
        <p:nvGraphicFramePr>
          <p:cNvPr id="6" name="Table 5"/>
          <p:cNvGraphicFramePr>
            <a:graphicFrameLocks noGrp="1"/>
          </p:cNvGraphicFramePr>
          <p:nvPr/>
        </p:nvGraphicFramePr>
        <p:xfrm>
          <a:off x="566928" y="1591056"/>
          <a:ext cx="11058144" cy="321458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Courier New"/>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AP_GPS_Backend::fill_3d_velocity()</a:t>
                      </a:r>
                      <a:r>
                        <a:rPr sz="1100" b="0">
                          <a:solidFill>
                            <a:srgbClr val="999999"/>
                          </a:solidFill>
                          <a:latin typeface="Courier New"/>
                        </a:rPr>
                        <a:t>  ·  </a:t>
                      </a:r>
                      <a:r>
                        <a:rPr sz="1100" b="0">
                          <a:solidFill>
                            <a:srgbClr val="999999"/>
                          </a:solidFill>
                          <a:latin typeface="Courier New"/>
                        </a:rPr>
                        <a:t>Data dependency</a:t>
                      </a:r>
                    </a:p>
                    <a:p>
                      <a:pPr algn="l">
                        <a:lnSpc>
                          <a:spcPct val="106000"/>
                        </a:lnSpc>
                        <a:spcAft>
                          <a:spcPts val="0"/>
                        </a:spcAft>
                      </a:pPr>
                      <a:r>
                        <a:rPr sz="1100" b="0">
                          <a:solidFill>
                            <a:srgbClr val="333333"/>
                          </a:solidFill>
                          <a:latin typeface="Courier New"/>
                        </a:rPr>
                        <a:t>void AP_GPS_Backend::fill_3d_velocity(void)</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float gps_heading = radians(state.ground_course);</a:t>
                      </a:r>
                    </a:p>
                    <a:p>
                      <a:pPr algn="l">
                        <a:lnSpc>
                          <a:spcPct val="106000"/>
                        </a:lnSpc>
                        <a:spcAft>
                          <a:spcPts val="0"/>
                        </a:spcAft>
                      </a:pPr>
                      <a:r>
                        <a:rPr sz="1100" b="0">
                          <a:solidFill>
                            <a:srgbClr val="333333"/>
                          </a:solidFill>
                          <a:latin typeface="Courier New"/>
                        </a:rPr>
                        <a:t>state.velocity.x = state.ground_speed * cosf(gps_heading);</a:t>
                      </a:r>
                    </a:p>
                    <a:p>
                      <a:pPr algn="l">
                        <a:lnSpc>
                          <a:spcPct val="106000"/>
                        </a:lnSpc>
                        <a:spcAft>
                          <a:spcPts val="0"/>
                        </a:spcAft>
                      </a:pPr>
                      <a:r>
                        <a:rPr sz="1100" b="0">
                          <a:solidFill>
                            <a:srgbClr val="333333"/>
                          </a:solidFill>
                          <a:latin typeface="Courier New"/>
                        </a:rPr>
                        <a:t>state.velocity.y = state.ground_speed * sinf(gps_heading);</a:t>
                      </a:r>
                    </a:p>
                    <a:p>
                      <a:pPr algn="l">
                        <a:lnSpc>
                          <a:spcPct val="106000"/>
                        </a:lnSpc>
                        <a:spcAft>
                          <a:spcPts val="0"/>
                        </a:spcAft>
                      </a:pPr>
                      <a:r>
                        <a:rPr sz="1100" b="0">
                          <a:solidFill>
                            <a:srgbClr val="333333"/>
                          </a:solidFill>
                          <a:latin typeface="Courier New"/>
                        </a:rPr>
                        <a:t>state.velocity.z = 0;</a:t>
                      </a:r>
                    </a:p>
                    <a:p>
                      <a:pPr algn="l">
                        <a:lnSpc>
                          <a:spcPct val="106000"/>
                        </a:lnSpc>
                        <a:spcAft>
                          <a:spcPts val="0"/>
                        </a:spcAft>
                      </a:pPr>
                      <a:r>
                        <a:rPr sz="1100" b="0">
                          <a:solidFill>
                            <a:srgbClr val="333333"/>
                          </a:solidFill>
                          <a:latin typeface="Courier New"/>
                        </a:rPr>
                        <a:t>state.have_vertical_velocity = false;</a:t>
                      </a:r>
                    </a:p>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9483">
                <a:tc>
                  <a:txBody>
                    <a:bodyPr wrap="square">
                      <a:noAutofit/>
                    </a:bodyPr>
                    <a:lstStyle/>
                    <a:p>
                      <a:pPr algn="r">
                        <a:lnSpc>
                          <a:spcPct val="106000"/>
                        </a:lnSpc>
                        <a:spcAft>
                          <a:spcPts val="0"/>
                        </a:spcAft>
                      </a:pPr>
                      <a:r>
                        <a:rPr sz="1100" b="1">
                          <a:solidFill>
                            <a:srgbClr val="333333"/>
                          </a:solidFill>
                          <a:latin typeface="Courier New"/>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AP_GPS::location()</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const Location &amp;location(uint8_t instance) const {</a:t>
                      </a:r>
                    </a:p>
                    <a:p>
                      <a:pPr algn="l">
                        <a:lnSpc>
                          <a:spcPct val="106000"/>
                        </a:lnSpc>
                        <a:spcAft>
                          <a:spcPts val="0"/>
                        </a:spcAft>
                      </a:pPr>
                      <a:r>
                        <a:rPr sz="1100" b="0">
                          <a:solidFill>
                            <a:srgbClr val="333333"/>
                          </a:solidFill>
                          <a:latin typeface="Courier New"/>
                        </a:rPr>
                        <a:t>return state[instance].location;</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const Location &amp;location() const {</a:t>
                      </a:r>
                    </a:p>
                    <a:p>
                      <a:pPr algn="l">
                        <a:lnSpc>
                          <a:spcPct val="106000"/>
                        </a:lnSpc>
                        <a:spcAft>
                          <a:spcPts val="0"/>
                        </a:spcAft>
                      </a:pPr>
                      <a:r>
                        <a:rPr sz="1100" b="0">
                          <a:solidFill>
                            <a:srgbClr val="333333"/>
                          </a:solidFill>
                          <a:latin typeface="Courier New"/>
                        </a:rPr>
                        <a:t>return location(primary_instance);</a:t>
                      </a:r>
                    </a:p>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15–16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graphicFrame>
        <p:nvGraphicFramePr>
          <p:cNvPr id="6" name="Table 5"/>
          <p:cNvGraphicFramePr>
            <a:graphicFrameLocks noGrp="1"/>
          </p:cNvGraphicFramePr>
          <p:nvPr/>
        </p:nvGraphicFramePr>
        <p:xfrm>
          <a:off x="566928" y="1591056"/>
          <a:ext cx="11058144" cy="37476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9483">
                <a:tc>
                  <a:txBody>
                    <a:bodyPr wrap="square">
                      <a:noAutofit/>
                    </a:bodyPr>
                    <a:lstStyle/>
                    <a:p>
                      <a:pPr algn="r">
                        <a:lnSpc>
                          <a:spcPct val="106000"/>
                        </a:lnSpc>
                        <a:spcAft>
                          <a:spcPts val="0"/>
                        </a:spcAft>
                      </a:pPr>
                      <a:r>
                        <a:rPr sz="1100" b="1">
                          <a:solidFill>
                            <a:srgbClr val="333333"/>
                          </a:solidFill>
                          <a:latin typeface="Courier New"/>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AP_GPS::velocity()</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const Vector3f &amp;velocity(uint8_t instance) const {</a:t>
                      </a:r>
                    </a:p>
                    <a:p>
                      <a:pPr algn="l">
                        <a:lnSpc>
                          <a:spcPct val="106000"/>
                        </a:lnSpc>
                        <a:spcAft>
                          <a:spcPts val="0"/>
                        </a:spcAft>
                      </a:pPr>
                      <a:r>
                        <a:rPr sz="1100" b="0">
                          <a:solidFill>
                            <a:srgbClr val="333333"/>
                          </a:solidFill>
                          <a:latin typeface="Courier New"/>
                        </a:rPr>
                        <a:t>return state[instance].velocity;</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const Vector3f &amp;velocity() const {</a:t>
                      </a:r>
                    </a:p>
                    <a:p>
                      <a:pPr algn="l">
                        <a:lnSpc>
                          <a:spcPct val="106000"/>
                        </a:lnSpc>
                        <a:spcAft>
                          <a:spcPts val="0"/>
                        </a:spcAft>
                      </a:pPr>
                      <a:r>
                        <a:rPr sz="1100" b="0">
                          <a:solidFill>
                            <a:srgbClr val="333333"/>
                          </a:solidFill>
                          <a:latin typeface="Courier New"/>
                        </a:rPr>
                        <a:t>return velocity(primary_instance);</a:t>
                      </a:r>
                    </a:p>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197975">
                <a:tc>
                  <a:txBody>
                    <a:bodyPr wrap="square">
                      <a:noAutofit/>
                    </a:bodyPr>
                    <a:lstStyle/>
                    <a:p>
                      <a:pPr algn="r">
                        <a:lnSpc>
                          <a:spcPct val="106000"/>
                        </a:lnSpc>
                        <a:spcAft>
                          <a:spcPts val="0"/>
                        </a:spcAft>
                      </a:pPr>
                      <a:r>
                        <a:rPr sz="1100" b="1">
                          <a:solidFill>
                            <a:srgbClr val="333333"/>
                          </a:solidFill>
                          <a:latin typeface="Courier New"/>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AP_GPS::GPS_State (struct)</a:t>
                      </a:r>
                      <a:r>
                        <a:rPr sz="1100" b="0">
                          <a:solidFill>
                            <a:srgbClr val="999999"/>
                          </a:solidFill>
                          <a:latin typeface="Courier New"/>
                        </a:rPr>
                        <a:t>  ·  </a:t>
                      </a:r>
                      <a:r>
                        <a:rPr sz="1100" b="0">
                          <a:solidFill>
                            <a:srgbClr val="999999"/>
                          </a:solidFill>
                          <a:latin typeface="Courier New"/>
                        </a:rPr>
                        <a:t>Data dependency</a:t>
                      </a:r>
                    </a:p>
                    <a:p>
                      <a:pPr algn="l">
                        <a:lnSpc>
                          <a:spcPct val="106000"/>
                        </a:lnSpc>
                        <a:spcAft>
                          <a:spcPts val="0"/>
                        </a:spcAft>
                      </a:pPr>
                      <a:r>
                        <a:rPr sz="1100" b="0">
                          <a:solidFill>
                            <a:srgbClr val="333333"/>
                          </a:solidFill>
                          <a:latin typeface="Courier New"/>
                        </a:rPr>
                        <a:t>struct GPS_State {</a:t>
                      </a:r>
                    </a:p>
                    <a:p>
                      <a:pPr algn="l">
                        <a:lnSpc>
                          <a:spcPct val="106000"/>
                        </a:lnSpc>
                        <a:spcAft>
                          <a:spcPts val="0"/>
                        </a:spcAft>
                      </a:pPr>
                      <a:r>
                        <a:rPr sz="1100" b="0">
                          <a:solidFill>
                            <a:srgbClr val="333333"/>
                          </a:solidFill>
                          <a:latin typeface="Courier New"/>
                        </a:rPr>
                        <a:t>uint8_t instance; // the instance number of this GPS</a:t>
                      </a:r>
                    </a:p>
                    <a:p>
                      <a:pPr algn="l">
                        <a:lnSpc>
                          <a:spcPct val="106000"/>
                        </a:lnSpc>
                        <a:spcAft>
                          <a:spcPts val="0"/>
                        </a:spcAft>
                      </a:pPr>
                      <a:r>
                        <a:rPr sz="1100" b="0">
                          <a:solidFill>
                            <a:srgbClr val="333333"/>
                          </a:solidFill>
                          <a:latin typeface="Courier New"/>
                        </a:rPr>
                        <a:t>// all the following fields must all be filled by the backend driver</a:t>
                      </a:r>
                    </a:p>
                    <a:p>
                      <a:pPr algn="l">
                        <a:lnSpc>
                          <a:spcPct val="106000"/>
                        </a:lnSpc>
                        <a:spcAft>
                          <a:spcPts val="0"/>
                        </a:spcAft>
                      </a:pPr>
                      <a:r>
                        <a:rPr sz="1100" b="0">
                          <a:solidFill>
                            <a:srgbClr val="333333"/>
                          </a:solidFill>
                          <a:latin typeface="Courier New"/>
                        </a:rPr>
                        <a:t>GPS_Status status; ///&lt; driver fix status</a:t>
                      </a:r>
                    </a:p>
                    <a:p>
                      <a:pPr algn="l">
                        <a:lnSpc>
                          <a:spcPct val="106000"/>
                        </a:lnSpc>
                        <a:spcAft>
                          <a:spcPts val="0"/>
                        </a:spcAft>
                      </a:pPr>
                      <a:r>
                        <a:rPr sz="1100" b="0">
                          <a:solidFill>
                            <a:srgbClr val="333333"/>
                          </a:solidFill>
                          <a:latin typeface="Courier New"/>
                        </a:rPr>
                        <a:t>uint32_t time_week_ms; ///&lt; GPS time (milliseconds from start of GPS week)</a:t>
                      </a:r>
                    </a:p>
                    <a:p>
                      <a:pPr algn="l">
                        <a:lnSpc>
                          <a:spcPct val="106000"/>
                        </a:lnSpc>
                        <a:spcAft>
                          <a:spcPts val="0"/>
                        </a:spcAft>
                      </a:pPr>
                      <a:r>
                        <a:rPr sz="1100" b="0">
                          <a:solidFill>
                            <a:srgbClr val="333333"/>
                          </a:solidFill>
                          <a:latin typeface="Courier New"/>
                        </a:rPr>
                        <a:t>uint16_t time_week; ///&lt; GPS week number</a:t>
                      </a:r>
                    </a:p>
                    <a:p>
                      <a:pPr algn="l">
                        <a:lnSpc>
                          <a:spcPct val="106000"/>
                        </a:lnSpc>
                        <a:spcAft>
                          <a:spcPts val="0"/>
                        </a:spcAft>
                      </a:pPr>
                      <a:r>
                        <a:rPr sz="1100" b="0">
                          <a:solidFill>
                            <a:srgbClr val="333333"/>
                          </a:solidFill>
                          <a:latin typeface="Courier New"/>
                        </a:rPr>
                        <a:t>Location location; ///&lt; last fix location</a:t>
                      </a:r>
                    </a:p>
                    <a:p>
                      <a:pPr algn="l">
                        <a:lnSpc>
                          <a:spcPct val="106000"/>
                        </a:lnSpc>
                        <a:spcAft>
                          <a:spcPts val="0"/>
                        </a:spcAft>
                      </a:pPr>
                      <a:r>
                        <a:rPr sz="1100" b="0">
                          <a:solidFill>
                            <a:srgbClr val="333333"/>
                          </a:solidFill>
                          <a:latin typeface="Courier New"/>
                        </a:rPr>
                        <a:t>float ground_speed; ///&lt; ground speed in m</a:t>
                      </a:r>
                    </a:p>
                    <a:p>
                      <a:pPr algn="l">
                        <a:lnSpc>
                          <a:spcPct val="106000"/>
                        </a:lnSpc>
                        <a:spcAft>
                          <a:spcPts val="0"/>
                        </a:spcAft>
                      </a:pPr>
                      <a:r>
                        <a:rPr sz="1100" b="0">
                          <a:solidFill>
                            <a:srgbClr val="333333"/>
                          </a:solidFill>
                          <a:latin typeface="Courier New"/>
                        </a:rPr>
                        <a:t>/s</a:t>
                      </a:r>
                    </a:p>
                    <a:p>
                      <a:pPr algn="l">
                        <a:lnSpc>
                          <a:spcPct val="106000"/>
                        </a:lnSpc>
                        <a:spcAft>
                          <a:spcPts val="0"/>
                        </a:spcAft>
                      </a:pPr>
                      <a:r>
                        <a:rPr sz="1100" b="0">
                          <a:solidFill>
                            <a:srgbClr val="333333"/>
                          </a:solidFill>
                          <a:latin typeface="Courier New"/>
                        </a:rPr>
                        <a:t>float ground_course; ///&lt; ground course in</a:t>
                      </a:r>
                    </a:p>
                    <a:p>
                      <a:pPr algn="l">
                        <a:lnSpc>
                          <a:spcPct val="106000"/>
                        </a:lnSpc>
                        <a:spcAft>
                          <a:spcPts val="0"/>
                        </a:spcAft>
                      </a:pPr>
                      <a:r>
                        <a:rPr sz="1100" b="0">
                          <a:solidFill>
                            <a:srgbClr val="333333"/>
                          </a:solidFill>
                          <a:latin typeface="Courier New"/>
                        </a:rPr>
                        <a:t>degrees, wrapped 0-360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17–18</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Courier New"/>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AP_GPS_Blended::_calc_weights()</a:t>
                      </a:r>
                      <a:r>
                        <a:rPr sz="1100" b="0">
                          <a:solidFill>
                            <a:srgbClr val="999999"/>
                          </a:solidFill>
                          <a:latin typeface="Courier New"/>
                        </a:rPr>
                        <a:t>  ·  </a:t>
                      </a:r>
                      <a:r>
                        <a:rPr sz="1100" b="0">
                          <a:solidFill>
                            <a:srgbClr val="999999"/>
                          </a:solidFill>
                          <a:latin typeface="Courier New"/>
                        </a:rPr>
                        <a:t>Data dependency</a:t>
                      </a:r>
                    </a:p>
                    <a:p>
                      <a:pPr algn="l">
                        <a:lnSpc>
                          <a:spcPct val="106000"/>
                        </a:lnSpc>
                        <a:spcAft>
                          <a:spcPts val="0"/>
                        </a:spcAft>
                      </a:pPr>
                      <a:r>
                        <a:rPr sz="1100" b="0">
                          <a:solidFill>
                            <a:srgbClr val="333333"/>
                          </a:solidFill>
                          <a:latin typeface="Courier New"/>
                        </a:rPr>
                        <a:t>bool AP_GPS_Blended::_calc_weights(void)</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zero the blend weights</a:t>
                      </a:r>
                    </a:p>
                    <a:p>
                      <a:pPr algn="l">
                        <a:lnSpc>
                          <a:spcPct val="106000"/>
                        </a:lnSpc>
                        <a:spcAft>
                          <a:spcPts val="0"/>
                        </a:spcAft>
                      </a:pPr>
                      <a:r>
                        <a:rPr sz="1100" b="0">
                          <a:solidFill>
                            <a:srgbClr val="333333"/>
                          </a:solidFill>
                          <a:latin typeface="Courier New"/>
                        </a:rPr>
                        <a:t>memset(&amp;_blend_weights, 0, sizeof(_blend_weights));</a:t>
                      </a:r>
                    </a:p>
                    <a:p>
                      <a:pPr algn="l">
                        <a:lnSpc>
                          <a:spcPct val="106000"/>
                        </a:lnSpc>
                        <a:spcAft>
                          <a:spcPts val="0"/>
                        </a:spcAft>
                      </a:pPr>
                      <a:r>
                        <a:rPr sz="1100" b="0">
                          <a:solidFill>
                            <a:srgbClr val="333333"/>
                          </a:solidFill>
                          <a:latin typeface="Courier New"/>
                        </a:rPr>
                        <a:t>static_assert(GPS_MAX_RECEIVERS == 2, "GPS blending only currently works with 2 receivers");</a:t>
                      </a:r>
                    </a:p>
                    <a:p>
                      <a:pPr algn="l">
                        <a:lnSpc>
                          <a:spcPct val="106000"/>
                        </a:lnSpc>
                        <a:spcAft>
                          <a:spcPts val="0"/>
                        </a:spcAft>
                      </a:pPr>
                      <a:r>
                        <a:rPr sz="1100" b="0">
                          <a:solidFill>
                            <a:srgbClr val="333333"/>
                          </a:solidFill>
                          <a:latin typeface="Courier New"/>
                        </a:rPr>
                        <a:t>// Note that the early quit below relies upon exactly 2 instances</a:t>
                      </a:r>
                    </a:p>
                    <a:p>
                      <a:pPr algn="l">
                        <a:lnSpc>
                          <a:spcPct val="106000"/>
                        </a:lnSpc>
                        <a:spcAft>
                          <a:spcPts val="0"/>
                        </a:spcAft>
                      </a:pPr>
                      <a:r>
                        <a:rPr sz="1100" b="0">
                          <a:solidFill>
                            <a:srgbClr val="333333"/>
                          </a:solidFill>
                          <a:latin typeface="Courier New"/>
                        </a:rPr>
                        <a:t>// The time delta calculations below also rely upon every instance being currently detected and being parsed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375673">
                <a:tc>
                  <a:txBody>
                    <a:bodyPr wrap="square">
                      <a:noAutofit/>
                    </a:bodyPr>
                    <a:lstStyle/>
                    <a:p>
                      <a:pPr algn="r">
                        <a:lnSpc>
                          <a:spcPct val="106000"/>
                        </a:lnSpc>
                        <a:spcAft>
                          <a:spcPts val="0"/>
                        </a:spcAft>
                      </a:pPr>
                      <a:r>
                        <a:rPr sz="1100" b="1">
                          <a:solidFill>
                            <a:srgbClr val="333333"/>
                          </a:solidFill>
                          <a:latin typeface="Courier New"/>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class Location</a:t>
                      </a:r>
                      <a:r>
                        <a:rPr sz="1100" b="0">
                          <a:solidFill>
                            <a:srgbClr val="999999"/>
                          </a:solidFill>
                          <a:latin typeface="Courier New"/>
                        </a:rPr>
                        <a:t>  ·  </a:t>
                      </a:r>
                      <a:r>
                        <a:rPr sz="1100" b="0">
                          <a:solidFill>
                            <a:srgbClr val="999999"/>
                          </a:solidFill>
                          <a:latin typeface="Courier New"/>
                        </a:rPr>
                        <a:t>Data dependency</a:t>
                      </a:r>
                    </a:p>
                    <a:p>
                      <a:pPr algn="l">
                        <a:lnSpc>
                          <a:spcPct val="106000"/>
                        </a:lnSpc>
                        <a:spcAft>
                          <a:spcPts val="0"/>
                        </a:spcAft>
                      </a:pPr>
                      <a:r>
                        <a:rPr sz="1100" b="0">
                          <a:solidFill>
                            <a:srgbClr val="333333"/>
                          </a:solidFill>
                          <a:latin typeface="Courier New"/>
                        </a:rPr>
                        <a:t>uint8_t relative_alt : 1; // 1 if altitude is relative to home</a:t>
                      </a:r>
                    </a:p>
                    <a:p>
                      <a:pPr algn="l">
                        <a:lnSpc>
                          <a:spcPct val="106000"/>
                        </a:lnSpc>
                        <a:spcAft>
                          <a:spcPts val="0"/>
                        </a:spcAft>
                      </a:pPr>
                      <a:r>
                        <a:rPr sz="1100" b="0">
                          <a:solidFill>
                            <a:srgbClr val="333333"/>
                          </a:solidFill>
                          <a:latin typeface="Courier New"/>
                        </a:rPr>
                        <a:t>uint8_t loiter_ccw : 1; // 0 if clockwise, 1 if counter clockwise</a:t>
                      </a:r>
                    </a:p>
                    <a:p>
                      <a:pPr algn="l">
                        <a:lnSpc>
                          <a:spcPct val="106000"/>
                        </a:lnSpc>
                        <a:spcAft>
                          <a:spcPts val="0"/>
                        </a:spcAft>
                      </a:pPr>
                      <a:r>
                        <a:rPr sz="1100" b="0">
                          <a:solidFill>
                            <a:srgbClr val="333333"/>
                          </a:solidFill>
                          <a:latin typeface="Courier New"/>
                        </a:rPr>
                        <a:t>uint8_t terrain_alt : 1; // this altitude is above</a:t>
                      </a:r>
                    </a:p>
                    <a:p>
                      <a:pPr algn="l">
                        <a:lnSpc>
                          <a:spcPct val="106000"/>
                        </a:lnSpc>
                        <a:spcAft>
                          <a:spcPts val="0"/>
                        </a:spcAft>
                      </a:pPr>
                      <a:r>
                        <a:rPr sz="1100" b="0">
                          <a:solidFill>
                            <a:srgbClr val="333333"/>
                          </a:solidFill>
                          <a:latin typeface="Courier New"/>
                        </a:rPr>
                        <a:t>terrain</a:t>
                      </a:r>
                    </a:p>
                    <a:p>
                      <a:pPr algn="l">
                        <a:lnSpc>
                          <a:spcPct val="106000"/>
                        </a:lnSpc>
                        <a:spcAft>
                          <a:spcPts val="0"/>
                        </a:spcAft>
                      </a:pPr>
                      <a:r>
                        <a:rPr sz="1100" b="0">
                          <a:solidFill>
                            <a:srgbClr val="333333"/>
                          </a:solidFill>
                          <a:latin typeface="Courier New"/>
                        </a:rPr>
                        <a:t>uint8_t origin_alt : 1; // this altitude is above</a:t>
                      </a:r>
                    </a:p>
                    <a:p>
                      <a:pPr algn="l">
                        <a:lnSpc>
                          <a:spcPct val="106000"/>
                        </a:lnSpc>
                        <a:spcAft>
                          <a:spcPts val="0"/>
                        </a:spcAft>
                      </a:pPr>
                      <a:r>
                        <a:rPr sz="1100" b="0">
                          <a:solidFill>
                            <a:srgbClr val="333333"/>
                          </a:solidFill>
                          <a:latin typeface="Courier New"/>
                        </a:rPr>
                        <a:t>ekf origin</a:t>
                      </a:r>
                    </a:p>
                    <a:p>
                      <a:pPr algn="l">
                        <a:lnSpc>
                          <a:spcPct val="106000"/>
                        </a:lnSpc>
                        <a:spcAft>
                          <a:spcPts val="0"/>
                        </a:spcAft>
                      </a:pPr>
                      <a:r>
                        <a:rPr sz="1100" b="0">
                          <a:solidFill>
                            <a:srgbClr val="333333"/>
                          </a:solidFill>
                          <a:latin typeface="Courier New"/>
                        </a:rPr>
                        <a:t>uint8_t loiter_xtrack : 1; // 0 to crosstrack from center of waypoint, 1 to crosstrack from tangent exit location</a:t>
                      </a:r>
                    </a:p>
                    <a:p>
                      <a:pPr algn="l">
                        <a:lnSpc>
                          <a:spcPct val="106000"/>
                        </a:lnSpc>
                        <a:spcAft>
                          <a:spcPts val="0"/>
                        </a:spcAft>
                      </a:pPr>
                      <a:r>
                        <a:rPr sz="1100" b="0">
                          <a:solidFill>
                            <a:srgbClr val="333333"/>
                          </a:solidFill>
                          <a:latin typeface="Courier New"/>
                        </a:rPr>
                        <a:t>// note that mission storage only stores 24 bits of altitude (</a:t>
                      </a:r>
                    </a:p>
                    <a:p>
                      <a:pPr algn="l">
                        <a:lnSpc>
                          <a:spcPct val="106000"/>
                        </a:lnSpc>
                        <a:spcAft>
                          <a:spcPts val="0"/>
                        </a:spcAft>
                      </a:pPr>
                      <a:r>
                        <a:rPr sz="1100" b="0">
                          <a:solidFill>
                            <a:srgbClr val="333333"/>
                          </a:solidFill>
                          <a:latin typeface="Courier New"/>
                        </a:rPr>
                        <a:t>~ +/- 83km)</a:t>
                      </a:r>
                    </a:p>
                    <a:p>
                      <a:pPr algn="l">
                        <a:lnSpc>
                          <a:spcPct val="106000"/>
                        </a:lnSpc>
                        <a:spcAft>
                          <a:spcPts val="0"/>
                        </a:spcAft>
                      </a:pPr>
                      <a:r>
                        <a:rPr sz="1100" b="0">
                          <a:solidFill>
                            <a:srgbClr val="333333"/>
                          </a:solidFill>
                          <a:latin typeface="Courier New"/>
                        </a:rPr>
                        <a:t>int32_t alt; // in cm</a:t>
                      </a:r>
                    </a:p>
                    <a:p>
                      <a:pPr algn="l">
                        <a:lnSpc>
                          <a:spcPct val="106000"/>
                        </a:lnSpc>
                        <a:spcAft>
                          <a:spcPts val="0"/>
                        </a:spcAft>
                      </a:pPr>
                      <a:r>
                        <a:rPr sz="1100" b="0">
                          <a:solidFill>
                            <a:srgbClr val="333333"/>
                          </a:solidFill>
                          <a:latin typeface="Courier New"/>
                        </a:rPr>
                        <a:t>int32_t lat; // in 1E7 degrees</a:t>
                      </a:r>
                    </a:p>
                    <a:p>
                      <a:pPr algn="l">
                        <a:lnSpc>
                          <a:spcPct val="106000"/>
                        </a:lnSpc>
                        <a:spcAft>
                          <a:spcPts val="0"/>
                        </a:spcAft>
                      </a:pPr>
                      <a:r>
                        <a:rPr sz="1100" b="0">
                          <a:solidFill>
                            <a:srgbClr val="333333"/>
                          </a:solidFill>
                          <a:latin typeface="Courier New"/>
                        </a:rPr>
                        <a:t>int32_t lng; // in 1E7 degrees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19–20</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Courier New"/>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Location::get_vector_from_origin_NEU_cm()</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bool Location::get_vector_from_origin_NEU_cm(T &amp;vec_neu) const</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convert altitude</a:t>
                      </a:r>
                    </a:p>
                    <a:p>
                      <a:pPr algn="l">
                        <a:lnSpc>
                          <a:spcPct val="106000"/>
                        </a:lnSpc>
                        <a:spcAft>
                          <a:spcPts val="0"/>
                        </a:spcAft>
                      </a:pPr>
                      <a:r>
                        <a:rPr sz="1100" b="0">
                          <a:solidFill>
                            <a:srgbClr val="333333"/>
                          </a:solidFill>
                          <a:latin typeface="Courier New"/>
                        </a:rPr>
                        <a:t>int32_t alt_above_origin_cm = 0;</a:t>
                      </a:r>
                    </a:p>
                    <a:p>
                      <a:pPr algn="l">
                        <a:lnSpc>
                          <a:spcPct val="106000"/>
                        </a:lnSpc>
                        <a:spcAft>
                          <a:spcPts val="0"/>
                        </a:spcAft>
                      </a:pPr>
                      <a:r>
                        <a:rPr sz="1100" b="0">
                          <a:solidFill>
                            <a:srgbClr val="333333"/>
                          </a:solidFill>
                          <a:latin typeface="Courier New"/>
                        </a:rPr>
                        <a:t>if (!get_alt_cm(AltFrame::ABOVE_ORIGIN, alt_above_origin_cm))</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return false;</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convert lat, lon</a:t>
                      </a:r>
                    </a:p>
                    <a:p>
                      <a:pPr algn="l">
                        <a:lnSpc>
                          <a:spcPct val="106000"/>
                        </a:lnSpc>
                        <a:spcAft>
                          <a:spcPts val="0"/>
                        </a:spcAft>
                      </a:pPr>
                      <a:r>
                        <a:rPr sz="1100" b="0">
                          <a:solidFill>
                            <a:srgbClr val="333333"/>
                          </a:solidFill>
                          <a:latin typeface="Courier New"/>
                        </a:rPr>
                        <a:t>if (!get_vector_xy_from_origin_NE_cm(vec_neu.xy()))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842578">
                <a:tc>
                  <a:txBody>
                    <a:bodyPr wrap="square">
                      <a:noAutofit/>
                    </a:bodyPr>
                    <a:lstStyle/>
                    <a:p>
                      <a:pPr algn="r">
                        <a:lnSpc>
                          <a:spcPct val="106000"/>
                        </a:lnSpc>
                        <a:spcAft>
                          <a:spcPts val="0"/>
                        </a:spcAft>
                      </a:pPr>
                      <a:r>
                        <a:rPr sz="1100" b="1">
                          <a:solidFill>
                            <a:srgbClr val="333333"/>
                          </a:solidFill>
                          <a:latin typeface="Courier New"/>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AP_InertialNav::update()</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void AP_InertialNav::update(bool high_vibes)</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get the NE position relative to the local earth frame origin</a:t>
                      </a:r>
                    </a:p>
                    <a:p>
                      <a:pPr algn="l">
                        <a:lnSpc>
                          <a:spcPct val="106000"/>
                        </a:lnSpc>
                        <a:spcAft>
                          <a:spcPts val="0"/>
                        </a:spcAft>
                      </a:pPr>
                      <a:r>
                        <a:rPr sz="1100" b="0">
                          <a:solidFill>
                            <a:srgbClr val="333333"/>
                          </a:solidFill>
                          <a:latin typeface="Courier New"/>
                        </a:rPr>
                        <a:t>Vector2f posNE;</a:t>
                      </a:r>
                    </a:p>
                    <a:p>
                      <a:pPr algn="l">
                        <a:lnSpc>
                          <a:spcPct val="106000"/>
                        </a:lnSpc>
                        <a:spcAft>
                          <a:spcPts val="0"/>
                        </a:spcAft>
                      </a:pPr>
                      <a:r>
                        <a:rPr sz="1100" b="0">
                          <a:solidFill>
                            <a:srgbClr val="333333"/>
                          </a:solidFill>
                          <a:latin typeface="Courier New"/>
                        </a:rPr>
                        <a:t>if (_ahrs_ekf.get_relative_position_NE_origin_float(posNE)) {</a:t>
                      </a:r>
                    </a:p>
                    <a:p>
                      <a:pPr algn="l">
                        <a:lnSpc>
                          <a:spcPct val="106000"/>
                        </a:lnSpc>
                        <a:spcAft>
                          <a:spcPts val="0"/>
                        </a:spcAft>
                      </a:pPr>
                      <a:r>
                        <a:rPr sz="1100" b="0">
                          <a:solidFill>
                            <a:srgbClr val="333333"/>
                          </a:solidFill>
                          <a:latin typeface="Courier New"/>
                        </a:rPr>
                        <a:t>_relpos_cm.x = posNE.x * 100; // convert from m to cm</a:t>
                      </a:r>
                    </a:p>
                    <a:p>
                      <a:pPr algn="l">
                        <a:lnSpc>
                          <a:spcPct val="106000"/>
                        </a:lnSpc>
                        <a:spcAft>
                          <a:spcPts val="0"/>
                        </a:spcAft>
                      </a:pPr>
                      <a:r>
                        <a:rPr sz="1100" b="0">
                          <a:solidFill>
                            <a:srgbClr val="333333"/>
                          </a:solidFill>
                          <a:latin typeface="Courier New"/>
                        </a:rPr>
                        <a:t>_relpos_cm.y = posNE.y * 100; // convert from m to cm</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get the D position relative to the local earth frame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21–22</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graphicFrame>
        <p:nvGraphicFramePr>
          <p:cNvPr id="6" name="Table 5"/>
          <p:cNvGraphicFramePr>
            <a:graphicFrameLocks noGrp="1"/>
          </p:cNvGraphicFramePr>
          <p:nvPr/>
        </p:nvGraphicFramePr>
        <p:xfrm>
          <a:off x="566928" y="1591056"/>
          <a:ext cx="11058144" cy="463616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197975">
                <a:tc>
                  <a:txBody>
                    <a:bodyPr wrap="square">
                      <a:noAutofit/>
                    </a:bodyPr>
                    <a:lstStyle/>
                    <a:p>
                      <a:pPr algn="r">
                        <a:lnSpc>
                          <a:spcPct val="106000"/>
                        </a:lnSpc>
                        <a:spcAft>
                          <a:spcPts val="0"/>
                        </a:spcAft>
                      </a:pPr>
                      <a:r>
                        <a:rPr sz="1100" b="1">
                          <a:solidFill>
                            <a:srgbClr val="333333"/>
                          </a:solidFill>
                          <a:latin typeface="Courier New"/>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AC_PosControl::input_pos_NEU_cm()</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void AC_PosControl::input_pos_NEU_cm(const Vector3p&amp; pos_neu_cm, float pos_terrain_target_u_cm, float terrain_buffer_cm)</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input_pos_NEU_m(pos_neu_cm * 0.01, pos_terrain_target_u_cm * 0</a:t>
                      </a:r>
                    </a:p>
                    <a:p>
                      <a:pPr algn="l">
                        <a:lnSpc>
                          <a:spcPct val="106000"/>
                        </a:lnSpc>
                        <a:spcAft>
                          <a:spcPts val="0"/>
                        </a:spcAft>
                      </a:pPr>
                      <a:r>
                        <a:rPr sz="1100" b="0">
                          <a:solidFill>
                            <a:srgbClr val="333333"/>
                          </a:solidFill>
                          <a:latin typeface="Courier New"/>
                        </a:rPr>
                        <a:t>.01, terrain_buffer_cm * 0.01);</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Sets a new NEU position target in meters and computes a jerk-limited trajectory.</a:t>
                      </a:r>
                    </a:p>
                    <a:p>
                      <a:pPr algn="l">
                        <a:lnSpc>
                          <a:spcPct val="106000"/>
                        </a:lnSpc>
                        <a:spcAft>
                          <a:spcPts val="0"/>
                        </a:spcAft>
                      </a:pPr>
                      <a:r>
                        <a:rPr sz="1100" b="0">
                          <a:solidFill>
                            <a:srgbClr val="333333"/>
                          </a:solidFill>
                          <a:latin typeface="Courier New"/>
                        </a:rPr>
                        <a:t>// Updates internal acceleration commands using a smooth kinematic</a:t>
                      </a:r>
                    </a:p>
                    <a:p>
                      <a:pPr algn="l">
                        <a:lnSpc>
                          <a:spcPct val="106000"/>
                        </a:lnSpc>
                        <a:spcAft>
                          <a:spcPts val="0"/>
                        </a:spcAft>
                      </a:pPr>
                      <a:r>
                        <a:rPr sz="1100" b="0">
                          <a:solidFill>
                            <a:srgbClr val="333333"/>
                          </a:solidFill>
                          <a:latin typeface="Courier New"/>
                        </a:rPr>
                        <a:t>path constrained</a:t>
                      </a:r>
                    </a:p>
                    <a:p>
                      <a:pPr algn="l">
                        <a:lnSpc>
                          <a:spcPct val="106000"/>
                        </a:lnSpc>
                        <a:spcAft>
                          <a:spcPts val="0"/>
                        </a:spcAft>
                      </a:pPr>
                      <a:r>
                        <a:rPr sz="1100" b="0">
                          <a:solidFill>
                            <a:srgbClr val="333333"/>
                          </a:solidFill>
                          <a:latin typeface="Courier New"/>
                        </a:rPr>
                        <a:t>// by configured acceleration and jerk limits. Terrain margin is used to constrain</a:t>
                      </a:r>
                    </a:p>
                    <a:p>
                      <a:pPr algn="l">
                        <a:lnSpc>
                          <a:spcPct val="106000"/>
                        </a:lnSpc>
                        <a:spcAft>
                          <a:spcPts val="0"/>
                        </a:spcAft>
                      </a:pPr>
                      <a:r>
                        <a:rPr sz="1100" b="0">
                          <a:solidFill>
                            <a:srgbClr val="333333"/>
                          </a:solidFill>
                          <a:latin typeface="Courier New"/>
                        </a:rPr>
                        <a:t>// horizontal velocity to avoid vertical buffer violation.</a:t>
                      </a:r>
                    </a:p>
                    <a:p>
                      <a:pPr algn="l">
                        <a:lnSpc>
                          <a:spcPct val="106000"/>
                        </a:lnSpc>
                        <a:spcAft>
                          <a:spcPts val="0"/>
                        </a:spcAft>
                      </a:pPr>
                      <a:r>
                        <a:rPr sz="1100" b="0">
                          <a:solidFill>
                            <a:srgbClr val="333333"/>
                          </a:solidFill>
                          <a:latin typeface="Courier New"/>
                        </a:rPr>
                        <a:t>void AC_PosControl::input_pos_NEU_m(const Vector3p&amp; pos_neu_m, float pos_terrain_target_u_m, float terrain_buffer_m)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197975">
                <a:tc>
                  <a:txBody>
                    <a:bodyPr wrap="square">
                      <a:noAutofit/>
                    </a:bodyPr>
                    <a:lstStyle/>
                    <a:p>
                      <a:pPr algn="r">
                        <a:lnSpc>
                          <a:spcPct val="106000"/>
                        </a:lnSpc>
                        <a:spcAft>
                          <a:spcPts val="0"/>
                        </a:spcAft>
                      </a:pPr>
                      <a:r>
                        <a:rPr sz="1100" b="1">
                          <a:solidFill>
                            <a:srgbClr val="333333"/>
                          </a:solidFill>
                          <a:latin typeface="Courier New"/>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AR_PosControl::update()</a:t>
                      </a:r>
                      <a:r>
                        <a:rPr sz="1100" b="0">
                          <a:solidFill>
                            <a:srgbClr val="999999"/>
                          </a:solidFill>
                          <a:latin typeface="Courier New"/>
                        </a:rPr>
                        <a:t>  ·  </a:t>
                      </a:r>
                      <a:r>
                        <a:rPr sz="1100" b="0">
                          <a:solidFill>
                            <a:srgbClr val="999999"/>
                          </a:solidFill>
                          <a:latin typeface="Courier New"/>
                        </a:rPr>
                        <a:t>Shared global/singleton</a:t>
                      </a:r>
                    </a:p>
                    <a:p>
                      <a:pPr algn="l">
                        <a:lnSpc>
                          <a:spcPct val="106000"/>
                        </a:lnSpc>
                        <a:spcAft>
                          <a:spcPts val="0"/>
                        </a:spcAft>
                      </a:pPr>
                      <a:r>
                        <a:rPr sz="1100" b="0">
                          <a:solidFill>
                            <a:srgbClr val="333333"/>
                          </a:solidFill>
                          <a:latin typeface="Courier New"/>
                        </a:rPr>
                        <a:t>void AR_PosControl::update(float dt)</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exit immediately if no current location, destination or disarmed</a:t>
                      </a:r>
                    </a:p>
                    <a:p>
                      <a:pPr algn="l">
                        <a:lnSpc>
                          <a:spcPct val="106000"/>
                        </a:lnSpc>
                        <a:spcAft>
                          <a:spcPts val="0"/>
                        </a:spcAft>
                      </a:pPr>
                      <a:r>
                        <a:rPr sz="1100" b="0">
                          <a:solidFill>
                            <a:srgbClr val="333333"/>
                          </a:solidFill>
                          <a:latin typeface="Courier New"/>
                        </a:rPr>
                        <a:t>Vector3p curr_pos_NED_m;</a:t>
                      </a:r>
                    </a:p>
                    <a:p>
                      <a:pPr algn="l">
                        <a:lnSpc>
                          <a:spcPct val="106000"/>
                        </a:lnSpc>
                        <a:spcAft>
                          <a:spcPts val="0"/>
                        </a:spcAft>
                      </a:pPr>
                      <a:r>
                        <a:rPr sz="1100" b="0">
                          <a:solidFill>
                            <a:srgbClr val="333333"/>
                          </a:solidFill>
                          <a:latin typeface="Courier New"/>
                        </a:rPr>
                        <a:t>Vector3f curr_vel_NED;</a:t>
                      </a:r>
                    </a:p>
                    <a:p>
                      <a:pPr algn="l">
                        <a:lnSpc>
                          <a:spcPct val="106000"/>
                        </a:lnSpc>
                        <a:spcAft>
                          <a:spcPts val="0"/>
                        </a:spcAft>
                      </a:pPr>
                      <a:r>
                        <a:rPr sz="1100" b="0">
                          <a:solidFill>
                            <a:srgbClr val="333333"/>
                          </a:solidFill>
                          <a:latin typeface="Courier New"/>
                        </a:rPr>
                        <a:t>if (!hal.util-&gt;get_soft_armed() || !AP::ahrs().get_relative_position_NED_origin(curr_pos_NED_m) ||</a:t>
                      </a:r>
                    </a:p>
                    <a:p>
                      <a:pPr algn="l">
                        <a:lnSpc>
                          <a:spcPct val="106000"/>
                        </a:lnSpc>
                        <a:spcAft>
                          <a:spcPts val="0"/>
                        </a:spcAft>
                      </a:pPr>
                      <a:r>
                        <a:rPr sz="1100" b="0">
                          <a:solidFill>
                            <a:srgbClr val="333333"/>
                          </a:solidFill>
                          <a:latin typeface="Courier New"/>
                        </a:rPr>
                        <a:t>!AP::ahrs().get_velocity_NED(curr_vel_NED)) {</a:t>
                      </a:r>
                    </a:p>
                    <a:p>
                      <a:pPr algn="l">
                        <a:lnSpc>
                          <a:spcPct val="106000"/>
                        </a:lnSpc>
                        <a:spcAft>
                          <a:spcPts val="0"/>
                        </a:spcAft>
                      </a:pPr>
                      <a:r>
                        <a:rPr sz="1100" b="0">
                          <a:solidFill>
                            <a:srgbClr val="333333"/>
                          </a:solidFill>
                          <a:latin typeface="Courier New"/>
                        </a:rPr>
                        <a:t>_desired_speed = _atc.get_desired_speed_accel_limited(0.0f</a:t>
                      </a:r>
                    </a:p>
                    <a:p>
                      <a:pPr algn="l">
                        <a:lnSpc>
                          <a:spcPct val="106000"/>
                        </a:lnSpc>
                        <a:spcAft>
                          <a:spcPts val="0"/>
                        </a:spcAft>
                      </a:pPr>
                      <a:r>
                        <a:rPr sz="1100" b="0">
                          <a:solidFill>
                            <a:srgbClr val="333333"/>
                          </a:solidFill>
                          <a:latin typeface="Courier New"/>
                        </a:rPr>
                        <a:t>, dt);</a:t>
                      </a:r>
                    </a:p>
                    <a:p>
                      <a:pPr algn="l">
                        <a:lnSpc>
                          <a:spcPct val="106000"/>
                        </a:lnSpc>
                        <a:spcAft>
                          <a:spcPts val="0"/>
                        </a:spcAft>
                      </a:pPr>
                      <a:r>
                        <a:rPr sz="1100" b="0">
                          <a:solidFill>
                            <a:srgbClr val="333333"/>
                          </a:solidFill>
                          <a:latin typeface="Courier New"/>
                        </a:rPr>
                        <a:t>_desired_lat_accel = 0.0f;</a:t>
                      </a:r>
                    </a:p>
                    <a:p>
                      <a:pPr algn="l">
                        <a:lnSpc>
                          <a:spcPct val="106000"/>
                        </a:lnSpc>
                        <a:spcAft>
                          <a:spcPts val="0"/>
                        </a:spcAft>
                      </a:pPr>
                      <a:r>
                        <a:rPr sz="1100" b="0">
                          <a:solidFill>
                            <a:srgbClr val="333333"/>
                          </a:solidFill>
                          <a:latin typeface="Courier New"/>
                        </a:rPr>
                        <a:t>_desired_turn_rate_rads = 0.0f;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23–24</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graphicFrame>
        <p:nvGraphicFramePr>
          <p:cNvPr id="6" name="Table 5"/>
          <p:cNvGraphicFramePr>
            <a:graphicFrameLocks noGrp="1"/>
          </p:cNvGraphicFramePr>
          <p:nvPr/>
        </p:nvGraphicFramePr>
        <p:xfrm>
          <a:off x="566928" y="1591056"/>
          <a:ext cx="11058144" cy="463616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Courier New"/>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AP_Beacon::get_vehicle_position_ned()</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bool AP_Beacon::get_vehicle_position_ned(Vector3f &amp;position, float</a:t>
                      </a:r>
                    </a:p>
                    <a:p>
                      <a:pPr algn="l">
                        <a:lnSpc>
                          <a:spcPct val="106000"/>
                        </a:lnSpc>
                        <a:spcAft>
                          <a:spcPts val="0"/>
                        </a:spcAft>
                      </a:pPr>
                      <a:r>
                        <a:rPr sz="1100" b="0">
                          <a:solidFill>
                            <a:srgbClr val="333333"/>
                          </a:solidFill>
                          <a:latin typeface="Courier New"/>
                        </a:rPr>
                        <a:t>&amp; accuracy_estimate) const</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if (!device_ready()) {</a:t>
                      </a:r>
                    </a:p>
                    <a:p>
                      <a:pPr algn="l">
                        <a:lnSpc>
                          <a:spcPct val="106000"/>
                        </a:lnSpc>
                        <a:spcAft>
                          <a:spcPts val="0"/>
                        </a:spcAft>
                      </a:pPr>
                      <a:r>
                        <a:rPr sz="1100" b="0">
                          <a:solidFill>
                            <a:srgbClr val="333333"/>
                          </a:solidFill>
                          <a:latin typeface="Courier New"/>
                        </a:rPr>
                        <a:t>return false;</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check for timeout</a:t>
                      </a:r>
                    </a:p>
                    <a:p>
                      <a:pPr algn="l">
                        <a:lnSpc>
                          <a:spcPct val="106000"/>
                        </a:lnSpc>
                        <a:spcAft>
                          <a:spcPts val="0"/>
                        </a:spcAft>
                      </a:pPr>
                      <a:r>
                        <a:rPr sz="1100" b="0">
                          <a:solidFill>
                            <a:srgbClr val="333333"/>
                          </a:solidFill>
                          <a:latin typeface="Courier New"/>
                        </a:rPr>
                        <a:t>if (AP_HAL::millis() - veh_pos_update_ms &gt; AP_BEACON_TIMEOUT_MS) {</a:t>
                      </a:r>
                    </a:p>
                    <a:p>
                      <a:pPr algn="l">
                        <a:lnSpc>
                          <a:spcPct val="106000"/>
                        </a:lnSpc>
                        <a:spcAft>
                          <a:spcPts val="0"/>
                        </a:spcAft>
                      </a:pPr>
                      <a:r>
                        <a:rPr sz="1100" b="0">
                          <a:solidFill>
                            <a:srgbClr val="333333"/>
                          </a:solidFill>
                          <a:latin typeface="Courier New"/>
                        </a:rPr>
                        <a:t>return false;</a:t>
                      </a:r>
                    </a:p>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375673">
                <a:tc>
                  <a:txBody>
                    <a:bodyPr wrap="square">
                      <a:noAutofit/>
                    </a:bodyPr>
                    <a:lstStyle/>
                    <a:p>
                      <a:pPr algn="r">
                        <a:lnSpc>
                          <a:spcPct val="106000"/>
                        </a:lnSpc>
                        <a:spcAft>
                          <a:spcPts val="0"/>
                        </a:spcAft>
                      </a:pPr>
                      <a:r>
                        <a:rPr sz="1100" b="1">
                          <a:solidFill>
                            <a:srgbClr val="333333"/>
                          </a:solidFill>
                          <a:latin typeface="Courier New"/>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AP_VisualOdom::handle_pose_estimate()</a:t>
                      </a:r>
                      <a:r>
                        <a:rPr sz="1100" b="0">
                          <a:solidFill>
                            <a:srgbClr val="999999"/>
                          </a:solidFill>
                          <a:latin typeface="Courier New"/>
                        </a:rPr>
                        <a:t>  ·  </a:t>
                      </a:r>
                      <a:r>
                        <a:rPr sz="1100" b="0">
                          <a:solidFill>
                            <a:srgbClr val="999999"/>
                          </a:solidFill>
                          <a:latin typeface="Courier New"/>
                        </a:rPr>
                        <a:t>Inheritance/Interface</a:t>
                      </a:r>
                    </a:p>
                    <a:p>
                      <a:pPr algn="l">
                        <a:lnSpc>
                          <a:spcPct val="106000"/>
                        </a:lnSpc>
                        <a:spcAft>
                          <a:spcPts val="0"/>
                        </a:spcAft>
                      </a:pPr>
                      <a:r>
                        <a:rPr sz="1100" b="0">
                          <a:solidFill>
                            <a:srgbClr val="333333"/>
                          </a:solidFill>
                          <a:latin typeface="Courier New"/>
                        </a:rPr>
                        <a:t>void AP_VisualOdom::handle_pose_estimate(uint64_t remote_time_us,</a:t>
                      </a:r>
                    </a:p>
                    <a:p>
                      <a:pPr algn="l">
                        <a:lnSpc>
                          <a:spcPct val="106000"/>
                        </a:lnSpc>
                        <a:spcAft>
                          <a:spcPts val="0"/>
                        </a:spcAft>
                      </a:pPr>
                      <a:r>
                        <a:rPr sz="1100" b="0">
                          <a:solidFill>
                            <a:srgbClr val="333333"/>
                          </a:solidFill>
                          <a:latin typeface="Courier New"/>
                        </a:rPr>
                        <a:t>uint32_t time_ms, float x, float y, float z, float roll, float pitch, float yaw, float posErr, float angErr, uint8_t reset_counter,</a:t>
                      </a:r>
                    </a:p>
                    <a:p>
                      <a:pPr algn="l">
                        <a:lnSpc>
                          <a:spcPct val="106000"/>
                        </a:lnSpc>
                        <a:spcAft>
                          <a:spcPts val="0"/>
                        </a:spcAft>
                      </a:pPr>
                      <a:r>
                        <a:rPr sz="1100" b="0">
                          <a:solidFill>
                            <a:srgbClr val="333333"/>
                          </a:solidFill>
                          <a:latin typeface="Courier New"/>
                        </a:rPr>
                        <a:t>int8_t quality)</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exit immediately if not enabled</a:t>
                      </a:r>
                    </a:p>
                    <a:p>
                      <a:pPr algn="l">
                        <a:lnSpc>
                          <a:spcPct val="106000"/>
                        </a:lnSpc>
                        <a:spcAft>
                          <a:spcPts val="0"/>
                        </a:spcAft>
                      </a:pPr>
                      <a:r>
                        <a:rPr sz="1100" b="0">
                          <a:solidFill>
                            <a:srgbClr val="333333"/>
                          </a:solidFill>
                          <a:latin typeface="Courier New"/>
                        </a:rPr>
                        <a:t>if (!enabled()) {</a:t>
                      </a:r>
                    </a:p>
                    <a:p>
                      <a:pPr algn="l">
                        <a:lnSpc>
                          <a:spcPct val="106000"/>
                        </a:lnSpc>
                        <a:spcAft>
                          <a:spcPts val="0"/>
                        </a:spcAft>
                      </a:pPr>
                      <a:r>
                        <a:rPr sz="1100" b="0">
                          <a:solidFill>
                            <a:srgbClr val="333333"/>
                          </a:solidFill>
                          <a:latin typeface="Courier New"/>
                        </a:rPr>
                        <a:t>return;</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call backend</a:t>
                      </a:r>
                    </a:p>
                    <a:p>
                      <a:pPr algn="l">
                        <a:lnSpc>
                          <a:spcPct val="106000"/>
                        </a:lnSpc>
                        <a:spcAft>
                          <a:spcPts val="0"/>
                        </a:spcAft>
                      </a:pPr>
                      <a:r>
                        <a:rPr sz="1100" b="0">
                          <a:solidFill>
                            <a:srgbClr val="333333"/>
                          </a:solidFill>
                          <a:latin typeface="Courier New"/>
                        </a:rPr>
                        <a:t>if (_driver != nullptr) {</a:t>
                      </a:r>
                    </a:p>
                    <a:p>
                      <a:pPr algn="l">
                        <a:lnSpc>
                          <a:spcPct val="106000"/>
                        </a:lnSpc>
                        <a:spcAft>
                          <a:spcPts val="0"/>
                        </a:spcAft>
                      </a:pPr>
                      <a:r>
                        <a:rPr sz="1100" b="0">
                          <a:solidFill>
                            <a:srgbClr val="333333"/>
                          </a:solidFill>
                          <a:latin typeface="Courier New"/>
                        </a:rPr>
                        <a:t>// convert attitude to quaternion and call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25–26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1a: Layer 2 — full transitive chain, final consumer &amp; hop depth</a:t>
            </a:r>
          </a:p>
        </p:txBody>
      </p:sp>
      <p:graphicFrame>
        <p:nvGraphicFramePr>
          <p:cNvPr id="7" name="Table 6"/>
          <p:cNvGraphicFramePr>
            <a:graphicFrameLocks noGrp="1"/>
          </p:cNvGraphicFramePr>
          <p:nvPr/>
        </p:nvGraphicFramePr>
        <p:xfrm>
          <a:off x="566928" y="1906943"/>
          <a:ext cx="11058144" cy="3387090"/>
        </p:xfrm>
        <a:graphic>
          <a:graphicData uri="http://schemas.openxmlformats.org/drawingml/2006/table">
            <a:tbl>
              <a:tblPr>
                <a:tableStyleId>{5C22544A-7EE6-4342-B048-85BDC9FD1C3A}</a:tableStyleId>
              </a:tblPr>
              <a:tblGrid>
                <a:gridCol w="352425"/>
                <a:gridCol w="2653030"/>
                <a:gridCol w="3670300"/>
                <a:gridCol w="1309370"/>
                <a:gridCol w="586740"/>
                <a:gridCol w="2486025"/>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630">
                <a:tc>
                  <a:txBody>
                    <a:bodyPr wrap="square">
                      <a:noAutofit/>
                    </a:bodyPr>
                    <a:lstStyle/>
                    <a:p>
                      <a:pPr algn="r">
                        <a:lnSpc>
                          <a:spcPct val="106000"/>
                        </a:lnSpc>
                        <a:spcAft>
                          <a:spcPts val="0"/>
                        </a:spcAft>
                      </a:pPr>
                      <a:r>
                        <a:rPr sz="1100" b="1">
                          <a:solidFill>
                            <a:srgbClr val="333333"/>
                          </a:solidFill>
                          <a:latin typeface="Courier New"/>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AP_GPS_UBLOX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AP_GPS_UBLOX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630">
                <a:tc>
                  <a:txBody>
                    <a:bodyPr wrap="square">
                      <a:noAutofit/>
                    </a:bodyPr>
                    <a:lstStyle/>
                    <a:p>
                      <a:pPr algn="r">
                        <a:lnSpc>
                          <a:spcPct val="106000"/>
                        </a:lnSpc>
                        <a:spcAft>
                          <a:spcPts val="0"/>
                        </a:spcAft>
                      </a:pPr>
                      <a:r>
                        <a:rPr sz="1100" b="1">
                          <a:solidFill>
                            <a:srgbClr val="333333"/>
                          </a:solidFill>
                          <a:latin typeface="Courier New"/>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AP_GPS_NMEA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AP_GPS_NMEA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5421092"/>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graphicFrame>
        <p:nvGraphicFramePr>
          <p:cNvPr id="6" name="Table 5"/>
          <p:cNvGraphicFramePr>
            <a:graphicFrameLocks noGrp="1"/>
          </p:cNvGraphicFramePr>
          <p:nvPr/>
        </p:nvGraphicFramePr>
        <p:xfrm>
          <a:off x="566928" y="1591056"/>
          <a:ext cx="11058144" cy="3209290"/>
        </p:xfrm>
        <a:graphic>
          <a:graphicData uri="http://schemas.openxmlformats.org/drawingml/2006/table">
            <a:tbl>
              <a:tblPr>
                <a:tableStyleId>{5C22544A-7EE6-4342-B048-85BDC9FD1C3A}</a:tableStyleId>
              </a:tblPr>
              <a:tblGrid>
                <a:gridCol w="352425"/>
                <a:gridCol w="2653030"/>
                <a:gridCol w="3670300"/>
                <a:gridCol w="1309370"/>
                <a:gridCol w="586740"/>
                <a:gridCol w="2486025"/>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6830">
                <a:tc>
                  <a:txBody>
                    <a:bodyPr wrap="square">
                      <a:noAutofit/>
                    </a:bodyPr>
                    <a:lstStyle/>
                    <a:p>
                      <a:pPr algn="r">
                        <a:lnSpc>
                          <a:spcPct val="106000"/>
                        </a:lnSpc>
                        <a:spcAft>
                          <a:spcPts val="0"/>
                        </a:spcAft>
                      </a:pPr>
                      <a:r>
                        <a:rPr sz="1100" b="1">
                          <a:solidFill>
                            <a:srgbClr val="333333"/>
                          </a:solidFill>
                          <a:latin typeface="Courier New"/>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AP_GPS_SBF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AP_GPS_SBF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630">
                <a:tc>
                  <a:txBody>
                    <a:bodyPr wrap="square">
                      <a:noAutofit/>
                    </a:bodyPr>
                    <a:lstStyle/>
                    <a:p>
                      <a:pPr algn="r">
                        <a:lnSpc>
                          <a:spcPct val="106000"/>
                        </a:lnSpc>
                        <a:spcAft>
                          <a:spcPts val="0"/>
                        </a:spcAft>
                      </a:pPr>
                      <a:r>
                        <a:rPr sz="1100" b="1">
                          <a:solidFill>
                            <a:srgbClr val="333333"/>
                          </a:solidFill>
                          <a:latin typeface="Courier New"/>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AP_GPS_NOVA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AP_GPS_NOVA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graphicFrame>
        <p:nvGraphicFramePr>
          <p:cNvPr id="6" name="Table 5"/>
          <p:cNvGraphicFramePr>
            <a:graphicFrameLocks noGrp="1"/>
          </p:cNvGraphicFramePr>
          <p:nvPr/>
        </p:nvGraphicFramePr>
        <p:xfrm>
          <a:off x="566928" y="1591056"/>
          <a:ext cx="11058144" cy="3209290"/>
        </p:xfrm>
        <a:graphic>
          <a:graphicData uri="http://schemas.openxmlformats.org/drawingml/2006/table">
            <a:tbl>
              <a:tblPr>
                <a:tableStyleId>{5C22544A-7EE6-4342-B048-85BDC9FD1C3A}</a:tableStyleId>
              </a:tblPr>
              <a:tblGrid>
                <a:gridCol w="352425"/>
                <a:gridCol w="2653030"/>
                <a:gridCol w="3670300"/>
                <a:gridCol w="1309370"/>
                <a:gridCol w="586740"/>
                <a:gridCol w="2486025"/>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6830">
                <a:tc>
                  <a:txBody>
                    <a:bodyPr wrap="square">
                      <a:noAutofit/>
                    </a:bodyPr>
                    <a:lstStyle/>
                    <a:p>
                      <a:pPr algn="r">
                        <a:lnSpc>
                          <a:spcPct val="106000"/>
                        </a:lnSpc>
                        <a:spcAft>
                          <a:spcPts val="0"/>
                        </a:spcAft>
                      </a:pPr>
                      <a:r>
                        <a:rPr sz="1100" b="1">
                          <a:solidFill>
                            <a:srgbClr val="333333"/>
                          </a:solidFill>
                          <a:latin typeface="Courier New"/>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AP_GPS_SBP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AP_GPS_SBP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630">
                <a:tc>
                  <a:txBody>
                    <a:bodyPr wrap="square">
                      <a:noAutofit/>
                    </a:bodyPr>
                    <a:lstStyle/>
                    <a:p>
                      <a:pPr algn="r">
                        <a:lnSpc>
                          <a:spcPct val="106000"/>
                        </a:lnSpc>
                        <a:spcAft>
                          <a:spcPts val="0"/>
                        </a:spcAft>
                      </a:pPr>
                      <a:r>
                        <a:rPr sz="1100" b="1">
                          <a:solidFill>
                            <a:srgbClr val="333333"/>
                          </a:solidFill>
                          <a:latin typeface="Courier New"/>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AP_GPS_SBP2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AP_GPS_SBP2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graphicFrame>
        <p:nvGraphicFramePr>
          <p:cNvPr id="6" name="Table 5"/>
          <p:cNvGraphicFramePr>
            <a:graphicFrameLocks noGrp="1"/>
          </p:cNvGraphicFramePr>
          <p:nvPr/>
        </p:nvGraphicFramePr>
        <p:xfrm>
          <a:off x="566928" y="1591056"/>
          <a:ext cx="11058144" cy="3209290"/>
        </p:xfrm>
        <a:graphic>
          <a:graphicData uri="http://schemas.openxmlformats.org/drawingml/2006/table">
            <a:tbl>
              <a:tblPr>
                <a:tableStyleId>{5C22544A-7EE6-4342-B048-85BDC9FD1C3A}</a:tableStyleId>
              </a:tblPr>
              <a:tblGrid>
                <a:gridCol w="352425"/>
                <a:gridCol w="2653030"/>
                <a:gridCol w="3670300"/>
                <a:gridCol w="1309370"/>
                <a:gridCol w="586740"/>
                <a:gridCol w="2486025"/>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630">
                <a:tc>
                  <a:txBody>
                    <a:bodyPr wrap="square">
                      <a:noAutofit/>
                    </a:bodyPr>
                    <a:lstStyle/>
                    <a:p>
                      <a:pPr algn="r">
                        <a:lnSpc>
                          <a:spcPct val="106000"/>
                        </a:lnSpc>
                        <a:spcAft>
                          <a:spcPts val="0"/>
                        </a:spcAft>
                      </a:pPr>
                      <a:r>
                        <a:rPr sz="1100" b="1">
                          <a:solidFill>
                            <a:srgbClr val="333333"/>
                          </a:solidFill>
                          <a:latin typeface="Courier New"/>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AP_GPS_SIRF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AP_GPS_SIRF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6830">
                <a:tc>
                  <a:txBody>
                    <a:bodyPr wrap="square">
                      <a:noAutofit/>
                    </a:bodyPr>
                    <a:lstStyle/>
                    <a:p>
                      <a:pPr algn="r">
                        <a:lnSpc>
                          <a:spcPct val="106000"/>
                        </a:lnSpc>
                        <a:spcAft>
                          <a:spcPts val="0"/>
                        </a:spcAft>
                      </a:pPr>
                      <a:r>
                        <a:rPr sz="1100" b="1">
                          <a:solidFill>
                            <a:srgbClr val="333333"/>
                          </a:solidFill>
                          <a:latin typeface="Courier New"/>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AP_GPS_ERB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AP_GPS_ERB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graphicFrame>
        <p:nvGraphicFramePr>
          <p:cNvPr id="6" name="Table 5"/>
          <p:cNvGraphicFramePr>
            <a:graphicFrameLocks noGrp="1"/>
          </p:cNvGraphicFramePr>
          <p:nvPr/>
        </p:nvGraphicFramePr>
        <p:xfrm>
          <a:off x="566928" y="1591056"/>
          <a:ext cx="11058144" cy="3031490"/>
        </p:xfrm>
        <a:graphic>
          <a:graphicData uri="http://schemas.openxmlformats.org/drawingml/2006/table">
            <a:tbl>
              <a:tblPr>
                <a:tableStyleId>{5C22544A-7EE6-4342-B048-85BDC9FD1C3A}</a:tableStyleId>
              </a:tblPr>
              <a:tblGrid>
                <a:gridCol w="352425"/>
                <a:gridCol w="2653030"/>
                <a:gridCol w="3670300"/>
                <a:gridCol w="1309370"/>
                <a:gridCol w="586740"/>
                <a:gridCol w="2486025"/>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6830">
                <a:tc>
                  <a:txBody>
                    <a:bodyPr wrap="square">
                      <a:noAutofit/>
                    </a:bodyPr>
                    <a:lstStyle/>
                    <a:p>
                      <a:pPr algn="r">
                        <a:lnSpc>
                          <a:spcPct val="106000"/>
                        </a:lnSpc>
                        <a:spcAft>
                          <a:spcPts val="0"/>
                        </a:spcAft>
                      </a:pPr>
                      <a:r>
                        <a:rPr sz="1100" b="1">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AP_GPS_MAV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AP_GPS_MAV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6830">
                <a:tc>
                  <a:txBody>
                    <a:bodyPr wrap="square">
                      <a:noAutofit/>
                    </a:bodyPr>
                    <a:lstStyle/>
                    <a:p>
                      <a:pPr algn="r">
                        <a:lnSpc>
                          <a:spcPct val="106000"/>
                        </a:lnSpc>
                        <a:spcAft>
                          <a:spcPts val="0"/>
                        </a:spcAft>
                      </a:pPr>
                      <a:r>
                        <a:rPr sz="1100" b="1">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AP_GPS_MSP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AP_GPS_MSP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879" y="384048"/>
            <a:ext cx="59919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graphicFrame>
        <p:nvGraphicFramePr>
          <p:cNvPr id="6" name="Table 5"/>
          <p:cNvGraphicFramePr>
            <a:graphicFrameLocks noGrp="1"/>
          </p:cNvGraphicFramePr>
          <p:nvPr/>
        </p:nvGraphicFramePr>
        <p:xfrm>
          <a:off x="566928" y="1591056"/>
          <a:ext cx="11058144" cy="3387090"/>
        </p:xfrm>
        <a:graphic>
          <a:graphicData uri="http://schemas.openxmlformats.org/drawingml/2006/table">
            <a:tbl>
              <a:tblPr>
                <a:tableStyleId>{5C22544A-7EE6-4342-B048-85BDC9FD1C3A}</a:tableStyleId>
              </a:tblPr>
              <a:tblGrid>
                <a:gridCol w="352425"/>
                <a:gridCol w="2653030"/>
                <a:gridCol w="3670300"/>
                <a:gridCol w="1309370"/>
                <a:gridCol w="586740"/>
                <a:gridCol w="2486025"/>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630">
                <a:tc>
                  <a:txBody>
                    <a:bodyPr wrap="square">
                      <a:noAutofit/>
                    </a:bodyPr>
                    <a:lstStyle/>
                    <a:p>
                      <a:pPr algn="r">
                        <a:lnSpc>
                          <a:spcPct val="106000"/>
                        </a:lnSpc>
                        <a:spcAft>
                          <a:spcPts val="0"/>
                        </a:spcAft>
                      </a:pPr>
                      <a:r>
                        <a:rPr sz="1100" b="1">
                          <a:solidFill>
                            <a:srgbClr val="333333"/>
                          </a:solidFill>
                          <a:latin typeface="Courier New"/>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AP_GPS_GSOF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AP_GPS_GSOF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630">
                <a:tc>
                  <a:txBody>
                    <a:bodyPr wrap="square">
                      <a:noAutofit/>
                    </a:bodyPr>
                    <a:lstStyle/>
                    <a:p>
                      <a:pPr algn="r">
                        <a:lnSpc>
                          <a:spcPct val="106000"/>
                        </a:lnSpc>
                        <a:spcAft>
                          <a:spcPts val="0"/>
                        </a:spcAft>
                      </a:pPr>
                      <a:r>
                        <a:rPr sz="1100" b="1">
                          <a:solidFill>
                            <a:srgbClr val="333333"/>
                          </a:solidFill>
                          <a:latin typeface="Courier New"/>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AP_GPS_DroneCAN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AP_GPS_DroneCAN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11–12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graphicFrame>
        <p:nvGraphicFramePr>
          <p:cNvPr id="6" name="Table 5"/>
          <p:cNvGraphicFramePr>
            <a:graphicFrameLocks noGrp="1"/>
          </p:cNvGraphicFramePr>
          <p:nvPr/>
        </p:nvGraphicFramePr>
        <p:xfrm>
          <a:off x="566928" y="1591056"/>
          <a:ext cx="11058144" cy="3387090"/>
        </p:xfrm>
        <a:graphic>
          <a:graphicData uri="http://schemas.openxmlformats.org/drawingml/2006/table">
            <a:tbl>
              <a:tblPr>
                <a:tableStyleId>{5C22544A-7EE6-4342-B048-85BDC9FD1C3A}</a:tableStyleId>
              </a:tblPr>
              <a:tblGrid>
                <a:gridCol w="352425"/>
                <a:gridCol w="2653030"/>
                <a:gridCol w="3670300"/>
                <a:gridCol w="1309370"/>
                <a:gridCol w="586740"/>
                <a:gridCol w="2486025"/>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630">
                <a:tc>
                  <a:txBody>
                    <a:bodyPr wrap="square">
                      <a:noAutofit/>
                    </a:bodyPr>
                    <a:lstStyle/>
                    <a:p>
                      <a:pPr algn="r">
                        <a:lnSpc>
                          <a:spcPct val="106000"/>
                        </a:lnSpc>
                        <a:spcAft>
                          <a:spcPts val="0"/>
                        </a:spcAft>
                      </a:pPr>
                      <a:r>
                        <a:rPr sz="1100" b="1">
                          <a:solidFill>
                            <a:srgbClr val="333333"/>
                          </a:solidFill>
                          <a:latin typeface="Courier New"/>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AP_GPS_ExternalAHRS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AP_GPS_ExternalAHRS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630">
                <a:tc>
                  <a:txBody>
                    <a:bodyPr wrap="square">
                      <a:noAutofit/>
                    </a:bodyPr>
                    <a:lstStyle/>
                    <a:p>
                      <a:pPr algn="r">
                        <a:lnSpc>
                          <a:spcPct val="106000"/>
                        </a:lnSpc>
                        <a:spcAft>
                          <a:spcPts val="0"/>
                        </a:spcAft>
                      </a:pPr>
                      <a:r>
                        <a:rPr sz="1100" b="1">
                          <a:solidFill>
                            <a:srgbClr val="333333"/>
                          </a:solidFill>
                          <a:latin typeface="Courier New"/>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AP_GPS_SITL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AP_GPS_SITL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graphicFrame>
        <p:nvGraphicFramePr>
          <p:cNvPr id="6" name="Table 5"/>
          <p:cNvGraphicFramePr>
            <a:graphicFrameLocks noGrp="1"/>
          </p:cNvGraphicFramePr>
          <p:nvPr/>
        </p:nvGraphicFramePr>
        <p:xfrm>
          <a:off x="566928" y="1591056"/>
          <a:ext cx="11058144" cy="3449320"/>
        </p:xfrm>
        <a:graphic>
          <a:graphicData uri="http://schemas.openxmlformats.org/drawingml/2006/table">
            <a:tbl>
              <a:tblPr>
                <a:tableStyleId>{5C22544A-7EE6-4342-B048-85BDC9FD1C3A}</a:tableStyleId>
              </a:tblPr>
              <a:tblGrid>
                <a:gridCol w="352425"/>
                <a:gridCol w="2653030"/>
                <a:gridCol w="3670300"/>
                <a:gridCol w="1309370"/>
                <a:gridCol w="586740"/>
                <a:gridCol w="2486025"/>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230">
                <a:tc>
                  <a:txBody>
                    <a:bodyPr wrap="square">
                      <a:noAutofit/>
                    </a:bodyPr>
                    <a:lstStyle/>
                    <a:p>
                      <a:pPr algn="r">
                        <a:lnSpc>
                          <a:spcPct val="106000"/>
                        </a:lnSpc>
                        <a:spcAft>
                          <a:spcPts val="0"/>
                        </a:spcAft>
                      </a:pPr>
                      <a:r>
                        <a:rPr sz="1100" b="1">
                          <a:solidFill>
                            <a:srgbClr val="333333"/>
                          </a:solidFill>
                          <a:latin typeface="Courier New"/>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GPS velocity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GPS_State.velocity → AP_GPS::velocity() → NavEKF3_Measurements::readGpsData → NavEKF3::FuseVelPosNED → AP_AHRS::get_velocity_NED() → AC_PosControl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[MULTI-CATEGORY] also Navigation.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9030">
                <a:tc>
                  <a:txBody>
                    <a:bodyPr wrap="square">
                      <a:noAutofit/>
                    </a:bodyPr>
                    <a:lstStyle/>
                    <a:p>
                      <a:pPr algn="r">
                        <a:lnSpc>
                          <a:spcPct val="106000"/>
                        </a:lnSpc>
                        <a:spcAft>
                          <a:spcPts val="0"/>
                        </a:spcAft>
                      </a:pPr>
                      <a:r>
                        <a:rPr sz="1100" b="1">
                          <a:solidFill>
                            <a:srgbClr val="333333"/>
                          </a:solidFill>
                          <a:latin typeface="Courier New"/>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AP_GPS::location() → NavEKF3_Measurements::readGpsData (gps.location) → NavEKF3::FuseVelPosNED → AP_AHRS::get_location() → AC_WPNav::set_wp_destination_loc → AC_PosControl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Geodetic position path (ingestion hop explicit).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230">
                <a:tc>
                  <a:txBody>
                    <a:bodyPr wrap="square">
                      <a:noAutofit/>
                    </a:bodyPr>
                    <a:lstStyle/>
                    <a:p>
                      <a:pPr algn="r">
                        <a:lnSpc>
                          <a:spcPct val="106000"/>
                        </a:lnSpc>
                        <a:spcAft>
                          <a:spcPts val="0"/>
                        </a:spcAft>
                      </a:pPr>
                      <a:r>
                        <a:rPr sz="1100" b="1">
                          <a:solidFill>
                            <a:srgbClr val="333333"/>
                          </a:solidFill>
                          <a:latin typeface="Courier New"/>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AP_GPS::velocity() → NavEKF3_Measurements::readGpsData (gps.velocity) → NavEKF3::FuseVelPosNED → AP_AHRS::get_velocity_NED() → AC_PosControl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Velocity path (ingestion hop explicit).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941038"/>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15–17</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graphicFrame>
        <p:nvGraphicFramePr>
          <p:cNvPr id="6" name="Table 5"/>
          <p:cNvGraphicFramePr>
            <a:graphicFrameLocks noGrp="1"/>
          </p:cNvGraphicFramePr>
          <p:nvPr/>
        </p:nvGraphicFramePr>
        <p:xfrm>
          <a:off x="566928" y="1591056"/>
          <a:ext cx="11058144" cy="2915920"/>
        </p:xfrm>
        <a:graphic>
          <a:graphicData uri="http://schemas.openxmlformats.org/drawingml/2006/table">
            <a:tbl>
              <a:tblPr>
                <a:tableStyleId>{5C22544A-7EE6-4342-B048-85BDC9FD1C3A}</a:tableStyleId>
              </a:tblPr>
              <a:tblGrid>
                <a:gridCol w="352425"/>
                <a:gridCol w="2653030"/>
                <a:gridCol w="3670300"/>
                <a:gridCol w="1309370"/>
                <a:gridCol w="586740"/>
                <a:gridCol w="2486025"/>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430">
                <a:tc>
                  <a:txBody>
                    <a:bodyPr wrap="square">
                      <a:noAutofit/>
                    </a:bodyPr>
                    <a:lstStyle/>
                    <a:p>
                      <a:pPr algn="r">
                        <a:lnSpc>
                          <a:spcPct val="106000"/>
                        </a:lnSpc>
                        <a:spcAft>
                          <a:spcPts val="0"/>
                        </a:spcAft>
                      </a:pPr>
                      <a:r>
                        <a:rPr sz="1100" b="1">
                          <a:solidFill>
                            <a:srgbClr val="333333"/>
                          </a:solidFill>
                          <a:latin typeface="Courier New"/>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GPS_State (struct)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GPS_State → AP_GPS accessors {location|velocity|time_week} → NavEKF3_Measurements → EKF/AHRS + AP_RTC → controllers +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AP_Motors and AP_RTC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[MULTI-CATEGORY] branches into Table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430">
                <a:tc>
                  <a:txBody>
                    <a:bodyPr wrap="square">
                      <a:noAutofit/>
                    </a:bodyPr>
                    <a:lstStyle/>
                    <a:p>
                      <a:pPr algn="r">
                        <a:lnSpc>
                          <a:spcPct val="106000"/>
                        </a:lnSpc>
                        <a:spcAft>
                          <a:spcPts val="0"/>
                        </a:spcAft>
                      </a:pPr>
                      <a:r>
                        <a:rPr sz="1100" b="1">
                          <a:solidFill>
                            <a:srgbClr val="333333"/>
                          </a:solidFill>
                          <a:latin typeface="Courier New"/>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AP_GPS_Blended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Blended → AP_GPS primary (blended) location/velocity → NavEKF3_Measurements → NavEKF3::FuseVelPosNED → AP_AHRS → controllers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 upstream of EKF ingestion.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230">
                <a:tc>
                  <a:txBody>
                    <a:bodyPr wrap="square">
                      <a:noAutofit/>
                    </a:bodyPr>
                    <a:lstStyle/>
                    <a:p>
                      <a:pPr algn="r">
                        <a:lnSpc>
                          <a:spcPct val="106000"/>
                        </a:lnSpc>
                        <a:spcAft>
                          <a:spcPts val="0"/>
                        </a:spcAft>
                      </a:pPr>
                      <a:r>
                        <a:rPr sz="1100" b="1">
                          <a:solidFill>
                            <a:srgbClr val="333333"/>
                          </a:solidFill>
                          <a:latin typeface="Courier New"/>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class Location (geodetic value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Location → AC_WPNav::set_wp_destination_loc → get_vector_NEU_cm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Pervasive value type; depth measured along its dominant waypoint-control consumer branch (the AC_WPNav→PosControl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64816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18–20</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graphicFrame>
        <p:nvGraphicFramePr>
          <p:cNvPr id="6" name="Table 5"/>
          <p:cNvGraphicFramePr>
            <a:graphicFrameLocks noGrp="1"/>
          </p:cNvGraphicFramePr>
          <p:nvPr/>
        </p:nvGraphicFramePr>
        <p:xfrm>
          <a:off x="566928" y="1591056"/>
          <a:ext cx="11058144" cy="3458210"/>
        </p:xfrm>
        <a:graphic>
          <a:graphicData uri="http://schemas.openxmlformats.org/drawingml/2006/table">
            <a:tbl>
              <a:tblPr>
                <a:tableStyleId>{5C22544A-7EE6-4342-B048-85BDC9FD1C3A}</a:tableStyleId>
              </a:tblPr>
              <a:tblGrid>
                <a:gridCol w="352425"/>
                <a:gridCol w="2653030"/>
                <a:gridCol w="3670300"/>
                <a:gridCol w="1309370"/>
                <a:gridCol w="586740"/>
                <a:gridCol w="2486025"/>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30">
                <a:tc>
                  <a:txBody>
                    <a:bodyPr wrap="square">
                      <a:noAutofit/>
                    </a:bodyPr>
                    <a:lstStyle/>
                    <a:p>
                      <a:pPr algn="r">
                        <a:lnSpc>
                          <a:spcPct val="106000"/>
                        </a:lnSpc>
                        <a:spcAft>
                          <a:spcPts val="0"/>
                        </a:spcAft>
                      </a:pPr>
                      <a:r>
                        <a:rPr sz="1100" b="1">
                          <a:solidFill>
                            <a:srgbClr val="333333"/>
                          </a:solidFill>
                          <a:latin typeface="Courier New"/>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Location→NEU conversion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get_vector_from_origin_NEU_cm() → AC_WPNav::get_vector_NEU_cm → set_wp_destination_NEU_cm → AC_PosControl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AC_PosControl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Geodetic↔NED transform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r">
                        <a:lnSpc>
                          <a:spcPct val="106000"/>
                        </a:lnSpc>
                        <a:spcAft>
                          <a:spcPts val="0"/>
                        </a:spcAft>
                      </a:pPr>
                      <a:r>
                        <a:rPr sz="1100" b="1">
                          <a:solidFill>
                            <a:srgbClr val="333333"/>
                          </a:solidFill>
                          <a:latin typeface="Courier New"/>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AP_InertialNav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EKF origin-relative pos → AP_InertialNav::update → _relpos_cm → Copter logging/reporting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GCS / logger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Reporting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Courier New"/>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AC_PosControl (Sink)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AP_AHRS pos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Inbound chain to a Sink endpoint.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AR_PosControl (Sink, Rover)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AP_AHRS pos/vel → AR_PosControl → AR_AttitudeControl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 actuation endpoint.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r">
                        <a:lnSpc>
                          <a:spcPct val="106000"/>
                        </a:lnSpc>
                        <a:spcAft>
                          <a:spcPts val="0"/>
                        </a:spcAft>
                      </a:pPr>
                      <a:r>
                        <a:rPr sz="1100" b="1">
                          <a:solidFill>
                            <a:srgbClr val="333333"/>
                          </a:solidFill>
                          <a:latin typeface="Courier New"/>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AP_Beacon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AP_Beacon → get_vehicle_position_ned → NavEKF3 RngBcn fusion → AP_AHRS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GPS-denied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Courier New"/>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AP_VisualOdom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AP_VisualOdom → NavEKF3 external-nav fusion → AP_AHRS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GPS-denied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177790"/>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21–26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2 — Core Navigation</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The navigation hub, the estimator stack and the guidance and mission layer.</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28 catalogued rows, with every Notes annotation, flag token and cited path:line range exactly as printed.</a:t>
            </a:r>
          </a:p>
        </p:txBody>
      </p:sp>
      <p:graphicFrame>
        <p:nvGraphicFramePr>
          <p:cNvPr id="7" name="Table 6"/>
          <p:cNvGraphicFramePr>
            <a:graphicFrameLocks noGrp="1"/>
          </p:cNvGraphicFramePr>
          <p:nvPr/>
        </p:nvGraphicFramePr>
        <p:xfrm>
          <a:off x="566928" y="1906943"/>
          <a:ext cx="11058144" cy="4284980"/>
        </p:xfrm>
        <a:graphic>
          <a:graphicData uri="http://schemas.openxmlformats.org/drawingml/2006/table">
            <a:tbl>
              <a:tblPr>
                <a:tableStyleId>{5C22544A-7EE6-4342-B048-85BDC9FD1C3A}</a:tableStyleId>
              </a:tblPr>
              <a:tblGrid>
                <a:gridCol w="278765"/>
                <a:gridCol w="2174875"/>
                <a:gridCol w="881380"/>
                <a:gridCol w="1627505"/>
                <a:gridCol w="804545"/>
                <a:gridCol w="1734820"/>
                <a:gridCol w="3556635"/>
              </a:tblGrid>
              <a:tr h="240030">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230">
                <a:tc>
                  <a:txBody>
                    <a:bodyPr wrap="square">
                      <a:noAutofit/>
                    </a:bodyPr>
                    <a:lstStyle/>
                    <a:p>
                      <a:pPr algn="r">
                        <a:lnSpc>
                          <a:spcPct val="106000"/>
                        </a:lnSpc>
                        <a:spcAft>
                          <a:spcPts val="0"/>
                        </a:spcAft>
                      </a:pPr>
                      <a:r>
                        <a:rPr sz="1100" b="1">
                          <a:solidFill>
                            <a:srgbClr val="333333"/>
                          </a:solidFill>
                          <a:latin typeface="Courier New"/>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libraries/AP_AHRS/AP_AHRS.cpp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3600-3604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Central navigation hub returns the fused Location from the active EKF. Reached via AP::ahrs(). AHRS owns NavEKF2/NavEKF3 while the EKF core reads AHRS/sensor state back through AP_DAL — AHRS↔EKF mutual reference.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430">
                <a:tc>
                  <a:txBody>
                    <a:bodyPr wrap="square">
                      <a:noAutofit/>
                    </a:bodyPr>
                    <a:lstStyle/>
                    <a:p>
                      <a:pPr algn="r">
                        <a:lnSpc>
                          <a:spcPct val="106000"/>
                        </a:lnSpc>
                        <a:spcAft>
                          <a:spcPts val="0"/>
                        </a:spcAft>
                      </a:pPr>
                      <a:r>
                        <a:rPr sz="1100" b="1">
                          <a:solidFill>
                            <a:srgbClr val="333333"/>
                          </a:solidFill>
                          <a:latin typeface="Courier New"/>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libraries/AP_AHRS/AP_AHRS.h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238-246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AP_AHRS::groundspeed()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Read accessor returning the already-fused state.ground_speed (m/s). Performs no fusion and produces nothing from a measurement — classified Sink (read accessor), NOT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129030">
                <a:tc>
                  <a:txBody>
                    <a:bodyPr wrap="square">
                      <a:noAutofit/>
                    </a:bodyPr>
                    <a:lstStyle/>
                    <a:p>
                      <a:pPr algn="r">
                        <a:lnSpc>
                          <a:spcPct val="106000"/>
                        </a:lnSpc>
                        <a:spcAft>
                          <a:spcPts val="0"/>
                        </a:spcAft>
                      </a:pPr>
                      <a:r>
                        <a:rPr sz="1100" b="1">
                          <a:solidFill>
                            <a:srgbClr val="333333"/>
                          </a:solidFill>
                          <a:latin typeface="Courier New"/>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libraries/AP_AHRS/AP_AHRS.h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269-277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AP_AHRS::get_origin()/have_inertial_nav()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Availability/origin read accessors (have_inertial_nav() is a user-cited symbol, L273). They report EKF availability/origin — read accessors, NOT measurement Sources; classified Sink. EKF origin is WRITTEN by the EKF (see #15 calcGpsGoodToAlign / setOrigin).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r">
                        <a:lnSpc>
                          <a:spcPct val="106000"/>
                        </a:lnSpc>
                        <a:spcAft>
                          <a:spcPts val="0"/>
                        </a:spcAft>
                      </a:pPr>
                      <a:r>
                        <a:rPr sz="1100" b="1">
                          <a:solidFill>
                            <a:srgbClr val="333333"/>
                          </a:solidFill>
                          <a:latin typeface="Courier New"/>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libraries/AP_AHRS/AP_AHRS.cpp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1739-1748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AP_AHRS::get_relative_position_NED_origin()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Geodetic↔NED: origin-relative NED position via active-EKF-type dispatch (DCM/EKF2/EKF3) — performs conversion on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r">
                        <a:lnSpc>
                          <a:spcPct val="106000"/>
                        </a:lnSpc>
                        <a:spcAft>
                          <a:spcPts val="0"/>
                        </a:spcAft>
                      </a:pPr>
                      <a:r>
                        <a:rPr sz="1100" b="1">
                          <a:solidFill>
                            <a:srgbClr val="333333"/>
                          </a:solidFill>
                          <a:latin typeface="Courier New"/>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libraries/AP_AHRS/AP_AHRS.cpp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3662-3666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AP_AHRS::get_velocity_NED()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Exposes the fused NED velocity (nav-hub output of EKF fusion); consumed by crash detection and Rover position 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graphicFrame>
        <p:nvGraphicFramePr>
          <p:cNvPr id="6" name="Table 5"/>
          <p:cNvGraphicFramePr>
            <a:graphicFrameLocks noGrp="1"/>
          </p:cNvGraphicFramePr>
          <p:nvPr/>
        </p:nvGraphicFramePr>
        <p:xfrm>
          <a:off x="566928" y="1591056"/>
          <a:ext cx="11058144" cy="3449320"/>
        </p:xfrm>
        <a:graphic>
          <a:graphicData uri="http://schemas.openxmlformats.org/drawingml/2006/table">
            <a:tbl>
              <a:tblPr>
                <a:tableStyleId>{5C22544A-7EE6-4342-B048-85BDC9FD1C3A}</a:tableStyleId>
              </a:tblPr>
              <a:tblGrid>
                <a:gridCol w="278765"/>
                <a:gridCol w="2174875"/>
                <a:gridCol w="881380"/>
                <a:gridCol w="1627505"/>
                <a:gridCol w="804545"/>
                <a:gridCol w="1734820"/>
                <a:gridCol w="3556635"/>
              </a:tblGrid>
              <a:tr h="240030">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9030">
                <a:tc>
                  <a:txBody>
                    <a:bodyPr wrap="square">
                      <a:noAutofit/>
                    </a:bodyPr>
                    <a:lstStyle/>
                    <a:p>
                      <a:pPr algn="r">
                        <a:lnSpc>
                          <a:spcPct val="106000"/>
                        </a:lnSpc>
                        <a:spcAft>
                          <a:spcPts val="0"/>
                        </a:spcAft>
                      </a:pPr>
                      <a:r>
                        <a:rPr sz="1100" b="1">
                          <a:solidFill>
                            <a:srgbClr val="333333"/>
                          </a:solidFill>
                          <a:latin typeface="Courier New"/>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libraries/AP_NavEKF3/AP_NavEKF3_core.cpp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627-636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Extended Kalman Filter predict/fuse step (the core PNT transform). AHRS owns NavEKF2/NavEKF3 while the EKF core reads AHRS/sensor state back through AP_DAL — AHRS↔EKF mutual reference.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6830">
                <a:tc>
                  <a:txBody>
                    <a:bodyPr wrap="square">
                      <a:noAutofit/>
                    </a:bodyPr>
                    <a:lstStyle/>
                    <a:p>
                      <a:pPr algn="r">
                        <a:lnSpc>
                          <a:spcPct val="106000"/>
                        </a:lnSpc>
                        <a:spcAft>
                          <a:spcPts val="0"/>
                        </a:spcAft>
                      </a:pPr>
                      <a:r>
                        <a:rPr sz="1100" b="1">
                          <a:solidFill>
                            <a:srgbClr val="333333"/>
                          </a:solidFill>
                          <a:latin typeface="Courier New"/>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libraries/AP_NavEKF3/AP_NavEKF3_PosVelFusion.cpp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502-511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NavEKF3_core::SelectVelPosFusion()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[CIRCULAR] GPS position/velocity fusion scheduling; the dtIMUavg&lt;0.005 gate couples EKF fusion cadence to the scheduler loop rate (timing coupling). AHRS owns NavEKF2/NavEKF3 while the EKF core reads AHRS/sensor state back through AP_DAL — AHRS↔EKF mutual reference.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430">
                <a:tc>
                  <a:txBody>
                    <a:bodyPr wrap="square">
                      <a:noAutofit/>
                    </a:bodyPr>
                    <a:lstStyle/>
                    <a:p>
                      <a:pPr algn="r">
                        <a:lnSpc>
                          <a:spcPct val="106000"/>
                        </a:lnSpc>
                        <a:spcAft>
                          <a:spcPts val="0"/>
                        </a:spcAft>
                      </a:pPr>
                      <a:r>
                        <a:rPr sz="1100" b="1">
                          <a:solidFill>
                            <a:srgbClr val="333333"/>
                          </a:solidFill>
                          <a:latin typeface="Courier New"/>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libraries/AP_NavEKF3/AP_NavEKF3_PosVelFusion.cpp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694-702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NavEKF3_core::FuseVelPosNED()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Core position/velocity measurement-update (Kalman gain applied to GPS/baro NED innovations).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6–8</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graphicFrame>
        <p:nvGraphicFramePr>
          <p:cNvPr id="6" name="Table 5"/>
          <p:cNvGraphicFramePr>
            <a:graphicFrameLocks noGrp="1"/>
          </p:cNvGraphicFramePr>
          <p:nvPr/>
        </p:nvGraphicFramePr>
        <p:xfrm>
          <a:off x="566928" y="1591056"/>
          <a:ext cx="11058144" cy="3689350"/>
        </p:xfrm>
        <a:graphic>
          <a:graphicData uri="http://schemas.openxmlformats.org/drawingml/2006/table">
            <a:tbl>
              <a:tblPr>
                <a:tableStyleId>{5C22544A-7EE6-4342-B048-85BDC9FD1C3A}</a:tableStyleId>
              </a:tblPr>
              <a:tblGrid>
                <a:gridCol w="278765"/>
                <a:gridCol w="2174875"/>
                <a:gridCol w="881380"/>
                <a:gridCol w="1627505"/>
                <a:gridCol w="804545"/>
                <a:gridCol w="1734820"/>
                <a:gridCol w="3556635"/>
              </a:tblGrid>
              <a:tr h="240030">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630">
                <a:tc>
                  <a:txBody>
                    <a:bodyPr wrap="square">
                      <a:noAutofit/>
                    </a:bodyPr>
                    <a:lstStyle/>
                    <a:p>
                      <a:pPr algn="r">
                        <a:lnSpc>
                          <a:spcPct val="106000"/>
                        </a:lnSpc>
                        <a:spcAft>
                          <a:spcPts val="0"/>
                        </a:spcAft>
                      </a:pPr>
                      <a:r>
                        <a:rPr sz="1100" b="1">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libraries/AP_NavEKF3/AP_NavEKF3_Measurements.cpp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559-567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NavEKF3_core::readGpsData()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GPS ingestion into the EKF delayed-time buffer (reads gps.location()/velocity()/status via AP_DAL). This is the GPS→EKF hop omitted earlier (cf. Table 1a chains). AHRS owns NavEKF2/NavEKF3 while the EKF core reads AHRS/sensor state back through AP_DAL — AHRS↔EKF mutual reference.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430">
                <a:tc>
                  <a:txBody>
                    <a:bodyPr wrap="square">
                      <a:noAutofit/>
                    </a:bodyPr>
                    <a:lstStyle/>
                    <a:p>
                      <a:pPr algn="r">
                        <a:lnSpc>
                          <a:spcPct val="106000"/>
                        </a:lnSpc>
                        <a:spcAft>
                          <a:spcPts val="0"/>
                        </a:spcAft>
                      </a:pPr>
                      <a:r>
                        <a:rPr sz="1100" b="1">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libraries/AP_NavEKF3/AP_NavEKF3_Control.cpp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232-240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NavEKF3_core::setAidingMode()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Navigation aiding-mode state machine (none/relative/absolute) driving which PNT measurements are fused.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r">
                        <a:lnSpc>
                          <a:spcPct val="106000"/>
                        </a:lnSpc>
                        <a:spcAft>
                          <a:spcPts val="0"/>
                        </a:spcAft>
                      </a:pPr>
                      <a:r>
                        <a:rPr sz="1100" b="1">
                          <a:solidFill>
                            <a:srgbClr val="333333"/>
                          </a:solidFill>
                          <a:latin typeface="Courier New"/>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libraries/AP_NavEKF3/AP_NavEKF3_MagFusion.cpp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227-235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NavEKF3_core::SelectMagFusion()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Magnetometer/yaw fusion scheduling feeding the heading component of the navigation solution.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r">
                        <a:lnSpc>
                          <a:spcPct val="106000"/>
                        </a:lnSpc>
                        <a:spcAft>
                          <a:spcPts val="0"/>
                        </a:spcAft>
                      </a:pPr>
                      <a:r>
                        <a:rPr sz="1100" b="1">
                          <a:solidFill>
                            <a:srgbClr val="333333"/>
                          </a:solidFill>
                          <a:latin typeface="Courier New"/>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libraries/AP_NavEKF3/AP_NavEKF3_AirDataFusion.cpp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193-201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NavEKF3_core::SelectTasFusion()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True-airspeed / synthetic-sideslip fusion (wind/velocity estimation for fixed-wing nav).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879" y="384048"/>
            <a:ext cx="59919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9–12</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graphicFrame>
        <p:nvGraphicFramePr>
          <p:cNvPr id="6" name="Table 5"/>
          <p:cNvGraphicFramePr>
            <a:graphicFrameLocks noGrp="1"/>
          </p:cNvGraphicFramePr>
          <p:nvPr/>
        </p:nvGraphicFramePr>
        <p:xfrm>
          <a:off x="566928" y="1591056"/>
          <a:ext cx="11058144" cy="3218180"/>
        </p:xfrm>
        <a:graphic>
          <a:graphicData uri="http://schemas.openxmlformats.org/drawingml/2006/table">
            <a:tbl>
              <a:tblPr>
                <a:tableStyleId>{5C22544A-7EE6-4342-B048-85BDC9FD1C3A}</a:tableStyleId>
              </a:tblPr>
              <a:tblGrid>
                <a:gridCol w="278765"/>
                <a:gridCol w="2174875"/>
                <a:gridCol w="881380"/>
                <a:gridCol w="1627505"/>
                <a:gridCol w="804545"/>
                <a:gridCol w="1734820"/>
                <a:gridCol w="3556635"/>
              </a:tblGrid>
              <a:tr h="240030">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30">
                <a:tc>
                  <a:txBody>
                    <a:bodyPr wrap="square">
                      <a:noAutofit/>
                    </a:bodyPr>
                    <a:lstStyle/>
                    <a:p>
                      <a:pPr algn="r">
                        <a:lnSpc>
                          <a:spcPct val="106000"/>
                        </a:lnSpc>
                        <a:spcAft>
                          <a:spcPts val="0"/>
                        </a:spcAft>
                      </a:pPr>
                      <a:r>
                        <a:rPr sz="1100" b="1">
                          <a:solidFill>
                            <a:srgbClr val="333333"/>
                          </a:solidFill>
                          <a:latin typeface="Courier New"/>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libraries/AP_NavEKF3/AP_NavEKF3_OptFlowFusion.cpp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21-29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NavEKF3_core::SelectFlowFusion()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Optical-flow fusion scheduling for GPS-denied velocity/position aiding.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r">
                        <a:lnSpc>
                          <a:spcPct val="106000"/>
                        </a:lnSpc>
                        <a:spcAft>
                          <a:spcPts val="0"/>
                        </a:spcAft>
                      </a:pPr>
                      <a:r>
                        <a:rPr sz="1100" b="1">
                          <a:solidFill>
                            <a:srgbClr val="333333"/>
                          </a:solidFill>
                          <a:latin typeface="Courier New"/>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libraries/AP_NavEKF3/AP_NavEKF3_Outputs.cpp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326-334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NavEKF3_core::getLLH()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EKF position output: converts the filter state to a geodetic Location consumed by AP_AHRS.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r">
                        <a:lnSpc>
                          <a:spcPct val="106000"/>
                        </a:lnSpc>
                        <a:spcAft>
                          <a:spcPts val="0"/>
                        </a:spcAft>
                      </a:pPr>
                      <a:r>
                        <a:rPr sz="1100" b="1">
                          <a:solidFill>
                            <a:srgbClr val="333333"/>
                          </a:solidFill>
                          <a:latin typeface="Courier New"/>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libraries/AP_NavEKF3/AP_NavEKF3_VehicleStatus.cpp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14-22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NavEKF3_core::calcGpsGoodToAlign()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GPS-quality gate deciding whether the GPS is good enough to align/aid the navigation solution.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r">
                        <a:lnSpc>
                          <a:spcPct val="106000"/>
                        </a:lnSpc>
                        <a:spcAft>
                          <a:spcPts val="0"/>
                        </a:spcAft>
                      </a:pPr>
                      <a:r>
                        <a:rPr sz="1100" b="1">
                          <a:solidFill>
                            <a:srgbClr val="333333"/>
                          </a:solidFill>
                          <a:latin typeface="Courier New"/>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libraries/AP_NavEKF3/AP_NavEKF3_GyroBias.cpp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6-13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NavEKF3_core::resetGyroBias()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Gyro-bias state reset within the inertial-navigation state vector.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r">
                        <a:lnSpc>
                          <a:spcPct val="106000"/>
                        </a:lnSpc>
                        <a:spcAft>
                          <a:spcPts val="0"/>
                        </a:spcAft>
                      </a:pPr>
                      <a:r>
                        <a:rPr sz="1100" b="1">
                          <a:solidFill>
                            <a:srgbClr val="333333"/>
                          </a:solidFill>
                          <a:latin typeface="Courier New"/>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libraries/AP_NavEKF3/AP_NavEKF3_RngBcnFusion.cpp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95-103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NavEKF3_core::FuseRngBcn()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Range-beacon (non-GPS) position fusion — consumes AP_Beacon ranges (Table 1 #25).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13–17</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graphicFrame>
        <p:nvGraphicFramePr>
          <p:cNvPr id="6" name="Table 5"/>
          <p:cNvGraphicFramePr>
            <a:graphicFrameLocks noGrp="1"/>
          </p:cNvGraphicFramePr>
          <p:nvPr/>
        </p:nvGraphicFramePr>
        <p:xfrm>
          <a:off x="566928" y="1591056"/>
          <a:ext cx="11058144" cy="4284980"/>
        </p:xfrm>
        <a:graphic>
          <a:graphicData uri="http://schemas.openxmlformats.org/drawingml/2006/table">
            <a:tbl>
              <a:tblPr>
                <a:tableStyleId>{5C22544A-7EE6-4342-B048-85BDC9FD1C3A}</a:tableStyleId>
              </a:tblPr>
              <a:tblGrid>
                <a:gridCol w="278765"/>
                <a:gridCol w="2174875"/>
                <a:gridCol w="881380"/>
                <a:gridCol w="1627505"/>
                <a:gridCol w="804545"/>
                <a:gridCol w="1734820"/>
                <a:gridCol w="3556635"/>
              </a:tblGrid>
              <a:tr h="240030">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430">
                <a:tc>
                  <a:txBody>
                    <a:bodyPr wrap="square">
                      <a:noAutofit/>
                    </a:bodyPr>
                    <a:lstStyle/>
                    <a:p>
                      <a:pPr algn="r">
                        <a:lnSpc>
                          <a:spcPct val="106000"/>
                        </a:lnSpc>
                        <a:spcAft>
                          <a:spcPts val="0"/>
                        </a:spcAft>
                      </a:pPr>
                      <a:r>
                        <a:rPr sz="1100" b="1">
                          <a:solidFill>
                            <a:srgbClr val="333333"/>
                          </a:solidFill>
                          <a:latin typeface="Courier New"/>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libraries/AP_NavEKF3/AP_NavEKF3_Logging.cpp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15-23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NavEKF3_core::Log_Write_XKF1()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Logs the fused navigation state (pos/vel/attitude) to the dataflash; reads PNT state, drives no control — a logging Sink.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r">
                        <a:lnSpc>
                          <a:spcPct val="106000"/>
                        </a:lnSpc>
                        <a:spcAft>
                          <a:spcPts val="0"/>
                        </a:spcAft>
                      </a:pPr>
                      <a:r>
                        <a:rPr sz="1100" b="1">
                          <a:solidFill>
                            <a:srgbClr val="333333"/>
                          </a:solidFill>
                          <a:latin typeface="Courier New"/>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libraries/AP_NavEKF3/AP_NavEKF3.cpp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1846-1854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NavEKF3::getFilterStatus()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EKF3 frontend: exposes the per-core nav_filter_status (position/velocity validity bits) to vehicle health logic (Group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6830">
                <a:tc>
                  <a:txBody>
                    <a:bodyPr wrap="square">
                      <a:noAutofit/>
                    </a:bodyPr>
                    <a:lstStyle/>
                    <a:p>
                      <a:pPr algn="r">
                        <a:lnSpc>
                          <a:spcPct val="106000"/>
                        </a:lnSpc>
                        <a:spcAft>
                          <a:spcPts val="0"/>
                        </a:spcAft>
                      </a:pPr>
                      <a:r>
                        <a:rPr sz="1100" b="1">
                          <a:solidFill>
                            <a:srgbClr val="333333"/>
                          </a:solidFill>
                          <a:latin typeface="Courier New"/>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libraries/AP_NavEKF2/AP_NavEKF2_core.cpp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528-536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[CIRCULAR] [DUPLICATED] Second-generation EKF predict/fuse step; selectable alternative to EKF3. AHRS owns NavEKF2/NavEKF3 while the EKF core reads AHRS/sensor state back through AP_DAL — AHRS↔EKF mutual reference. parallel EKF implementation to AP_NavEKF3 (extraction note).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r">
                        <a:lnSpc>
                          <a:spcPct val="106000"/>
                        </a:lnSpc>
                        <a:spcAft>
                          <a:spcPts val="0"/>
                        </a:spcAft>
                      </a:pPr>
                      <a:r>
                        <a:rPr sz="1100" b="1">
                          <a:solidFill>
                            <a:srgbClr val="333333"/>
                          </a:solidFill>
                          <a:latin typeface="Courier New"/>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libraries/AP_NavEKF2/AP_NavEKF2_PosVelFusion.cpp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560-568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EKF2 GPS position/velocity measurement-update; structurally mirrors EKF3 FuseVelPosNED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430">
                <a:tc>
                  <a:txBody>
                    <a:bodyPr wrap="square">
                      <a:noAutofit/>
                    </a:bodyPr>
                    <a:lstStyle/>
                    <a:p>
                      <a:pPr algn="r">
                        <a:lnSpc>
                          <a:spcPct val="106000"/>
                        </a:lnSpc>
                        <a:spcAft>
                          <a:spcPts val="0"/>
                        </a:spcAft>
                      </a:pPr>
                      <a:r>
                        <a:rPr sz="1100" b="1">
                          <a:solidFill>
                            <a:srgbClr val="333333"/>
                          </a:solidFill>
                          <a:latin typeface="Courier New"/>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libraries/AP_NavEKF/EKFGSF_yaw.cpp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30-38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EKFGSF_yaw::update()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Gaussian-Sum-Filter emergency yaw estimator (shared by EKF2/EKF3) providing a GPS-velocity-derived yaw used to recover the navigation solution.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18–22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graphicFrame>
        <p:nvGraphicFramePr>
          <p:cNvPr id="6" name="Table 5"/>
          <p:cNvGraphicFramePr>
            <a:graphicFrameLocks noGrp="1"/>
          </p:cNvGraphicFramePr>
          <p:nvPr/>
        </p:nvGraphicFramePr>
        <p:xfrm>
          <a:off x="566928" y="1591056"/>
          <a:ext cx="11058144" cy="3804920"/>
        </p:xfrm>
        <a:graphic>
          <a:graphicData uri="http://schemas.openxmlformats.org/drawingml/2006/table">
            <a:tbl>
              <a:tblPr>
                <a:tableStyleId>{5C22544A-7EE6-4342-B048-85BDC9FD1C3A}</a:tableStyleId>
              </a:tblPr>
              <a:tblGrid>
                <a:gridCol w="278765"/>
                <a:gridCol w="2174875"/>
                <a:gridCol w="881380"/>
                <a:gridCol w="1627505"/>
                <a:gridCol w="804545"/>
                <a:gridCol w="1734820"/>
                <a:gridCol w="3556635"/>
              </a:tblGrid>
              <a:tr h="240030">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30">
                <a:tc>
                  <a:txBody>
                    <a:bodyPr wrap="square">
                      <a:noAutofit/>
                    </a:bodyPr>
                    <a:lstStyle/>
                    <a:p>
                      <a:pPr algn="r">
                        <a:lnSpc>
                          <a:spcPct val="106000"/>
                        </a:lnSpc>
                        <a:spcAft>
                          <a:spcPts val="0"/>
                        </a:spcAft>
                      </a:pPr>
                      <a:r>
                        <a:rPr sz="1100" b="1">
                          <a:solidFill>
                            <a:srgbClr val="333333"/>
                          </a:solidFill>
                          <a:latin typeface="Courier New"/>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libraries/AC_WPNav/AC_WPNav.cpp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245-254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AC_WPNav::set_wp_destination_loc()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Waypoint navigation: converts a Location waypoint to a NEU target (get_vector_NEU_cm) relative to EKF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230">
                <a:tc>
                  <a:txBody>
                    <a:bodyPr wrap="square">
                      <a:noAutofit/>
                    </a:bodyPr>
                    <a:lstStyle/>
                    <a:p>
                      <a:pPr algn="r">
                        <a:lnSpc>
                          <a:spcPct val="106000"/>
                        </a:lnSpc>
                        <a:spcAft>
                          <a:spcPts val="0"/>
                        </a:spcAft>
                      </a:pPr>
                      <a:r>
                        <a:rPr sz="1100" b="1">
                          <a:solidFill>
                            <a:srgbClr val="333333"/>
                          </a:solidFill>
                          <a:latin typeface="Courier New"/>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libraries/AP_Mission/AP_Mission.cpp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552-561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AP_Mission::get_next_nav_cmd()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Mission-command storage reader + navigation-command sequencing: scans stored commands and returns the next NAV waypoint. NOT a PNT measurement Source — it sequences stored navigation targets (Transform).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18030">
                <a:tc>
                  <a:txBody>
                    <a:bodyPr wrap="square">
                      <a:noAutofit/>
                    </a:bodyPr>
                    <a:lstStyle/>
                    <a:p>
                      <a:pPr algn="r">
                        <a:lnSpc>
                          <a:spcPct val="106000"/>
                        </a:lnSpc>
                        <a:spcAft>
                          <a:spcPts val="0"/>
                        </a:spcAft>
                      </a:pPr>
                      <a:r>
                        <a:rPr sz="1100" b="1">
                          <a:solidFill>
                            <a:srgbClr val="333333"/>
                          </a:solidFill>
                          <a:latin typeface="Courier New"/>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libraries/AP_L1_Control/AP_L1_Control.cpp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226-234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AP_L1_Control::update_waypoint()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AfsimL1Behavior::set_leg_ne() -&gt; AP_L1_Control::update_waypoint(prev, next); state via AHRS shim (get_location()/groundspeed_vector()) fed by set_state_ne(); dt via set_update_dt()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Fixed-wing lateral (L1) guidance consuming the AHRS navigation position via _ahrs.get_location() (returns early if unavailable). The same method also reads AP_HAL::micros() at L214 for the dt timing coupling.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23–25</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graphicFrame>
        <p:nvGraphicFramePr>
          <p:cNvPr id="6" name="Table 5"/>
          <p:cNvGraphicFramePr>
            <a:graphicFrameLocks noGrp="1"/>
          </p:cNvGraphicFramePr>
          <p:nvPr/>
        </p:nvGraphicFramePr>
        <p:xfrm>
          <a:off x="566928" y="1591056"/>
          <a:ext cx="11058144" cy="2915920"/>
        </p:xfrm>
        <a:graphic>
          <a:graphicData uri="http://schemas.openxmlformats.org/drawingml/2006/table">
            <a:tbl>
              <a:tblPr>
                <a:tableStyleId>{5C22544A-7EE6-4342-B048-85BDC9FD1C3A}</a:tableStyleId>
              </a:tblPr>
              <a:tblGrid>
                <a:gridCol w="278765"/>
                <a:gridCol w="2174875"/>
                <a:gridCol w="881380"/>
                <a:gridCol w="1627505"/>
                <a:gridCol w="804545"/>
                <a:gridCol w="1734820"/>
                <a:gridCol w="3556635"/>
              </a:tblGrid>
              <a:tr h="240030">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9030">
                <a:tc>
                  <a:txBody>
                    <a:bodyPr wrap="square">
                      <a:noAutofit/>
                    </a:bodyPr>
                    <a:lstStyle/>
                    <a:p>
                      <a:pPr algn="r">
                        <a:lnSpc>
                          <a:spcPct val="106000"/>
                        </a:lnSpc>
                        <a:spcAft>
                          <a:spcPts val="0"/>
                        </a:spcAft>
                      </a:pPr>
                      <a:r>
                        <a:rPr sz="1100" b="1">
                          <a:solidFill>
                            <a:srgbClr val="333333"/>
                          </a:solidFill>
                          <a:latin typeface="Courier New"/>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libraries/AP_L1_Control/AP_L1_Control.cpp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79-88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AP_L1_Control::nav_roll_cd()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AfsimL1Behavior::get_roll_deg() = nav_roll_cd()/100 -&gt; L1_GetRollDeg; get_lat_accel() -&gt; L1_GetLatAccel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Derives demanded roll (centi-deg) from the lateral-acceleration demand and AHRS pitch.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r">
                        <a:lnSpc>
                          <a:spcPct val="106000"/>
                        </a:lnSpc>
                        <a:spcAft>
                          <a:spcPts val="0"/>
                        </a:spcAft>
                      </a:pPr>
                      <a:r>
                        <a:rPr sz="1100" b="1">
                          <a:solidFill>
                            <a:srgbClr val="333333"/>
                          </a:solidFill>
                          <a:latin typeface="Courier New"/>
                        </a:rPr>
                        <a:t>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libraries/AP_TECS/AP_TECS.cpp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1259-1268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AP_TECS::update_pitch_throttle()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Fixed-wing Total Energy Control (speed/altitude) producing pitch &amp; throttle demands.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230">
                <a:tc>
                  <a:txBody>
                    <a:bodyPr wrap="square">
                      <a:noAutofit/>
                    </a:bodyPr>
                    <a:lstStyle/>
                    <a:p>
                      <a:pPr algn="r">
                        <a:lnSpc>
                          <a:spcPct val="106000"/>
                        </a:lnSpc>
                        <a:spcAft>
                          <a:spcPts val="0"/>
                        </a:spcAft>
                      </a:pPr>
                      <a:r>
                        <a:rPr sz="1100" b="1">
                          <a:solidFill>
                            <a:srgbClr val="333333"/>
                          </a:solidFill>
                          <a:latin typeface="Courier New"/>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libraries/AC_AttitudeControl/AC_AttitudeControl.cpp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411-419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AC_AttitudeControl::input_euler_angle_roll_pitch_yaw_cd()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Attitude/rate controller consuming the navigation demand; downstream of all navigation.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26–28</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a:t>
            </a:r>
          </a:p>
        </p:txBody>
      </p:sp>
      <p:sp>
        <p:nvSpPr>
          <p:cNvPr id="5" name="TextBox 4"/>
          <p:cNvSpPr txBox="1"/>
          <p:nvPr/>
        </p:nvSpPr>
        <p:spPr>
          <a:xfrm>
            <a:off x="566928" y="1426464"/>
            <a:ext cx="11064240" cy="903541"/>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(5-10 lines), reproduced verbatim from the cited path:line range: one paragraph per source line, in the audit’s own order, with its indentation and its blank lines intact and nothing abbreviated.</a:t>
            </a:r>
          </a:p>
        </p:txBody>
      </p:sp>
      <p:graphicFrame>
        <p:nvGraphicFramePr>
          <p:cNvPr id="7" name="Table 6"/>
          <p:cNvGraphicFramePr>
            <a:graphicFrameLocks noGrp="1"/>
          </p:cNvGraphicFramePr>
          <p:nvPr/>
        </p:nvGraphicFramePr>
        <p:xfrm>
          <a:off x="566928" y="2549461"/>
          <a:ext cx="11058144" cy="321458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Courier New"/>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libraries/AP_AHRS/AP_AHRS.cpp</a:t>
                      </a:r>
                      <a:r>
                        <a:rPr sz="1100" b="0">
                          <a:solidFill>
                            <a:srgbClr val="999999"/>
                          </a:solidFill>
                          <a:latin typeface="Courier New"/>
                        </a:rPr>
                        <a:t>  ·  </a:t>
                      </a:r>
                      <a:r>
                        <a:rPr sz="1100" b="0">
                          <a:solidFill>
                            <a:srgbClr val="999999"/>
                          </a:solidFill>
                          <a:latin typeface="Courier New"/>
                        </a:rPr>
                        <a:t>3600-3604</a:t>
                      </a:r>
                      <a:r>
                        <a:rPr sz="1100" b="0">
                          <a:solidFill>
                            <a:srgbClr val="999999"/>
                          </a:solidFill>
                          <a:latin typeface="Courier New"/>
                        </a:rPr>
                        <a:t>  ·  </a:t>
                      </a:r>
                      <a:r>
                        <a:rPr sz="1100" b="0">
                          <a:solidFill>
                            <a:srgbClr val="999999"/>
                          </a:solidFill>
                          <a:latin typeface="Courier New"/>
                        </a:rPr>
                        <a:t>AP_AHRS::get_location()</a:t>
                      </a:r>
                    </a:p>
                    <a:p>
                      <a:pPr algn="l">
                        <a:lnSpc>
                          <a:spcPct val="106000"/>
                        </a:lnSpc>
                        <a:spcAft>
                          <a:spcPts val="0"/>
                        </a:spcAft>
                      </a:pPr>
                      <a:r>
                        <a:rPr sz="1100" b="0">
                          <a:solidFill>
                            <a:srgbClr val="333333"/>
                          </a:solidFill>
                          <a:latin typeface="Courier New"/>
                        </a:rPr>
                        <a:t>bool AP_AHRS::get_location(Location &amp;loc) const</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loc = state.location;</a:t>
                      </a:r>
                    </a:p>
                    <a:p>
                      <a:pPr algn="l">
                        <a:lnSpc>
                          <a:spcPct val="106000"/>
                        </a:lnSpc>
                        <a:spcAft>
                          <a:spcPts val="0"/>
                        </a:spcAft>
                      </a:pPr>
                      <a:r>
                        <a:rPr sz="1100" b="0">
                          <a:solidFill>
                            <a:srgbClr val="333333"/>
                          </a:solidFill>
                          <a:latin typeface="Courier New"/>
                        </a:rPr>
                        <a:t>    return state.location_ok;</a:t>
                      </a:r>
                    </a:p>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Courier New"/>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libraries/AP_AHRS/AP_AHRS.h</a:t>
                      </a:r>
                      <a:r>
                        <a:rPr sz="1100" b="0">
                          <a:solidFill>
                            <a:srgbClr val="999999"/>
                          </a:solidFill>
                          <a:latin typeface="Courier New"/>
                        </a:rPr>
                        <a:t>  ·  </a:t>
                      </a:r>
                      <a:r>
                        <a:rPr sz="1100" b="0">
                          <a:solidFill>
                            <a:srgbClr val="999999"/>
                          </a:solidFill>
                          <a:latin typeface="Courier New"/>
                        </a:rPr>
                        <a:t>238-246</a:t>
                      </a:r>
                      <a:r>
                        <a:rPr sz="1100" b="0">
                          <a:solidFill>
                            <a:srgbClr val="999999"/>
                          </a:solidFill>
                          <a:latin typeface="Courier New"/>
                        </a:rPr>
                        <a:t>  ·  </a:t>
                      </a:r>
                      <a:r>
                        <a:rPr sz="1100" b="0">
                          <a:solidFill>
                            <a:srgbClr val="999999"/>
                          </a:solidFill>
                          <a:latin typeface="Courier New"/>
                        </a:rPr>
                        <a:t>AP_AHRS::groundspeed()</a:t>
                      </a:r>
                    </a:p>
                    <a:p>
                      <a:pPr algn="l">
                        <a:lnSpc>
                          <a:spcPct val="106000"/>
                        </a:lnSpc>
                        <a:spcAft>
                          <a:spcPts val="0"/>
                        </a:spcAft>
                      </a:pPr>
                      <a:r>
                        <a:rPr sz="1100" b="0">
                          <a:solidFill>
                            <a:srgbClr val="333333"/>
                          </a:solidFill>
                          <a:latin typeface="Courier New"/>
                        </a:rPr>
                        <a:t>    // EKF has a better ground speed vector estimate</a:t>
                      </a:r>
                    </a:p>
                    <a:p>
                      <a:pPr algn="l">
                        <a:lnSpc>
                          <a:spcPct val="106000"/>
                        </a:lnSpc>
                        <a:spcAft>
                          <a:spcPts val="0"/>
                        </a:spcAft>
                      </a:pPr>
                      <a:r>
                        <a:rPr sz="1100" b="0">
                          <a:solidFill>
                            <a:srgbClr val="333333"/>
                          </a:solidFill>
                          <a:latin typeface="Courier New"/>
                        </a:rPr>
                        <a:t>    const Vector2f &amp;groundspeed_vector() const { return state.ground_speed_vec; }</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 return ground speed estimate in meters/second. Used by ground vehicles.</a:t>
                      </a:r>
                    </a:p>
                    <a:p>
                      <a:pPr algn="l">
                        <a:lnSpc>
                          <a:spcPct val="106000"/>
                        </a:lnSpc>
                        <a:spcAft>
                          <a:spcPts val="0"/>
                        </a:spcAft>
                      </a:pPr>
                      <a:r>
                        <a:rPr sz="1100" b="0">
                          <a:solidFill>
                            <a:srgbClr val="333333"/>
                          </a:solidFill>
                          <a:latin typeface="Courier New"/>
                        </a:rPr>
                        <a:t>    float groundspeed(void) const { return state.ground_speed; }</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const Vector3f &amp;get_accel_ef() const {</a:t>
                      </a:r>
                    </a:p>
                    <a:p>
                      <a:pPr algn="l">
                        <a:lnSpc>
                          <a:spcPct val="106000"/>
                        </a:lnSpc>
                        <a:spcAft>
                          <a:spcPts val="0"/>
                        </a:spcAft>
                      </a:pPr>
                      <a:r>
                        <a:rPr sz="1100" b="0">
                          <a:solidFill>
                            <a:srgbClr val="333333"/>
                          </a:solidFill>
                          <a:latin typeface="Courier New"/>
                        </a:rPr>
                        <a:t>        return state.accel_ef;</a:t>
                      </a:r>
                    </a:p>
                    <a:p>
                      <a:pPr algn="l">
                        <a:lnSpc>
                          <a:spcPct val="106000"/>
                        </a:lnSpc>
                        <a:spcAft>
                          <a:spcPts val="0"/>
                        </a:spcAft>
                      </a:pPr>
                      <a:r>
                        <a:rPr sz="1100" b="0">
                          <a:solidFill>
                            <a:srgbClr val="333333"/>
                          </a:solidFill>
                          <a:latin typeface="Courier New"/>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Courier New"/>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libraries/AP_AHRS/AP_AHRS.h</a:t>
                      </a:r>
                      <a:r>
                        <a:rPr sz="1100" b="0">
                          <a:solidFill>
                            <a:srgbClr val="999999"/>
                          </a:solidFill>
                          <a:latin typeface="Courier New"/>
                        </a:rPr>
                        <a:t>  ·  </a:t>
                      </a:r>
                      <a:r>
                        <a:rPr sz="1100" b="0">
                          <a:solidFill>
                            <a:srgbClr val="999999"/>
                          </a:solidFill>
                          <a:latin typeface="Courier New"/>
                        </a:rPr>
                        <a:t>269-277</a:t>
                      </a:r>
                      <a:r>
                        <a:rPr sz="1100" b="0">
                          <a:solidFill>
                            <a:srgbClr val="999999"/>
                          </a:solidFill>
                          <a:latin typeface="Courier New"/>
                        </a:rPr>
                        <a:t>  ·  </a:t>
                      </a:r>
                      <a:r>
                        <a:rPr sz="1100" b="0">
                          <a:solidFill>
                            <a:srgbClr val="999999"/>
                          </a:solidFill>
                          <a:latin typeface="Courier New"/>
                        </a:rPr>
                        <a:t>AP_AHRS::get_origin()/have_inertial_nav()</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 returns the inertial navigation origin in lat/lon/alt</a:t>
                      </a:r>
                    </a:p>
                    <a:p>
                      <a:pPr algn="l">
                        <a:lnSpc>
                          <a:spcPct val="106000"/>
                        </a:lnSpc>
                        <a:spcAft>
                          <a:spcPts val="0"/>
                        </a:spcAft>
                      </a:pPr>
                      <a:r>
                        <a:rPr sz="1100" b="0">
                          <a:solidFill>
                            <a:srgbClr val="333333"/>
                          </a:solidFill>
                          <a:latin typeface="Courier New"/>
                        </a:rPr>
                        <a:t>    bool get_origin(Location &amp;ret) const WARN_IF_UNUSED;</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bool have_inertial_nav() const;</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 return a ground velocity in meters/second, North/East/Down</a:t>
                      </a:r>
                    </a:p>
                    <a:p>
                      <a:pPr algn="l">
                        <a:lnSpc>
                          <a:spcPct val="106000"/>
                        </a:lnSpc>
                        <a:spcAft>
                          <a:spcPts val="0"/>
                        </a:spcAft>
                      </a:pPr>
                      <a:r>
                        <a:rPr sz="1100" b="0">
                          <a:solidFill>
                            <a:srgbClr val="333333"/>
                          </a:solidFill>
                          <a:latin typeface="Courier New"/>
                        </a:rPr>
                        <a:t>    // order. Must only be called if have_inertial_nav() is true</a:t>
                      </a:r>
                    </a:p>
                    <a:p>
                      <a:pPr algn="l">
                        <a:lnSpc>
                          <a:spcPct val="106000"/>
                        </a:lnSpc>
                        <a:spcAft>
                          <a:spcPts val="0"/>
                        </a:spcAft>
                      </a:pPr>
                      <a:r>
                        <a:rPr sz="1100" b="0">
                          <a:solidFill>
                            <a:srgbClr val="333333"/>
                          </a:solidFill>
                          <a:latin typeface="Courier New"/>
                        </a:rPr>
                        <a:t>    bool get_velocity_NED(Vector3f &amp;vec) const WARN_IF_UNUSED;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Courier New"/>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libraries/AP_AHRS/AP_AHRS.cpp</a:t>
                      </a:r>
                      <a:r>
                        <a:rPr sz="1100" b="0">
                          <a:solidFill>
                            <a:srgbClr val="999999"/>
                          </a:solidFill>
                          <a:latin typeface="Courier New"/>
                        </a:rPr>
                        <a:t>  ·  </a:t>
                      </a:r>
                      <a:r>
                        <a:rPr sz="1100" b="0">
                          <a:solidFill>
                            <a:srgbClr val="999999"/>
                          </a:solidFill>
                          <a:latin typeface="Courier New"/>
                        </a:rPr>
                        <a:t>1739-1748</a:t>
                      </a:r>
                      <a:r>
                        <a:rPr sz="1100" b="0">
                          <a:solidFill>
                            <a:srgbClr val="999999"/>
                          </a:solidFill>
                          <a:latin typeface="Courier New"/>
                        </a:rPr>
                        <a:t>  ·  </a:t>
                      </a:r>
                      <a:r>
                        <a:rPr sz="1100" b="0">
                          <a:solidFill>
                            <a:srgbClr val="999999"/>
                          </a:solidFill>
                          <a:latin typeface="Courier New"/>
                        </a:rPr>
                        <a:t>AP_AHRS::get_relative_position_NED_origin()</a:t>
                      </a:r>
                    </a:p>
                    <a:p>
                      <a:pPr algn="l">
                        <a:lnSpc>
                          <a:spcPct val="106000"/>
                        </a:lnSpc>
                        <a:spcAft>
                          <a:spcPts val="0"/>
                        </a:spcAft>
                      </a:pPr>
                      <a:r>
                        <a:rPr sz="1100" b="0">
                          <a:solidFill>
                            <a:srgbClr val="333333"/>
                          </a:solidFill>
                          <a:latin typeface="Courier New"/>
                        </a:rPr>
                        <a:t>bool AP_AHRS::get_relative_position_NED_origin(Vector3p &amp;vec) const</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switch (active_EKF_type()) {</a:t>
                      </a:r>
                    </a:p>
                    <a:p>
                      <a:pPr algn="l">
                        <a:lnSpc>
                          <a:spcPct val="106000"/>
                        </a:lnSpc>
                        <a:spcAft>
                          <a:spcPts val="0"/>
                        </a:spcAft>
                      </a:pPr>
                      <a:r>
                        <a:rPr sz="1100" b="0">
                          <a:solidFill>
                            <a:srgbClr val="333333"/>
                          </a:solidFill>
                          <a:latin typeface="Courier New"/>
                        </a:rPr>
                        <a:t>#if AP_AHRS_DCM_ENABLED</a:t>
                      </a:r>
                    </a:p>
                    <a:p>
                      <a:pPr algn="l">
                        <a:lnSpc>
                          <a:spcPct val="106000"/>
                        </a:lnSpc>
                        <a:spcAft>
                          <a:spcPts val="0"/>
                        </a:spcAft>
                      </a:pPr>
                      <a:r>
                        <a:rPr sz="1100" b="0">
                          <a:solidFill>
                            <a:srgbClr val="333333"/>
                          </a:solidFill>
                          <a:latin typeface="Courier New"/>
                        </a:rPr>
                        <a:t>    case EKFType::DCM:</a:t>
                      </a:r>
                    </a:p>
                    <a:p>
                      <a:pPr algn="l">
                        <a:lnSpc>
                          <a:spcPct val="106000"/>
                        </a:lnSpc>
                        <a:spcAft>
                          <a:spcPts val="0"/>
                        </a:spcAft>
                      </a:pPr>
                      <a:r>
                        <a:rPr sz="1100" b="0">
                          <a:solidFill>
                            <a:srgbClr val="333333"/>
                          </a:solidFill>
                          <a:latin typeface="Courier New"/>
                        </a:rPr>
                        <a:t>        return dcm.get_relative_position_NED_origin(vec);</a:t>
                      </a:r>
                    </a:p>
                    <a:p>
                      <a:pPr algn="l">
                        <a:lnSpc>
                          <a:spcPct val="106000"/>
                        </a:lnSpc>
                        <a:spcAft>
                          <a:spcPts val="0"/>
                        </a:spcAft>
                      </a:pPr>
                      <a:r>
                        <a:rPr sz="1100" b="0">
                          <a:solidFill>
                            <a:srgbClr val="333333"/>
                          </a:solidFill>
                          <a:latin typeface="Courier New"/>
                        </a:rPr>
                        <a:t>#endif</a:t>
                      </a:r>
                    </a:p>
                    <a:p>
                      <a:pPr algn="l">
                        <a:lnSpc>
                          <a:spcPct val="106000"/>
                        </a:lnSpc>
                        <a:spcAft>
                          <a:spcPts val="0"/>
                        </a:spcAft>
                      </a:pPr>
                      <a:r>
                        <a:rPr sz="1100" b="0">
                          <a:solidFill>
                            <a:srgbClr val="333333"/>
                          </a:solidFill>
                          <a:latin typeface="Courier New"/>
                        </a:rPr>
                        <a:t>#if HAL_NAVEKF2_AVAILABLE</a:t>
                      </a:r>
                    </a:p>
                    <a:p>
                      <a:pPr algn="l">
                        <a:lnSpc>
                          <a:spcPct val="106000"/>
                        </a:lnSpc>
                        <a:spcAft>
                          <a:spcPts val="0"/>
                        </a:spcAft>
                      </a:pPr>
                      <a:r>
                        <a:rPr sz="1100" b="0">
                          <a:solidFill>
                            <a:srgbClr val="333333"/>
                          </a:solidFill>
                          <a:latin typeface="Courier New"/>
                        </a:rPr>
                        <a:t>    case EKFType::TWO: {</a:t>
                      </a:r>
                    </a:p>
                    <a:p>
                      <a:pPr algn="l">
                        <a:lnSpc>
                          <a:spcPct val="106000"/>
                        </a:lnSpc>
                        <a:spcAft>
                          <a:spcPts val="0"/>
                        </a:spcAft>
                      </a:pPr>
                      <a:r>
                        <a:rPr sz="1100" b="0">
                          <a:solidFill>
                            <a:srgbClr val="333333"/>
                          </a:solidFill>
                          <a:latin typeface="Courier New"/>
                        </a:rPr>
                        <a:t>        Vector2p posNE;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339227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Courier New"/>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libraries/AP_AHRS/AP_AHRS.cpp</a:t>
                      </a:r>
                      <a:r>
                        <a:rPr sz="1100" b="0">
                          <a:solidFill>
                            <a:srgbClr val="999999"/>
                          </a:solidFill>
                          <a:latin typeface="Courier New"/>
                        </a:rPr>
                        <a:t>  ·  </a:t>
                      </a:r>
                      <a:r>
                        <a:rPr sz="1100" b="0">
                          <a:solidFill>
                            <a:srgbClr val="999999"/>
                          </a:solidFill>
                          <a:latin typeface="Courier New"/>
                        </a:rPr>
                        <a:t>3662-3666</a:t>
                      </a:r>
                      <a:r>
                        <a:rPr sz="1100" b="0">
                          <a:solidFill>
                            <a:srgbClr val="999999"/>
                          </a:solidFill>
                          <a:latin typeface="Courier New"/>
                        </a:rPr>
                        <a:t>  ·  </a:t>
                      </a:r>
                      <a:r>
                        <a:rPr sz="1100" b="0">
                          <a:solidFill>
                            <a:srgbClr val="999999"/>
                          </a:solidFill>
                          <a:latin typeface="Courier New"/>
                        </a:rPr>
                        <a:t>AP_AHRS::get_velocity_NED()</a:t>
                      </a:r>
                    </a:p>
                    <a:p>
                      <a:pPr algn="l">
                        <a:lnSpc>
                          <a:spcPct val="106000"/>
                        </a:lnSpc>
                        <a:spcAft>
                          <a:spcPts val="0"/>
                        </a:spcAft>
                      </a:pPr>
                      <a:r>
                        <a:rPr sz="1100" b="0">
                          <a:solidFill>
                            <a:srgbClr val="333333"/>
                          </a:solidFill>
                          <a:latin typeface="Courier New"/>
                        </a:rPr>
                        <a:t>bool AP_AHRS::get_velocity_NED(Vector3f &amp;vec) const</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vec = state.velocity_NED;</a:t>
                      </a:r>
                    </a:p>
                    <a:p>
                      <a:pPr algn="l">
                        <a:lnSpc>
                          <a:spcPct val="106000"/>
                        </a:lnSpc>
                        <a:spcAft>
                          <a:spcPts val="0"/>
                        </a:spcAft>
                      </a:pPr>
                      <a:r>
                        <a:rPr sz="1100" b="0">
                          <a:solidFill>
                            <a:srgbClr val="333333"/>
                          </a:solidFill>
                          <a:latin typeface="Courier New"/>
                        </a:rPr>
                        <a:t>    return state.velocity_NED_ok;</a:t>
                      </a:r>
                    </a:p>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Courier New"/>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libraries/AP_NavEKF3/AP_NavEKF3_core.cpp</a:t>
                      </a:r>
                      <a:r>
                        <a:rPr sz="1100" b="0">
                          <a:solidFill>
                            <a:srgbClr val="999999"/>
                          </a:solidFill>
                          <a:latin typeface="Courier New"/>
                        </a:rPr>
                        <a:t>  ·  </a:t>
                      </a:r>
                      <a:r>
                        <a:rPr sz="1100" b="0">
                          <a:solidFill>
                            <a:srgbClr val="999999"/>
                          </a:solidFill>
                          <a:latin typeface="Courier New"/>
                        </a:rPr>
                        <a:t>627-636</a:t>
                      </a:r>
                      <a:r>
                        <a:rPr sz="1100" b="0">
                          <a:solidFill>
                            <a:srgbClr val="999999"/>
                          </a:solidFill>
                          <a:latin typeface="Courier New"/>
                        </a:rPr>
                        <a:t>  ·  </a:t>
                      </a:r>
                      <a:r>
                        <a:rPr sz="1100" b="0">
                          <a:solidFill>
                            <a:srgbClr val="999999"/>
                          </a:solidFill>
                          <a:latin typeface="Courier New"/>
                        </a:rPr>
                        <a:t>NavEKF3_core::UpdateFilter()</a:t>
                      </a:r>
                    </a:p>
                    <a:p>
                      <a:pPr algn="l">
                        <a:lnSpc>
                          <a:spcPct val="106000"/>
                        </a:lnSpc>
                        <a:spcAft>
                          <a:spcPts val="0"/>
                        </a:spcAft>
                      </a:pPr>
                      <a:r>
                        <a:rPr sz="1100" b="0">
                          <a:solidFill>
                            <a:srgbClr val="333333"/>
                          </a:solidFill>
                          <a:latin typeface="Courier New"/>
                        </a:rPr>
                        <a:t>void NavEKF3_core::UpdateFilter(bool predict)</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 don't run filter updates if states have not been initialised</a:t>
                      </a:r>
                    </a:p>
                    <a:p>
                      <a:pPr algn="l">
                        <a:lnSpc>
                          <a:spcPct val="106000"/>
                        </a:lnSpc>
                        <a:spcAft>
                          <a:spcPts val="0"/>
                        </a:spcAft>
                      </a:pPr>
                      <a:r>
                        <a:rPr sz="1100" b="0">
                          <a:solidFill>
                            <a:srgbClr val="333333"/>
                          </a:solidFill>
                          <a:latin typeface="Courier New"/>
                        </a:rPr>
                        <a:t>    if (!statesInitialised) {</a:t>
                      </a:r>
                    </a:p>
                    <a:p>
                      <a:pPr algn="l">
                        <a:lnSpc>
                          <a:spcPct val="106000"/>
                        </a:lnSpc>
                        <a:spcAft>
                          <a:spcPts val="0"/>
                        </a:spcAft>
                      </a:pPr>
                      <a:r>
                        <a:rPr sz="1100" b="0">
                          <a:solidFill>
                            <a:srgbClr val="333333"/>
                          </a:solidFill>
                          <a:latin typeface="Courier New"/>
                        </a:rPr>
                        <a:t>        return;</a:t>
                      </a:r>
                    </a:p>
                    <a:p>
                      <a:pPr algn="l">
                        <a:lnSpc>
                          <a:spcPct val="106000"/>
                        </a:lnSpc>
                        <a:spcAft>
                          <a:spcPts val="0"/>
                        </a:spcAft>
                      </a:pPr>
                      <a:r>
                        <a:rPr sz="1100" b="0">
                          <a:solidFill>
                            <a:srgbClr val="333333"/>
                          </a:solidFill>
                          <a:latin typeface="Courier New"/>
                        </a:rPr>
                        <a:t>    }</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fill_scratch_variables();</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 update sensor selection (for affinity)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Courier New"/>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libraries/AP_NavEKF3/AP_NavEKF3_PosVelFusion.cpp</a:t>
                      </a:r>
                      <a:r>
                        <a:rPr sz="1100" b="0">
                          <a:solidFill>
                            <a:srgbClr val="999999"/>
                          </a:solidFill>
                          <a:latin typeface="Courier New"/>
                        </a:rPr>
                        <a:t>  ·  </a:t>
                      </a:r>
                      <a:r>
                        <a:rPr sz="1100" b="0">
                          <a:solidFill>
                            <a:srgbClr val="999999"/>
                          </a:solidFill>
                          <a:latin typeface="Courier New"/>
                        </a:rPr>
                        <a:t>502-511</a:t>
                      </a:r>
                      <a:r>
                        <a:rPr sz="1100" b="0">
                          <a:solidFill>
                            <a:srgbClr val="999999"/>
                          </a:solidFill>
                          <a:latin typeface="Courier New"/>
                        </a:rPr>
                        <a:t>  ·  </a:t>
                      </a:r>
                      <a:r>
                        <a:rPr sz="1100" b="0">
                          <a:solidFill>
                            <a:srgbClr val="999999"/>
                          </a:solidFill>
                          <a:latin typeface="Courier New"/>
                        </a:rPr>
                        <a:t>NavEKF3_core::SelectVelPosFusion()</a:t>
                      </a:r>
                    </a:p>
                    <a:p>
                      <a:pPr algn="l">
                        <a:lnSpc>
                          <a:spcPct val="106000"/>
                        </a:lnSpc>
                        <a:spcAft>
                          <a:spcPts val="0"/>
                        </a:spcAft>
                      </a:pPr>
                      <a:r>
                        <a:rPr sz="1100" b="0">
                          <a:solidFill>
                            <a:srgbClr val="333333"/>
                          </a:solidFill>
                          <a:latin typeface="Courier New"/>
                        </a:rPr>
                        <a:t>void NavEKF3_core::SelectVelPosFusion()</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 Check if the magnetometer has been fused on that time step and the filter is running at faster than 200 Hz</a:t>
                      </a:r>
                    </a:p>
                    <a:p>
                      <a:pPr algn="l">
                        <a:lnSpc>
                          <a:spcPct val="106000"/>
                        </a:lnSpc>
                        <a:spcAft>
                          <a:spcPts val="0"/>
                        </a:spcAft>
                      </a:pPr>
                      <a:r>
                        <a:rPr sz="1100" b="0">
                          <a:solidFill>
                            <a:srgbClr val="333333"/>
                          </a:solidFill>
                          <a:latin typeface="Courier New"/>
                        </a:rPr>
                        <a:t>    // If so, don't fuse measurements on this time step to reduce frame over-runs</a:t>
                      </a:r>
                    </a:p>
                    <a:p>
                      <a:pPr algn="l">
                        <a:lnSpc>
                          <a:spcPct val="106000"/>
                        </a:lnSpc>
                        <a:spcAft>
                          <a:spcPts val="0"/>
                        </a:spcAft>
                      </a:pPr>
                      <a:r>
                        <a:rPr sz="1100" b="0">
                          <a:solidFill>
                            <a:srgbClr val="333333"/>
                          </a:solidFill>
                          <a:latin typeface="Courier New"/>
                        </a:rPr>
                        <a:t>    // Only allow one time slip to prevent high rate magnetometer data preventing fusion of other measurements</a:t>
                      </a:r>
                    </a:p>
                    <a:p>
                      <a:pPr algn="l">
                        <a:lnSpc>
                          <a:spcPct val="106000"/>
                        </a:lnSpc>
                        <a:spcAft>
                          <a:spcPts val="0"/>
                        </a:spcAft>
                      </a:pPr>
                      <a:r>
                        <a:rPr sz="1100" b="0">
                          <a:solidFill>
                            <a:srgbClr val="333333"/>
                          </a:solidFill>
                          <a:latin typeface="Courier New"/>
                        </a:rPr>
                        <a:t>    if (magFusePerformed &amp;&amp; dtIMUavg &lt; 0.005f &amp;&amp; !posVelFusionDelayed) {</a:t>
                      </a:r>
                    </a:p>
                    <a:p>
                      <a:pPr algn="l">
                        <a:lnSpc>
                          <a:spcPct val="106000"/>
                        </a:lnSpc>
                        <a:spcAft>
                          <a:spcPts val="0"/>
                        </a:spcAft>
                      </a:pPr>
                      <a:r>
                        <a:rPr sz="1100" b="0">
                          <a:solidFill>
                            <a:srgbClr val="333333"/>
                          </a:solidFill>
                          <a:latin typeface="Courier New"/>
                        </a:rPr>
                        <a:t>        posVelFusionDelayed = true;</a:t>
                      </a:r>
                    </a:p>
                    <a:p>
                      <a:pPr algn="l">
                        <a:lnSpc>
                          <a:spcPct val="106000"/>
                        </a:lnSpc>
                        <a:spcAft>
                          <a:spcPts val="0"/>
                        </a:spcAft>
                      </a:pPr>
                      <a:r>
                        <a:rPr sz="1100" b="0">
                          <a:solidFill>
                            <a:srgbClr val="333333"/>
                          </a:solidFill>
                          <a:latin typeface="Courier New"/>
                        </a:rPr>
                        <a:t>        return;</a:t>
                      </a:r>
                    </a:p>
                    <a:p>
                      <a:pPr algn="l">
                        <a:lnSpc>
                          <a:spcPct val="106000"/>
                        </a:lnSpc>
                        <a:spcAft>
                          <a:spcPts val="0"/>
                        </a:spcAft>
                      </a:pPr>
                      <a:r>
                        <a:rPr sz="1100" b="0">
                          <a:solidFill>
                            <a:srgbClr val="333333"/>
                          </a:solidFill>
                          <a:latin typeface="Courier New"/>
                        </a:rPr>
                        <a:t>    } else {</a:t>
                      </a:r>
                    </a:p>
                    <a:p>
                      <a:pPr algn="l">
                        <a:lnSpc>
                          <a:spcPct val="106000"/>
                        </a:lnSpc>
                        <a:spcAft>
                          <a:spcPts val="0"/>
                        </a:spcAft>
                      </a:pPr>
                      <a:r>
                        <a:rPr sz="1100" b="0">
                          <a:solidFill>
                            <a:srgbClr val="333333"/>
                          </a:solidFill>
                          <a:latin typeface="Courier New"/>
                        </a:rPr>
                        <a:t>        posVelFusionDelayed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Courier New"/>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libraries/AP_NavEKF3/AP_NavEKF3_PosVelFusion.cpp</a:t>
                      </a:r>
                      <a:r>
                        <a:rPr sz="1100" b="0">
                          <a:solidFill>
                            <a:srgbClr val="999999"/>
                          </a:solidFill>
                          <a:latin typeface="Courier New"/>
                        </a:rPr>
                        <a:t>  ·  </a:t>
                      </a:r>
                      <a:r>
                        <a:rPr sz="1100" b="0">
                          <a:solidFill>
                            <a:srgbClr val="999999"/>
                          </a:solidFill>
                          <a:latin typeface="Courier New"/>
                        </a:rPr>
                        <a:t>694-702</a:t>
                      </a:r>
                      <a:r>
                        <a:rPr sz="1100" b="0">
                          <a:solidFill>
                            <a:srgbClr val="999999"/>
                          </a:solidFill>
                          <a:latin typeface="Courier New"/>
                        </a:rPr>
                        <a:t>  ·  </a:t>
                      </a:r>
                      <a:r>
                        <a:rPr sz="1100" b="0">
                          <a:solidFill>
                            <a:srgbClr val="999999"/>
                          </a:solidFill>
                          <a:latin typeface="Courier New"/>
                        </a:rPr>
                        <a:t>NavEKF3_core::FuseVelPosNED()</a:t>
                      </a:r>
                    </a:p>
                    <a:p>
                      <a:pPr algn="l">
                        <a:lnSpc>
                          <a:spcPct val="106000"/>
                        </a:lnSpc>
                        <a:spcAft>
                          <a:spcPts val="0"/>
                        </a:spcAft>
                      </a:pPr>
                      <a:r>
                        <a:rPr sz="1100" b="0">
                          <a:solidFill>
                            <a:srgbClr val="333333"/>
                          </a:solidFill>
                          <a:latin typeface="Courier New"/>
                        </a:rPr>
                        <a:t>void NavEKF3_core::FuseVelPosNED()</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 declare variables used to control access to arrays</a:t>
                      </a:r>
                    </a:p>
                    <a:p>
                      <a:pPr algn="l">
                        <a:lnSpc>
                          <a:spcPct val="106000"/>
                        </a:lnSpc>
                        <a:spcAft>
                          <a:spcPts val="0"/>
                        </a:spcAft>
                      </a:pPr>
                      <a:r>
                        <a:rPr sz="1100" b="0">
                          <a:solidFill>
                            <a:srgbClr val="333333"/>
                          </a:solidFill>
                          <a:latin typeface="Courier New"/>
                        </a:rPr>
                        <a:t>    bool fuseData[6] {};</a:t>
                      </a:r>
                    </a:p>
                    <a:p>
                      <a:pPr algn="l">
                        <a:lnSpc>
                          <a:spcPct val="106000"/>
                        </a:lnSpc>
                        <a:spcAft>
                          <a:spcPts val="0"/>
                        </a:spcAft>
                      </a:pPr>
                      <a:r>
                        <a:rPr sz="1100" b="0">
                          <a:solidFill>
                            <a:srgbClr val="333333"/>
                          </a:solidFill>
                          <a:latin typeface="Courier New"/>
                        </a:rPr>
                        <a:t>    uint8_t stateIndex;</a:t>
                      </a:r>
                    </a:p>
                    <a:p>
                      <a:pPr algn="l">
                        <a:lnSpc>
                          <a:spcPct val="106000"/>
                        </a:lnSpc>
                        <a:spcAft>
                          <a:spcPts val="0"/>
                        </a:spcAft>
                      </a:pPr>
                      <a:r>
                        <a:rPr sz="1100" b="0">
                          <a:solidFill>
                            <a:srgbClr val="333333"/>
                          </a:solidFill>
                          <a:latin typeface="Courier New"/>
                        </a:rPr>
                        <a:t>    uint8_t obsIndex;</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 declare variables used by state and covariance update calculations</a:t>
                      </a:r>
                    </a:p>
                    <a:p>
                      <a:pPr algn="l">
                        <a:lnSpc>
                          <a:spcPct val="106000"/>
                        </a:lnSpc>
                        <a:spcAft>
                          <a:spcPts val="0"/>
                        </a:spcAft>
                      </a:pPr>
                      <a:r>
                        <a:rPr sz="1100" b="0">
                          <a:solidFill>
                            <a:srgbClr val="333333"/>
                          </a:solidFill>
                          <a:latin typeface="Courier New"/>
                        </a:rPr>
                        <a:t>    Vector6 R_OBS; // Measurement variances used for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libraries/AP_NavEKF3/AP_NavEKF3_Measurements.cpp</a:t>
                      </a:r>
                      <a:r>
                        <a:rPr sz="1100" b="0">
                          <a:solidFill>
                            <a:srgbClr val="999999"/>
                          </a:solidFill>
                          <a:latin typeface="Courier New"/>
                        </a:rPr>
                        <a:t>  ·  </a:t>
                      </a:r>
                      <a:r>
                        <a:rPr sz="1100" b="0">
                          <a:solidFill>
                            <a:srgbClr val="999999"/>
                          </a:solidFill>
                          <a:latin typeface="Courier New"/>
                        </a:rPr>
                        <a:t>559-567</a:t>
                      </a:r>
                      <a:r>
                        <a:rPr sz="1100" b="0">
                          <a:solidFill>
                            <a:srgbClr val="999999"/>
                          </a:solidFill>
                          <a:latin typeface="Courier New"/>
                        </a:rPr>
                        <a:t>  ·  </a:t>
                      </a:r>
                      <a:r>
                        <a:rPr sz="1100" b="0">
                          <a:solidFill>
                            <a:srgbClr val="999999"/>
                          </a:solidFill>
                          <a:latin typeface="Courier New"/>
                        </a:rPr>
                        <a:t>NavEKF3_core::readGpsData()</a:t>
                      </a:r>
                    </a:p>
                    <a:p>
                      <a:pPr algn="l">
                        <a:lnSpc>
                          <a:spcPct val="106000"/>
                        </a:lnSpc>
                        <a:spcAft>
                          <a:spcPts val="0"/>
                        </a:spcAft>
                      </a:pPr>
                      <a:r>
                        <a:rPr sz="1100" b="0">
                          <a:solidFill>
                            <a:srgbClr val="333333"/>
                          </a:solidFill>
                          <a:latin typeface="Courier New"/>
                        </a:rPr>
                        <a:t>void NavEKF3_core::readGpsData()</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 check for new GPS data</a:t>
                      </a:r>
                    </a:p>
                    <a:p>
                      <a:pPr algn="l">
                        <a:lnSpc>
                          <a:spcPct val="106000"/>
                        </a:lnSpc>
                        <a:spcAft>
                          <a:spcPts val="0"/>
                        </a:spcAft>
                      </a:pPr>
                      <a:r>
                        <a:rPr sz="1100" b="0">
                          <a:solidFill>
                            <a:srgbClr val="333333"/>
                          </a:solidFill>
                          <a:latin typeface="Courier New"/>
                        </a:rPr>
                        <a:t>    const auto &amp;gps = dal.gps();</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 limit update rate to avoid overflowing the FIFO buffer</a:t>
                      </a:r>
                    </a:p>
                    <a:p>
                      <a:pPr algn="l">
                        <a:lnSpc>
                          <a:spcPct val="106000"/>
                        </a:lnSpc>
                        <a:spcAft>
                          <a:spcPts val="0"/>
                        </a:spcAft>
                      </a:pPr>
                      <a:r>
                        <a:rPr sz="1100" b="0">
                          <a:solidFill>
                            <a:srgbClr val="333333"/>
                          </a:solidFill>
                          <a:latin typeface="Courier New"/>
                        </a:rPr>
                        <a:t>    if (gps.last_message_time_ms(selected_gps) - lastTimeGpsReceived_ms &lt;= frontend-&gt;sensorIntervalMin_ms) {</a:t>
                      </a:r>
                    </a:p>
                    <a:p>
                      <a:pPr algn="l">
                        <a:lnSpc>
                          <a:spcPct val="106000"/>
                        </a:lnSpc>
                        <a:spcAft>
                          <a:spcPts val="0"/>
                        </a:spcAft>
                      </a:pPr>
                      <a:r>
                        <a:rPr sz="1100" b="0">
                          <a:solidFill>
                            <a:srgbClr val="333333"/>
                          </a:solidFill>
                          <a:latin typeface="Courier New"/>
                        </a:rPr>
                        <a:t>        return;</a:t>
                      </a:r>
                    </a:p>
                    <a:p>
                      <a:pPr algn="l">
                        <a:lnSpc>
                          <a:spcPct val="106000"/>
                        </a:lnSpc>
                        <a:spcAft>
                          <a:spcPts val="0"/>
                        </a:spcAft>
                      </a:pPr>
                      <a:r>
                        <a:rPr sz="1100" b="0">
                          <a:solidFill>
                            <a:srgbClr val="333333"/>
                          </a:solidFill>
                          <a:latin typeface="Courier New"/>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libraries/AP_NavEKF3/AP_NavEKF3_Control.cpp</a:t>
                      </a:r>
                      <a:r>
                        <a:rPr sz="1100" b="0">
                          <a:solidFill>
                            <a:srgbClr val="999999"/>
                          </a:solidFill>
                          <a:latin typeface="Courier New"/>
                        </a:rPr>
                        <a:t>  ·  </a:t>
                      </a:r>
                      <a:r>
                        <a:rPr sz="1100" b="0">
                          <a:solidFill>
                            <a:srgbClr val="999999"/>
                          </a:solidFill>
                          <a:latin typeface="Courier New"/>
                        </a:rPr>
                        <a:t>232-240</a:t>
                      </a:r>
                      <a:r>
                        <a:rPr sz="1100" b="0">
                          <a:solidFill>
                            <a:srgbClr val="999999"/>
                          </a:solidFill>
                          <a:latin typeface="Courier New"/>
                        </a:rPr>
                        <a:t>  ·  </a:t>
                      </a:r>
                      <a:r>
                        <a:rPr sz="1100" b="0">
                          <a:solidFill>
                            <a:srgbClr val="999999"/>
                          </a:solidFill>
                          <a:latin typeface="Courier New"/>
                        </a:rPr>
                        <a:t>NavEKF3_core::setAidingMode()</a:t>
                      </a:r>
                    </a:p>
                    <a:p>
                      <a:pPr algn="l">
                        <a:lnSpc>
                          <a:spcPct val="106000"/>
                        </a:lnSpc>
                        <a:spcAft>
                          <a:spcPts val="0"/>
                        </a:spcAft>
                      </a:pPr>
                      <a:r>
                        <a:rPr sz="1100" b="0">
                          <a:solidFill>
                            <a:srgbClr val="333333"/>
                          </a:solidFill>
                          <a:latin typeface="Courier New"/>
                        </a:rPr>
                        <a:t>void NavEKF3_core::setAidingMode()</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resetDataSource posResetSource = resetDataSource::DEFAULT;</a:t>
                      </a:r>
                    </a:p>
                    <a:p>
                      <a:pPr algn="l">
                        <a:lnSpc>
                          <a:spcPct val="106000"/>
                        </a:lnSpc>
                        <a:spcAft>
                          <a:spcPts val="0"/>
                        </a:spcAft>
                      </a:pPr>
                      <a:r>
                        <a:rPr sz="1100" b="0">
                          <a:solidFill>
                            <a:srgbClr val="333333"/>
                          </a:solidFill>
                          <a:latin typeface="Courier New"/>
                        </a:rPr>
                        <a:t>    resetDataSource velResetSource = resetDataSource::DEFAULT;</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 Save the previous status so we can detect when it has changed</a:t>
                      </a:r>
                    </a:p>
                    <a:p>
                      <a:pPr algn="l">
                        <a:lnSpc>
                          <a:spcPct val="106000"/>
                        </a:lnSpc>
                        <a:spcAft>
                          <a:spcPts val="0"/>
                        </a:spcAft>
                      </a:pPr>
                      <a:r>
                        <a:rPr sz="1100" b="0">
                          <a:solidFill>
                            <a:srgbClr val="333333"/>
                          </a:solidFill>
                          <a:latin typeface="Courier New"/>
                        </a:rPr>
                        <a:t>    PV_AidingModePrev = PV_AidingMode;</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setYawSource();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Courier New"/>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libraries/AP_NavEKF3/AP_NavEKF3_MagFusion.cpp</a:t>
                      </a:r>
                      <a:r>
                        <a:rPr sz="1100" b="0">
                          <a:solidFill>
                            <a:srgbClr val="999999"/>
                          </a:solidFill>
                          <a:latin typeface="Courier New"/>
                        </a:rPr>
                        <a:t>  ·  </a:t>
                      </a:r>
                      <a:r>
                        <a:rPr sz="1100" b="0">
                          <a:solidFill>
                            <a:srgbClr val="999999"/>
                          </a:solidFill>
                          <a:latin typeface="Courier New"/>
                        </a:rPr>
                        <a:t>227-235</a:t>
                      </a:r>
                      <a:r>
                        <a:rPr sz="1100" b="0">
                          <a:solidFill>
                            <a:srgbClr val="999999"/>
                          </a:solidFill>
                          <a:latin typeface="Courier New"/>
                        </a:rPr>
                        <a:t>  ·  </a:t>
                      </a:r>
                      <a:r>
                        <a:rPr sz="1100" b="0">
                          <a:solidFill>
                            <a:srgbClr val="999999"/>
                          </a:solidFill>
                          <a:latin typeface="Courier New"/>
                        </a:rPr>
                        <a:t>NavEKF3_core::SelectMagFusion()</a:t>
                      </a:r>
                    </a:p>
                    <a:p>
                      <a:pPr algn="l">
                        <a:lnSpc>
                          <a:spcPct val="106000"/>
                        </a:lnSpc>
                        <a:spcAft>
                          <a:spcPts val="0"/>
                        </a:spcAft>
                      </a:pPr>
                      <a:r>
                        <a:rPr sz="1100" b="0">
                          <a:solidFill>
                            <a:srgbClr val="333333"/>
                          </a:solidFill>
                          <a:latin typeface="Courier New"/>
                        </a:rPr>
                        <a:t>void NavEKF3_core::SelectMagFusion()</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 clear the flag that lets other processes know that the expensive magnetometer fusion operation has been performed on that time step</a:t>
                      </a:r>
                    </a:p>
                    <a:p>
                      <a:pPr algn="l">
                        <a:lnSpc>
                          <a:spcPct val="106000"/>
                        </a:lnSpc>
                        <a:spcAft>
                          <a:spcPts val="0"/>
                        </a:spcAft>
                      </a:pPr>
                      <a:r>
                        <a:rPr sz="1100" b="0">
                          <a:solidFill>
                            <a:srgbClr val="333333"/>
                          </a:solidFill>
                          <a:latin typeface="Courier New"/>
                        </a:rPr>
                        <a:t>    // used for load levelling</a:t>
                      </a:r>
                    </a:p>
                    <a:p>
                      <a:pPr algn="l">
                        <a:lnSpc>
                          <a:spcPct val="106000"/>
                        </a:lnSpc>
                        <a:spcAft>
                          <a:spcPts val="0"/>
                        </a:spcAft>
                      </a:pPr>
                      <a:r>
                        <a:rPr sz="1100" b="0">
                          <a:solidFill>
                            <a:srgbClr val="333333"/>
                          </a:solidFill>
                          <a:latin typeface="Courier New"/>
                        </a:rPr>
                        <a:t>    magFusePerformed = false;</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 Store yaw angle when moving for use as a static reference when not moving</a:t>
                      </a:r>
                    </a:p>
                    <a:p>
                      <a:pPr algn="l">
                        <a:lnSpc>
                          <a:spcPct val="106000"/>
                        </a:lnSpc>
                        <a:spcAft>
                          <a:spcPts val="0"/>
                        </a:spcAft>
                      </a:pPr>
                      <a:r>
                        <a:rPr sz="1100" b="0">
                          <a:solidFill>
                            <a:srgbClr val="333333"/>
                          </a:solidFill>
                          <a:latin typeface="Courier New"/>
                        </a:rPr>
                        <a:t>    if (!onGroundNotMoving) {</a:t>
                      </a:r>
                    </a:p>
                    <a:p>
                      <a:pPr algn="l">
                        <a:lnSpc>
                          <a:spcPct val="106000"/>
                        </a:lnSpc>
                        <a:spcAft>
                          <a:spcPts val="0"/>
                        </a:spcAft>
                      </a:pPr>
                      <a:r>
                        <a:rPr sz="1100" b="0">
                          <a:solidFill>
                            <a:srgbClr val="333333"/>
                          </a:solidFill>
                          <a:latin typeface="Courier New"/>
                        </a:rPr>
                        <a:t>        if (fabsF(prevTnb[0][2]) &lt; fabsF(prevTnb[1][2]))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Courier New"/>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libraries/AP_NavEKF3/AP_NavEKF3_AirDataFusion.cpp</a:t>
                      </a:r>
                      <a:r>
                        <a:rPr sz="1100" b="0">
                          <a:solidFill>
                            <a:srgbClr val="999999"/>
                          </a:solidFill>
                          <a:latin typeface="Courier New"/>
                        </a:rPr>
                        <a:t>  ·  </a:t>
                      </a:r>
                      <a:r>
                        <a:rPr sz="1100" b="0">
                          <a:solidFill>
                            <a:srgbClr val="999999"/>
                          </a:solidFill>
                          <a:latin typeface="Courier New"/>
                        </a:rPr>
                        <a:t>193-201</a:t>
                      </a:r>
                      <a:r>
                        <a:rPr sz="1100" b="0">
                          <a:solidFill>
                            <a:srgbClr val="999999"/>
                          </a:solidFill>
                          <a:latin typeface="Courier New"/>
                        </a:rPr>
                        <a:t>  ·  </a:t>
                      </a:r>
                      <a:r>
                        <a:rPr sz="1100" b="0">
                          <a:solidFill>
                            <a:srgbClr val="999999"/>
                          </a:solidFill>
                          <a:latin typeface="Courier New"/>
                        </a:rPr>
                        <a:t>NavEKF3_core::SelectTasFusion()</a:t>
                      </a:r>
                    </a:p>
                    <a:p>
                      <a:pPr algn="l">
                        <a:lnSpc>
                          <a:spcPct val="106000"/>
                        </a:lnSpc>
                        <a:spcAft>
                          <a:spcPts val="0"/>
                        </a:spcAft>
                      </a:pPr>
                      <a:r>
                        <a:rPr sz="1100" b="0">
                          <a:solidFill>
                            <a:srgbClr val="333333"/>
                          </a:solidFill>
                          <a:latin typeface="Courier New"/>
                        </a:rPr>
                        <a:t>void NavEKF3_core::SelectTasFusion()</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 Check if the magnetometer has been fused on that time step and the filter is running at faster than 200 Hz</a:t>
                      </a:r>
                    </a:p>
                    <a:p>
                      <a:pPr algn="l">
                        <a:lnSpc>
                          <a:spcPct val="106000"/>
                        </a:lnSpc>
                        <a:spcAft>
                          <a:spcPts val="0"/>
                        </a:spcAft>
                      </a:pPr>
                      <a:r>
                        <a:rPr sz="1100" b="0">
                          <a:solidFill>
                            <a:srgbClr val="333333"/>
                          </a:solidFill>
                          <a:latin typeface="Courier New"/>
                        </a:rPr>
                        <a:t>    // If so, don't fuse measurements on this time step to reduce frame over-runs</a:t>
                      </a:r>
                    </a:p>
                    <a:p>
                      <a:pPr algn="l">
                        <a:lnSpc>
                          <a:spcPct val="106000"/>
                        </a:lnSpc>
                        <a:spcAft>
                          <a:spcPts val="0"/>
                        </a:spcAft>
                      </a:pPr>
                      <a:r>
                        <a:rPr sz="1100" b="0">
                          <a:solidFill>
                            <a:srgbClr val="333333"/>
                          </a:solidFill>
                          <a:latin typeface="Courier New"/>
                        </a:rPr>
                        <a:t>    // Only allow one time slip to prevent high rate magnetometer data locking out fusion of other measurements</a:t>
                      </a:r>
                    </a:p>
                    <a:p>
                      <a:pPr algn="l">
                        <a:lnSpc>
                          <a:spcPct val="106000"/>
                        </a:lnSpc>
                        <a:spcAft>
                          <a:spcPts val="0"/>
                        </a:spcAft>
                      </a:pPr>
                      <a:r>
                        <a:rPr sz="1100" b="0">
                          <a:solidFill>
                            <a:srgbClr val="333333"/>
                          </a:solidFill>
                          <a:latin typeface="Courier New"/>
                        </a:rPr>
                        <a:t>    if (magFusePerformed &amp;&amp; dtIMUavg &lt; 0.005f &amp;&amp; !airSpdFusionDelayed) {</a:t>
                      </a:r>
                    </a:p>
                    <a:p>
                      <a:pPr algn="l">
                        <a:lnSpc>
                          <a:spcPct val="106000"/>
                        </a:lnSpc>
                        <a:spcAft>
                          <a:spcPts val="0"/>
                        </a:spcAft>
                      </a:pPr>
                      <a:r>
                        <a:rPr sz="1100" b="0">
                          <a:solidFill>
                            <a:srgbClr val="333333"/>
                          </a:solidFill>
                          <a:latin typeface="Courier New"/>
                        </a:rPr>
                        <a:t>        airSpdFusionDelayed = true;</a:t>
                      </a:r>
                    </a:p>
                    <a:p>
                      <a:pPr algn="l">
                        <a:lnSpc>
                          <a:spcPct val="106000"/>
                        </a:lnSpc>
                        <a:spcAft>
                          <a:spcPts val="0"/>
                        </a:spcAft>
                      </a:pPr>
                      <a:r>
                        <a:rPr sz="1100" b="0">
                          <a:solidFill>
                            <a:srgbClr val="333333"/>
                          </a:solidFill>
                          <a:latin typeface="Courier New"/>
                        </a:rPr>
                        <a:t>        return;</a:t>
                      </a:r>
                    </a:p>
                    <a:p>
                      <a:pPr algn="l">
                        <a:lnSpc>
                          <a:spcPct val="106000"/>
                        </a:lnSpc>
                        <a:spcAft>
                          <a:spcPts val="0"/>
                        </a:spcAft>
                      </a:pPr>
                      <a:r>
                        <a:rPr sz="1100" b="0">
                          <a:solidFill>
                            <a:srgbClr val="333333"/>
                          </a:solidFill>
                          <a:latin typeface="Courier New"/>
                        </a:rPr>
                        <a:t>    } else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Courier New"/>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libraries/AP_NavEKF3/AP_NavEKF3_OptFlowFusion.cpp</a:t>
                      </a:r>
                      <a:r>
                        <a:rPr sz="1100" b="0">
                          <a:solidFill>
                            <a:srgbClr val="999999"/>
                          </a:solidFill>
                          <a:latin typeface="Courier New"/>
                        </a:rPr>
                        <a:t>  ·  </a:t>
                      </a:r>
                      <a:r>
                        <a:rPr sz="1100" b="0">
                          <a:solidFill>
                            <a:srgbClr val="999999"/>
                          </a:solidFill>
                          <a:latin typeface="Courier New"/>
                        </a:rPr>
                        <a:t>21-29</a:t>
                      </a:r>
                      <a:r>
                        <a:rPr sz="1100" b="0">
                          <a:solidFill>
                            <a:srgbClr val="999999"/>
                          </a:solidFill>
                          <a:latin typeface="Courier New"/>
                        </a:rPr>
                        <a:t>  ·  </a:t>
                      </a:r>
                      <a:r>
                        <a:rPr sz="1100" b="0">
                          <a:solidFill>
                            <a:srgbClr val="999999"/>
                          </a:solidFill>
                          <a:latin typeface="Courier New"/>
                        </a:rPr>
                        <a:t>NavEKF3_core::SelectFlowFusion()</a:t>
                      </a:r>
                    </a:p>
                    <a:p>
                      <a:pPr algn="l">
                        <a:lnSpc>
                          <a:spcPct val="106000"/>
                        </a:lnSpc>
                        <a:spcAft>
                          <a:spcPts val="0"/>
                        </a:spcAft>
                      </a:pPr>
                      <a:r>
                        <a:rPr sz="1100" b="0">
                          <a:solidFill>
                            <a:srgbClr val="333333"/>
                          </a:solidFill>
                          <a:latin typeface="Courier New"/>
                        </a:rPr>
                        <a:t>void NavEKF3_core::SelectFlowFusion()</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 Check if the magnetometer has been fused on that time step and the filter is running at faster than 200 Hz</a:t>
                      </a:r>
                    </a:p>
                    <a:p>
                      <a:pPr algn="l">
                        <a:lnSpc>
                          <a:spcPct val="106000"/>
                        </a:lnSpc>
                        <a:spcAft>
                          <a:spcPts val="0"/>
                        </a:spcAft>
                      </a:pPr>
                      <a:r>
                        <a:rPr sz="1100" b="0">
                          <a:solidFill>
                            <a:srgbClr val="333333"/>
                          </a:solidFill>
                          <a:latin typeface="Courier New"/>
                        </a:rPr>
                        <a:t>    // If so, don't fuse measurements on this time step to reduce frame over-runs</a:t>
                      </a:r>
                    </a:p>
                    <a:p>
                      <a:pPr algn="l">
                        <a:lnSpc>
                          <a:spcPct val="106000"/>
                        </a:lnSpc>
                        <a:spcAft>
                          <a:spcPts val="0"/>
                        </a:spcAft>
                      </a:pPr>
                      <a:r>
                        <a:rPr sz="1100" b="0">
                          <a:solidFill>
                            <a:srgbClr val="333333"/>
                          </a:solidFill>
                          <a:latin typeface="Courier New"/>
                        </a:rPr>
                        <a:t>    // Only allow one time slip to prevent high rate magnetometer data preventing fusion of other measurements</a:t>
                      </a:r>
                    </a:p>
                    <a:p>
                      <a:pPr algn="l">
                        <a:lnSpc>
                          <a:spcPct val="106000"/>
                        </a:lnSpc>
                        <a:spcAft>
                          <a:spcPts val="0"/>
                        </a:spcAft>
                      </a:pPr>
                      <a:r>
                        <a:rPr sz="1100" b="0">
                          <a:solidFill>
                            <a:srgbClr val="333333"/>
                          </a:solidFill>
                          <a:latin typeface="Courier New"/>
                        </a:rPr>
                        <a:t>    if (magFusePerformed &amp;&amp; dtIMUavg &lt; 0.005f &amp;&amp; !optFlowFusionDelayed) {</a:t>
                      </a:r>
                    </a:p>
                    <a:p>
                      <a:pPr algn="l">
                        <a:lnSpc>
                          <a:spcPct val="106000"/>
                        </a:lnSpc>
                        <a:spcAft>
                          <a:spcPts val="0"/>
                        </a:spcAft>
                      </a:pPr>
                      <a:r>
                        <a:rPr sz="1100" b="0">
                          <a:solidFill>
                            <a:srgbClr val="333333"/>
                          </a:solidFill>
                          <a:latin typeface="Courier New"/>
                        </a:rPr>
                        <a:t>        optFlowFusionDelayed = true;</a:t>
                      </a:r>
                    </a:p>
                    <a:p>
                      <a:pPr algn="l">
                        <a:lnSpc>
                          <a:spcPct val="106000"/>
                        </a:lnSpc>
                        <a:spcAft>
                          <a:spcPts val="0"/>
                        </a:spcAft>
                      </a:pPr>
                      <a:r>
                        <a:rPr sz="1100" b="0">
                          <a:solidFill>
                            <a:srgbClr val="333333"/>
                          </a:solidFill>
                          <a:latin typeface="Courier New"/>
                        </a:rPr>
                        <a:t>        return;</a:t>
                      </a:r>
                    </a:p>
                    <a:p>
                      <a:pPr algn="l">
                        <a:lnSpc>
                          <a:spcPct val="106000"/>
                        </a:lnSpc>
                        <a:spcAft>
                          <a:spcPts val="0"/>
                        </a:spcAft>
                      </a:pPr>
                      <a:r>
                        <a:rPr sz="1100" b="0">
                          <a:solidFill>
                            <a:srgbClr val="333333"/>
                          </a:solidFill>
                          <a:latin typeface="Courier New"/>
                        </a:rPr>
                        <a:t>    } else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Courier New"/>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libraries/AP_NavEKF3/AP_NavEKF3_Outputs.cpp</a:t>
                      </a:r>
                      <a:r>
                        <a:rPr sz="1100" b="0">
                          <a:solidFill>
                            <a:srgbClr val="999999"/>
                          </a:solidFill>
                          <a:latin typeface="Courier New"/>
                        </a:rPr>
                        <a:t>  ·  </a:t>
                      </a:r>
                      <a:r>
                        <a:rPr sz="1100" b="0">
                          <a:solidFill>
                            <a:srgbClr val="999999"/>
                          </a:solidFill>
                          <a:latin typeface="Courier New"/>
                        </a:rPr>
                        <a:t>326-334</a:t>
                      </a:r>
                      <a:r>
                        <a:rPr sz="1100" b="0">
                          <a:solidFill>
                            <a:srgbClr val="999999"/>
                          </a:solidFill>
                          <a:latin typeface="Courier New"/>
                        </a:rPr>
                        <a:t>  ·  </a:t>
                      </a:r>
                      <a:r>
                        <a:rPr sz="1100" b="0">
                          <a:solidFill>
                            <a:srgbClr val="999999"/>
                          </a:solidFill>
                          <a:latin typeface="Courier New"/>
                        </a:rPr>
                        <a:t>NavEKF3_core::getLLH()</a:t>
                      </a:r>
                    </a:p>
                    <a:p>
                      <a:pPr algn="l">
                        <a:lnSpc>
                          <a:spcPct val="106000"/>
                        </a:lnSpc>
                        <a:spcAft>
                          <a:spcPts val="0"/>
                        </a:spcAft>
                      </a:pPr>
                      <a:r>
                        <a:rPr sz="1100" b="0">
                          <a:solidFill>
                            <a:srgbClr val="333333"/>
                          </a:solidFill>
                          <a:latin typeface="Courier New"/>
                        </a:rPr>
                        <a:t>bool NavEKF3_core::getLLH(Location &amp;loc) const</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Location origin;</a:t>
                      </a:r>
                    </a:p>
                    <a:p>
                      <a:pPr algn="l">
                        <a:lnSpc>
                          <a:spcPct val="106000"/>
                        </a:lnSpc>
                        <a:spcAft>
                          <a:spcPts val="0"/>
                        </a:spcAft>
                      </a:pPr>
                      <a:r>
                        <a:rPr sz="1100" b="0">
                          <a:solidFill>
                            <a:srgbClr val="333333"/>
                          </a:solidFill>
                          <a:latin typeface="Courier New"/>
                        </a:rPr>
                        <a:t>    if (getOriginLLH(origin)) {</a:t>
                      </a:r>
                    </a:p>
                    <a:p>
                      <a:pPr algn="l">
                        <a:lnSpc>
                          <a:spcPct val="106000"/>
                        </a:lnSpc>
                        <a:spcAft>
                          <a:spcPts val="0"/>
                        </a:spcAft>
                      </a:pPr>
                      <a:r>
                        <a:rPr sz="1100" b="0">
                          <a:solidFill>
                            <a:srgbClr val="333333"/>
                          </a:solidFill>
                          <a:latin typeface="Courier New"/>
                        </a:rPr>
                        <a:t>        postype_t posD;</a:t>
                      </a:r>
                    </a:p>
                    <a:p>
                      <a:pPr algn="l">
                        <a:lnSpc>
                          <a:spcPct val="106000"/>
                        </a:lnSpc>
                        <a:spcAft>
                          <a:spcPts val="0"/>
                        </a:spcAft>
                      </a:pPr>
                      <a:r>
                        <a:rPr sz="1100" b="0">
                          <a:solidFill>
                            <a:srgbClr val="333333"/>
                          </a:solidFill>
                          <a:latin typeface="Courier New"/>
                        </a:rPr>
                        <a:t>        if (getPosD_local(posD) &amp;&amp; PV_AidingMode != AID_NONE) {</a:t>
                      </a:r>
                    </a:p>
                    <a:p>
                      <a:pPr algn="l">
                        <a:lnSpc>
                          <a:spcPct val="106000"/>
                        </a:lnSpc>
                        <a:spcAft>
                          <a:spcPts val="0"/>
                        </a:spcAft>
                      </a:pPr>
                      <a:r>
                        <a:rPr sz="1100" b="0">
                          <a:solidFill>
                            <a:srgbClr val="333333"/>
                          </a:solidFill>
                          <a:latin typeface="Courier New"/>
                        </a:rPr>
                        <a:t>            // Altitude returned is an absolute altitude relative to the WGS-84 spherioid</a:t>
                      </a:r>
                    </a:p>
                    <a:p>
                      <a:pPr algn="l">
                        <a:lnSpc>
                          <a:spcPct val="106000"/>
                        </a:lnSpc>
                        <a:spcAft>
                          <a:spcPts val="0"/>
                        </a:spcAft>
                      </a:pPr>
                      <a:r>
                        <a:rPr sz="1100" b="0">
                          <a:solidFill>
                            <a:srgbClr val="333333"/>
                          </a:solidFill>
                          <a:latin typeface="Courier New"/>
                        </a:rPr>
                        <a:t>            loc.set_alt_cm(origin.alt - posD*100.0, Location::AltFrame::ABSOLUTE);</a:t>
                      </a:r>
                    </a:p>
                    <a:p>
                      <a:pPr algn="l">
                        <a:lnSpc>
                          <a:spcPct val="106000"/>
                        </a:lnSpc>
                        <a:spcAft>
                          <a:spcPts val="0"/>
                        </a:spcAft>
                      </a:pPr>
                      <a:r>
                        <a:rPr sz="1100" b="0">
                          <a:solidFill>
                            <a:srgbClr val="333333"/>
                          </a:solidFill>
                          <a:latin typeface="Courier New"/>
                        </a:rPr>
                        <a:t>            if (filterStatus.flags.horiz_pos_abs || filterStatus.flags.horiz_pos_rel)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13–14</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Courier New"/>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libraries/AP_NavEKF3/AP_NavEKF3_VehicleStatus.cpp</a:t>
                      </a:r>
                      <a:r>
                        <a:rPr sz="1100" b="0">
                          <a:solidFill>
                            <a:srgbClr val="999999"/>
                          </a:solidFill>
                          <a:latin typeface="Courier New"/>
                        </a:rPr>
                        <a:t>  ·  </a:t>
                      </a:r>
                      <a:r>
                        <a:rPr sz="1100" b="0">
                          <a:solidFill>
                            <a:srgbClr val="999999"/>
                          </a:solidFill>
                          <a:latin typeface="Courier New"/>
                        </a:rPr>
                        <a:t>14-22</a:t>
                      </a:r>
                      <a:r>
                        <a:rPr sz="1100" b="0">
                          <a:solidFill>
                            <a:srgbClr val="999999"/>
                          </a:solidFill>
                          <a:latin typeface="Courier New"/>
                        </a:rPr>
                        <a:t>  ·  </a:t>
                      </a:r>
                      <a:r>
                        <a:rPr sz="1100" b="0">
                          <a:solidFill>
                            <a:srgbClr val="999999"/>
                          </a:solidFill>
                          <a:latin typeface="Courier New"/>
                        </a:rPr>
                        <a:t>NavEKF3_core::calcGpsGoodToAlign()</a:t>
                      </a:r>
                    </a:p>
                    <a:p>
                      <a:pPr algn="l">
                        <a:lnSpc>
                          <a:spcPct val="106000"/>
                        </a:lnSpc>
                        <a:spcAft>
                          <a:spcPts val="0"/>
                        </a:spcAft>
                      </a:pPr>
                      <a:r>
                        <a:rPr sz="1100" b="0">
                          <a:solidFill>
                            <a:srgbClr val="333333"/>
                          </a:solidFill>
                          <a:latin typeface="Courier New"/>
                        </a:rPr>
                        <a:t>void NavEKF3_core::calcGpsGoodToAlign(void)</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if (inFlight &amp;&amp; !finalInflightYawInit &amp;&amp; assume_zero_sideslip() &amp;&amp; !use_compass()) {</a:t>
                      </a:r>
                    </a:p>
                    <a:p>
                      <a:pPr algn="l">
                        <a:lnSpc>
                          <a:spcPct val="106000"/>
                        </a:lnSpc>
                        <a:spcAft>
                          <a:spcPts val="0"/>
                        </a:spcAft>
                      </a:pPr>
                      <a:r>
                        <a:rPr sz="1100" b="0">
                          <a:solidFill>
                            <a:srgbClr val="333333"/>
                          </a:solidFill>
                          <a:latin typeface="Courier New"/>
                        </a:rPr>
                        <a:t>        // this is a special case where a plane has launched without magnetometer</a:t>
                      </a:r>
                    </a:p>
                    <a:p>
                      <a:pPr algn="l">
                        <a:lnSpc>
                          <a:spcPct val="106000"/>
                        </a:lnSpc>
                        <a:spcAft>
                          <a:spcPts val="0"/>
                        </a:spcAft>
                      </a:pPr>
                      <a:r>
                        <a:rPr sz="1100" b="0">
                          <a:solidFill>
                            <a:srgbClr val="333333"/>
                          </a:solidFill>
                          <a:latin typeface="Courier New"/>
                        </a:rPr>
                        <a:t>        // is now in the air and needs to align yaw to the GPS and start navigating as soon as possible</a:t>
                      </a:r>
                    </a:p>
                    <a:p>
                      <a:pPr algn="l">
                        <a:lnSpc>
                          <a:spcPct val="106000"/>
                        </a:lnSpc>
                        <a:spcAft>
                          <a:spcPts val="0"/>
                        </a:spcAft>
                      </a:pPr>
                      <a:r>
                        <a:rPr sz="1100" b="0">
                          <a:solidFill>
                            <a:srgbClr val="333333"/>
                          </a:solidFill>
                          <a:latin typeface="Courier New"/>
                        </a:rPr>
                        <a:t>        gpsGoodToAlign = true;</a:t>
                      </a:r>
                    </a:p>
                    <a:p>
                      <a:pPr algn="l">
                        <a:lnSpc>
                          <a:spcPct val="106000"/>
                        </a:lnSpc>
                        <a:spcAft>
                          <a:spcPts val="0"/>
                        </a:spcAft>
                      </a:pPr>
                      <a:r>
                        <a:rPr sz="1100" b="0">
                          <a:solidFill>
                            <a:srgbClr val="333333"/>
                          </a:solidFill>
                          <a:latin typeface="Courier New"/>
                        </a:rPr>
                        <a:t>        return;</a:t>
                      </a:r>
                    </a:p>
                    <a:p>
                      <a:pPr algn="l">
                        <a:lnSpc>
                          <a:spcPct val="106000"/>
                        </a:lnSpc>
                        <a:spcAft>
                          <a:spcPts val="0"/>
                        </a:spcAft>
                      </a:pPr>
                      <a:r>
                        <a:rPr sz="1100" b="0">
                          <a:solidFill>
                            <a:srgbClr val="333333"/>
                          </a:solidFill>
                          <a:latin typeface="Courier New"/>
                        </a:rPr>
                        <a:t>    }</a:t>
                      </a:r>
                    </a:p>
                    <a:p>
                      <a:pPr algn="l">
                        <a:lnSpc>
                          <a:spcPct val="106000"/>
                        </a:lnSpc>
                        <a:spcAft>
                          <a:spcPts val="0"/>
                        </a:spcAft>
                        <a:defRPr sz="1100">
                          <a:latin typeface="Courier New"/>
                        </a:defRPr>
                      </a:pPr>
                      <a:r>
                        <a:rPr sz="1100" b="0">
                          <a:solidFill>
                            <a:srgbClr val="333333"/>
                          </a:solidFill>
                          <a:latin typeface="Courier New"/>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Courier New"/>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libraries/AP_NavEKF3/AP_NavEKF3_GyroBias.cpp</a:t>
                      </a:r>
                      <a:r>
                        <a:rPr sz="1100" b="0">
                          <a:solidFill>
                            <a:srgbClr val="999999"/>
                          </a:solidFill>
                          <a:latin typeface="Courier New"/>
                        </a:rPr>
                        <a:t>  ·  </a:t>
                      </a:r>
                      <a:r>
                        <a:rPr sz="1100" b="0">
                          <a:solidFill>
                            <a:srgbClr val="999999"/>
                          </a:solidFill>
                          <a:latin typeface="Courier New"/>
                        </a:rPr>
                        <a:t>6-13</a:t>
                      </a:r>
                      <a:r>
                        <a:rPr sz="1100" b="0">
                          <a:solidFill>
                            <a:srgbClr val="999999"/>
                          </a:solidFill>
                          <a:latin typeface="Courier New"/>
                        </a:rPr>
                        <a:t>  ·  </a:t>
                      </a:r>
                      <a:r>
                        <a:rPr sz="1100" b="0">
                          <a:solidFill>
                            <a:srgbClr val="999999"/>
                          </a:solidFill>
                          <a:latin typeface="Courier New"/>
                        </a:rPr>
                        <a:t>NavEKF3_core::resetGyroBias()</a:t>
                      </a:r>
                    </a:p>
                    <a:p>
                      <a:pPr algn="l">
                        <a:lnSpc>
                          <a:spcPct val="106000"/>
                        </a:lnSpc>
                        <a:spcAft>
                          <a:spcPts val="0"/>
                        </a:spcAft>
                      </a:pPr>
                      <a:r>
                        <a:rPr sz="1100" b="0">
                          <a:solidFill>
                            <a:srgbClr val="333333"/>
                          </a:solidFill>
                          <a:latin typeface="Courier New"/>
                        </a:rPr>
                        <a:t>void NavEKF3_core::resetGyroBias(void)</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stateStruct.gyro_bias.zero();</a:t>
                      </a:r>
                    </a:p>
                    <a:p>
                      <a:pPr algn="l">
                        <a:lnSpc>
                          <a:spcPct val="106000"/>
                        </a:lnSpc>
                        <a:spcAft>
                          <a:spcPts val="0"/>
                        </a:spcAft>
                      </a:pPr>
                      <a:r>
                        <a:rPr sz="1100" b="0">
                          <a:solidFill>
                            <a:srgbClr val="333333"/>
                          </a:solidFill>
                          <a:latin typeface="Courier New"/>
                        </a:rPr>
                        <a:t>    zeroRows(P,10,12);</a:t>
                      </a:r>
                    </a:p>
                    <a:p>
                      <a:pPr algn="l">
                        <a:lnSpc>
                          <a:spcPct val="106000"/>
                        </a:lnSpc>
                        <a:spcAft>
                          <a:spcPts val="0"/>
                        </a:spcAft>
                      </a:pPr>
                      <a:r>
                        <a:rPr sz="1100" b="0">
                          <a:solidFill>
                            <a:srgbClr val="333333"/>
                          </a:solidFill>
                          <a:latin typeface="Courier New"/>
                        </a:rPr>
                        <a:t>    zeroCols(P,10,12);</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P[10][10] = sq(radians(0.5f * dtIMUavg));</a:t>
                      </a:r>
                    </a:p>
                    <a:p>
                      <a:pPr algn="l">
                        <a:lnSpc>
                          <a:spcPct val="106000"/>
                        </a:lnSpc>
                        <a:spcAft>
                          <a:spcPts val="0"/>
                        </a:spcAft>
                      </a:pPr>
                      <a:r>
                        <a:rPr sz="1100" b="0">
                          <a:solidFill>
                            <a:srgbClr val="333333"/>
                          </a:solidFill>
                          <a:latin typeface="Courier New"/>
                        </a:rPr>
                        <a:t>    P[11][11] = P[10][10];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15–16</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Courier New"/>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libraries/AP_NavEKF3/AP_NavEKF3_RngBcnFusion.cpp</a:t>
                      </a:r>
                      <a:r>
                        <a:rPr sz="1100" b="0">
                          <a:solidFill>
                            <a:srgbClr val="999999"/>
                          </a:solidFill>
                          <a:latin typeface="Courier New"/>
                        </a:rPr>
                        <a:t>  ·  </a:t>
                      </a:r>
                      <a:r>
                        <a:rPr sz="1100" b="0">
                          <a:solidFill>
                            <a:srgbClr val="999999"/>
                          </a:solidFill>
                          <a:latin typeface="Courier New"/>
                        </a:rPr>
                        <a:t>95-103</a:t>
                      </a:r>
                      <a:r>
                        <a:rPr sz="1100" b="0">
                          <a:solidFill>
                            <a:srgbClr val="999999"/>
                          </a:solidFill>
                          <a:latin typeface="Courier New"/>
                        </a:rPr>
                        <a:t>  ·  </a:t>
                      </a:r>
                      <a:r>
                        <a:rPr sz="1100" b="0">
                          <a:solidFill>
                            <a:srgbClr val="999999"/>
                          </a:solidFill>
                          <a:latin typeface="Courier New"/>
                        </a:rPr>
                        <a:t>NavEKF3_core::FuseRngBcn()</a:t>
                      </a:r>
                    </a:p>
                    <a:p>
                      <a:pPr algn="l">
                        <a:lnSpc>
                          <a:spcPct val="106000"/>
                        </a:lnSpc>
                        <a:spcAft>
                          <a:spcPts val="0"/>
                        </a:spcAft>
                      </a:pPr>
                      <a:r>
                        <a:rPr sz="1100" b="0">
                          <a:solidFill>
                            <a:srgbClr val="333333"/>
                          </a:solidFill>
                          <a:latin typeface="Courier New"/>
                        </a:rPr>
                        <a:t>void NavEKF3_core::FuseRngBcn()</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 declarations</a:t>
                      </a:r>
                    </a:p>
                    <a:p>
                      <a:pPr algn="l">
                        <a:lnSpc>
                          <a:spcPct val="106000"/>
                        </a:lnSpc>
                        <a:spcAft>
                          <a:spcPts val="0"/>
                        </a:spcAft>
                      </a:pPr>
                      <a:r>
                        <a:rPr sz="1100" b="0">
                          <a:solidFill>
                            <a:srgbClr val="333333"/>
                          </a:solidFill>
                          <a:latin typeface="Courier New"/>
                        </a:rPr>
                        <a:t>    ftype pn;</a:t>
                      </a:r>
                    </a:p>
                    <a:p>
                      <a:pPr algn="l">
                        <a:lnSpc>
                          <a:spcPct val="106000"/>
                        </a:lnSpc>
                        <a:spcAft>
                          <a:spcPts val="0"/>
                        </a:spcAft>
                      </a:pPr>
                      <a:r>
                        <a:rPr sz="1100" b="0">
                          <a:solidFill>
                            <a:srgbClr val="333333"/>
                          </a:solidFill>
                          <a:latin typeface="Courier New"/>
                        </a:rPr>
                        <a:t>    ftype pe;</a:t>
                      </a:r>
                    </a:p>
                    <a:p>
                      <a:pPr algn="l">
                        <a:lnSpc>
                          <a:spcPct val="106000"/>
                        </a:lnSpc>
                        <a:spcAft>
                          <a:spcPts val="0"/>
                        </a:spcAft>
                      </a:pPr>
                      <a:r>
                        <a:rPr sz="1100" b="0">
                          <a:solidFill>
                            <a:srgbClr val="333333"/>
                          </a:solidFill>
                          <a:latin typeface="Courier New"/>
                        </a:rPr>
                        <a:t>    ftype pd;</a:t>
                      </a:r>
                    </a:p>
                    <a:p>
                      <a:pPr algn="l">
                        <a:lnSpc>
                          <a:spcPct val="106000"/>
                        </a:lnSpc>
                        <a:spcAft>
                          <a:spcPts val="0"/>
                        </a:spcAft>
                      </a:pPr>
                      <a:r>
                        <a:rPr sz="1100" b="0">
                          <a:solidFill>
                            <a:srgbClr val="333333"/>
                          </a:solidFill>
                          <a:latin typeface="Courier New"/>
                        </a:rPr>
                        <a:t>    ftype bcn_pn;</a:t>
                      </a:r>
                    </a:p>
                    <a:p>
                      <a:pPr algn="l">
                        <a:lnSpc>
                          <a:spcPct val="106000"/>
                        </a:lnSpc>
                        <a:spcAft>
                          <a:spcPts val="0"/>
                        </a:spcAft>
                      </a:pPr>
                      <a:r>
                        <a:rPr sz="1100" b="0">
                          <a:solidFill>
                            <a:srgbClr val="333333"/>
                          </a:solidFill>
                          <a:latin typeface="Courier New"/>
                        </a:rPr>
                        <a:t>    ftype bcn_pe;</a:t>
                      </a:r>
                    </a:p>
                    <a:p>
                      <a:pPr algn="l">
                        <a:lnSpc>
                          <a:spcPct val="106000"/>
                        </a:lnSpc>
                        <a:spcAft>
                          <a:spcPts val="0"/>
                        </a:spcAft>
                      </a:pPr>
                      <a:r>
                        <a:rPr sz="1100" b="0">
                          <a:solidFill>
                            <a:srgbClr val="333333"/>
                          </a:solidFill>
                          <a:latin typeface="Courier New"/>
                        </a:rPr>
                        <a:t>    ftype bcn_pd;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Courier New"/>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libraries/AP_NavEKF3/AP_NavEKF3_Logging.cpp</a:t>
                      </a:r>
                      <a:r>
                        <a:rPr sz="1100" b="0">
                          <a:solidFill>
                            <a:srgbClr val="999999"/>
                          </a:solidFill>
                          <a:latin typeface="Courier New"/>
                        </a:rPr>
                        <a:t>  ·  </a:t>
                      </a:r>
                      <a:r>
                        <a:rPr sz="1100" b="0">
                          <a:solidFill>
                            <a:srgbClr val="999999"/>
                          </a:solidFill>
                          <a:latin typeface="Courier New"/>
                        </a:rPr>
                        <a:t>15-23</a:t>
                      </a:r>
                      <a:r>
                        <a:rPr sz="1100" b="0">
                          <a:solidFill>
                            <a:srgbClr val="999999"/>
                          </a:solidFill>
                          <a:latin typeface="Courier New"/>
                        </a:rPr>
                        <a:t>  ·  </a:t>
                      </a:r>
                      <a:r>
                        <a:rPr sz="1100" b="0">
                          <a:solidFill>
                            <a:srgbClr val="999999"/>
                          </a:solidFill>
                          <a:latin typeface="Courier New"/>
                        </a:rPr>
                        <a:t>NavEKF3_core::Log_Write_XKF1()</a:t>
                      </a:r>
                    </a:p>
                    <a:p>
                      <a:pPr algn="l">
                        <a:lnSpc>
                          <a:spcPct val="106000"/>
                        </a:lnSpc>
                        <a:spcAft>
                          <a:spcPts val="0"/>
                        </a:spcAft>
                      </a:pPr>
                      <a:r>
                        <a:rPr sz="1100" b="0">
                          <a:solidFill>
                            <a:srgbClr val="333333"/>
                          </a:solidFill>
                          <a:latin typeface="Courier New"/>
                        </a:rPr>
                        <a:t>void NavEKF3_core::Log_Write_XKF1(uint64_t time_us) const</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 Write first EKF packet</a:t>
                      </a:r>
                    </a:p>
                    <a:p>
                      <a:pPr algn="l">
                        <a:lnSpc>
                          <a:spcPct val="106000"/>
                        </a:lnSpc>
                        <a:spcAft>
                          <a:spcPts val="0"/>
                        </a:spcAft>
                      </a:pPr>
                      <a:r>
                        <a:rPr sz="1100" b="0">
                          <a:solidFill>
                            <a:srgbClr val="333333"/>
                          </a:solidFill>
                          <a:latin typeface="Courier New"/>
                        </a:rPr>
                        <a:t>    Vector3f euler;</a:t>
                      </a:r>
                    </a:p>
                    <a:p>
                      <a:pPr algn="l">
                        <a:lnSpc>
                          <a:spcPct val="106000"/>
                        </a:lnSpc>
                        <a:spcAft>
                          <a:spcPts val="0"/>
                        </a:spcAft>
                      </a:pPr>
                      <a:r>
                        <a:rPr sz="1100" b="0">
                          <a:solidFill>
                            <a:srgbClr val="333333"/>
                          </a:solidFill>
                          <a:latin typeface="Courier New"/>
                        </a:rPr>
                        <a:t>    Vector2p posNE;</a:t>
                      </a:r>
                    </a:p>
                    <a:p>
                      <a:pPr algn="l">
                        <a:lnSpc>
                          <a:spcPct val="106000"/>
                        </a:lnSpc>
                        <a:spcAft>
                          <a:spcPts val="0"/>
                        </a:spcAft>
                      </a:pPr>
                      <a:r>
                        <a:rPr sz="1100" b="0">
                          <a:solidFill>
                            <a:srgbClr val="333333"/>
                          </a:solidFill>
                          <a:latin typeface="Courier New"/>
                        </a:rPr>
                        <a:t>    postype_t posD;</a:t>
                      </a:r>
                    </a:p>
                    <a:p>
                      <a:pPr algn="l">
                        <a:lnSpc>
                          <a:spcPct val="106000"/>
                        </a:lnSpc>
                        <a:spcAft>
                          <a:spcPts val="0"/>
                        </a:spcAft>
                      </a:pPr>
                      <a:r>
                        <a:rPr sz="1100" b="0">
                          <a:solidFill>
                            <a:srgbClr val="333333"/>
                          </a:solidFill>
                          <a:latin typeface="Courier New"/>
                        </a:rPr>
                        <a:t>    Vector3f velNED;</a:t>
                      </a:r>
                    </a:p>
                    <a:p>
                      <a:pPr algn="l">
                        <a:lnSpc>
                          <a:spcPct val="106000"/>
                        </a:lnSpc>
                        <a:spcAft>
                          <a:spcPts val="0"/>
                        </a:spcAft>
                      </a:pPr>
                      <a:r>
                        <a:rPr sz="1100" b="0">
                          <a:solidFill>
                            <a:srgbClr val="333333"/>
                          </a:solidFill>
                          <a:latin typeface="Courier New"/>
                        </a:rPr>
                        <a:t>    Vector3f gyroBias;</a:t>
                      </a:r>
                    </a:p>
                    <a:p>
                      <a:pPr algn="l">
                        <a:lnSpc>
                          <a:spcPct val="106000"/>
                        </a:lnSpc>
                        <a:spcAft>
                          <a:spcPts val="0"/>
                        </a:spcAft>
                      </a:pPr>
                      <a:r>
                        <a:rPr sz="1100" b="0">
                          <a:solidFill>
                            <a:srgbClr val="333333"/>
                          </a:solidFill>
                          <a:latin typeface="Courier New"/>
                        </a:rPr>
                        <a:t>    float posDownDeriv;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17–18</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Courier New"/>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libraries/AP_NavEKF3/AP_NavEKF3.cpp</a:t>
                      </a:r>
                      <a:r>
                        <a:rPr sz="1100" b="0">
                          <a:solidFill>
                            <a:srgbClr val="999999"/>
                          </a:solidFill>
                          <a:latin typeface="Courier New"/>
                        </a:rPr>
                        <a:t>  ·  </a:t>
                      </a:r>
                      <a:r>
                        <a:rPr sz="1100" b="0">
                          <a:solidFill>
                            <a:srgbClr val="999999"/>
                          </a:solidFill>
                          <a:latin typeface="Courier New"/>
                        </a:rPr>
                        <a:t>1846-1854</a:t>
                      </a:r>
                      <a:r>
                        <a:rPr sz="1100" b="0">
                          <a:solidFill>
                            <a:srgbClr val="999999"/>
                          </a:solidFill>
                          <a:latin typeface="Courier New"/>
                        </a:rPr>
                        <a:t>  ·  </a:t>
                      </a:r>
                      <a:r>
                        <a:rPr sz="1100" b="0">
                          <a:solidFill>
                            <a:srgbClr val="999999"/>
                          </a:solidFill>
                          <a:latin typeface="Courier New"/>
                        </a:rPr>
                        <a:t>NavEKF3::getFilterStatus()</a:t>
                      </a:r>
                    </a:p>
                    <a:p>
                      <a:pPr algn="l">
                        <a:lnSpc>
                          <a:spcPct val="106000"/>
                        </a:lnSpc>
                        <a:spcAft>
                          <a:spcPts val="0"/>
                        </a:spcAft>
                      </a:pPr>
                      <a:r>
                        <a:rPr sz="1100" b="0">
                          <a:solidFill>
                            <a:srgbClr val="333333"/>
                          </a:solidFill>
                          <a:latin typeface="Courier New"/>
                        </a:rPr>
                        <a:t>void NavEKF3::getFilterStatus(nav_filter_status &amp;status) const</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if (core) {</a:t>
                      </a:r>
                    </a:p>
                    <a:p>
                      <a:pPr algn="l">
                        <a:lnSpc>
                          <a:spcPct val="106000"/>
                        </a:lnSpc>
                        <a:spcAft>
                          <a:spcPts val="0"/>
                        </a:spcAft>
                      </a:pPr>
                      <a:r>
                        <a:rPr sz="1100" b="0">
                          <a:solidFill>
                            <a:srgbClr val="333333"/>
                          </a:solidFill>
                          <a:latin typeface="Courier New"/>
                        </a:rPr>
                        <a:t>        core[primary].getFilterStatus(status);</a:t>
                      </a:r>
                    </a:p>
                    <a:p>
                      <a:pPr algn="l">
                        <a:lnSpc>
                          <a:spcPct val="106000"/>
                        </a:lnSpc>
                        <a:spcAft>
                          <a:spcPts val="0"/>
                        </a:spcAft>
                      </a:pPr>
                      <a:r>
                        <a:rPr sz="1100" b="0">
                          <a:solidFill>
                            <a:srgbClr val="333333"/>
                          </a:solidFill>
                          <a:latin typeface="Courier New"/>
                        </a:rPr>
                        <a:t>    } else {</a:t>
                      </a:r>
                    </a:p>
                    <a:p>
                      <a:pPr algn="l">
                        <a:lnSpc>
                          <a:spcPct val="106000"/>
                        </a:lnSpc>
                        <a:spcAft>
                          <a:spcPts val="0"/>
                        </a:spcAft>
                      </a:pPr>
                      <a:r>
                        <a:rPr sz="1100" b="0">
                          <a:solidFill>
                            <a:srgbClr val="333333"/>
                          </a:solidFill>
                          <a:latin typeface="Courier New"/>
                        </a:rPr>
                        <a:t>        memset(&amp;status, 0, sizeof(status));</a:t>
                      </a:r>
                    </a:p>
                    <a:p>
                      <a:pPr algn="l">
                        <a:lnSpc>
                          <a:spcPct val="106000"/>
                        </a:lnSpc>
                        <a:spcAft>
                          <a:spcPts val="0"/>
                        </a:spcAft>
                      </a:pPr>
                      <a:r>
                        <a:rPr sz="1100" b="0">
                          <a:solidFill>
                            <a:srgbClr val="333333"/>
                          </a:solidFill>
                          <a:latin typeface="Courier New"/>
                        </a:rPr>
                        <a:t>    }</a:t>
                      </a:r>
                    </a:p>
                    <a:p>
                      <a:pPr algn="l">
                        <a:lnSpc>
                          <a:spcPct val="106000"/>
                        </a:lnSpc>
                        <a:spcAft>
                          <a:spcPts val="0"/>
                        </a:spcAft>
                      </a:pPr>
                      <a:r>
                        <a:rPr sz="1100" b="0">
                          <a:solidFill>
                            <a:srgbClr val="333333"/>
                          </a:solidFill>
                          <a:latin typeface="Courier New"/>
                        </a:rPr>
                        <a:t>}</a:t>
                      </a:r>
                    </a:p>
                    <a:p>
                      <a:pPr algn="l">
                        <a:lnSpc>
                          <a:spcPct val="106000"/>
                        </a:lnSpc>
                        <a:spcAft>
                          <a:spcPts val="0"/>
                        </a:spcAft>
                        <a:defRPr sz="1100">
                          <a:latin typeface="Courier New"/>
                        </a:defRPr>
                      </a:pPr>
                      <a:r>
                        <a:rPr sz="1100" b="0">
                          <a:solidFill>
                            <a:srgbClr val="333333"/>
                          </a:solidFill>
                          <a:latin typeface="Courier New"/>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Courier New"/>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libraries/AP_NavEKF2/AP_NavEKF2_core.cpp</a:t>
                      </a:r>
                      <a:r>
                        <a:rPr sz="1100" b="0">
                          <a:solidFill>
                            <a:srgbClr val="999999"/>
                          </a:solidFill>
                          <a:latin typeface="Courier New"/>
                        </a:rPr>
                        <a:t>  ·  </a:t>
                      </a:r>
                      <a:r>
                        <a:rPr sz="1100" b="0">
                          <a:solidFill>
                            <a:srgbClr val="999999"/>
                          </a:solidFill>
                          <a:latin typeface="Courier New"/>
                        </a:rPr>
                        <a:t>528-536</a:t>
                      </a:r>
                      <a:r>
                        <a:rPr sz="1100" b="0">
                          <a:solidFill>
                            <a:srgbClr val="999999"/>
                          </a:solidFill>
                          <a:latin typeface="Courier New"/>
                        </a:rPr>
                        <a:t>  ·  </a:t>
                      </a:r>
                      <a:r>
                        <a:rPr sz="1100" b="0">
                          <a:solidFill>
                            <a:srgbClr val="999999"/>
                          </a:solidFill>
                          <a:latin typeface="Courier New"/>
                        </a:rPr>
                        <a:t>NavEKF2_core::UpdateFilter()</a:t>
                      </a:r>
                    </a:p>
                    <a:p>
                      <a:pPr algn="l">
                        <a:lnSpc>
                          <a:spcPct val="106000"/>
                        </a:lnSpc>
                        <a:spcAft>
                          <a:spcPts val="0"/>
                        </a:spcAft>
                      </a:pPr>
                      <a:r>
                        <a:rPr sz="1100" b="0">
                          <a:solidFill>
                            <a:srgbClr val="333333"/>
                          </a:solidFill>
                          <a:latin typeface="Courier New"/>
                        </a:rPr>
                        <a:t>void NavEKF2_core::UpdateFilter(bool predict)</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 Set the flag to indicate to the filter that the front-end has given permission for a new state prediction cycle to be started</a:t>
                      </a:r>
                    </a:p>
                    <a:p>
                      <a:pPr algn="l">
                        <a:lnSpc>
                          <a:spcPct val="106000"/>
                        </a:lnSpc>
                        <a:spcAft>
                          <a:spcPts val="0"/>
                        </a:spcAft>
                      </a:pPr>
                      <a:r>
                        <a:rPr sz="1100" b="0">
                          <a:solidFill>
                            <a:srgbClr val="333333"/>
                          </a:solidFill>
                          <a:latin typeface="Courier New"/>
                        </a:rPr>
                        <a:t>    startPredictEnabled = predict;</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 don't run filter updates if states have not been initialised</a:t>
                      </a:r>
                    </a:p>
                    <a:p>
                      <a:pPr algn="l">
                        <a:lnSpc>
                          <a:spcPct val="106000"/>
                        </a:lnSpc>
                        <a:spcAft>
                          <a:spcPts val="0"/>
                        </a:spcAft>
                      </a:pPr>
                      <a:r>
                        <a:rPr sz="1100" b="0">
                          <a:solidFill>
                            <a:srgbClr val="333333"/>
                          </a:solidFill>
                          <a:latin typeface="Courier New"/>
                        </a:rPr>
                        <a:t>    if (!statesInitialised) {</a:t>
                      </a:r>
                    </a:p>
                    <a:p>
                      <a:pPr algn="l">
                        <a:lnSpc>
                          <a:spcPct val="106000"/>
                        </a:lnSpc>
                        <a:spcAft>
                          <a:spcPts val="0"/>
                        </a:spcAft>
                      </a:pPr>
                      <a:r>
                        <a:rPr sz="1100" b="0">
                          <a:solidFill>
                            <a:srgbClr val="333333"/>
                          </a:solidFill>
                          <a:latin typeface="Courier New"/>
                        </a:rPr>
                        <a:t>        return;</a:t>
                      </a:r>
                    </a:p>
                    <a:p>
                      <a:pPr algn="l">
                        <a:lnSpc>
                          <a:spcPct val="106000"/>
                        </a:lnSpc>
                        <a:spcAft>
                          <a:spcPts val="0"/>
                        </a:spcAft>
                      </a:pPr>
                      <a:r>
                        <a:rPr sz="1100" b="0">
                          <a:solidFill>
                            <a:srgbClr val="333333"/>
                          </a:solidFill>
                          <a:latin typeface="Courier New"/>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19–20</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375673">
                <a:tc>
                  <a:txBody>
                    <a:bodyPr wrap="square">
                      <a:noAutofit/>
                    </a:bodyPr>
                    <a:lstStyle/>
                    <a:p>
                      <a:pPr algn="r">
                        <a:lnSpc>
                          <a:spcPct val="106000"/>
                        </a:lnSpc>
                        <a:spcAft>
                          <a:spcPts val="0"/>
                        </a:spcAft>
                      </a:pPr>
                      <a:r>
                        <a:rPr sz="1100" b="1">
                          <a:solidFill>
                            <a:srgbClr val="333333"/>
                          </a:solidFill>
                          <a:latin typeface="Courier New"/>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libraries/AP_NavEKF2/AP_NavEKF2_PosVelFusion.cpp</a:t>
                      </a:r>
                      <a:r>
                        <a:rPr sz="1100" b="0">
                          <a:solidFill>
                            <a:srgbClr val="999999"/>
                          </a:solidFill>
                          <a:latin typeface="Courier New"/>
                        </a:rPr>
                        <a:t>  ·  </a:t>
                      </a:r>
                      <a:r>
                        <a:rPr sz="1100" b="0">
                          <a:solidFill>
                            <a:srgbClr val="999999"/>
                          </a:solidFill>
                          <a:latin typeface="Courier New"/>
                        </a:rPr>
                        <a:t>560-568</a:t>
                      </a:r>
                      <a:r>
                        <a:rPr sz="1100" b="0">
                          <a:solidFill>
                            <a:srgbClr val="999999"/>
                          </a:solidFill>
                          <a:latin typeface="Courier New"/>
                        </a:rPr>
                        <a:t>  ·  </a:t>
                      </a:r>
                      <a:r>
                        <a:rPr sz="1100" b="0">
                          <a:solidFill>
                            <a:srgbClr val="999999"/>
                          </a:solidFill>
                          <a:latin typeface="Courier New"/>
                        </a:rPr>
                        <a:t>NavEKF2_core::FuseVelPosNED()</a:t>
                      </a:r>
                    </a:p>
                    <a:p>
                      <a:pPr algn="l">
                        <a:lnSpc>
                          <a:spcPct val="106000"/>
                        </a:lnSpc>
                        <a:spcAft>
                          <a:spcPts val="0"/>
                        </a:spcAft>
                      </a:pPr>
                      <a:r>
                        <a:rPr sz="1100" b="0">
                          <a:solidFill>
                            <a:srgbClr val="333333"/>
                          </a:solidFill>
                          <a:latin typeface="Courier New"/>
                        </a:rPr>
                        <a:t>void NavEKF2_core::FuseVelPosNED()</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 health is set bad until test passed</a:t>
                      </a:r>
                    </a:p>
                    <a:p>
                      <a:pPr algn="l">
                        <a:lnSpc>
                          <a:spcPct val="106000"/>
                        </a:lnSpc>
                        <a:spcAft>
                          <a:spcPts val="0"/>
                        </a:spcAft>
                      </a:pPr>
                      <a:r>
                        <a:rPr sz="1100" b="0">
                          <a:solidFill>
                            <a:srgbClr val="333333"/>
                          </a:solidFill>
                          <a:latin typeface="Courier New"/>
                        </a:rPr>
                        <a:t>    bool velHealth = false;                 // boolean true if velocity measurements have passed innovation consistency check</a:t>
                      </a:r>
                    </a:p>
                    <a:p>
                      <a:pPr algn="l">
                        <a:lnSpc>
                          <a:spcPct val="106000"/>
                        </a:lnSpc>
                        <a:spcAft>
                          <a:spcPts val="0"/>
                        </a:spcAft>
                      </a:pPr>
                      <a:r>
                        <a:rPr sz="1100" b="0">
                          <a:solidFill>
                            <a:srgbClr val="333333"/>
                          </a:solidFill>
                          <a:latin typeface="Courier New"/>
                        </a:rPr>
                        <a:t>    bool posHealth = false;                 // boolean true if position measurements have passed innovation consistency check</a:t>
                      </a:r>
                    </a:p>
                    <a:p>
                      <a:pPr algn="l">
                        <a:lnSpc>
                          <a:spcPct val="106000"/>
                        </a:lnSpc>
                        <a:spcAft>
                          <a:spcPts val="0"/>
                        </a:spcAft>
                      </a:pPr>
                      <a:r>
                        <a:rPr sz="1100" b="0">
                          <a:solidFill>
                            <a:srgbClr val="333333"/>
                          </a:solidFill>
                          <a:latin typeface="Courier New"/>
                        </a:rPr>
                        <a:t>    bool hgtHealth = false;                 // boolean true if height measurements have passed innovation consistency check</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 declare variables used to check measurement errors</a:t>
                      </a:r>
                    </a:p>
                    <a:p>
                      <a:pPr algn="l">
                        <a:lnSpc>
                          <a:spcPct val="106000"/>
                        </a:lnSpc>
                        <a:spcAft>
                          <a:spcPts val="0"/>
                        </a:spcAft>
                      </a:pPr>
                      <a:r>
                        <a:rPr sz="1100" b="0">
                          <a:solidFill>
                            <a:srgbClr val="333333"/>
                          </a:solidFill>
                          <a:latin typeface="Courier New"/>
                        </a:rPr>
                        <a:t>    Vector3F velInnov;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Courier New"/>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libraries/AP_NavEKF/EKFGSF_yaw.cpp</a:t>
                      </a:r>
                      <a:r>
                        <a:rPr sz="1100" b="0">
                          <a:solidFill>
                            <a:srgbClr val="999999"/>
                          </a:solidFill>
                          <a:latin typeface="Courier New"/>
                        </a:rPr>
                        <a:t>  ·  </a:t>
                      </a:r>
                      <a:r>
                        <a:rPr sz="1100" b="0">
                          <a:solidFill>
                            <a:srgbClr val="999999"/>
                          </a:solidFill>
                          <a:latin typeface="Courier New"/>
                        </a:rPr>
                        <a:t>30-38</a:t>
                      </a:r>
                      <a:r>
                        <a:rPr sz="1100" b="0">
                          <a:solidFill>
                            <a:srgbClr val="999999"/>
                          </a:solidFill>
                          <a:latin typeface="Courier New"/>
                        </a:rPr>
                        <a:t>  ·  </a:t>
                      </a:r>
                      <a:r>
                        <a:rPr sz="1100" b="0">
                          <a:solidFill>
                            <a:srgbClr val="999999"/>
                          </a:solidFill>
                          <a:latin typeface="Courier New"/>
                        </a:rPr>
                        <a:t>EKFGSF_yaw::update()</a:t>
                      </a:r>
                    </a:p>
                    <a:p>
                      <a:pPr algn="l">
                        <a:lnSpc>
                          <a:spcPct val="106000"/>
                        </a:lnSpc>
                        <a:spcAft>
                          <a:spcPts val="0"/>
                        </a:spcAft>
                      </a:pPr>
                      <a:r>
                        <a:rPr sz="1100" b="0">
                          <a:solidFill>
                            <a:srgbClr val="333333"/>
                          </a:solidFill>
                          <a:latin typeface="Courier New"/>
                        </a:rPr>
                        <a:t>void EKFGSF_yaw::update(const Vector3F &amp;delAng,</a:t>
                      </a:r>
                    </a:p>
                    <a:p>
                      <a:pPr algn="l">
                        <a:lnSpc>
                          <a:spcPct val="106000"/>
                        </a:lnSpc>
                        <a:spcAft>
                          <a:spcPts val="0"/>
                        </a:spcAft>
                      </a:pPr>
                      <a:r>
                        <a:rPr sz="1100" b="0">
                          <a:solidFill>
                            <a:srgbClr val="333333"/>
                          </a:solidFill>
                          <a:latin typeface="Courier New"/>
                        </a:rPr>
                        <a:t>                        const Vector3F &amp;delVel,</a:t>
                      </a:r>
                    </a:p>
                    <a:p>
                      <a:pPr algn="l">
                        <a:lnSpc>
                          <a:spcPct val="106000"/>
                        </a:lnSpc>
                        <a:spcAft>
                          <a:spcPts val="0"/>
                        </a:spcAft>
                      </a:pPr>
                      <a:r>
                        <a:rPr sz="1100" b="0">
                          <a:solidFill>
                            <a:srgbClr val="333333"/>
                          </a:solidFill>
                          <a:latin typeface="Courier New"/>
                        </a:rPr>
                        <a:t>                        const ftype delAngDT,</a:t>
                      </a:r>
                    </a:p>
                    <a:p>
                      <a:pPr algn="l">
                        <a:lnSpc>
                          <a:spcPct val="106000"/>
                        </a:lnSpc>
                        <a:spcAft>
                          <a:spcPts val="0"/>
                        </a:spcAft>
                      </a:pPr>
                      <a:r>
                        <a:rPr sz="1100" b="0">
                          <a:solidFill>
                            <a:srgbClr val="333333"/>
                          </a:solidFill>
                          <a:latin typeface="Courier New"/>
                        </a:rPr>
                        <a:t>                        const ftype delVelDT,</a:t>
                      </a:r>
                    </a:p>
                    <a:p>
                      <a:pPr algn="l">
                        <a:lnSpc>
                          <a:spcPct val="106000"/>
                        </a:lnSpc>
                        <a:spcAft>
                          <a:spcPts val="0"/>
                        </a:spcAft>
                      </a:pPr>
                      <a:r>
                        <a:rPr sz="1100" b="0">
                          <a:solidFill>
                            <a:srgbClr val="333333"/>
                          </a:solidFill>
                          <a:latin typeface="Courier New"/>
                        </a:rPr>
                        <a:t>                        bool runEKF,</a:t>
                      </a:r>
                    </a:p>
                    <a:p>
                      <a:pPr algn="l">
                        <a:lnSpc>
                          <a:spcPct val="106000"/>
                        </a:lnSpc>
                        <a:spcAft>
                          <a:spcPts val="0"/>
                        </a:spcAft>
                      </a:pPr>
                      <a:r>
                        <a:rPr sz="1100" b="0">
                          <a:solidFill>
                            <a:srgbClr val="333333"/>
                          </a:solidFill>
                          <a:latin typeface="Courier New"/>
                        </a:rPr>
                        <a:t>                        ftype TAS)</a:t>
                      </a:r>
                    </a:p>
                    <a:p>
                      <a:pPr algn="l">
                        <a:lnSpc>
                          <a:spcPct val="106000"/>
                        </a:lnSpc>
                        <a:spcAft>
                          <a:spcPts val="0"/>
                        </a:spcAft>
                      </a:pPr>
                      <a:r>
                        <a:rPr sz="1100" b="0">
                          <a:solidFill>
                            <a:srgbClr val="333333"/>
                          </a:solidFill>
                          <a:latin typeface="Courier New"/>
                        </a:rPr>
                        <a:t>{</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 copy to class variables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21–22</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428077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Courier New"/>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libraries/AC_WPNav/AC_WPNav.cpp</a:t>
                      </a:r>
                      <a:r>
                        <a:rPr sz="1100" b="0">
                          <a:solidFill>
                            <a:srgbClr val="999999"/>
                          </a:solidFill>
                          <a:latin typeface="Courier New"/>
                        </a:rPr>
                        <a:t>  ·  </a:t>
                      </a:r>
                      <a:r>
                        <a:rPr sz="1100" b="0">
                          <a:solidFill>
                            <a:srgbClr val="999999"/>
                          </a:solidFill>
                          <a:latin typeface="Courier New"/>
                        </a:rPr>
                        <a:t>245-254</a:t>
                      </a:r>
                      <a:r>
                        <a:rPr sz="1100" b="0">
                          <a:solidFill>
                            <a:srgbClr val="999999"/>
                          </a:solidFill>
                          <a:latin typeface="Courier New"/>
                        </a:rPr>
                        <a:t>  ·  </a:t>
                      </a:r>
                      <a:r>
                        <a:rPr sz="1100" b="0">
                          <a:solidFill>
                            <a:srgbClr val="999999"/>
                          </a:solidFill>
                          <a:latin typeface="Courier New"/>
                        </a:rPr>
                        <a:t>AC_WPNav::set_wp_destination_loc()</a:t>
                      </a:r>
                    </a:p>
                    <a:p>
                      <a:pPr algn="l">
                        <a:lnSpc>
                          <a:spcPct val="106000"/>
                        </a:lnSpc>
                        <a:spcAft>
                          <a:spcPts val="0"/>
                        </a:spcAft>
                      </a:pPr>
                      <a:r>
                        <a:rPr sz="1100" b="0">
                          <a:solidFill>
                            <a:srgbClr val="333333"/>
                          </a:solidFill>
                          <a:latin typeface="Courier New"/>
                        </a:rPr>
                        <a:t>bool AC_WPNav::set_wp_destination_loc(const Location&amp; destination)</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bool is_terrain_alt;</a:t>
                      </a:r>
                    </a:p>
                    <a:p>
                      <a:pPr algn="l">
                        <a:lnSpc>
                          <a:spcPct val="106000"/>
                        </a:lnSpc>
                        <a:spcAft>
                          <a:spcPts val="0"/>
                        </a:spcAft>
                      </a:pPr>
                      <a:r>
                        <a:rPr sz="1100" b="0">
                          <a:solidFill>
                            <a:srgbClr val="333333"/>
                          </a:solidFill>
                          <a:latin typeface="Courier New"/>
                        </a:rPr>
                        <a:t>    Vector3f dest_neu_cm;</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 convert destination location to vector</a:t>
                      </a:r>
                    </a:p>
                    <a:p>
                      <a:pPr algn="l">
                        <a:lnSpc>
                          <a:spcPct val="106000"/>
                        </a:lnSpc>
                        <a:spcAft>
                          <a:spcPts val="0"/>
                        </a:spcAft>
                      </a:pPr>
                      <a:r>
                        <a:rPr sz="1100" b="0">
                          <a:solidFill>
                            <a:srgbClr val="333333"/>
                          </a:solidFill>
                          <a:latin typeface="Courier New"/>
                        </a:rPr>
                        <a:t>    if (!get_vector_NEU_cm(destination, dest_neu_cm, is_terrain_alt)) {</a:t>
                      </a:r>
                    </a:p>
                    <a:p>
                      <a:pPr algn="l">
                        <a:lnSpc>
                          <a:spcPct val="106000"/>
                        </a:lnSpc>
                        <a:spcAft>
                          <a:spcPts val="0"/>
                        </a:spcAft>
                      </a:pPr>
                      <a:r>
                        <a:rPr sz="1100" b="0">
                          <a:solidFill>
                            <a:srgbClr val="333333"/>
                          </a:solidFill>
                          <a:latin typeface="Courier New"/>
                        </a:rPr>
                        <a:t>        return false;</a:t>
                      </a:r>
                    </a:p>
                    <a:p>
                      <a:pPr algn="l">
                        <a:lnSpc>
                          <a:spcPct val="106000"/>
                        </a:lnSpc>
                        <a:spcAft>
                          <a:spcPts val="0"/>
                        </a:spcAft>
                      </a:pPr>
                      <a:r>
                        <a:rPr sz="1100" b="0">
                          <a:solidFill>
                            <a:srgbClr val="333333"/>
                          </a:solidFill>
                          <a:latin typeface="Courier New"/>
                        </a:rPr>
                        <a:t>    }</a:t>
                      </a:r>
                    </a:p>
                    <a:p>
                      <a:pPr algn="l">
                        <a:lnSpc>
                          <a:spcPct val="106000"/>
                        </a:lnSpc>
                        <a:spcAft>
                          <a:spcPts val="0"/>
                        </a:spcAft>
                        <a:defRPr sz="1100">
                          <a:latin typeface="Courier New"/>
                        </a:defRPr>
                      </a:pPr>
                      <a:r>
                        <a:rPr sz="1100" b="0">
                          <a:solidFill>
                            <a:srgbClr val="333333"/>
                          </a:solidFill>
                          <a:latin typeface="Courier New"/>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Courier New"/>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libraries/AP_Mission/AP_Mission.cpp</a:t>
                      </a:r>
                      <a:r>
                        <a:rPr sz="1100" b="0">
                          <a:solidFill>
                            <a:srgbClr val="999999"/>
                          </a:solidFill>
                          <a:latin typeface="Courier New"/>
                        </a:rPr>
                        <a:t>  ·  </a:t>
                      </a:r>
                      <a:r>
                        <a:rPr sz="1100" b="0">
                          <a:solidFill>
                            <a:srgbClr val="999999"/>
                          </a:solidFill>
                          <a:latin typeface="Courier New"/>
                        </a:rPr>
                        <a:t>552-561</a:t>
                      </a:r>
                      <a:r>
                        <a:rPr sz="1100" b="0">
                          <a:solidFill>
                            <a:srgbClr val="999999"/>
                          </a:solidFill>
                          <a:latin typeface="Courier New"/>
                        </a:rPr>
                        <a:t>  ·  </a:t>
                      </a:r>
                      <a:r>
                        <a:rPr sz="1100" b="0">
                          <a:solidFill>
                            <a:srgbClr val="999999"/>
                          </a:solidFill>
                          <a:latin typeface="Courier New"/>
                        </a:rPr>
                        <a:t>AP_Mission::get_next_nav_cmd()</a:t>
                      </a:r>
                    </a:p>
                    <a:p>
                      <a:pPr algn="l">
                        <a:lnSpc>
                          <a:spcPct val="106000"/>
                        </a:lnSpc>
                        <a:spcAft>
                          <a:spcPts val="0"/>
                        </a:spcAft>
                      </a:pPr>
                      <a:r>
                        <a:rPr sz="1100" b="0">
                          <a:solidFill>
                            <a:srgbClr val="333333"/>
                          </a:solidFill>
                          <a:latin typeface="Courier New"/>
                        </a:rPr>
                        <a:t>bool AP_Mission::get_next_nav_cmd(uint16_t start_index, Mission_Command&amp; cmd)</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 search until the end of the mission command list</a:t>
                      </a:r>
                    </a:p>
                    <a:p>
                      <a:pPr algn="l">
                        <a:lnSpc>
                          <a:spcPct val="106000"/>
                        </a:lnSpc>
                        <a:spcAft>
                          <a:spcPts val="0"/>
                        </a:spcAft>
                      </a:pPr>
                      <a:r>
                        <a:rPr sz="1100" b="0">
                          <a:solidFill>
                            <a:srgbClr val="333333"/>
                          </a:solidFill>
                          <a:latin typeface="Courier New"/>
                        </a:rPr>
                        <a:t>    for (uint16_t cmd_index = start_index; cmd_index &lt; (unsigned)_cmd_total; cmd_index++) {</a:t>
                      </a:r>
                    </a:p>
                    <a:p>
                      <a:pPr algn="l">
                        <a:lnSpc>
                          <a:spcPct val="106000"/>
                        </a:lnSpc>
                        <a:spcAft>
                          <a:spcPts val="0"/>
                        </a:spcAft>
                      </a:pPr>
                      <a:r>
                        <a:rPr sz="1100" b="0">
                          <a:solidFill>
                            <a:srgbClr val="333333"/>
                          </a:solidFill>
                          <a:latin typeface="Courier New"/>
                        </a:rPr>
                        <a:t>        // get next command</a:t>
                      </a:r>
                    </a:p>
                    <a:p>
                      <a:pPr algn="l">
                        <a:lnSpc>
                          <a:spcPct val="106000"/>
                        </a:lnSpc>
                        <a:spcAft>
                          <a:spcPts val="0"/>
                        </a:spcAft>
                      </a:pPr>
                      <a:r>
                        <a:rPr sz="1100" b="0">
                          <a:solidFill>
                            <a:srgbClr val="333333"/>
                          </a:solidFill>
                          <a:latin typeface="Courier New"/>
                        </a:rPr>
                        <a:t>        if (!get_next_cmd(cmd_index, cmd, false)) {</a:t>
                      </a:r>
                    </a:p>
                    <a:p>
                      <a:pPr algn="l">
                        <a:lnSpc>
                          <a:spcPct val="106000"/>
                        </a:lnSpc>
                        <a:spcAft>
                          <a:spcPts val="0"/>
                        </a:spcAft>
                      </a:pPr>
                      <a:r>
                        <a:rPr sz="1100" b="0">
                          <a:solidFill>
                            <a:srgbClr val="333333"/>
                          </a:solidFill>
                          <a:latin typeface="Courier New"/>
                        </a:rPr>
                        <a:t>            // no more commands so return failure</a:t>
                      </a:r>
                    </a:p>
                    <a:p>
                      <a:pPr algn="l">
                        <a:lnSpc>
                          <a:spcPct val="106000"/>
                        </a:lnSpc>
                        <a:spcAft>
                          <a:spcPts val="0"/>
                        </a:spcAft>
                      </a:pPr>
                      <a:r>
                        <a:rPr sz="1100" b="0">
                          <a:solidFill>
                            <a:srgbClr val="333333"/>
                          </a:solidFill>
                          <a:latin typeface="Courier New"/>
                        </a:rPr>
                        <a:t>            return false;</a:t>
                      </a:r>
                    </a:p>
                    <a:p>
                      <a:pPr algn="l">
                        <a:lnSpc>
                          <a:spcPct val="106000"/>
                        </a:lnSpc>
                        <a:spcAft>
                          <a:spcPts val="0"/>
                        </a:spcAft>
                      </a:pPr>
                      <a:r>
                        <a:rPr sz="1100" b="0">
                          <a:solidFill>
                            <a:srgbClr val="333333"/>
                          </a:solidFill>
                          <a:latin typeface="Courier New"/>
                        </a:rPr>
                        <a:t>        }</a:t>
                      </a:r>
                    </a:p>
                    <a:p>
                      <a:pPr algn="l">
                        <a:lnSpc>
                          <a:spcPct val="106000"/>
                        </a:lnSpc>
                        <a:spcAft>
                          <a:spcPts val="0"/>
                        </a:spcAft>
                      </a:pPr>
                      <a:r>
                        <a:rPr sz="1100" b="0">
                          <a:solidFill>
                            <a:srgbClr val="333333"/>
                          </a:solidFill>
                          <a:latin typeface="Courier New"/>
                        </a:rPr>
                        <a:t>        // if found a "navigation" command then return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23–24</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Courier New"/>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libraries/AP_L1_Control/AP_L1_Control.cpp</a:t>
                      </a:r>
                      <a:r>
                        <a:rPr sz="1100" b="0">
                          <a:solidFill>
                            <a:srgbClr val="999999"/>
                          </a:solidFill>
                          <a:latin typeface="Courier New"/>
                        </a:rPr>
                        <a:t>  ·  </a:t>
                      </a:r>
                      <a:r>
                        <a:rPr sz="1100" b="0">
                          <a:solidFill>
                            <a:srgbClr val="999999"/>
                          </a:solidFill>
                          <a:latin typeface="Courier New"/>
                        </a:rPr>
                        <a:t>226-234</a:t>
                      </a:r>
                      <a:r>
                        <a:rPr sz="1100" b="0">
                          <a:solidFill>
                            <a:srgbClr val="999999"/>
                          </a:solidFill>
                          <a:latin typeface="Courier New"/>
                        </a:rPr>
                        <a:t>  ·  </a:t>
                      </a:r>
                      <a:r>
                        <a:rPr sz="1100" b="0">
                          <a:solidFill>
                            <a:srgbClr val="999999"/>
                          </a:solidFill>
                          <a:latin typeface="Courier New"/>
                        </a:rPr>
                        <a:t>AP_L1_Control::update_waypoint()</a:t>
                      </a:r>
                    </a:p>
                    <a:p>
                      <a:pPr algn="l">
                        <a:lnSpc>
                          <a:spcPct val="106000"/>
                        </a:lnSpc>
                        <a:spcAft>
                          <a:spcPts val="0"/>
                        </a:spcAft>
                      </a:pPr>
                      <a:r>
                        <a:rPr sz="1100" b="0">
                          <a:solidFill>
                            <a:srgbClr val="333333"/>
                          </a:solidFill>
                          <a:latin typeface="Courier New"/>
                        </a:rPr>
                        <a:t>    // Calculate L1 gain required for specified damping</a:t>
                      </a:r>
                    </a:p>
                    <a:p>
                      <a:pPr algn="l">
                        <a:lnSpc>
                          <a:spcPct val="106000"/>
                        </a:lnSpc>
                        <a:spcAft>
                          <a:spcPts val="0"/>
                        </a:spcAft>
                      </a:pPr>
                      <a:r>
                        <a:rPr sz="1100" b="0">
                          <a:solidFill>
                            <a:srgbClr val="333333"/>
                          </a:solidFill>
                          <a:latin typeface="Courier New"/>
                        </a:rPr>
                        <a:t>    float K_L1 = 4.0f * _L1_damping * _L1_damping;</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 Get current position and velocity</a:t>
                      </a:r>
                    </a:p>
                    <a:p>
                      <a:pPr algn="l">
                        <a:lnSpc>
                          <a:spcPct val="106000"/>
                        </a:lnSpc>
                        <a:spcAft>
                          <a:spcPts val="0"/>
                        </a:spcAft>
                      </a:pPr>
                      <a:r>
                        <a:rPr sz="1100" b="0">
                          <a:solidFill>
                            <a:srgbClr val="333333"/>
                          </a:solidFill>
                          <a:latin typeface="Courier New"/>
                        </a:rPr>
                        <a:t>    if (_ahrs.get_location(_current_loc) == false) {</a:t>
                      </a:r>
                    </a:p>
                    <a:p>
                      <a:pPr algn="l">
                        <a:lnSpc>
                          <a:spcPct val="106000"/>
                        </a:lnSpc>
                        <a:spcAft>
                          <a:spcPts val="0"/>
                        </a:spcAft>
                      </a:pPr>
                      <a:r>
                        <a:rPr sz="1100" b="0">
                          <a:solidFill>
                            <a:srgbClr val="333333"/>
                          </a:solidFill>
                          <a:latin typeface="Courier New"/>
                        </a:rPr>
                        <a:t>        // if no GPS loc available, maintain last nav/target_bearing</a:t>
                      </a:r>
                    </a:p>
                    <a:p>
                      <a:pPr algn="l">
                        <a:lnSpc>
                          <a:spcPct val="106000"/>
                        </a:lnSpc>
                        <a:spcAft>
                          <a:spcPts val="0"/>
                        </a:spcAft>
                      </a:pPr>
                      <a:r>
                        <a:rPr sz="1100" b="0">
                          <a:solidFill>
                            <a:srgbClr val="333333"/>
                          </a:solidFill>
                          <a:latin typeface="Courier New"/>
                        </a:rPr>
                        <a:t>        _data_is_stale = true;</a:t>
                      </a:r>
                    </a:p>
                    <a:p>
                      <a:pPr algn="l">
                        <a:lnSpc>
                          <a:spcPct val="106000"/>
                        </a:lnSpc>
                        <a:spcAft>
                          <a:spcPts val="0"/>
                        </a:spcAft>
                      </a:pPr>
                      <a:r>
                        <a:rPr sz="1100" b="0">
                          <a:solidFill>
                            <a:srgbClr val="333333"/>
                          </a:solidFill>
                          <a:latin typeface="Courier New"/>
                        </a:rPr>
                        <a:t>        return;</a:t>
                      </a:r>
                    </a:p>
                    <a:p>
                      <a:pPr algn="l">
                        <a:lnSpc>
                          <a:spcPct val="106000"/>
                        </a:lnSpc>
                        <a:spcAft>
                          <a:spcPts val="0"/>
                        </a:spcAft>
                      </a:pPr>
                      <a:r>
                        <a:rPr sz="1100" b="0">
                          <a:solidFill>
                            <a:srgbClr val="333333"/>
                          </a:solidFill>
                          <a:latin typeface="Courier New"/>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375673">
                <a:tc>
                  <a:txBody>
                    <a:bodyPr wrap="square">
                      <a:noAutofit/>
                    </a:bodyPr>
                    <a:lstStyle/>
                    <a:p>
                      <a:pPr algn="r">
                        <a:lnSpc>
                          <a:spcPct val="106000"/>
                        </a:lnSpc>
                        <a:spcAft>
                          <a:spcPts val="0"/>
                        </a:spcAft>
                      </a:pPr>
                      <a:r>
                        <a:rPr sz="1100" b="1">
                          <a:solidFill>
                            <a:srgbClr val="333333"/>
                          </a:solidFill>
                          <a:latin typeface="Courier New"/>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libraries/AP_L1_Control/AP_L1_Control.cpp</a:t>
                      </a:r>
                      <a:r>
                        <a:rPr sz="1100" b="0">
                          <a:solidFill>
                            <a:srgbClr val="999999"/>
                          </a:solidFill>
                          <a:latin typeface="Courier New"/>
                        </a:rPr>
                        <a:t>  ·  </a:t>
                      </a:r>
                      <a:r>
                        <a:rPr sz="1100" b="0">
                          <a:solidFill>
                            <a:srgbClr val="999999"/>
                          </a:solidFill>
                          <a:latin typeface="Courier New"/>
                        </a:rPr>
                        <a:t>79-88</a:t>
                      </a:r>
                      <a:r>
                        <a:rPr sz="1100" b="0">
                          <a:solidFill>
                            <a:srgbClr val="999999"/>
                          </a:solidFill>
                          <a:latin typeface="Courier New"/>
                        </a:rPr>
                        <a:t>  ·  </a:t>
                      </a:r>
                      <a:r>
                        <a:rPr sz="1100" b="0">
                          <a:solidFill>
                            <a:srgbClr val="999999"/>
                          </a:solidFill>
                          <a:latin typeface="Courier New"/>
                        </a:rPr>
                        <a:t>AP_L1_Control::nav_roll_cd()</a:t>
                      </a:r>
                    </a:p>
                    <a:p>
                      <a:pPr algn="l">
                        <a:lnSpc>
                          <a:spcPct val="106000"/>
                        </a:lnSpc>
                        <a:spcAft>
                          <a:spcPts val="0"/>
                        </a:spcAft>
                      </a:pPr>
                      <a:r>
                        <a:rPr sz="1100" b="0">
                          <a:solidFill>
                            <a:srgbClr val="333333"/>
                          </a:solidFill>
                          <a:latin typeface="Courier New"/>
                        </a:rPr>
                        <a:t>int32_t AP_L1_Control::nav_roll_cd(void) const</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float ret;</a:t>
                      </a:r>
                    </a:p>
                    <a:p>
                      <a:pPr algn="l">
                        <a:lnSpc>
                          <a:spcPct val="106000"/>
                        </a:lnSpc>
                        <a:spcAft>
                          <a:spcPts val="0"/>
                        </a:spcAft>
                      </a:pPr>
                      <a:r>
                        <a:rPr sz="1100" b="0">
                          <a:solidFill>
                            <a:srgbClr val="333333"/>
                          </a:solidFill>
                          <a:latin typeface="Courier New"/>
                        </a:rPr>
                        <a:t>	/*</a:t>
                      </a:r>
                    </a:p>
                    <a:p>
                      <a:pPr algn="l">
                        <a:lnSpc>
                          <a:spcPct val="106000"/>
                        </a:lnSpc>
                        <a:spcAft>
                          <a:spcPts val="0"/>
                        </a:spcAft>
                      </a:pPr>
                      <a:r>
                        <a:rPr sz="1100" b="0">
                          <a:solidFill>
                            <a:srgbClr val="333333"/>
                          </a:solidFill>
                          <a:latin typeface="Courier New"/>
                        </a:rPr>
                        <a:t>		formula can be obtained through equations of balanced spiral:</a:t>
                      </a:r>
                    </a:p>
                    <a:p>
                      <a:pPr algn="l">
                        <a:lnSpc>
                          <a:spcPct val="106000"/>
                        </a:lnSpc>
                        <a:spcAft>
                          <a:spcPts val="0"/>
                        </a:spcAft>
                      </a:pPr>
                      <a:r>
                        <a:rPr sz="1100" b="0">
                          <a:solidFill>
                            <a:srgbClr val="333333"/>
                          </a:solidFill>
                          <a:latin typeface="Courier New"/>
                        </a:rPr>
                        <a:t>		liftForce * cos(roll) = gravityForce * cos(pitch);</a:t>
                      </a:r>
                    </a:p>
                    <a:p>
                      <a:pPr algn="l">
                        <a:lnSpc>
                          <a:spcPct val="106000"/>
                        </a:lnSpc>
                        <a:spcAft>
                          <a:spcPts val="0"/>
                        </a:spcAft>
                      </a:pPr>
                      <a:r>
                        <a:rPr sz="1100" b="0">
                          <a:solidFill>
                            <a:srgbClr val="333333"/>
                          </a:solidFill>
                          <a:latin typeface="Courier New"/>
                        </a:rPr>
                        <a:t>		liftForce * sin(roll) = gravityForce * lateralAcceleration / gravityAcceleration; // as mass = gravityForce/gravityAcceleration</a:t>
                      </a:r>
                    </a:p>
                    <a:p>
                      <a:pPr algn="l">
                        <a:lnSpc>
                          <a:spcPct val="106000"/>
                        </a:lnSpc>
                        <a:spcAft>
                          <a:spcPts val="0"/>
                        </a:spcAft>
                      </a:pPr>
                      <a:r>
                        <a:rPr sz="1100" b="0">
                          <a:solidFill>
                            <a:srgbClr val="333333"/>
                          </a:solidFill>
                          <a:latin typeface="Courier New"/>
                        </a:rPr>
                        <a:t>		see issue 24319 [https://github.com/ArduPilot/ardupilot/issues/24319]</a:t>
                      </a:r>
                    </a:p>
                    <a:p>
                      <a:pPr algn="l">
                        <a:lnSpc>
                          <a:spcPct val="106000"/>
                        </a:lnSpc>
                        <a:spcAft>
                          <a:spcPts val="0"/>
                        </a:spcAft>
                      </a:pPr>
                      <a:r>
                        <a:rPr sz="1100" b="0">
                          <a:solidFill>
                            <a:srgbClr val="333333"/>
                          </a:solidFill>
                          <a:latin typeface="Courier New"/>
                        </a:rPr>
                        <a:t>		Multiplier 100.0f is for converting degrees to centidegrees</a:t>
                      </a:r>
                    </a:p>
                    <a:p>
                      <a:pPr algn="l">
                        <a:lnSpc>
                          <a:spcPct val="106000"/>
                        </a:lnSpc>
                        <a:spcAft>
                          <a:spcPts val="0"/>
                        </a:spcAft>
                      </a:pPr>
                      <a:r>
                        <a:rPr sz="1100" b="0">
                          <a:solidFill>
                            <a:srgbClr val="333333"/>
                          </a:solidFill>
                          <a:latin typeface="Courier New"/>
                        </a:rPr>
                        <a:t>		Made changes to avoid zero division as proposed by Andrew Tridgell: https://github.com/ArduPilot/ardupilot/pull/24331#discussion_r1267798397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25–26</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Courier New"/>
                        </a:rPr>
                        <a:t>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libraries/AP_TECS/AP_TECS.cpp</a:t>
                      </a:r>
                      <a:r>
                        <a:rPr sz="1100" b="0">
                          <a:solidFill>
                            <a:srgbClr val="999999"/>
                          </a:solidFill>
                          <a:latin typeface="Courier New"/>
                        </a:rPr>
                        <a:t>  ·  </a:t>
                      </a:r>
                      <a:r>
                        <a:rPr sz="1100" b="0">
                          <a:solidFill>
                            <a:srgbClr val="999999"/>
                          </a:solidFill>
                          <a:latin typeface="Courier New"/>
                        </a:rPr>
                        <a:t>1259-1268</a:t>
                      </a:r>
                      <a:r>
                        <a:rPr sz="1100" b="0">
                          <a:solidFill>
                            <a:srgbClr val="999999"/>
                          </a:solidFill>
                          <a:latin typeface="Courier New"/>
                        </a:rPr>
                        <a:t>  ·  </a:t>
                      </a:r>
                      <a:r>
                        <a:rPr sz="1100" b="0">
                          <a:solidFill>
                            <a:srgbClr val="999999"/>
                          </a:solidFill>
                          <a:latin typeface="Courier New"/>
                        </a:rPr>
                        <a:t>AP_TECS::update_pitch_throttle()</a:t>
                      </a:r>
                    </a:p>
                    <a:p>
                      <a:pPr algn="l">
                        <a:lnSpc>
                          <a:spcPct val="106000"/>
                        </a:lnSpc>
                        <a:spcAft>
                          <a:spcPts val="0"/>
                        </a:spcAft>
                      </a:pPr>
                      <a:r>
                        <a:rPr sz="1100" b="0">
                          <a:solidFill>
                            <a:srgbClr val="333333"/>
                          </a:solidFill>
                          <a:latin typeface="Courier New"/>
                        </a:rPr>
                        <a:t>void AP_TECS::update_pitch_throttle(int32_t hgt_dem_cm,</a:t>
                      </a:r>
                    </a:p>
                    <a:p>
                      <a:pPr algn="l">
                        <a:lnSpc>
                          <a:spcPct val="106000"/>
                        </a:lnSpc>
                        <a:spcAft>
                          <a:spcPts val="0"/>
                        </a:spcAft>
                      </a:pPr>
                      <a:r>
                        <a:rPr sz="1100" b="0">
                          <a:solidFill>
                            <a:srgbClr val="333333"/>
                          </a:solidFill>
                          <a:latin typeface="Courier New"/>
                        </a:rPr>
                        <a:t>                                    int32_t EAS_dem_cm,</a:t>
                      </a:r>
                    </a:p>
                    <a:p>
                      <a:pPr algn="l">
                        <a:lnSpc>
                          <a:spcPct val="106000"/>
                        </a:lnSpc>
                        <a:spcAft>
                          <a:spcPts val="0"/>
                        </a:spcAft>
                      </a:pPr>
                      <a:r>
                        <a:rPr sz="1100" b="0">
                          <a:solidFill>
                            <a:srgbClr val="333333"/>
                          </a:solidFill>
                          <a:latin typeface="Courier New"/>
                        </a:rPr>
                        <a:t>                                    enum AP_FixedWing::FlightStage flight_stage,</a:t>
                      </a:r>
                    </a:p>
                    <a:p>
                      <a:pPr algn="l">
                        <a:lnSpc>
                          <a:spcPct val="106000"/>
                        </a:lnSpc>
                        <a:spcAft>
                          <a:spcPts val="0"/>
                        </a:spcAft>
                      </a:pPr>
                      <a:r>
                        <a:rPr sz="1100" b="0">
                          <a:solidFill>
                            <a:srgbClr val="333333"/>
                          </a:solidFill>
                          <a:latin typeface="Courier New"/>
                        </a:rPr>
                        <a:t>                                    float distance_beyond_land_wp,</a:t>
                      </a:r>
                    </a:p>
                    <a:p>
                      <a:pPr algn="l">
                        <a:lnSpc>
                          <a:spcPct val="106000"/>
                        </a:lnSpc>
                        <a:spcAft>
                          <a:spcPts val="0"/>
                        </a:spcAft>
                      </a:pPr>
                      <a:r>
                        <a:rPr sz="1100" b="0">
                          <a:solidFill>
                            <a:srgbClr val="333333"/>
                          </a:solidFill>
                          <a:latin typeface="Courier New"/>
                        </a:rPr>
                        <a:t>                                    int32_t ptchMinCO_cd,</a:t>
                      </a:r>
                    </a:p>
                    <a:p>
                      <a:pPr algn="l">
                        <a:lnSpc>
                          <a:spcPct val="106000"/>
                        </a:lnSpc>
                        <a:spcAft>
                          <a:spcPts val="0"/>
                        </a:spcAft>
                      </a:pPr>
                      <a:r>
                        <a:rPr sz="1100" b="0">
                          <a:solidFill>
                            <a:srgbClr val="333333"/>
                          </a:solidFill>
                          <a:latin typeface="Courier New"/>
                        </a:rPr>
                        <a:t>                                    int16_t throttle_nudge,</a:t>
                      </a:r>
                    </a:p>
                    <a:p>
                      <a:pPr algn="l">
                        <a:lnSpc>
                          <a:spcPct val="106000"/>
                        </a:lnSpc>
                        <a:spcAft>
                          <a:spcPts val="0"/>
                        </a:spcAft>
                      </a:pPr>
                      <a:r>
                        <a:rPr sz="1100" b="0">
                          <a:solidFill>
                            <a:srgbClr val="333333"/>
                          </a:solidFill>
                          <a:latin typeface="Courier New"/>
                        </a:rPr>
                        <a:t>                                    float hgt_afe,</a:t>
                      </a:r>
                    </a:p>
                    <a:p>
                      <a:pPr algn="l">
                        <a:lnSpc>
                          <a:spcPct val="106000"/>
                        </a:lnSpc>
                        <a:spcAft>
                          <a:spcPts val="0"/>
                        </a:spcAft>
                      </a:pPr>
                      <a:r>
                        <a:rPr sz="1100" b="0">
                          <a:solidFill>
                            <a:srgbClr val="333333"/>
                          </a:solidFill>
                          <a:latin typeface="Courier New"/>
                        </a:rPr>
                        <a:t>                                    float load_factor,</a:t>
                      </a:r>
                    </a:p>
                    <a:p>
                      <a:pPr algn="l">
                        <a:lnSpc>
                          <a:spcPct val="106000"/>
                        </a:lnSpc>
                        <a:spcAft>
                          <a:spcPts val="0"/>
                        </a:spcAft>
                      </a:pPr>
                      <a:r>
                        <a:rPr sz="1100" b="0">
                          <a:solidFill>
                            <a:srgbClr val="333333"/>
                          </a:solidFill>
                          <a:latin typeface="Courier New"/>
                        </a:rPr>
                        <a:t>                                    float pitch_trim_deg)</a:t>
                      </a:r>
                    </a:p>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197975">
                <a:tc>
                  <a:txBody>
                    <a:bodyPr wrap="square">
                      <a:noAutofit/>
                    </a:bodyPr>
                    <a:lstStyle/>
                    <a:p>
                      <a:pPr algn="r">
                        <a:lnSpc>
                          <a:spcPct val="106000"/>
                        </a:lnSpc>
                        <a:spcAft>
                          <a:spcPts val="0"/>
                        </a:spcAft>
                      </a:pPr>
                      <a:r>
                        <a:rPr sz="1100" b="1">
                          <a:solidFill>
                            <a:srgbClr val="333333"/>
                          </a:solidFill>
                          <a:latin typeface="Courier New"/>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libraries/AC_AttitudeControl/AC_AttitudeControl.cpp</a:t>
                      </a:r>
                      <a:r>
                        <a:rPr sz="1100" b="0">
                          <a:solidFill>
                            <a:srgbClr val="999999"/>
                          </a:solidFill>
                          <a:latin typeface="Courier New"/>
                        </a:rPr>
                        <a:t>  ·  </a:t>
                      </a:r>
                      <a:r>
                        <a:rPr sz="1100" b="0">
                          <a:solidFill>
                            <a:srgbClr val="999999"/>
                          </a:solidFill>
                          <a:latin typeface="Courier New"/>
                        </a:rPr>
                        <a:t>411-419</a:t>
                      </a:r>
                      <a:r>
                        <a:rPr sz="1100" b="0">
                          <a:solidFill>
                            <a:srgbClr val="999999"/>
                          </a:solidFill>
                          <a:latin typeface="Courier New"/>
                        </a:rPr>
                        <a:t>  ·  </a:t>
                      </a:r>
                      <a:r>
                        <a:rPr sz="1100" b="0">
                          <a:solidFill>
                            <a:srgbClr val="999999"/>
                          </a:solidFill>
                          <a:latin typeface="Courier New"/>
                        </a:rPr>
                        <a:t>AC_AttitudeControl::input_euler_angle_roll_pitch_yaw_cd()</a:t>
                      </a:r>
                    </a:p>
                    <a:p>
                      <a:pPr algn="l">
                        <a:lnSpc>
                          <a:spcPct val="106000"/>
                        </a:lnSpc>
                        <a:spcAft>
                          <a:spcPts val="0"/>
                        </a:spcAft>
                      </a:pPr>
                      <a:r>
                        <a:rPr sz="1100" b="0">
                          <a:solidFill>
                            <a:srgbClr val="333333"/>
                          </a:solidFill>
                          <a:latin typeface="Courier New"/>
                        </a:rPr>
                        <a:t>void AC_AttitudeControl::input_euler_angle_roll_pitch_yaw_cd(float euler_roll_angle_cd, float euler_pitch_angle_cd, float euler_yaw_angle_cd, bool slew_yaw)</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 Convert from centidegrees on public interface to radians</a:t>
                      </a:r>
                    </a:p>
                    <a:p>
                      <a:pPr algn="l">
                        <a:lnSpc>
                          <a:spcPct val="106000"/>
                        </a:lnSpc>
                        <a:spcAft>
                          <a:spcPts val="0"/>
                        </a:spcAft>
                      </a:pPr>
                      <a:r>
                        <a:rPr sz="1100" b="0">
                          <a:solidFill>
                            <a:srgbClr val="333333"/>
                          </a:solidFill>
                          <a:latin typeface="Courier New"/>
                        </a:rPr>
                        <a:t>    const float euler_roll_angle_rad = cd_to_rad(euler_roll_angle_cd);</a:t>
                      </a:r>
                    </a:p>
                    <a:p>
                      <a:pPr algn="l">
                        <a:lnSpc>
                          <a:spcPct val="106000"/>
                        </a:lnSpc>
                        <a:spcAft>
                          <a:spcPts val="0"/>
                        </a:spcAft>
                      </a:pPr>
                      <a:r>
                        <a:rPr sz="1100" b="0">
                          <a:solidFill>
                            <a:srgbClr val="333333"/>
                          </a:solidFill>
                          <a:latin typeface="Courier New"/>
                        </a:rPr>
                        <a:t>    const float euler_pitch_angle_rad = cd_to_rad(euler_pitch_angle_cd);</a:t>
                      </a:r>
                    </a:p>
                    <a:p>
                      <a:pPr algn="l">
                        <a:lnSpc>
                          <a:spcPct val="106000"/>
                        </a:lnSpc>
                        <a:spcAft>
                          <a:spcPts val="0"/>
                        </a:spcAft>
                      </a:pPr>
                      <a:r>
                        <a:rPr sz="1100" b="0">
                          <a:solidFill>
                            <a:srgbClr val="333333"/>
                          </a:solidFill>
                          <a:latin typeface="Courier New"/>
                        </a:rPr>
                        <a:t>    const float euler_yaw_angle_rad = cd_to_rad(euler_yaw_angle_cd);</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input_euler_angle_roll_pitch_yaw_rad(euler_roll_angle_rad, euler_pitch_angle_rad, euler_yaw_angle_rad, slew_yaw);</a:t>
                      </a:r>
                    </a:p>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27–28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dependency map</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2a: Layer 1 — direct callers / callees with typed dependency</a:t>
            </a:r>
          </a:p>
        </p:txBody>
      </p:sp>
      <p:graphicFrame>
        <p:nvGraphicFramePr>
          <p:cNvPr id="7" name="Table 6"/>
          <p:cNvGraphicFramePr>
            <a:graphicFrameLocks noGrp="1"/>
          </p:cNvGraphicFramePr>
          <p:nvPr/>
        </p:nvGraphicFramePr>
        <p:xfrm>
          <a:off x="566928" y="1906943"/>
          <a:ext cx="11058144" cy="4000500"/>
        </p:xfrm>
        <a:graphic>
          <a:graphicData uri="http://schemas.openxmlformats.org/drawingml/2006/table">
            <a:tbl>
              <a:tblPr>
                <a:tableStyleId>{5C22544A-7EE6-4342-B048-85BDC9FD1C3A}</a:tableStyleId>
              </a:tblPr>
              <a:tblGrid>
                <a:gridCol w="347345"/>
                <a:gridCol w="3061335"/>
                <a:gridCol w="3095625"/>
                <a:gridCol w="3259455"/>
                <a:gridCol w="1294130"/>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r">
                        <a:lnSpc>
                          <a:spcPct val="106000"/>
                        </a:lnSpc>
                        <a:spcAft>
                          <a:spcPts val="0"/>
                        </a:spcAft>
                      </a:pPr>
                      <a:r>
                        <a:rPr sz="1100" b="1">
                          <a:solidFill>
                            <a:srgbClr val="333333"/>
                          </a:solidFill>
                          <a:latin typeface="Courier New"/>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returns state.location (fused by active EKF)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ArduCopter inertia.cpp; commands.cpp; GCS_MAVLink_Copter.cpp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030">
                <a:tc>
                  <a:txBody>
                    <a:bodyPr wrap="square">
                      <a:noAutofit/>
                    </a:bodyPr>
                    <a:lstStyle/>
                    <a:p>
                      <a:pPr algn="r">
                        <a:lnSpc>
                          <a:spcPct val="106000"/>
                        </a:lnSpc>
                        <a:spcAft>
                          <a:spcPts val="0"/>
                        </a:spcAft>
                      </a:pPr>
                      <a:r>
                        <a:rPr sz="1100" b="1">
                          <a:solidFill>
                            <a:srgbClr val="333333"/>
                          </a:solidFill>
                          <a:latin typeface="Courier New"/>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AP_AHRS::groundspeed()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returns state.ground_speed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Rover speed control; GCS reporting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Courier New"/>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AP_AHRS::have_inertial_nav()/get_origin()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active_EKF_type(); EKF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Copter::ekf_has_absolute_position (system.cpp); 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AP_AHRS::get_relative_position_NED_origin()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dcm/EKF2/EKF3 get_relative_position_NED_origin()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AR_PosControl::update; AP_InertialNav::update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030">
                <a:tc>
                  <a:txBody>
                    <a:bodyPr wrap="square">
                      <a:noAutofit/>
                    </a:bodyPr>
                    <a:lstStyle/>
                    <a:p>
                      <a:pPr algn="r">
                        <a:lnSpc>
                          <a:spcPct val="106000"/>
                        </a:lnSpc>
                        <a:spcAft>
                          <a:spcPts val="0"/>
                        </a:spcAft>
                      </a:pPr>
                      <a:r>
                        <a:rPr sz="1100" b="1">
                          <a:solidFill>
                            <a:srgbClr val="333333"/>
                          </a:solidFill>
                          <a:latin typeface="Courier New"/>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AP_AHRS::get_velocity_NED()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returns state.velocity_NED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Copter::crash_check; AR_PosControl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r">
                        <a:lnSpc>
                          <a:spcPct val="106000"/>
                        </a:lnSpc>
                        <a:spcAft>
                          <a:spcPts val="0"/>
                        </a:spcAft>
                      </a:pPr>
                      <a:r>
                        <a:rPr sz="1100" b="1">
                          <a:solidFill>
                            <a:srgbClr val="333333"/>
                          </a:solidFill>
                          <a:latin typeface="Courier New"/>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fill_scratch_variables(); Select*Fusion(); CovariancePrediction()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NavEKF3::UpdateFilter() (frontend, per core)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030">
                <a:tc>
                  <a:txBody>
                    <a:bodyPr wrap="square">
                      <a:noAutofit/>
                    </a:bodyPr>
                    <a:lstStyle/>
                    <a:p>
                      <a:pPr algn="r">
                        <a:lnSpc>
                          <a:spcPct val="106000"/>
                        </a:lnSpc>
                        <a:spcAft>
                          <a:spcPts val="0"/>
                        </a:spcAft>
                      </a:pPr>
                      <a:r>
                        <a:rPr sz="1100" b="1">
                          <a:solidFill>
                            <a:srgbClr val="333333"/>
                          </a:solidFill>
                          <a:latin typeface="Courier New"/>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NavEKF3_core::SelectVelPosFusion()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readGpsData();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NavEKF3_core::FuseVelPosNED()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Kalman gain on NED pos/vel innovations; correct stateStruct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NavEKF3_core::SelectVelPosFusion()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r">
                        <a:lnSpc>
                          <a:spcPct val="106000"/>
                        </a:lnSpc>
                        <a:spcAft>
                          <a:spcPts val="0"/>
                        </a:spcAft>
                      </a:pPr>
                      <a:r>
                        <a:rPr sz="1100" b="1">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NavEKF3_core::readGpsData()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gps.location(); gps.velocity(); gps.status() (via AP_DAL); storedGPS.push()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NavEKF3_core::SelectVelPosFusion()/UpdateFilter()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dependency map (continued)</a:t>
            </a:r>
          </a:p>
        </p:txBody>
      </p:sp>
      <p:graphicFrame>
        <p:nvGraphicFramePr>
          <p:cNvPr id="6" name="Table 5"/>
          <p:cNvGraphicFramePr>
            <a:graphicFrameLocks noGrp="1"/>
          </p:cNvGraphicFramePr>
          <p:nvPr/>
        </p:nvGraphicFramePr>
        <p:xfrm>
          <a:off x="566928" y="1591056"/>
          <a:ext cx="11058144" cy="4062730"/>
        </p:xfrm>
        <a:graphic>
          <a:graphicData uri="http://schemas.openxmlformats.org/drawingml/2006/table">
            <a:tbl>
              <a:tblPr>
                <a:tableStyleId>{5C22544A-7EE6-4342-B048-85BDC9FD1C3A}</a:tableStyleId>
              </a:tblPr>
              <a:tblGrid>
                <a:gridCol w="347345"/>
                <a:gridCol w="3061335"/>
                <a:gridCol w="3095625"/>
                <a:gridCol w="3259455"/>
                <a:gridCol w="1294130"/>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r">
                        <a:lnSpc>
                          <a:spcPct val="106000"/>
                        </a:lnSpc>
                        <a:spcAft>
                          <a:spcPts val="0"/>
                        </a:spcAft>
                      </a:pPr>
                      <a:r>
                        <a:rPr sz="1100" b="1">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NavEKF3_core::setAidingMode()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checks gpsGoodToAlign, posTimeout; sets PV_AidingMode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NavEKF3_core::controlFilterModes()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030">
                <a:tc>
                  <a:txBody>
                    <a:bodyPr wrap="square">
                      <a:noAutofit/>
                    </a:bodyPr>
                    <a:lstStyle/>
                    <a:p>
                      <a:pPr algn="r">
                        <a:lnSpc>
                          <a:spcPct val="106000"/>
                        </a:lnSpc>
                        <a:spcAft>
                          <a:spcPts val="0"/>
                        </a:spcAft>
                      </a:pPr>
                      <a:r>
                        <a:rPr sz="1100" b="1">
                          <a:solidFill>
                            <a:srgbClr val="333333"/>
                          </a:solidFill>
                          <a:latin typeface="Courier New"/>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NavEKF3_core::SelectMagFusion()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FuseMagnetometer(); FuseEulerYaw()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030">
                <a:tc>
                  <a:txBody>
                    <a:bodyPr wrap="square">
                      <a:noAutofit/>
                    </a:bodyPr>
                    <a:lstStyle/>
                    <a:p>
                      <a:pPr algn="r">
                        <a:lnSpc>
                          <a:spcPct val="106000"/>
                        </a:lnSpc>
                        <a:spcAft>
                          <a:spcPts val="0"/>
                        </a:spcAft>
                      </a:pPr>
                      <a:r>
                        <a:rPr sz="1100" b="1">
                          <a:solidFill>
                            <a:srgbClr val="333333"/>
                          </a:solidFill>
                          <a:latin typeface="Courier New"/>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NavEKF3_core::SelectTasFusion()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FuseAirspeed()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Courier New"/>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NavEKF3_core::SelectFlowFusion()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EstimateTerrainOffset(); FuseOptFlow()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NavEKF3_core::getLLH()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outputDataNew / EKF_origin; builds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NavEKF3::getLLH() (frontend) -&gt;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Courier New"/>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NavEKF3_core::calcGpsGoodToAlign()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reads gps metrics; sets gpsGoodToAlign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NavEKF3_core::readGpsData()/setAidingMode()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NavEKF3_core::resetGyroBias()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zeroes stateStruct.gyro_bias; resets 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NavEKF3_core::InitialiseFilterBootstrap()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Courier New"/>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NavEKF3_core::FuseRngBcn()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range innovations; correct NED position states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NavEKF3_core::SelectRngBcnFusion()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NavEKF3_core::Log_Write_XKF1()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getEulerAngles(); getVelNED(); getLLH(); AP::logger().Write*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NavEKF3_core::Log_Write()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030">
                <a:tc>
                  <a:txBody>
                    <a:bodyPr wrap="square">
                      <a:noAutofit/>
                    </a:bodyPr>
                    <a:lstStyle/>
                    <a:p>
                      <a:pPr algn="r">
                        <a:lnSpc>
                          <a:spcPct val="106000"/>
                        </a:lnSpc>
                        <a:spcAft>
                          <a:spcPts val="0"/>
                        </a:spcAft>
                      </a:pPr>
                      <a:r>
                        <a:rPr sz="1100" b="1">
                          <a:solidFill>
                            <a:srgbClr val="333333"/>
                          </a:solidFill>
                          <a:latin typeface="Courier New"/>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NavEKF3::getFilterStatus()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core[].getFilterStatus()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Copter::position_ok(); 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10–19</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dependency map (continued)</a:t>
            </a:r>
          </a:p>
        </p:txBody>
      </p:sp>
      <p:graphicFrame>
        <p:nvGraphicFramePr>
          <p:cNvPr id="6" name="Table 5"/>
          <p:cNvGraphicFramePr>
            <a:graphicFrameLocks noGrp="1"/>
          </p:cNvGraphicFramePr>
          <p:nvPr/>
        </p:nvGraphicFramePr>
        <p:xfrm>
          <a:off x="566928" y="1591056"/>
          <a:ext cx="11058144" cy="4178300"/>
        </p:xfrm>
        <a:graphic>
          <a:graphicData uri="http://schemas.openxmlformats.org/drawingml/2006/table">
            <a:tbl>
              <a:tblPr>
                <a:tableStyleId>{5C22544A-7EE6-4342-B048-85BDC9FD1C3A}</a:tableStyleId>
              </a:tblPr>
              <a:tblGrid>
                <a:gridCol w="347345"/>
                <a:gridCol w="3061335"/>
                <a:gridCol w="3095625"/>
                <a:gridCol w="3259455"/>
                <a:gridCol w="1294130"/>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r">
                        <a:lnSpc>
                          <a:spcPct val="106000"/>
                        </a:lnSpc>
                        <a:spcAft>
                          <a:spcPts val="0"/>
                        </a:spcAft>
                      </a:pPr>
                      <a:r>
                        <a:rPr sz="1100" b="1">
                          <a:solidFill>
                            <a:srgbClr val="333333"/>
                          </a:solidFill>
                          <a:latin typeface="Courier New"/>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Select*Fusion(); CovariancePrediction()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NavEKF2::UpdateFilter() (frontend)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Courier New"/>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Kalman gain on NED pos/vel innovations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NavEKF2_core::SelectVelPosFusion()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EKFGSF_yaw::update()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predict()/correct() per model; AHRS complementary 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NavEKF3_core::runYawEstimatorPrediction()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Courier New"/>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AC_WPNav::set_wp_destination_loc()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get_vector_NEU_cm(); set_wp_destination_NEU_cm()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ArduCopter mode_auto / mode_guided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AP_Mission::get_next_nav_cmd()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get_next_cmd(); read_cmd_from_storage()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ArduCopter/Plane mission sequencing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030">
                <a:tc>
                  <a:txBody>
                    <a:bodyPr wrap="square">
                      <a:noAutofit/>
                    </a:bodyPr>
                    <a:lstStyle/>
                    <a:p>
                      <a:pPr algn="r">
                        <a:lnSpc>
                          <a:spcPct val="106000"/>
                        </a:lnSpc>
                        <a:spcAft>
                          <a:spcPts val="0"/>
                        </a:spcAft>
                      </a:pPr>
                      <a:r>
                        <a:rPr sz="1100" b="1">
                          <a:solidFill>
                            <a:srgbClr val="333333"/>
                          </a:solidFill>
                          <a:latin typeface="Courier New"/>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AP_L1_Control::update_waypoint()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_ahrs.get_location(_current_loc)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ArduPlane navigation.cpp update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AP_L1_Control::nav_roll_cd()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_ahrs.get_pitch_rad(); _latAccDem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Plane::calc_nav_roll() (Attitude.cpp L608)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Courier New"/>
                        </a:rPr>
                        <a:t>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AP_TECS::update_pitch_throttle()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_update_pitch(); _update_throttle_with_airspeed()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ArduPlane stabilize/auto pitch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r">
                        <a:lnSpc>
                          <a:spcPct val="106000"/>
                        </a:lnSpc>
                        <a:spcAft>
                          <a:spcPts val="0"/>
                        </a:spcAft>
                      </a:pPr>
                      <a:r>
                        <a:rPr sz="1100" b="1">
                          <a:solidFill>
                            <a:srgbClr val="333333"/>
                          </a:solidFill>
                          <a:latin typeface="Courier New"/>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AC_AttitudeControl::input_euler_angle_roll_pitch_yaw_cd()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input_euler_angle_roll_pitch_yaw_rad()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ArduCopter/ArduPlane flight-mode run()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20–28</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a:t>
            </a: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exactly as the audit records it, one paragraph per line and nothing abbreviated. The audit keeps Layer 1 lines flush left; the row’s main-table snippet keeps the source’s own indentation.</a:t>
            </a:r>
          </a:p>
        </p:txBody>
      </p:sp>
      <p:graphicFrame>
        <p:nvGraphicFramePr>
          <p:cNvPr id="7" name="Table 6"/>
          <p:cNvGraphicFramePr>
            <a:graphicFrameLocks noGrp="1"/>
          </p:cNvGraphicFramePr>
          <p:nvPr/>
        </p:nvGraphicFramePr>
        <p:xfrm>
          <a:off x="566928" y="2228202"/>
          <a:ext cx="11058144" cy="2859184"/>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Courier New"/>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AP_AHRS::get_location()</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bool AP_AHRS::get_location(Location &amp;loc) const</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loc = state.location;</a:t>
                      </a:r>
                    </a:p>
                    <a:p>
                      <a:pPr algn="l">
                        <a:lnSpc>
                          <a:spcPct val="106000"/>
                        </a:lnSpc>
                        <a:spcAft>
                          <a:spcPts val="0"/>
                        </a:spcAft>
                      </a:pPr>
                      <a:r>
                        <a:rPr sz="1100" b="0">
                          <a:solidFill>
                            <a:srgbClr val="333333"/>
                          </a:solidFill>
                          <a:latin typeface="Courier New"/>
                        </a:rPr>
                        <a:t>return state.location_ok;</a:t>
                      </a:r>
                    </a:p>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Courier New"/>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AP_AHRS::groundspeed()</a:t>
                      </a:r>
                      <a:r>
                        <a:rPr sz="1100" b="0">
                          <a:solidFill>
                            <a:srgbClr val="999999"/>
                          </a:solidFill>
                          <a:latin typeface="Courier New"/>
                        </a:rPr>
                        <a:t>  ·  </a:t>
                      </a:r>
                      <a:r>
                        <a:rPr sz="1100" b="0">
                          <a:solidFill>
                            <a:srgbClr val="999999"/>
                          </a:solidFill>
                          <a:latin typeface="Courier New"/>
                        </a:rPr>
                        <a:t>Data dependency</a:t>
                      </a:r>
                    </a:p>
                    <a:p>
                      <a:pPr algn="l">
                        <a:lnSpc>
                          <a:spcPct val="106000"/>
                        </a:lnSpc>
                        <a:spcAft>
                          <a:spcPts val="0"/>
                        </a:spcAft>
                      </a:pPr>
                      <a:r>
                        <a:rPr sz="1100" b="0">
                          <a:solidFill>
                            <a:srgbClr val="333333"/>
                          </a:solidFill>
                          <a:latin typeface="Courier New"/>
                        </a:rPr>
                        <a:t>// EKF has a better ground speed vector estimate</a:t>
                      </a:r>
                    </a:p>
                    <a:p>
                      <a:pPr algn="l">
                        <a:lnSpc>
                          <a:spcPct val="106000"/>
                        </a:lnSpc>
                        <a:spcAft>
                          <a:spcPts val="0"/>
                        </a:spcAft>
                      </a:pPr>
                      <a:r>
                        <a:rPr sz="1100" b="0">
                          <a:solidFill>
                            <a:srgbClr val="333333"/>
                          </a:solidFill>
                          <a:latin typeface="Courier New"/>
                        </a:rPr>
                        <a:t>const Vector2f &amp;groundspeed_vector() const { return state.ground_speed_vec; }</a:t>
                      </a:r>
                    </a:p>
                    <a:p>
                      <a:pPr algn="l">
                        <a:lnSpc>
                          <a:spcPct val="106000"/>
                        </a:lnSpc>
                        <a:spcAft>
                          <a:spcPts val="0"/>
                        </a:spcAft>
                      </a:pPr>
                      <a:r>
                        <a:rPr sz="1100" b="0">
                          <a:solidFill>
                            <a:srgbClr val="333333"/>
                          </a:solidFill>
                          <a:latin typeface="Courier New"/>
                        </a:rPr>
                        <a:t>// return ground speed estimate in meters/second. Used by ground vehicles.</a:t>
                      </a:r>
                    </a:p>
                    <a:p>
                      <a:pPr algn="l">
                        <a:lnSpc>
                          <a:spcPct val="106000"/>
                        </a:lnSpc>
                        <a:spcAft>
                          <a:spcPts val="0"/>
                        </a:spcAft>
                      </a:pPr>
                      <a:r>
                        <a:rPr sz="1100" b="0">
                          <a:solidFill>
                            <a:srgbClr val="333333"/>
                          </a:solidFill>
                          <a:latin typeface="Courier New"/>
                        </a:rPr>
                        <a:t>float groundspeed(void) const { return state.ground_speed; }</a:t>
                      </a:r>
                    </a:p>
                    <a:p>
                      <a:pPr algn="l">
                        <a:lnSpc>
                          <a:spcPct val="106000"/>
                        </a:lnSpc>
                        <a:spcAft>
                          <a:spcPts val="0"/>
                        </a:spcAft>
                      </a:pPr>
                      <a:r>
                        <a:rPr sz="1100" b="0">
                          <a:solidFill>
                            <a:srgbClr val="333333"/>
                          </a:solidFill>
                          <a:latin typeface="Courier New"/>
                        </a:rPr>
                        <a:t>const Vector3f &amp;get_accel_ef() const {</a:t>
                      </a:r>
                    </a:p>
                    <a:p>
                      <a:pPr algn="l">
                        <a:lnSpc>
                          <a:spcPct val="106000"/>
                        </a:lnSpc>
                        <a:spcAft>
                          <a:spcPts val="0"/>
                        </a:spcAft>
                      </a:pPr>
                      <a:r>
                        <a:rPr sz="1100" b="0">
                          <a:solidFill>
                            <a:srgbClr val="333333"/>
                          </a:solidFill>
                          <a:latin typeface="Courier New"/>
                        </a:rPr>
                        <a:t>return state.accel_ef;</a:t>
                      </a:r>
                    </a:p>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356997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9483">
                <a:tc>
                  <a:txBody>
                    <a:bodyPr wrap="square">
                      <a:noAutofit/>
                    </a:bodyPr>
                    <a:lstStyle/>
                    <a:p>
                      <a:pPr algn="r">
                        <a:lnSpc>
                          <a:spcPct val="106000"/>
                        </a:lnSpc>
                        <a:spcAft>
                          <a:spcPts val="0"/>
                        </a:spcAft>
                      </a:pPr>
                      <a:r>
                        <a:rPr sz="1100" b="1">
                          <a:solidFill>
                            <a:srgbClr val="333333"/>
                          </a:solidFill>
                          <a:latin typeface="Courier New"/>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AP_AHRS::have_inertial_nav()/get_origin()</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 returns the inertial navigation origin in lat/lon/alt</a:t>
                      </a:r>
                    </a:p>
                    <a:p>
                      <a:pPr algn="l">
                        <a:lnSpc>
                          <a:spcPct val="106000"/>
                        </a:lnSpc>
                        <a:spcAft>
                          <a:spcPts val="0"/>
                        </a:spcAft>
                      </a:pPr>
                      <a:r>
                        <a:rPr sz="1100" b="0">
                          <a:solidFill>
                            <a:srgbClr val="333333"/>
                          </a:solidFill>
                          <a:latin typeface="Courier New"/>
                        </a:rPr>
                        <a:t>bool get_origin(Location &amp;ret) const WARN_IF_UNUSED;</a:t>
                      </a:r>
                    </a:p>
                    <a:p>
                      <a:pPr algn="l">
                        <a:lnSpc>
                          <a:spcPct val="106000"/>
                        </a:lnSpc>
                        <a:spcAft>
                          <a:spcPts val="0"/>
                        </a:spcAft>
                      </a:pPr>
                      <a:r>
                        <a:rPr sz="1100" b="0">
                          <a:solidFill>
                            <a:srgbClr val="333333"/>
                          </a:solidFill>
                          <a:latin typeface="Courier New"/>
                        </a:rPr>
                        <a:t>bool have_inertial_nav() const;</a:t>
                      </a:r>
                    </a:p>
                    <a:p>
                      <a:pPr algn="l">
                        <a:lnSpc>
                          <a:spcPct val="106000"/>
                        </a:lnSpc>
                        <a:spcAft>
                          <a:spcPts val="0"/>
                        </a:spcAft>
                      </a:pPr>
                      <a:r>
                        <a:rPr sz="1100" b="0">
                          <a:solidFill>
                            <a:srgbClr val="333333"/>
                          </a:solidFill>
                          <a:latin typeface="Courier New"/>
                        </a:rPr>
                        <a:t>// return a ground velocity in meters/second, North/East/Down</a:t>
                      </a:r>
                    </a:p>
                    <a:p>
                      <a:pPr algn="l">
                        <a:lnSpc>
                          <a:spcPct val="106000"/>
                        </a:lnSpc>
                        <a:spcAft>
                          <a:spcPts val="0"/>
                        </a:spcAft>
                      </a:pPr>
                      <a:r>
                        <a:rPr sz="1100" b="0">
                          <a:solidFill>
                            <a:srgbClr val="333333"/>
                          </a:solidFill>
                          <a:latin typeface="Courier New"/>
                        </a:rPr>
                        <a:t>// order. Must only be called if have_inertial_nav() is true</a:t>
                      </a:r>
                    </a:p>
                    <a:p>
                      <a:pPr algn="l">
                        <a:lnSpc>
                          <a:spcPct val="106000"/>
                        </a:lnSpc>
                        <a:spcAft>
                          <a:spcPts val="0"/>
                        </a:spcAft>
                      </a:pPr>
                      <a:r>
                        <a:rPr sz="1100" b="0">
                          <a:solidFill>
                            <a:srgbClr val="333333"/>
                          </a:solidFill>
                          <a:latin typeface="Courier New"/>
                        </a:rPr>
                        <a:t>bool get_velocity_NED(Vector3f &amp;vec) const WARN_IF_UNUSED;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Courier New"/>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AP_AHRS::get_relative_position_NED_origin()</a:t>
                      </a:r>
                      <a:r>
                        <a:rPr sz="1100" b="0">
                          <a:solidFill>
                            <a:srgbClr val="999999"/>
                          </a:solidFill>
                          <a:latin typeface="Courier New"/>
                        </a:rPr>
                        <a:t>  ·  </a:t>
                      </a:r>
                      <a:r>
                        <a:rPr sz="1100" b="0">
                          <a:solidFill>
                            <a:srgbClr val="999999"/>
                          </a:solidFill>
                          <a:latin typeface="Courier New"/>
                        </a:rPr>
                        <a:t>Inheritance/Interface</a:t>
                      </a:r>
                    </a:p>
                    <a:p>
                      <a:pPr algn="l">
                        <a:lnSpc>
                          <a:spcPct val="106000"/>
                        </a:lnSpc>
                        <a:spcAft>
                          <a:spcPts val="0"/>
                        </a:spcAft>
                      </a:pPr>
                      <a:r>
                        <a:rPr sz="1100" b="0">
                          <a:solidFill>
                            <a:srgbClr val="333333"/>
                          </a:solidFill>
                          <a:latin typeface="Courier New"/>
                        </a:rPr>
                        <a:t>bool AP_AHRS::get_relative_position_NED_origin(Vector3p &amp;vec) const</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switch (active_EKF_type()) {</a:t>
                      </a:r>
                    </a:p>
                    <a:p>
                      <a:pPr algn="l">
                        <a:lnSpc>
                          <a:spcPct val="106000"/>
                        </a:lnSpc>
                        <a:spcAft>
                          <a:spcPts val="0"/>
                        </a:spcAft>
                      </a:pPr>
                      <a:r>
                        <a:rPr sz="1100" b="0">
                          <a:solidFill>
                            <a:srgbClr val="333333"/>
                          </a:solidFill>
                          <a:latin typeface="Courier New"/>
                        </a:rPr>
                        <a:t>#if AP_AHRS_DCM_ENABLED</a:t>
                      </a:r>
                    </a:p>
                    <a:p>
                      <a:pPr algn="l">
                        <a:lnSpc>
                          <a:spcPct val="106000"/>
                        </a:lnSpc>
                        <a:spcAft>
                          <a:spcPts val="0"/>
                        </a:spcAft>
                      </a:pPr>
                      <a:r>
                        <a:rPr sz="1100" b="0">
                          <a:solidFill>
                            <a:srgbClr val="333333"/>
                          </a:solidFill>
                          <a:latin typeface="Courier New"/>
                        </a:rPr>
                        <a:t>case EKFType::DCM:</a:t>
                      </a:r>
                    </a:p>
                    <a:p>
                      <a:pPr algn="l">
                        <a:lnSpc>
                          <a:spcPct val="106000"/>
                        </a:lnSpc>
                        <a:spcAft>
                          <a:spcPts val="0"/>
                        </a:spcAft>
                      </a:pPr>
                      <a:r>
                        <a:rPr sz="1100" b="0">
                          <a:solidFill>
                            <a:srgbClr val="333333"/>
                          </a:solidFill>
                          <a:latin typeface="Courier New"/>
                        </a:rPr>
                        <a:t>return dcm.get_relative_position_NED_origin(vec);</a:t>
                      </a:r>
                    </a:p>
                    <a:p>
                      <a:pPr algn="l">
                        <a:lnSpc>
                          <a:spcPct val="106000"/>
                        </a:lnSpc>
                        <a:spcAft>
                          <a:spcPts val="0"/>
                        </a:spcAft>
                      </a:pPr>
                      <a:r>
                        <a:rPr sz="1100" b="0">
                          <a:solidFill>
                            <a:srgbClr val="333333"/>
                          </a:solidFill>
                          <a:latin typeface="Courier New"/>
                        </a:rPr>
                        <a:t>#endif</a:t>
                      </a:r>
                    </a:p>
                    <a:p>
                      <a:pPr algn="l">
                        <a:lnSpc>
                          <a:spcPct val="106000"/>
                        </a:lnSpc>
                        <a:spcAft>
                          <a:spcPts val="0"/>
                        </a:spcAft>
                      </a:pPr>
                      <a:r>
                        <a:rPr sz="1100" b="0">
                          <a:solidFill>
                            <a:srgbClr val="333333"/>
                          </a:solidFill>
                          <a:latin typeface="Courier New"/>
                        </a:rPr>
                        <a:t>#if HAL_NAVEKF2_AVAILABLE</a:t>
                      </a:r>
                    </a:p>
                    <a:p>
                      <a:pPr algn="l">
                        <a:lnSpc>
                          <a:spcPct val="106000"/>
                        </a:lnSpc>
                        <a:spcAft>
                          <a:spcPts val="0"/>
                        </a:spcAft>
                      </a:pPr>
                      <a:r>
                        <a:rPr sz="1100" b="0">
                          <a:solidFill>
                            <a:srgbClr val="333333"/>
                          </a:solidFill>
                          <a:latin typeface="Courier New"/>
                        </a:rPr>
                        <a:t>case EKFType::TWO: {</a:t>
                      </a:r>
                    </a:p>
                    <a:p>
                      <a:pPr algn="l">
                        <a:lnSpc>
                          <a:spcPct val="106000"/>
                        </a:lnSpc>
                        <a:spcAft>
                          <a:spcPts val="0"/>
                        </a:spcAft>
                      </a:pPr>
                      <a:r>
                        <a:rPr sz="1100" b="0">
                          <a:solidFill>
                            <a:srgbClr val="333333"/>
                          </a:solidFill>
                          <a:latin typeface="Courier New"/>
                        </a:rPr>
                        <a:t>Vector2p posNE;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3036882"/>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Courier New"/>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AP_AHRS::get_velocity_NED()</a:t>
                      </a:r>
                      <a:r>
                        <a:rPr sz="1100" b="0">
                          <a:solidFill>
                            <a:srgbClr val="999999"/>
                          </a:solidFill>
                          <a:latin typeface="Courier New"/>
                        </a:rPr>
                        <a:t>  ·  </a:t>
                      </a:r>
                      <a:r>
                        <a:rPr sz="1100" b="0">
                          <a:solidFill>
                            <a:srgbClr val="999999"/>
                          </a:solidFill>
                          <a:latin typeface="Courier New"/>
                        </a:rPr>
                        <a:t>Data dependency</a:t>
                      </a:r>
                    </a:p>
                    <a:p>
                      <a:pPr algn="l">
                        <a:lnSpc>
                          <a:spcPct val="106000"/>
                        </a:lnSpc>
                        <a:spcAft>
                          <a:spcPts val="0"/>
                        </a:spcAft>
                      </a:pPr>
                      <a:r>
                        <a:rPr sz="1100" b="0">
                          <a:solidFill>
                            <a:srgbClr val="333333"/>
                          </a:solidFill>
                          <a:latin typeface="Courier New"/>
                        </a:rPr>
                        <a:t>bool AP_AHRS::get_velocity_NED(Vector3f &amp;vec) const</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vec = state.velocity_NED;</a:t>
                      </a:r>
                    </a:p>
                    <a:p>
                      <a:pPr algn="l">
                        <a:lnSpc>
                          <a:spcPct val="106000"/>
                        </a:lnSpc>
                        <a:spcAft>
                          <a:spcPts val="0"/>
                        </a:spcAft>
                      </a:pPr>
                      <a:r>
                        <a:rPr sz="1100" b="0">
                          <a:solidFill>
                            <a:srgbClr val="333333"/>
                          </a:solidFill>
                          <a:latin typeface="Courier New"/>
                        </a:rPr>
                        <a:t>return state.velocity_NED_ok;</a:t>
                      </a:r>
                    </a:p>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Courier New"/>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NavEKF3_core::UpdateFilter()</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void NavEKF3_core::UpdateFilter(bool predict)</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don't run filter updates if states have not been initialised</a:t>
                      </a:r>
                    </a:p>
                    <a:p>
                      <a:pPr algn="l">
                        <a:lnSpc>
                          <a:spcPct val="106000"/>
                        </a:lnSpc>
                        <a:spcAft>
                          <a:spcPts val="0"/>
                        </a:spcAft>
                      </a:pPr>
                      <a:r>
                        <a:rPr sz="1100" b="0">
                          <a:solidFill>
                            <a:srgbClr val="333333"/>
                          </a:solidFill>
                          <a:latin typeface="Courier New"/>
                        </a:rPr>
                        <a:t>if (!statesInitialised) {</a:t>
                      </a:r>
                    </a:p>
                    <a:p>
                      <a:pPr algn="l">
                        <a:lnSpc>
                          <a:spcPct val="106000"/>
                        </a:lnSpc>
                        <a:spcAft>
                          <a:spcPts val="0"/>
                        </a:spcAft>
                      </a:pPr>
                      <a:r>
                        <a:rPr sz="1100" b="0">
                          <a:solidFill>
                            <a:srgbClr val="333333"/>
                          </a:solidFill>
                          <a:latin typeface="Courier New"/>
                        </a:rPr>
                        <a:t>return;</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fill_scratch_variables();</a:t>
                      </a:r>
                    </a:p>
                    <a:p>
                      <a:pPr algn="l">
                        <a:lnSpc>
                          <a:spcPct val="106000"/>
                        </a:lnSpc>
                        <a:spcAft>
                          <a:spcPts val="0"/>
                        </a:spcAft>
                      </a:pPr>
                      <a:r>
                        <a:rPr sz="1100" b="0">
                          <a:solidFill>
                            <a:srgbClr val="333333"/>
                          </a:solidFill>
                          <a:latin typeface="Courier New"/>
                        </a:rPr>
                        <a:t>// update sensor selection (for affinity)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445846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553371">
                <a:tc>
                  <a:txBody>
                    <a:bodyPr wrap="square">
                      <a:noAutofit/>
                    </a:bodyPr>
                    <a:lstStyle/>
                    <a:p>
                      <a:pPr algn="r">
                        <a:lnSpc>
                          <a:spcPct val="106000"/>
                        </a:lnSpc>
                        <a:spcAft>
                          <a:spcPts val="0"/>
                        </a:spcAft>
                      </a:pPr>
                      <a:r>
                        <a:rPr sz="1100" b="1">
                          <a:solidFill>
                            <a:srgbClr val="333333"/>
                          </a:solidFill>
                          <a:latin typeface="Courier New"/>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NavEKF3_core::SelectVelPosFusion()</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void NavEKF3_core::SelectVelPosFusion()</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Check if the magnetometer has been fused on that time step</a:t>
                      </a:r>
                    </a:p>
                    <a:p>
                      <a:pPr algn="l">
                        <a:lnSpc>
                          <a:spcPct val="106000"/>
                        </a:lnSpc>
                        <a:spcAft>
                          <a:spcPts val="0"/>
                        </a:spcAft>
                      </a:pPr>
                      <a:r>
                        <a:rPr sz="1100" b="0">
                          <a:solidFill>
                            <a:srgbClr val="333333"/>
                          </a:solidFill>
                          <a:latin typeface="Courier New"/>
                        </a:rPr>
                        <a:t>and the filter is running at faster than 200 Hz</a:t>
                      </a:r>
                    </a:p>
                    <a:p>
                      <a:pPr algn="l">
                        <a:lnSpc>
                          <a:spcPct val="106000"/>
                        </a:lnSpc>
                        <a:spcAft>
                          <a:spcPts val="0"/>
                        </a:spcAft>
                      </a:pPr>
                      <a:r>
                        <a:rPr sz="1100" b="0">
                          <a:solidFill>
                            <a:srgbClr val="333333"/>
                          </a:solidFill>
                          <a:latin typeface="Courier New"/>
                        </a:rPr>
                        <a:t>// If so, don't fuse measurements on this time step to reduce</a:t>
                      </a:r>
                    </a:p>
                    <a:p>
                      <a:pPr algn="l">
                        <a:lnSpc>
                          <a:spcPct val="106000"/>
                        </a:lnSpc>
                        <a:spcAft>
                          <a:spcPts val="0"/>
                        </a:spcAft>
                      </a:pPr>
                      <a:r>
                        <a:rPr sz="1100" b="0">
                          <a:solidFill>
                            <a:srgbClr val="333333"/>
                          </a:solidFill>
                          <a:latin typeface="Courier New"/>
                        </a:rPr>
                        <a:t>frame over-runs</a:t>
                      </a:r>
                    </a:p>
                    <a:p>
                      <a:pPr algn="l">
                        <a:lnSpc>
                          <a:spcPct val="106000"/>
                        </a:lnSpc>
                        <a:spcAft>
                          <a:spcPts val="0"/>
                        </a:spcAft>
                      </a:pPr>
                      <a:r>
                        <a:rPr sz="1100" b="0">
                          <a:solidFill>
                            <a:srgbClr val="333333"/>
                          </a:solidFill>
                          <a:latin typeface="Courier New"/>
                        </a:rPr>
                        <a:t>// Only allow one time slip to prevent high rate magnetometer</a:t>
                      </a:r>
                    </a:p>
                    <a:p>
                      <a:pPr algn="l">
                        <a:lnSpc>
                          <a:spcPct val="106000"/>
                        </a:lnSpc>
                        <a:spcAft>
                          <a:spcPts val="0"/>
                        </a:spcAft>
                      </a:pPr>
                      <a:r>
                        <a:rPr sz="1100" b="0">
                          <a:solidFill>
                            <a:srgbClr val="333333"/>
                          </a:solidFill>
                          <a:latin typeface="Courier New"/>
                        </a:rPr>
                        <a:t>data preventing fusion of other measurements</a:t>
                      </a:r>
                    </a:p>
                    <a:p>
                      <a:pPr algn="l">
                        <a:lnSpc>
                          <a:spcPct val="106000"/>
                        </a:lnSpc>
                        <a:spcAft>
                          <a:spcPts val="0"/>
                        </a:spcAft>
                      </a:pPr>
                      <a:r>
                        <a:rPr sz="1100" b="0">
                          <a:solidFill>
                            <a:srgbClr val="333333"/>
                          </a:solidFill>
                          <a:latin typeface="Courier New"/>
                        </a:rPr>
                        <a:t>if (magFusePerformed &amp;&amp; dtIMUavg &lt; 0.005f &amp;&amp; !posVelFusionDelayed) {</a:t>
                      </a:r>
                    </a:p>
                    <a:p>
                      <a:pPr algn="l">
                        <a:lnSpc>
                          <a:spcPct val="106000"/>
                        </a:lnSpc>
                        <a:spcAft>
                          <a:spcPts val="0"/>
                        </a:spcAft>
                      </a:pPr>
                      <a:r>
                        <a:rPr sz="1100" b="0">
                          <a:solidFill>
                            <a:srgbClr val="333333"/>
                          </a:solidFill>
                          <a:latin typeface="Courier New"/>
                        </a:rPr>
                        <a:t>posVelFusionDelayed = true;</a:t>
                      </a:r>
                    </a:p>
                    <a:p>
                      <a:pPr algn="l">
                        <a:lnSpc>
                          <a:spcPct val="106000"/>
                        </a:lnSpc>
                        <a:spcAft>
                          <a:spcPts val="0"/>
                        </a:spcAft>
                      </a:pPr>
                      <a:r>
                        <a:rPr sz="1100" b="0">
                          <a:solidFill>
                            <a:srgbClr val="333333"/>
                          </a:solidFill>
                          <a:latin typeface="Courier New"/>
                        </a:rPr>
                        <a:t>return;</a:t>
                      </a:r>
                    </a:p>
                    <a:p>
                      <a:pPr algn="l">
                        <a:lnSpc>
                          <a:spcPct val="106000"/>
                        </a:lnSpc>
                        <a:spcAft>
                          <a:spcPts val="0"/>
                        </a:spcAft>
                      </a:pPr>
                      <a:r>
                        <a:rPr sz="1100" b="0">
                          <a:solidFill>
                            <a:srgbClr val="333333"/>
                          </a:solidFill>
                          <a:latin typeface="Courier New"/>
                        </a:rPr>
                        <a:t>} else {</a:t>
                      </a:r>
                    </a:p>
                    <a:p>
                      <a:pPr algn="l">
                        <a:lnSpc>
                          <a:spcPct val="106000"/>
                        </a:lnSpc>
                        <a:spcAft>
                          <a:spcPts val="0"/>
                        </a:spcAft>
                      </a:pPr>
                      <a:r>
                        <a:rPr sz="1100" b="0">
                          <a:solidFill>
                            <a:srgbClr val="333333"/>
                          </a:solidFill>
                          <a:latin typeface="Courier New"/>
                        </a:rPr>
                        <a:t>posVelFusionDelayed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Courier New"/>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NavEKF3_core::FuseVelPosNED()</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void NavEKF3_core::FuseVelPosNED()</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declare variables used to control access to arrays</a:t>
                      </a:r>
                    </a:p>
                    <a:p>
                      <a:pPr algn="l">
                        <a:lnSpc>
                          <a:spcPct val="106000"/>
                        </a:lnSpc>
                        <a:spcAft>
                          <a:spcPts val="0"/>
                        </a:spcAft>
                      </a:pPr>
                      <a:r>
                        <a:rPr sz="1100" b="0">
                          <a:solidFill>
                            <a:srgbClr val="333333"/>
                          </a:solidFill>
                          <a:latin typeface="Courier New"/>
                        </a:rPr>
                        <a:t>bool fuseData[6] {};</a:t>
                      </a:r>
                    </a:p>
                    <a:p>
                      <a:pPr algn="l">
                        <a:lnSpc>
                          <a:spcPct val="106000"/>
                        </a:lnSpc>
                        <a:spcAft>
                          <a:spcPts val="0"/>
                        </a:spcAft>
                      </a:pPr>
                      <a:r>
                        <a:rPr sz="1100" b="0">
                          <a:solidFill>
                            <a:srgbClr val="333333"/>
                          </a:solidFill>
                          <a:latin typeface="Courier New"/>
                        </a:rPr>
                        <a:t>uint8_t stateIndex;</a:t>
                      </a:r>
                    </a:p>
                    <a:p>
                      <a:pPr algn="l">
                        <a:lnSpc>
                          <a:spcPct val="106000"/>
                        </a:lnSpc>
                        <a:spcAft>
                          <a:spcPts val="0"/>
                        </a:spcAft>
                      </a:pPr>
                      <a:r>
                        <a:rPr sz="1100" b="0">
                          <a:solidFill>
                            <a:srgbClr val="333333"/>
                          </a:solidFill>
                          <a:latin typeface="Courier New"/>
                        </a:rPr>
                        <a:t>uint8_t obsIndex;</a:t>
                      </a:r>
                    </a:p>
                    <a:p>
                      <a:pPr algn="l">
                        <a:lnSpc>
                          <a:spcPct val="106000"/>
                        </a:lnSpc>
                        <a:spcAft>
                          <a:spcPts val="0"/>
                        </a:spcAft>
                      </a:pPr>
                      <a:r>
                        <a:rPr sz="1100" b="0">
                          <a:solidFill>
                            <a:srgbClr val="333333"/>
                          </a:solidFill>
                          <a:latin typeface="Courier New"/>
                        </a:rPr>
                        <a:t>// declare variables used by state and covariance update calculations</a:t>
                      </a:r>
                    </a:p>
                    <a:p>
                      <a:pPr algn="l">
                        <a:lnSpc>
                          <a:spcPct val="106000"/>
                        </a:lnSpc>
                        <a:spcAft>
                          <a:spcPts val="0"/>
                        </a:spcAft>
                      </a:pPr>
                      <a:r>
                        <a:rPr sz="1100" b="0">
                          <a:solidFill>
                            <a:srgbClr val="333333"/>
                          </a:solidFill>
                          <a:latin typeface="Courier New"/>
                        </a:rPr>
                        <a:t>Vector6 R_OBS; // Measurement variances used for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339227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NavEKF3_core::readGpsData()</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void NavEKF3_core::readGpsData()</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check for new GPS data</a:t>
                      </a:r>
                    </a:p>
                    <a:p>
                      <a:pPr algn="l">
                        <a:lnSpc>
                          <a:spcPct val="106000"/>
                        </a:lnSpc>
                        <a:spcAft>
                          <a:spcPts val="0"/>
                        </a:spcAft>
                      </a:pPr>
                      <a:r>
                        <a:rPr sz="1100" b="0">
                          <a:solidFill>
                            <a:srgbClr val="333333"/>
                          </a:solidFill>
                          <a:latin typeface="Courier New"/>
                        </a:rPr>
                        <a:t>const auto &amp;gps = dal.gps();</a:t>
                      </a:r>
                    </a:p>
                    <a:p>
                      <a:pPr algn="l">
                        <a:lnSpc>
                          <a:spcPct val="106000"/>
                        </a:lnSpc>
                        <a:spcAft>
                          <a:spcPts val="0"/>
                        </a:spcAft>
                      </a:pPr>
                      <a:r>
                        <a:rPr sz="1100" b="0">
                          <a:solidFill>
                            <a:srgbClr val="333333"/>
                          </a:solidFill>
                          <a:latin typeface="Courier New"/>
                        </a:rPr>
                        <a:t>// limit update rate to avoid overflowing the FIFO buffer</a:t>
                      </a:r>
                    </a:p>
                    <a:p>
                      <a:pPr algn="l">
                        <a:lnSpc>
                          <a:spcPct val="106000"/>
                        </a:lnSpc>
                        <a:spcAft>
                          <a:spcPts val="0"/>
                        </a:spcAft>
                      </a:pPr>
                      <a:r>
                        <a:rPr sz="1100" b="0">
                          <a:solidFill>
                            <a:srgbClr val="333333"/>
                          </a:solidFill>
                          <a:latin typeface="Courier New"/>
                        </a:rPr>
                        <a:t>if (gps.last_message_time_ms(selected_gps) - lastTimeGpsReceived_ms &lt;= frontend-&gt;sensorIntervalMin_ms) {</a:t>
                      </a:r>
                    </a:p>
                    <a:p>
                      <a:pPr algn="l">
                        <a:lnSpc>
                          <a:spcPct val="106000"/>
                        </a:lnSpc>
                        <a:spcAft>
                          <a:spcPts val="0"/>
                        </a:spcAft>
                      </a:pPr>
                      <a:r>
                        <a:rPr sz="1100" b="0">
                          <a:solidFill>
                            <a:srgbClr val="333333"/>
                          </a:solidFill>
                          <a:latin typeface="Courier New"/>
                        </a:rPr>
                        <a:t>return;</a:t>
                      </a:r>
                    </a:p>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NavEKF3_core::setAidingMode()</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void NavEKF3_core::setAidingMode()</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resetDataSource posResetSource = resetDataSource::DEFAULT;</a:t>
                      </a:r>
                    </a:p>
                    <a:p>
                      <a:pPr algn="l">
                        <a:lnSpc>
                          <a:spcPct val="106000"/>
                        </a:lnSpc>
                        <a:spcAft>
                          <a:spcPts val="0"/>
                        </a:spcAft>
                      </a:pPr>
                      <a:r>
                        <a:rPr sz="1100" b="0">
                          <a:solidFill>
                            <a:srgbClr val="333333"/>
                          </a:solidFill>
                          <a:latin typeface="Courier New"/>
                        </a:rPr>
                        <a:t>resetDataSource velResetSource = resetDataSource::DEFAULT;</a:t>
                      </a:r>
                    </a:p>
                    <a:p>
                      <a:pPr algn="l">
                        <a:lnSpc>
                          <a:spcPct val="106000"/>
                        </a:lnSpc>
                        <a:spcAft>
                          <a:spcPts val="0"/>
                        </a:spcAft>
                      </a:pPr>
                      <a:r>
                        <a:rPr sz="1100" b="0">
                          <a:solidFill>
                            <a:srgbClr val="333333"/>
                          </a:solidFill>
                          <a:latin typeface="Courier New"/>
                        </a:rPr>
                        <a:t>// Save the previous status so we can detect when it has changed</a:t>
                      </a:r>
                    </a:p>
                    <a:p>
                      <a:pPr algn="l">
                        <a:lnSpc>
                          <a:spcPct val="106000"/>
                        </a:lnSpc>
                        <a:spcAft>
                          <a:spcPts val="0"/>
                        </a:spcAft>
                      </a:pPr>
                      <a:r>
                        <a:rPr sz="1100" b="0">
                          <a:solidFill>
                            <a:srgbClr val="333333"/>
                          </a:solidFill>
                          <a:latin typeface="Courier New"/>
                        </a:rPr>
                        <a:t>PV_AidingModePrev = PV_AidingMode;</a:t>
                      </a:r>
                    </a:p>
                    <a:p>
                      <a:pPr algn="l">
                        <a:lnSpc>
                          <a:spcPct val="106000"/>
                        </a:lnSpc>
                        <a:spcAft>
                          <a:spcPts val="0"/>
                        </a:spcAft>
                      </a:pPr>
                      <a:r>
                        <a:rPr sz="1100" b="0">
                          <a:solidFill>
                            <a:srgbClr val="333333"/>
                          </a:solidFill>
                          <a:latin typeface="Courier New"/>
                        </a:rPr>
                        <a:t>setYawSource();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Courier New"/>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NavEKF3_core::SelectMagFusion()</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void NavEKF3_core::SelectMagFusion()</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clear the flag that lets other processes know that the expensive magnetometer fusion operation has been performed on that time step</a:t>
                      </a:r>
                    </a:p>
                    <a:p>
                      <a:pPr algn="l">
                        <a:lnSpc>
                          <a:spcPct val="106000"/>
                        </a:lnSpc>
                        <a:spcAft>
                          <a:spcPts val="0"/>
                        </a:spcAft>
                      </a:pPr>
                      <a:r>
                        <a:rPr sz="1100" b="0">
                          <a:solidFill>
                            <a:srgbClr val="333333"/>
                          </a:solidFill>
                          <a:latin typeface="Courier New"/>
                        </a:rPr>
                        <a:t>// used for load levelling</a:t>
                      </a:r>
                    </a:p>
                    <a:p>
                      <a:pPr algn="l">
                        <a:lnSpc>
                          <a:spcPct val="106000"/>
                        </a:lnSpc>
                        <a:spcAft>
                          <a:spcPts val="0"/>
                        </a:spcAft>
                      </a:pPr>
                      <a:r>
                        <a:rPr sz="1100" b="0">
                          <a:solidFill>
                            <a:srgbClr val="333333"/>
                          </a:solidFill>
                          <a:latin typeface="Courier New"/>
                        </a:rPr>
                        <a:t>magFusePerformed = false;</a:t>
                      </a:r>
                    </a:p>
                    <a:p>
                      <a:pPr algn="l">
                        <a:lnSpc>
                          <a:spcPct val="106000"/>
                        </a:lnSpc>
                        <a:spcAft>
                          <a:spcPts val="0"/>
                        </a:spcAft>
                      </a:pPr>
                      <a:r>
                        <a:rPr sz="1100" b="0">
                          <a:solidFill>
                            <a:srgbClr val="333333"/>
                          </a:solidFill>
                          <a:latin typeface="Courier New"/>
                        </a:rPr>
                        <a:t>// Store yaw angle when moving for use as a static reference when not moving</a:t>
                      </a:r>
                    </a:p>
                    <a:p>
                      <a:pPr algn="l">
                        <a:lnSpc>
                          <a:spcPct val="106000"/>
                        </a:lnSpc>
                        <a:spcAft>
                          <a:spcPts val="0"/>
                        </a:spcAft>
                      </a:pPr>
                      <a:r>
                        <a:rPr sz="1100" b="0">
                          <a:solidFill>
                            <a:srgbClr val="333333"/>
                          </a:solidFill>
                          <a:latin typeface="Courier New"/>
                        </a:rPr>
                        <a:t>if (!onGroundNotMoving) {</a:t>
                      </a:r>
                    </a:p>
                    <a:p>
                      <a:pPr algn="l">
                        <a:lnSpc>
                          <a:spcPct val="106000"/>
                        </a:lnSpc>
                        <a:spcAft>
                          <a:spcPts val="0"/>
                        </a:spcAft>
                      </a:pPr>
                      <a:r>
                        <a:rPr sz="1100" b="0">
                          <a:solidFill>
                            <a:srgbClr val="333333"/>
                          </a:solidFill>
                          <a:latin typeface="Courier New"/>
                        </a:rPr>
                        <a:t>if (fabsF(prevTnb[0][2]) &lt; fabsF(prevTnb[1][2]))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375673">
                <a:tc>
                  <a:txBody>
                    <a:bodyPr wrap="square">
                      <a:noAutofit/>
                    </a:bodyPr>
                    <a:lstStyle/>
                    <a:p>
                      <a:pPr algn="r">
                        <a:lnSpc>
                          <a:spcPct val="106000"/>
                        </a:lnSpc>
                        <a:spcAft>
                          <a:spcPts val="0"/>
                        </a:spcAft>
                      </a:pPr>
                      <a:r>
                        <a:rPr sz="1100" b="1">
                          <a:solidFill>
                            <a:srgbClr val="333333"/>
                          </a:solidFill>
                          <a:latin typeface="Courier New"/>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NavEKF3_core::SelectTasFusion()</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void NavEKF3_core::SelectTasFusion()</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Check if the magnetometer has been fused on that time step</a:t>
                      </a:r>
                    </a:p>
                    <a:p>
                      <a:pPr algn="l">
                        <a:lnSpc>
                          <a:spcPct val="106000"/>
                        </a:lnSpc>
                        <a:spcAft>
                          <a:spcPts val="0"/>
                        </a:spcAft>
                      </a:pPr>
                      <a:r>
                        <a:rPr sz="1100" b="0">
                          <a:solidFill>
                            <a:srgbClr val="333333"/>
                          </a:solidFill>
                          <a:latin typeface="Courier New"/>
                        </a:rPr>
                        <a:t>and the filter is running at faster than 200 Hz</a:t>
                      </a:r>
                    </a:p>
                    <a:p>
                      <a:pPr algn="l">
                        <a:lnSpc>
                          <a:spcPct val="106000"/>
                        </a:lnSpc>
                        <a:spcAft>
                          <a:spcPts val="0"/>
                        </a:spcAft>
                      </a:pPr>
                      <a:r>
                        <a:rPr sz="1100" b="0">
                          <a:solidFill>
                            <a:srgbClr val="333333"/>
                          </a:solidFill>
                          <a:latin typeface="Courier New"/>
                        </a:rPr>
                        <a:t>// If so, don't fuse measurements on this time step to reduce</a:t>
                      </a:r>
                    </a:p>
                    <a:p>
                      <a:pPr algn="l">
                        <a:lnSpc>
                          <a:spcPct val="106000"/>
                        </a:lnSpc>
                        <a:spcAft>
                          <a:spcPts val="0"/>
                        </a:spcAft>
                      </a:pPr>
                      <a:r>
                        <a:rPr sz="1100" b="0">
                          <a:solidFill>
                            <a:srgbClr val="333333"/>
                          </a:solidFill>
                          <a:latin typeface="Courier New"/>
                        </a:rPr>
                        <a:t>frame over-runs</a:t>
                      </a:r>
                    </a:p>
                    <a:p>
                      <a:pPr algn="l">
                        <a:lnSpc>
                          <a:spcPct val="106000"/>
                        </a:lnSpc>
                        <a:spcAft>
                          <a:spcPts val="0"/>
                        </a:spcAft>
                      </a:pPr>
                      <a:r>
                        <a:rPr sz="1100" b="0">
                          <a:solidFill>
                            <a:srgbClr val="333333"/>
                          </a:solidFill>
                          <a:latin typeface="Courier New"/>
                        </a:rPr>
                        <a:t>// Only allow one time slip to prevent high rate magnetometer</a:t>
                      </a:r>
                    </a:p>
                    <a:p>
                      <a:pPr algn="l">
                        <a:lnSpc>
                          <a:spcPct val="106000"/>
                        </a:lnSpc>
                        <a:spcAft>
                          <a:spcPts val="0"/>
                        </a:spcAft>
                      </a:pPr>
                      <a:r>
                        <a:rPr sz="1100" b="0">
                          <a:solidFill>
                            <a:srgbClr val="333333"/>
                          </a:solidFill>
                          <a:latin typeface="Courier New"/>
                        </a:rPr>
                        <a:t>data locking out fusion of other measurements</a:t>
                      </a:r>
                    </a:p>
                    <a:p>
                      <a:pPr algn="l">
                        <a:lnSpc>
                          <a:spcPct val="106000"/>
                        </a:lnSpc>
                        <a:spcAft>
                          <a:spcPts val="0"/>
                        </a:spcAft>
                      </a:pPr>
                      <a:r>
                        <a:rPr sz="1100" b="0">
                          <a:solidFill>
                            <a:srgbClr val="333333"/>
                          </a:solidFill>
                          <a:latin typeface="Courier New"/>
                        </a:rPr>
                        <a:t>if (magFusePerformed &amp;&amp; dtIMUavg &lt; 0.005f &amp;&amp; !airSpdFusionDelayed) {</a:t>
                      </a:r>
                    </a:p>
                    <a:p>
                      <a:pPr algn="l">
                        <a:lnSpc>
                          <a:spcPct val="106000"/>
                        </a:lnSpc>
                        <a:spcAft>
                          <a:spcPts val="0"/>
                        </a:spcAft>
                      </a:pPr>
                      <a:r>
                        <a:rPr sz="1100" b="0">
                          <a:solidFill>
                            <a:srgbClr val="333333"/>
                          </a:solidFill>
                          <a:latin typeface="Courier New"/>
                        </a:rPr>
                        <a:t>airSpdFusionDelayed = true;</a:t>
                      </a:r>
                    </a:p>
                    <a:p>
                      <a:pPr algn="l">
                        <a:lnSpc>
                          <a:spcPct val="106000"/>
                        </a:lnSpc>
                        <a:spcAft>
                          <a:spcPts val="0"/>
                        </a:spcAft>
                      </a:pPr>
                      <a:r>
                        <a:rPr sz="1100" b="0">
                          <a:solidFill>
                            <a:srgbClr val="333333"/>
                          </a:solidFill>
                          <a:latin typeface="Courier New"/>
                        </a:rPr>
                        <a:t>return;</a:t>
                      </a:r>
                    </a:p>
                    <a:p>
                      <a:pPr algn="l">
                        <a:lnSpc>
                          <a:spcPct val="106000"/>
                        </a:lnSpc>
                        <a:spcAft>
                          <a:spcPts val="0"/>
                        </a:spcAft>
                      </a:pPr>
                      <a:r>
                        <a:rPr sz="1100" b="0">
                          <a:solidFill>
                            <a:srgbClr val="333333"/>
                          </a:solidFill>
                          <a:latin typeface="Courier New"/>
                        </a:rPr>
                        <a:t>} else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11–12</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463616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375673">
                <a:tc>
                  <a:txBody>
                    <a:bodyPr wrap="square">
                      <a:noAutofit/>
                    </a:bodyPr>
                    <a:lstStyle/>
                    <a:p>
                      <a:pPr algn="r">
                        <a:lnSpc>
                          <a:spcPct val="106000"/>
                        </a:lnSpc>
                        <a:spcAft>
                          <a:spcPts val="0"/>
                        </a:spcAft>
                      </a:pPr>
                      <a:r>
                        <a:rPr sz="1100" b="1">
                          <a:solidFill>
                            <a:srgbClr val="333333"/>
                          </a:solidFill>
                          <a:latin typeface="Courier New"/>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NavEKF3_core::SelectFlowFusion()</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void NavEKF3_core::SelectFlowFusion()</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Check if the magnetometer has been fused on that time step</a:t>
                      </a:r>
                    </a:p>
                    <a:p>
                      <a:pPr algn="l">
                        <a:lnSpc>
                          <a:spcPct val="106000"/>
                        </a:lnSpc>
                        <a:spcAft>
                          <a:spcPts val="0"/>
                        </a:spcAft>
                      </a:pPr>
                      <a:r>
                        <a:rPr sz="1100" b="0">
                          <a:solidFill>
                            <a:srgbClr val="333333"/>
                          </a:solidFill>
                          <a:latin typeface="Courier New"/>
                        </a:rPr>
                        <a:t>and the filter is running at faster than 200 Hz</a:t>
                      </a:r>
                    </a:p>
                    <a:p>
                      <a:pPr algn="l">
                        <a:lnSpc>
                          <a:spcPct val="106000"/>
                        </a:lnSpc>
                        <a:spcAft>
                          <a:spcPts val="0"/>
                        </a:spcAft>
                      </a:pPr>
                      <a:r>
                        <a:rPr sz="1100" b="0">
                          <a:solidFill>
                            <a:srgbClr val="333333"/>
                          </a:solidFill>
                          <a:latin typeface="Courier New"/>
                        </a:rPr>
                        <a:t>// If so, don't fuse measurements on this time step to reduce</a:t>
                      </a:r>
                    </a:p>
                    <a:p>
                      <a:pPr algn="l">
                        <a:lnSpc>
                          <a:spcPct val="106000"/>
                        </a:lnSpc>
                        <a:spcAft>
                          <a:spcPts val="0"/>
                        </a:spcAft>
                      </a:pPr>
                      <a:r>
                        <a:rPr sz="1100" b="0">
                          <a:solidFill>
                            <a:srgbClr val="333333"/>
                          </a:solidFill>
                          <a:latin typeface="Courier New"/>
                        </a:rPr>
                        <a:t>frame over-runs</a:t>
                      </a:r>
                    </a:p>
                    <a:p>
                      <a:pPr algn="l">
                        <a:lnSpc>
                          <a:spcPct val="106000"/>
                        </a:lnSpc>
                        <a:spcAft>
                          <a:spcPts val="0"/>
                        </a:spcAft>
                      </a:pPr>
                      <a:r>
                        <a:rPr sz="1100" b="0">
                          <a:solidFill>
                            <a:srgbClr val="333333"/>
                          </a:solidFill>
                          <a:latin typeface="Courier New"/>
                        </a:rPr>
                        <a:t>// Only allow one time slip to prevent high rate magnetometer</a:t>
                      </a:r>
                    </a:p>
                    <a:p>
                      <a:pPr algn="l">
                        <a:lnSpc>
                          <a:spcPct val="106000"/>
                        </a:lnSpc>
                        <a:spcAft>
                          <a:spcPts val="0"/>
                        </a:spcAft>
                      </a:pPr>
                      <a:r>
                        <a:rPr sz="1100" b="0">
                          <a:solidFill>
                            <a:srgbClr val="333333"/>
                          </a:solidFill>
                          <a:latin typeface="Courier New"/>
                        </a:rPr>
                        <a:t>data preventing fusion of other measurements</a:t>
                      </a:r>
                    </a:p>
                    <a:p>
                      <a:pPr algn="l">
                        <a:lnSpc>
                          <a:spcPct val="106000"/>
                        </a:lnSpc>
                        <a:spcAft>
                          <a:spcPts val="0"/>
                        </a:spcAft>
                      </a:pPr>
                      <a:r>
                        <a:rPr sz="1100" b="0">
                          <a:solidFill>
                            <a:srgbClr val="333333"/>
                          </a:solidFill>
                          <a:latin typeface="Courier New"/>
                        </a:rPr>
                        <a:t>if (magFusePerformed &amp;&amp; dtIMUavg &lt; 0.005f &amp;&amp; !optFlowFusionDelayed) {</a:t>
                      </a:r>
                    </a:p>
                    <a:p>
                      <a:pPr algn="l">
                        <a:lnSpc>
                          <a:spcPct val="106000"/>
                        </a:lnSpc>
                        <a:spcAft>
                          <a:spcPts val="0"/>
                        </a:spcAft>
                      </a:pPr>
                      <a:r>
                        <a:rPr sz="1100" b="0">
                          <a:solidFill>
                            <a:srgbClr val="333333"/>
                          </a:solidFill>
                          <a:latin typeface="Courier New"/>
                        </a:rPr>
                        <a:t>optFlowFusionDelayed = true;</a:t>
                      </a:r>
                    </a:p>
                    <a:p>
                      <a:pPr algn="l">
                        <a:lnSpc>
                          <a:spcPct val="106000"/>
                        </a:lnSpc>
                        <a:spcAft>
                          <a:spcPts val="0"/>
                        </a:spcAft>
                      </a:pPr>
                      <a:r>
                        <a:rPr sz="1100" b="0">
                          <a:solidFill>
                            <a:srgbClr val="333333"/>
                          </a:solidFill>
                          <a:latin typeface="Courier New"/>
                        </a:rPr>
                        <a:t>return;</a:t>
                      </a:r>
                    </a:p>
                    <a:p>
                      <a:pPr algn="l">
                        <a:lnSpc>
                          <a:spcPct val="106000"/>
                        </a:lnSpc>
                        <a:spcAft>
                          <a:spcPts val="0"/>
                        </a:spcAft>
                      </a:pPr>
                      <a:r>
                        <a:rPr sz="1100" b="0">
                          <a:solidFill>
                            <a:srgbClr val="333333"/>
                          </a:solidFill>
                          <a:latin typeface="Courier New"/>
                        </a:rPr>
                        <a:t>} else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Courier New"/>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NavEKF3_core::getLLH()</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bool NavEKF3_core::getLLH(Location &amp;loc) const</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Location origin;</a:t>
                      </a:r>
                    </a:p>
                    <a:p>
                      <a:pPr algn="l">
                        <a:lnSpc>
                          <a:spcPct val="106000"/>
                        </a:lnSpc>
                        <a:spcAft>
                          <a:spcPts val="0"/>
                        </a:spcAft>
                      </a:pPr>
                      <a:r>
                        <a:rPr sz="1100" b="0">
                          <a:solidFill>
                            <a:srgbClr val="333333"/>
                          </a:solidFill>
                          <a:latin typeface="Courier New"/>
                        </a:rPr>
                        <a:t>if (getOriginLLH(origin)) {</a:t>
                      </a:r>
                    </a:p>
                    <a:p>
                      <a:pPr algn="l">
                        <a:lnSpc>
                          <a:spcPct val="106000"/>
                        </a:lnSpc>
                        <a:spcAft>
                          <a:spcPts val="0"/>
                        </a:spcAft>
                      </a:pPr>
                      <a:r>
                        <a:rPr sz="1100" b="0">
                          <a:solidFill>
                            <a:srgbClr val="333333"/>
                          </a:solidFill>
                          <a:latin typeface="Courier New"/>
                        </a:rPr>
                        <a:t>postype_t posD;</a:t>
                      </a:r>
                    </a:p>
                    <a:p>
                      <a:pPr algn="l">
                        <a:lnSpc>
                          <a:spcPct val="106000"/>
                        </a:lnSpc>
                        <a:spcAft>
                          <a:spcPts val="0"/>
                        </a:spcAft>
                      </a:pPr>
                      <a:r>
                        <a:rPr sz="1100" b="0">
                          <a:solidFill>
                            <a:srgbClr val="333333"/>
                          </a:solidFill>
                          <a:latin typeface="Courier New"/>
                        </a:rPr>
                        <a:t>if (getPosD_local(posD) &amp;&amp; PV_AidingMode != AID_NONE) {</a:t>
                      </a:r>
                    </a:p>
                    <a:p>
                      <a:pPr algn="l">
                        <a:lnSpc>
                          <a:spcPct val="106000"/>
                        </a:lnSpc>
                        <a:spcAft>
                          <a:spcPts val="0"/>
                        </a:spcAft>
                      </a:pPr>
                      <a:r>
                        <a:rPr sz="1100" b="0">
                          <a:solidFill>
                            <a:srgbClr val="333333"/>
                          </a:solidFill>
                          <a:latin typeface="Courier New"/>
                        </a:rPr>
                        <a:t>// Altitude returned is an absolute altitude relative</a:t>
                      </a:r>
                    </a:p>
                    <a:p>
                      <a:pPr algn="l">
                        <a:lnSpc>
                          <a:spcPct val="106000"/>
                        </a:lnSpc>
                        <a:spcAft>
                          <a:spcPts val="0"/>
                        </a:spcAft>
                      </a:pPr>
                      <a:r>
                        <a:rPr sz="1100" b="0">
                          <a:solidFill>
                            <a:srgbClr val="333333"/>
                          </a:solidFill>
                          <a:latin typeface="Courier New"/>
                        </a:rPr>
                        <a:t>to the WGS-84 spherioid</a:t>
                      </a:r>
                    </a:p>
                    <a:p>
                      <a:pPr algn="l">
                        <a:lnSpc>
                          <a:spcPct val="106000"/>
                        </a:lnSpc>
                        <a:spcAft>
                          <a:spcPts val="0"/>
                        </a:spcAft>
                      </a:pPr>
                      <a:r>
                        <a:rPr sz="1100" b="0">
                          <a:solidFill>
                            <a:srgbClr val="333333"/>
                          </a:solidFill>
                          <a:latin typeface="Courier New"/>
                        </a:rPr>
                        <a:t>loc.set_alt_cm(origin.alt - posD*100.0, Location::AltFrame::ABSOLUTE);</a:t>
                      </a:r>
                    </a:p>
                    <a:p>
                      <a:pPr algn="l">
                        <a:lnSpc>
                          <a:spcPct val="106000"/>
                        </a:lnSpc>
                        <a:spcAft>
                          <a:spcPts val="0"/>
                        </a:spcAft>
                      </a:pPr>
                      <a:r>
                        <a:rPr sz="1100" b="0">
                          <a:solidFill>
                            <a:srgbClr val="333333"/>
                          </a:solidFill>
                          <a:latin typeface="Courier New"/>
                        </a:rPr>
                        <a:t>if (filterStatus.flags.horiz_pos_abs || filterStatus.flags.horiz_pos_rel)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13–14</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Courier New"/>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NavEKF3_core::calcGpsGoodToAlign()</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void NavEKF3_core::calcGpsGoodToAlign(void)</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if (inFlight &amp;&amp; !finalInflightYawInit &amp;&amp; assume_zero_sideslip(</a:t>
                      </a:r>
                    </a:p>
                    <a:p>
                      <a:pPr algn="l">
                        <a:lnSpc>
                          <a:spcPct val="106000"/>
                        </a:lnSpc>
                        <a:spcAft>
                          <a:spcPts val="0"/>
                        </a:spcAft>
                      </a:pPr>
                      <a:r>
                        <a:rPr sz="1100" b="0">
                          <a:solidFill>
                            <a:srgbClr val="333333"/>
                          </a:solidFill>
                          <a:latin typeface="Courier New"/>
                        </a:rPr>
                        <a:t>) &amp;&amp; !use_compass()) {</a:t>
                      </a:r>
                    </a:p>
                    <a:p>
                      <a:pPr algn="l">
                        <a:lnSpc>
                          <a:spcPct val="106000"/>
                        </a:lnSpc>
                        <a:spcAft>
                          <a:spcPts val="0"/>
                        </a:spcAft>
                      </a:pPr>
                      <a:r>
                        <a:rPr sz="1100" b="0">
                          <a:solidFill>
                            <a:srgbClr val="333333"/>
                          </a:solidFill>
                          <a:latin typeface="Courier New"/>
                        </a:rPr>
                        <a:t>// this is a special case where a plane has launched without magnetometer</a:t>
                      </a:r>
                    </a:p>
                    <a:p>
                      <a:pPr algn="l">
                        <a:lnSpc>
                          <a:spcPct val="106000"/>
                        </a:lnSpc>
                        <a:spcAft>
                          <a:spcPts val="0"/>
                        </a:spcAft>
                      </a:pPr>
                      <a:r>
                        <a:rPr sz="1100" b="0">
                          <a:solidFill>
                            <a:srgbClr val="333333"/>
                          </a:solidFill>
                          <a:latin typeface="Courier New"/>
                        </a:rPr>
                        <a:t>// is now in the air and needs to align yaw to the GPS and</a:t>
                      </a:r>
                    </a:p>
                    <a:p>
                      <a:pPr algn="l">
                        <a:lnSpc>
                          <a:spcPct val="106000"/>
                        </a:lnSpc>
                        <a:spcAft>
                          <a:spcPts val="0"/>
                        </a:spcAft>
                      </a:pPr>
                      <a:r>
                        <a:rPr sz="1100" b="0">
                          <a:solidFill>
                            <a:srgbClr val="333333"/>
                          </a:solidFill>
                          <a:latin typeface="Courier New"/>
                        </a:rPr>
                        <a:t>start navigating as soon as possible</a:t>
                      </a:r>
                    </a:p>
                    <a:p>
                      <a:pPr algn="l">
                        <a:lnSpc>
                          <a:spcPct val="106000"/>
                        </a:lnSpc>
                        <a:spcAft>
                          <a:spcPts val="0"/>
                        </a:spcAft>
                      </a:pPr>
                      <a:r>
                        <a:rPr sz="1100" b="0">
                          <a:solidFill>
                            <a:srgbClr val="333333"/>
                          </a:solidFill>
                          <a:latin typeface="Courier New"/>
                        </a:rPr>
                        <a:t>gpsGoodToAlign = true;</a:t>
                      </a:r>
                    </a:p>
                    <a:p>
                      <a:pPr algn="l">
                        <a:lnSpc>
                          <a:spcPct val="106000"/>
                        </a:lnSpc>
                        <a:spcAft>
                          <a:spcPts val="0"/>
                        </a:spcAft>
                      </a:pPr>
                      <a:r>
                        <a:rPr sz="1100" b="0">
                          <a:solidFill>
                            <a:srgbClr val="333333"/>
                          </a:solidFill>
                          <a:latin typeface="Courier New"/>
                        </a:rPr>
                        <a:t>return;</a:t>
                      </a:r>
                    </a:p>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Courier New"/>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NavEKF3_core::resetGyroBias()</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void NavEKF3_core::resetGyroBias(void)</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stateStruct.gyro_bias.zero();</a:t>
                      </a:r>
                    </a:p>
                    <a:p>
                      <a:pPr algn="l">
                        <a:lnSpc>
                          <a:spcPct val="106000"/>
                        </a:lnSpc>
                        <a:spcAft>
                          <a:spcPts val="0"/>
                        </a:spcAft>
                      </a:pPr>
                      <a:r>
                        <a:rPr sz="1100" b="0">
                          <a:solidFill>
                            <a:srgbClr val="333333"/>
                          </a:solidFill>
                          <a:latin typeface="Courier New"/>
                        </a:rPr>
                        <a:t>zeroRows(P,10,12);</a:t>
                      </a:r>
                    </a:p>
                    <a:p>
                      <a:pPr algn="l">
                        <a:lnSpc>
                          <a:spcPct val="106000"/>
                        </a:lnSpc>
                        <a:spcAft>
                          <a:spcPts val="0"/>
                        </a:spcAft>
                      </a:pPr>
                      <a:r>
                        <a:rPr sz="1100" b="0">
                          <a:solidFill>
                            <a:srgbClr val="333333"/>
                          </a:solidFill>
                          <a:latin typeface="Courier New"/>
                        </a:rPr>
                        <a:t>zeroCols(P,10,12);</a:t>
                      </a:r>
                    </a:p>
                    <a:p>
                      <a:pPr algn="l">
                        <a:lnSpc>
                          <a:spcPct val="106000"/>
                        </a:lnSpc>
                        <a:spcAft>
                          <a:spcPts val="0"/>
                        </a:spcAft>
                      </a:pPr>
                      <a:r>
                        <a:rPr sz="1100" b="0">
                          <a:solidFill>
                            <a:srgbClr val="333333"/>
                          </a:solidFill>
                          <a:latin typeface="Courier New"/>
                        </a:rPr>
                        <a:t>P[10][10] = sq(radians(0.5f * dtIMUavg));</a:t>
                      </a:r>
                    </a:p>
                    <a:p>
                      <a:pPr algn="l">
                        <a:lnSpc>
                          <a:spcPct val="106000"/>
                        </a:lnSpc>
                        <a:spcAft>
                          <a:spcPts val="0"/>
                        </a:spcAft>
                      </a:pPr>
                      <a:r>
                        <a:rPr sz="1100" b="0">
                          <a:solidFill>
                            <a:srgbClr val="333333"/>
                          </a:solidFill>
                          <a:latin typeface="Courier New"/>
                        </a:rPr>
                        <a:t>P[11][11] = P[10][10];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15–16</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Courier New"/>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NavEKF3_core::FuseRngBcn()</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void NavEKF3_core::FuseRngBcn()</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declarations</a:t>
                      </a:r>
                    </a:p>
                    <a:p>
                      <a:pPr algn="l">
                        <a:lnSpc>
                          <a:spcPct val="106000"/>
                        </a:lnSpc>
                        <a:spcAft>
                          <a:spcPts val="0"/>
                        </a:spcAft>
                      </a:pPr>
                      <a:r>
                        <a:rPr sz="1100" b="0">
                          <a:solidFill>
                            <a:srgbClr val="333333"/>
                          </a:solidFill>
                          <a:latin typeface="Courier New"/>
                        </a:rPr>
                        <a:t>ftype pn;</a:t>
                      </a:r>
                    </a:p>
                    <a:p>
                      <a:pPr algn="l">
                        <a:lnSpc>
                          <a:spcPct val="106000"/>
                        </a:lnSpc>
                        <a:spcAft>
                          <a:spcPts val="0"/>
                        </a:spcAft>
                      </a:pPr>
                      <a:r>
                        <a:rPr sz="1100" b="0">
                          <a:solidFill>
                            <a:srgbClr val="333333"/>
                          </a:solidFill>
                          <a:latin typeface="Courier New"/>
                        </a:rPr>
                        <a:t>ftype pe;</a:t>
                      </a:r>
                    </a:p>
                    <a:p>
                      <a:pPr algn="l">
                        <a:lnSpc>
                          <a:spcPct val="106000"/>
                        </a:lnSpc>
                        <a:spcAft>
                          <a:spcPts val="0"/>
                        </a:spcAft>
                      </a:pPr>
                      <a:r>
                        <a:rPr sz="1100" b="0">
                          <a:solidFill>
                            <a:srgbClr val="333333"/>
                          </a:solidFill>
                          <a:latin typeface="Courier New"/>
                        </a:rPr>
                        <a:t>ftype pd;</a:t>
                      </a:r>
                    </a:p>
                    <a:p>
                      <a:pPr algn="l">
                        <a:lnSpc>
                          <a:spcPct val="106000"/>
                        </a:lnSpc>
                        <a:spcAft>
                          <a:spcPts val="0"/>
                        </a:spcAft>
                      </a:pPr>
                      <a:r>
                        <a:rPr sz="1100" b="0">
                          <a:solidFill>
                            <a:srgbClr val="333333"/>
                          </a:solidFill>
                          <a:latin typeface="Courier New"/>
                        </a:rPr>
                        <a:t>ftype bcn_pn;</a:t>
                      </a:r>
                    </a:p>
                    <a:p>
                      <a:pPr algn="l">
                        <a:lnSpc>
                          <a:spcPct val="106000"/>
                        </a:lnSpc>
                        <a:spcAft>
                          <a:spcPts val="0"/>
                        </a:spcAft>
                      </a:pPr>
                      <a:r>
                        <a:rPr sz="1100" b="0">
                          <a:solidFill>
                            <a:srgbClr val="333333"/>
                          </a:solidFill>
                          <a:latin typeface="Courier New"/>
                        </a:rPr>
                        <a:t>ftype bcn_pe;</a:t>
                      </a:r>
                    </a:p>
                    <a:p>
                      <a:pPr algn="l">
                        <a:lnSpc>
                          <a:spcPct val="106000"/>
                        </a:lnSpc>
                        <a:spcAft>
                          <a:spcPts val="0"/>
                        </a:spcAft>
                      </a:pPr>
                      <a:r>
                        <a:rPr sz="1100" b="0">
                          <a:solidFill>
                            <a:srgbClr val="333333"/>
                          </a:solidFill>
                          <a:latin typeface="Courier New"/>
                        </a:rPr>
                        <a:t>ftype bcn_pd;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Courier New"/>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NavEKF3_core::Log_Write_XKF1()</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void NavEKF3_core::Log_Write_XKF1(uint64_t time_us) const</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Write first EKF packet</a:t>
                      </a:r>
                    </a:p>
                    <a:p>
                      <a:pPr algn="l">
                        <a:lnSpc>
                          <a:spcPct val="106000"/>
                        </a:lnSpc>
                        <a:spcAft>
                          <a:spcPts val="0"/>
                        </a:spcAft>
                      </a:pPr>
                      <a:r>
                        <a:rPr sz="1100" b="0">
                          <a:solidFill>
                            <a:srgbClr val="333333"/>
                          </a:solidFill>
                          <a:latin typeface="Courier New"/>
                        </a:rPr>
                        <a:t>Vector3f euler;</a:t>
                      </a:r>
                    </a:p>
                    <a:p>
                      <a:pPr algn="l">
                        <a:lnSpc>
                          <a:spcPct val="106000"/>
                        </a:lnSpc>
                        <a:spcAft>
                          <a:spcPts val="0"/>
                        </a:spcAft>
                      </a:pPr>
                      <a:r>
                        <a:rPr sz="1100" b="0">
                          <a:solidFill>
                            <a:srgbClr val="333333"/>
                          </a:solidFill>
                          <a:latin typeface="Courier New"/>
                        </a:rPr>
                        <a:t>Vector2p posNE;</a:t>
                      </a:r>
                    </a:p>
                    <a:p>
                      <a:pPr algn="l">
                        <a:lnSpc>
                          <a:spcPct val="106000"/>
                        </a:lnSpc>
                        <a:spcAft>
                          <a:spcPts val="0"/>
                        </a:spcAft>
                      </a:pPr>
                      <a:r>
                        <a:rPr sz="1100" b="0">
                          <a:solidFill>
                            <a:srgbClr val="333333"/>
                          </a:solidFill>
                          <a:latin typeface="Courier New"/>
                        </a:rPr>
                        <a:t>postype_t posD;</a:t>
                      </a:r>
                    </a:p>
                    <a:p>
                      <a:pPr algn="l">
                        <a:lnSpc>
                          <a:spcPct val="106000"/>
                        </a:lnSpc>
                        <a:spcAft>
                          <a:spcPts val="0"/>
                        </a:spcAft>
                      </a:pPr>
                      <a:r>
                        <a:rPr sz="1100" b="0">
                          <a:solidFill>
                            <a:srgbClr val="333333"/>
                          </a:solidFill>
                          <a:latin typeface="Courier New"/>
                        </a:rPr>
                        <a:t>Vector3f velNED;</a:t>
                      </a:r>
                    </a:p>
                    <a:p>
                      <a:pPr algn="l">
                        <a:lnSpc>
                          <a:spcPct val="106000"/>
                        </a:lnSpc>
                        <a:spcAft>
                          <a:spcPts val="0"/>
                        </a:spcAft>
                      </a:pPr>
                      <a:r>
                        <a:rPr sz="1100" b="0">
                          <a:solidFill>
                            <a:srgbClr val="333333"/>
                          </a:solidFill>
                          <a:latin typeface="Courier New"/>
                        </a:rPr>
                        <a:t>Vector3f gyroBias;</a:t>
                      </a:r>
                    </a:p>
                    <a:p>
                      <a:pPr algn="l">
                        <a:lnSpc>
                          <a:spcPct val="106000"/>
                        </a:lnSpc>
                        <a:spcAft>
                          <a:spcPts val="0"/>
                        </a:spcAft>
                      </a:pPr>
                      <a:r>
                        <a:rPr sz="1100" b="0">
                          <a:solidFill>
                            <a:srgbClr val="333333"/>
                          </a:solidFill>
                          <a:latin typeface="Courier New"/>
                        </a:rPr>
                        <a:t>float posDownDeriv;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17–18</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Courier New"/>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NavEKF3::getFilterStatus()</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void NavEKF3::getFilterStatus(nav_filter_status &amp;status) const</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if (core) {</a:t>
                      </a:r>
                    </a:p>
                    <a:p>
                      <a:pPr algn="l">
                        <a:lnSpc>
                          <a:spcPct val="106000"/>
                        </a:lnSpc>
                        <a:spcAft>
                          <a:spcPts val="0"/>
                        </a:spcAft>
                      </a:pPr>
                      <a:r>
                        <a:rPr sz="1100" b="0">
                          <a:solidFill>
                            <a:srgbClr val="333333"/>
                          </a:solidFill>
                          <a:latin typeface="Courier New"/>
                        </a:rPr>
                        <a:t>core[primary].getFilterStatus(status);</a:t>
                      </a:r>
                    </a:p>
                    <a:p>
                      <a:pPr algn="l">
                        <a:lnSpc>
                          <a:spcPct val="106000"/>
                        </a:lnSpc>
                        <a:spcAft>
                          <a:spcPts val="0"/>
                        </a:spcAft>
                      </a:pPr>
                      <a:r>
                        <a:rPr sz="1100" b="0">
                          <a:solidFill>
                            <a:srgbClr val="333333"/>
                          </a:solidFill>
                          <a:latin typeface="Courier New"/>
                        </a:rPr>
                        <a:t>} else {</a:t>
                      </a:r>
                    </a:p>
                    <a:p>
                      <a:pPr algn="l">
                        <a:lnSpc>
                          <a:spcPct val="106000"/>
                        </a:lnSpc>
                        <a:spcAft>
                          <a:spcPts val="0"/>
                        </a:spcAft>
                      </a:pPr>
                      <a:r>
                        <a:rPr sz="1100" b="0">
                          <a:solidFill>
                            <a:srgbClr val="333333"/>
                          </a:solidFill>
                          <a:latin typeface="Courier New"/>
                        </a:rPr>
                        <a:t>memset(&amp;status, 0, sizeof(status));</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Courier New"/>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NavEKF2_core::UpdateFilter()</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void NavEKF2_core::UpdateFilter(bool predict)</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Set the flag to indicate to the filter that the front-end has given permission for a new state prediction cycle to be started</a:t>
                      </a:r>
                    </a:p>
                    <a:p>
                      <a:pPr algn="l">
                        <a:lnSpc>
                          <a:spcPct val="106000"/>
                        </a:lnSpc>
                        <a:spcAft>
                          <a:spcPts val="0"/>
                        </a:spcAft>
                      </a:pPr>
                      <a:r>
                        <a:rPr sz="1100" b="0">
                          <a:solidFill>
                            <a:srgbClr val="333333"/>
                          </a:solidFill>
                          <a:latin typeface="Courier New"/>
                        </a:rPr>
                        <a:t>startPredictEnabled = predict;</a:t>
                      </a:r>
                    </a:p>
                    <a:p>
                      <a:pPr algn="l">
                        <a:lnSpc>
                          <a:spcPct val="106000"/>
                        </a:lnSpc>
                        <a:spcAft>
                          <a:spcPts val="0"/>
                        </a:spcAft>
                      </a:pPr>
                      <a:r>
                        <a:rPr sz="1100" b="0">
                          <a:solidFill>
                            <a:srgbClr val="333333"/>
                          </a:solidFill>
                          <a:latin typeface="Courier New"/>
                        </a:rPr>
                        <a:t>// don't run filter updates if states have not been initialised</a:t>
                      </a:r>
                    </a:p>
                    <a:p>
                      <a:pPr algn="l">
                        <a:lnSpc>
                          <a:spcPct val="106000"/>
                        </a:lnSpc>
                        <a:spcAft>
                          <a:spcPts val="0"/>
                        </a:spcAft>
                      </a:pPr>
                      <a:r>
                        <a:rPr sz="1100" b="0">
                          <a:solidFill>
                            <a:srgbClr val="333333"/>
                          </a:solidFill>
                          <a:latin typeface="Courier New"/>
                        </a:rPr>
                        <a:t>if (!statesInitialised) {</a:t>
                      </a:r>
                    </a:p>
                    <a:p>
                      <a:pPr algn="l">
                        <a:lnSpc>
                          <a:spcPct val="106000"/>
                        </a:lnSpc>
                        <a:spcAft>
                          <a:spcPts val="0"/>
                        </a:spcAft>
                      </a:pPr>
                      <a:r>
                        <a:rPr sz="1100" b="0">
                          <a:solidFill>
                            <a:srgbClr val="333333"/>
                          </a:solidFill>
                          <a:latin typeface="Courier New"/>
                        </a:rPr>
                        <a:t>return;</a:t>
                      </a:r>
                    </a:p>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19–20</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Courier New"/>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NavEKF2_core::FuseVelPosNED()</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void NavEKF2_core::FuseVelPosNED()</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health is set bad until test passed</a:t>
                      </a:r>
                    </a:p>
                    <a:p>
                      <a:pPr algn="l">
                        <a:lnSpc>
                          <a:spcPct val="106000"/>
                        </a:lnSpc>
                        <a:spcAft>
                          <a:spcPts val="0"/>
                        </a:spcAft>
                      </a:pPr>
                      <a:r>
                        <a:rPr sz="1100" b="0">
                          <a:solidFill>
                            <a:srgbClr val="333333"/>
                          </a:solidFill>
                          <a:latin typeface="Courier New"/>
                        </a:rPr>
                        <a:t>bool velHealth = false; // boolean true if velocity measurements have passed innovation consistency check</a:t>
                      </a:r>
                    </a:p>
                    <a:p>
                      <a:pPr algn="l">
                        <a:lnSpc>
                          <a:spcPct val="106000"/>
                        </a:lnSpc>
                        <a:spcAft>
                          <a:spcPts val="0"/>
                        </a:spcAft>
                      </a:pPr>
                      <a:r>
                        <a:rPr sz="1100" b="0">
                          <a:solidFill>
                            <a:srgbClr val="333333"/>
                          </a:solidFill>
                          <a:latin typeface="Courier New"/>
                        </a:rPr>
                        <a:t>bool posHealth = false; // boolean true if position measurements have passed innovation consistency check</a:t>
                      </a:r>
                    </a:p>
                    <a:p>
                      <a:pPr algn="l">
                        <a:lnSpc>
                          <a:spcPct val="106000"/>
                        </a:lnSpc>
                        <a:spcAft>
                          <a:spcPts val="0"/>
                        </a:spcAft>
                      </a:pPr>
                      <a:r>
                        <a:rPr sz="1100" b="0">
                          <a:solidFill>
                            <a:srgbClr val="333333"/>
                          </a:solidFill>
                          <a:latin typeface="Courier New"/>
                        </a:rPr>
                        <a:t>bool hgtHealth = false; // boolean true if height measurements have passed innovation consistency check</a:t>
                      </a:r>
                    </a:p>
                    <a:p>
                      <a:pPr algn="l">
                        <a:lnSpc>
                          <a:spcPct val="106000"/>
                        </a:lnSpc>
                        <a:spcAft>
                          <a:spcPts val="0"/>
                        </a:spcAft>
                      </a:pPr>
                      <a:r>
                        <a:rPr sz="1100" b="0">
                          <a:solidFill>
                            <a:srgbClr val="333333"/>
                          </a:solidFill>
                          <a:latin typeface="Courier New"/>
                        </a:rPr>
                        <a:t>// declare variables used to check measurement errors</a:t>
                      </a:r>
                    </a:p>
                    <a:p>
                      <a:pPr algn="l">
                        <a:lnSpc>
                          <a:spcPct val="106000"/>
                        </a:lnSpc>
                        <a:spcAft>
                          <a:spcPts val="0"/>
                        </a:spcAft>
                      </a:pPr>
                      <a:r>
                        <a:rPr sz="1100" b="0">
                          <a:solidFill>
                            <a:srgbClr val="333333"/>
                          </a:solidFill>
                          <a:latin typeface="Courier New"/>
                        </a:rPr>
                        <a:t>Vector3F velInnov;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Courier New"/>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EKFGSF_yaw::update()</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void EKFGSF_yaw::update(const Vector3F &amp;delAng,</a:t>
                      </a:r>
                    </a:p>
                    <a:p>
                      <a:pPr algn="l">
                        <a:lnSpc>
                          <a:spcPct val="106000"/>
                        </a:lnSpc>
                        <a:spcAft>
                          <a:spcPts val="0"/>
                        </a:spcAft>
                      </a:pPr>
                      <a:r>
                        <a:rPr sz="1100" b="0">
                          <a:solidFill>
                            <a:srgbClr val="333333"/>
                          </a:solidFill>
                          <a:latin typeface="Courier New"/>
                        </a:rPr>
                        <a:t>const Vector3F &amp;delVel,</a:t>
                      </a:r>
                    </a:p>
                    <a:p>
                      <a:pPr algn="l">
                        <a:lnSpc>
                          <a:spcPct val="106000"/>
                        </a:lnSpc>
                        <a:spcAft>
                          <a:spcPts val="0"/>
                        </a:spcAft>
                      </a:pPr>
                      <a:r>
                        <a:rPr sz="1100" b="0">
                          <a:solidFill>
                            <a:srgbClr val="333333"/>
                          </a:solidFill>
                          <a:latin typeface="Courier New"/>
                        </a:rPr>
                        <a:t>const ftype delAngDT,</a:t>
                      </a:r>
                    </a:p>
                    <a:p>
                      <a:pPr algn="l">
                        <a:lnSpc>
                          <a:spcPct val="106000"/>
                        </a:lnSpc>
                        <a:spcAft>
                          <a:spcPts val="0"/>
                        </a:spcAft>
                      </a:pPr>
                      <a:r>
                        <a:rPr sz="1100" b="0">
                          <a:solidFill>
                            <a:srgbClr val="333333"/>
                          </a:solidFill>
                          <a:latin typeface="Courier New"/>
                        </a:rPr>
                        <a:t>const ftype delVelDT,</a:t>
                      </a:r>
                    </a:p>
                    <a:p>
                      <a:pPr algn="l">
                        <a:lnSpc>
                          <a:spcPct val="106000"/>
                        </a:lnSpc>
                        <a:spcAft>
                          <a:spcPts val="0"/>
                        </a:spcAft>
                      </a:pPr>
                      <a:r>
                        <a:rPr sz="1100" b="0">
                          <a:solidFill>
                            <a:srgbClr val="333333"/>
                          </a:solidFill>
                          <a:latin typeface="Courier New"/>
                        </a:rPr>
                        <a:t>bool runEKF,</a:t>
                      </a:r>
                    </a:p>
                    <a:p>
                      <a:pPr algn="l">
                        <a:lnSpc>
                          <a:spcPct val="106000"/>
                        </a:lnSpc>
                        <a:spcAft>
                          <a:spcPts val="0"/>
                        </a:spcAft>
                      </a:pPr>
                      <a:r>
                        <a:rPr sz="1100" b="0">
                          <a:solidFill>
                            <a:srgbClr val="333333"/>
                          </a:solidFill>
                          <a:latin typeface="Courier New"/>
                        </a:rPr>
                        <a:t>ftype TAS)</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copy to class variables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21–22</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3925374"/>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Courier New"/>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AC_WPNav::set_wp_destination_loc()</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bool AC_WPNav::set_wp_destination_loc(const Location&amp; destination)</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bool is_terrain_alt;</a:t>
                      </a:r>
                    </a:p>
                    <a:p>
                      <a:pPr algn="l">
                        <a:lnSpc>
                          <a:spcPct val="106000"/>
                        </a:lnSpc>
                        <a:spcAft>
                          <a:spcPts val="0"/>
                        </a:spcAft>
                      </a:pPr>
                      <a:r>
                        <a:rPr sz="1100" b="0">
                          <a:solidFill>
                            <a:srgbClr val="333333"/>
                          </a:solidFill>
                          <a:latin typeface="Courier New"/>
                        </a:rPr>
                        <a:t>Vector3f dest_neu_cm;</a:t>
                      </a:r>
                    </a:p>
                    <a:p>
                      <a:pPr algn="l">
                        <a:lnSpc>
                          <a:spcPct val="106000"/>
                        </a:lnSpc>
                        <a:spcAft>
                          <a:spcPts val="0"/>
                        </a:spcAft>
                      </a:pPr>
                      <a:r>
                        <a:rPr sz="1100" b="0">
                          <a:solidFill>
                            <a:srgbClr val="333333"/>
                          </a:solidFill>
                          <a:latin typeface="Courier New"/>
                        </a:rPr>
                        <a:t>// convert destination location to vector</a:t>
                      </a:r>
                    </a:p>
                    <a:p>
                      <a:pPr algn="l">
                        <a:lnSpc>
                          <a:spcPct val="106000"/>
                        </a:lnSpc>
                        <a:spcAft>
                          <a:spcPts val="0"/>
                        </a:spcAft>
                      </a:pPr>
                      <a:r>
                        <a:rPr sz="1100" b="0">
                          <a:solidFill>
                            <a:srgbClr val="333333"/>
                          </a:solidFill>
                          <a:latin typeface="Courier New"/>
                        </a:rPr>
                        <a:t>if (!get_vector_NEU_cm(destination, dest_neu_cm, is_terrain_alt)) {</a:t>
                      </a:r>
                    </a:p>
                    <a:p>
                      <a:pPr algn="l">
                        <a:lnSpc>
                          <a:spcPct val="106000"/>
                        </a:lnSpc>
                        <a:spcAft>
                          <a:spcPts val="0"/>
                        </a:spcAft>
                      </a:pPr>
                      <a:r>
                        <a:rPr sz="1100" b="0">
                          <a:solidFill>
                            <a:srgbClr val="333333"/>
                          </a:solidFill>
                          <a:latin typeface="Courier New"/>
                        </a:rPr>
                        <a:t>return false;</a:t>
                      </a:r>
                    </a:p>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Courier New"/>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AP_Mission::get_next_nav_cmd()</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bool AP_Mission::get_next_nav_cmd(uint16_t start_index, Mission_Command&amp; cmd)</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search until the end of the mission command list</a:t>
                      </a:r>
                    </a:p>
                    <a:p>
                      <a:pPr algn="l">
                        <a:lnSpc>
                          <a:spcPct val="106000"/>
                        </a:lnSpc>
                        <a:spcAft>
                          <a:spcPts val="0"/>
                        </a:spcAft>
                      </a:pPr>
                      <a:r>
                        <a:rPr sz="1100" b="0">
                          <a:solidFill>
                            <a:srgbClr val="333333"/>
                          </a:solidFill>
                          <a:latin typeface="Courier New"/>
                        </a:rPr>
                        <a:t>for (uint16_t cmd_index = start_index; cmd_index &lt; (unsigned)_cmd_total; cmd_index++) {</a:t>
                      </a:r>
                    </a:p>
                    <a:p>
                      <a:pPr algn="l">
                        <a:lnSpc>
                          <a:spcPct val="106000"/>
                        </a:lnSpc>
                        <a:spcAft>
                          <a:spcPts val="0"/>
                        </a:spcAft>
                      </a:pPr>
                      <a:r>
                        <a:rPr sz="1100" b="0">
                          <a:solidFill>
                            <a:srgbClr val="333333"/>
                          </a:solidFill>
                          <a:latin typeface="Courier New"/>
                        </a:rPr>
                        <a:t>// get next command</a:t>
                      </a:r>
                    </a:p>
                    <a:p>
                      <a:pPr algn="l">
                        <a:lnSpc>
                          <a:spcPct val="106000"/>
                        </a:lnSpc>
                        <a:spcAft>
                          <a:spcPts val="0"/>
                        </a:spcAft>
                      </a:pPr>
                      <a:r>
                        <a:rPr sz="1100" b="0">
                          <a:solidFill>
                            <a:srgbClr val="333333"/>
                          </a:solidFill>
                          <a:latin typeface="Courier New"/>
                        </a:rPr>
                        <a:t>if (!get_next_cmd(cmd_index, cmd, false)) {</a:t>
                      </a:r>
                    </a:p>
                    <a:p>
                      <a:pPr algn="l">
                        <a:lnSpc>
                          <a:spcPct val="106000"/>
                        </a:lnSpc>
                        <a:spcAft>
                          <a:spcPts val="0"/>
                        </a:spcAft>
                      </a:pPr>
                      <a:r>
                        <a:rPr sz="1100" b="0">
                          <a:solidFill>
                            <a:srgbClr val="333333"/>
                          </a:solidFill>
                          <a:latin typeface="Courier New"/>
                        </a:rPr>
                        <a:t>// no more commands so return failure</a:t>
                      </a:r>
                    </a:p>
                    <a:p>
                      <a:pPr algn="l">
                        <a:lnSpc>
                          <a:spcPct val="106000"/>
                        </a:lnSpc>
                        <a:spcAft>
                          <a:spcPts val="0"/>
                        </a:spcAft>
                      </a:pPr>
                      <a:r>
                        <a:rPr sz="1100" b="0">
                          <a:solidFill>
                            <a:srgbClr val="333333"/>
                          </a:solidFill>
                          <a:latin typeface="Courier New"/>
                        </a:rPr>
                        <a:t>return false;</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if found a "navigation" command then return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23–24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428077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Courier New"/>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AP_L1_Control::update_waypoint()</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 Calculate L1 gain required for specified damping</a:t>
                      </a:r>
                    </a:p>
                    <a:p>
                      <a:pPr algn="l">
                        <a:lnSpc>
                          <a:spcPct val="106000"/>
                        </a:lnSpc>
                        <a:spcAft>
                          <a:spcPts val="0"/>
                        </a:spcAft>
                      </a:pPr>
                      <a:r>
                        <a:rPr sz="1100" b="0">
                          <a:solidFill>
                            <a:srgbClr val="333333"/>
                          </a:solidFill>
                          <a:latin typeface="Courier New"/>
                        </a:rPr>
                        <a:t>float K_L1 = 4.0f * _L1_damping * _L1_damping;</a:t>
                      </a:r>
                    </a:p>
                    <a:p>
                      <a:pPr algn="l">
                        <a:lnSpc>
                          <a:spcPct val="106000"/>
                        </a:lnSpc>
                        <a:spcAft>
                          <a:spcPts val="0"/>
                        </a:spcAft>
                      </a:pPr>
                      <a:r>
                        <a:rPr sz="1100" b="0">
                          <a:solidFill>
                            <a:srgbClr val="333333"/>
                          </a:solidFill>
                          <a:latin typeface="Courier New"/>
                        </a:rPr>
                        <a:t>// Get current position and velocity</a:t>
                      </a:r>
                    </a:p>
                    <a:p>
                      <a:pPr algn="l">
                        <a:lnSpc>
                          <a:spcPct val="106000"/>
                        </a:lnSpc>
                        <a:spcAft>
                          <a:spcPts val="0"/>
                        </a:spcAft>
                      </a:pPr>
                      <a:r>
                        <a:rPr sz="1100" b="0">
                          <a:solidFill>
                            <a:srgbClr val="333333"/>
                          </a:solidFill>
                          <a:latin typeface="Courier New"/>
                        </a:rPr>
                        <a:t>if (_ahrs.get_location(_current_loc) == false) {</a:t>
                      </a:r>
                    </a:p>
                    <a:p>
                      <a:pPr algn="l">
                        <a:lnSpc>
                          <a:spcPct val="106000"/>
                        </a:lnSpc>
                        <a:spcAft>
                          <a:spcPts val="0"/>
                        </a:spcAft>
                      </a:pPr>
                      <a:r>
                        <a:rPr sz="1100" b="0">
                          <a:solidFill>
                            <a:srgbClr val="333333"/>
                          </a:solidFill>
                          <a:latin typeface="Courier New"/>
                        </a:rPr>
                        <a:t>// if no GPS loc available, maintain last nav/target_bearing</a:t>
                      </a:r>
                    </a:p>
                    <a:p>
                      <a:pPr algn="l">
                        <a:lnSpc>
                          <a:spcPct val="106000"/>
                        </a:lnSpc>
                        <a:spcAft>
                          <a:spcPts val="0"/>
                        </a:spcAft>
                      </a:pPr>
                      <a:r>
                        <a:rPr sz="1100" b="0">
                          <a:solidFill>
                            <a:srgbClr val="333333"/>
                          </a:solidFill>
                          <a:latin typeface="Courier New"/>
                        </a:rPr>
                        <a:t>_data_is_stale = true;</a:t>
                      </a:r>
                    </a:p>
                    <a:p>
                      <a:pPr algn="l">
                        <a:lnSpc>
                          <a:spcPct val="106000"/>
                        </a:lnSpc>
                        <a:spcAft>
                          <a:spcPts val="0"/>
                        </a:spcAft>
                      </a:pPr>
                      <a:r>
                        <a:rPr sz="1100" b="0">
                          <a:solidFill>
                            <a:srgbClr val="333333"/>
                          </a:solidFill>
                          <a:latin typeface="Courier New"/>
                        </a:rPr>
                        <a:t>return;</a:t>
                      </a:r>
                    </a:p>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375673">
                <a:tc>
                  <a:txBody>
                    <a:bodyPr wrap="square">
                      <a:noAutofit/>
                    </a:bodyPr>
                    <a:lstStyle/>
                    <a:p>
                      <a:pPr algn="r">
                        <a:lnSpc>
                          <a:spcPct val="106000"/>
                        </a:lnSpc>
                        <a:spcAft>
                          <a:spcPts val="0"/>
                        </a:spcAft>
                      </a:pPr>
                      <a:r>
                        <a:rPr sz="1100" b="1">
                          <a:solidFill>
                            <a:srgbClr val="333333"/>
                          </a:solidFill>
                          <a:latin typeface="Courier New"/>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AP_L1_Control::nav_roll_cd()</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int32_t AP_L1_Control::nav_roll_cd(void) const</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float ret;</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formula can be obtained through equations of balanced spiral:</a:t>
                      </a:r>
                    </a:p>
                    <a:p>
                      <a:pPr algn="l">
                        <a:lnSpc>
                          <a:spcPct val="106000"/>
                        </a:lnSpc>
                        <a:spcAft>
                          <a:spcPts val="0"/>
                        </a:spcAft>
                      </a:pPr>
                      <a:r>
                        <a:rPr sz="1100" b="0">
                          <a:solidFill>
                            <a:srgbClr val="333333"/>
                          </a:solidFill>
                          <a:latin typeface="Courier New"/>
                        </a:rPr>
                        <a:t>liftForce * cos(roll) = gravityForce * cos(pitch);</a:t>
                      </a:r>
                    </a:p>
                    <a:p>
                      <a:pPr algn="l">
                        <a:lnSpc>
                          <a:spcPct val="106000"/>
                        </a:lnSpc>
                        <a:spcAft>
                          <a:spcPts val="0"/>
                        </a:spcAft>
                      </a:pPr>
                      <a:r>
                        <a:rPr sz="1100" b="0">
                          <a:solidFill>
                            <a:srgbClr val="333333"/>
                          </a:solidFill>
                          <a:latin typeface="Courier New"/>
                        </a:rPr>
                        <a:t>liftForce * sin(roll) = gravityForce * lateralAcceleration</a:t>
                      </a:r>
                    </a:p>
                    <a:p>
                      <a:pPr algn="l">
                        <a:lnSpc>
                          <a:spcPct val="106000"/>
                        </a:lnSpc>
                        <a:spcAft>
                          <a:spcPts val="0"/>
                        </a:spcAft>
                      </a:pPr>
                      <a:r>
                        <a:rPr sz="1100" b="0">
                          <a:solidFill>
                            <a:srgbClr val="333333"/>
                          </a:solidFill>
                          <a:latin typeface="Courier New"/>
                        </a:rPr>
                        <a:t>/ gravityAcceleration; // as mass = gravityForce/gravityAcceleration</a:t>
                      </a:r>
                    </a:p>
                    <a:p>
                      <a:pPr algn="l">
                        <a:lnSpc>
                          <a:spcPct val="106000"/>
                        </a:lnSpc>
                        <a:spcAft>
                          <a:spcPts val="0"/>
                        </a:spcAft>
                      </a:pPr>
                      <a:r>
                        <a:rPr sz="1100" b="0">
                          <a:solidFill>
                            <a:srgbClr val="333333"/>
                          </a:solidFill>
                          <a:latin typeface="Courier New"/>
                        </a:rPr>
                        <a:t>see issue 24319 [https://github.com/ArduPilot/ardupilot/issues/24319]</a:t>
                      </a:r>
                    </a:p>
                    <a:p>
                      <a:pPr algn="l">
                        <a:lnSpc>
                          <a:spcPct val="106000"/>
                        </a:lnSpc>
                        <a:spcAft>
                          <a:spcPts val="0"/>
                        </a:spcAft>
                      </a:pPr>
                      <a:r>
                        <a:rPr sz="1100" b="0">
                          <a:solidFill>
                            <a:srgbClr val="333333"/>
                          </a:solidFill>
                          <a:latin typeface="Courier New"/>
                        </a:rPr>
                        <a:t>Multiplier 100.0f is for converting degrees to centidegrees</a:t>
                      </a:r>
                    </a:p>
                    <a:p>
                      <a:pPr algn="l">
                        <a:lnSpc>
                          <a:spcPct val="106000"/>
                        </a:lnSpc>
                        <a:spcAft>
                          <a:spcPts val="0"/>
                        </a:spcAft>
                      </a:pPr>
                      <a:r>
                        <a:rPr sz="1100" b="0">
                          <a:solidFill>
                            <a:srgbClr val="333333"/>
                          </a:solidFill>
                          <a:latin typeface="Courier New"/>
                        </a:rPr>
                        <a:t>Made changes to avoid zero division as proposed by Andrew</a:t>
                      </a:r>
                    </a:p>
                    <a:p>
                      <a:pPr algn="l">
                        <a:lnSpc>
                          <a:spcPct val="106000"/>
                        </a:lnSpc>
                        <a:spcAft>
                          <a:spcPts val="0"/>
                        </a:spcAft>
                      </a:pPr>
                      <a:r>
                        <a:rPr sz="1100" b="0">
                          <a:solidFill>
                            <a:srgbClr val="333333"/>
                          </a:solidFill>
                          <a:latin typeface="Courier New"/>
                        </a:rPr>
                        <a:t>Tridgell: https://github.com/ArduPilot/ardupilot/pull/24331#discussion_r1267798397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25–26</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197975">
                <a:tc>
                  <a:txBody>
                    <a:bodyPr wrap="square">
                      <a:noAutofit/>
                    </a:bodyPr>
                    <a:lstStyle/>
                    <a:p>
                      <a:pPr algn="r">
                        <a:lnSpc>
                          <a:spcPct val="106000"/>
                        </a:lnSpc>
                        <a:spcAft>
                          <a:spcPts val="0"/>
                        </a:spcAft>
                      </a:pPr>
                      <a:r>
                        <a:rPr sz="1100" b="1">
                          <a:solidFill>
                            <a:srgbClr val="333333"/>
                          </a:solidFill>
                          <a:latin typeface="Courier New"/>
                        </a:rPr>
                        <a:t>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AP_TECS::update_pitch_throttle()</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void AP_TECS::update_pitch_throttle(int32_t hgt_dem_cm,</a:t>
                      </a:r>
                    </a:p>
                    <a:p>
                      <a:pPr algn="l">
                        <a:lnSpc>
                          <a:spcPct val="106000"/>
                        </a:lnSpc>
                        <a:spcAft>
                          <a:spcPts val="0"/>
                        </a:spcAft>
                      </a:pPr>
                      <a:r>
                        <a:rPr sz="1100" b="0">
                          <a:solidFill>
                            <a:srgbClr val="333333"/>
                          </a:solidFill>
                          <a:latin typeface="Courier New"/>
                        </a:rPr>
                        <a:t>int32_t EAS_dem_cm,</a:t>
                      </a:r>
                    </a:p>
                    <a:p>
                      <a:pPr algn="l">
                        <a:lnSpc>
                          <a:spcPct val="106000"/>
                        </a:lnSpc>
                        <a:spcAft>
                          <a:spcPts val="0"/>
                        </a:spcAft>
                      </a:pPr>
                      <a:r>
                        <a:rPr sz="1100" b="0">
                          <a:solidFill>
                            <a:srgbClr val="333333"/>
                          </a:solidFill>
                          <a:latin typeface="Courier New"/>
                        </a:rPr>
                        <a:t>enum AP_FixedWing::FlightStage</a:t>
                      </a:r>
                    </a:p>
                    <a:p>
                      <a:pPr algn="l">
                        <a:lnSpc>
                          <a:spcPct val="106000"/>
                        </a:lnSpc>
                        <a:spcAft>
                          <a:spcPts val="0"/>
                        </a:spcAft>
                      </a:pPr>
                      <a:r>
                        <a:rPr sz="1100" b="0">
                          <a:solidFill>
                            <a:srgbClr val="333333"/>
                          </a:solidFill>
                          <a:latin typeface="Courier New"/>
                        </a:rPr>
                        <a:t>flight_stage,</a:t>
                      </a:r>
                    </a:p>
                    <a:p>
                      <a:pPr algn="l">
                        <a:lnSpc>
                          <a:spcPct val="106000"/>
                        </a:lnSpc>
                        <a:spcAft>
                          <a:spcPts val="0"/>
                        </a:spcAft>
                      </a:pPr>
                      <a:r>
                        <a:rPr sz="1100" b="0">
                          <a:solidFill>
                            <a:srgbClr val="333333"/>
                          </a:solidFill>
                          <a:latin typeface="Courier New"/>
                        </a:rPr>
                        <a:t>float distance_beyond_land_wp,</a:t>
                      </a:r>
                    </a:p>
                    <a:p>
                      <a:pPr algn="l">
                        <a:lnSpc>
                          <a:spcPct val="106000"/>
                        </a:lnSpc>
                        <a:spcAft>
                          <a:spcPts val="0"/>
                        </a:spcAft>
                      </a:pPr>
                      <a:r>
                        <a:rPr sz="1100" b="0">
                          <a:solidFill>
                            <a:srgbClr val="333333"/>
                          </a:solidFill>
                          <a:latin typeface="Courier New"/>
                        </a:rPr>
                        <a:t>int32_t ptchMinCO_cd,</a:t>
                      </a:r>
                    </a:p>
                    <a:p>
                      <a:pPr algn="l">
                        <a:lnSpc>
                          <a:spcPct val="106000"/>
                        </a:lnSpc>
                        <a:spcAft>
                          <a:spcPts val="0"/>
                        </a:spcAft>
                      </a:pPr>
                      <a:r>
                        <a:rPr sz="1100" b="0">
                          <a:solidFill>
                            <a:srgbClr val="333333"/>
                          </a:solidFill>
                          <a:latin typeface="Courier New"/>
                        </a:rPr>
                        <a:t>int16_t throttle_nudge,</a:t>
                      </a:r>
                    </a:p>
                    <a:p>
                      <a:pPr algn="l">
                        <a:lnSpc>
                          <a:spcPct val="106000"/>
                        </a:lnSpc>
                        <a:spcAft>
                          <a:spcPts val="0"/>
                        </a:spcAft>
                      </a:pPr>
                      <a:r>
                        <a:rPr sz="1100" b="0">
                          <a:solidFill>
                            <a:srgbClr val="333333"/>
                          </a:solidFill>
                          <a:latin typeface="Courier New"/>
                        </a:rPr>
                        <a:t>float hgt_afe,</a:t>
                      </a:r>
                    </a:p>
                    <a:p>
                      <a:pPr algn="l">
                        <a:lnSpc>
                          <a:spcPct val="106000"/>
                        </a:lnSpc>
                        <a:spcAft>
                          <a:spcPts val="0"/>
                        </a:spcAft>
                      </a:pPr>
                      <a:r>
                        <a:rPr sz="1100" b="0">
                          <a:solidFill>
                            <a:srgbClr val="333333"/>
                          </a:solidFill>
                          <a:latin typeface="Courier New"/>
                        </a:rPr>
                        <a:t>float load_factor,</a:t>
                      </a:r>
                    </a:p>
                    <a:p>
                      <a:pPr algn="l">
                        <a:lnSpc>
                          <a:spcPct val="106000"/>
                        </a:lnSpc>
                        <a:spcAft>
                          <a:spcPts val="0"/>
                        </a:spcAft>
                      </a:pPr>
                      <a:r>
                        <a:rPr sz="1100" b="0">
                          <a:solidFill>
                            <a:srgbClr val="333333"/>
                          </a:solidFill>
                          <a:latin typeface="Courier New"/>
                        </a:rPr>
                        <a:t>float pitch_trim_deg)</a:t>
                      </a:r>
                    </a:p>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Courier New"/>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AC_AttitudeControl::input_euler_angle_roll_pitch_yaw_cd()</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void AC_AttitudeControl::input_euler_angle_roll_pitch_yaw_cd(float</a:t>
                      </a:r>
                    </a:p>
                    <a:p>
                      <a:pPr algn="l">
                        <a:lnSpc>
                          <a:spcPct val="106000"/>
                        </a:lnSpc>
                        <a:spcAft>
                          <a:spcPts val="0"/>
                        </a:spcAft>
                      </a:pPr>
                      <a:r>
                        <a:rPr sz="1100" b="0">
                          <a:solidFill>
                            <a:srgbClr val="333333"/>
                          </a:solidFill>
                          <a:latin typeface="Courier New"/>
                        </a:rPr>
                        <a:t>euler_roll_angle_cd, float euler_pitch_angle_cd, float euler_yaw_angle_cd, bool slew_yaw)</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Convert from centidegrees on public interface to radians</a:t>
                      </a:r>
                    </a:p>
                    <a:p>
                      <a:pPr algn="l">
                        <a:lnSpc>
                          <a:spcPct val="106000"/>
                        </a:lnSpc>
                        <a:spcAft>
                          <a:spcPts val="0"/>
                        </a:spcAft>
                      </a:pPr>
                      <a:r>
                        <a:rPr sz="1100" b="0">
                          <a:solidFill>
                            <a:srgbClr val="333333"/>
                          </a:solidFill>
                          <a:latin typeface="Courier New"/>
                        </a:rPr>
                        <a:t>const float euler_roll_angle_rad = cd_to_rad(euler_roll_angle_cd);</a:t>
                      </a:r>
                    </a:p>
                    <a:p>
                      <a:pPr algn="l">
                        <a:lnSpc>
                          <a:spcPct val="106000"/>
                        </a:lnSpc>
                        <a:spcAft>
                          <a:spcPts val="0"/>
                        </a:spcAft>
                      </a:pPr>
                      <a:r>
                        <a:rPr sz="1100" b="0">
                          <a:solidFill>
                            <a:srgbClr val="333333"/>
                          </a:solidFill>
                          <a:latin typeface="Courier New"/>
                        </a:rPr>
                        <a:t>const float euler_pitch_angle_rad = cd_to_rad(euler_pitch_angle_cd);</a:t>
                      </a:r>
                    </a:p>
                    <a:p>
                      <a:pPr algn="l">
                        <a:lnSpc>
                          <a:spcPct val="106000"/>
                        </a:lnSpc>
                        <a:spcAft>
                          <a:spcPts val="0"/>
                        </a:spcAft>
                      </a:pPr>
                      <a:r>
                        <a:rPr sz="1100" b="0">
                          <a:solidFill>
                            <a:srgbClr val="333333"/>
                          </a:solidFill>
                          <a:latin typeface="Courier New"/>
                        </a:rPr>
                        <a:t>const float euler_yaw_angle_rad = cd_to_rad(euler_yaw_angle_cd</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input_euler_angle_roll_pitch_yaw_rad(euler_roll_angle_rad, euler_pitch_angle_rad, euler_yaw_angle_rad, slew_yaw);</a:t>
                      </a:r>
                    </a:p>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27–28</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2a: Layer 2 — full transitive chain, final consumer &amp; hop depth</a:t>
            </a:r>
          </a:p>
        </p:txBody>
      </p:sp>
      <p:graphicFrame>
        <p:nvGraphicFramePr>
          <p:cNvPr id="7" name="Table 6"/>
          <p:cNvGraphicFramePr>
            <a:graphicFrameLocks noGrp="1"/>
          </p:cNvGraphicFramePr>
          <p:nvPr/>
        </p:nvGraphicFramePr>
        <p:xfrm>
          <a:off x="566928" y="1906943"/>
          <a:ext cx="11058144" cy="3449320"/>
        </p:xfrm>
        <a:graphic>
          <a:graphicData uri="http://schemas.openxmlformats.org/drawingml/2006/table">
            <a:tbl>
              <a:tblPr>
                <a:tableStyleId>{5C22544A-7EE6-4342-B048-85BDC9FD1C3A}</a:tableStyleId>
              </a:tblPr>
              <a:tblGrid>
                <a:gridCol w="352425"/>
                <a:gridCol w="2653030"/>
                <a:gridCol w="3670300"/>
                <a:gridCol w="1309370"/>
                <a:gridCol w="586740"/>
                <a:gridCol w="2486025"/>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0230">
                <a:tc>
                  <a:txBody>
                    <a:bodyPr wrap="square">
                      <a:noAutofit/>
                    </a:bodyPr>
                    <a:lstStyle/>
                    <a:p>
                      <a:pPr algn="r">
                        <a:lnSpc>
                          <a:spcPct val="106000"/>
                        </a:lnSpc>
                        <a:spcAft>
                          <a:spcPts val="0"/>
                        </a:spcAft>
                      </a:pPr>
                      <a:r>
                        <a:rPr sz="1100" b="1">
                          <a:solidFill>
                            <a:srgbClr val="333333"/>
                          </a:solidFill>
                          <a:latin typeface="Courier New"/>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 (via AP_AHRS) — user example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 → AP_AHRS::get_location() → Plane::navigate() [ArduPlane/navigation.cpp:86] → ModeAuto::navigate() [ArduPlane/mode_auto.cpp:124]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ModeAuto::navigate() [ArduPlane/mode_auto.cpp:124]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USER-SUPPLIED example (AAP 0.1.3/0.5.4). The literal example named 'ArduPlane::flight_mode_auto()', which does NOT exist in this snapshot; normalized to the real symbols Plane::navigate() and ModeAuto::navigate(). navigate() is gated on have_position (Table 5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r">
                        <a:lnSpc>
                          <a:spcPct val="106000"/>
                        </a:lnSpc>
                        <a:spcAft>
                          <a:spcPts val="0"/>
                        </a:spcAft>
                      </a:pPr>
                      <a:r>
                        <a:rPr sz="1100" b="1">
                          <a:solidFill>
                            <a:srgbClr val="333333"/>
                          </a:solidFill>
                          <a:latin typeface="Courier New"/>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AP_AHRS::groundspeed()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 velocity → NavEKF3 fusion → AP_AHRS::groundspeed() → Rover speed control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Ground-vehicle speed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r">
                        <a:lnSpc>
                          <a:spcPct val="106000"/>
                        </a:lnSpc>
                        <a:spcAft>
                          <a:spcPts val="0"/>
                        </a:spcAft>
                      </a:pPr>
                      <a:r>
                        <a:rPr sz="1100" b="1">
                          <a:solidFill>
                            <a:srgbClr val="333333"/>
                          </a:solidFill>
                          <a:latin typeface="Courier New"/>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AP_AHRS::have_inertial_nav()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EKF health → AP_AHRS::have_inertial_nav() → Copter::ekf_has_absolute_position → position_ok() → set_mode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mode transition (allow/deny)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Also observed in Group 2 (Table 5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5483612"/>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 (continued)</a:t>
            </a:r>
          </a:p>
        </p:txBody>
      </p:sp>
      <p:graphicFrame>
        <p:nvGraphicFramePr>
          <p:cNvPr id="6" name="Table 5"/>
          <p:cNvGraphicFramePr>
            <a:graphicFrameLocks noGrp="1"/>
          </p:cNvGraphicFramePr>
          <p:nvPr/>
        </p:nvGraphicFramePr>
        <p:xfrm>
          <a:off x="566928" y="1591056"/>
          <a:ext cx="11058144" cy="3636010"/>
        </p:xfrm>
        <a:graphic>
          <a:graphicData uri="http://schemas.openxmlformats.org/drawingml/2006/table">
            <a:tbl>
              <a:tblPr>
                <a:tableStyleId>{5C22544A-7EE6-4342-B048-85BDC9FD1C3A}</a:tableStyleId>
              </a:tblPr>
              <a:tblGrid>
                <a:gridCol w="352425"/>
                <a:gridCol w="2653030"/>
                <a:gridCol w="3670300"/>
                <a:gridCol w="1309370"/>
                <a:gridCol w="586740"/>
                <a:gridCol w="2486025"/>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30">
                <a:tc>
                  <a:txBody>
                    <a:bodyPr wrap="square">
                      <a:noAutofit/>
                    </a:bodyPr>
                    <a:lstStyle/>
                    <a:p>
                      <a:pPr algn="r">
                        <a:lnSpc>
                          <a:spcPct val="106000"/>
                        </a:lnSpc>
                        <a:spcAft>
                          <a:spcPts val="0"/>
                        </a:spcAft>
                      </a:pPr>
                      <a:r>
                        <a:rPr sz="1100" b="1">
                          <a:solidFill>
                            <a:srgbClr val="333333"/>
                          </a:solidFill>
                          <a:latin typeface="Courier New"/>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AP_AHRS::get_relative_position_NED_origin()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EKF → AHRS NED dispatch → {AR_PosControl | AP_InertialNav} → actuators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SRV_Channels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Geodetic↔NED transform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AP_AHRS::get_velocity_NED()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EKF → AHRS → Copter::crash_check / controllers → disarm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AP_Motors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Velocity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r">
                        <a:lnSpc>
                          <a:spcPct val="106000"/>
                        </a:lnSpc>
                        <a:spcAft>
                          <a:spcPts val="0"/>
                        </a:spcAft>
                      </a:pPr>
                      <a:r>
                        <a:rPr sz="1100" b="1">
                          <a:solidFill>
                            <a:srgbClr val="333333"/>
                          </a:solidFill>
                          <a:latin typeface="Courier New"/>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 AP_InertialSensor, AP_Baro} → NavEKF3::UpdateFilter → AP_AHRS estimate → all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AHRS↔EKF; EKF reads AP_DAL.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NavEKF3 PosVel fusion (Select)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readGpsData buffer → SelectVelPosFusion → FuseVelPosNED → EKF states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Core fusion scheduling.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r">
                        <a:lnSpc>
                          <a:spcPct val="106000"/>
                        </a:lnSpc>
                        <a:spcAft>
                          <a:spcPts val="0"/>
                        </a:spcAft>
                      </a:pPr>
                      <a:r>
                        <a:rPr sz="1100" b="1">
                          <a:solidFill>
                            <a:srgbClr val="333333"/>
                          </a:solidFill>
                          <a:latin typeface="Courier New"/>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NavEKF3_core::FuseVelPosNED()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GPS NED innovations → FuseVelPosNED → stateStruct correction → getLLH → 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Position/velocity measurement-update.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r">
                        <a:lnSpc>
                          <a:spcPct val="106000"/>
                        </a:lnSpc>
                        <a:spcAft>
                          <a:spcPts val="0"/>
                        </a:spcAft>
                      </a:pPr>
                      <a:r>
                        <a:rPr sz="1100" b="1">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NavEKF3_core::readGpsData()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AP_GPS::location()/velocity() → readGpsData → storedGPS buffer → SelectVelPosFusion →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EKF state correction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Explicit GPS→EKF ingestion hop (cf. Table 1a chains).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95090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4–9</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 (continued)</a:t>
            </a:r>
          </a:p>
        </p:txBody>
      </p:sp>
      <p:graphicFrame>
        <p:nvGraphicFramePr>
          <p:cNvPr id="6" name="Table 5"/>
          <p:cNvGraphicFramePr>
            <a:graphicFrameLocks noGrp="1"/>
          </p:cNvGraphicFramePr>
          <p:nvPr/>
        </p:nvGraphicFramePr>
        <p:xfrm>
          <a:off x="566928" y="1591056"/>
          <a:ext cx="11058144" cy="3458210"/>
        </p:xfrm>
        <a:graphic>
          <a:graphicData uri="http://schemas.openxmlformats.org/drawingml/2006/table">
            <a:tbl>
              <a:tblPr>
                <a:tableStyleId>{5C22544A-7EE6-4342-B048-85BDC9FD1C3A}</a:tableStyleId>
              </a:tblPr>
              <a:tblGrid>
                <a:gridCol w="352425"/>
                <a:gridCol w="2653030"/>
                <a:gridCol w="3670300"/>
                <a:gridCol w="1309370"/>
                <a:gridCol w="586740"/>
                <a:gridCol w="2486025"/>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r">
                        <a:lnSpc>
                          <a:spcPct val="106000"/>
                        </a:lnSpc>
                        <a:spcAft>
                          <a:spcPts val="0"/>
                        </a:spcAft>
                      </a:pPr>
                      <a:r>
                        <a:rPr sz="1100" b="1">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NavEKF3_core::setAidingMode()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GPS health → setAidingMode → PV_AidingMode → SelectVelPosFusion → EKF states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EKF aiding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Nav aiding-mode 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r">
                        <a:lnSpc>
                          <a:spcPct val="106000"/>
                        </a:lnSpc>
                        <a:spcAft>
                          <a:spcPts val="0"/>
                        </a:spcAft>
                      </a:pPr>
                      <a:r>
                        <a:rPr sz="1100" b="1">
                          <a:solidFill>
                            <a:srgbClr val="333333"/>
                          </a:solidFill>
                          <a:latin typeface="Courier New"/>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NavEKF3_core::SelectMagFusion()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magnetometer → SelectMagFusion → FuseMagnetometer → yaw state → AP_AHRS heading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Heading component.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NavEKF3_core::SelectTasFusion()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airspeed → SelectTasFusion → FuseAirspeed → wind/vel states → AP_AHRS::wind_estimate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Wind/velocity.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Courier New"/>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NavEKF3_core::SelectFlowFusion()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optical flow → SelectFlowFusion → FuseOptFlow → vel/pos states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GPS-denied aiding.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r">
                        <a:lnSpc>
                          <a:spcPct val="106000"/>
                        </a:lnSpc>
                        <a:spcAft>
                          <a:spcPts val="0"/>
                        </a:spcAft>
                      </a:pPr>
                      <a:r>
                        <a:rPr sz="1100" b="1">
                          <a:solidFill>
                            <a:srgbClr val="333333"/>
                          </a:solidFill>
                          <a:latin typeface="Courier New"/>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NavEKF3_core::getLLH()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EKF state → getLLH → NavEKF3::getLLH (frontend) → AP_AHRS::get_location() → nav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AP_AHRS /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 position output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r">
                        <a:lnSpc>
                          <a:spcPct val="106000"/>
                        </a:lnSpc>
                        <a:spcAft>
                          <a:spcPts val="0"/>
                        </a:spcAft>
                      </a:pPr>
                      <a:r>
                        <a:rPr sz="1100" b="1">
                          <a:solidFill>
                            <a:srgbClr val="333333"/>
                          </a:solidFill>
                          <a:latin typeface="Courier New"/>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NavEKF3_core::calcGpsGoodToAlign()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 metrics → calcGpsGoodToAlign → gpsGoodToAlign → setAidingMode → EKF origin set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EKF origin / aiding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 quality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95090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10–15</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 (continued)</a:t>
            </a:r>
          </a:p>
        </p:txBody>
      </p:sp>
      <p:graphicFrame>
        <p:nvGraphicFramePr>
          <p:cNvPr id="6" name="Table 5"/>
          <p:cNvGraphicFramePr>
            <a:graphicFrameLocks noGrp="1"/>
          </p:cNvGraphicFramePr>
          <p:nvPr/>
        </p:nvGraphicFramePr>
        <p:xfrm>
          <a:off x="566928" y="1591056"/>
          <a:ext cx="11058144" cy="3698240"/>
        </p:xfrm>
        <a:graphic>
          <a:graphicData uri="http://schemas.openxmlformats.org/drawingml/2006/table">
            <a:tbl>
              <a:tblPr>
                <a:tableStyleId>{5C22544A-7EE6-4342-B048-85BDC9FD1C3A}</a:tableStyleId>
              </a:tblPr>
              <a:tblGrid>
                <a:gridCol w="352425"/>
                <a:gridCol w="2653030"/>
                <a:gridCol w="3670300"/>
                <a:gridCol w="1309370"/>
                <a:gridCol w="586740"/>
                <a:gridCol w="2486025"/>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r">
                        <a:lnSpc>
                          <a:spcPct val="106000"/>
                        </a:lnSpc>
                        <a:spcAft>
                          <a:spcPts val="0"/>
                        </a:spcAft>
                      </a:pPr>
                      <a:r>
                        <a:rPr sz="1100" b="1">
                          <a:solidFill>
                            <a:srgbClr val="333333"/>
                          </a:solidFill>
                          <a:latin typeface="Courier New"/>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NavEKF3_core::resetGyroBias()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InitialiseFilterBootstrap → resetGyroBias → stateStruct.gyro_bias → state 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EKF 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Bias init.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Courier New"/>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NavEKF3_core::FuseRngBcn()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AP_Beacon ranges → FuseRngBcn → EKF NED position correction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Non-GPS position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NavEKF3_core::Log_Write_XKF1()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EKF states → Log_Write_XKF1 → AP_Logger → dataflash/SD log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dataflash log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Logging Sink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r">
                        <a:lnSpc>
                          <a:spcPct val="106000"/>
                        </a:lnSpc>
                        <a:spcAft>
                          <a:spcPts val="0"/>
                        </a:spcAft>
                      </a:pPr>
                      <a:r>
                        <a:rPr sz="1100" b="1">
                          <a:solidFill>
                            <a:srgbClr val="333333"/>
                          </a:solidFill>
                          <a:latin typeface="Courier New"/>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NavEKF3::getFilterStatus()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EKF core status bits → NavEKF3::getFilterStatus → AP_AHRS → Copter::position_ok()/ekf_check()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vehicle health logic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Status output feeds 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r">
                        <a:lnSpc>
                          <a:spcPct val="106000"/>
                        </a:lnSpc>
                        <a:spcAft>
                          <a:spcPts val="0"/>
                        </a:spcAft>
                      </a:pPr>
                      <a:r>
                        <a:rPr sz="1100" b="1">
                          <a:solidFill>
                            <a:srgbClr val="333333"/>
                          </a:solidFill>
                          <a:latin typeface="Courier New"/>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 INS, Baro} → NavEKF2::UpdateFilter → AP_AHRS (when EKF2 active) →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[DUPLICATED] parallel EKF to EKF3.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GPS NED → NavEKF2 FuseVelPosNED → EKF2 states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mirrors EKF3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Courier New"/>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EKFGSF_yaw::update()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 velocity + IMU → EKFGSF_yaw::update → emergency yaw → EKF yaw reset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Yaw-recovery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773204"/>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16–22</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 (continued)</a:t>
            </a:r>
          </a:p>
        </p:txBody>
      </p:sp>
      <p:graphicFrame>
        <p:nvGraphicFramePr>
          <p:cNvPr id="6" name="Table 5"/>
          <p:cNvGraphicFramePr>
            <a:graphicFrameLocks noGrp="1"/>
          </p:cNvGraphicFramePr>
          <p:nvPr/>
        </p:nvGraphicFramePr>
        <p:xfrm>
          <a:off x="566928" y="1591056"/>
          <a:ext cx="11058144" cy="3458210"/>
        </p:xfrm>
        <a:graphic>
          <a:graphicData uri="http://schemas.openxmlformats.org/drawingml/2006/table">
            <a:tbl>
              <a:tblPr>
                <a:tableStyleId>{5C22544A-7EE6-4342-B048-85BDC9FD1C3A}</a:tableStyleId>
              </a:tblPr>
              <a:tblGrid>
                <a:gridCol w="352425"/>
                <a:gridCol w="2653030"/>
                <a:gridCol w="3670300"/>
                <a:gridCol w="1309370"/>
                <a:gridCol w="586740"/>
                <a:gridCol w="2486025"/>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30">
                <a:tc>
                  <a:txBody>
                    <a:bodyPr wrap="square">
                      <a:noAutofit/>
                    </a:bodyPr>
                    <a:lstStyle/>
                    <a:p>
                      <a:pPr algn="r">
                        <a:lnSpc>
                          <a:spcPct val="106000"/>
                        </a:lnSpc>
                        <a:spcAft>
                          <a:spcPts val="0"/>
                        </a:spcAft>
                      </a:pPr>
                      <a:r>
                        <a:rPr sz="1100" b="1">
                          <a:solidFill>
                            <a:srgbClr val="333333"/>
                          </a:solidFill>
                          <a:latin typeface="Courier New"/>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AC_WPNav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AP_AHRS pos → AC_WPNav target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Multirotor waypoint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Courier New"/>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AP_Mission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mission storage → get_next_nav_cmd → mode_auto → AC_WPNav → controllers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Mission sequencing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AP_L1_Control::update_waypoint()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AP_AHRS pos → L1 guidance → nav_roll_cd() → Plane::calc_nav_roll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Fixed-wing lateral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AP_L1_Control::nav_roll_cd()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L1 latAccDem → nav_roll_cd() → Plane::calc_nav_roll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Roll-demand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r">
                        <a:lnSpc>
                          <a:spcPct val="106000"/>
                        </a:lnSpc>
                        <a:spcAft>
                          <a:spcPts val="0"/>
                        </a:spcAft>
                      </a:pPr>
                      <a:r>
                        <a:rPr sz="1100" b="1">
                          <a:solidFill>
                            <a:srgbClr val="333333"/>
                          </a:solidFill>
                          <a:latin typeface="Courier New"/>
                        </a:rPr>
                        <a:t>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AP_TECS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airspeed/alt demand → TECS update_pitch_throttle → pitch/throttle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Energy/altitude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r">
                        <a:lnSpc>
                          <a:spcPct val="106000"/>
                        </a:lnSpc>
                        <a:spcAft>
                          <a:spcPts val="0"/>
                        </a:spcAft>
                      </a:pPr>
                      <a:r>
                        <a:rPr sz="1100" b="1">
                          <a:solidFill>
                            <a:srgbClr val="333333"/>
                          </a:solidFill>
                          <a:latin typeface="Courier New"/>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AC_AttitudeControl (Sink)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 demand → input_euler_* → attitude_controller_run_quat → rate_controller_run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Inbound chain to attitude 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77790"/>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23–28</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3 — Core Timing</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The monotonic clock, the real-time clock and the scheduler cadence every PNT task is stamped against.</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Core Timing</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9 catalogued rows, with every Notes annotation, flag token and cited path:line range exactly as printed.</a:t>
            </a:r>
          </a:p>
        </p:txBody>
      </p:sp>
      <p:graphicFrame>
        <p:nvGraphicFramePr>
          <p:cNvPr id="7" name="Table 6"/>
          <p:cNvGraphicFramePr>
            <a:graphicFrameLocks noGrp="1"/>
          </p:cNvGraphicFramePr>
          <p:nvPr/>
        </p:nvGraphicFramePr>
        <p:xfrm>
          <a:off x="566928" y="1906943"/>
          <a:ext cx="11058144" cy="3929380"/>
        </p:xfrm>
        <a:graphic>
          <a:graphicData uri="http://schemas.openxmlformats.org/drawingml/2006/table">
            <a:tbl>
              <a:tblPr>
                <a:tableStyleId>{5C22544A-7EE6-4342-B048-85BDC9FD1C3A}</a:tableStyleId>
              </a:tblPr>
              <a:tblGrid>
                <a:gridCol w="297815"/>
                <a:gridCol w="2220595"/>
                <a:gridCol w="919480"/>
                <a:gridCol w="3068320"/>
                <a:gridCol w="817245"/>
                <a:gridCol w="3733800"/>
              </a:tblGrid>
              <a:tr h="240030">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430">
                <a:tc>
                  <a:txBody>
                    <a:bodyPr wrap="square">
                      <a:noAutofit/>
                    </a:bodyPr>
                    <a:lstStyle/>
                    <a:p>
                      <a:pPr algn="r">
                        <a:lnSpc>
                          <a:spcPct val="106000"/>
                        </a:lnSpc>
                        <a:spcAft>
                          <a:spcPts val="0"/>
                        </a:spcAft>
                      </a:pPr>
                      <a:r>
                        <a:rPr sz="1100" b="1">
                          <a:solidFill>
                            <a:srgbClr val="333333"/>
                          </a:solidFill>
                          <a:latin typeface="Courier New"/>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libraries/AP_HAL/system.h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15-20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AP_HAL::micros()/millis()/micros64()/millis64()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Monotonic time backbone (user-cited micros()/millis()). Free functions in the AP_HAL namespace backed by the board RTOS timer; the time primitive every PNT subsystem stamps against.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r">
                        <a:lnSpc>
                          <a:spcPct val="106000"/>
                        </a:lnSpc>
                        <a:spcAft>
                          <a:spcPts val="0"/>
                        </a:spcAft>
                      </a:pPr>
                      <a:r>
                        <a:rPr sz="1100" b="1">
                          <a:solidFill>
                            <a:srgbClr val="333333"/>
                          </a:solidFill>
                          <a:latin typeface="Courier New"/>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libraries/AP_RTC/AP_RTC.h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32-40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AP_RTC::get_utc_usec()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UTC wall-clock time in microseconds (returns false if unavailable). The absolute-time API consumed for logging and GPS-time conversion.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430">
                <a:tc>
                  <a:txBody>
                    <a:bodyPr wrap="square">
                      <a:noAutofit/>
                    </a:bodyPr>
                    <a:lstStyle/>
                    <a:p>
                      <a:pPr algn="r">
                        <a:lnSpc>
                          <a:spcPct val="106000"/>
                        </a:lnSpc>
                        <a:spcAft>
                          <a:spcPts val="0"/>
                        </a:spcAft>
                      </a:pPr>
                      <a:r>
                        <a:rPr sz="1100" b="1">
                          <a:solidFill>
                            <a:srgbClr val="333333"/>
                          </a:solidFill>
                          <a:latin typeface="Courier New"/>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libraries/AP_RTC/AP_RTC.cpp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56-65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AP_RTC::set_utc_usec()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Time-SOURCE ARBITRATION: accepts a new UTC time only if its source_type out-ranks the current rtc_source_type (GPS &gt; GCS &gt; HW). Selects the best clock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430">
                <a:tc>
                  <a:txBody>
                    <a:bodyPr wrap="square">
                      <a:noAutofit/>
                    </a:bodyPr>
                    <a:lstStyle/>
                    <a:p>
                      <a:pPr algn="r">
                        <a:lnSpc>
                          <a:spcPct val="106000"/>
                        </a:lnSpc>
                        <a:spcAft>
                          <a:spcPts val="0"/>
                        </a:spcAft>
                      </a:pPr>
                      <a:r>
                        <a:rPr sz="1100" b="1">
                          <a:solidFill>
                            <a:srgbClr val="333333"/>
                          </a:solidFill>
                          <a:latin typeface="Courier New"/>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libraries/AP_RTC/JitterCorrection.cpp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50-58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JitterCorrection::correct_offboard_timestamp_usec()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Time synchronization: maps an offboard (remote-system) timestamp onto the local clock by tracking the minimum observed link offset — rejects 'from the future' samples.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430">
                <a:tc>
                  <a:txBody>
                    <a:bodyPr wrap="square">
                      <a:noAutofit/>
                    </a:bodyPr>
                    <a:lstStyle/>
                    <a:p>
                      <a:pPr algn="r">
                        <a:lnSpc>
                          <a:spcPct val="106000"/>
                        </a:lnSpc>
                        <a:spcAft>
                          <a:spcPts val="0"/>
                        </a:spcAft>
                      </a:pPr>
                      <a:r>
                        <a:rPr sz="1100" b="1">
                          <a:solidFill>
                            <a:srgbClr val="333333"/>
                          </a:solidFill>
                          <a:latin typeface="Courier New"/>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libraries/AP_Scheduler/AP_Scheduler.cpp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354-363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AP_Scheduler::loop()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Main-loop timing core: stamps each loop with AP_HAL::micros64() and derives the measured loop time. Drives the cadence of every periodic PNT task (EKF predict/fuse, AHRS, 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Core Timing (continued)</a:t>
            </a:r>
          </a:p>
        </p:txBody>
      </p:sp>
      <p:graphicFrame>
        <p:nvGraphicFramePr>
          <p:cNvPr id="6" name="Table 5"/>
          <p:cNvGraphicFramePr>
            <a:graphicFrameLocks noGrp="1"/>
          </p:cNvGraphicFramePr>
          <p:nvPr/>
        </p:nvGraphicFramePr>
        <p:xfrm>
          <a:off x="566928" y="1591056"/>
          <a:ext cx="11058144" cy="3867150"/>
        </p:xfrm>
        <a:graphic>
          <a:graphicData uri="http://schemas.openxmlformats.org/drawingml/2006/table">
            <a:tbl>
              <a:tblPr>
                <a:tableStyleId>{5C22544A-7EE6-4342-B048-85BDC9FD1C3A}</a:tableStyleId>
              </a:tblPr>
              <a:tblGrid>
                <a:gridCol w="297815"/>
                <a:gridCol w="2220595"/>
                <a:gridCol w="919480"/>
                <a:gridCol w="3068320"/>
                <a:gridCol w="817245"/>
                <a:gridCol w="3733800"/>
              </a:tblGrid>
              <a:tr h="240030">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r">
                        <a:lnSpc>
                          <a:spcPct val="106000"/>
                        </a:lnSpc>
                        <a:spcAft>
                          <a:spcPts val="0"/>
                        </a:spcAft>
                      </a:pPr>
                      <a:r>
                        <a:rPr sz="1100" b="1">
                          <a:solidFill>
                            <a:srgbClr val="333333"/>
                          </a:solidFill>
                          <a:latin typeface="Courier New"/>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libraries/AP_Scheduler/AP_Scheduler.cpp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168-176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AP_Scheduler::tick()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Increments the loop tick counters (_tick_counter / _tick_counter32) that index task scheduling intervals.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430">
                <a:tc>
                  <a:txBody>
                    <a:bodyPr wrap="square">
                      <a:noAutofit/>
                    </a:bodyPr>
                    <a:lstStyle/>
                    <a:p>
                      <a:pPr algn="r">
                        <a:lnSpc>
                          <a:spcPct val="106000"/>
                        </a:lnSpc>
                        <a:spcAft>
                          <a:spcPts val="0"/>
                        </a:spcAft>
                      </a:pPr>
                      <a:r>
                        <a:rPr sz="1100" b="1">
                          <a:solidFill>
                            <a:srgbClr val="333333"/>
                          </a:solidFill>
                          <a:latin typeface="Courier New"/>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libraries/AP_Scheduler/AP_Scheduler.h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149-155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AP_Scheduler::get_loop_period_us()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Loop-rate→period derivation: _loop_period_us = 1000000UL / _loop_rate_hz. Couples the configured loop rate to the per-loop time budget and to controller/EKF 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430">
                <a:tc>
                  <a:txBody>
                    <a:bodyPr wrap="square">
                      <a:noAutofit/>
                    </a:bodyPr>
                    <a:lstStyle/>
                    <a:p>
                      <a:pPr algn="r">
                        <a:lnSpc>
                          <a:spcPct val="106000"/>
                        </a:lnSpc>
                        <a:spcAft>
                          <a:spcPts val="0"/>
                        </a:spcAft>
                      </a:pPr>
                      <a:r>
                        <a:rPr sz="1100" b="1">
                          <a:solidFill>
                            <a:srgbClr val="333333"/>
                          </a:solidFill>
                          <a:latin typeface="Courier New"/>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409-418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AP_GPS::time_week_ms()/time_week()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[MULTI-CATEGORY] GPS time-of-week (ms-of-week + week number) — the TIMING facet of the GPS_State that also carries Positioning (Table 1 #4/#17). Emitted separately here per the multi-category rule.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2430">
                <a:tc>
                  <a:txBody>
                    <a:bodyPr wrap="square">
                      <a:noAutofit/>
                    </a:bodyPr>
                    <a:lstStyle/>
                    <a:p>
                      <a:pPr algn="r">
                        <a:lnSpc>
                          <a:spcPct val="106000"/>
                        </a:lnSpc>
                        <a:spcAft>
                          <a:spcPts val="0"/>
                        </a:spcAft>
                      </a:pPr>
                      <a:r>
                        <a:rPr sz="1100" b="1">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libraries/AP_HAL/Scheduler.h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13-21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AP_HAL::Scheduler::delay()/delay_microseconds()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Abstract HAL timing-service interface (pure virtual; implemented by the board backend — ChibiOS / Linux / SITL). Supplies the time-blocking primitives delay() / delay_microseconds() and the periodic-task registration register_timer_process() / register_io_process() (lines 60-64) on which the main loop is built. Distinct from the AP_Scheduler library (#5-#7) and the AP_HAL::micros()/millis() clock primitives in system.h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6–9</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Code Snippet (5-10 lines)</a:t>
            </a:r>
          </a:p>
        </p:txBody>
      </p:sp>
      <p:sp>
        <p:nvSpPr>
          <p:cNvPr id="5" name="TextBox 4"/>
          <p:cNvSpPr txBox="1"/>
          <p:nvPr/>
        </p:nvSpPr>
        <p:spPr>
          <a:xfrm>
            <a:off x="566928" y="1426464"/>
            <a:ext cx="11064240" cy="903541"/>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(5-10 lines), reproduced verbatim from the cited path:line range: one paragraph per source line, in the audit’s own order, with its indentation and its blank lines intact and nothing abbreviated.</a:t>
            </a:r>
          </a:p>
        </p:txBody>
      </p:sp>
      <p:graphicFrame>
        <p:nvGraphicFramePr>
          <p:cNvPr id="7" name="Table 6"/>
          <p:cNvGraphicFramePr>
            <a:graphicFrameLocks noGrp="1"/>
          </p:cNvGraphicFramePr>
          <p:nvPr/>
        </p:nvGraphicFramePr>
        <p:xfrm>
          <a:off x="566928" y="2549461"/>
          <a:ext cx="11058144" cy="339228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9483">
                <a:tc>
                  <a:txBody>
                    <a:bodyPr wrap="square">
                      <a:noAutofit/>
                    </a:bodyPr>
                    <a:lstStyle/>
                    <a:p>
                      <a:pPr algn="r">
                        <a:lnSpc>
                          <a:spcPct val="106000"/>
                        </a:lnSpc>
                        <a:spcAft>
                          <a:spcPts val="0"/>
                        </a:spcAft>
                      </a:pPr>
                      <a:r>
                        <a:rPr sz="1100" b="1">
                          <a:solidFill>
                            <a:srgbClr val="333333"/>
                          </a:solidFill>
                          <a:latin typeface="Courier New"/>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libraries/AP_HAL/system.h</a:t>
                      </a:r>
                      <a:r>
                        <a:rPr sz="1100" b="0">
                          <a:solidFill>
                            <a:srgbClr val="999999"/>
                          </a:solidFill>
                          <a:latin typeface="Courier New"/>
                        </a:rPr>
                        <a:t>  ·  </a:t>
                      </a:r>
                      <a:r>
                        <a:rPr sz="1100" b="0">
                          <a:solidFill>
                            <a:srgbClr val="999999"/>
                          </a:solidFill>
                          <a:latin typeface="Courier New"/>
                        </a:rPr>
                        <a:t>15-20</a:t>
                      </a:r>
                      <a:r>
                        <a:rPr sz="1100" b="0">
                          <a:solidFill>
                            <a:srgbClr val="999999"/>
                          </a:solidFill>
                          <a:latin typeface="Courier New"/>
                        </a:rPr>
                        <a:t>  ·  </a:t>
                      </a:r>
                      <a:r>
                        <a:rPr sz="1100" b="0">
                          <a:solidFill>
                            <a:srgbClr val="999999"/>
                          </a:solidFill>
                          <a:latin typeface="Courier New"/>
                        </a:rPr>
                        <a:t>AP_HAL::micros()/millis()/micros64()/millis64()</a:t>
                      </a:r>
                    </a:p>
                    <a:p>
                      <a:pPr algn="l">
                        <a:lnSpc>
                          <a:spcPct val="106000"/>
                        </a:lnSpc>
                        <a:spcAft>
                          <a:spcPts val="0"/>
                        </a:spcAft>
                      </a:pPr>
                      <a:r>
                        <a:rPr sz="1100" b="0">
                          <a:solidFill>
                            <a:srgbClr val="333333"/>
                          </a:solidFill>
                          <a:latin typeface="Courier New"/>
                        </a:rPr>
                        <a:t>uint16_t micros16();</a:t>
                      </a:r>
                    </a:p>
                    <a:p>
                      <a:pPr algn="l">
                        <a:lnSpc>
                          <a:spcPct val="106000"/>
                        </a:lnSpc>
                        <a:spcAft>
                          <a:spcPts val="0"/>
                        </a:spcAft>
                      </a:pPr>
                      <a:r>
                        <a:rPr sz="1100" b="0">
                          <a:solidFill>
                            <a:srgbClr val="333333"/>
                          </a:solidFill>
                          <a:latin typeface="Courier New"/>
                        </a:rPr>
                        <a:t>uint32_t micros();</a:t>
                      </a:r>
                    </a:p>
                    <a:p>
                      <a:pPr algn="l">
                        <a:lnSpc>
                          <a:spcPct val="106000"/>
                        </a:lnSpc>
                        <a:spcAft>
                          <a:spcPts val="0"/>
                        </a:spcAft>
                      </a:pPr>
                      <a:r>
                        <a:rPr sz="1100" b="0">
                          <a:solidFill>
                            <a:srgbClr val="333333"/>
                          </a:solidFill>
                          <a:latin typeface="Courier New"/>
                        </a:rPr>
                        <a:t>uint32_t millis();</a:t>
                      </a:r>
                    </a:p>
                    <a:p>
                      <a:pPr algn="l">
                        <a:lnSpc>
                          <a:spcPct val="106000"/>
                        </a:lnSpc>
                        <a:spcAft>
                          <a:spcPts val="0"/>
                        </a:spcAft>
                      </a:pPr>
                      <a:r>
                        <a:rPr sz="1100" b="0">
                          <a:solidFill>
                            <a:srgbClr val="333333"/>
                          </a:solidFill>
                          <a:latin typeface="Courier New"/>
                        </a:rPr>
                        <a:t>uint16_t millis16();</a:t>
                      </a:r>
                    </a:p>
                    <a:p>
                      <a:pPr algn="l">
                        <a:lnSpc>
                          <a:spcPct val="106000"/>
                        </a:lnSpc>
                        <a:spcAft>
                          <a:spcPts val="0"/>
                        </a:spcAft>
                      </a:pPr>
                      <a:r>
                        <a:rPr sz="1100" b="0">
                          <a:solidFill>
                            <a:srgbClr val="333333"/>
                          </a:solidFill>
                          <a:latin typeface="Courier New"/>
                        </a:rPr>
                        <a:t>uint64_t micros64();</a:t>
                      </a:r>
                    </a:p>
                    <a:p>
                      <a:pPr algn="l">
                        <a:lnSpc>
                          <a:spcPct val="106000"/>
                        </a:lnSpc>
                        <a:spcAft>
                          <a:spcPts val="0"/>
                        </a:spcAft>
                      </a:pPr>
                      <a:r>
                        <a:rPr sz="1100" b="0">
                          <a:solidFill>
                            <a:srgbClr val="333333"/>
                          </a:solidFill>
                          <a:latin typeface="Courier New"/>
                        </a:rPr>
                        <a:t>uint64_t millis64();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Courier New"/>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libraries/AP_RTC/AP_RTC.h</a:t>
                      </a:r>
                      <a:r>
                        <a:rPr sz="1100" b="0">
                          <a:solidFill>
                            <a:srgbClr val="999999"/>
                          </a:solidFill>
                          <a:latin typeface="Courier New"/>
                        </a:rPr>
                        <a:t>  ·  </a:t>
                      </a:r>
                      <a:r>
                        <a:rPr sz="1100" b="0">
                          <a:solidFill>
                            <a:srgbClr val="999999"/>
                          </a:solidFill>
                          <a:latin typeface="Courier New"/>
                        </a:rPr>
                        <a:t>32-40</a:t>
                      </a:r>
                      <a:r>
                        <a:rPr sz="1100" b="0">
                          <a:solidFill>
                            <a:srgbClr val="999999"/>
                          </a:solidFill>
                          <a:latin typeface="Courier New"/>
                        </a:rPr>
                        <a:t>  ·  </a:t>
                      </a:r>
                      <a:r>
                        <a:rPr sz="1100" b="0">
                          <a:solidFill>
                            <a:srgbClr val="999999"/>
                          </a:solidFill>
                          <a:latin typeface="Courier New"/>
                        </a:rPr>
                        <a:t>AP_RTC::get_utc_usec()</a:t>
                      </a:r>
                    </a:p>
                    <a:p>
                      <a:pPr algn="l">
                        <a:lnSpc>
                          <a:spcPct val="106000"/>
                        </a:lnSpc>
                        <a:spcAft>
                          <a:spcPts val="0"/>
                        </a:spcAft>
                      </a:pPr>
                      <a:r>
                        <a:rPr sz="1100" b="0">
                          <a:solidFill>
                            <a:srgbClr val="333333"/>
                          </a:solidFill>
                          <a:latin typeface="Courier New"/>
                        </a:rPr>
                        <a:t>    /*</a:t>
                      </a:r>
                    </a:p>
                    <a:p>
                      <a:pPr algn="l">
                        <a:lnSpc>
                          <a:spcPct val="106000"/>
                        </a:lnSpc>
                        <a:spcAft>
                          <a:spcPts val="0"/>
                        </a:spcAft>
                      </a:pPr>
                      <a:r>
                        <a:rPr sz="1100" b="0">
                          <a:solidFill>
                            <a:srgbClr val="333333"/>
                          </a:solidFill>
                          <a:latin typeface="Courier New"/>
                        </a:rPr>
                        <a:t>      get clock in UTC microseconds.  Returns false if it is not available.</a:t>
                      </a:r>
                    </a:p>
                    <a:p>
                      <a:pPr algn="l">
                        <a:lnSpc>
                          <a:spcPct val="106000"/>
                        </a:lnSpc>
                        <a:spcAft>
                          <a:spcPts val="0"/>
                        </a:spcAft>
                      </a:pPr>
                      <a:r>
                        <a:rPr sz="1100" b="0">
                          <a:solidFill>
                            <a:srgbClr val="333333"/>
                          </a:solidFill>
                          <a:latin typeface="Courier New"/>
                        </a:rPr>
                        <a:t>     */</a:t>
                      </a:r>
                    </a:p>
                    <a:p>
                      <a:pPr algn="l">
                        <a:lnSpc>
                          <a:spcPct val="106000"/>
                        </a:lnSpc>
                        <a:spcAft>
                          <a:spcPts val="0"/>
                        </a:spcAft>
                      </a:pPr>
                      <a:r>
                        <a:rPr sz="1100" b="0">
                          <a:solidFill>
                            <a:srgbClr val="333333"/>
                          </a:solidFill>
                          <a:latin typeface="Courier New"/>
                        </a:rPr>
                        <a:t>    bool get_utc_usec(uint64_t &amp;usec) const;</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 set the system time.  If the time has already been set by</a:t>
                      </a:r>
                    </a:p>
                    <a:p>
                      <a:pPr algn="l">
                        <a:lnSpc>
                          <a:spcPct val="106000"/>
                        </a:lnSpc>
                        <a:spcAft>
                          <a:spcPts val="0"/>
                        </a:spcAft>
                      </a:pPr>
                      <a:r>
                        <a:rPr sz="1100" b="0">
                          <a:solidFill>
                            <a:srgbClr val="333333"/>
                          </a:solidFill>
                          <a:latin typeface="Courier New"/>
                        </a:rPr>
                        <a:t>    // something better (according to source_type), this set will be</a:t>
                      </a:r>
                    </a:p>
                    <a:p>
                      <a:pPr algn="l">
                        <a:lnSpc>
                          <a:spcPct val="106000"/>
                        </a:lnSpc>
                        <a:spcAft>
                          <a:spcPts val="0"/>
                        </a:spcAft>
                      </a:pPr>
                      <a:r>
                        <a:rPr sz="1100" b="0">
                          <a:solidFill>
                            <a:srgbClr val="333333"/>
                          </a:solidFill>
                          <a:latin typeface="Courier New"/>
                        </a:rPr>
                        <a:t>    // ignored.</a:t>
                      </a:r>
                    </a:p>
                    <a:p>
                      <a:pPr algn="l">
                        <a:lnSpc>
                          <a:spcPct val="106000"/>
                        </a:lnSpc>
                        <a:spcAft>
                          <a:spcPts val="0"/>
                        </a:spcAft>
                      </a:pPr>
                      <a:r>
                        <a:rPr sz="1100" b="0">
                          <a:solidFill>
                            <a:srgbClr val="333333"/>
                          </a:solidFill>
                          <a:latin typeface="Courier New"/>
                        </a:rPr>
                        <a:t>    void set_utc_usec(uint64_t time_utc_usec, source_type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Code Snippet (5-10 lines) (continued)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Courier New"/>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libraries/AP_RTC/AP_RTC.cpp</a:t>
                      </a:r>
                      <a:r>
                        <a:rPr sz="1100" b="0">
                          <a:solidFill>
                            <a:srgbClr val="999999"/>
                          </a:solidFill>
                          <a:latin typeface="Courier New"/>
                        </a:rPr>
                        <a:t>  ·  </a:t>
                      </a:r>
                      <a:r>
                        <a:rPr sz="1100" b="0">
                          <a:solidFill>
                            <a:srgbClr val="999999"/>
                          </a:solidFill>
                          <a:latin typeface="Courier New"/>
                        </a:rPr>
                        <a:t>56-65</a:t>
                      </a:r>
                      <a:r>
                        <a:rPr sz="1100" b="0">
                          <a:solidFill>
                            <a:srgbClr val="999999"/>
                          </a:solidFill>
                          <a:latin typeface="Courier New"/>
                        </a:rPr>
                        <a:t>  ·  </a:t>
                      </a:r>
                      <a:r>
                        <a:rPr sz="1100" b="0">
                          <a:solidFill>
                            <a:srgbClr val="999999"/>
                          </a:solidFill>
                          <a:latin typeface="Courier New"/>
                        </a:rPr>
                        <a:t>AP_RTC::set_utc_usec()</a:t>
                      </a:r>
                    </a:p>
                    <a:p>
                      <a:pPr algn="l">
                        <a:lnSpc>
                          <a:spcPct val="106000"/>
                        </a:lnSpc>
                        <a:spcAft>
                          <a:spcPts val="0"/>
                        </a:spcAft>
                      </a:pPr>
                      <a:r>
                        <a:rPr sz="1100" b="0">
                          <a:solidFill>
                            <a:srgbClr val="333333"/>
                          </a:solidFill>
                          <a:latin typeface="Courier New"/>
                        </a:rPr>
                        <a:t>    // only allow time to be moved forward from the same sourcetype</a:t>
                      </a:r>
                    </a:p>
                    <a:p>
                      <a:pPr algn="l">
                        <a:lnSpc>
                          <a:spcPct val="106000"/>
                        </a:lnSpc>
                        <a:spcAft>
                          <a:spcPts val="0"/>
                        </a:spcAft>
                      </a:pPr>
                      <a:r>
                        <a:rPr sz="1100" b="0">
                          <a:solidFill>
                            <a:srgbClr val="333333"/>
                          </a:solidFill>
                          <a:latin typeface="Courier New"/>
                        </a:rPr>
                        <a:t>    // while the vehicle is disarmed:</a:t>
                      </a:r>
                    </a:p>
                    <a:p>
                      <a:pPr algn="l">
                        <a:lnSpc>
                          <a:spcPct val="106000"/>
                        </a:lnSpc>
                        <a:spcAft>
                          <a:spcPts val="0"/>
                        </a:spcAft>
                      </a:pPr>
                      <a:r>
                        <a:rPr sz="1100" b="0">
                          <a:solidFill>
                            <a:srgbClr val="333333"/>
                          </a:solidFill>
                          <a:latin typeface="Courier New"/>
                        </a:rPr>
                        <a:t>    if (hal.util-&gt;get_soft_armed()) {</a:t>
                      </a:r>
                    </a:p>
                    <a:p>
                      <a:pPr algn="l">
                        <a:lnSpc>
                          <a:spcPct val="106000"/>
                        </a:lnSpc>
                        <a:spcAft>
                          <a:spcPts val="0"/>
                        </a:spcAft>
                      </a:pPr>
                      <a:r>
                        <a:rPr sz="1100" b="0">
                          <a:solidFill>
                            <a:srgbClr val="333333"/>
                          </a:solidFill>
                          <a:latin typeface="Courier New"/>
                        </a:rPr>
                        <a:t>        if (type &gt;= rtc_source_type) {</a:t>
                      </a:r>
                    </a:p>
                    <a:p>
                      <a:pPr algn="l">
                        <a:lnSpc>
                          <a:spcPct val="106000"/>
                        </a:lnSpc>
                        <a:spcAft>
                          <a:spcPts val="0"/>
                        </a:spcAft>
                      </a:pPr>
                      <a:r>
                        <a:rPr sz="1100" b="0">
                          <a:solidFill>
                            <a:srgbClr val="333333"/>
                          </a:solidFill>
                          <a:latin typeface="Courier New"/>
                        </a:rPr>
                        <a:t>            // e.g. system-time message when we've been set by the GPS</a:t>
                      </a:r>
                    </a:p>
                    <a:p>
                      <a:pPr algn="l">
                        <a:lnSpc>
                          <a:spcPct val="106000"/>
                        </a:lnSpc>
                        <a:spcAft>
                          <a:spcPts val="0"/>
                        </a:spcAft>
                      </a:pPr>
                      <a:r>
                        <a:rPr sz="1100" b="0">
                          <a:solidFill>
                            <a:srgbClr val="333333"/>
                          </a:solidFill>
                          <a:latin typeface="Courier New"/>
                        </a:rPr>
                        <a:t>            return;</a:t>
                      </a:r>
                    </a:p>
                    <a:p>
                      <a:pPr algn="l">
                        <a:lnSpc>
                          <a:spcPct val="106000"/>
                        </a:lnSpc>
                        <a:spcAft>
                          <a:spcPts val="0"/>
                        </a:spcAft>
                      </a:pPr>
                      <a:r>
                        <a:rPr sz="1100" b="0">
                          <a:solidFill>
                            <a:srgbClr val="333333"/>
                          </a:solidFill>
                          <a:latin typeface="Courier New"/>
                        </a:rPr>
                        <a:t>        }</a:t>
                      </a:r>
                    </a:p>
                    <a:p>
                      <a:pPr algn="l">
                        <a:lnSpc>
                          <a:spcPct val="106000"/>
                        </a:lnSpc>
                        <a:spcAft>
                          <a:spcPts val="0"/>
                        </a:spcAft>
                      </a:pPr>
                      <a:r>
                        <a:rPr sz="1100" b="0">
                          <a:solidFill>
                            <a:srgbClr val="333333"/>
                          </a:solidFill>
                          <a:latin typeface="Courier New"/>
                        </a:rPr>
                        <a:t>    } else {</a:t>
                      </a:r>
                    </a:p>
                    <a:p>
                      <a:pPr algn="l">
                        <a:lnSpc>
                          <a:spcPct val="106000"/>
                        </a:lnSpc>
                        <a:spcAft>
                          <a:spcPts val="0"/>
                        </a:spcAft>
                      </a:pPr>
                      <a:r>
                        <a:rPr sz="1100" b="0">
                          <a:solidFill>
                            <a:srgbClr val="333333"/>
                          </a:solidFill>
                          <a:latin typeface="Courier New"/>
                        </a:rPr>
                        <a:t>        // vehicle is disarmed; accept (e.g.) GPS time source updates</a:t>
                      </a:r>
                    </a:p>
                    <a:p>
                      <a:pPr algn="l">
                        <a:lnSpc>
                          <a:spcPct val="106000"/>
                        </a:lnSpc>
                        <a:spcAft>
                          <a:spcPts val="0"/>
                        </a:spcAft>
                      </a:pPr>
                      <a:r>
                        <a:rPr sz="1100" b="0">
                          <a:solidFill>
                            <a:srgbClr val="333333"/>
                          </a:solidFill>
                          <a:latin typeface="Courier New"/>
                        </a:rPr>
                        <a:t>        if (type &gt; rtc_source_type)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Courier New"/>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libraries/AP_RTC/JitterCorrection.cpp</a:t>
                      </a:r>
                      <a:r>
                        <a:rPr sz="1100" b="0">
                          <a:solidFill>
                            <a:srgbClr val="999999"/>
                          </a:solidFill>
                          <a:latin typeface="Courier New"/>
                        </a:rPr>
                        <a:t>  ·  </a:t>
                      </a:r>
                      <a:r>
                        <a:rPr sz="1100" b="0">
                          <a:solidFill>
                            <a:srgbClr val="999999"/>
                          </a:solidFill>
                          <a:latin typeface="Courier New"/>
                        </a:rPr>
                        <a:t>50-58</a:t>
                      </a:r>
                      <a:r>
                        <a:rPr sz="1100" b="0">
                          <a:solidFill>
                            <a:srgbClr val="999999"/>
                          </a:solidFill>
                          <a:latin typeface="Courier New"/>
                        </a:rPr>
                        <a:t>  ·  </a:t>
                      </a:r>
                      <a:r>
                        <a:rPr sz="1100" b="0">
                          <a:solidFill>
                            <a:srgbClr val="999999"/>
                          </a:solidFill>
                          <a:latin typeface="Courier New"/>
                        </a:rPr>
                        <a:t>JitterCorrection::correct_offboard_timestamp_usec()</a:t>
                      </a:r>
                    </a:p>
                    <a:p>
                      <a:pPr algn="l">
                        <a:lnSpc>
                          <a:spcPct val="106000"/>
                        </a:lnSpc>
                        <a:spcAft>
                          <a:spcPts val="0"/>
                        </a:spcAft>
                      </a:pPr>
                      <a:r>
                        <a:rPr sz="1100" b="0">
                          <a:solidFill>
                            <a:srgbClr val="333333"/>
                          </a:solidFill>
                          <a:latin typeface="Courier New"/>
                        </a:rPr>
                        <a:t>uint64_t JitterCorrection::correct_offboard_timestamp_usec(uint64_t offboard_usec, uint64_t local_usec)</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int64_t diff_us = int64_t(local_usec) - int64_t(offboard_usec);</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if (!initialised ||</a:t>
                      </a:r>
                    </a:p>
                    <a:p>
                      <a:pPr algn="l">
                        <a:lnSpc>
                          <a:spcPct val="106000"/>
                        </a:lnSpc>
                        <a:spcAft>
                          <a:spcPts val="0"/>
                        </a:spcAft>
                      </a:pPr>
                      <a:r>
                        <a:rPr sz="1100" b="0">
                          <a:solidFill>
                            <a:srgbClr val="333333"/>
                          </a:solidFill>
                          <a:latin typeface="Courier New"/>
                        </a:rPr>
                        <a:t>        diff_us &lt; link_offset_usec) {</a:t>
                      </a:r>
                    </a:p>
                    <a:p>
                      <a:pPr algn="l">
                        <a:lnSpc>
                          <a:spcPct val="106000"/>
                        </a:lnSpc>
                        <a:spcAft>
                          <a:spcPts val="0"/>
                        </a:spcAft>
                      </a:pPr>
                      <a:r>
                        <a:rPr sz="1100" b="0">
                          <a:solidFill>
                            <a:srgbClr val="333333"/>
                          </a:solidFill>
                          <a:latin typeface="Courier New"/>
                        </a:rPr>
                        <a:t>        // this message arrived from the remote system with a</a:t>
                      </a:r>
                    </a:p>
                    <a:p>
                      <a:pPr algn="l">
                        <a:lnSpc>
                          <a:spcPct val="106000"/>
                        </a:lnSpc>
                        <a:spcAft>
                          <a:spcPts val="0"/>
                        </a:spcAft>
                      </a:pPr>
                      <a:r>
                        <a:rPr sz="1100" b="0">
                          <a:solidFill>
                            <a:srgbClr val="333333"/>
                          </a:solidFill>
                          <a:latin typeface="Courier New"/>
                        </a:rPr>
                        <a:t>        // timestamp that would imply the message was from the</a:t>
                      </a:r>
                    </a:p>
                    <a:p>
                      <a:pPr algn="l">
                        <a:lnSpc>
                          <a:spcPct val="106000"/>
                        </a:lnSpc>
                        <a:spcAft>
                          <a:spcPts val="0"/>
                        </a:spcAft>
                      </a:pPr>
                      <a:r>
                        <a:rPr sz="1100" b="0">
                          <a:solidFill>
                            <a:srgbClr val="333333"/>
                          </a:solidFill>
                          <a:latin typeface="Courier New"/>
                        </a:rPr>
                        <a:t>        // future. We know that isn't possible, so we adjust down the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Code Snippet (5-10 lines) (continued)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Courier New"/>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libraries/AP_Scheduler/AP_Scheduler.cpp</a:t>
                      </a:r>
                      <a:r>
                        <a:rPr sz="1100" b="0">
                          <a:solidFill>
                            <a:srgbClr val="999999"/>
                          </a:solidFill>
                          <a:latin typeface="Courier New"/>
                        </a:rPr>
                        <a:t>  ·  </a:t>
                      </a:r>
                      <a:r>
                        <a:rPr sz="1100" b="0">
                          <a:solidFill>
                            <a:srgbClr val="999999"/>
                          </a:solidFill>
                          <a:latin typeface="Courier New"/>
                        </a:rPr>
                        <a:t>354-363</a:t>
                      </a:r>
                      <a:r>
                        <a:rPr sz="1100" b="0">
                          <a:solidFill>
                            <a:srgbClr val="999999"/>
                          </a:solidFill>
                          <a:latin typeface="Courier New"/>
                        </a:rPr>
                        <a:t>  ·  </a:t>
                      </a:r>
                      <a:r>
                        <a:rPr sz="1100" b="0">
                          <a:solidFill>
                            <a:srgbClr val="999999"/>
                          </a:solidFill>
                          <a:latin typeface="Courier New"/>
                        </a:rPr>
                        <a:t>AP_Scheduler::loop()</a:t>
                      </a:r>
                    </a:p>
                    <a:p>
                      <a:pPr algn="l">
                        <a:lnSpc>
                          <a:spcPct val="106000"/>
                        </a:lnSpc>
                        <a:spcAft>
                          <a:spcPts val="0"/>
                        </a:spcAft>
                      </a:pPr>
                      <a:r>
                        <a:rPr sz="1100" b="0">
                          <a:solidFill>
                            <a:srgbClr val="333333"/>
                          </a:solidFill>
                          <a:latin typeface="Courier New"/>
                        </a:rPr>
                        <a:t>    hal.util-&gt;persistent_data.scheduler_task = -1;</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_loop_sample_time_us = AP_HAL::micros64();</a:t>
                      </a:r>
                    </a:p>
                    <a:p>
                      <a:pPr algn="l">
                        <a:lnSpc>
                          <a:spcPct val="106000"/>
                        </a:lnSpc>
                        <a:spcAft>
                          <a:spcPts val="0"/>
                        </a:spcAft>
                      </a:pPr>
                      <a:r>
                        <a:rPr sz="1100" b="0">
                          <a:solidFill>
                            <a:srgbClr val="333333"/>
                          </a:solidFill>
                          <a:latin typeface="Courier New"/>
                        </a:rPr>
                        <a:t>    const uint32_t sample_time_us = uint32_t(_loop_sample_time_us);</a:t>
                      </a:r>
                    </a:p>
                    <a:p>
                      <a:pPr algn="l">
                        <a:lnSpc>
                          <a:spcPct val="106000"/>
                        </a:lnSpc>
                        <a:spcAft>
                          <a:spcPts val="0"/>
                        </a:spcAft>
                      </a:pPr>
                      <a:r>
                        <a:rPr sz="1100" b="0">
                          <a:solidFill>
                            <a:srgbClr val="333333"/>
                          </a:solidFill>
                          <a:latin typeface="Courier New"/>
                        </a:rPr>
                        <a:t>    </a:t>
                      </a:r>
                    </a:p>
                    <a:p>
                      <a:pPr algn="l">
                        <a:lnSpc>
                          <a:spcPct val="106000"/>
                        </a:lnSpc>
                        <a:spcAft>
                          <a:spcPts val="0"/>
                        </a:spcAft>
                      </a:pPr>
                      <a:r>
                        <a:rPr sz="1100" b="0">
                          <a:solidFill>
                            <a:srgbClr val="333333"/>
                          </a:solidFill>
                          <a:latin typeface="Courier New"/>
                        </a:rPr>
                        <a:t>    if (_loop_timer_start_us == 0) {</a:t>
                      </a:r>
                    </a:p>
                    <a:p>
                      <a:pPr algn="l">
                        <a:lnSpc>
                          <a:spcPct val="106000"/>
                        </a:lnSpc>
                        <a:spcAft>
                          <a:spcPts val="0"/>
                        </a:spcAft>
                      </a:pPr>
                      <a:r>
                        <a:rPr sz="1100" b="0">
                          <a:solidFill>
                            <a:srgbClr val="333333"/>
                          </a:solidFill>
                          <a:latin typeface="Courier New"/>
                        </a:rPr>
                        <a:t>        _loop_timer_start_us = sample_time_us;</a:t>
                      </a:r>
                    </a:p>
                    <a:p>
                      <a:pPr algn="l">
                        <a:lnSpc>
                          <a:spcPct val="106000"/>
                        </a:lnSpc>
                        <a:spcAft>
                          <a:spcPts val="0"/>
                        </a:spcAft>
                      </a:pPr>
                      <a:r>
                        <a:rPr sz="1100" b="0">
                          <a:solidFill>
                            <a:srgbClr val="333333"/>
                          </a:solidFill>
                          <a:latin typeface="Courier New"/>
                        </a:rPr>
                        <a:t>        _last_loop_time_s = get_loop_period_s();</a:t>
                      </a:r>
                    </a:p>
                    <a:p>
                      <a:pPr algn="l">
                        <a:lnSpc>
                          <a:spcPct val="106000"/>
                        </a:lnSpc>
                        <a:spcAft>
                          <a:spcPts val="0"/>
                        </a:spcAft>
                      </a:pPr>
                      <a:r>
                        <a:rPr sz="1100" b="0">
                          <a:solidFill>
                            <a:srgbClr val="333333"/>
                          </a:solidFill>
                          <a:latin typeface="Courier New"/>
                        </a:rPr>
                        <a:t>    } else {</a:t>
                      </a:r>
                    </a:p>
                    <a:p>
                      <a:pPr algn="l">
                        <a:lnSpc>
                          <a:spcPct val="106000"/>
                        </a:lnSpc>
                        <a:spcAft>
                          <a:spcPts val="0"/>
                        </a:spcAft>
                      </a:pPr>
                      <a:r>
                        <a:rPr sz="1100" b="0">
                          <a:solidFill>
                            <a:srgbClr val="333333"/>
                          </a:solidFill>
                          <a:latin typeface="Courier New"/>
                        </a:rPr>
                        <a:t>        _last_loop_time_s = (sample_time_us - _loop_timer_start_us) * 1.0e-6;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Courier New"/>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libraries/AP_Scheduler/AP_Scheduler.cpp</a:t>
                      </a:r>
                      <a:r>
                        <a:rPr sz="1100" b="0">
                          <a:solidFill>
                            <a:srgbClr val="999999"/>
                          </a:solidFill>
                          <a:latin typeface="Courier New"/>
                        </a:rPr>
                        <a:t>  ·  </a:t>
                      </a:r>
                      <a:r>
                        <a:rPr sz="1100" b="0">
                          <a:solidFill>
                            <a:srgbClr val="999999"/>
                          </a:solidFill>
                          <a:latin typeface="Courier New"/>
                        </a:rPr>
                        <a:t>168-176</a:t>
                      </a:r>
                      <a:r>
                        <a:rPr sz="1100" b="0">
                          <a:solidFill>
                            <a:srgbClr val="999999"/>
                          </a:solidFill>
                          <a:latin typeface="Courier New"/>
                        </a:rPr>
                        <a:t>  ·  </a:t>
                      </a:r>
                      <a:r>
                        <a:rPr sz="1100" b="0">
                          <a:solidFill>
                            <a:srgbClr val="999999"/>
                          </a:solidFill>
                          <a:latin typeface="Courier New"/>
                        </a:rPr>
                        <a:t>AP_Scheduler::tick()</a:t>
                      </a:r>
                    </a:p>
                    <a:p>
                      <a:pPr algn="l">
                        <a:lnSpc>
                          <a:spcPct val="106000"/>
                        </a:lnSpc>
                        <a:spcAft>
                          <a:spcPts val="0"/>
                        </a:spcAft>
                      </a:pPr>
                      <a:r>
                        <a:rPr sz="1100" b="0">
                          <a:solidFill>
                            <a:srgbClr val="333333"/>
                          </a:solidFill>
                          <a:latin typeface="Courier New"/>
                        </a:rPr>
                        <a:t>void AP_Scheduler::tick(void)</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_tick_counter++;</a:t>
                      </a:r>
                    </a:p>
                    <a:p>
                      <a:pPr algn="l">
                        <a:lnSpc>
                          <a:spcPct val="106000"/>
                        </a:lnSpc>
                        <a:spcAft>
                          <a:spcPts val="0"/>
                        </a:spcAft>
                      </a:pPr>
                      <a:r>
                        <a:rPr sz="1100" b="0">
                          <a:solidFill>
                            <a:srgbClr val="333333"/>
                          </a:solidFill>
                          <a:latin typeface="Courier New"/>
                        </a:rPr>
                        <a:t>    _tick_counter32++;</a:t>
                      </a:r>
                    </a:p>
                    <a:p>
                      <a:pPr algn="l">
                        <a:lnSpc>
                          <a:spcPct val="106000"/>
                        </a:lnSpc>
                        <a:spcAft>
                          <a:spcPts val="0"/>
                        </a:spcAft>
                      </a:pPr>
                      <a:r>
                        <a:rPr sz="1100" b="0">
                          <a:solidFill>
                            <a:srgbClr val="333333"/>
                          </a:solidFill>
                          <a:latin typeface="Courier New"/>
                        </a:rPr>
                        <a:t>}</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#if CONFIG_HAL_BOARD == HAL_BOARD_SITL</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fill stack with NaN so we can catch use of uninitialised stack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Code Snippet (5-10 lines) (continued)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Courier New"/>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libraries/AP_Scheduler/AP_Scheduler.h</a:t>
                      </a:r>
                      <a:r>
                        <a:rPr sz="1100" b="0">
                          <a:solidFill>
                            <a:srgbClr val="999999"/>
                          </a:solidFill>
                          <a:latin typeface="Courier New"/>
                        </a:rPr>
                        <a:t>  ·  </a:t>
                      </a:r>
                      <a:r>
                        <a:rPr sz="1100" b="0">
                          <a:solidFill>
                            <a:srgbClr val="999999"/>
                          </a:solidFill>
                          <a:latin typeface="Courier New"/>
                        </a:rPr>
                        <a:t>149-155</a:t>
                      </a:r>
                      <a:r>
                        <a:rPr sz="1100" b="0">
                          <a:solidFill>
                            <a:srgbClr val="999999"/>
                          </a:solidFill>
                          <a:latin typeface="Courier New"/>
                        </a:rPr>
                        <a:t>  ·  </a:t>
                      </a:r>
                      <a:r>
                        <a:rPr sz="1100" b="0">
                          <a:solidFill>
                            <a:srgbClr val="999999"/>
                          </a:solidFill>
                          <a:latin typeface="Courier New"/>
                        </a:rPr>
                        <a:t>AP_Scheduler::get_loop_period_us()</a:t>
                      </a:r>
                    </a:p>
                    <a:p>
                      <a:pPr algn="l">
                        <a:lnSpc>
                          <a:spcPct val="106000"/>
                        </a:lnSpc>
                        <a:spcAft>
                          <a:spcPts val="0"/>
                        </a:spcAft>
                      </a:pPr>
                      <a:r>
                        <a:rPr sz="1100" b="0">
                          <a:solidFill>
                            <a:srgbClr val="333333"/>
                          </a:solidFill>
                          <a:latin typeface="Courier New"/>
                        </a:rPr>
                        <a:t>    // get the time-allowed-per-loop in microseconds</a:t>
                      </a:r>
                    </a:p>
                    <a:p>
                      <a:pPr algn="l">
                        <a:lnSpc>
                          <a:spcPct val="106000"/>
                        </a:lnSpc>
                        <a:spcAft>
                          <a:spcPts val="0"/>
                        </a:spcAft>
                      </a:pPr>
                      <a:r>
                        <a:rPr sz="1100" b="0">
                          <a:solidFill>
                            <a:srgbClr val="333333"/>
                          </a:solidFill>
                          <a:latin typeface="Courier New"/>
                        </a:rPr>
                        <a:t>    uint32_t get_loop_period_us() {</a:t>
                      </a:r>
                    </a:p>
                    <a:p>
                      <a:pPr algn="l">
                        <a:lnSpc>
                          <a:spcPct val="106000"/>
                        </a:lnSpc>
                        <a:spcAft>
                          <a:spcPts val="0"/>
                        </a:spcAft>
                      </a:pPr>
                      <a:r>
                        <a:rPr sz="1100" b="0">
                          <a:solidFill>
                            <a:srgbClr val="333333"/>
                          </a:solidFill>
                          <a:latin typeface="Courier New"/>
                        </a:rPr>
                        <a:t>        if (_loop_period_us == 0) {</a:t>
                      </a:r>
                    </a:p>
                    <a:p>
                      <a:pPr algn="l">
                        <a:lnSpc>
                          <a:spcPct val="106000"/>
                        </a:lnSpc>
                        <a:spcAft>
                          <a:spcPts val="0"/>
                        </a:spcAft>
                      </a:pPr>
                      <a:r>
                        <a:rPr sz="1100" b="0">
                          <a:solidFill>
                            <a:srgbClr val="333333"/>
                          </a:solidFill>
                          <a:latin typeface="Courier New"/>
                        </a:rPr>
                        <a:t>            _loop_period_us = 1000000UL / _loop_rate_hz;</a:t>
                      </a:r>
                    </a:p>
                    <a:p>
                      <a:pPr algn="l">
                        <a:lnSpc>
                          <a:spcPct val="106000"/>
                        </a:lnSpc>
                        <a:spcAft>
                          <a:spcPts val="0"/>
                        </a:spcAft>
                      </a:pPr>
                      <a:r>
                        <a:rPr sz="1100" b="0">
                          <a:solidFill>
                            <a:srgbClr val="333333"/>
                          </a:solidFill>
                          <a:latin typeface="Courier New"/>
                        </a:rPr>
                        <a:t>        }</a:t>
                      </a:r>
                    </a:p>
                    <a:p>
                      <a:pPr algn="l">
                        <a:lnSpc>
                          <a:spcPct val="106000"/>
                        </a:lnSpc>
                        <a:spcAft>
                          <a:spcPts val="0"/>
                        </a:spcAft>
                      </a:pPr>
                      <a:r>
                        <a:rPr sz="1100" b="0">
                          <a:solidFill>
                            <a:srgbClr val="333333"/>
                          </a:solidFill>
                          <a:latin typeface="Courier New"/>
                        </a:rPr>
                        <a:t>        return _loop_period_us;</a:t>
                      </a:r>
                    </a:p>
                    <a:p>
                      <a:pPr algn="l">
                        <a:lnSpc>
                          <a:spcPct val="106000"/>
                        </a:lnSpc>
                        <a:spcAft>
                          <a:spcPts val="0"/>
                        </a:spcAft>
                      </a:pPr>
                      <a:r>
                        <a:rPr sz="1100" b="0">
                          <a:solidFill>
                            <a:srgbClr val="333333"/>
                          </a:solidFill>
                          <a:latin typeface="Courier New"/>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Courier New"/>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libraries/AP_GPS/AP_GPS.h</a:t>
                      </a:r>
                      <a:r>
                        <a:rPr sz="1100" b="0">
                          <a:solidFill>
                            <a:srgbClr val="999999"/>
                          </a:solidFill>
                          <a:latin typeface="Courier New"/>
                        </a:rPr>
                        <a:t>  ·  </a:t>
                      </a:r>
                      <a:r>
                        <a:rPr sz="1100" b="0">
                          <a:solidFill>
                            <a:srgbClr val="999999"/>
                          </a:solidFill>
                          <a:latin typeface="Courier New"/>
                        </a:rPr>
                        <a:t>409-418</a:t>
                      </a:r>
                      <a:r>
                        <a:rPr sz="1100" b="0">
                          <a:solidFill>
                            <a:srgbClr val="999999"/>
                          </a:solidFill>
                          <a:latin typeface="Courier New"/>
                        </a:rPr>
                        <a:t>  ·  </a:t>
                      </a:r>
                      <a:r>
                        <a:rPr sz="1100" b="0">
                          <a:solidFill>
                            <a:srgbClr val="999999"/>
                          </a:solidFill>
                          <a:latin typeface="Courier New"/>
                        </a:rPr>
                        <a:t>AP_GPS::time_week_ms()/time_week()</a:t>
                      </a:r>
                    </a:p>
                    <a:p>
                      <a:pPr algn="l">
                        <a:lnSpc>
                          <a:spcPct val="106000"/>
                        </a:lnSpc>
                        <a:spcAft>
                          <a:spcPts val="0"/>
                        </a:spcAft>
                      </a:pPr>
                      <a:r>
                        <a:rPr sz="1100" b="0">
                          <a:solidFill>
                            <a:srgbClr val="333333"/>
                          </a:solidFill>
                          <a:latin typeface="Courier New"/>
                        </a:rPr>
                        <a:t>    // GPS time of week in milliseconds</a:t>
                      </a:r>
                    </a:p>
                    <a:p>
                      <a:pPr algn="l">
                        <a:lnSpc>
                          <a:spcPct val="106000"/>
                        </a:lnSpc>
                        <a:spcAft>
                          <a:spcPts val="0"/>
                        </a:spcAft>
                      </a:pPr>
                      <a:r>
                        <a:rPr sz="1100" b="0">
                          <a:solidFill>
                            <a:srgbClr val="333333"/>
                          </a:solidFill>
                          <a:latin typeface="Courier New"/>
                        </a:rPr>
                        <a:t>    uint32_t time_week_ms(uint8_t instance) const {</a:t>
                      </a:r>
                    </a:p>
                    <a:p>
                      <a:pPr algn="l">
                        <a:lnSpc>
                          <a:spcPct val="106000"/>
                        </a:lnSpc>
                        <a:spcAft>
                          <a:spcPts val="0"/>
                        </a:spcAft>
                      </a:pPr>
                      <a:r>
                        <a:rPr sz="1100" b="0">
                          <a:solidFill>
                            <a:srgbClr val="333333"/>
                          </a:solidFill>
                          <a:latin typeface="Courier New"/>
                        </a:rPr>
                        <a:t>        return state[instance].time_week_ms;</a:t>
                      </a:r>
                    </a:p>
                    <a:p>
                      <a:pPr algn="l">
                        <a:lnSpc>
                          <a:spcPct val="106000"/>
                        </a:lnSpc>
                        <a:spcAft>
                          <a:spcPts val="0"/>
                        </a:spcAft>
                      </a:pPr>
                      <a:r>
                        <a:rPr sz="1100" b="0">
                          <a:solidFill>
                            <a:srgbClr val="333333"/>
                          </a:solidFill>
                          <a:latin typeface="Courier New"/>
                        </a:rPr>
                        <a:t>    }</a:t>
                      </a:r>
                    </a:p>
                    <a:p>
                      <a:pPr algn="l">
                        <a:lnSpc>
                          <a:spcPct val="106000"/>
                        </a:lnSpc>
                        <a:spcAft>
                          <a:spcPts val="0"/>
                        </a:spcAft>
                      </a:pPr>
                      <a:r>
                        <a:rPr sz="1100" b="0">
                          <a:solidFill>
                            <a:srgbClr val="333333"/>
                          </a:solidFill>
                          <a:latin typeface="Courier New"/>
                        </a:rPr>
                        <a:t>    uint32_t time_week_ms() const {</a:t>
                      </a:r>
                    </a:p>
                    <a:p>
                      <a:pPr algn="l">
                        <a:lnSpc>
                          <a:spcPct val="106000"/>
                        </a:lnSpc>
                        <a:spcAft>
                          <a:spcPts val="0"/>
                        </a:spcAft>
                      </a:pPr>
                      <a:r>
                        <a:rPr sz="1100" b="0">
                          <a:solidFill>
                            <a:srgbClr val="333333"/>
                          </a:solidFill>
                          <a:latin typeface="Courier New"/>
                        </a:rPr>
                        <a:t>        return time_week_ms(primary_instance);</a:t>
                      </a:r>
                    </a:p>
                    <a:p>
                      <a:pPr algn="l">
                        <a:lnSpc>
                          <a:spcPct val="106000"/>
                        </a:lnSpc>
                        <a:spcAft>
                          <a:spcPts val="0"/>
                        </a:spcAft>
                      </a:pPr>
                      <a:r>
                        <a:rPr sz="1100" b="0">
                          <a:solidFill>
                            <a:srgbClr val="333333"/>
                          </a:solidFill>
                          <a:latin typeface="Courier New"/>
                        </a:rPr>
                        <a:t>    }</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 GPS week</a:t>
                      </a:r>
                    </a:p>
                    <a:p>
                      <a:pPr algn="l">
                        <a:lnSpc>
                          <a:spcPct val="106000"/>
                        </a:lnSpc>
                        <a:spcAft>
                          <a:spcPts val="0"/>
                        </a:spcAft>
                      </a:pPr>
                      <a:r>
                        <a:rPr sz="1100" b="0">
                          <a:solidFill>
                            <a:srgbClr val="333333"/>
                          </a:solidFill>
                          <a:latin typeface="Courier New"/>
                        </a:rPr>
                        <a:t>    uint16_t time_week(uint8_t instance) const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Code Snippet (5-10 lines) (continued)</a:t>
            </a:r>
          </a:p>
        </p:txBody>
      </p:sp>
      <p:graphicFrame>
        <p:nvGraphicFramePr>
          <p:cNvPr id="6" name="Table 5"/>
          <p:cNvGraphicFramePr>
            <a:graphicFrameLocks noGrp="1"/>
          </p:cNvGraphicFramePr>
          <p:nvPr/>
        </p:nvGraphicFramePr>
        <p:xfrm>
          <a:off x="566928" y="1591056"/>
          <a:ext cx="11058144" cy="208279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libraries/AP_HAL/Scheduler.h</a:t>
                      </a:r>
                      <a:r>
                        <a:rPr sz="1100" b="0">
                          <a:solidFill>
                            <a:srgbClr val="999999"/>
                          </a:solidFill>
                          <a:latin typeface="Courier New"/>
                        </a:rPr>
                        <a:t>  ·  </a:t>
                      </a:r>
                      <a:r>
                        <a:rPr sz="1100" b="0">
                          <a:solidFill>
                            <a:srgbClr val="999999"/>
                          </a:solidFill>
                          <a:latin typeface="Courier New"/>
                        </a:rPr>
                        <a:t>13-21</a:t>
                      </a:r>
                      <a:r>
                        <a:rPr sz="1100" b="0">
                          <a:solidFill>
                            <a:srgbClr val="999999"/>
                          </a:solidFill>
                          <a:latin typeface="Courier New"/>
                        </a:rPr>
                        <a:t>  ·  </a:t>
                      </a:r>
                      <a:r>
                        <a:rPr sz="1100" b="0">
                          <a:solidFill>
                            <a:srgbClr val="999999"/>
                          </a:solidFill>
                          <a:latin typeface="Courier New"/>
                        </a:rPr>
                        <a:t>AP_HAL::Scheduler::delay()/delay_microseconds()</a:t>
                      </a:r>
                    </a:p>
                    <a:p>
                      <a:pPr algn="l">
                        <a:lnSpc>
                          <a:spcPct val="106000"/>
                        </a:lnSpc>
                        <a:spcAft>
                          <a:spcPts val="0"/>
                        </a:spcAft>
                      </a:pPr>
                      <a:r>
                        <a:rPr sz="1100" b="0">
                          <a:solidFill>
                            <a:srgbClr val="333333"/>
                          </a:solidFill>
                          <a:latin typeface="Courier New"/>
                        </a:rPr>
                        <a:t>    Scheduler() {}</a:t>
                      </a:r>
                    </a:p>
                    <a:p>
                      <a:pPr algn="l">
                        <a:lnSpc>
                          <a:spcPct val="106000"/>
                        </a:lnSpc>
                        <a:spcAft>
                          <a:spcPts val="0"/>
                        </a:spcAft>
                      </a:pPr>
                      <a:r>
                        <a:rPr sz="1100" b="0">
                          <a:solidFill>
                            <a:srgbClr val="333333"/>
                          </a:solidFill>
                          <a:latin typeface="Courier New"/>
                        </a:rPr>
                        <a:t>    virtual void     init() = 0;</a:t>
                      </a:r>
                    </a:p>
                    <a:p>
                      <a:pPr algn="l">
                        <a:lnSpc>
                          <a:spcPct val="106000"/>
                        </a:lnSpc>
                        <a:spcAft>
                          <a:spcPts val="0"/>
                        </a:spcAft>
                      </a:pPr>
                      <a:r>
                        <a:rPr sz="1100" b="0">
                          <a:solidFill>
                            <a:srgbClr val="333333"/>
                          </a:solidFill>
                          <a:latin typeface="Courier New"/>
                        </a:rPr>
                        <a:t>    virtual void     delay(uint16_t ms) = 0;</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a:t>
                      </a:r>
                    </a:p>
                    <a:p>
                      <a:pPr algn="l">
                        <a:lnSpc>
                          <a:spcPct val="106000"/>
                        </a:lnSpc>
                        <a:spcAft>
                          <a:spcPts val="0"/>
                        </a:spcAft>
                      </a:pPr>
                      <a:r>
                        <a:rPr sz="1100" b="0">
                          <a:solidFill>
                            <a:srgbClr val="333333"/>
                          </a:solidFill>
                          <a:latin typeface="Courier New"/>
                        </a:rPr>
                        <a:t>      delay for the given number of microseconds. This needs to be as</a:t>
                      </a:r>
                    </a:p>
                    <a:p>
                      <a:pPr algn="l">
                        <a:lnSpc>
                          <a:spcPct val="106000"/>
                        </a:lnSpc>
                        <a:spcAft>
                          <a:spcPts val="0"/>
                        </a:spcAft>
                      </a:pPr>
                      <a:r>
                        <a:rPr sz="1100" b="0">
                          <a:solidFill>
                            <a:srgbClr val="333333"/>
                          </a:solidFill>
                          <a:latin typeface="Courier New"/>
                        </a:rPr>
                        <a:t>      accurate as possible - preferably within 100 microseconds.</a:t>
                      </a:r>
                    </a:p>
                    <a:p>
                      <a:pPr algn="l">
                        <a:lnSpc>
                          <a:spcPct val="106000"/>
                        </a:lnSpc>
                        <a:spcAft>
                          <a:spcPts val="0"/>
                        </a:spcAft>
                      </a:pPr>
                      <a:r>
                        <a:rPr sz="1100" b="0">
                          <a:solidFill>
                            <a:srgbClr val="333333"/>
                          </a:solidFill>
                          <a:latin typeface="Courier New"/>
                        </a:rPr>
                        <a:t>     */</a:t>
                      </a:r>
                    </a:p>
                    <a:p>
                      <a:pPr algn="l">
                        <a:lnSpc>
                          <a:spcPct val="106000"/>
                        </a:lnSpc>
                        <a:spcAft>
                          <a:spcPts val="0"/>
                        </a:spcAft>
                      </a:pPr>
                      <a:r>
                        <a:rPr sz="1100" b="0">
                          <a:solidFill>
                            <a:srgbClr val="333333"/>
                          </a:solidFill>
                          <a:latin typeface="Courier New"/>
                        </a:rPr>
                        <a:t>    virtual void     delay_microseconds(uint16_t us) = 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dependency map</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3a: Layer 1 — direct callers / callees with typed dependency</a:t>
            </a:r>
          </a:p>
        </p:txBody>
      </p:sp>
      <p:graphicFrame>
        <p:nvGraphicFramePr>
          <p:cNvPr id="7" name="Table 6"/>
          <p:cNvGraphicFramePr>
            <a:graphicFrameLocks noGrp="1"/>
          </p:cNvGraphicFramePr>
          <p:nvPr/>
        </p:nvGraphicFramePr>
        <p:xfrm>
          <a:off x="566928" y="1906943"/>
          <a:ext cx="11058144" cy="2684780"/>
        </p:xfrm>
        <a:graphic>
          <a:graphicData uri="http://schemas.openxmlformats.org/drawingml/2006/table">
            <a:tbl>
              <a:tblPr>
                <a:tableStyleId>{5C22544A-7EE6-4342-B048-85BDC9FD1C3A}</a:tableStyleId>
              </a:tblPr>
              <a:tblGrid>
                <a:gridCol w="347345"/>
                <a:gridCol w="3061335"/>
                <a:gridCol w="3095625"/>
                <a:gridCol w="3259455"/>
                <a:gridCol w="1294130"/>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r">
                        <a:lnSpc>
                          <a:spcPct val="106000"/>
                        </a:lnSpc>
                        <a:spcAft>
                          <a:spcPts val="0"/>
                        </a:spcAft>
                      </a:pPr>
                      <a:r>
                        <a:rPr sz="1100" b="1">
                          <a:solidFill>
                            <a:srgbClr val="333333"/>
                          </a:solidFill>
                          <a:latin typeface="Courier New"/>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AP_HAL::micros() / 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board RTOS/HAL timer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EKF, AP_Scheduler, AP_GPS, all failsafes (ubiquitous)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AP_RTC::get_utc_usec() — via AP::rtc()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AP::rtc().get_utc_usec(rtc)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AP_Scheduler::Log_Write_Performance ; AP_Logger; AP_Stats; AP_NMEA_Output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Courier New"/>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AP_RTC::set_utc_usec() (source arbitration)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reads hal.util-&gt;get_soft_armed(); compares &amp; writes rtc_source_type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 (GPS time); GCS SYSTEM_TIME; AP_BoardConfig (HW 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JitterCorrection::correct_offboard_timestamp_usec()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computes diff_us; updates link_offset_usec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AP_RTC; DroneCAN/MAVLink timestamp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r">
                        <a:lnSpc>
                          <a:spcPct val="106000"/>
                        </a:lnSpc>
                        <a:spcAft>
                          <a:spcPts val="0"/>
                        </a:spcAft>
                      </a:pPr>
                      <a:r>
                        <a:rPr sz="1100" b="1">
                          <a:solidFill>
                            <a:srgbClr val="333333"/>
                          </a:solidFill>
                          <a:latin typeface="Courier New"/>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AP_Scheduler::loop()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AP_HAL::micros64(); get_loop_period_s(); dispatches run-table tasks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AP_Vehicle::loop() via scheduler.loop() (AP_Vehicle.cpp:545)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dependency map (continued)</a:t>
            </a:r>
          </a:p>
        </p:txBody>
      </p:sp>
      <p:graphicFrame>
        <p:nvGraphicFramePr>
          <p:cNvPr id="6" name="Table 5"/>
          <p:cNvGraphicFramePr>
            <a:graphicFrameLocks noGrp="1"/>
          </p:cNvGraphicFramePr>
          <p:nvPr/>
        </p:nvGraphicFramePr>
        <p:xfrm>
          <a:off x="566928" y="1591056"/>
          <a:ext cx="11058144" cy="2800350"/>
        </p:xfrm>
        <a:graphic>
          <a:graphicData uri="http://schemas.openxmlformats.org/drawingml/2006/table">
            <a:tbl>
              <a:tblPr>
                <a:tableStyleId>{5C22544A-7EE6-4342-B048-85BDC9FD1C3A}</a:tableStyleId>
              </a:tblPr>
              <a:tblGrid>
                <a:gridCol w="347345"/>
                <a:gridCol w="3061335"/>
                <a:gridCol w="3095625"/>
                <a:gridCol w="3259455"/>
                <a:gridCol w="1294130"/>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r">
                        <a:lnSpc>
                          <a:spcPct val="106000"/>
                        </a:lnSpc>
                        <a:spcAft>
                          <a:spcPts val="0"/>
                        </a:spcAft>
                      </a:pPr>
                      <a:r>
                        <a:rPr sz="1100" b="1">
                          <a:solidFill>
                            <a:srgbClr val="333333"/>
                          </a:solidFill>
                          <a:latin typeface="Courier New"/>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AP_Scheduler::tick()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increments _tick_counter / _tick_counter32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AP_Scheduler::loop(); fast-loop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Courier New"/>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AP_Scheduler::get_loop_period_us()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derives _loop_period_us from _loop_rate_hz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task budgeting; controller dt (G_Dt)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r">
                        <a:lnSpc>
                          <a:spcPct val="106000"/>
                        </a:lnSpc>
                        <a:spcAft>
                          <a:spcPts val="0"/>
                        </a:spcAft>
                      </a:pPr>
                      <a:r>
                        <a:rPr sz="1100" b="1">
                          <a:solidFill>
                            <a:srgbClr val="333333"/>
                          </a:solidFill>
                          <a:latin typeface="Courier New"/>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AP_GPS::time_week_ms() / time_week()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returns state[instance].time_week_ms / time_week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NavEKF3 readGpsData (GPS time); time_epoch conversion; logging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230">
                <a:tc>
                  <a:txBody>
                    <a:bodyPr wrap="square">
                      <a:noAutofit/>
                    </a:bodyPr>
                    <a:lstStyle/>
                    <a:p>
                      <a:pPr algn="r">
                        <a:lnSpc>
                          <a:spcPct val="106000"/>
                        </a:lnSpc>
                        <a:spcAft>
                          <a:spcPts val="0"/>
                        </a:spcAft>
                      </a:pPr>
                      <a:r>
                        <a:rPr sz="1100" b="1">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AP_HAL::Scheduler (abstract HAL timing / scheduling 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pure virtual — implemented by the board backend (ChibiOS / Linux / SITL HAL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AP_Scheduler via hal.scheduler-&gt;delay_microseconds (AP_Scheduler.cpp:373); register_io_process; AP_Vehicle init; all subsystems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6–9</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Code Snippet</a:t>
            </a: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exactly as the audit records it, one paragraph per line and nothing abbreviated. The audit keeps Layer 1 lines flush left; the row’s main-table snippet keeps the source’s own indentation.</a:t>
            </a:r>
          </a:p>
        </p:txBody>
      </p:sp>
      <p:graphicFrame>
        <p:nvGraphicFramePr>
          <p:cNvPr id="7" name="Table 6"/>
          <p:cNvGraphicFramePr>
            <a:graphicFrameLocks noGrp="1"/>
          </p:cNvGraphicFramePr>
          <p:nvPr/>
        </p:nvGraphicFramePr>
        <p:xfrm>
          <a:off x="566928" y="2228202"/>
          <a:ext cx="11058144" cy="321458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9483">
                <a:tc>
                  <a:txBody>
                    <a:bodyPr wrap="square">
                      <a:noAutofit/>
                    </a:bodyPr>
                    <a:lstStyle/>
                    <a:p>
                      <a:pPr algn="r">
                        <a:lnSpc>
                          <a:spcPct val="106000"/>
                        </a:lnSpc>
                        <a:spcAft>
                          <a:spcPts val="0"/>
                        </a:spcAft>
                      </a:pPr>
                      <a:r>
                        <a:rPr sz="1100" b="1">
                          <a:solidFill>
                            <a:srgbClr val="333333"/>
                          </a:solidFill>
                          <a:latin typeface="Courier New"/>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AP_HAL::micros() / millis()</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uint16_t micros16();</a:t>
                      </a:r>
                    </a:p>
                    <a:p>
                      <a:pPr algn="l">
                        <a:lnSpc>
                          <a:spcPct val="106000"/>
                        </a:lnSpc>
                        <a:spcAft>
                          <a:spcPts val="0"/>
                        </a:spcAft>
                      </a:pPr>
                      <a:r>
                        <a:rPr sz="1100" b="0">
                          <a:solidFill>
                            <a:srgbClr val="333333"/>
                          </a:solidFill>
                          <a:latin typeface="Courier New"/>
                        </a:rPr>
                        <a:t>uint32_t micros();</a:t>
                      </a:r>
                    </a:p>
                    <a:p>
                      <a:pPr algn="l">
                        <a:lnSpc>
                          <a:spcPct val="106000"/>
                        </a:lnSpc>
                        <a:spcAft>
                          <a:spcPts val="0"/>
                        </a:spcAft>
                      </a:pPr>
                      <a:r>
                        <a:rPr sz="1100" b="0">
                          <a:solidFill>
                            <a:srgbClr val="333333"/>
                          </a:solidFill>
                          <a:latin typeface="Courier New"/>
                        </a:rPr>
                        <a:t>uint32_t millis();</a:t>
                      </a:r>
                    </a:p>
                    <a:p>
                      <a:pPr algn="l">
                        <a:lnSpc>
                          <a:spcPct val="106000"/>
                        </a:lnSpc>
                        <a:spcAft>
                          <a:spcPts val="0"/>
                        </a:spcAft>
                      </a:pPr>
                      <a:r>
                        <a:rPr sz="1100" b="0">
                          <a:solidFill>
                            <a:srgbClr val="333333"/>
                          </a:solidFill>
                          <a:latin typeface="Courier New"/>
                        </a:rPr>
                        <a:t>uint16_t millis16();</a:t>
                      </a:r>
                    </a:p>
                    <a:p>
                      <a:pPr algn="l">
                        <a:lnSpc>
                          <a:spcPct val="106000"/>
                        </a:lnSpc>
                        <a:spcAft>
                          <a:spcPts val="0"/>
                        </a:spcAft>
                      </a:pPr>
                      <a:r>
                        <a:rPr sz="1100" b="0">
                          <a:solidFill>
                            <a:srgbClr val="333333"/>
                          </a:solidFill>
                          <a:latin typeface="Courier New"/>
                        </a:rPr>
                        <a:t>uint64_t micros64();</a:t>
                      </a:r>
                    </a:p>
                    <a:p>
                      <a:pPr algn="l">
                        <a:lnSpc>
                          <a:spcPct val="106000"/>
                        </a:lnSpc>
                        <a:spcAft>
                          <a:spcPts val="0"/>
                        </a:spcAft>
                      </a:pPr>
                      <a:r>
                        <a:rPr sz="1100" b="0">
                          <a:solidFill>
                            <a:srgbClr val="333333"/>
                          </a:solidFill>
                          <a:latin typeface="Courier New"/>
                        </a:rPr>
                        <a:t>uint64_t millis64();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Courier New"/>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AP_RTC::get_utc_usec() — via AP::rtc()</a:t>
                      </a:r>
                      <a:r>
                        <a:rPr sz="1100" b="0">
                          <a:solidFill>
                            <a:srgbClr val="999999"/>
                          </a:solidFill>
                          <a:latin typeface="Courier New"/>
                        </a:rPr>
                        <a:t>  ·  </a:t>
                      </a:r>
                      <a:r>
                        <a:rPr sz="1100" b="0">
                          <a:solidFill>
                            <a:srgbClr val="999999"/>
                          </a:solidFill>
                          <a:latin typeface="Courier New"/>
                        </a:rPr>
                        <a:t>Shared global/singleton</a:t>
                      </a:r>
                    </a:p>
                    <a:p>
                      <a:pPr algn="l">
                        <a:lnSpc>
                          <a:spcPct val="106000"/>
                        </a:lnSpc>
                        <a:spcAft>
                          <a:spcPts val="0"/>
                        </a:spcAft>
                      </a:pPr>
                      <a:r>
                        <a:rPr sz="1100" b="0">
                          <a:solidFill>
                            <a:srgbClr val="333333"/>
                          </a:solidFill>
                          <a:latin typeface="Courier New"/>
                        </a:rPr>
                        <a:t>void AP_Scheduler::Log_Write_Performance()</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uint64_t rtc = 0;</a:t>
                      </a:r>
                    </a:p>
                    <a:p>
                      <a:pPr algn="l">
                        <a:lnSpc>
                          <a:spcPct val="106000"/>
                        </a:lnSpc>
                        <a:spcAft>
                          <a:spcPts val="0"/>
                        </a:spcAft>
                      </a:pPr>
                      <a:r>
                        <a:rPr sz="1100" b="0">
                          <a:solidFill>
                            <a:srgbClr val="333333"/>
                          </a:solidFill>
                          <a:latin typeface="Courier New"/>
                        </a:rPr>
                        <a:t>#if AP_RTC_ENABLED</a:t>
                      </a:r>
                    </a:p>
                    <a:p>
                      <a:pPr algn="l">
                        <a:lnSpc>
                          <a:spcPct val="106000"/>
                        </a:lnSpc>
                        <a:spcAft>
                          <a:spcPts val="0"/>
                        </a:spcAft>
                      </a:pPr>
                      <a:r>
                        <a:rPr sz="1100" b="0">
                          <a:solidFill>
                            <a:srgbClr val="333333"/>
                          </a:solidFill>
                          <a:latin typeface="Courier New"/>
                        </a:rPr>
                        <a:t>UNUSED_RESULT(AP::rtc().get_utc_usec(rtc));</a:t>
                      </a:r>
                    </a:p>
                    <a:p>
                      <a:pPr algn="l">
                        <a:lnSpc>
                          <a:spcPct val="106000"/>
                        </a:lnSpc>
                        <a:spcAft>
                          <a:spcPts val="0"/>
                        </a:spcAft>
                      </a:pPr>
                      <a:r>
                        <a:rPr sz="1100" b="0">
                          <a:solidFill>
                            <a:srgbClr val="333333"/>
                          </a:solidFill>
                          <a:latin typeface="Courier New"/>
                        </a:rPr>
                        <a:t>#endif</a:t>
                      </a:r>
                    </a:p>
                    <a:p>
                      <a:pPr algn="l">
                        <a:lnSpc>
                          <a:spcPct val="106000"/>
                        </a:lnSpc>
                        <a:spcAft>
                          <a:spcPts val="0"/>
                        </a:spcAft>
                      </a:pPr>
                      <a:r>
                        <a:rPr sz="1100" b="0">
                          <a:solidFill>
                            <a:srgbClr val="333333"/>
                          </a:solidFill>
                          <a:latin typeface="Courier New"/>
                        </a:rPr>
                        <a:t>const AP_HAL::Util::PersistentData &amp;pd = hal.util-&gt;persistent_data;</a:t>
                      </a:r>
                    </a:p>
                    <a:p>
                      <a:pPr algn="l">
                        <a:lnSpc>
                          <a:spcPct val="106000"/>
                        </a:lnSpc>
                        <a:spcAft>
                          <a:spcPts val="0"/>
                        </a:spcAft>
                      </a:pPr>
                      <a:r>
                        <a:rPr sz="1100" b="0">
                          <a:solidFill>
                            <a:srgbClr val="333333"/>
                          </a:solidFill>
                          <a:latin typeface="Courier New"/>
                        </a:rPr>
                        <a:t>struct log_Performance pkt =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Code Snippet (continued)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197975">
                <a:tc>
                  <a:txBody>
                    <a:bodyPr wrap="square">
                      <a:noAutofit/>
                    </a:bodyPr>
                    <a:lstStyle/>
                    <a:p>
                      <a:pPr algn="r">
                        <a:lnSpc>
                          <a:spcPct val="106000"/>
                        </a:lnSpc>
                        <a:spcAft>
                          <a:spcPts val="0"/>
                        </a:spcAft>
                      </a:pPr>
                      <a:r>
                        <a:rPr sz="1100" b="1">
                          <a:solidFill>
                            <a:srgbClr val="333333"/>
                          </a:solidFill>
                          <a:latin typeface="Courier New"/>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AP_RTC::set_utc_usec() (source arbitration)</a:t>
                      </a:r>
                      <a:r>
                        <a:rPr sz="1100" b="0">
                          <a:solidFill>
                            <a:srgbClr val="999999"/>
                          </a:solidFill>
                          <a:latin typeface="Courier New"/>
                        </a:rPr>
                        <a:t>  ·  </a:t>
                      </a:r>
                      <a:r>
                        <a:rPr sz="1100" b="0">
                          <a:solidFill>
                            <a:srgbClr val="999999"/>
                          </a:solidFill>
                          <a:latin typeface="Courier New"/>
                        </a:rPr>
                        <a:t>Data dependency</a:t>
                      </a:r>
                    </a:p>
                    <a:p>
                      <a:pPr algn="l">
                        <a:lnSpc>
                          <a:spcPct val="106000"/>
                        </a:lnSpc>
                        <a:spcAft>
                          <a:spcPts val="0"/>
                        </a:spcAft>
                      </a:pPr>
                      <a:r>
                        <a:rPr sz="1100" b="0">
                          <a:solidFill>
                            <a:srgbClr val="333333"/>
                          </a:solidFill>
                          <a:latin typeface="Courier New"/>
                        </a:rPr>
                        <a:t>// only allow time to be moved forward from the same sourcetype</a:t>
                      </a:r>
                    </a:p>
                    <a:p>
                      <a:pPr algn="l">
                        <a:lnSpc>
                          <a:spcPct val="106000"/>
                        </a:lnSpc>
                        <a:spcAft>
                          <a:spcPts val="0"/>
                        </a:spcAft>
                      </a:pPr>
                      <a:r>
                        <a:rPr sz="1100" b="0">
                          <a:solidFill>
                            <a:srgbClr val="333333"/>
                          </a:solidFill>
                          <a:latin typeface="Courier New"/>
                        </a:rPr>
                        <a:t>// while the vehicle is disarmed:</a:t>
                      </a:r>
                    </a:p>
                    <a:p>
                      <a:pPr algn="l">
                        <a:lnSpc>
                          <a:spcPct val="106000"/>
                        </a:lnSpc>
                        <a:spcAft>
                          <a:spcPts val="0"/>
                        </a:spcAft>
                      </a:pPr>
                      <a:r>
                        <a:rPr sz="1100" b="0">
                          <a:solidFill>
                            <a:srgbClr val="333333"/>
                          </a:solidFill>
                          <a:latin typeface="Courier New"/>
                        </a:rPr>
                        <a:t>if (hal.util-&gt;get_soft_armed()) {</a:t>
                      </a:r>
                    </a:p>
                    <a:p>
                      <a:pPr algn="l">
                        <a:lnSpc>
                          <a:spcPct val="106000"/>
                        </a:lnSpc>
                        <a:spcAft>
                          <a:spcPts val="0"/>
                        </a:spcAft>
                      </a:pPr>
                      <a:r>
                        <a:rPr sz="1100" b="0">
                          <a:solidFill>
                            <a:srgbClr val="333333"/>
                          </a:solidFill>
                          <a:latin typeface="Courier New"/>
                        </a:rPr>
                        <a:t>if (type &gt;= rtc_source_type) {</a:t>
                      </a:r>
                    </a:p>
                    <a:p>
                      <a:pPr algn="l">
                        <a:lnSpc>
                          <a:spcPct val="106000"/>
                        </a:lnSpc>
                        <a:spcAft>
                          <a:spcPts val="0"/>
                        </a:spcAft>
                      </a:pPr>
                      <a:r>
                        <a:rPr sz="1100" b="0">
                          <a:solidFill>
                            <a:srgbClr val="333333"/>
                          </a:solidFill>
                          <a:latin typeface="Courier New"/>
                        </a:rPr>
                        <a:t>// e.g. system-time message when we've been set by the</a:t>
                      </a:r>
                    </a:p>
                    <a:p>
                      <a:pPr algn="l">
                        <a:lnSpc>
                          <a:spcPct val="106000"/>
                        </a:lnSpc>
                        <a:spcAft>
                          <a:spcPts val="0"/>
                        </a:spcAft>
                      </a:pPr>
                      <a:r>
                        <a:rPr sz="1100" b="0">
                          <a:solidFill>
                            <a:srgbClr val="333333"/>
                          </a:solidFill>
                          <a:latin typeface="Courier New"/>
                        </a:rPr>
                        <a:t>GPS</a:t>
                      </a:r>
                    </a:p>
                    <a:p>
                      <a:pPr algn="l">
                        <a:lnSpc>
                          <a:spcPct val="106000"/>
                        </a:lnSpc>
                        <a:spcAft>
                          <a:spcPts val="0"/>
                        </a:spcAft>
                      </a:pPr>
                      <a:r>
                        <a:rPr sz="1100" b="0">
                          <a:solidFill>
                            <a:srgbClr val="333333"/>
                          </a:solidFill>
                          <a:latin typeface="Courier New"/>
                        </a:rPr>
                        <a:t>return;</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else {</a:t>
                      </a:r>
                    </a:p>
                    <a:p>
                      <a:pPr algn="l">
                        <a:lnSpc>
                          <a:spcPct val="106000"/>
                        </a:lnSpc>
                        <a:spcAft>
                          <a:spcPts val="0"/>
                        </a:spcAft>
                      </a:pPr>
                      <a:r>
                        <a:rPr sz="1100" b="0">
                          <a:solidFill>
                            <a:srgbClr val="333333"/>
                          </a:solidFill>
                          <a:latin typeface="Courier New"/>
                        </a:rPr>
                        <a:t>// vehicle is disarmed; accept (e.g.) GPS time source updates</a:t>
                      </a:r>
                    </a:p>
                    <a:p>
                      <a:pPr algn="l">
                        <a:lnSpc>
                          <a:spcPct val="106000"/>
                        </a:lnSpc>
                        <a:spcAft>
                          <a:spcPts val="0"/>
                        </a:spcAft>
                      </a:pPr>
                      <a:r>
                        <a:rPr sz="1100" b="0">
                          <a:solidFill>
                            <a:srgbClr val="333333"/>
                          </a:solidFill>
                          <a:latin typeface="Courier New"/>
                        </a:rPr>
                        <a:t>if (type &gt; rtc_source_type)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Courier New"/>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JitterCorrection::correct_offboard_timestamp_usec()</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uint64_t JitterCorrection::correct_offboard_timestamp_usec(uint64_t offboard_usec, uint64_t local_usec)</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int64_t diff_us = int64_t(local_usec) - int64_t(offboard_usec)</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if (!initialised ||</a:t>
                      </a:r>
                    </a:p>
                    <a:p>
                      <a:pPr algn="l">
                        <a:lnSpc>
                          <a:spcPct val="106000"/>
                        </a:lnSpc>
                        <a:spcAft>
                          <a:spcPts val="0"/>
                        </a:spcAft>
                      </a:pPr>
                      <a:r>
                        <a:rPr sz="1100" b="0">
                          <a:solidFill>
                            <a:srgbClr val="333333"/>
                          </a:solidFill>
                          <a:latin typeface="Courier New"/>
                        </a:rPr>
                        <a:t>diff_us &lt; link_offset_usec) {</a:t>
                      </a:r>
                    </a:p>
                    <a:p>
                      <a:pPr algn="l">
                        <a:lnSpc>
                          <a:spcPct val="106000"/>
                        </a:lnSpc>
                        <a:spcAft>
                          <a:spcPts val="0"/>
                        </a:spcAft>
                      </a:pPr>
                      <a:r>
                        <a:rPr sz="1100" b="0">
                          <a:solidFill>
                            <a:srgbClr val="333333"/>
                          </a:solidFill>
                          <a:latin typeface="Courier New"/>
                        </a:rPr>
                        <a:t>// this message arrived from the remote system with a</a:t>
                      </a:r>
                    </a:p>
                    <a:p>
                      <a:pPr algn="l">
                        <a:lnSpc>
                          <a:spcPct val="106000"/>
                        </a:lnSpc>
                        <a:spcAft>
                          <a:spcPts val="0"/>
                        </a:spcAft>
                      </a:pPr>
                      <a:r>
                        <a:rPr sz="1100" b="0">
                          <a:solidFill>
                            <a:srgbClr val="333333"/>
                          </a:solidFill>
                          <a:latin typeface="Courier New"/>
                        </a:rPr>
                        <a:t>// timestamp that would imply the message was from the</a:t>
                      </a:r>
                    </a:p>
                    <a:p>
                      <a:pPr algn="l">
                        <a:lnSpc>
                          <a:spcPct val="106000"/>
                        </a:lnSpc>
                        <a:spcAft>
                          <a:spcPts val="0"/>
                        </a:spcAft>
                      </a:pPr>
                      <a:r>
                        <a:rPr sz="1100" b="0">
                          <a:solidFill>
                            <a:srgbClr val="333333"/>
                          </a:solidFill>
                          <a:latin typeface="Courier New"/>
                        </a:rPr>
                        <a:t>// future. We know that isn't possible, so we adjust down</a:t>
                      </a:r>
                    </a:p>
                    <a:p>
                      <a:pPr algn="l">
                        <a:lnSpc>
                          <a:spcPct val="106000"/>
                        </a:lnSpc>
                        <a:spcAft>
                          <a:spcPts val="0"/>
                        </a:spcAft>
                      </a:pPr>
                      <a:r>
                        <a:rPr sz="1100" b="0">
                          <a:solidFill>
                            <a:srgbClr val="333333"/>
                          </a:solidFill>
                          <a:latin typeface="Courier New"/>
                        </a:rPr>
                        <a:t>the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Code Snippet (continued)</a:t>
            </a:r>
          </a:p>
        </p:txBody>
      </p:sp>
      <p:graphicFrame>
        <p:nvGraphicFramePr>
          <p:cNvPr id="6" name="Table 5"/>
          <p:cNvGraphicFramePr>
            <a:graphicFrameLocks noGrp="1"/>
          </p:cNvGraphicFramePr>
          <p:nvPr/>
        </p:nvGraphicFramePr>
        <p:xfrm>
          <a:off x="566928" y="1591056"/>
          <a:ext cx="11058144" cy="3925374"/>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Courier New"/>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AP_Scheduler::loop()</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hal.util-&gt;persistent_data.scheduler_task = -1;</a:t>
                      </a:r>
                    </a:p>
                    <a:p>
                      <a:pPr algn="l">
                        <a:lnSpc>
                          <a:spcPct val="106000"/>
                        </a:lnSpc>
                        <a:spcAft>
                          <a:spcPts val="0"/>
                        </a:spcAft>
                      </a:pPr>
                      <a:r>
                        <a:rPr sz="1100" b="0">
                          <a:solidFill>
                            <a:srgbClr val="333333"/>
                          </a:solidFill>
                          <a:latin typeface="Courier New"/>
                        </a:rPr>
                        <a:t>_loop_sample_time_us = AP_HAL::micros64();</a:t>
                      </a:r>
                    </a:p>
                    <a:p>
                      <a:pPr algn="l">
                        <a:lnSpc>
                          <a:spcPct val="106000"/>
                        </a:lnSpc>
                        <a:spcAft>
                          <a:spcPts val="0"/>
                        </a:spcAft>
                      </a:pPr>
                      <a:r>
                        <a:rPr sz="1100" b="0">
                          <a:solidFill>
                            <a:srgbClr val="333333"/>
                          </a:solidFill>
                          <a:latin typeface="Courier New"/>
                        </a:rPr>
                        <a:t>const uint32_t sample_time_us = uint32_t(_loop_sample_time_us)</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if (_loop_timer_start_us == 0) {</a:t>
                      </a:r>
                    </a:p>
                    <a:p>
                      <a:pPr algn="l">
                        <a:lnSpc>
                          <a:spcPct val="106000"/>
                        </a:lnSpc>
                        <a:spcAft>
                          <a:spcPts val="0"/>
                        </a:spcAft>
                      </a:pPr>
                      <a:r>
                        <a:rPr sz="1100" b="0">
                          <a:solidFill>
                            <a:srgbClr val="333333"/>
                          </a:solidFill>
                          <a:latin typeface="Courier New"/>
                        </a:rPr>
                        <a:t>_loop_timer_start_us = sample_time_us;</a:t>
                      </a:r>
                    </a:p>
                    <a:p>
                      <a:pPr algn="l">
                        <a:lnSpc>
                          <a:spcPct val="106000"/>
                        </a:lnSpc>
                        <a:spcAft>
                          <a:spcPts val="0"/>
                        </a:spcAft>
                      </a:pPr>
                      <a:r>
                        <a:rPr sz="1100" b="0">
                          <a:solidFill>
                            <a:srgbClr val="333333"/>
                          </a:solidFill>
                          <a:latin typeface="Courier New"/>
                        </a:rPr>
                        <a:t>_last_loop_time_s = get_loop_period_s();</a:t>
                      </a:r>
                    </a:p>
                    <a:p>
                      <a:pPr algn="l">
                        <a:lnSpc>
                          <a:spcPct val="106000"/>
                        </a:lnSpc>
                        <a:spcAft>
                          <a:spcPts val="0"/>
                        </a:spcAft>
                      </a:pPr>
                      <a:r>
                        <a:rPr sz="1100" b="0">
                          <a:solidFill>
                            <a:srgbClr val="333333"/>
                          </a:solidFill>
                          <a:latin typeface="Courier New"/>
                        </a:rPr>
                        <a:t>} else {</a:t>
                      </a:r>
                    </a:p>
                    <a:p>
                      <a:pPr algn="l">
                        <a:lnSpc>
                          <a:spcPct val="106000"/>
                        </a:lnSpc>
                        <a:spcAft>
                          <a:spcPts val="0"/>
                        </a:spcAft>
                      </a:pPr>
                      <a:r>
                        <a:rPr sz="1100" b="0">
                          <a:solidFill>
                            <a:srgbClr val="333333"/>
                          </a:solidFill>
                          <a:latin typeface="Courier New"/>
                        </a:rPr>
                        <a:t>_last_loop_time_s = (sample_time_us - _loop_timer_start_us</a:t>
                      </a:r>
                    </a:p>
                    <a:p>
                      <a:pPr algn="l">
                        <a:lnSpc>
                          <a:spcPct val="106000"/>
                        </a:lnSpc>
                        <a:spcAft>
                          <a:spcPts val="0"/>
                        </a:spcAft>
                      </a:pPr>
                      <a:r>
                        <a:rPr sz="1100" b="0">
                          <a:solidFill>
                            <a:srgbClr val="333333"/>
                          </a:solidFill>
                          <a:latin typeface="Courier New"/>
                        </a:rPr>
                        <a:t>) * 1.0e-6;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Courier New"/>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AP_Scheduler::tick()</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void AP_Scheduler::tick(void)</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_tick_counter++;</a:t>
                      </a:r>
                    </a:p>
                    <a:p>
                      <a:pPr algn="l">
                        <a:lnSpc>
                          <a:spcPct val="106000"/>
                        </a:lnSpc>
                        <a:spcAft>
                          <a:spcPts val="0"/>
                        </a:spcAft>
                      </a:pPr>
                      <a:r>
                        <a:rPr sz="1100" b="0">
                          <a:solidFill>
                            <a:srgbClr val="333333"/>
                          </a:solidFill>
                          <a:latin typeface="Courier New"/>
                        </a:rPr>
                        <a:t>_tick_counter32++;</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#if CONFIG_HAL_BOARD == HAL_BOARD_SITL</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fill stack with NaN so we can catch use of uninitialised stack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Code Snippet (continued)</a:t>
            </a:r>
          </a:p>
        </p:txBody>
      </p:sp>
      <p:graphicFrame>
        <p:nvGraphicFramePr>
          <p:cNvPr id="6" name="Table 5"/>
          <p:cNvGraphicFramePr>
            <a:graphicFrameLocks noGrp="1"/>
          </p:cNvGraphicFramePr>
          <p:nvPr/>
        </p:nvGraphicFramePr>
        <p:xfrm>
          <a:off x="566928" y="1591056"/>
          <a:ext cx="11058144" cy="356997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Courier New"/>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AP_Scheduler::get_loop_period_us()</a:t>
                      </a:r>
                      <a:r>
                        <a:rPr sz="1100" b="0">
                          <a:solidFill>
                            <a:srgbClr val="999999"/>
                          </a:solidFill>
                          <a:latin typeface="Courier New"/>
                        </a:rPr>
                        <a:t>  ·  </a:t>
                      </a:r>
                      <a:r>
                        <a:rPr sz="1100" b="0">
                          <a:solidFill>
                            <a:srgbClr val="999999"/>
                          </a:solidFill>
                          <a:latin typeface="Courier New"/>
                        </a:rPr>
                        <a:t>Data dependency</a:t>
                      </a:r>
                    </a:p>
                    <a:p>
                      <a:pPr algn="l">
                        <a:lnSpc>
                          <a:spcPct val="106000"/>
                        </a:lnSpc>
                        <a:spcAft>
                          <a:spcPts val="0"/>
                        </a:spcAft>
                      </a:pPr>
                      <a:r>
                        <a:rPr sz="1100" b="0">
                          <a:solidFill>
                            <a:srgbClr val="333333"/>
                          </a:solidFill>
                          <a:latin typeface="Courier New"/>
                        </a:rPr>
                        <a:t>// get the time-allowed-per-loop in microseconds</a:t>
                      </a:r>
                    </a:p>
                    <a:p>
                      <a:pPr algn="l">
                        <a:lnSpc>
                          <a:spcPct val="106000"/>
                        </a:lnSpc>
                        <a:spcAft>
                          <a:spcPts val="0"/>
                        </a:spcAft>
                      </a:pPr>
                      <a:r>
                        <a:rPr sz="1100" b="0">
                          <a:solidFill>
                            <a:srgbClr val="333333"/>
                          </a:solidFill>
                          <a:latin typeface="Courier New"/>
                        </a:rPr>
                        <a:t>uint32_t get_loop_period_us() {</a:t>
                      </a:r>
                    </a:p>
                    <a:p>
                      <a:pPr algn="l">
                        <a:lnSpc>
                          <a:spcPct val="106000"/>
                        </a:lnSpc>
                        <a:spcAft>
                          <a:spcPts val="0"/>
                        </a:spcAft>
                      </a:pPr>
                      <a:r>
                        <a:rPr sz="1100" b="0">
                          <a:solidFill>
                            <a:srgbClr val="333333"/>
                          </a:solidFill>
                          <a:latin typeface="Courier New"/>
                        </a:rPr>
                        <a:t>if (_loop_period_us == 0) {</a:t>
                      </a:r>
                    </a:p>
                    <a:p>
                      <a:pPr algn="l">
                        <a:lnSpc>
                          <a:spcPct val="106000"/>
                        </a:lnSpc>
                        <a:spcAft>
                          <a:spcPts val="0"/>
                        </a:spcAft>
                      </a:pPr>
                      <a:r>
                        <a:rPr sz="1100" b="0">
                          <a:solidFill>
                            <a:srgbClr val="333333"/>
                          </a:solidFill>
                          <a:latin typeface="Courier New"/>
                        </a:rPr>
                        <a:t>_loop_period_us = 1000000UL / _loop_rate_hz;</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return _loop_period_us;</a:t>
                      </a:r>
                    </a:p>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Courier New"/>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AP_GPS::time_week_ms() / time_week()</a:t>
                      </a:r>
                      <a:r>
                        <a:rPr sz="1100" b="0">
                          <a:solidFill>
                            <a:srgbClr val="999999"/>
                          </a:solidFill>
                          <a:latin typeface="Courier New"/>
                        </a:rPr>
                        <a:t>  ·  </a:t>
                      </a:r>
                      <a:r>
                        <a:rPr sz="1100" b="0">
                          <a:solidFill>
                            <a:srgbClr val="999999"/>
                          </a:solidFill>
                          <a:latin typeface="Courier New"/>
                        </a:rPr>
                        <a:t>Data dependency</a:t>
                      </a:r>
                    </a:p>
                    <a:p>
                      <a:pPr algn="l">
                        <a:lnSpc>
                          <a:spcPct val="106000"/>
                        </a:lnSpc>
                        <a:spcAft>
                          <a:spcPts val="0"/>
                        </a:spcAft>
                      </a:pPr>
                      <a:r>
                        <a:rPr sz="1100" b="0">
                          <a:solidFill>
                            <a:srgbClr val="333333"/>
                          </a:solidFill>
                          <a:latin typeface="Courier New"/>
                        </a:rPr>
                        <a:t>// GPS time of week in milliseconds</a:t>
                      </a:r>
                    </a:p>
                    <a:p>
                      <a:pPr algn="l">
                        <a:lnSpc>
                          <a:spcPct val="106000"/>
                        </a:lnSpc>
                        <a:spcAft>
                          <a:spcPts val="0"/>
                        </a:spcAft>
                      </a:pPr>
                      <a:r>
                        <a:rPr sz="1100" b="0">
                          <a:solidFill>
                            <a:srgbClr val="333333"/>
                          </a:solidFill>
                          <a:latin typeface="Courier New"/>
                        </a:rPr>
                        <a:t>uint32_t time_week_ms(uint8_t instance) const {</a:t>
                      </a:r>
                    </a:p>
                    <a:p>
                      <a:pPr algn="l">
                        <a:lnSpc>
                          <a:spcPct val="106000"/>
                        </a:lnSpc>
                        <a:spcAft>
                          <a:spcPts val="0"/>
                        </a:spcAft>
                      </a:pPr>
                      <a:r>
                        <a:rPr sz="1100" b="0">
                          <a:solidFill>
                            <a:srgbClr val="333333"/>
                          </a:solidFill>
                          <a:latin typeface="Courier New"/>
                        </a:rPr>
                        <a:t>return state[instance].time_week_ms;</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uint32_t time_week_ms() const {</a:t>
                      </a:r>
                    </a:p>
                    <a:p>
                      <a:pPr algn="l">
                        <a:lnSpc>
                          <a:spcPct val="106000"/>
                        </a:lnSpc>
                        <a:spcAft>
                          <a:spcPts val="0"/>
                        </a:spcAft>
                      </a:pPr>
                      <a:r>
                        <a:rPr sz="1100" b="0">
                          <a:solidFill>
                            <a:srgbClr val="333333"/>
                          </a:solidFill>
                          <a:latin typeface="Courier New"/>
                        </a:rPr>
                        <a:t>return time_week_ms(primary_instance);</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GPS week</a:t>
                      </a:r>
                    </a:p>
                    <a:p>
                      <a:pPr algn="l">
                        <a:lnSpc>
                          <a:spcPct val="106000"/>
                        </a:lnSpc>
                        <a:spcAft>
                          <a:spcPts val="0"/>
                        </a:spcAft>
                      </a:pPr>
                      <a:r>
                        <a:rPr sz="1100" b="0">
                          <a:solidFill>
                            <a:srgbClr val="333333"/>
                          </a:solidFill>
                          <a:latin typeface="Courier New"/>
                        </a:rPr>
                        <a:t>uint16_t time_week(uint8_t instance) const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Code Snippet (continued)</a:t>
            </a:r>
          </a:p>
        </p:txBody>
      </p:sp>
      <p:graphicFrame>
        <p:nvGraphicFramePr>
          <p:cNvPr id="6" name="Table 5"/>
          <p:cNvGraphicFramePr>
            <a:graphicFrameLocks noGrp="1"/>
          </p:cNvGraphicFramePr>
          <p:nvPr/>
        </p:nvGraphicFramePr>
        <p:xfrm>
          <a:off x="566928" y="1591056"/>
          <a:ext cx="11058144" cy="137200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AP_HAL::Scheduler (abstract HAL timing / scheduling interface)</a:t>
                      </a:r>
                      <a:r>
                        <a:rPr sz="1100" b="0">
                          <a:solidFill>
                            <a:srgbClr val="999999"/>
                          </a:solidFill>
                          <a:latin typeface="Courier New"/>
                        </a:rPr>
                        <a:t>  ·  </a:t>
                      </a:r>
                      <a:r>
                        <a:rPr sz="1100" b="0">
                          <a:solidFill>
                            <a:srgbClr val="999999"/>
                          </a:solidFill>
                          <a:latin typeface="Courier New"/>
                        </a:rPr>
                        <a:t>Inheritance/Interface</a:t>
                      </a:r>
                    </a:p>
                    <a:p>
                      <a:pPr algn="l">
                        <a:lnSpc>
                          <a:spcPct val="106000"/>
                        </a:lnSpc>
                        <a:spcAft>
                          <a:spcPts val="0"/>
                        </a:spcAft>
                      </a:pPr>
                      <a:r>
                        <a:rPr sz="1100" b="0">
                          <a:solidFill>
                            <a:srgbClr val="333333"/>
                          </a:solidFill>
                          <a:latin typeface="Courier New"/>
                        </a:rPr>
                        <a:t>// register a high priority timer task</a:t>
                      </a:r>
                    </a:p>
                    <a:p>
                      <a:pPr algn="l">
                        <a:lnSpc>
                          <a:spcPct val="106000"/>
                        </a:lnSpc>
                        <a:spcAft>
                          <a:spcPts val="0"/>
                        </a:spcAft>
                      </a:pPr>
                      <a:r>
                        <a:rPr sz="1100" b="0">
                          <a:solidFill>
                            <a:srgbClr val="333333"/>
                          </a:solidFill>
                          <a:latin typeface="Courier New"/>
                        </a:rPr>
                        <a:t>virtual void register_timer_process(AP_HAL::MemberProc) =</a:t>
                      </a:r>
                    </a:p>
                    <a:p>
                      <a:pPr algn="l">
                        <a:lnSpc>
                          <a:spcPct val="106000"/>
                        </a:lnSpc>
                        <a:spcAft>
                          <a:spcPts val="0"/>
                        </a:spcAft>
                      </a:pPr>
                      <a:r>
                        <a:rPr sz="1100" b="0">
                          <a:solidFill>
                            <a:srgbClr val="333333"/>
                          </a:solidFill>
                          <a:latin typeface="Courier New"/>
                        </a:rPr>
                        <a:t>0;</a:t>
                      </a:r>
                    </a:p>
                    <a:p>
                      <a:pPr algn="l">
                        <a:lnSpc>
                          <a:spcPct val="106000"/>
                        </a:lnSpc>
                        <a:spcAft>
                          <a:spcPts val="0"/>
                        </a:spcAft>
                      </a:pPr>
                      <a:r>
                        <a:rPr sz="1100" b="0">
                          <a:solidFill>
                            <a:srgbClr val="333333"/>
                          </a:solidFill>
                          <a:latin typeface="Courier New"/>
                        </a:rPr>
                        <a:t>// register a low priority IO task</a:t>
                      </a:r>
                    </a:p>
                    <a:p>
                      <a:pPr algn="l">
                        <a:lnSpc>
                          <a:spcPct val="106000"/>
                        </a:lnSpc>
                        <a:spcAft>
                          <a:spcPts val="0"/>
                        </a:spcAft>
                      </a:pPr>
                      <a:r>
                        <a:rPr sz="1100" b="0">
                          <a:solidFill>
                            <a:srgbClr val="333333"/>
                          </a:solidFill>
                          <a:latin typeface="Courier New"/>
                        </a:rPr>
                        <a:t>virtual void register_io_process(AP_HAL::MemberProc) = 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2 transitive chains</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3a: Layer 2 — full transitive chain, final consumer &amp; hop depth</a:t>
            </a:r>
          </a:p>
        </p:txBody>
      </p:sp>
      <p:graphicFrame>
        <p:nvGraphicFramePr>
          <p:cNvPr id="7" name="Table 6"/>
          <p:cNvGraphicFramePr>
            <a:graphicFrameLocks noGrp="1"/>
          </p:cNvGraphicFramePr>
          <p:nvPr/>
        </p:nvGraphicFramePr>
        <p:xfrm>
          <a:off x="566928" y="1906943"/>
          <a:ext cx="11058144" cy="3395980"/>
        </p:xfrm>
        <a:graphic>
          <a:graphicData uri="http://schemas.openxmlformats.org/drawingml/2006/table">
            <a:tbl>
              <a:tblPr>
                <a:tableStyleId>{5C22544A-7EE6-4342-B048-85BDC9FD1C3A}</a:tableStyleId>
              </a:tblPr>
              <a:tblGrid>
                <a:gridCol w="352425"/>
                <a:gridCol w="2653030"/>
                <a:gridCol w="3670300"/>
                <a:gridCol w="1309370"/>
                <a:gridCol w="586740"/>
                <a:gridCol w="2486025"/>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30">
                <a:tc>
                  <a:txBody>
                    <a:bodyPr wrap="square">
                      <a:noAutofit/>
                    </a:bodyPr>
                    <a:lstStyle/>
                    <a:p>
                      <a:pPr algn="r">
                        <a:lnSpc>
                          <a:spcPct val="106000"/>
                        </a:lnSpc>
                        <a:spcAft>
                          <a:spcPts val="0"/>
                        </a:spcAft>
                      </a:pPr>
                      <a:r>
                        <a:rPr sz="1100" b="1">
                          <a:solidFill>
                            <a:srgbClr val="333333"/>
                          </a:solidFill>
                          <a:latin typeface="Courier New"/>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RTOS/board hardware timer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board timer → AP_HAL::micros()/millis() → AP_Scheduler / EKF / AP_GPS timestamps → every periodic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all periodic PNT subsystems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Monotonic-time backbone.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r">
                        <a:lnSpc>
                          <a:spcPct val="106000"/>
                        </a:lnSpc>
                        <a:spcAft>
                          <a:spcPts val="0"/>
                        </a:spcAft>
                      </a:pPr>
                      <a:r>
                        <a:rPr sz="1100" b="1">
                          <a:solidFill>
                            <a:srgbClr val="333333"/>
                          </a:solidFill>
                          <a:latin typeface="Courier New"/>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GPS/GCS UTC time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time source → AP_RTC → AP::rtc().get_utc_usec() → AP_Logger / AP_Stats → log timestamps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dataflash log timestamps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Singleton consumption edge (AP::rtc()).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r">
                        <a:lnSpc>
                          <a:spcPct val="106000"/>
                        </a:lnSpc>
                        <a:spcAft>
                          <a:spcPts val="0"/>
                        </a:spcAft>
                      </a:pPr>
                      <a:r>
                        <a:rPr sz="1100" b="1">
                          <a:solidFill>
                            <a:srgbClr val="333333"/>
                          </a:solidFill>
                          <a:latin typeface="Courier New"/>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 time / GCS SYSTEM_TIME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time source → set_utc_usec source arbitration → rtc_source_type → system UTC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RTC system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Best-source selection.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r">
                        <a:lnSpc>
                          <a:spcPct val="106000"/>
                        </a:lnSpc>
                        <a:spcAft>
                          <a:spcPts val="0"/>
                        </a:spcAft>
                      </a:pPr>
                      <a:r>
                        <a:rPr sz="1100" b="1">
                          <a:solidFill>
                            <a:srgbClr val="333333"/>
                          </a:solidFill>
                          <a:latin typeface="Courier New"/>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Offboard (remote) timestamp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MAVLink/DroneCAN timestamp → correct_offboard_timestamp_usec → corrected local time → EKF / sensor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fused-sensor 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Time-sync 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r">
                        <a:lnSpc>
                          <a:spcPct val="106000"/>
                        </a:lnSpc>
                        <a:spcAft>
                          <a:spcPts val="0"/>
                        </a:spcAft>
                      </a:pPr>
                      <a:r>
                        <a:rPr sz="1100" b="1">
                          <a:solidFill>
                            <a:srgbClr val="333333"/>
                          </a:solidFill>
                          <a:latin typeface="Courier New"/>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AP_HAL::micros64() (loop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AP_HAL::micros64() → AP_Scheduler::loop() → run-table tasks (EKF/AHRS/controllers)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AP_Motors (all tasks)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Loop drives every PNT task.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6026571"/>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2 transitive chains (continued)</a:t>
            </a:r>
          </a:p>
        </p:txBody>
      </p:sp>
      <p:graphicFrame>
        <p:nvGraphicFramePr>
          <p:cNvPr id="6" name="Table 5"/>
          <p:cNvGraphicFramePr>
            <a:graphicFrameLocks noGrp="1"/>
          </p:cNvGraphicFramePr>
          <p:nvPr/>
        </p:nvGraphicFramePr>
        <p:xfrm>
          <a:off x="566928" y="1591056"/>
          <a:ext cx="11058144" cy="2978150"/>
        </p:xfrm>
        <a:graphic>
          <a:graphicData uri="http://schemas.openxmlformats.org/drawingml/2006/table">
            <a:tbl>
              <a:tblPr>
                <a:tableStyleId>{5C22544A-7EE6-4342-B048-85BDC9FD1C3A}</a:tableStyleId>
              </a:tblPr>
              <a:tblGrid>
                <a:gridCol w="352425"/>
                <a:gridCol w="2653030"/>
                <a:gridCol w="3670300"/>
                <a:gridCol w="1309370"/>
                <a:gridCol w="586740"/>
                <a:gridCol w="2486025"/>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r">
                        <a:lnSpc>
                          <a:spcPct val="106000"/>
                        </a:lnSpc>
                        <a:spcAft>
                          <a:spcPts val="0"/>
                        </a:spcAft>
                      </a:pPr>
                      <a:r>
                        <a:rPr sz="1100" b="1">
                          <a:solidFill>
                            <a:srgbClr val="333333"/>
                          </a:solidFill>
                          <a:latin typeface="Courier New"/>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AP_Scheduler::loop()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loop() → tick() counters → task-table interval check → periodic task dispatch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periodic task dispatch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Cadence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r">
                        <a:lnSpc>
                          <a:spcPct val="106000"/>
                        </a:lnSpc>
                        <a:spcAft>
                          <a:spcPts val="0"/>
                        </a:spcAft>
                      </a:pPr>
                      <a:r>
                        <a:rPr sz="1100" b="1">
                          <a:solidFill>
                            <a:srgbClr val="333333"/>
                          </a:solidFill>
                          <a:latin typeface="Courier New"/>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SCHED_LOOP_RATE parameter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_loop_rate_hz → get_loop_period_us (1e6/rate) → task budget + G_Dt → AC_AttitudeControl / EKF 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controller / EKF 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Rate→period coupling.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r">
                        <a:lnSpc>
                          <a:spcPct val="106000"/>
                        </a:lnSpc>
                        <a:spcAft>
                          <a:spcPts val="0"/>
                        </a:spcAft>
                      </a:pPr>
                      <a:r>
                        <a:rPr sz="1100" b="1">
                          <a:solidFill>
                            <a:srgbClr val="333333"/>
                          </a:solidFill>
                          <a:latin typeface="Courier New"/>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GPS receiver (time-of-week)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GPS receiver → GPS_State.time_week → AP_GPS::time_week() → NavEKF3 readGpsData / time_epoch_usec → UTC/log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EKF GPS-time / UTC conversion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[MULTI-CATEGORY] timing facet of 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230">
                <a:tc>
                  <a:txBody>
                    <a:bodyPr wrap="square">
                      <a:noAutofit/>
                    </a:bodyPr>
                    <a:lstStyle/>
                    <a:p>
                      <a:pPr algn="r">
                        <a:lnSpc>
                          <a:spcPct val="106000"/>
                        </a:lnSpc>
                        <a:spcAft>
                          <a:spcPts val="0"/>
                        </a:spcAft>
                      </a:pPr>
                      <a:r>
                        <a:rPr sz="1100" b="1">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board RTOS scheduler (HAL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board HAL Scheduler backend → AP_HAL::Scheduler interface (delay / register_timer_process) → AP_Scheduler::loop → periodic PNT tasks (EKF / AHRS / 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periodic PNT task execution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HAL timing interface beneath the AP_Scheduler library (#5-#7); the board backend implements the pure-virtual 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4697730"/>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6–9</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4 — Indirect Positioning</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Positioning read as a permission: health checks, fence evaluations and mode gates.</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Indirect Positioning</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10 catalogued rows, with every Notes annotation, flag token and cited path:line range exactly as printed.</a:t>
            </a:r>
          </a:p>
        </p:txBody>
      </p:sp>
      <p:graphicFrame>
        <p:nvGraphicFramePr>
          <p:cNvPr id="7" name="Table 6"/>
          <p:cNvGraphicFramePr>
            <a:graphicFrameLocks noGrp="1"/>
          </p:cNvGraphicFramePr>
          <p:nvPr/>
        </p:nvGraphicFramePr>
        <p:xfrm>
          <a:off x="566928" y="1906943"/>
          <a:ext cx="11058144" cy="3982720"/>
        </p:xfrm>
        <a:graphic>
          <a:graphicData uri="http://schemas.openxmlformats.org/drawingml/2006/table">
            <a:tbl>
              <a:tblPr>
                <a:tableStyleId>{5C22544A-7EE6-4342-B048-85BDC9FD1C3A}</a:tableStyleId>
              </a:tblPr>
              <a:tblGrid>
                <a:gridCol w="2851785"/>
                <a:gridCol w="1327150"/>
                <a:gridCol w="2122170"/>
                <a:gridCol w="2265680"/>
                <a:gridCol w="2491740"/>
              </a:tblGrid>
              <a:tr h="240030">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9030">
                <a:tc>
                  <a:txBody>
                    <a:bodyPr wrap="square">
                      <a:noAutofit/>
                    </a:bodyPr>
                    <a:lstStyle/>
                    <a:p>
                      <a:pPr algn="l">
                        <a:lnSpc>
                          <a:spcPct val="106000"/>
                        </a:lnSpc>
                        <a:spcAft>
                          <a:spcPts val="0"/>
                        </a:spcAft>
                      </a:pPr>
                      <a:r>
                        <a:rPr sz="1100" b="1">
                          <a:solidFill>
                            <a:srgbClr val="333333"/>
                          </a:solidFill>
                          <a:latin typeface="Courier New"/>
                        </a:rPr>
                        <a:t>1</a:t>
                      </a:r>
                    </a:p>
                    <a:p>
                      <a:pPr algn="l">
                        <a:lnSpc>
                          <a:spcPct val="106000"/>
                        </a:lnSpc>
                        <a:spcAft>
                          <a:spcPts val="0"/>
                        </a:spcAft>
                      </a:pPr>
                      <a:r>
                        <a:rPr sz="1100" b="0">
                          <a:solidFill>
                            <a:srgbClr val="333333"/>
                          </a:solidFill>
                          <a:latin typeface="Courier New"/>
                        </a:rPr>
                        <a:t>ArduCopter/system.cpp</a:t>
                      </a:r>
                    </a:p>
                    <a:p>
                      <a:pPr algn="l">
                        <a:lnSpc>
                          <a:spcPct val="106000"/>
                        </a:lnSpc>
                        <a:spcAft>
                          <a:spcPts val="0"/>
                        </a:spcAft>
                      </a:pPr>
                      <a:r>
                        <a:rPr sz="1100" b="0">
                          <a:solidFill>
                            <a:srgbClr val="333333"/>
                          </a:solidFill>
                          <a:latin typeface="Courier New"/>
                        </a:rPr>
                        <a:t>226-234</a:t>
                      </a:r>
                    </a:p>
                    <a:p>
                      <a:pPr algn="l">
                        <a:lnSpc>
                          <a:spcPct val="106000"/>
                        </a:lnSpc>
                        <a:spcAft>
                          <a:spcPts val="0"/>
                        </a:spcAft>
                      </a:pPr>
                      <a:r>
                        <a:rPr sz="1100" b="0">
                          <a:solidFill>
                            <a:srgbClr val="333333"/>
                          </a:solidFill>
                          <a:latin typeface="Courier New"/>
                        </a:rPr>
                        <a:t>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Evaluated on position-mode entry and by position-dependent failsafes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failsafe.ekf flag; ekf_has_absolute_position() / ekf_has_relative_position() (EKF position validity)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Returns false when EKF failsafe is set or no EKF position estimate exists, causing callers to deny position-requiring 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(positioning). Pure observer of EKF position health — reads no raw PNT, but gates downstream 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9030">
                <a:tc>
                  <a:txBody>
                    <a:bodyPr wrap="square">
                      <a:noAutofit/>
                    </a:bodyPr>
                    <a:lstStyle/>
                    <a:p>
                      <a:pPr algn="l">
                        <a:lnSpc>
                          <a:spcPct val="106000"/>
                        </a:lnSpc>
                        <a:spcAft>
                          <a:spcPts val="0"/>
                        </a:spcAft>
                      </a:pPr>
                      <a:r>
                        <a:rPr sz="1100" b="1">
                          <a:solidFill>
                            <a:srgbClr val="333333"/>
                          </a:solidFill>
                          <a:latin typeface="Courier New"/>
                        </a:rPr>
                        <a:t>2</a:t>
                      </a:r>
                    </a:p>
                    <a:p>
                      <a:pPr algn="l">
                        <a:lnSpc>
                          <a:spcPct val="106000"/>
                        </a:lnSpc>
                        <a:spcAft>
                          <a:spcPts val="0"/>
                        </a:spcAft>
                      </a:pPr>
                      <a:r>
                        <a:rPr sz="1100" b="0">
                          <a:solidFill>
                            <a:srgbClr val="333333"/>
                          </a:solidFill>
                          <a:latin typeface="Courier New"/>
                        </a:rPr>
                        <a:t>ArduCopter/mode.cpp</a:t>
                      </a:r>
                    </a:p>
                    <a:p>
                      <a:pPr algn="l">
                        <a:lnSpc>
                          <a:spcPct val="106000"/>
                        </a:lnSpc>
                        <a:spcAft>
                          <a:spcPts val="0"/>
                        </a:spcAft>
                      </a:pPr>
                      <a:r>
                        <a:rPr sz="1100" b="0">
                          <a:solidFill>
                            <a:srgbClr val="333333"/>
                          </a:solidFill>
                          <a:latin typeface="Courier New"/>
                        </a:rPr>
                        <a:t>303-310</a:t>
                      </a:r>
                    </a:p>
                    <a:p>
                      <a:pPr algn="l">
                        <a:lnSpc>
                          <a:spcPct val="106000"/>
                        </a:lnSpc>
                        <a:spcAft>
                          <a:spcPts val="0"/>
                        </a:spcAft>
                      </a:pPr>
                      <a:r>
                        <a:rPr sz="1100" b="0">
                          <a:solidFill>
                            <a:srgbClr val="333333"/>
                          </a:solidFill>
                          <a:latin typeface="Courier New"/>
                        </a:rPr>
                        <a:t>Copter::set_mode() — requires_GPS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Pilot/GCS/auto requests a flight-mode change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new_flightmode-&gt;requires_GPS() &amp;&amp; 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Rejects the mode change with “requires position” when the target mode needs GPS and position_ok() is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INDIRECT/RELATIONAL (positioning). Central position-gate for ALL position-requiring Copter modes (per-mode requires_GPS() enumerated in the 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484630">
                <a:tc>
                  <a:txBody>
                    <a:bodyPr wrap="square">
                      <a:noAutofit/>
                    </a:bodyPr>
                    <a:lstStyle/>
                    <a:p>
                      <a:pPr algn="l">
                        <a:lnSpc>
                          <a:spcPct val="106000"/>
                        </a:lnSpc>
                        <a:spcAft>
                          <a:spcPts val="0"/>
                        </a:spcAft>
                      </a:pPr>
                      <a:r>
                        <a:rPr sz="1100" b="1">
                          <a:solidFill>
                            <a:srgbClr val="333333"/>
                          </a:solidFill>
                          <a:latin typeface="Courier New"/>
                        </a:rPr>
                        <a:t>3</a:t>
                      </a:r>
                    </a:p>
                    <a:p>
                      <a:pPr algn="l">
                        <a:lnSpc>
                          <a:spcPct val="106000"/>
                        </a:lnSpc>
                        <a:spcAft>
                          <a:spcPts val="0"/>
                        </a:spcAft>
                      </a:pPr>
                      <a:r>
                        <a:rPr sz="1100" b="0">
                          <a:solidFill>
                            <a:srgbClr val="333333"/>
                          </a:solidFill>
                          <a:latin typeface="Courier New"/>
                        </a:rPr>
                        <a:t>ArduCopter/fence.cpp</a:t>
                      </a:r>
                    </a:p>
                    <a:p>
                      <a:pPr algn="l">
                        <a:lnSpc>
                          <a:spcPct val="106000"/>
                        </a:lnSpc>
                        <a:spcAft>
                          <a:spcPts val="0"/>
                        </a:spcAft>
                      </a:pPr>
                      <a:r>
                        <a:rPr sz="1100" b="0">
                          <a:solidFill>
                            <a:srgbClr val="333333"/>
                          </a:solidFill>
                          <a:latin typeface="Courier New"/>
                        </a:rPr>
                        <a:t>20-28</a:t>
                      </a:r>
                    </a:p>
                    <a:p>
                      <a:pPr algn="l">
                        <a:lnSpc>
                          <a:spcPct val="106000"/>
                        </a:lnSpc>
                        <a:spcAft>
                          <a:spcPts val="0"/>
                        </a:spcAft>
                      </a:pPr>
                      <a:r>
                        <a:rPr sz="1100" b="0">
                          <a:solidFill>
                            <a:srgbClr val="333333"/>
                          </a:solidFill>
                          <a:latin typeface="Courier New"/>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25 Hz fence rate-gate elapsed and no breach latched awaiting the main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fence.get_breaches() (current breach bitmask, L21); fence.check() (re-evaluates vehicle position vs fences, L25)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Latches new_breaches bitmask for the main loop and logs a breach-cleared event when the vehicle returns inside the 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[FIX F1] Cited window centers on get_breaches() (L21) and check() (L25) — the actual geofence observation — not the L8-17 async/timing entry. mirrors Rover::fence_checks_async (#9). Timing rate-gate documented in Table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Indirect Positioning (continued)</a:t>
            </a:r>
          </a:p>
        </p:txBody>
      </p:sp>
      <p:graphicFrame>
        <p:nvGraphicFramePr>
          <p:cNvPr id="6" name="Table 5"/>
          <p:cNvGraphicFramePr>
            <a:graphicFrameLocks noGrp="1"/>
          </p:cNvGraphicFramePr>
          <p:nvPr/>
        </p:nvGraphicFramePr>
        <p:xfrm>
          <a:off x="566928" y="1591056"/>
          <a:ext cx="11058144" cy="2738120"/>
        </p:xfrm>
        <a:graphic>
          <a:graphicData uri="http://schemas.openxmlformats.org/drawingml/2006/table">
            <a:tbl>
              <a:tblPr>
                <a:tableStyleId>{5C22544A-7EE6-4342-B048-85BDC9FD1C3A}</a:tableStyleId>
              </a:tblPr>
              <a:tblGrid>
                <a:gridCol w="2851785"/>
                <a:gridCol w="1327150"/>
                <a:gridCol w="2122170"/>
                <a:gridCol w="2265680"/>
                <a:gridCol w="2491740"/>
              </a:tblGrid>
              <a:tr h="240030">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230">
                <a:tc>
                  <a:txBody>
                    <a:bodyPr wrap="square">
                      <a:noAutofit/>
                    </a:bodyPr>
                    <a:lstStyle/>
                    <a:p>
                      <a:pPr algn="l">
                        <a:lnSpc>
                          <a:spcPct val="106000"/>
                        </a:lnSpc>
                        <a:spcAft>
                          <a:spcPts val="0"/>
                        </a:spcAft>
                      </a:pPr>
                      <a:r>
                        <a:rPr sz="1100" b="1">
                          <a:solidFill>
                            <a:srgbClr val="333333"/>
                          </a:solidFill>
                          <a:latin typeface="Courier New"/>
                        </a:rPr>
                        <a:t>4</a:t>
                      </a:r>
                    </a:p>
                    <a:p>
                      <a:pPr algn="l">
                        <a:lnSpc>
                          <a:spcPct val="106000"/>
                        </a:lnSpc>
                        <a:spcAft>
                          <a:spcPts val="0"/>
                        </a:spcAft>
                      </a:pPr>
                      <a:r>
                        <a:rPr sz="1100" b="0">
                          <a:solidFill>
                            <a:srgbClr val="333333"/>
                          </a:solidFill>
                          <a:latin typeface="Courier New"/>
                        </a:rPr>
                        <a:t>libraries/AC_Fence/AC_Fence.cpp</a:t>
                      </a:r>
                    </a:p>
                    <a:p>
                      <a:pPr algn="l">
                        <a:lnSpc>
                          <a:spcPct val="106000"/>
                        </a:lnSpc>
                        <a:spcAft>
                          <a:spcPts val="0"/>
                        </a:spcAft>
                      </a:pPr>
                      <a:r>
                        <a:rPr sz="1100" b="0">
                          <a:solidFill>
                            <a:srgbClr val="333333"/>
                          </a:solidFill>
                          <a:latin typeface="Courier New"/>
                        </a:rPr>
                        <a:t>677-685</a:t>
                      </a:r>
                    </a:p>
                    <a:p>
                      <a:pPr algn="l">
                        <a:lnSpc>
                          <a:spcPct val="106000"/>
                        </a:lnSpc>
                        <a:spcAft>
                          <a:spcPts val="0"/>
                        </a:spcAft>
                      </a:pPr>
                      <a:r>
                        <a:rPr sz="1100" b="0">
                          <a:solidFill>
                            <a:srgbClr val="333333"/>
                          </a:solidFill>
                          <a:latin typeface="Courier New"/>
                        </a:rPr>
                        <a:t>AC_Fence::check_fence_polygon()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Polygon (inclusion/exclusion) fence enabled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AP::ahrs().get_location(loc) — current vehicle Location tested against the polygon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record_breach(POLYGON) when _poly_loader.breached(loc) is true → sets the polygon breach bit.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 F2] Real position-observing path (was mis-cited to L753-762 mask init). Snippet centers on the AP::ahrs().get_location() read (L680).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430">
                <a:tc>
                  <a:txBody>
                    <a:bodyPr wrap="square">
                      <a:noAutofit/>
                    </a:bodyPr>
                    <a:lstStyle/>
                    <a:p>
                      <a:pPr algn="l">
                        <a:lnSpc>
                          <a:spcPct val="106000"/>
                        </a:lnSpc>
                        <a:spcAft>
                          <a:spcPts val="0"/>
                        </a:spcAft>
                      </a:pPr>
                      <a:r>
                        <a:rPr sz="1100" b="1">
                          <a:solidFill>
                            <a:srgbClr val="333333"/>
                          </a:solidFill>
                          <a:latin typeface="Courier New"/>
                        </a:rPr>
                        <a:t>5</a:t>
                      </a:r>
                    </a:p>
                    <a:p>
                      <a:pPr algn="l">
                        <a:lnSpc>
                          <a:spcPct val="106000"/>
                        </a:lnSpc>
                        <a:spcAft>
                          <a:spcPts val="0"/>
                        </a:spcAft>
                      </a:pPr>
                      <a:r>
                        <a:rPr sz="1100" b="0">
                          <a:solidFill>
                            <a:srgbClr val="333333"/>
                          </a:solidFill>
                          <a:latin typeface="Courier New"/>
                        </a:rPr>
                        <a:t>libraries/AC_Fence/AC_Fence.cpp</a:t>
                      </a:r>
                    </a:p>
                    <a:p>
                      <a:pPr algn="l">
                        <a:lnSpc>
                          <a:spcPct val="106000"/>
                        </a:lnSpc>
                        <a:spcAft>
                          <a:spcPts val="0"/>
                        </a:spcAft>
                      </a:pPr>
                      <a:r>
                        <a:rPr sz="1100" b="0">
                          <a:solidFill>
                            <a:srgbClr val="333333"/>
                          </a:solidFill>
                          <a:latin typeface="Courier New"/>
                        </a:rPr>
                        <a:t>707-715</a:t>
                      </a:r>
                    </a:p>
                    <a:p>
                      <a:pPr algn="l">
                        <a:lnSpc>
                          <a:spcPct val="106000"/>
                        </a:lnSpc>
                        <a:spcAft>
                          <a:spcPts val="0"/>
                        </a:spcAft>
                      </a:pPr>
                      <a:r>
                        <a:rPr sz="1100" b="0">
                          <a:solidFill>
                            <a:srgbClr val="333333"/>
                          </a:solidFill>
                          <a:latin typeface="Courier New"/>
                        </a:rPr>
                        <a:t>AC_Fence::check_fence_circle()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Circle fence enabled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AP::ahrs().get_relative_position_NE_home(home) — NE distance from home (L713)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Records a circle breach when the home distance exceeds the configured radius.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[FIX F2] Real position-observing path; snippet centers on the NE-home position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430">
                <a:tc>
                  <a:txBody>
                    <a:bodyPr wrap="square">
                      <a:noAutofit/>
                    </a:bodyPr>
                    <a:lstStyle/>
                    <a:p>
                      <a:pPr algn="l">
                        <a:lnSpc>
                          <a:spcPct val="106000"/>
                        </a:lnSpc>
                        <a:spcAft>
                          <a:spcPts val="0"/>
                        </a:spcAft>
                      </a:pPr>
                      <a:r>
                        <a:rPr sz="1100" b="1">
                          <a:solidFill>
                            <a:srgbClr val="333333"/>
                          </a:solidFill>
                          <a:latin typeface="Courier New"/>
                        </a:rPr>
                        <a:t>6</a:t>
                      </a:r>
                    </a:p>
                    <a:p>
                      <a:pPr algn="l">
                        <a:lnSpc>
                          <a:spcPct val="106000"/>
                        </a:lnSpc>
                        <a:spcAft>
                          <a:spcPts val="0"/>
                        </a:spcAft>
                      </a:pPr>
                      <a:r>
                        <a:rPr sz="1100" b="0">
                          <a:solidFill>
                            <a:srgbClr val="333333"/>
                          </a:solidFill>
                          <a:latin typeface="Courier New"/>
                        </a:rPr>
                        <a:t>libraries/AC_Fence/AC_Fence.cpp</a:t>
                      </a:r>
                    </a:p>
                    <a:p>
                      <a:pPr algn="l">
                        <a:lnSpc>
                          <a:spcPct val="106000"/>
                        </a:lnSpc>
                        <a:spcAft>
                          <a:spcPts val="0"/>
                        </a:spcAft>
                      </a:pPr>
                      <a:r>
                        <a:rPr sz="1100" b="0">
                          <a:solidFill>
                            <a:srgbClr val="333333"/>
                          </a:solidFill>
                          <a:latin typeface="Courier New"/>
                        </a:rPr>
                        <a:t>540-548</a:t>
                      </a:r>
                    </a:p>
                    <a:p>
                      <a:pPr algn="l">
                        <a:lnSpc>
                          <a:spcPct val="106000"/>
                        </a:lnSpc>
                        <a:spcAft>
                          <a:spcPts val="0"/>
                        </a:spcAft>
                      </a:pPr>
                      <a:r>
                        <a:rPr sz="1100" b="0">
                          <a:solidFill>
                            <a:srgbClr val="333333"/>
                          </a:solidFill>
                          <a:latin typeface="Courier New"/>
                        </a:rPr>
                        <a:t>AC_Fence::check_fence_alt_max()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Maximum-altitude fence enabled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AP::ahrs().get_relative_position_D_home(alt) — altitude relative to home (L546)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Records an altitude breach when alt exceeds _alt_max.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 F2] Real altitude-observing path; snippet centers on the D-home altitude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4–6</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Indirect Positioning (continued)</a:t>
            </a:r>
          </a:p>
        </p:txBody>
      </p:sp>
      <p:graphicFrame>
        <p:nvGraphicFramePr>
          <p:cNvPr id="6" name="Table 5"/>
          <p:cNvGraphicFramePr>
            <a:graphicFrameLocks noGrp="1"/>
          </p:cNvGraphicFramePr>
          <p:nvPr/>
        </p:nvGraphicFramePr>
        <p:xfrm>
          <a:off x="566928" y="1591056"/>
          <a:ext cx="11058144" cy="2320290"/>
        </p:xfrm>
        <a:graphic>
          <a:graphicData uri="http://schemas.openxmlformats.org/drawingml/2006/table">
            <a:tbl>
              <a:tblPr>
                <a:tableStyleId>{5C22544A-7EE6-4342-B048-85BDC9FD1C3A}</a:tableStyleId>
              </a:tblPr>
              <a:tblGrid>
                <a:gridCol w="2851785"/>
                <a:gridCol w="1327150"/>
                <a:gridCol w="2122170"/>
                <a:gridCol w="2265680"/>
                <a:gridCol w="2491740"/>
              </a:tblGrid>
              <a:tr h="240030">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230">
                <a:tc>
                  <a:txBody>
                    <a:bodyPr wrap="square">
                      <a:noAutofit/>
                    </a:bodyPr>
                    <a:lstStyle/>
                    <a:p>
                      <a:pPr algn="l">
                        <a:lnSpc>
                          <a:spcPct val="106000"/>
                        </a:lnSpc>
                        <a:spcAft>
                          <a:spcPts val="0"/>
                        </a:spcAft>
                      </a:pPr>
                      <a:r>
                        <a:rPr sz="1100" b="1">
                          <a:solidFill>
                            <a:srgbClr val="333333"/>
                          </a:solidFill>
                          <a:latin typeface="Courier New"/>
                        </a:rPr>
                        <a:t>7</a:t>
                      </a:r>
                    </a:p>
                    <a:p>
                      <a:pPr algn="l">
                        <a:lnSpc>
                          <a:spcPct val="106000"/>
                        </a:lnSpc>
                        <a:spcAft>
                          <a:spcPts val="0"/>
                        </a:spcAft>
                      </a:pPr>
                      <a:r>
                        <a:rPr sz="1100" b="0">
                          <a:solidFill>
                            <a:srgbClr val="333333"/>
                          </a:solidFill>
                          <a:latin typeface="Courier New"/>
                        </a:rPr>
                        <a:t>libraries/AC_Fence/AC_Fence.cpp</a:t>
                      </a:r>
                    </a:p>
                    <a:p>
                      <a:pPr algn="l">
                        <a:lnSpc>
                          <a:spcPct val="106000"/>
                        </a:lnSpc>
                        <a:spcAft>
                          <a:spcPts val="0"/>
                        </a:spcAft>
                      </a:pPr>
                      <a:r>
                        <a:rPr sz="1100" b="0">
                          <a:solidFill>
                            <a:srgbClr val="333333"/>
                          </a:solidFill>
                          <a:latin typeface="Courier New"/>
                        </a:rPr>
                        <a:t>837-845</a:t>
                      </a:r>
                    </a:p>
                    <a:p>
                      <a:pPr algn="l">
                        <a:lnSpc>
                          <a:spcPct val="106000"/>
                        </a:lnSpc>
                        <a:spcAft>
                          <a:spcPts val="0"/>
                        </a:spcAft>
                      </a:pPr>
                      <a:r>
                        <a:rPr sz="1100" b="0">
                          <a:solidFill>
                            <a:srgbClr val="333333"/>
                          </a:solidFill>
                          <a:latin typeface="Courier New"/>
                        </a:rPr>
                        <a:t>AC_Fence::check()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Periodic fence check invoked from the vehicle 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(aggregator) results of check_fence_alt_max() / check_fence_circle() / check_fence_polygon() position checks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Returns the bitmask of breached fence types that drives the vehicle fence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 F2] Orchestrator dispatch (L837 circle, L842 polygon). The position reads themselves are in the dispatched checks (#4-#6).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9030">
                <a:tc>
                  <a:txBody>
                    <a:bodyPr wrap="square">
                      <a:noAutofit/>
                    </a:bodyPr>
                    <a:lstStyle/>
                    <a:p>
                      <a:pPr algn="l">
                        <a:lnSpc>
                          <a:spcPct val="106000"/>
                        </a:lnSpc>
                        <a:spcAft>
                          <a:spcPts val="0"/>
                        </a:spcAft>
                      </a:pPr>
                      <a:r>
                        <a:rPr sz="1100" b="1">
                          <a:solidFill>
                            <a:srgbClr val="333333"/>
                          </a:solidFill>
                          <a:latin typeface="Courier New"/>
                        </a:rPr>
                        <a:t>8</a:t>
                      </a:r>
                    </a:p>
                    <a:p>
                      <a:pPr algn="l">
                        <a:lnSpc>
                          <a:spcPct val="106000"/>
                        </a:lnSpc>
                        <a:spcAft>
                          <a:spcPts val="0"/>
                        </a:spcAft>
                      </a:pPr>
                      <a:r>
                        <a:rPr sz="1100" b="0">
                          <a:solidFill>
                            <a:srgbClr val="333333"/>
                          </a:solidFill>
                          <a:latin typeface="Courier New"/>
                        </a:rPr>
                        <a:t>ArduCopter/mode_guided_nogps.cpp</a:t>
                      </a:r>
                    </a:p>
                    <a:p>
                      <a:pPr algn="l">
                        <a:lnSpc>
                          <a:spcPct val="106000"/>
                        </a:lnSpc>
                        <a:spcAft>
                          <a:spcPts val="0"/>
                        </a:spcAft>
                      </a:pPr>
                      <a:r>
                        <a:rPr sz="1100" b="0">
                          <a:solidFill>
                            <a:srgbClr val="333333"/>
                          </a:solidFill>
                          <a:latin typeface="Courier New"/>
                        </a:rPr>
                        <a:t>9-15</a:t>
                      </a:r>
                    </a:p>
                    <a:p>
                      <a:pPr algn="l">
                        <a:lnSpc>
                          <a:spcPct val="106000"/>
                        </a:lnSpc>
                        <a:spcAft>
                          <a:spcPts val="0"/>
                        </a:spcAft>
                      </a:pPr>
                      <a:r>
                        <a:rPr sz="1100" b="0">
                          <a:solidFill>
                            <a:srgbClr val="333333"/>
                          </a:solidFill>
                          <a:latin typeface="Courier New"/>
                        </a:rPr>
                        <a:t>ModeGuidedNoGPS::init()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GUIDED_NOGPS entry (companion-computer angle control without 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 by design] no position state observed; requires_GPS() returns false (ArduCopter/mode.h)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Starts angle control only and remains available when position_ok() is false — the GPS-denied fallback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INDIRECT/RELATIONAL (positioning). Contrast row: intentionally PNT-position-INDEPENDENT mode (documents an explicit absence of positioning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Indirect Positioning (continued)</a:t>
            </a:r>
          </a:p>
        </p:txBody>
      </p:sp>
      <p:graphicFrame>
        <p:nvGraphicFramePr>
          <p:cNvPr id="6" name="Table 5"/>
          <p:cNvGraphicFramePr>
            <a:graphicFrameLocks noGrp="1"/>
          </p:cNvGraphicFramePr>
          <p:nvPr/>
        </p:nvGraphicFramePr>
        <p:xfrm>
          <a:off x="566928" y="1591056"/>
          <a:ext cx="11058144" cy="3209290"/>
        </p:xfrm>
        <a:graphic>
          <a:graphicData uri="http://schemas.openxmlformats.org/drawingml/2006/table">
            <a:tbl>
              <a:tblPr>
                <a:tableStyleId>{5C22544A-7EE6-4342-B048-85BDC9FD1C3A}</a:tableStyleId>
              </a:tblPr>
              <a:tblGrid>
                <a:gridCol w="2851785"/>
                <a:gridCol w="1327150"/>
                <a:gridCol w="2122170"/>
                <a:gridCol w="2265680"/>
                <a:gridCol w="2491740"/>
              </a:tblGrid>
              <a:tr h="240030">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230">
                <a:tc>
                  <a:txBody>
                    <a:bodyPr wrap="square">
                      <a:noAutofit/>
                    </a:bodyPr>
                    <a:lstStyle/>
                    <a:p>
                      <a:pPr algn="l">
                        <a:lnSpc>
                          <a:spcPct val="106000"/>
                        </a:lnSpc>
                        <a:spcAft>
                          <a:spcPts val="0"/>
                        </a:spcAft>
                      </a:pPr>
                      <a:r>
                        <a:rPr sz="1100" b="1">
                          <a:solidFill>
                            <a:srgbClr val="333333"/>
                          </a:solidFill>
                          <a:latin typeface="Courier New"/>
                        </a:rPr>
                        <a:t>9</a:t>
                      </a:r>
                    </a:p>
                    <a:p>
                      <a:pPr algn="l">
                        <a:lnSpc>
                          <a:spcPct val="106000"/>
                        </a:lnSpc>
                        <a:spcAft>
                          <a:spcPts val="0"/>
                        </a:spcAft>
                      </a:pPr>
                      <a:r>
                        <a:rPr sz="1100" b="0">
                          <a:solidFill>
                            <a:srgbClr val="333333"/>
                          </a:solidFill>
                          <a:latin typeface="Courier New"/>
                        </a:rPr>
                        <a:t>Rover/fence.cpp</a:t>
                      </a:r>
                    </a:p>
                    <a:p>
                      <a:pPr algn="l">
                        <a:lnSpc>
                          <a:spcPct val="106000"/>
                        </a:lnSpc>
                        <a:spcAft>
                          <a:spcPts val="0"/>
                        </a:spcAft>
                      </a:pPr>
                      <a:r>
                        <a:rPr sz="1100" b="0">
                          <a:solidFill>
                            <a:srgbClr val="333333"/>
                          </a:solidFill>
                          <a:latin typeface="Courier New"/>
                        </a:rPr>
                        <a:t>17-25</a:t>
                      </a:r>
                    </a:p>
                    <a:p>
                      <a:pPr algn="l">
                        <a:lnSpc>
                          <a:spcPct val="106000"/>
                        </a:lnSpc>
                        <a:spcAft>
                          <a:spcPts val="0"/>
                        </a:spcAft>
                      </a:pPr>
                      <a:r>
                        <a:rPr sz="1100" b="0">
                          <a:solidFill>
                            <a:srgbClr val="333333"/>
                          </a:solidFill>
                          <a:latin typeface="Courier New"/>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 fence rate-gate elapsed and no breach latched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fence.get_breaches() (L19); fence.check() (vehicle position vs fence, L21)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Latches new_breaches for the main loop; clears on return inside the 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structurally identical to ArduCopter::fence_checks_async (#3) — copy-paste across vehicles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18030">
                <a:tc>
                  <a:txBody>
                    <a:bodyPr wrap="square">
                      <a:noAutofit/>
                    </a:bodyPr>
                    <a:lstStyle/>
                    <a:p>
                      <a:pPr algn="l">
                        <a:lnSpc>
                          <a:spcPct val="106000"/>
                        </a:lnSpc>
                        <a:spcAft>
                          <a:spcPts val="0"/>
                        </a:spcAft>
                      </a:pPr>
                      <a:r>
                        <a:rPr sz="1100" b="1">
                          <a:solidFill>
                            <a:srgbClr val="333333"/>
                          </a:solidFill>
                          <a:latin typeface="Courier New"/>
                        </a:rPr>
                        <a:t>10</a:t>
                      </a:r>
                    </a:p>
                    <a:p>
                      <a:pPr algn="l">
                        <a:lnSpc>
                          <a:spcPct val="106000"/>
                        </a:lnSpc>
                        <a:spcAft>
                          <a:spcPts val="0"/>
                        </a:spcAft>
                      </a:pPr>
                      <a:r>
                        <a:rPr sz="1100" b="0">
                          <a:solidFill>
                            <a:srgbClr val="333333"/>
                          </a:solidFill>
                          <a:latin typeface="Courier New"/>
                        </a:rPr>
                        <a:t>ArduPlane/takeoff.cpp</a:t>
                      </a:r>
                    </a:p>
                    <a:p>
                      <a:pPr algn="l">
                        <a:lnSpc>
                          <a:spcPct val="106000"/>
                        </a:lnSpc>
                        <a:spcAft>
                          <a:spcPts val="0"/>
                        </a:spcAft>
                      </a:pPr>
                      <a:r>
                        <a:rPr sz="1100" b="0">
                          <a:solidFill>
                            <a:srgbClr val="333333"/>
                          </a:solidFill>
                          <a:latin typeface="Courier New"/>
                        </a:rPr>
                        <a:t>58-62</a:t>
                      </a:r>
                    </a:p>
                    <a:p>
                      <a:pPr algn="l">
                        <a:lnSpc>
                          <a:spcPct val="106000"/>
                        </a:lnSpc>
                        <a:spcAft>
                          <a:spcPts val="0"/>
                        </a:spcAft>
                      </a:pPr>
                      <a:r>
                        <a:rPr sz="1100" b="0">
                          <a:solidFill>
                            <a:srgbClr val="333333"/>
                          </a:solidFill>
                          <a:latin typeface="Courier New"/>
                        </a:rPr>
                        <a:t>Plane::auto_takeoff_check()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Auto/TAKEOFF launch readiness re-evaluated each loop from Plane::set_servos() (Ardu Plane/servos.cpp:125)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gps.status() &lt; AP_GPS:: GPS_OK_FIX_3D (GPS fix quality; gps.status() = AP_GPS::status())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Returns false — auto-takeoff is blocked (throttle stays suppressed) until a 3D GPS fix is acquired.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(positioning). User-example PNT-State-Observed accessor gps.status() (= AP_GPS::status(), libraries/AP_GPS/AP_GPS.h:293). the same gps.status() &lt; GPS_OK_FIX_3D fix-gate recurs in ArduPlane/Plane.cpp (L420/485) and ArduPlane/is_flying.cpp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025879" y="384048"/>
            <a:ext cx="59919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Code Snippet (5-10 lines)</a:t>
            </a:r>
          </a:p>
        </p:txBody>
      </p:sp>
      <p:sp>
        <p:nvSpPr>
          <p:cNvPr id="5" name="TextBox 4"/>
          <p:cNvSpPr txBox="1"/>
          <p:nvPr/>
        </p:nvSpPr>
        <p:spPr>
          <a:xfrm>
            <a:off x="566928" y="1426464"/>
            <a:ext cx="11064240" cy="903541"/>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(5-10 lines), reproduced verbatim from the cited path:line range: one paragraph per source line, in the audit’s own order, with its indentation and its blank lines intact and nothing abbreviated.</a:t>
            </a:r>
          </a:p>
        </p:txBody>
      </p:sp>
      <p:graphicFrame>
        <p:nvGraphicFramePr>
          <p:cNvPr id="7" name="Table 6"/>
          <p:cNvGraphicFramePr>
            <a:graphicFrameLocks noGrp="1"/>
          </p:cNvGraphicFramePr>
          <p:nvPr/>
        </p:nvGraphicFramePr>
        <p:xfrm>
          <a:off x="566928" y="2549461"/>
          <a:ext cx="11058144" cy="208279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Courier New"/>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ArduCopter/system.cpp</a:t>
                      </a:r>
                      <a:r>
                        <a:rPr sz="1100" b="0">
                          <a:solidFill>
                            <a:srgbClr val="999999"/>
                          </a:solidFill>
                          <a:latin typeface="Courier New"/>
                        </a:rPr>
                        <a:t>  ·  </a:t>
                      </a:r>
                      <a:r>
                        <a:rPr sz="1100" b="0">
                          <a:solidFill>
                            <a:srgbClr val="999999"/>
                          </a:solidFill>
                          <a:latin typeface="Courier New"/>
                        </a:rPr>
                        <a:t>226-234</a:t>
                      </a:r>
                      <a:r>
                        <a:rPr sz="1100" b="0">
                          <a:solidFill>
                            <a:srgbClr val="999999"/>
                          </a:solidFill>
                          <a:latin typeface="Courier New"/>
                        </a:rPr>
                        <a:t>  ·  </a:t>
                      </a:r>
                      <a:r>
                        <a:rPr sz="1100" b="0">
                          <a:solidFill>
                            <a:srgbClr val="999999"/>
                          </a:solidFill>
                          <a:latin typeface="Courier New"/>
                        </a:rPr>
                        <a:t>Copter::position_ok()</a:t>
                      </a:r>
                    </a:p>
                    <a:p>
                      <a:pPr algn="l">
                        <a:lnSpc>
                          <a:spcPct val="106000"/>
                        </a:lnSpc>
                        <a:spcAft>
                          <a:spcPts val="0"/>
                        </a:spcAft>
                      </a:pPr>
                      <a:r>
                        <a:rPr sz="1100" b="0">
                          <a:solidFill>
                            <a:srgbClr val="333333"/>
                          </a:solidFill>
                          <a:latin typeface="Courier New"/>
                        </a:rPr>
                        <a:t>bool Copter::position_ok() const</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 return false if ekf failsafe has triggered</a:t>
                      </a:r>
                    </a:p>
                    <a:p>
                      <a:pPr algn="l">
                        <a:lnSpc>
                          <a:spcPct val="106000"/>
                        </a:lnSpc>
                        <a:spcAft>
                          <a:spcPts val="0"/>
                        </a:spcAft>
                      </a:pPr>
                      <a:r>
                        <a:rPr sz="1100" b="0">
                          <a:solidFill>
                            <a:srgbClr val="333333"/>
                          </a:solidFill>
                          <a:latin typeface="Courier New"/>
                        </a:rPr>
                        <a:t>    if (failsafe.ekf) {</a:t>
                      </a:r>
                    </a:p>
                    <a:p>
                      <a:pPr algn="l">
                        <a:lnSpc>
                          <a:spcPct val="106000"/>
                        </a:lnSpc>
                        <a:spcAft>
                          <a:spcPts val="0"/>
                        </a:spcAft>
                      </a:pPr>
                      <a:r>
                        <a:rPr sz="1100" b="0">
                          <a:solidFill>
                            <a:srgbClr val="333333"/>
                          </a:solidFill>
                          <a:latin typeface="Courier New"/>
                        </a:rPr>
                        <a:t>        return false;</a:t>
                      </a:r>
                    </a:p>
                    <a:p>
                      <a:pPr algn="l">
                        <a:lnSpc>
                          <a:spcPct val="106000"/>
                        </a:lnSpc>
                        <a:spcAft>
                          <a:spcPts val="0"/>
                        </a:spcAft>
                      </a:pPr>
                      <a:r>
                        <a:rPr sz="1100" b="0">
                          <a:solidFill>
                            <a:srgbClr val="333333"/>
                          </a:solidFill>
                          <a:latin typeface="Courier New"/>
                        </a:rPr>
                        <a:t>    }</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 check ekf position estimate</a:t>
                      </a:r>
                    </a:p>
                    <a:p>
                      <a:pPr algn="l">
                        <a:lnSpc>
                          <a:spcPct val="106000"/>
                        </a:lnSpc>
                        <a:spcAft>
                          <a:spcPts val="0"/>
                        </a:spcAft>
                      </a:pPr>
                      <a:r>
                        <a:rPr sz="1100" b="0">
                          <a:solidFill>
                            <a:srgbClr val="333333"/>
                          </a:solidFill>
                          <a:latin typeface="Courier New"/>
                        </a:rPr>
                        <a:t>    return (ekf_has_absolute_position() || ekf_has_relative_position());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Code Snippet (5-10 lines) (continued)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Courier New"/>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ArduCopter/mode.cpp</a:t>
                      </a:r>
                      <a:r>
                        <a:rPr sz="1100" b="0">
                          <a:solidFill>
                            <a:srgbClr val="999999"/>
                          </a:solidFill>
                          <a:latin typeface="Courier New"/>
                        </a:rPr>
                        <a:t>  ·  </a:t>
                      </a:r>
                      <a:r>
                        <a:rPr sz="1100" b="0">
                          <a:solidFill>
                            <a:srgbClr val="999999"/>
                          </a:solidFill>
                          <a:latin typeface="Courier New"/>
                        </a:rPr>
                        <a:t>303-310</a:t>
                      </a:r>
                      <a:r>
                        <a:rPr sz="1100" b="0">
                          <a:solidFill>
                            <a:srgbClr val="999999"/>
                          </a:solidFill>
                          <a:latin typeface="Courier New"/>
                        </a:rPr>
                        <a:t>  ·  </a:t>
                      </a:r>
                      <a:r>
                        <a:rPr sz="1100" b="0">
                          <a:solidFill>
                            <a:srgbClr val="999999"/>
                          </a:solidFill>
                          <a:latin typeface="Courier New"/>
                        </a:rPr>
                        <a:t>Copter::set_mode() — requires_GPS gate</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if (!ignore_checks &amp;&amp;</a:t>
                      </a:r>
                    </a:p>
                    <a:p>
                      <a:pPr algn="l">
                        <a:lnSpc>
                          <a:spcPct val="106000"/>
                        </a:lnSpc>
                        <a:spcAft>
                          <a:spcPts val="0"/>
                        </a:spcAft>
                      </a:pPr>
                      <a:r>
                        <a:rPr sz="1100" b="0">
                          <a:solidFill>
                            <a:srgbClr val="333333"/>
                          </a:solidFill>
                          <a:latin typeface="Courier New"/>
                        </a:rPr>
                        <a:t>        new_flightmode-&gt;requires_GPS() &amp;&amp;</a:t>
                      </a:r>
                    </a:p>
                    <a:p>
                      <a:pPr algn="l">
                        <a:lnSpc>
                          <a:spcPct val="106000"/>
                        </a:lnSpc>
                        <a:spcAft>
                          <a:spcPts val="0"/>
                        </a:spcAft>
                      </a:pPr>
                      <a:r>
                        <a:rPr sz="1100" b="0">
                          <a:solidFill>
                            <a:srgbClr val="333333"/>
                          </a:solidFill>
                          <a:latin typeface="Courier New"/>
                        </a:rPr>
                        <a:t>        !copter.position_ok()) {</a:t>
                      </a:r>
                    </a:p>
                    <a:p>
                      <a:pPr algn="l">
                        <a:lnSpc>
                          <a:spcPct val="106000"/>
                        </a:lnSpc>
                        <a:spcAft>
                          <a:spcPts val="0"/>
                        </a:spcAft>
                      </a:pPr>
                      <a:r>
                        <a:rPr sz="1100" b="0">
                          <a:solidFill>
                            <a:srgbClr val="333333"/>
                          </a:solidFill>
                          <a:latin typeface="Courier New"/>
                        </a:rPr>
                        <a:t>        mode_change_failed(new_flightmode, "requires position");</a:t>
                      </a:r>
                    </a:p>
                    <a:p>
                      <a:pPr algn="l">
                        <a:lnSpc>
                          <a:spcPct val="106000"/>
                        </a:lnSpc>
                        <a:spcAft>
                          <a:spcPts val="0"/>
                        </a:spcAft>
                      </a:pPr>
                      <a:r>
                        <a:rPr sz="1100" b="0">
                          <a:solidFill>
                            <a:srgbClr val="333333"/>
                          </a:solidFill>
                          <a:latin typeface="Courier New"/>
                        </a:rPr>
                        <a:t>        return false;</a:t>
                      </a:r>
                    </a:p>
                    <a:p>
                      <a:pPr algn="l">
                        <a:lnSpc>
                          <a:spcPct val="106000"/>
                        </a:lnSpc>
                        <a:spcAft>
                          <a:spcPts val="0"/>
                        </a:spcAft>
                      </a:pPr>
                      <a:r>
                        <a:rPr sz="1100" b="0">
                          <a:solidFill>
                            <a:srgbClr val="333333"/>
                          </a:solidFill>
                          <a:latin typeface="Courier New"/>
                        </a:rPr>
                        <a:t>    }</a:t>
                      </a:r>
                    </a:p>
                    <a:p>
                      <a:pPr algn="l">
                        <a:lnSpc>
                          <a:spcPct val="106000"/>
                        </a:lnSpc>
                        <a:spcAft>
                          <a:spcPts val="0"/>
                        </a:spcAft>
                        <a:defRPr sz="1100">
                          <a:latin typeface="Courier New"/>
                        </a:defRPr>
                      </a:pPr>
                      <a:r>
                        <a:rPr sz="1100" b="0">
                          <a:solidFill>
                            <a:srgbClr val="333333"/>
                          </a:solidFill>
                          <a:latin typeface="Courier New"/>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Courier New"/>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ArduCopter/fence.cpp</a:t>
                      </a:r>
                      <a:r>
                        <a:rPr sz="1100" b="0">
                          <a:solidFill>
                            <a:srgbClr val="999999"/>
                          </a:solidFill>
                          <a:latin typeface="Courier New"/>
                        </a:rPr>
                        <a:t>  ·  </a:t>
                      </a:r>
                      <a:r>
                        <a:rPr sz="1100" b="0">
                          <a:solidFill>
                            <a:srgbClr val="999999"/>
                          </a:solidFill>
                          <a:latin typeface="Courier New"/>
                        </a:rPr>
                        <a:t>20-28</a:t>
                      </a:r>
                      <a:r>
                        <a:rPr sz="1100" b="0">
                          <a:solidFill>
                            <a:srgbClr val="999999"/>
                          </a:solidFill>
                          <a:latin typeface="Courier New"/>
                        </a:rPr>
                        <a:t>  ·  </a:t>
                      </a:r>
                      <a:r>
                        <a:rPr sz="1100" b="0">
                          <a:solidFill>
                            <a:srgbClr val="999999"/>
                          </a:solidFill>
                          <a:latin typeface="Courier New"/>
                        </a:rPr>
                        <a:t>Copter::fence_checks_async()</a:t>
                      </a:r>
                    </a:p>
                    <a:p>
                      <a:pPr algn="l">
                        <a:lnSpc>
                          <a:spcPct val="106000"/>
                        </a:lnSpc>
                        <a:spcAft>
                          <a:spcPts val="0"/>
                        </a:spcAft>
                      </a:pPr>
                      <a:r>
                        <a:rPr sz="1100" b="0">
                          <a:solidFill>
                            <a:srgbClr val="333333"/>
                          </a:solidFill>
                          <a:latin typeface="Courier New"/>
                        </a:rPr>
                        <a:t>    fence_breaches.last_check_ms = now;</a:t>
                      </a:r>
                    </a:p>
                    <a:p>
                      <a:pPr algn="l">
                        <a:lnSpc>
                          <a:spcPct val="106000"/>
                        </a:lnSpc>
                        <a:spcAft>
                          <a:spcPts val="0"/>
                        </a:spcAft>
                      </a:pPr>
                      <a:r>
                        <a:rPr sz="1100" b="0">
                          <a:solidFill>
                            <a:srgbClr val="333333"/>
                          </a:solidFill>
                          <a:latin typeface="Courier New"/>
                        </a:rPr>
                        <a:t>    const uint8_t orig_breaches = fence.get_breaches();</a:t>
                      </a:r>
                    </a:p>
                    <a:p>
                      <a:pPr algn="l">
                        <a:lnSpc>
                          <a:spcPct val="106000"/>
                        </a:lnSpc>
                        <a:spcAft>
                          <a:spcPts val="0"/>
                        </a:spcAft>
                      </a:pPr>
                      <a:r>
                        <a:rPr sz="1100" b="0">
                          <a:solidFill>
                            <a:srgbClr val="333333"/>
                          </a:solidFill>
                          <a:latin typeface="Courier New"/>
                        </a:rPr>
                        <a:t>    bool is_landing_or_landed = flightmode-&gt;is_landing() || ap.land_complete  || !motors-&gt;armed();</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 check for new breaches; new_breaches is bitmask of fence types breached</a:t>
                      </a:r>
                    </a:p>
                    <a:p>
                      <a:pPr algn="l">
                        <a:lnSpc>
                          <a:spcPct val="106000"/>
                        </a:lnSpc>
                        <a:spcAft>
                          <a:spcPts val="0"/>
                        </a:spcAft>
                      </a:pPr>
                      <a:r>
                        <a:rPr sz="1100" b="0">
                          <a:solidFill>
                            <a:srgbClr val="333333"/>
                          </a:solidFill>
                          <a:latin typeface="Courier New"/>
                        </a:rPr>
                        <a:t>    fence_breaches.new_breaches = fence.check(is_landing_or_landed);</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if (!fence_breaches.new_breaches &amp;&amp; orig_breaches &amp;&amp; fence.get_breaches() == 0) {</a:t>
                      </a:r>
                    </a:p>
                    <a:p>
                      <a:pPr algn="l">
                        <a:lnSpc>
                          <a:spcPct val="106000"/>
                        </a:lnSpc>
                        <a:spcAft>
                          <a:spcPts val="0"/>
                        </a:spcAft>
                      </a:pPr>
                      <a:r>
                        <a:rPr sz="1100" b="0">
                          <a:solidFill>
                            <a:srgbClr val="333333"/>
                          </a:solidFill>
                          <a:latin typeface="Courier New"/>
                        </a:rPr>
                        <a:t>        if (!copter.ap.land_complete)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Code Snippet (5-10 lines) (continued)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Courier New"/>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libraries/AC_Fence/AC_Fence.cpp</a:t>
                      </a:r>
                      <a:r>
                        <a:rPr sz="1100" b="0">
                          <a:solidFill>
                            <a:srgbClr val="999999"/>
                          </a:solidFill>
                          <a:latin typeface="Courier New"/>
                        </a:rPr>
                        <a:t>  ·  </a:t>
                      </a:r>
                      <a:r>
                        <a:rPr sz="1100" b="0">
                          <a:solidFill>
                            <a:srgbClr val="999999"/>
                          </a:solidFill>
                          <a:latin typeface="Courier New"/>
                        </a:rPr>
                        <a:t>677-685</a:t>
                      </a:r>
                      <a:r>
                        <a:rPr sz="1100" b="0">
                          <a:solidFill>
                            <a:srgbClr val="999999"/>
                          </a:solidFill>
                          <a:latin typeface="Courier New"/>
                        </a:rPr>
                        <a:t>  ·  </a:t>
                      </a:r>
                      <a:r>
                        <a:rPr sz="1100" b="0">
                          <a:solidFill>
                            <a:srgbClr val="999999"/>
                          </a:solidFill>
                          <a:latin typeface="Courier New"/>
                        </a:rPr>
                        <a:t>AC_Fence::check_fence_polygon()</a:t>
                      </a:r>
                    </a:p>
                    <a:p>
                      <a:pPr algn="l">
                        <a:lnSpc>
                          <a:spcPct val="106000"/>
                        </a:lnSpc>
                        <a:spcAft>
                          <a:spcPts val="0"/>
                        </a:spcAft>
                      </a:pPr>
                      <a:r>
                        <a:rPr sz="1100" b="0">
                          <a:solidFill>
                            <a:srgbClr val="333333"/>
                          </a:solidFill>
                          <a:latin typeface="Courier New"/>
                        </a:rPr>
                        <a:t>    const bool was_breached = _breached_fences &amp; AC_FENCE_TYPE_POLYGON;</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Location loc;</a:t>
                      </a:r>
                    </a:p>
                    <a:p>
                      <a:pPr algn="l">
                        <a:lnSpc>
                          <a:spcPct val="106000"/>
                        </a:lnSpc>
                        <a:spcAft>
                          <a:spcPts val="0"/>
                        </a:spcAft>
                      </a:pPr>
                      <a:r>
                        <a:rPr sz="1100" b="0">
                          <a:solidFill>
                            <a:srgbClr val="333333"/>
                          </a:solidFill>
                          <a:latin typeface="Courier New"/>
                        </a:rPr>
                        <a:t>    const bool have_location = AP::ahrs().get_location(loc);</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if (have_location &amp;&amp; _poly_loader.breached(loc, _polygon_breach_distance)) {</a:t>
                      </a:r>
                    </a:p>
                    <a:p>
                      <a:pPr algn="l">
                        <a:lnSpc>
                          <a:spcPct val="106000"/>
                        </a:lnSpc>
                        <a:spcAft>
                          <a:spcPts val="0"/>
                        </a:spcAft>
                      </a:pPr>
                      <a:r>
                        <a:rPr sz="1100" b="0">
                          <a:solidFill>
                            <a:srgbClr val="333333"/>
                          </a:solidFill>
                          <a:latin typeface="Courier New"/>
                        </a:rPr>
                        <a:t>        if (!was_breached) {</a:t>
                      </a:r>
                    </a:p>
                    <a:p>
                      <a:pPr algn="l">
                        <a:lnSpc>
                          <a:spcPct val="106000"/>
                        </a:lnSpc>
                        <a:spcAft>
                          <a:spcPts val="0"/>
                        </a:spcAft>
                      </a:pPr>
                      <a:r>
                        <a:rPr sz="1100" b="0">
                          <a:solidFill>
                            <a:srgbClr val="333333"/>
                          </a:solidFill>
                          <a:latin typeface="Courier New"/>
                        </a:rPr>
                        <a:t>            record_breach(AC_FENCE_TYPE_POLYGON);</a:t>
                      </a:r>
                    </a:p>
                    <a:p>
                      <a:pPr algn="l">
                        <a:lnSpc>
                          <a:spcPct val="106000"/>
                        </a:lnSpc>
                        <a:spcAft>
                          <a:spcPts val="0"/>
                        </a:spcAft>
                      </a:pPr>
                      <a:r>
                        <a:rPr sz="1100" b="0">
                          <a:solidFill>
                            <a:srgbClr val="333333"/>
                          </a:solidFill>
                          <a:latin typeface="Courier New"/>
                        </a:rPr>
                        <a:t>            return true;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Courier New"/>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libraries/AC_Fence/AC_Fence.cpp</a:t>
                      </a:r>
                      <a:r>
                        <a:rPr sz="1100" b="0">
                          <a:solidFill>
                            <a:srgbClr val="999999"/>
                          </a:solidFill>
                          <a:latin typeface="Courier New"/>
                        </a:rPr>
                        <a:t>  ·  </a:t>
                      </a:r>
                      <a:r>
                        <a:rPr sz="1100" b="0">
                          <a:solidFill>
                            <a:srgbClr val="999999"/>
                          </a:solidFill>
                          <a:latin typeface="Courier New"/>
                        </a:rPr>
                        <a:t>707-715</a:t>
                      </a:r>
                      <a:r>
                        <a:rPr sz="1100" b="0">
                          <a:solidFill>
                            <a:srgbClr val="999999"/>
                          </a:solidFill>
                          <a:latin typeface="Courier New"/>
                        </a:rPr>
                        <a:t>  ·  </a:t>
                      </a:r>
                      <a:r>
                        <a:rPr sz="1100" b="0">
                          <a:solidFill>
                            <a:srgbClr val="999999"/>
                          </a:solidFill>
                          <a:latin typeface="Courier New"/>
                        </a:rPr>
                        <a:t>AC_Fence::check_fence_circle()</a:t>
                      </a:r>
                    </a:p>
                    <a:p>
                      <a:pPr algn="l">
                        <a:lnSpc>
                          <a:spcPct val="106000"/>
                        </a:lnSpc>
                        <a:spcAft>
                          <a:spcPts val="0"/>
                        </a:spcAft>
                      </a:pPr>
                      <a:r>
                        <a:rPr sz="1100" b="0">
                          <a:solidFill>
                            <a:srgbClr val="333333"/>
                          </a:solidFill>
                          <a:latin typeface="Courier New"/>
                        </a:rPr>
                        <a:t>    if (!(get_enabled_fences() &amp; AC_FENCE_TYPE_CIRCLE)) {</a:t>
                      </a:r>
                    </a:p>
                    <a:p>
                      <a:pPr algn="l">
                        <a:lnSpc>
                          <a:spcPct val="106000"/>
                        </a:lnSpc>
                        <a:spcAft>
                          <a:spcPts val="0"/>
                        </a:spcAft>
                      </a:pPr>
                      <a:r>
                        <a:rPr sz="1100" b="0">
                          <a:solidFill>
                            <a:srgbClr val="333333"/>
                          </a:solidFill>
                          <a:latin typeface="Courier New"/>
                        </a:rPr>
                        <a:t>        // not enabled; no breach</a:t>
                      </a:r>
                    </a:p>
                    <a:p>
                      <a:pPr algn="l">
                        <a:lnSpc>
                          <a:spcPct val="106000"/>
                        </a:lnSpc>
                        <a:spcAft>
                          <a:spcPts val="0"/>
                        </a:spcAft>
                      </a:pPr>
                      <a:r>
                        <a:rPr sz="1100" b="0">
                          <a:solidFill>
                            <a:srgbClr val="333333"/>
                          </a:solidFill>
                          <a:latin typeface="Courier New"/>
                        </a:rPr>
                        <a:t>        return false;</a:t>
                      </a:r>
                    </a:p>
                    <a:p>
                      <a:pPr algn="l">
                        <a:lnSpc>
                          <a:spcPct val="106000"/>
                        </a:lnSpc>
                        <a:spcAft>
                          <a:spcPts val="0"/>
                        </a:spcAft>
                      </a:pPr>
                      <a:r>
                        <a:rPr sz="1100" b="0">
                          <a:solidFill>
                            <a:srgbClr val="333333"/>
                          </a:solidFill>
                          <a:latin typeface="Courier New"/>
                        </a:rPr>
                        <a:t>    }</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Vector2f home;</a:t>
                      </a:r>
                    </a:p>
                    <a:p>
                      <a:pPr algn="l">
                        <a:lnSpc>
                          <a:spcPct val="106000"/>
                        </a:lnSpc>
                        <a:spcAft>
                          <a:spcPts val="0"/>
                        </a:spcAft>
                      </a:pPr>
                      <a:r>
                        <a:rPr sz="1100" b="0">
                          <a:solidFill>
                            <a:srgbClr val="333333"/>
                          </a:solidFill>
                          <a:latin typeface="Courier New"/>
                        </a:rPr>
                        <a:t>    if (AP::ahrs().get_relative_position_NE_home(home)) {</a:t>
                      </a:r>
                    </a:p>
                    <a:p>
                      <a:pPr algn="l">
                        <a:lnSpc>
                          <a:spcPct val="106000"/>
                        </a:lnSpc>
                        <a:spcAft>
                          <a:spcPts val="0"/>
                        </a:spcAft>
                      </a:pPr>
                      <a:r>
                        <a:rPr sz="1100" b="0">
                          <a:solidFill>
                            <a:srgbClr val="333333"/>
                          </a:solidFill>
                          <a:latin typeface="Courier New"/>
                        </a:rPr>
                        <a:t>        // we (may) remain breached if we can't update home</a:t>
                      </a:r>
                    </a:p>
                    <a:p>
                      <a:pPr algn="l">
                        <a:lnSpc>
                          <a:spcPct val="106000"/>
                        </a:lnSpc>
                        <a:spcAft>
                          <a:spcPts val="0"/>
                        </a:spcAft>
                      </a:pPr>
                      <a:r>
                        <a:rPr sz="1100" b="0">
                          <a:solidFill>
                            <a:srgbClr val="333333"/>
                          </a:solidFill>
                          <a:latin typeface="Courier New"/>
                        </a:rPr>
                        <a:t>        _home_distance = home.length();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Code Snippet (5-10 lines) (continued)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Courier New"/>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libraries/AC_Fence/AC_Fence.cpp</a:t>
                      </a:r>
                      <a:r>
                        <a:rPr sz="1100" b="0">
                          <a:solidFill>
                            <a:srgbClr val="999999"/>
                          </a:solidFill>
                          <a:latin typeface="Courier New"/>
                        </a:rPr>
                        <a:t>  ·  </a:t>
                      </a:r>
                      <a:r>
                        <a:rPr sz="1100" b="0">
                          <a:solidFill>
                            <a:srgbClr val="999999"/>
                          </a:solidFill>
                          <a:latin typeface="Courier New"/>
                        </a:rPr>
                        <a:t>540-548</a:t>
                      </a:r>
                      <a:r>
                        <a:rPr sz="1100" b="0">
                          <a:solidFill>
                            <a:srgbClr val="999999"/>
                          </a:solidFill>
                          <a:latin typeface="Courier New"/>
                        </a:rPr>
                        <a:t>  ·  </a:t>
                      </a:r>
                      <a:r>
                        <a:rPr sz="1100" b="0">
                          <a:solidFill>
                            <a:srgbClr val="999999"/>
                          </a:solidFill>
                          <a:latin typeface="Courier New"/>
                        </a:rPr>
                        <a:t>AC_Fence::check_fence_alt_max()</a:t>
                      </a:r>
                    </a:p>
                    <a:p>
                      <a:pPr algn="l">
                        <a:lnSpc>
                          <a:spcPct val="106000"/>
                        </a:lnSpc>
                        <a:spcAft>
                          <a:spcPts val="0"/>
                        </a:spcAft>
                      </a:pPr>
                      <a:r>
                        <a:rPr sz="1100" b="0">
                          <a:solidFill>
                            <a:srgbClr val="333333"/>
                          </a:solidFill>
                          <a:latin typeface="Courier New"/>
                        </a:rPr>
                        <a:t>    if (!(get_enabled_fences() &amp; AC_FENCE_TYPE_ALT_MAX)) {</a:t>
                      </a:r>
                    </a:p>
                    <a:p>
                      <a:pPr algn="l">
                        <a:lnSpc>
                          <a:spcPct val="106000"/>
                        </a:lnSpc>
                        <a:spcAft>
                          <a:spcPts val="0"/>
                        </a:spcAft>
                      </a:pPr>
                      <a:r>
                        <a:rPr sz="1100" b="0">
                          <a:solidFill>
                            <a:srgbClr val="333333"/>
                          </a:solidFill>
                          <a:latin typeface="Courier New"/>
                        </a:rPr>
                        <a:t>        // not enabled; no breach</a:t>
                      </a:r>
                    </a:p>
                    <a:p>
                      <a:pPr algn="l">
                        <a:lnSpc>
                          <a:spcPct val="106000"/>
                        </a:lnSpc>
                        <a:spcAft>
                          <a:spcPts val="0"/>
                        </a:spcAft>
                      </a:pPr>
                      <a:r>
                        <a:rPr sz="1100" b="0">
                          <a:solidFill>
                            <a:srgbClr val="333333"/>
                          </a:solidFill>
                          <a:latin typeface="Courier New"/>
                        </a:rPr>
                        <a:t>        return false;</a:t>
                      </a:r>
                    </a:p>
                    <a:p>
                      <a:pPr algn="l">
                        <a:lnSpc>
                          <a:spcPct val="106000"/>
                        </a:lnSpc>
                        <a:spcAft>
                          <a:spcPts val="0"/>
                        </a:spcAft>
                      </a:pPr>
                      <a:r>
                        <a:rPr sz="1100" b="0">
                          <a:solidFill>
                            <a:srgbClr val="333333"/>
                          </a:solidFill>
                          <a:latin typeface="Courier New"/>
                        </a:rPr>
                        <a:t>    }</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float alt;</a:t>
                      </a:r>
                    </a:p>
                    <a:p>
                      <a:pPr algn="l">
                        <a:lnSpc>
                          <a:spcPct val="106000"/>
                        </a:lnSpc>
                        <a:spcAft>
                          <a:spcPts val="0"/>
                        </a:spcAft>
                      </a:pPr>
                      <a:r>
                        <a:rPr sz="1100" b="0">
                          <a:solidFill>
                            <a:srgbClr val="333333"/>
                          </a:solidFill>
                          <a:latin typeface="Courier New"/>
                        </a:rPr>
                        <a:t>    AP::ahrs().get_relative_position_D_home(alt);</a:t>
                      </a:r>
                    </a:p>
                    <a:p>
                      <a:pPr algn="l">
                        <a:lnSpc>
                          <a:spcPct val="106000"/>
                        </a:lnSpc>
                        <a:spcAft>
                          <a:spcPts val="0"/>
                        </a:spcAft>
                      </a:pPr>
                      <a:r>
                        <a:rPr sz="1100" b="0">
                          <a:solidFill>
                            <a:srgbClr val="333333"/>
                          </a:solidFill>
                          <a:latin typeface="Courier New"/>
                        </a:rPr>
                        <a:t>    const float _curr_alt = -alt; // translate Down to Up</a:t>
                      </a:r>
                    </a:p>
                    <a:p>
                      <a:pPr algn="l">
                        <a:lnSpc>
                          <a:spcPct val="106000"/>
                        </a:lnSpc>
                        <a:spcAft>
                          <a:spcPts val="0"/>
                        </a:spcAft>
                        <a:defRPr sz="1100">
                          <a:latin typeface="Courier New"/>
                        </a:defRPr>
                      </a:pPr>
                      <a:r>
                        <a:rPr sz="1100" b="0">
                          <a:solidFill>
                            <a:srgbClr val="333333"/>
                          </a:solidFill>
                          <a:latin typeface="Courier New"/>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Courier New"/>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libraries/AC_Fence/AC_Fence.cpp</a:t>
                      </a:r>
                      <a:r>
                        <a:rPr sz="1100" b="0">
                          <a:solidFill>
                            <a:srgbClr val="999999"/>
                          </a:solidFill>
                          <a:latin typeface="Courier New"/>
                        </a:rPr>
                        <a:t>  ·  </a:t>
                      </a:r>
                      <a:r>
                        <a:rPr sz="1100" b="0">
                          <a:solidFill>
                            <a:srgbClr val="999999"/>
                          </a:solidFill>
                          <a:latin typeface="Courier New"/>
                        </a:rPr>
                        <a:t>837-845</a:t>
                      </a:r>
                      <a:r>
                        <a:rPr sz="1100" b="0">
                          <a:solidFill>
                            <a:srgbClr val="999999"/>
                          </a:solidFill>
                          <a:latin typeface="Courier New"/>
                        </a:rPr>
                        <a:t>  ·  </a:t>
                      </a:r>
                      <a:r>
                        <a:rPr sz="1100" b="0">
                          <a:solidFill>
                            <a:srgbClr val="999999"/>
                          </a:solidFill>
                          <a:latin typeface="Courier New"/>
                        </a:rPr>
                        <a:t>AC_Fence::check()</a:t>
                      </a:r>
                    </a:p>
                    <a:p>
                      <a:pPr algn="l">
                        <a:lnSpc>
                          <a:spcPct val="106000"/>
                        </a:lnSpc>
                        <a:spcAft>
                          <a:spcPts val="0"/>
                        </a:spcAft>
                      </a:pPr>
                      <a:r>
                        <a:rPr sz="1100" b="0">
                          <a:solidFill>
                            <a:srgbClr val="333333"/>
                          </a:solidFill>
                          <a:latin typeface="Courier New"/>
                        </a:rPr>
                        <a:t>    if (!(disabled_fences &amp; AC_FENCE_TYPE_CIRCLE) &amp;&amp; check_fence_circle()) {</a:t>
                      </a:r>
                    </a:p>
                    <a:p>
                      <a:pPr algn="l">
                        <a:lnSpc>
                          <a:spcPct val="106000"/>
                        </a:lnSpc>
                        <a:spcAft>
                          <a:spcPts val="0"/>
                        </a:spcAft>
                      </a:pPr>
                      <a:r>
                        <a:rPr sz="1100" b="0">
                          <a:solidFill>
                            <a:srgbClr val="333333"/>
                          </a:solidFill>
                          <a:latin typeface="Courier New"/>
                        </a:rPr>
                        <a:t>        ret |= AC_FENCE_TYPE_CIRCLE;</a:t>
                      </a:r>
                    </a:p>
                    <a:p>
                      <a:pPr algn="l">
                        <a:lnSpc>
                          <a:spcPct val="106000"/>
                        </a:lnSpc>
                        <a:spcAft>
                          <a:spcPts val="0"/>
                        </a:spcAft>
                      </a:pPr>
                      <a:r>
                        <a:rPr sz="1100" b="0">
                          <a:solidFill>
                            <a:srgbClr val="333333"/>
                          </a:solidFill>
                          <a:latin typeface="Courier New"/>
                        </a:rPr>
                        <a:t>    }</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 polygon fence check</a:t>
                      </a:r>
                    </a:p>
                    <a:p>
                      <a:pPr algn="l">
                        <a:lnSpc>
                          <a:spcPct val="106000"/>
                        </a:lnSpc>
                        <a:spcAft>
                          <a:spcPts val="0"/>
                        </a:spcAft>
                      </a:pPr>
                      <a:r>
                        <a:rPr sz="1100" b="0">
                          <a:solidFill>
                            <a:srgbClr val="333333"/>
                          </a:solidFill>
                          <a:latin typeface="Courier New"/>
                        </a:rPr>
                        <a:t>    if (!(disabled_fences &amp; AC_FENCE_TYPE_POLYGON) &amp;&amp; check_fence_polygon()) {</a:t>
                      </a:r>
                    </a:p>
                    <a:p>
                      <a:pPr algn="l">
                        <a:lnSpc>
                          <a:spcPct val="106000"/>
                        </a:lnSpc>
                        <a:spcAft>
                          <a:spcPts val="0"/>
                        </a:spcAft>
                      </a:pPr>
                      <a:r>
                        <a:rPr sz="1100" b="0">
                          <a:solidFill>
                            <a:srgbClr val="333333"/>
                          </a:solidFill>
                          <a:latin typeface="Courier New"/>
                        </a:rPr>
                        <a:t>        ret |= AC_FENCE_TYPE_POLYGON;</a:t>
                      </a:r>
                    </a:p>
                    <a:p>
                      <a:pPr algn="l">
                        <a:lnSpc>
                          <a:spcPct val="106000"/>
                        </a:lnSpc>
                        <a:spcAft>
                          <a:spcPts val="0"/>
                        </a:spcAft>
                      </a:pPr>
                      <a:r>
                        <a:rPr sz="1100" b="0">
                          <a:solidFill>
                            <a:srgbClr val="333333"/>
                          </a:solidFill>
                          <a:latin typeface="Courier New"/>
                        </a:rPr>
                        <a:t>    }</a:t>
                      </a:r>
                    </a:p>
                    <a:p>
                      <a:pPr algn="l">
                        <a:lnSpc>
                          <a:spcPct val="106000"/>
                        </a:lnSpc>
                        <a:spcAft>
                          <a:spcPts val="0"/>
                        </a:spcAft>
                        <a:defRPr sz="1100">
                          <a:latin typeface="Courier New"/>
                        </a:defRPr>
                      </a:pPr>
                      <a:r>
                        <a:rPr sz="1100" b="0">
                          <a:solidFill>
                            <a:srgbClr val="333333"/>
                          </a:solidFill>
                          <a:latin typeface="Courier New"/>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Code Snippet (5-10 lines) (continued)</a:t>
            </a:r>
          </a:p>
        </p:txBody>
      </p:sp>
      <p:graphicFrame>
        <p:nvGraphicFramePr>
          <p:cNvPr id="6" name="Table 5"/>
          <p:cNvGraphicFramePr>
            <a:graphicFrameLocks noGrp="1"/>
          </p:cNvGraphicFramePr>
          <p:nvPr/>
        </p:nvGraphicFramePr>
        <p:xfrm>
          <a:off x="566928" y="1591056"/>
          <a:ext cx="11058144" cy="356997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Courier New"/>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ArduCopter/mode_guided_nogps.cpp</a:t>
                      </a:r>
                      <a:r>
                        <a:rPr sz="1100" b="0">
                          <a:solidFill>
                            <a:srgbClr val="999999"/>
                          </a:solidFill>
                          <a:latin typeface="Courier New"/>
                        </a:rPr>
                        <a:t>  ·  </a:t>
                      </a:r>
                      <a:r>
                        <a:rPr sz="1100" b="0">
                          <a:solidFill>
                            <a:srgbClr val="999999"/>
                          </a:solidFill>
                          <a:latin typeface="Courier New"/>
                        </a:rPr>
                        <a:t>9-15</a:t>
                      </a:r>
                      <a:r>
                        <a:rPr sz="1100" b="0">
                          <a:solidFill>
                            <a:srgbClr val="999999"/>
                          </a:solidFill>
                          <a:latin typeface="Courier New"/>
                        </a:rPr>
                        <a:t>  ·  </a:t>
                      </a:r>
                      <a:r>
                        <a:rPr sz="1100" b="0">
                          <a:solidFill>
                            <a:srgbClr val="999999"/>
                          </a:solidFill>
                          <a:latin typeface="Courier New"/>
                        </a:rPr>
                        <a:t>ModeGuidedNoGPS::init()</a:t>
                      </a:r>
                    </a:p>
                    <a:p>
                      <a:pPr algn="l">
                        <a:lnSpc>
                          <a:spcPct val="106000"/>
                        </a:lnSpc>
                        <a:spcAft>
                          <a:spcPts val="0"/>
                        </a:spcAft>
                      </a:pPr>
                      <a:r>
                        <a:rPr sz="1100" b="0">
                          <a:solidFill>
                            <a:srgbClr val="333333"/>
                          </a:solidFill>
                          <a:latin typeface="Courier New"/>
                        </a:rPr>
                        <a:t>// initialise guided_nogps controller</a:t>
                      </a:r>
                    </a:p>
                    <a:p>
                      <a:pPr algn="l">
                        <a:lnSpc>
                          <a:spcPct val="106000"/>
                        </a:lnSpc>
                        <a:spcAft>
                          <a:spcPts val="0"/>
                        </a:spcAft>
                      </a:pPr>
                      <a:r>
                        <a:rPr sz="1100" b="0">
                          <a:solidFill>
                            <a:srgbClr val="333333"/>
                          </a:solidFill>
                          <a:latin typeface="Courier New"/>
                        </a:rPr>
                        <a:t>bool ModeGuidedNoGPS::init(bool ignore_checks)</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 start in angle control mode</a:t>
                      </a:r>
                    </a:p>
                    <a:p>
                      <a:pPr algn="l">
                        <a:lnSpc>
                          <a:spcPct val="106000"/>
                        </a:lnSpc>
                        <a:spcAft>
                          <a:spcPts val="0"/>
                        </a:spcAft>
                      </a:pPr>
                      <a:r>
                        <a:rPr sz="1100" b="0">
                          <a:solidFill>
                            <a:srgbClr val="333333"/>
                          </a:solidFill>
                          <a:latin typeface="Courier New"/>
                        </a:rPr>
                        <a:t>    ModeGuided::angle_control_start();</a:t>
                      </a:r>
                    </a:p>
                    <a:p>
                      <a:pPr algn="l">
                        <a:lnSpc>
                          <a:spcPct val="106000"/>
                        </a:lnSpc>
                        <a:spcAft>
                          <a:spcPts val="0"/>
                        </a:spcAft>
                      </a:pPr>
                      <a:r>
                        <a:rPr sz="1100" b="0">
                          <a:solidFill>
                            <a:srgbClr val="333333"/>
                          </a:solidFill>
                          <a:latin typeface="Courier New"/>
                        </a:rPr>
                        <a:t>    return true;</a:t>
                      </a:r>
                    </a:p>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Rover/fence.cpp</a:t>
                      </a:r>
                      <a:r>
                        <a:rPr sz="1100" b="0">
                          <a:solidFill>
                            <a:srgbClr val="999999"/>
                          </a:solidFill>
                          <a:latin typeface="Courier New"/>
                        </a:rPr>
                        <a:t>  ·  </a:t>
                      </a:r>
                      <a:r>
                        <a:rPr sz="1100" b="0">
                          <a:solidFill>
                            <a:srgbClr val="999999"/>
                          </a:solidFill>
                          <a:latin typeface="Courier New"/>
                        </a:rPr>
                        <a:t>17-25</a:t>
                      </a:r>
                      <a:r>
                        <a:rPr sz="1100" b="0">
                          <a:solidFill>
                            <a:srgbClr val="999999"/>
                          </a:solidFill>
                          <a:latin typeface="Courier New"/>
                        </a:rPr>
                        <a:t>  ·  </a:t>
                      </a:r>
                      <a:r>
                        <a:rPr sz="1100" b="0">
                          <a:solidFill>
                            <a:srgbClr val="999999"/>
                          </a:solidFill>
                          <a:latin typeface="Courier New"/>
                        </a:rPr>
                        <a:t>Rover::fence_checks_async()</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fence_breaches.last_check_ms = now;</a:t>
                      </a:r>
                    </a:p>
                    <a:p>
                      <a:pPr algn="l">
                        <a:lnSpc>
                          <a:spcPct val="106000"/>
                        </a:lnSpc>
                        <a:spcAft>
                          <a:spcPts val="0"/>
                        </a:spcAft>
                      </a:pPr>
                      <a:r>
                        <a:rPr sz="1100" b="0">
                          <a:solidFill>
                            <a:srgbClr val="333333"/>
                          </a:solidFill>
                          <a:latin typeface="Courier New"/>
                        </a:rPr>
                        <a:t>    const uint8_t orig_breaches = fence.get_breaches();</a:t>
                      </a:r>
                    </a:p>
                    <a:p>
                      <a:pPr algn="l">
                        <a:lnSpc>
                          <a:spcPct val="106000"/>
                        </a:lnSpc>
                        <a:spcAft>
                          <a:spcPts val="0"/>
                        </a:spcAft>
                      </a:pPr>
                      <a:r>
                        <a:rPr sz="1100" b="0">
                          <a:solidFill>
                            <a:srgbClr val="333333"/>
                          </a:solidFill>
                          <a:latin typeface="Courier New"/>
                        </a:rPr>
                        <a:t>    // check for new breaches; new_breaches is bitmask of fence types breached</a:t>
                      </a:r>
                    </a:p>
                    <a:p>
                      <a:pPr algn="l">
                        <a:lnSpc>
                          <a:spcPct val="106000"/>
                        </a:lnSpc>
                        <a:spcAft>
                          <a:spcPts val="0"/>
                        </a:spcAft>
                      </a:pPr>
                      <a:r>
                        <a:rPr sz="1100" b="0">
                          <a:solidFill>
                            <a:srgbClr val="333333"/>
                          </a:solidFill>
                          <a:latin typeface="Courier New"/>
                        </a:rPr>
                        <a:t>    fence_breaches.new_breaches = fence.check();</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if (!fence_breaches.new_breaches &amp;&amp; orig_breaches &amp;&amp; fence.get_breaches() == 0) {</a:t>
                      </a:r>
                    </a:p>
                    <a:p>
                      <a:pPr algn="l">
                        <a:lnSpc>
                          <a:spcPct val="106000"/>
                        </a:lnSpc>
                        <a:spcAft>
                          <a:spcPts val="0"/>
                        </a:spcAft>
                      </a:pPr>
                      <a:r>
                        <a:rPr sz="1100" b="0">
                          <a:solidFill>
                            <a:srgbClr val="333333"/>
                          </a:solidFill>
                          <a:latin typeface="Courier New"/>
                        </a:rPr>
                        <a:t>        // record clearing of breach</a:t>
                      </a:r>
                    </a:p>
                    <a:p>
                      <a:pPr algn="l">
                        <a:lnSpc>
                          <a:spcPct val="106000"/>
                        </a:lnSpc>
                        <a:spcAft>
                          <a:spcPts val="0"/>
                        </a:spcAft>
                      </a:pPr>
                      <a:r>
                        <a:rPr sz="1100" b="0">
                          <a:solidFill>
                            <a:srgbClr val="333333"/>
                          </a:solidFill>
                          <a:latin typeface="Courier New"/>
                        </a:rPr>
                        <a:t>        LOGGER_WRITE_ERROR(LogErrorSubsystem::FAILSAFE_FENCE, LogErrorCode::ERROR_RESOLVED);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8–9</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Code Snippet (5-10 lines) (continued)</a:t>
            </a:r>
          </a:p>
        </p:txBody>
      </p:sp>
      <p:graphicFrame>
        <p:nvGraphicFramePr>
          <p:cNvPr id="6" name="Table 5"/>
          <p:cNvGraphicFramePr>
            <a:graphicFrameLocks noGrp="1"/>
          </p:cNvGraphicFramePr>
          <p:nvPr/>
        </p:nvGraphicFramePr>
        <p:xfrm>
          <a:off x="566928" y="1591056"/>
          <a:ext cx="11058144" cy="137200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ArduPlane/takeoff.cpp</a:t>
                      </a:r>
                      <a:r>
                        <a:rPr sz="1100" b="0">
                          <a:solidFill>
                            <a:srgbClr val="999999"/>
                          </a:solidFill>
                          <a:latin typeface="Courier New"/>
                        </a:rPr>
                        <a:t>  ·  </a:t>
                      </a:r>
                      <a:r>
                        <a:rPr sz="1100" b="0">
                          <a:solidFill>
                            <a:srgbClr val="999999"/>
                          </a:solidFill>
                          <a:latin typeface="Courier New"/>
                        </a:rPr>
                        <a:t>58-62</a:t>
                      </a:r>
                      <a:r>
                        <a:rPr sz="1100" b="0">
                          <a:solidFill>
                            <a:srgbClr val="999999"/>
                          </a:solidFill>
                          <a:latin typeface="Courier New"/>
                        </a:rPr>
                        <a:t>  ·  </a:t>
                      </a:r>
                      <a:r>
                        <a:rPr sz="1100" b="0">
                          <a:solidFill>
                            <a:srgbClr val="999999"/>
                          </a:solidFill>
                          <a:latin typeface="Courier New"/>
                        </a:rPr>
                        <a:t>Plane::auto_takeoff_check()</a:t>
                      </a:r>
                    </a:p>
                    <a:p>
                      <a:pPr algn="l">
                        <a:lnSpc>
                          <a:spcPct val="106000"/>
                        </a:lnSpc>
                        <a:spcAft>
                          <a:spcPts val="0"/>
                        </a:spcAft>
                      </a:pPr>
                      <a:r>
                        <a:rPr sz="1100" b="0">
                          <a:solidFill>
                            <a:srgbClr val="333333"/>
                          </a:solidFill>
                          <a:latin typeface="Courier New"/>
                        </a:rPr>
                        <a:t>    // Check for bad GPS</a:t>
                      </a:r>
                    </a:p>
                    <a:p>
                      <a:pPr algn="l">
                        <a:lnSpc>
                          <a:spcPct val="106000"/>
                        </a:lnSpc>
                        <a:spcAft>
                          <a:spcPts val="0"/>
                        </a:spcAft>
                      </a:pPr>
                      <a:r>
                        <a:rPr sz="1100" b="0">
                          <a:solidFill>
                            <a:srgbClr val="333333"/>
                          </a:solidFill>
                          <a:latin typeface="Courier New"/>
                        </a:rPr>
                        <a:t>    if (gps.status() &lt; AP_GPS::GPS_OK_FIX_3D) {</a:t>
                      </a:r>
                    </a:p>
                    <a:p>
                      <a:pPr algn="l">
                        <a:lnSpc>
                          <a:spcPct val="106000"/>
                        </a:lnSpc>
                        <a:spcAft>
                          <a:spcPts val="0"/>
                        </a:spcAft>
                      </a:pPr>
                      <a:r>
                        <a:rPr sz="1100" b="0">
                          <a:solidFill>
                            <a:srgbClr val="333333"/>
                          </a:solidFill>
                          <a:latin typeface="Courier New"/>
                        </a:rPr>
                        <a:t>        // no auto takeoff without GPS lock</a:t>
                      </a:r>
                    </a:p>
                    <a:p>
                      <a:pPr algn="l">
                        <a:lnSpc>
                          <a:spcPct val="106000"/>
                        </a:lnSpc>
                        <a:spcAft>
                          <a:spcPts val="0"/>
                        </a:spcAft>
                      </a:pPr>
                      <a:r>
                        <a:rPr sz="1100" b="0">
                          <a:solidFill>
                            <a:srgbClr val="333333"/>
                          </a:solidFill>
                          <a:latin typeface="Courier New"/>
                        </a:rPr>
                        <a:t>        return false;</a:t>
                      </a:r>
                    </a:p>
                    <a:p>
                      <a:pPr algn="l">
                        <a:lnSpc>
                          <a:spcPct val="106000"/>
                        </a:lnSpc>
                        <a:spcAft>
                          <a:spcPts val="0"/>
                        </a:spcAft>
                      </a:pPr>
                      <a:r>
                        <a:rPr sz="1100" b="0">
                          <a:solidFill>
                            <a:srgbClr val="333333"/>
                          </a:solidFill>
                          <a:latin typeface="Courier New"/>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dependency map</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4a: Layer 1 — direct callers / callees with typed dependency</a:t>
            </a:r>
          </a:p>
        </p:txBody>
      </p:sp>
      <p:graphicFrame>
        <p:nvGraphicFramePr>
          <p:cNvPr id="7" name="Table 6"/>
          <p:cNvGraphicFramePr>
            <a:graphicFrameLocks noGrp="1"/>
          </p:cNvGraphicFramePr>
          <p:nvPr/>
        </p:nvGraphicFramePr>
        <p:xfrm>
          <a:off x="566928" y="1906943"/>
          <a:ext cx="11058144" cy="2684780"/>
        </p:xfrm>
        <a:graphic>
          <a:graphicData uri="http://schemas.openxmlformats.org/drawingml/2006/table">
            <a:tbl>
              <a:tblPr>
                <a:tableStyleId>{5C22544A-7EE6-4342-B048-85BDC9FD1C3A}</a:tableStyleId>
              </a:tblPr>
              <a:tblGrid>
                <a:gridCol w="347345"/>
                <a:gridCol w="3061335"/>
                <a:gridCol w="3095625"/>
                <a:gridCol w="3259455"/>
                <a:gridCol w="1294130"/>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30">
                <a:tc>
                  <a:txBody>
                    <a:bodyPr wrap="square">
                      <a:noAutofit/>
                    </a:bodyPr>
                    <a:lstStyle/>
                    <a:p>
                      <a:pPr algn="r">
                        <a:lnSpc>
                          <a:spcPct val="106000"/>
                        </a:lnSpc>
                        <a:spcAft>
                          <a:spcPts val="0"/>
                        </a:spcAft>
                      </a:pPr>
                      <a:r>
                        <a:rPr sz="1100" b="1">
                          <a:solidFill>
                            <a:srgbClr val="333333"/>
                          </a:solidFill>
                          <a:latin typeface="Courier New"/>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ekf_has_absolute_position(); ekf_has_relative_position(); reads failsafe.ekf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Copter::set_mode (mode.cpp:306); position-dependent failsafes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Copter::set_mode() requires_GPS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new_flightmode-&gt;requires_GPS(); 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GCS/RC/auto mode-change entry points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Courier New"/>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fence.get_breaches(); fence.check()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Copter IO thread (1 kHz async, 25 Hz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AC_Fence::check_fence_polygon()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AP::ahrs().get_location(); _poly_loader.breached()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AC_Fence::check() (L842)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Courier New"/>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AC_Fence::check_fence_circle()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AP::ahrs().get_relative_position_NE_home()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AC_Fence::check() (L837)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dependency map (continued)</a:t>
            </a:r>
          </a:p>
        </p:txBody>
      </p:sp>
      <p:graphicFrame>
        <p:nvGraphicFramePr>
          <p:cNvPr id="6" name="Table 5"/>
          <p:cNvGraphicFramePr>
            <a:graphicFrameLocks noGrp="1"/>
          </p:cNvGraphicFramePr>
          <p:nvPr/>
        </p:nvGraphicFramePr>
        <p:xfrm>
          <a:off x="566928" y="1591056"/>
          <a:ext cx="11058144" cy="2506980"/>
        </p:xfrm>
        <a:graphic>
          <a:graphicData uri="http://schemas.openxmlformats.org/drawingml/2006/table">
            <a:tbl>
              <a:tblPr>
                <a:tableStyleId>{5C22544A-7EE6-4342-B048-85BDC9FD1C3A}</a:tableStyleId>
              </a:tblPr>
              <a:tblGrid>
                <a:gridCol w="347345"/>
                <a:gridCol w="3061335"/>
                <a:gridCol w="3095625"/>
                <a:gridCol w="3259455"/>
                <a:gridCol w="1294130"/>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r">
                        <a:lnSpc>
                          <a:spcPct val="106000"/>
                        </a:lnSpc>
                        <a:spcAft>
                          <a:spcPts val="0"/>
                        </a:spcAft>
                      </a:pPr>
                      <a:r>
                        <a:rPr sz="1100" b="1">
                          <a:solidFill>
                            <a:srgbClr val="333333"/>
                          </a:solidFill>
                          <a:latin typeface="Courier New"/>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AC_Fence::check_fence_alt_max()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AP::ahrs().get_relative_position_D_home()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AC_Fence::check() (L821)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r">
                        <a:lnSpc>
                          <a:spcPct val="106000"/>
                        </a:lnSpc>
                        <a:spcAft>
                          <a:spcPts val="0"/>
                        </a:spcAft>
                      </a:pPr>
                      <a:r>
                        <a:rPr sz="1100" b="1">
                          <a:solidFill>
                            <a:srgbClr val="333333"/>
                          </a:solidFill>
                          <a:latin typeface="Courier New"/>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AC_Fence::check()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check_fence_alt_max(); check_fence_circle(); check_fence_polygon()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Copter::fence_checks_async(); 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ModeGuidedNoGPS::init()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ModeGuided::angle_control_start()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Copter::set_mode()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030">
                <a:tc>
                  <a:txBody>
                    <a:bodyPr wrap="square">
                      <a:noAutofit/>
                    </a:bodyPr>
                    <a:lstStyle/>
                    <a:p>
                      <a:pPr algn="r">
                        <a:lnSpc>
                          <a:spcPct val="106000"/>
                        </a:lnSpc>
                        <a:spcAft>
                          <a:spcPts val="0"/>
                        </a:spcAft>
                      </a:pPr>
                      <a:r>
                        <a:rPr sz="1100" b="1">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fence.get_breaches(); fence.check()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Rover IO thread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Plane::auto_takeoff_check()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AP_GPS::status() (gps.status()); compares vs AP_GPS::GPS_OK_FIX_3D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Plane::set_servos() (ArduPlane/servos.cpp:125)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025879" y="384048"/>
            <a:ext cx="59919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6–10</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Code Snippet</a:t>
            </a: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exactly as the audit records it, one paragraph per line and nothing abbreviated. The audit keeps Layer 1 lines flush left; the row’s main-table snippet keeps the source’s own indentation.</a:t>
            </a:r>
          </a:p>
        </p:txBody>
      </p:sp>
      <p:graphicFrame>
        <p:nvGraphicFramePr>
          <p:cNvPr id="7" name="Table 6"/>
          <p:cNvGraphicFramePr>
            <a:graphicFrameLocks noGrp="1"/>
          </p:cNvGraphicFramePr>
          <p:nvPr/>
        </p:nvGraphicFramePr>
        <p:xfrm>
          <a:off x="566928" y="2228202"/>
          <a:ext cx="11058144" cy="321458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Courier New"/>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Copter::position_ok()</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bool Copter::position_ok() const</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return false if ekf failsafe has triggered</a:t>
                      </a:r>
                    </a:p>
                    <a:p>
                      <a:pPr algn="l">
                        <a:lnSpc>
                          <a:spcPct val="106000"/>
                        </a:lnSpc>
                        <a:spcAft>
                          <a:spcPts val="0"/>
                        </a:spcAft>
                      </a:pPr>
                      <a:r>
                        <a:rPr sz="1100" b="0">
                          <a:solidFill>
                            <a:srgbClr val="333333"/>
                          </a:solidFill>
                          <a:latin typeface="Courier New"/>
                        </a:rPr>
                        <a:t>if (failsafe.ekf) {</a:t>
                      </a:r>
                    </a:p>
                    <a:p>
                      <a:pPr algn="l">
                        <a:lnSpc>
                          <a:spcPct val="106000"/>
                        </a:lnSpc>
                        <a:spcAft>
                          <a:spcPts val="0"/>
                        </a:spcAft>
                      </a:pPr>
                      <a:r>
                        <a:rPr sz="1100" b="0">
                          <a:solidFill>
                            <a:srgbClr val="333333"/>
                          </a:solidFill>
                          <a:latin typeface="Courier New"/>
                        </a:rPr>
                        <a:t>return false;</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check ekf position estimate</a:t>
                      </a:r>
                    </a:p>
                    <a:p>
                      <a:pPr algn="l">
                        <a:lnSpc>
                          <a:spcPct val="106000"/>
                        </a:lnSpc>
                        <a:spcAft>
                          <a:spcPts val="0"/>
                        </a:spcAft>
                      </a:pPr>
                      <a:r>
                        <a:rPr sz="1100" b="0">
                          <a:solidFill>
                            <a:srgbClr val="333333"/>
                          </a:solidFill>
                          <a:latin typeface="Courier New"/>
                        </a:rPr>
                        <a:t>return (ekf_has_absolute_position() || ekf_has_relative_position());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9483">
                <a:tc>
                  <a:txBody>
                    <a:bodyPr wrap="square">
                      <a:noAutofit/>
                    </a:bodyPr>
                    <a:lstStyle/>
                    <a:p>
                      <a:pPr algn="r">
                        <a:lnSpc>
                          <a:spcPct val="106000"/>
                        </a:lnSpc>
                        <a:spcAft>
                          <a:spcPts val="0"/>
                        </a:spcAft>
                      </a:pPr>
                      <a:r>
                        <a:rPr sz="1100" b="1">
                          <a:solidFill>
                            <a:srgbClr val="333333"/>
                          </a:solidFill>
                          <a:latin typeface="Courier New"/>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Copter::set_mode() requires_GPS gate</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if (!ignore_checks &amp;&amp;</a:t>
                      </a:r>
                    </a:p>
                    <a:p>
                      <a:pPr algn="l">
                        <a:lnSpc>
                          <a:spcPct val="106000"/>
                        </a:lnSpc>
                        <a:spcAft>
                          <a:spcPts val="0"/>
                        </a:spcAft>
                      </a:pPr>
                      <a:r>
                        <a:rPr sz="1100" b="0">
                          <a:solidFill>
                            <a:srgbClr val="333333"/>
                          </a:solidFill>
                          <a:latin typeface="Courier New"/>
                        </a:rPr>
                        <a:t>new_flightmode-&gt;requires_GPS() &amp;&amp;</a:t>
                      </a:r>
                    </a:p>
                    <a:p>
                      <a:pPr algn="l">
                        <a:lnSpc>
                          <a:spcPct val="106000"/>
                        </a:lnSpc>
                        <a:spcAft>
                          <a:spcPts val="0"/>
                        </a:spcAft>
                      </a:pPr>
                      <a:r>
                        <a:rPr sz="1100" b="0">
                          <a:solidFill>
                            <a:srgbClr val="333333"/>
                          </a:solidFill>
                          <a:latin typeface="Courier New"/>
                        </a:rPr>
                        <a:t>!copter.position_ok()) {</a:t>
                      </a:r>
                    </a:p>
                    <a:p>
                      <a:pPr algn="l">
                        <a:lnSpc>
                          <a:spcPct val="106000"/>
                        </a:lnSpc>
                        <a:spcAft>
                          <a:spcPts val="0"/>
                        </a:spcAft>
                      </a:pPr>
                      <a:r>
                        <a:rPr sz="1100" b="0">
                          <a:solidFill>
                            <a:srgbClr val="333333"/>
                          </a:solidFill>
                          <a:latin typeface="Courier New"/>
                        </a:rPr>
                        <a:t>mode_change_failed(new_flightmode, "requires position");</a:t>
                      </a:r>
                    </a:p>
                    <a:p>
                      <a:pPr algn="l">
                        <a:lnSpc>
                          <a:spcPct val="106000"/>
                        </a:lnSpc>
                        <a:spcAft>
                          <a:spcPts val="0"/>
                        </a:spcAft>
                      </a:pPr>
                      <a:r>
                        <a:rPr sz="1100" b="0">
                          <a:solidFill>
                            <a:srgbClr val="333333"/>
                          </a:solidFill>
                          <a:latin typeface="Courier New"/>
                        </a:rPr>
                        <a:t>return false;</a:t>
                      </a:r>
                    </a:p>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Code Snippet (continued)</a:t>
            </a:r>
          </a:p>
        </p:txBody>
      </p:sp>
      <p:graphicFrame>
        <p:nvGraphicFramePr>
          <p:cNvPr id="6" name="Table 5"/>
          <p:cNvGraphicFramePr>
            <a:graphicFrameLocks noGrp="1"/>
          </p:cNvGraphicFramePr>
          <p:nvPr/>
        </p:nvGraphicFramePr>
        <p:xfrm>
          <a:off x="566928" y="1591056"/>
          <a:ext cx="11058144" cy="339227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Courier New"/>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Copter::fence_checks_async()</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fence_breaches.last_check_ms = now;</a:t>
                      </a:r>
                    </a:p>
                    <a:p>
                      <a:pPr algn="l">
                        <a:lnSpc>
                          <a:spcPct val="106000"/>
                        </a:lnSpc>
                        <a:spcAft>
                          <a:spcPts val="0"/>
                        </a:spcAft>
                      </a:pPr>
                      <a:r>
                        <a:rPr sz="1100" b="0">
                          <a:solidFill>
                            <a:srgbClr val="333333"/>
                          </a:solidFill>
                          <a:latin typeface="Courier New"/>
                        </a:rPr>
                        <a:t>const uint8_t orig_breaches = fence.get_breaches();</a:t>
                      </a:r>
                    </a:p>
                    <a:p>
                      <a:pPr algn="l">
                        <a:lnSpc>
                          <a:spcPct val="106000"/>
                        </a:lnSpc>
                        <a:spcAft>
                          <a:spcPts val="0"/>
                        </a:spcAft>
                      </a:pPr>
                      <a:r>
                        <a:rPr sz="1100" b="0">
                          <a:solidFill>
                            <a:srgbClr val="333333"/>
                          </a:solidFill>
                          <a:latin typeface="Courier New"/>
                        </a:rPr>
                        <a:t>bool is_landing_or_landed = flightmode-&gt;is_landing() || ap.land_complete || !motors-&gt;armed();</a:t>
                      </a:r>
                    </a:p>
                    <a:p>
                      <a:pPr algn="l">
                        <a:lnSpc>
                          <a:spcPct val="106000"/>
                        </a:lnSpc>
                        <a:spcAft>
                          <a:spcPts val="0"/>
                        </a:spcAft>
                      </a:pPr>
                      <a:r>
                        <a:rPr sz="1100" b="0">
                          <a:solidFill>
                            <a:srgbClr val="333333"/>
                          </a:solidFill>
                          <a:latin typeface="Courier New"/>
                        </a:rPr>
                        <a:t>// check for new breaches; new_breaches is bitmask of fence types breached</a:t>
                      </a:r>
                    </a:p>
                    <a:p>
                      <a:pPr algn="l">
                        <a:lnSpc>
                          <a:spcPct val="106000"/>
                        </a:lnSpc>
                        <a:spcAft>
                          <a:spcPts val="0"/>
                        </a:spcAft>
                      </a:pPr>
                      <a:r>
                        <a:rPr sz="1100" b="0">
                          <a:solidFill>
                            <a:srgbClr val="333333"/>
                          </a:solidFill>
                          <a:latin typeface="Courier New"/>
                        </a:rPr>
                        <a:t>fence_breaches.new_breaches = fence.check(is_landing_or_landed</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if (!fence_breaches.new_breaches &amp;&amp; orig_breaches &amp;&amp; fence.get_breaches() == 0) {</a:t>
                      </a:r>
                    </a:p>
                    <a:p>
                      <a:pPr algn="l">
                        <a:lnSpc>
                          <a:spcPct val="106000"/>
                        </a:lnSpc>
                        <a:spcAft>
                          <a:spcPts val="0"/>
                        </a:spcAft>
                      </a:pPr>
                      <a:r>
                        <a:rPr sz="1100" b="0">
                          <a:solidFill>
                            <a:srgbClr val="333333"/>
                          </a:solidFill>
                          <a:latin typeface="Courier New"/>
                        </a:rPr>
                        <a:t>if (!copter.ap.land_complete)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Courier New"/>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AC_Fence::check_fence_polygon()</a:t>
                      </a:r>
                      <a:r>
                        <a:rPr sz="1100" b="0">
                          <a:solidFill>
                            <a:srgbClr val="999999"/>
                          </a:solidFill>
                          <a:latin typeface="Courier New"/>
                        </a:rPr>
                        <a:t>  ·  </a:t>
                      </a:r>
                      <a:r>
                        <a:rPr sz="1100" b="0">
                          <a:solidFill>
                            <a:srgbClr val="999999"/>
                          </a:solidFill>
                          <a:latin typeface="Courier New"/>
                        </a:rPr>
                        <a:t>Shared global/singleton</a:t>
                      </a:r>
                    </a:p>
                    <a:p>
                      <a:pPr algn="l">
                        <a:lnSpc>
                          <a:spcPct val="106000"/>
                        </a:lnSpc>
                        <a:spcAft>
                          <a:spcPts val="0"/>
                        </a:spcAft>
                      </a:pPr>
                      <a:r>
                        <a:rPr sz="1100" b="0">
                          <a:solidFill>
                            <a:srgbClr val="333333"/>
                          </a:solidFill>
                          <a:latin typeface="Courier New"/>
                        </a:rPr>
                        <a:t>const bool was_breached = _breached_fences &amp; AC_FENCE_TYPE_POLYGON;</a:t>
                      </a:r>
                    </a:p>
                    <a:p>
                      <a:pPr algn="l">
                        <a:lnSpc>
                          <a:spcPct val="106000"/>
                        </a:lnSpc>
                        <a:spcAft>
                          <a:spcPts val="0"/>
                        </a:spcAft>
                      </a:pPr>
                      <a:r>
                        <a:rPr sz="1100" b="0">
                          <a:solidFill>
                            <a:srgbClr val="333333"/>
                          </a:solidFill>
                          <a:latin typeface="Courier New"/>
                        </a:rPr>
                        <a:t>Location loc;</a:t>
                      </a:r>
                    </a:p>
                    <a:p>
                      <a:pPr algn="l">
                        <a:lnSpc>
                          <a:spcPct val="106000"/>
                        </a:lnSpc>
                        <a:spcAft>
                          <a:spcPts val="0"/>
                        </a:spcAft>
                      </a:pPr>
                      <a:r>
                        <a:rPr sz="1100" b="0">
                          <a:solidFill>
                            <a:srgbClr val="333333"/>
                          </a:solidFill>
                          <a:latin typeface="Courier New"/>
                        </a:rPr>
                        <a:t>const bool have_location = AP::ahrs().get_location(loc);</a:t>
                      </a:r>
                    </a:p>
                    <a:p>
                      <a:pPr algn="l">
                        <a:lnSpc>
                          <a:spcPct val="106000"/>
                        </a:lnSpc>
                        <a:spcAft>
                          <a:spcPts val="0"/>
                        </a:spcAft>
                      </a:pPr>
                      <a:r>
                        <a:rPr sz="1100" b="0">
                          <a:solidFill>
                            <a:srgbClr val="333333"/>
                          </a:solidFill>
                          <a:latin typeface="Courier New"/>
                        </a:rPr>
                        <a:t>if (have_location &amp;&amp; _poly_loader.breached(loc, _polygon_breach_distance)) {</a:t>
                      </a:r>
                    </a:p>
                    <a:p>
                      <a:pPr algn="l">
                        <a:lnSpc>
                          <a:spcPct val="106000"/>
                        </a:lnSpc>
                        <a:spcAft>
                          <a:spcPts val="0"/>
                        </a:spcAft>
                      </a:pPr>
                      <a:r>
                        <a:rPr sz="1100" b="0">
                          <a:solidFill>
                            <a:srgbClr val="333333"/>
                          </a:solidFill>
                          <a:latin typeface="Courier New"/>
                        </a:rPr>
                        <a:t>if (!was_breached) {</a:t>
                      </a:r>
                    </a:p>
                    <a:p>
                      <a:pPr algn="l">
                        <a:lnSpc>
                          <a:spcPct val="106000"/>
                        </a:lnSpc>
                        <a:spcAft>
                          <a:spcPts val="0"/>
                        </a:spcAft>
                      </a:pPr>
                      <a:r>
                        <a:rPr sz="1100" b="0">
                          <a:solidFill>
                            <a:srgbClr val="333333"/>
                          </a:solidFill>
                          <a:latin typeface="Courier New"/>
                        </a:rPr>
                        <a:t>record_breach(AC_FENCE_TYPE_POLYGON);</a:t>
                      </a:r>
                    </a:p>
                    <a:p>
                      <a:pPr algn="l">
                        <a:lnSpc>
                          <a:spcPct val="106000"/>
                        </a:lnSpc>
                        <a:spcAft>
                          <a:spcPts val="0"/>
                        </a:spcAft>
                      </a:pPr>
                      <a:r>
                        <a:rPr sz="1100" b="0">
                          <a:solidFill>
                            <a:srgbClr val="333333"/>
                          </a:solidFill>
                          <a:latin typeface="Courier New"/>
                        </a:rPr>
                        <a:t>return true;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Code Snippet (continued)</a:t>
            </a:r>
          </a:p>
        </p:txBody>
      </p:sp>
      <p:graphicFrame>
        <p:nvGraphicFramePr>
          <p:cNvPr id="6" name="Table 5"/>
          <p:cNvGraphicFramePr>
            <a:graphicFrameLocks noGrp="1"/>
          </p:cNvGraphicFramePr>
          <p:nvPr/>
        </p:nvGraphicFramePr>
        <p:xfrm>
          <a:off x="566928" y="1591056"/>
          <a:ext cx="11058144" cy="339227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Courier New"/>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AC_Fence::check_fence_circle()</a:t>
                      </a:r>
                      <a:r>
                        <a:rPr sz="1100" b="0">
                          <a:solidFill>
                            <a:srgbClr val="999999"/>
                          </a:solidFill>
                          <a:latin typeface="Courier New"/>
                        </a:rPr>
                        <a:t>  ·  </a:t>
                      </a:r>
                      <a:r>
                        <a:rPr sz="1100" b="0">
                          <a:solidFill>
                            <a:srgbClr val="999999"/>
                          </a:solidFill>
                          <a:latin typeface="Courier New"/>
                        </a:rPr>
                        <a:t>Shared global/singleton</a:t>
                      </a:r>
                    </a:p>
                    <a:p>
                      <a:pPr algn="l">
                        <a:lnSpc>
                          <a:spcPct val="106000"/>
                        </a:lnSpc>
                        <a:spcAft>
                          <a:spcPts val="0"/>
                        </a:spcAft>
                      </a:pPr>
                      <a:r>
                        <a:rPr sz="1100" b="0">
                          <a:solidFill>
                            <a:srgbClr val="333333"/>
                          </a:solidFill>
                          <a:latin typeface="Courier New"/>
                        </a:rPr>
                        <a:t>if (!(get_enabled_fences() &amp; AC_FENCE_TYPE_CIRCLE)) {</a:t>
                      </a:r>
                    </a:p>
                    <a:p>
                      <a:pPr algn="l">
                        <a:lnSpc>
                          <a:spcPct val="106000"/>
                        </a:lnSpc>
                        <a:spcAft>
                          <a:spcPts val="0"/>
                        </a:spcAft>
                      </a:pPr>
                      <a:r>
                        <a:rPr sz="1100" b="0">
                          <a:solidFill>
                            <a:srgbClr val="333333"/>
                          </a:solidFill>
                          <a:latin typeface="Courier New"/>
                        </a:rPr>
                        <a:t>// not enabled; no breach</a:t>
                      </a:r>
                    </a:p>
                    <a:p>
                      <a:pPr algn="l">
                        <a:lnSpc>
                          <a:spcPct val="106000"/>
                        </a:lnSpc>
                        <a:spcAft>
                          <a:spcPts val="0"/>
                        </a:spcAft>
                      </a:pPr>
                      <a:r>
                        <a:rPr sz="1100" b="0">
                          <a:solidFill>
                            <a:srgbClr val="333333"/>
                          </a:solidFill>
                          <a:latin typeface="Courier New"/>
                        </a:rPr>
                        <a:t>return false;</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Vector2f home;</a:t>
                      </a:r>
                    </a:p>
                    <a:p>
                      <a:pPr algn="l">
                        <a:lnSpc>
                          <a:spcPct val="106000"/>
                        </a:lnSpc>
                        <a:spcAft>
                          <a:spcPts val="0"/>
                        </a:spcAft>
                      </a:pPr>
                      <a:r>
                        <a:rPr sz="1100" b="0">
                          <a:solidFill>
                            <a:srgbClr val="333333"/>
                          </a:solidFill>
                          <a:latin typeface="Courier New"/>
                        </a:rPr>
                        <a:t>if (AP::ahrs().get_relative_position_NE_home(home)) {</a:t>
                      </a:r>
                    </a:p>
                    <a:p>
                      <a:pPr algn="l">
                        <a:lnSpc>
                          <a:spcPct val="106000"/>
                        </a:lnSpc>
                        <a:spcAft>
                          <a:spcPts val="0"/>
                        </a:spcAft>
                      </a:pPr>
                      <a:r>
                        <a:rPr sz="1100" b="0">
                          <a:solidFill>
                            <a:srgbClr val="333333"/>
                          </a:solidFill>
                          <a:latin typeface="Courier New"/>
                        </a:rPr>
                        <a:t>// we (may) remain breached if we can't update home</a:t>
                      </a:r>
                    </a:p>
                    <a:p>
                      <a:pPr algn="l">
                        <a:lnSpc>
                          <a:spcPct val="106000"/>
                        </a:lnSpc>
                        <a:spcAft>
                          <a:spcPts val="0"/>
                        </a:spcAft>
                      </a:pPr>
                      <a:r>
                        <a:rPr sz="1100" b="0">
                          <a:solidFill>
                            <a:srgbClr val="333333"/>
                          </a:solidFill>
                          <a:latin typeface="Courier New"/>
                        </a:rPr>
                        <a:t>_home_distance = home.length();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Courier New"/>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AC_Fence::check_fence_alt_max()</a:t>
                      </a:r>
                      <a:r>
                        <a:rPr sz="1100" b="0">
                          <a:solidFill>
                            <a:srgbClr val="999999"/>
                          </a:solidFill>
                          <a:latin typeface="Courier New"/>
                        </a:rPr>
                        <a:t>  ·  </a:t>
                      </a:r>
                      <a:r>
                        <a:rPr sz="1100" b="0">
                          <a:solidFill>
                            <a:srgbClr val="999999"/>
                          </a:solidFill>
                          <a:latin typeface="Courier New"/>
                        </a:rPr>
                        <a:t>Shared global/singleton</a:t>
                      </a:r>
                    </a:p>
                    <a:p>
                      <a:pPr algn="l">
                        <a:lnSpc>
                          <a:spcPct val="106000"/>
                        </a:lnSpc>
                        <a:spcAft>
                          <a:spcPts val="0"/>
                        </a:spcAft>
                      </a:pPr>
                      <a:r>
                        <a:rPr sz="1100" b="0">
                          <a:solidFill>
                            <a:srgbClr val="333333"/>
                          </a:solidFill>
                          <a:latin typeface="Courier New"/>
                        </a:rPr>
                        <a:t>if (!(get_enabled_fences() &amp; AC_FENCE_TYPE_ALT_MAX)) {</a:t>
                      </a:r>
                    </a:p>
                    <a:p>
                      <a:pPr algn="l">
                        <a:lnSpc>
                          <a:spcPct val="106000"/>
                        </a:lnSpc>
                        <a:spcAft>
                          <a:spcPts val="0"/>
                        </a:spcAft>
                      </a:pPr>
                      <a:r>
                        <a:rPr sz="1100" b="0">
                          <a:solidFill>
                            <a:srgbClr val="333333"/>
                          </a:solidFill>
                          <a:latin typeface="Courier New"/>
                        </a:rPr>
                        <a:t>// not enabled; no breach</a:t>
                      </a:r>
                    </a:p>
                    <a:p>
                      <a:pPr algn="l">
                        <a:lnSpc>
                          <a:spcPct val="106000"/>
                        </a:lnSpc>
                        <a:spcAft>
                          <a:spcPts val="0"/>
                        </a:spcAft>
                      </a:pPr>
                      <a:r>
                        <a:rPr sz="1100" b="0">
                          <a:solidFill>
                            <a:srgbClr val="333333"/>
                          </a:solidFill>
                          <a:latin typeface="Courier New"/>
                        </a:rPr>
                        <a:t>return false;</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float alt;</a:t>
                      </a:r>
                    </a:p>
                    <a:p>
                      <a:pPr algn="l">
                        <a:lnSpc>
                          <a:spcPct val="106000"/>
                        </a:lnSpc>
                        <a:spcAft>
                          <a:spcPts val="0"/>
                        </a:spcAft>
                      </a:pPr>
                      <a:r>
                        <a:rPr sz="1100" b="0">
                          <a:solidFill>
                            <a:srgbClr val="333333"/>
                          </a:solidFill>
                          <a:latin typeface="Courier New"/>
                        </a:rPr>
                        <a:t>AP::ahrs().get_relative_position_D_home(alt);</a:t>
                      </a:r>
                    </a:p>
                    <a:p>
                      <a:pPr algn="l">
                        <a:lnSpc>
                          <a:spcPct val="106000"/>
                        </a:lnSpc>
                        <a:spcAft>
                          <a:spcPts val="0"/>
                        </a:spcAft>
                      </a:pPr>
                      <a:r>
                        <a:rPr sz="1100" b="0">
                          <a:solidFill>
                            <a:srgbClr val="333333"/>
                          </a:solidFill>
                          <a:latin typeface="Courier New"/>
                        </a:rPr>
                        <a:t>const float _curr_alt = -alt; // translate Down to Up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Code Snippet (continued)</a:t>
            </a:r>
          </a:p>
        </p:txBody>
      </p:sp>
      <p:graphicFrame>
        <p:nvGraphicFramePr>
          <p:cNvPr id="6" name="Table 5"/>
          <p:cNvGraphicFramePr>
            <a:graphicFrameLocks noGrp="1"/>
          </p:cNvGraphicFramePr>
          <p:nvPr/>
        </p:nvGraphicFramePr>
        <p:xfrm>
          <a:off x="566928" y="1591056"/>
          <a:ext cx="11058144" cy="321458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Courier New"/>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AC_Fence::check()</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if (!(disabled_fences &amp; AC_FENCE_TYPE_CIRCLE) &amp;&amp; check_fence_circle()) {</a:t>
                      </a:r>
                    </a:p>
                    <a:p>
                      <a:pPr algn="l">
                        <a:lnSpc>
                          <a:spcPct val="106000"/>
                        </a:lnSpc>
                        <a:spcAft>
                          <a:spcPts val="0"/>
                        </a:spcAft>
                      </a:pPr>
                      <a:r>
                        <a:rPr sz="1100" b="0">
                          <a:solidFill>
                            <a:srgbClr val="333333"/>
                          </a:solidFill>
                          <a:latin typeface="Courier New"/>
                        </a:rPr>
                        <a:t>ret |= AC_FENCE_TYPE_CIRCLE;</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polygon fence check</a:t>
                      </a:r>
                    </a:p>
                    <a:p>
                      <a:pPr algn="l">
                        <a:lnSpc>
                          <a:spcPct val="106000"/>
                        </a:lnSpc>
                        <a:spcAft>
                          <a:spcPts val="0"/>
                        </a:spcAft>
                      </a:pPr>
                      <a:r>
                        <a:rPr sz="1100" b="0">
                          <a:solidFill>
                            <a:srgbClr val="333333"/>
                          </a:solidFill>
                          <a:latin typeface="Courier New"/>
                        </a:rPr>
                        <a:t>if (!(disabled_fences &amp; AC_FENCE_TYPE_POLYGON) &amp;&amp; check_fence_polygon()) {</a:t>
                      </a:r>
                    </a:p>
                    <a:p>
                      <a:pPr algn="l">
                        <a:lnSpc>
                          <a:spcPct val="106000"/>
                        </a:lnSpc>
                        <a:spcAft>
                          <a:spcPts val="0"/>
                        </a:spcAft>
                      </a:pPr>
                      <a:r>
                        <a:rPr sz="1100" b="0">
                          <a:solidFill>
                            <a:srgbClr val="333333"/>
                          </a:solidFill>
                          <a:latin typeface="Courier New"/>
                        </a:rPr>
                        <a:t>ret |= AC_FENCE_TYPE_POLYGON;</a:t>
                      </a:r>
                    </a:p>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Courier New"/>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ModeGuidedNoGPS::init()</a:t>
                      </a:r>
                      <a:r>
                        <a:rPr sz="1100" b="0">
                          <a:solidFill>
                            <a:srgbClr val="999999"/>
                          </a:solidFill>
                          <a:latin typeface="Courier New"/>
                        </a:rPr>
                        <a:t>  ·  </a:t>
                      </a:r>
                      <a:r>
                        <a:rPr sz="1100" b="0">
                          <a:solidFill>
                            <a:srgbClr val="999999"/>
                          </a:solidFill>
                          <a:latin typeface="Courier New"/>
                        </a:rPr>
                        <a:t>Inheritance/Interface</a:t>
                      </a:r>
                    </a:p>
                    <a:p>
                      <a:pPr algn="l">
                        <a:lnSpc>
                          <a:spcPct val="106000"/>
                        </a:lnSpc>
                        <a:spcAft>
                          <a:spcPts val="0"/>
                        </a:spcAft>
                      </a:pPr>
                      <a:r>
                        <a:rPr sz="1100" b="0">
                          <a:solidFill>
                            <a:srgbClr val="333333"/>
                          </a:solidFill>
                          <a:latin typeface="Courier New"/>
                        </a:rPr>
                        <a:t>// initialise guided_nogps controller</a:t>
                      </a:r>
                    </a:p>
                    <a:p>
                      <a:pPr algn="l">
                        <a:lnSpc>
                          <a:spcPct val="106000"/>
                        </a:lnSpc>
                        <a:spcAft>
                          <a:spcPts val="0"/>
                        </a:spcAft>
                      </a:pPr>
                      <a:r>
                        <a:rPr sz="1100" b="0">
                          <a:solidFill>
                            <a:srgbClr val="333333"/>
                          </a:solidFill>
                          <a:latin typeface="Courier New"/>
                        </a:rPr>
                        <a:t>bool ModeGuidedNoGPS::init(bool ignore_checks)</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start in angle control mode</a:t>
                      </a:r>
                    </a:p>
                    <a:p>
                      <a:pPr algn="l">
                        <a:lnSpc>
                          <a:spcPct val="106000"/>
                        </a:lnSpc>
                        <a:spcAft>
                          <a:spcPts val="0"/>
                        </a:spcAft>
                      </a:pPr>
                      <a:r>
                        <a:rPr sz="1100" b="0">
                          <a:solidFill>
                            <a:srgbClr val="333333"/>
                          </a:solidFill>
                          <a:latin typeface="Courier New"/>
                        </a:rPr>
                        <a:t>ModeGuided::angle_control_start();</a:t>
                      </a:r>
                    </a:p>
                    <a:p>
                      <a:pPr algn="l">
                        <a:lnSpc>
                          <a:spcPct val="106000"/>
                        </a:lnSpc>
                        <a:spcAft>
                          <a:spcPts val="0"/>
                        </a:spcAft>
                      </a:pPr>
                      <a:r>
                        <a:rPr sz="1100" b="0">
                          <a:solidFill>
                            <a:srgbClr val="333333"/>
                          </a:solidFill>
                          <a:latin typeface="Courier New"/>
                        </a:rPr>
                        <a:t>return true;</a:t>
                      </a:r>
                    </a:p>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Code Snippet (continued)</a:t>
            </a:r>
          </a:p>
        </p:txBody>
      </p:sp>
      <p:graphicFrame>
        <p:nvGraphicFramePr>
          <p:cNvPr id="6" name="Table 5"/>
          <p:cNvGraphicFramePr>
            <a:graphicFrameLocks noGrp="1"/>
          </p:cNvGraphicFramePr>
          <p:nvPr/>
        </p:nvGraphicFramePr>
        <p:xfrm>
          <a:off x="566928" y="1591056"/>
          <a:ext cx="11058144" cy="2859184"/>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Rover::fence_checks_async()</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fence_breaches.last_check_ms = now;</a:t>
                      </a:r>
                    </a:p>
                    <a:p>
                      <a:pPr algn="l">
                        <a:lnSpc>
                          <a:spcPct val="106000"/>
                        </a:lnSpc>
                        <a:spcAft>
                          <a:spcPts val="0"/>
                        </a:spcAft>
                      </a:pPr>
                      <a:r>
                        <a:rPr sz="1100" b="0">
                          <a:solidFill>
                            <a:srgbClr val="333333"/>
                          </a:solidFill>
                          <a:latin typeface="Courier New"/>
                        </a:rPr>
                        <a:t>const uint8_t orig_breaches = fence.get_breaches();</a:t>
                      </a:r>
                    </a:p>
                    <a:p>
                      <a:pPr algn="l">
                        <a:lnSpc>
                          <a:spcPct val="106000"/>
                        </a:lnSpc>
                        <a:spcAft>
                          <a:spcPts val="0"/>
                        </a:spcAft>
                      </a:pPr>
                      <a:r>
                        <a:rPr sz="1100" b="0">
                          <a:solidFill>
                            <a:srgbClr val="333333"/>
                          </a:solidFill>
                          <a:latin typeface="Courier New"/>
                        </a:rPr>
                        <a:t>// check for new breaches; new_breaches is bitmask of fence types breached</a:t>
                      </a:r>
                    </a:p>
                    <a:p>
                      <a:pPr algn="l">
                        <a:lnSpc>
                          <a:spcPct val="106000"/>
                        </a:lnSpc>
                        <a:spcAft>
                          <a:spcPts val="0"/>
                        </a:spcAft>
                      </a:pPr>
                      <a:r>
                        <a:rPr sz="1100" b="0">
                          <a:solidFill>
                            <a:srgbClr val="333333"/>
                          </a:solidFill>
                          <a:latin typeface="Courier New"/>
                        </a:rPr>
                        <a:t>fence_breaches.new_breaches = fence.check();</a:t>
                      </a:r>
                    </a:p>
                    <a:p>
                      <a:pPr algn="l">
                        <a:lnSpc>
                          <a:spcPct val="106000"/>
                        </a:lnSpc>
                        <a:spcAft>
                          <a:spcPts val="0"/>
                        </a:spcAft>
                      </a:pPr>
                      <a:r>
                        <a:rPr sz="1100" b="0">
                          <a:solidFill>
                            <a:srgbClr val="333333"/>
                          </a:solidFill>
                          <a:latin typeface="Courier New"/>
                        </a:rPr>
                        <a:t>if (!fence_breaches.new_breaches &amp;&amp; orig_breaches &amp;&amp; fence.get_breaches() == 0) {</a:t>
                      </a:r>
                    </a:p>
                    <a:p>
                      <a:pPr algn="l">
                        <a:lnSpc>
                          <a:spcPct val="106000"/>
                        </a:lnSpc>
                        <a:spcAft>
                          <a:spcPts val="0"/>
                        </a:spcAft>
                      </a:pPr>
                      <a:r>
                        <a:rPr sz="1100" b="0">
                          <a:solidFill>
                            <a:srgbClr val="333333"/>
                          </a:solidFill>
                          <a:latin typeface="Courier New"/>
                        </a:rPr>
                        <a:t>// record clearing of breach</a:t>
                      </a:r>
                    </a:p>
                    <a:p>
                      <a:pPr algn="l">
                        <a:lnSpc>
                          <a:spcPct val="106000"/>
                        </a:lnSpc>
                        <a:spcAft>
                          <a:spcPts val="0"/>
                        </a:spcAft>
                      </a:pPr>
                      <a:r>
                        <a:rPr sz="1100" b="0">
                          <a:solidFill>
                            <a:srgbClr val="333333"/>
                          </a:solidFill>
                          <a:latin typeface="Courier New"/>
                        </a:rPr>
                        <a:t>LOGGER_WRITE_ERROR(LogErrorSubsystem::FAILSAFE_FENCE, LogErrorCode::ERROR_RESOLVED);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31784">
                <a:tc>
                  <a:txBody>
                    <a:bodyPr wrap="square">
                      <a:noAutofit/>
                    </a:bodyPr>
                    <a:lstStyle/>
                    <a:p>
                      <a:pPr algn="r">
                        <a:lnSpc>
                          <a:spcPct val="106000"/>
                        </a:lnSpc>
                        <a:spcAft>
                          <a:spcPts val="0"/>
                        </a:spcAft>
                      </a:pPr>
                      <a:r>
                        <a:rPr sz="1100" b="1">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Plane::auto_takeoff_check()</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 Check for bad GPS</a:t>
                      </a:r>
                    </a:p>
                    <a:p>
                      <a:pPr algn="l">
                        <a:lnSpc>
                          <a:spcPct val="106000"/>
                        </a:lnSpc>
                        <a:spcAft>
                          <a:spcPts val="0"/>
                        </a:spcAft>
                      </a:pPr>
                      <a:r>
                        <a:rPr sz="1100" b="0">
                          <a:solidFill>
                            <a:srgbClr val="333333"/>
                          </a:solidFill>
                          <a:latin typeface="Courier New"/>
                        </a:rPr>
                        <a:t>if (gps.status() &lt; AP_GPS::GPS_OK_FIX_3D) {</a:t>
                      </a:r>
                    </a:p>
                    <a:p>
                      <a:pPr algn="l">
                        <a:lnSpc>
                          <a:spcPct val="106000"/>
                        </a:lnSpc>
                        <a:spcAft>
                          <a:spcPts val="0"/>
                        </a:spcAft>
                      </a:pPr>
                      <a:r>
                        <a:rPr sz="1100" b="0">
                          <a:solidFill>
                            <a:srgbClr val="333333"/>
                          </a:solidFill>
                          <a:latin typeface="Courier New"/>
                        </a:rPr>
                        <a:t>// no auto takeoff without GPS lock</a:t>
                      </a:r>
                    </a:p>
                    <a:p>
                      <a:pPr algn="l">
                        <a:lnSpc>
                          <a:spcPct val="106000"/>
                        </a:lnSpc>
                        <a:spcAft>
                          <a:spcPts val="0"/>
                        </a:spcAft>
                      </a:pPr>
                      <a:r>
                        <a:rPr sz="1100" b="0">
                          <a:solidFill>
                            <a:srgbClr val="333333"/>
                          </a:solidFill>
                          <a:latin typeface="Courier New"/>
                        </a:rPr>
                        <a:t>return false;</a:t>
                      </a:r>
                    </a:p>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2,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2 transitive chains</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4a: Layer 2 — full transitive chain, final consumer &amp; hop depth</a:t>
            </a:r>
          </a:p>
        </p:txBody>
      </p:sp>
      <p:graphicFrame>
        <p:nvGraphicFramePr>
          <p:cNvPr id="7" name="Table 6"/>
          <p:cNvGraphicFramePr>
            <a:graphicFrameLocks noGrp="1"/>
          </p:cNvGraphicFramePr>
          <p:nvPr/>
        </p:nvGraphicFramePr>
        <p:xfrm>
          <a:off x="566928" y="1906943"/>
          <a:ext cx="11058144" cy="3751580"/>
        </p:xfrm>
        <a:graphic>
          <a:graphicData uri="http://schemas.openxmlformats.org/drawingml/2006/table">
            <a:tbl>
              <a:tblPr>
                <a:tableStyleId>{5C22544A-7EE6-4342-B048-85BDC9FD1C3A}</a:tableStyleId>
              </a:tblPr>
              <a:tblGrid>
                <a:gridCol w="352425"/>
                <a:gridCol w="2653030"/>
                <a:gridCol w="3670300"/>
                <a:gridCol w="1309370"/>
                <a:gridCol w="586740"/>
                <a:gridCol w="2486025"/>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430">
                <a:tc>
                  <a:txBody>
                    <a:bodyPr wrap="square">
                      <a:noAutofit/>
                    </a:bodyPr>
                    <a:lstStyle/>
                    <a:p>
                      <a:pPr algn="r">
                        <a:lnSpc>
                          <a:spcPct val="106000"/>
                        </a:lnSpc>
                        <a:spcAft>
                          <a:spcPts val="0"/>
                        </a:spcAft>
                      </a:pPr>
                      <a:r>
                        <a:rPr sz="1100" b="1">
                          <a:solidFill>
                            <a:srgbClr val="333333"/>
                          </a:solidFill>
                          <a:latin typeface="Courier New"/>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EKF position health (via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 → NavEKF3 → AP_AHRS::have_inertial_nav() → Copter::ekf_has_absolute_position() → Copter::position_ok() → set_mode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flight-mode entry allow/deny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Core positioning-health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position_ok() → set_mode requires_GPS gate → mode_change_failed() → mode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rejected mode change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Gate decision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430">
                <a:tc>
                  <a:txBody>
                    <a:bodyPr wrap="square">
                      <a:noAutofit/>
                    </a:bodyPr>
                    <a:lstStyle/>
                    <a:p>
                      <a:pPr algn="r">
                        <a:lnSpc>
                          <a:spcPct val="106000"/>
                        </a:lnSpc>
                        <a:spcAft>
                          <a:spcPts val="0"/>
                        </a:spcAft>
                      </a:pPr>
                      <a:r>
                        <a:rPr sz="1100" b="1">
                          <a:solidFill>
                            <a:srgbClr val="333333"/>
                          </a:solidFill>
                          <a:latin typeface="Courier New"/>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AP_AHRS vehicle position (via AC_Fence)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AP::ahrs() position → AC_Fence::check (polygon/circle/alt) → get_breaches bitmask → fence_checks_async latch → Copter::fence_check()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Copter fence failsafe (RTL/LAND)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mirrors Rover chain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430">
                <a:tc>
                  <a:txBody>
                    <a:bodyPr wrap="square">
                      <a:noAutofit/>
                    </a:bodyPr>
                    <a:lstStyle/>
                    <a:p>
                      <a:pPr algn="r">
                        <a:lnSpc>
                          <a:spcPct val="106000"/>
                        </a:lnSpc>
                        <a:spcAft>
                          <a:spcPts val="0"/>
                        </a:spcAft>
                      </a:pPr>
                      <a:r>
                        <a:rPr sz="1100" b="1">
                          <a:solidFill>
                            <a:srgbClr val="333333"/>
                          </a:solidFill>
                          <a:latin typeface="Courier New"/>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AP_AHRS::get_location() → check_fence_polygon → _poly_loader.breached() → record_breach() → _breached_fences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polygon breach bit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Polygon position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r">
                        <a:lnSpc>
                          <a:spcPct val="106000"/>
                        </a:lnSpc>
                        <a:spcAft>
                          <a:spcPts val="0"/>
                        </a:spcAft>
                      </a:pPr>
                      <a:r>
                        <a:rPr sz="1100" b="1">
                          <a:solidFill>
                            <a:srgbClr val="333333"/>
                          </a:solidFill>
                          <a:latin typeface="Courier New"/>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AP_AHRS NE-home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AP::ahrs().get_relative_position_NE_home() → check_fence_circle → distance&gt;radius → record_breach()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circle breach bit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Circle position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5964050"/>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2,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2 transitive chains (continued)</a:t>
            </a:r>
          </a:p>
        </p:txBody>
      </p:sp>
      <p:graphicFrame>
        <p:nvGraphicFramePr>
          <p:cNvPr id="6" name="Table 5"/>
          <p:cNvGraphicFramePr>
            <a:graphicFrameLocks noGrp="1"/>
          </p:cNvGraphicFramePr>
          <p:nvPr/>
        </p:nvGraphicFramePr>
        <p:xfrm>
          <a:off x="566928" y="1591056"/>
          <a:ext cx="11058144" cy="3751580"/>
        </p:xfrm>
        <a:graphic>
          <a:graphicData uri="http://schemas.openxmlformats.org/drawingml/2006/table">
            <a:tbl>
              <a:tblPr>
                <a:tableStyleId>{5C22544A-7EE6-4342-B048-85BDC9FD1C3A}</a:tableStyleId>
              </a:tblPr>
              <a:tblGrid>
                <a:gridCol w="352425"/>
                <a:gridCol w="2653030"/>
                <a:gridCol w="3670300"/>
                <a:gridCol w="1309370"/>
                <a:gridCol w="586740"/>
                <a:gridCol w="2486025"/>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30">
                <a:tc>
                  <a:txBody>
                    <a:bodyPr wrap="square">
                      <a:noAutofit/>
                    </a:bodyPr>
                    <a:lstStyle/>
                    <a:p>
                      <a:pPr algn="r">
                        <a:lnSpc>
                          <a:spcPct val="106000"/>
                        </a:lnSpc>
                        <a:spcAft>
                          <a:spcPts val="0"/>
                        </a:spcAft>
                      </a:pPr>
                      <a:r>
                        <a:rPr sz="1100" b="1">
                          <a:solidFill>
                            <a:srgbClr val="333333"/>
                          </a:solidFill>
                          <a:latin typeface="Courier New"/>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AP_AHRS D-home altitude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AP::ahrs().get_relative_position_D_home() → check_fence_alt_max → alt&gt;_alt_max → record_breach()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altitude breach bit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Altitude position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r">
                        <a:lnSpc>
                          <a:spcPct val="106000"/>
                        </a:lnSpc>
                        <a:spcAft>
                          <a:spcPts val="0"/>
                        </a:spcAft>
                      </a:pPr>
                      <a:r>
                        <a:rPr sz="1100" b="1">
                          <a:solidFill>
                            <a:srgbClr val="333333"/>
                          </a:solidFill>
                          <a:latin typeface="Courier New"/>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AC_Fence position checks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position checks → AC_Fence::check() aggregate → breach bitmask → vehicle fence_check() →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vehicle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Aggregator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r">
                        <a:lnSpc>
                          <a:spcPct val="106000"/>
                        </a:lnSpc>
                        <a:spcAft>
                          <a:spcPts val="0"/>
                        </a:spcAft>
                      </a:pPr>
                      <a:r>
                        <a:rPr sz="1100" b="1">
                          <a:solidFill>
                            <a:srgbClr val="333333"/>
                          </a:solidFill>
                          <a:latin typeface="Courier New"/>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(no PNT — GPS-independent)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ModeGuidedNoGPS::init() → angle_control_start()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no positioning hop — fallback by design.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r">
                        <a:lnSpc>
                          <a:spcPct val="106000"/>
                        </a:lnSpc>
                        <a:spcAft>
                          <a:spcPts val="0"/>
                        </a:spcAft>
                      </a:pPr>
                      <a:r>
                        <a:rPr sz="1100" b="1">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AP_AHRS vehicle position (via AC_Fence)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AP::ahrs() position → AC_Fence::check → get_breaches → Rover::fence_checks_async latch → Rover::fence_check()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Rover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structurally identical to Copter chain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230">
                <a:tc>
                  <a:txBody>
                    <a:bodyPr wrap="square">
                      <a:noAutofit/>
                    </a:bodyPr>
                    <a:lstStyle/>
                    <a:p>
                      <a:pPr algn="r">
                        <a:lnSpc>
                          <a:spcPct val="106000"/>
                        </a:lnSpc>
                        <a:spcAft>
                          <a:spcPts val="0"/>
                        </a:spcAft>
                      </a:pPr>
                      <a:r>
                        <a:rPr sz="1100" b="1">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AP_GPS::status() (GPS fix-status accessor)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AP_GPS::status() → Plane::auto_takeoff_check() [ArduPlane/takeoff.cpp:59] → Plane::set_servos() [ArduPlane/servos.cpp:125]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Plane::set_servos() (throttle suppression / launch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User-example gps.status() observation gating auto-takeoff.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47046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6–10</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5 — Indirect Navigation</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Navigation read as a permission: estimator-variance watchdogs across the vehicle firmwares.</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Indirect Navigation</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10 catalogued rows, with every Notes annotation, flag token and cited path:line range exactly as printed.</a:t>
            </a:r>
          </a:p>
        </p:txBody>
      </p:sp>
      <p:graphicFrame>
        <p:nvGraphicFramePr>
          <p:cNvPr id="7" name="Table 6"/>
          <p:cNvGraphicFramePr>
            <a:graphicFrameLocks noGrp="1"/>
          </p:cNvGraphicFramePr>
          <p:nvPr/>
        </p:nvGraphicFramePr>
        <p:xfrm>
          <a:off x="566928" y="1906943"/>
          <a:ext cx="11058144" cy="3564890"/>
        </p:xfrm>
        <a:graphic>
          <a:graphicData uri="http://schemas.openxmlformats.org/drawingml/2006/table">
            <a:tbl>
              <a:tblPr>
                <a:tableStyleId>{5C22544A-7EE6-4342-B048-85BDC9FD1C3A}</a:tableStyleId>
              </a:tblPr>
              <a:tblGrid>
                <a:gridCol w="2851785"/>
                <a:gridCol w="1327150"/>
                <a:gridCol w="2122170"/>
                <a:gridCol w="2265680"/>
                <a:gridCol w="2491740"/>
              </a:tblGrid>
              <a:tr h="240030">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2430">
                <a:tc>
                  <a:txBody>
                    <a:bodyPr wrap="square">
                      <a:noAutofit/>
                    </a:bodyPr>
                    <a:lstStyle/>
                    <a:p>
                      <a:pPr algn="l">
                        <a:lnSpc>
                          <a:spcPct val="106000"/>
                        </a:lnSpc>
                        <a:spcAft>
                          <a:spcPts val="0"/>
                        </a:spcAft>
                      </a:pPr>
                      <a:r>
                        <a:rPr sz="1100" b="1">
                          <a:solidFill>
                            <a:srgbClr val="333333"/>
                          </a:solidFill>
                          <a:latin typeface="Courier New"/>
                        </a:rPr>
                        <a:t>1</a:t>
                      </a:r>
                    </a:p>
                    <a:p>
                      <a:pPr algn="l">
                        <a:lnSpc>
                          <a:spcPct val="106000"/>
                        </a:lnSpc>
                        <a:spcAft>
                          <a:spcPts val="0"/>
                        </a:spcAft>
                      </a:pPr>
                      <a:r>
                        <a:rPr sz="1100" b="0">
                          <a:solidFill>
                            <a:srgbClr val="333333"/>
                          </a:solidFill>
                          <a:latin typeface="Courier New"/>
                        </a:rPr>
                        <a:t>ArduCopter/ekf_check.cpp</a:t>
                      </a:r>
                    </a:p>
                    <a:p>
                      <a:pPr algn="l">
                        <a:lnSpc>
                          <a:spcPct val="106000"/>
                        </a:lnSpc>
                        <a:spcAft>
                          <a:spcPts val="0"/>
                        </a:spcAft>
                      </a:pPr>
                      <a:r>
                        <a:rPr sz="1100" b="0">
                          <a:solidFill>
                            <a:srgbClr val="333333"/>
                          </a:solidFill>
                          <a:latin typeface="Courier New"/>
                        </a:rPr>
                        <a:t>117-125</a:t>
                      </a:r>
                    </a:p>
                    <a:p>
                      <a:pPr algn="l">
                        <a:lnSpc>
                          <a:spcPct val="106000"/>
                        </a:lnSpc>
                        <a:spcAft>
                          <a:spcPts val="0"/>
                        </a:spcAft>
                      </a:pPr>
                      <a:r>
                        <a:rPr sz="1100" b="0">
                          <a:solidFill>
                            <a:srgbClr val="333333"/>
                          </a:solidFill>
                          <a:latin typeface="Courier New"/>
                        </a:rPr>
                        <a:t>Copter::ekf_over_threshold()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10 Hz EKF health check while the EKF has an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ahrs.get_variances() → velocity / position / height / magnetometer variances vs g.fs_ekf_thresh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Counts bad iterations; after EKF_CHECK_ITERATIONS_MAX (≈10) trips the EKF failsafe (LAND / AltHold).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(navigation).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2430">
                <a:tc>
                  <a:txBody>
                    <a:bodyPr wrap="square">
                      <a:noAutofit/>
                    </a:bodyPr>
                    <a:lstStyle/>
                    <a:p>
                      <a:pPr algn="l">
                        <a:lnSpc>
                          <a:spcPct val="106000"/>
                        </a:lnSpc>
                        <a:spcAft>
                          <a:spcPts val="0"/>
                        </a:spcAft>
                      </a:pPr>
                      <a:r>
                        <a:rPr sz="1100" b="1">
                          <a:solidFill>
                            <a:srgbClr val="333333"/>
                          </a:solidFill>
                          <a:latin typeface="Courier New"/>
                        </a:rPr>
                        <a:t>2</a:t>
                      </a:r>
                    </a:p>
                    <a:p>
                      <a:pPr algn="l">
                        <a:lnSpc>
                          <a:spcPct val="106000"/>
                        </a:lnSpc>
                        <a:spcAft>
                          <a:spcPts val="0"/>
                        </a:spcAft>
                      </a:pPr>
                      <a:r>
                        <a:rPr sz="1100" b="0">
                          <a:solidFill>
                            <a:srgbClr val="333333"/>
                          </a:solidFill>
                          <a:latin typeface="Courier New"/>
                        </a:rPr>
                        <a:t>ArduPlane/ekf_check.cpp</a:t>
                      </a:r>
                    </a:p>
                    <a:p>
                      <a:pPr algn="l">
                        <a:lnSpc>
                          <a:spcPct val="106000"/>
                        </a:lnSpc>
                        <a:spcAft>
                          <a:spcPts val="0"/>
                        </a:spcAft>
                      </a:pPr>
                      <a:r>
                        <a:rPr sz="1100" b="0">
                          <a:solidFill>
                            <a:srgbClr val="333333"/>
                          </a:solidFill>
                          <a:latin typeface="Courier New"/>
                        </a:rPr>
                        <a:t>56-65</a:t>
                      </a:r>
                    </a:p>
                    <a:p>
                      <a:pPr algn="l">
                        <a:lnSpc>
                          <a:spcPct val="106000"/>
                        </a:lnSpc>
                        <a:spcAft>
                          <a:spcPts val="0"/>
                        </a:spcAft>
                      </a:pPr>
                      <a:r>
                        <a:rPr sz="1100" b="0">
                          <a:solidFill>
                            <a:srgbClr val="333333"/>
                          </a:solidFill>
                          <a:latin typeface="Courier New"/>
                        </a:rPr>
                        <a:t>Plane::ekf_check()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10 Hz EKF health check (fixed-wing)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ekf_over_threshold() (compass &amp; velocity variance vs 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Increments fail_count; two iterations before failsafe asks the EKF to reset yaw (ahrs.request_yaw_reset()); trips EKF failsafe at MAX.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INDIRECT/RELATIONAL (navigation).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Indirect Navigation (continued)</a:t>
            </a:r>
          </a:p>
        </p:txBody>
      </p:sp>
      <p:graphicFrame>
        <p:nvGraphicFramePr>
          <p:cNvPr id="6" name="Table 5"/>
          <p:cNvGraphicFramePr>
            <a:graphicFrameLocks noGrp="1"/>
          </p:cNvGraphicFramePr>
          <p:nvPr/>
        </p:nvGraphicFramePr>
        <p:xfrm>
          <a:off x="566928" y="1591056"/>
          <a:ext cx="11058144" cy="3564890"/>
        </p:xfrm>
        <a:graphic>
          <a:graphicData uri="http://schemas.openxmlformats.org/drawingml/2006/table">
            <a:tbl>
              <a:tblPr>
                <a:tableStyleId>{5C22544A-7EE6-4342-B048-85BDC9FD1C3A}</a:tableStyleId>
              </a:tblPr>
              <a:tblGrid>
                <a:gridCol w="2851785"/>
                <a:gridCol w="1327150"/>
                <a:gridCol w="2122170"/>
                <a:gridCol w="2265680"/>
                <a:gridCol w="2491740"/>
              </a:tblGrid>
              <a:tr h="240030">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2430">
                <a:tc>
                  <a:txBody>
                    <a:bodyPr wrap="square">
                      <a:noAutofit/>
                    </a:bodyPr>
                    <a:lstStyle/>
                    <a:p>
                      <a:pPr algn="l">
                        <a:lnSpc>
                          <a:spcPct val="106000"/>
                        </a:lnSpc>
                        <a:spcAft>
                          <a:spcPts val="0"/>
                        </a:spcAft>
                      </a:pPr>
                      <a:r>
                        <a:rPr sz="1100" b="1">
                          <a:solidFill>
                            <a:srgbClr val="333333"/>
                          </a:solidFill>
                          <a:latin typeface="Courier New"/>
                        </a:rPr>
                        <a:t>3</a:t>
                      </a:r>
                    </a:p>
                    <a:p>
                      <a:pPr algn="l">
                        <a:lnSpc>
                          <a:spcPct val="106000"/>
                        </a:lnSpc>
                        <a:spcAft>
                          <a:spcPts val="0"/>
                        </a:spcAft>
                      </a:pPr>
                      <a:r>
                        <a:rPr sz="1100" b="0">
                          <a:solidFill>
                            <a:srgbClr val="333333"/>
                          </a:solidFill>
                          <a:latin typeface="Courier New"/>
                        </a:rPr>
                        <a:t>Rover/ekf_check.cpp</a:t>
                      </a:r>
                    </a:p>
                    <a:p>
                      <a:pPr algn="l">
                        <a:lnSpc>
                          <a:spcPct val="106000"/>
                        </a:lnSpc>
                        <a:spcAft>
                          <a:spcPts val="0"/>
                        </a:spcAft>
                      </a:pPr>
                      <a:r>
                        <a:rPr sz="1100" b="0">
                          <a:solidFill>
                            <a:srgbClr val="333333"/>
                          </a:solidFill>
                          <a:latin typeface="Courier New"/>
                        </a:rPr>
                        <a:t>93-102</a:t>
                      </a:r>
                    </a:p>
                    <a:p>
                      <a:pPr algn="l">
                        <a:lnSpc>
                          <a:spcPct val="106000"/>
                        </a:lnSpc>
                        <a:spcAft>
                          <a:spcPts val="0"/>
                        </a:spcAft>
                      </a:pPr>
                      <a:r>
                        <a:rPr sz="1100" b="0">
                          <a:solidFill>
                            <a:srgbClr val="333333"/>
                          </a:solidFill>
                          <a:latin typeface="Courier New"/>
                        </a:rPr>
                        <a:t>Rover::ekf_over_threshold()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10 Hz EKF health check (ground vehicle)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ahrs.get_variances() → compass / velocity / position variance; ≥2 over 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Sets bad_variance → Rover EKF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(navigation).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2430">
                <a:tc>
                  <a:txBody>
                    <a:bodyPr wrap="square">
                      <a:noAutofit/>
                    </a:bodyPr>
                    <a:lstStyle/>
                    <a:p>
                      <a:pPr algn="l">
                        <a:lnSpc>
                          <a:spcPct val="106000"/>
                        </a:lnSpc>
                        <a:spcAft>
                          <a:spcPts val="0"/>
                        </a:spcAft>
                      </a:pPr>
                      <a:r>
                        <a:rPr sz="1100" b="1">
                          <a:solidFill>
                            <a:srgbClr val="333333"/>
                          </a:solidFill>
                          <a:latin typeface="Courier New"/>
                        </a:rPr>
                        <a:t>4</a:t>
                      </a:r>
                    </a:p>
                    <a:p>
                      <a:pPr algn="l">
                        <a:lnSpc>
                          <a:spcPct val="106000"/>
                        </a:lnSpc>
                        <a:spcAft>
                          <a:spcPts val="0"/>
                        </a:spcAft>
                      </a:pPr>
                      <a:r>
                        <a:rPr sz="1100" b="0">
                          <a:solidFill>
                            <a:srgbClr val="333333"/>
                          </a:solidFill>
                          <a:latin typeface="Courier New"/>
                        </a:rPr>
                        <a:t>ArduSub/failsafe.cpp</a:t>
                      </a:r>
                    </a:p>
                    <a:p>
                      <a:pPr algn="l">
                        <a:lnSpc>
                          <a:spcPct val="106000"/>
                        </a:lnSpc>
                        <a:spcAft>
                          <a:spcPts val="0"/>
                        </a:spcAft>
                      </a:pPr>
                      <a:r>
                        <a:rPr sz="1100" b="0">
                          <a:solidFill>
                            <a:srgbClr val="333333"/>
                          </a:solidFill>
                          <a:latin typeface="Courier New"/>
                        </a:rPr>
                        <a:t>112-121</a:t>
                      </a:r>
                    </a:p>
                    <a:p>
                      <a:pPr algn="l">
                        <a:lnSpc>
                          <a:spcPct val="106000"/>
                        </a:lnSpc>
                        <a:spcAft>
                          <a:spcPts val="0"/>
                        </a:spcAft>
                      </a:pPr>
                      <a:r>
                        <a:rPr sz="1100" b="0">
                          <a:solidFill>
                            <a:srgbClr val="333333"/>
                          </a:solidFill>
                          <a:latin typeface="Courier New"/>
                        </a:rPr>
                        <a:t>Sub::failsafe_ekf_check()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Periodic EKF health check (submarine)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ahrs.get_variances() → compass_variance &amp; vel_variance vs g.fs_ekf_thresh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Clears/sets failsafe.ekf and AP_Notify ekf_bad based on variance vs threshold; GCS warns “EKF bad”.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INDIRECT/RELATIONAL (navigation). [FIX F13 dep-type]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Indirect Navigation (continued)</a:t>
            </a:r>
          </a:p>
        </p:txBody>
      </p:sp>
      <p:graphicFrame>
        <p:nvGraphicFramePr>
          <p:cNvPr id="6" name="Table 5"/>
          <p:cNvGraphicFramePr>
            <a:graphicFrameLocks noGrp="1"/>
          </p:cNvGraphicFramePr>
          <p:nvPr/>
        </p:nvGraphicFramePr>
        <p:xfrm>
          <a:off x="566928" y="1591056"/>
          <a:ext cx="11058144" cy="3271520"/>
        </p:xfrm>
        <a:graphic>
          <a:graphicData uri="http://schemas.openxmlformats.org/drawingml/2006/table">
            <a:tbl>
              <a:tblPr>
                <a:tableStyleId>{5C22544A-7EE6-4342-B048-85BDC9FD1C3A}</a:tableStyleId>
              </a:tblPr>
              <a:tblGrid>
                <a:gridCol w="2851785"/>
                <a:gridCol w="1327150"/>
                <a:gridCol w="2122170"/>
                <a:gridCol w="2265680"/>
                <a:gridCol w="2491740"/>
              </a:tblGrid>
              <a:tr h="240030">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230">
                <a:tc>
                  <a:txBody>
                    <a:bodyPr wrap="square">
                      <a:noAutofit/>
                    </a:bodyPr>
                    <a:lstStyle/>
                    <a:p>
                      <a:pPr algn="l">
                        <a:lnSpc>
                          <a:spcPct val="106000"/>
                        </a:lnSpc>
                        <a:spcAft>
                          <a:spcPts val="0"/>
                        </a:spcAft>
                      </a:pPr>
                      <a:r>
                        <a:rPr sz="1100" b="1">
                          <a:solidFill>
                            <a:srgbClr val="333333"/>
                          </a:solidFill>
                          <a:latin typeface="Courier New"/>
                        </a:rPr>
                        <a:t>5</a:t>
                      </a:r>
                    </a:p>
                    <a:p>
                      <a:pPr algn="l">
                        <a:lnSpc>
                          <a:spcPct val="106000"/>
                        </a:lnSpc>
                        <a:spcAft>
                          <a:spcPts val="0"/>
                        </a:spcAft>
                      </a:pPr>
                      <a:r>
                        <a:rPr sz="1100" b="0">
                          <a:solidFill>
                            <a:srgbClr val="333333"/>
                          </a:solidFill>
                          <a:latin typeface="Courier New"/>
                        </a:rPr>
                        <a:t>ArduCopter/crash_check.cpp</a:t>
                      </a:r>
                    </a:p>
                    <a:p>
                      <a:pPr algn="l">
                        <a:lnSpc>
                          <a:spcPct val="106000"/>
                        </a:lnSpc>
                        <a:spcAft>
                          <a:spcPts val="0"/>
                        </a:spcAft>
                      </a:pPr>
                      <a:r>
                        <a:rPr sz="1100" b="0">
                          <a:solidFill>
                            <a:srgbClr val="333333"/>
                          </a:solidFill>
                          <a:latin typeface="Courier New"/>
                        </a:rPr>
                        <a:t>65-74</a:t>
                      </a:r>
                    </a:p>
                    <a:p>
                      <a:pPr algn="l">
                        <a:lnSpc>
                          <a:spcPct val="106000"/>
                        </a:lnSpc>
                        <a:spcAft>
                          <a:spcPts val="0"/>
                        </a:spcAft>
                      </a:pPr>
                      <a:r>
                        <a:rPr sz="1100" b="0">
                          <a:solidFill>
                            <a:srgbClr val="333333"/>
                          </a:solidFill>
                          <a:latin typeface="Courier New"/>
                        </a:rPr>
                        <a:t>Copter::crash_check() — attitude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Disarm/crash monitor running while armed and not landed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ahrs.cos_roll() / ahrs.cos_pitch() (lean angle); attitude_control-&gt; get_att_error_angle_deg()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Resets crash_counter (declares not-crashing) when lean angle ≤ 15° or attitude error ≤ 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 F3] Split row: attitude-only observation (lean L66, angle-error L73). Velocity observation is the separate row #6 (was wrongly bundled into the L64-73 citation).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9030">
                <a:tc>
                  <a:txBody>
                    <a:bodyPr wrap="square">
                      <a:noAutofit/>
                    </a:bodyPr>
                    <a:lstStyle/>
                    <a:p>
                      <a:pPr algn="l">
                        <a:lnSpc>
                          <a:spcPct val="106000"/>
                        </a:lnSpc>
                        <a:spcAft>
                          <a:spcPts val="0"/>
                        </a:spcAft>
                      </a:pPr>
                      <a:r>
                        <a:rPr sz="1100" b="1">
                          <a:solidFill>
                            <a:srgbClr val="333333"/>
                          </a:solidFill>
                          <a:latin typeface="Courier New"/>
                        </a:rPr>
                        <a:t>6</a:t>
                      </a:r>
                    </a:p>
                    <a:p>
                      <a:pPr algn="l">
                        <a:lnSpc>
                          <a:spcPct val="106000"/>
                        </a:lnSpc>
                        <a:spcAft>
                          <a:spcPts val="0"/>
                        </a:spcAft>
                      </a:pPr>
                      <a:r>
                        <a:rPr sz="1100" b="0">
                          <a:solidFill>
                            <a:srgbClr val="333333"/>
                          </a:solidFill>
                          <a:latin typeface="Courier New"/>
                        </a:rPr>
                        <a:t>ArduCopter/crash_check.cpp</a:t>
                      </a:r>
                    </a:p>
                    <a:p>
                      <a:pPr algn="l">
                        <a:lnSpc>
                          <a:spcPct val="106000"/>
                        </a:lnSpc>
                        <a:spcAft>
                          <a:spcPts val="0"/>
                        </a:spcAft>
                      </a:pPr>
                      <a:r>
                        <a:rPr sz="1100" b="0">
                          <a:solidFill>
                            <a:srgbClr val="333333"/>
                          </a:solidFill>
                          <a:latin typeface="Courier New"/>
                        </a:rPr>
                        <a:t>78-84</a:t>
                      </a:r>
                    </a:p>
                    <a:p>
                      <a:pPr algn="l">
                        <a:lnSpc>
                          <a:spcPct val="106000"/>
                        </a:lnSpc>
                        <a:spcAft>
                          <a:spcPts val="0"/>
                        </a:spcAft>
                      </a:pPr>
                      <a:r>
                        <a:rPr sz="1100" b="0">
                          <a:solidFill>
                            <a:srgbClr val="333333"/>
                          </a:solidFill>
                          <a:latin typeface="Courier New"/>
                        </a:rPr>
                        <a:t>Copter::crash_check() — velocity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Continues after the attitude test indicates a possible crash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ahrs.get_velocity_NED(vel_ned) → NED speed magnitude (L80-81)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Resets crash_counter when speed ≥ CRASH_CHECK_SPEED_MAX (10 m/s); otherwise increments toward the 2-second crash trigger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[FIX F3] Split row: the velocity observation cited at L78-84 (ahrs.get_velocity_NED L80-81), now accurately centered — not the L64-73 attitude range.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230">
                <a:tc>
                  <a:txBody>
                    <a:bodyPr wrap="square">
                      <a:noAutofit/>
                    </a:bodyPr>
                    <a:lstStyle/>
                    <a:p>
                      <a:pPr algn="l">
                        <a:lnSpc>
                          <a:spcPct val="106000"/>
                        </a:lnSpc>
                        <a:spcAft>
                          <a:spcPts val="0"/>
                        </a:spcAft>
                      </a:pPr>
                      <a:r>
                        <a:rPr sz="1100" b="1">
                          <a:solidFill>
                            <a:srgbClr val="333333"/>
                          </a:solidFill>
                          <a:latin typeface="Courier New"/>
                        </a:rPr>
                        <a:t>7</a:t>
                      </a:r>
                    </a:p>
                    <a:p>
                      <a:pPr algn="l">
                        <a:lnSpc>
                          <a:spcPct val="106000"/>
                        </a:lnSpc>
                        <a:spcAft>
                          <a:spcPts val="0"/>
                        </a:spcAft>
                      </a:pPr>
                      <a:r>
                        <a:rPr sz="1100" b="0">
                          <a:solidFill>
                            <a:srgbClr val="333333"/>
                          </a:solidFill>
                          <a:latin typeface="Courier New"/>
                        </a:rPr>
                        <a:t>ArduPlane/GCS_MAVLink_Plane.cpp</a:t>
                      </a:r>
                    </a:p>
                    <a:p>
                      <a:pPr algn="l">
                        <a:lnSpc>
                          <a:spcPct val="106000"/>
                        </a:lnSpc>
                        <a:spcAft>
                          <a:spcPts val="0"/>
                        </a:spcAft>
                      </a:pPr>
                      <a:r>
                        <a:rPr sz="1100" b="0">
                          <a:solidFill>
                            <a:srgbClr val="333333"/>
                          </a:solidFill>
                          <a:latin typeface="Courier New"/>
                        </a:rPr>
                        <a:t>204-212</a:t>
                      </a:r>
                    </a:p>
                    <a:p>
                      <a:pPr algn="l">
                        <a:lnSpc>
                          <a:spcPct val="106000"/>
                        </a:lnSpc>
                        <a:spcAft>
                          <a:spcPts val="0"/>
                        </a:spcAft>
                      </a:pPr>
                      <a:r>
                        <a:rPr sz="1100" b="0">
                          <a:solidFill>
                            <a:srgbClr val="333333"/>
                          </a:solidFill>
                          <a:latin typeface="Courier New"/>
                        </a:rPr>
                        <a:t>GCS_MAVLINK_Plane::send_nav_controller_output()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GCS telemetry stream requests 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nav_controller navigation state (target bearing, xtrack error, wp distance) — unless in 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Emits the NAV_CONTROLLER_OUTPUT MAVLink message (navigation-health reporting to the GCS).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(navigation). Reporting Sink for navigation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5–7</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Indirect Navigation (continued)</a:t>
            </a:r>
          </a:p>
        </p:txBody>
      </p:sp>
      <p:graphicFrame>
        <p:nvGraphicFramePr>
          <p:cNvPr id="6" name="Table 5"/>
          <p:cNvGraphicFramePr>
            <a:graphicFrameLocks noGrp="1"/>
          </p:cNvGraphicFramePr>
          <p:nvPr/>
        </p:nvGraphicFramePr>
        <p:xfrm>
          <a:off x="566928" y="1591056"/>
          <a:ext cx="11058144" cy="3449320"/>
        </p:xfrm>
        <a:graphic>
          <a:graphicData uri="http://schemas.openxmlformats.org/drawingml/2006/table">
            <a:tbl>
              <a:tblPr>
                <a:tableStyleId>{5C22544A-7EE6-4342-B048-85BDC9FD1C3A}</a:tableStyleId>
              </a:tblPr>
              <a:tblGrid>
                <a:gridCol w="2851785"/>
                <a:gridCol w="1327150"/>
                <a:gridCol w="2122170"/>
                <a:gridCol w="2265680"/>
                <a:gridCol w="2491740"/>
              </a:tblGrid>
              <a:tr h="240030">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430">
                <a:tc>
                  <a:txBody>
                    <a:bodyPr wrap="square">
                      <a:noAutofit/>
                    </a:bodyPr>
                    <a:lstStyle/>
                    <a:p>
                      <a:pPr algn="l">
                        <a:lnSpc>
                          <a:spcPct val="106000"/>
                        </a:lnSpc>
                        <a:spcAft>
                          <a:spcPts val="0"/>
                        </a:spcAft>
                      </a:pPr>
                      <a:r>
                        <a:rPr sz="1100" b="1">
                          <a:solidFill>
                            <a:srgbClr val="333333"/>
                          </a:solidFill>
                          <a:latin typeface="Courier New"/>
                        </a:rPr>
                        <a:t>8</a:t>
                      </a:r>
                    </a:p>
                    <a:p>
                      <a:pPr algn="l">
                        <a:lnSpc>
                          <a:spcPct val="106000"/>
                        </a:lnSpc>
                        <a:spcAft>
                          <a:spcPts val="0"/>
                        </a:spcAft>
                      </a:pPr>
                      <a:r>
                        <a:rPr sz="1100" b="0">
                          <a:solidFill>
                            <a:srgbClr val="333333"/>
                          </a:solidFill>
                          <a:latin typeface="Courier New"/>
                        </a:rPr>
                        <a:t>ArduPlane/Attitude.cpp</a:t>
                      </a:r>
                    </a:p>
                    <a:p>
                      <a:pPr algn="l">
                        <a:lnSpc>
                          <a:spcPct val="106000"/>
                        </a:lnSpc>
                        <a:spcAft>
                          <a:spcPts val="0"/>
                        </a:spcAft>
                      </a:pPr>
                      <a:r>
                        <a:rPr sz="1100" b="0">
                          <a:solidFill>
                            <a:srgbClr val="333333"/>
                          </a:solidFill>
                          <a:latin typeface="Courier New"/>
                        </a:rPr>
                        <a:t>604-611</a:t>
                      </a:r>
                    </a:p>
                    <a:p>
                      <a:pPr algn="l">
                        <a:lnSpc>
                          <a:spcPct val="106000"/>
                        </a:lnSpc>
                        <a:spcAft>
                          <a:spcPts val="0"/>
                        </a:spcAft>
                      </a:pPr>
                      <a:r>
                        <a:rPr sz="1100" b="0">
                          <a:solidFill>
                            <a:srgbClr val="333333"/>
                          </a:solidFill>
                          <a:latin typeface="Courier New"/>
                        </a:rPr>
                        <a:t>Plane::calc_nav_roll()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Fixed-wing attitude loop computing the roll demand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nav_controller-&gt;nav_roll_cd() (L1/navigation lateral roll demand)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Sets nav_roll_cd from the navigation controller, constrained to ±roll_limit_cd.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(navigation). Consumes navigation-controller output (user-cited calc_nav_roll).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9030">
                <a:tc>
                  <a:txBody>
                    <a:bodyPr wrap="square">
                      <a:noAutofit/>
                    </a:bodyPr>
                    <a:lstStyle/>
                    <a:p>
                      <a:pPr algn="l">
                        <a:lnSpc>
                          <a:spcPct val="106000"/>
                        </a:lnSpc>
                        <a:spcAft>
                          <a:spcPts val="0"/>
                        </a:spcAft>
                      </a:pPr>
                      <a:r>
                        <a:rPr sz="1100" b="1">
                          <a:solidFill>
                            <a:srgbClr val="333333"/>
                          </a:solidFill>
                          <a:latin typeface="Courier New"/>
                        </a:rPr>
                        <a:t>9</a:t>
                      </a:r>
                    </a:p>
                    <a:p>
                      <a:pPr algn="l">
                        <a:lnSpc>
                          <a:spcPct val="106000"/>
                        </a:lnSpc>
                        <a:spcAft>
                          <a:spcPts val="0"/>
                        </a:spcAft>
                      </a:pPr>
                      <a:r>
                        <a:rPr sz="1100" b="0">
                          <a:solidFill>
                            <a:srgbClr val="333333"/>
                          </a:solidFill>
                          <a:latin typeface="Courier New"/>
                        </a:rPr>
                        <a:t>ArduPlane/navigation.cpp</a:t>
                      </a:r>
                    </a:p>
                    <a:p>
                      <a:pPr algn="l">
                        <a:lnSpc>
                          <a:spcPct val="106000"/>
                        </a:lnSpc>
                        <a:spcAft>
                          <a:spcPts val="0"/>
                        </a:spcAft>
                      </a:pPr>
                      <a:r>
                        <a:rPr sz="1100" b="0">
                          <a:solidFill>
                            <a:srgbClr val="333333"/>
                          </a:solidFill>
                          <a:latin typeface="Courier New"/>
                        </a:rPr>
                        <a:t>86-94</a:t>
                      </a:r>
                    </a:p>
                    <a:p>
                      <a:pPr algn="l">
                        <a:lnSpc>
                          <a:spcPct val="106000"/>
                        </a:lnSpc>
                        <a:spcAft>
                          <a:spcPts val="0"/>
                        </a:spcAft>
                      </a:pPr>
                      <a:r>
                        <a:rPr sz="1100" b="0">
                          <a:solidFill>
                            <a:srgbClr val="333333"/>
                          </a:solidFill>
                          <a:latin typeface="Courier New"/>
                        </a:rPr>
                        <a:t>Plane::navigate()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10 Hz fixed-wing navigation 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have_position flag (EKF/GPS position validity); next_WP_loc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Returns early (skips navigation) when have_position is false; otherwise computes the desired direction and distance to the next waypoint.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INDIRECT/RELATIONAL (navigation). This is the real symbol behind the user-example 'flight_mode_auto' chain (Table 2a L2 #1); gated on PNT position validity.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306830">
                <a:tc>
                  <a:txBody>
                    <a:bodyPr wrap="square">
                      <a:noAutofit/>
                    </a:bodyPr>
                    <a:lstStyle/>
                    <a:p>
                      <a:pPr algn="l">
                        <a:lnSpc>
                          <a:spcPct val="106000"/>
                        </a:lnSpc>
                        <a:spcAft>
                          <a:spcPts val="0"/>
                        </a:spcAft>
                      </a:pPr>
                      <a:r>
                        <a:rPr sz="1100" b="1">
                          <a:solidFill>
                            <a:srgbClr val="333333"/>
                          </a:solidFill>
                          <a:latin typeface="Courier New"/>
                        </a:rPr>
                        <a:t>10</a:t>
                      </a:r>
                    </a:p>
                    <a:p>
                      <a:pPr algn="l">
                        <a:lnSpc>
                          <a:spcPct val="106000"/>
                        </a:lnSpc>
                        <a:spcAft>
                          <a:spcPts val="0"/>
                        </a:spcAft>
                      </a:pPr>
                      <a:r>
                        <a:rPr sz="1100" b="0">
                          <a:solidFill>
                            <a:srgbClr val="333333"/>
                          </a:solidFill>
                          <a:latin typeface="Courier New"/>
                        </a:rPr>
                        <a:t>ArduPlane/navigation.cpp</a:t>
                      </a:r>
                    </a:p>
                    <a:p>
                      <a:pPr algn="l">
                        <a:lnSpc>
                          <a:spcPct val="106000"/>
                        </a:lnSpc>
                        <a:spcAft>
                          <a:spcPts val="0"/>
                        </a:spcAft>
                      </a:pPr>
                      <a:r>
                        <a:rPr sz="1100" b="0">
                          <a:solidFill>
                            <a:srgbClr val="333333"/>
                          </a:solidFill>
                          <a:latin typeface="Courier New"/>
                        </a:rPr>
                        <a:t>304-311</a:t>
                      </a:r>
                    </a:p>
                    <a:p>
                      <a:pPr algn="l">
                        <a:lnSpc>
                          <a:spcPct val="106000"/>
                        </a:lnSpc>
                        <a:spcAft>
                          <a:spcPts val="0"/>
                        </a:spcAft>
                      </a:pPr>
                      <a:r>
                        <a:rPr sz="1100" b="0">
                          <a:solidFill>
                            <a:srgbClr val="333333"/>
                          </a:solidFill>
                          <a:latin typeface="Courier New"/>
                        </a:rPr>
                        <a:t>Plane::calc_gndspeed_undershoot()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10 Hz GPS/navigation update (Plane::update_GPS_10Hz, ArduPlane/Plane.cpp:490)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ahrs.have_inertial_nav() (inertial-navigation solution availability)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Ground-speed-undershoot (min-groundspeed wind/flyaway compensation) is computed only when inertial nav is available; otherwise it is skipped and left stale/zero.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(navigation). User-example PNT-State-Observed accessor ahrs.have_inertial_nav() (libraries/AP_AHRS/AP_AHRS.h:273); the accessor itself is catalogued in Table 2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8–10</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Code Snippet (5-10 lines)</a:t>
            </a:r>
          </a:p>
        </p:txBody>
      </p:sp>
      <p:sp>
        <p:nvSpPr>
          <p:cNvPr id="5" name="TextBox 4"/>
          <p:cNvSpPr txBox="1"/>
          <p:nvPr/>
        </p:nvSpPr>
        <p:spPr>
          <a:xfrm>
            <a:off x="566928" y="1426464"/>
            <a:ext cx="11064240" cy="903541"/>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(5-10 lines), reproduced verbatim from the cited path:line range: one paragraph per source line, in the audit’s own order, with its indentation and its blank lines intact and nothing abbreviated.</a:t>
            </a:r>
          </a:p>
        </p:txBody>
      </p:sp>
      <p:graphicFrame>
        <p:nvGraphicFramePr>
          <p:cNvPr id="7" name="Table 6"/>
          <p:cNvGraphicFramePr>
            <a:graphicFrameLocks noGrp="1"/>
          </p:cNvGraphicFramePr>
          <p:nvPr/>
        </p:nvGraphicFramePr>
        <p:xfrm>
          <a:off x="566928" y="2549461"/>
          <a:ext cx="11058144" cy="208279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Courier New"/>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ArduCopter/ekf_check.cpp</a:t>
                      </a:r>
                      <a:r>
                        <a:rPr sz="1100" b="0">
                          <a:solidFill>
                            <a:srgbClr val="999999"/>
                          </a:solidFill>
                          <a:latin typeface="Courier New"/>
                        </a:rPr>
                        <a:t>  ·  </a:t>
                      </a:r>
                      <a:r>
                        <a:rPr sz="1100" b="0">
                          <a:solidFill>
                            <a:srgbClr val="999999"/>
                          </a:solidFill>
                          <a:latin typeface="Courier New"/>
                        </a:rPr>
                        <a:t>117-125</a:t>
                      </a:r>
                      <a:r>
                        <a:rPr sz="1100" b="0">
                          <a:solidFill>
                            <a:srgbClr val="999999"/>
                          </a:solidFill>
                          <a:latin typeface="Courier New"/>
                        </a:rPr>
                        <a:t>  ·  </a:t>
                      </a:r>
                      <a:r>
                        <a:rPr sz="1100" b="0">
                          <a:solidFill>
                            <a:srgbClr val="999999"/>
                          </a:solidFill>
                          <a:latin typeface="Courier New"/>
                        </a:rPr>
                        <a:t>Copter::ekf_over_threshold()</a:t>
                      </a:r>
                    </a:p>
                    <a:p>
                      <a:pPr algn="l">
                        <a:lnSpc>
                          <a:spcPct val="106000"/>
                        </a:lnSpc>
                        <a:spcAft>
                          <a:spcPts val="0"/>
                        </a:spcAft>
                      </a:pPr>
                      <a:r>
                        <a:rPr sz="1100" b="0">
                          <a:solidFill>
                            <a:srgbClr val="333333"/>
                          </a:solidFill>
                          <a:latin typeface="Courier New"/>
                        </a:rPr>
                        <a:t>    float position_var, vel_var, height_var, tas_variance;</a:t>
                      </a:r>
                    </a:p>
                    <a:p>
                      <a:pPr algn="l">
                        <a:lnSpc>
                          <a:spcPct val="106000"/>
                        </a:lnSpc>
                        <a:spcAft>
                          <a:spcPts val="0"/>
                        </a:spcAft>
                      </a:pPr>
                      <a:r>
                        <a:rPr sz="1100" b="0">
                          <a:solidFill>
                            <a:srgbClr val="333333"/>
                          </a:solidFill>
                          <a:latin typeface="Courier New"/>
                        </a:rPr>
                        <a:t>    Vector3f mag_variance;</a:t>
                      </a:r>
                    </a:p>
                    <a:p>
                      <a:pPr algn="l">
                        <a:lnSpc>
                          <a:spcPct val="106000"/>
                        </a:lnSpc>
                        <a:spcAft>
                          <a:spcPts val="0"/>
                        </a:spcAft>
                      </a:pPr>
                      <a:r>
                        <a:rPr sz="1100" b="0">
                          <a:solidFill>
                            <a:srgbClr val="333333"/>
                          </a:solidFill>
                          <a:latin typeface="Courier New"/>
                        </a:rPr>
                        <a:t>    variances_valid = ahrs.get_variances(vel_var, position_var, height_var, mag_variance, tas_variance);</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if (!variances_valid) {</a:t>
                      </a:r>
                    </a:p>
                    <a:p>
                      <a:pPr algn="l">
                        <a:lnSpc>
                          <a:spcPct val="106000"/>
                        </a:lnSpc>
                        <a:spcAft>
                          <a:spcPts val="0"/>
                        </a:spcAft>
                      </a:pPr>
                      <a:r>
                        <a:rPr sz="1100" b="0">
                          <a:solidFill>
                            <a:srgbClr val="333333"/>
                          </a:solidFill>
                          <a:latin typeface="Courier New"/>
                        </a:rPr>
                        <a:t>        return false;</a:t>
                      </a:r>
                    </a:p>
                    <a:p>
                      <a:pPr algn="l">
                        <a:lnSpc>
                          <a:spcPct val="106000"/>
                        </a:lnSpc>
                        <a:spcAft>
                          <a:spcPts val="0"/>
                        </a:spcAft>
                      </a:pPr>
                      <a:r>
                        <a:rPr sz="1100" b="0">
                          <a:solidFill>
                            <a:srgbClr val="333333"/>
                          </a:solidFill>
                          <a:latin typeface="Courier New"/>
                        </a:rPr>
                        <a:t>    }</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uint32_t now_us = AP_HAL::micros();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Code Snippet (5-10 lines) (continued)</a:t>
            </a:r>
          </a:p>
        </p:txBody>
      </p:sp>
      <p:graphicFrame>
        <p:nvGraphicFramePr>
          <p:cNvPr id="6" name="Table 5"/>
          <p:cNvGraphicFramePr>
            <a:graphicFrameLocks noGrp="1"/>
          </p:cNvGraphicFramePr>
          <p:nvPr/>
        </p:nvGraphicFramePr>
        <p:xfrm>
          <a:off x="566928" y="1591056"/>
          <a:ext cx="11058144" cy="428077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Courier New"/>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ArduPlane/ekf_check.cpp</a:t>
                      </a:r>
                      <a:r>
                        <a:rPr sz="1100" b="0">
                          <a:solidFill>
                            <a:srgbClr val="999999"/>
                          </a:solidFill>
                          <a:latin typeface="Courier New"/>
                        </a:rPr>
                        <a:t>  ·  </a:t>
                      </a:r>
                      <a:r>
                        <a:rPr sz="1100" b="0">
                          <a:solidFill>
                            <a:srgbClr val="999999"/>
                          </a:solidFill>
                          <a:latin typeface="Courier New"/>
                        </a:rPr>
                        <a:t>56-65</a:t>
                      </a:r>
                      <a:r>
                        <a:rPr sz="1100" b="0">
                          <a:solidFill>
                            <a:srgbClr val="999999"/>
                          </a:solidFill>
                          <a:latin typeface="Courier New"/>
                        </a:rPr>
                        <a:t>  ·  </a:t>
                      </a:r>
                      <a:r>
                        <a:rPr sz="1100" b="0">
                          <a:solidFill>
                            <a:srgbClr val="999999"/>
                          </a:solidFill>
                          <a:latin typeface="Courier New"/>
                        </a:rPr>
                        <a:t>Plane::ekf_check()</a:t>
                      </a:r>
                    </a:p>
                    <a:p>
                      <a:pPr algn="l">
                        <a:lnSpc>
                          <a:spcPct val="106000"/>
                        </a:lnSpc>
                        <a:spcAft>
                          <a:spcPts val="0"/>
                        </a:spcAft>
                      </a:pPr>
                      <a:r>
                        <a:rPr sz="1100" b="0">
                          <a:solidFill>
                            <a:srgbClr val="333333"/>
                          </a:solidFill>
                          <a:latin typeface="Courier New"/>
                        </a:rPr>
                        <a:t>    // compare compass and velocity variance vs threshold</a:t>
                      </a:r>
                    </a:p>
                    <a:p>
                      <a:pPr algn="l">
                        <a:lnSpc>
                          <a:spcPct val="106000"/>
                        </a:lnSpc>
                        <a:spcAft>
                          <a:spcPts val="0"/>
                        </a:spcAft>
                      </a:pPr>
                      <a:r>
                        <a:rPr sz="1100" b="0">
                          <a:solidFill>
                            <a:srgbClr val="333333"/>
                          </a:solidFill>
                          <a:latin typeface="Courier New"/>
                        </a:rPr>
                        <a:t>    if (ekf_over_threshold()) {</a:t>
                      </a:r>
                    </a:p>
                    <a:p>
                      <a:pPr algn="l">
                        <a:lnSpc>
                          <a:spcPct val="106000"/>
                        </a:lnSpc>
                        <a:spcAft>
                          <a:spcPts val="0"/>
                        </a:spcAft>
                      </a:pPr>
                      <a:r>
                        <a:rPr sz="1100" b="0">
                          <a:solidFill>
                            <a:srgbClr val="333333"/>
                          </a:solidFill>
                          <a:latin typeface="Courier New"/>
                        </a:rPr>
                        <a:t>        // if compass is not yet flagged as bad</a:t>
                      </a:r>
                    </a:p>
                    <a:p>
                      <a:pPr algn="l">
                        <a:lnSpc>
                          <a:spcPct val="106000"/>
                        </a:lnSpc>
                        <a:spcAft>
                          <a:spcPts val="0"/>
                        </a:spcAft>
                      </a:pPr>
                      <a:r>
                        <a:rPr sz="1100" b="0">
                          <a:solidFill>
                            <a:srgbClr val="333333"/>
                          </a:solidFill>
                          <a:latin typeface="Courier New"/>
                        </a:rPr>
                        <a:t>        if (!ekf_check_state.bad_variance) {</a:t>
                      </a:r>
                    </a:p>
                    <a:p>
                      <a:pPr algn="l">
                        <a:lnSpc>
                          <a:spcPct val="106000"/>
                        </a:lnSpc>
                        <a:spcAft>
                          <a:spcPts val="0"/>
                        </a:spcAft>
                      </a:pPr>
                      <a:r>
                        <a:rPr sz="1100" b="0">
                          <a:solidFill>
                            <a:srgbClr val="333333"/>
                          </a:solidFill>
                          <a:latin typeface="Courier New"/>
                        </a:rPr>
                        <a:t>            // increase counter</a:t>
                      </a:r>
                    </a:p>
                    <a:p>
                      <a:pPr algn="l">
                        <a:lnSpc>
                          <a:spcPct val="106000"/>
                        </a:lnSpc>
                        <a:spcAft>
                          <a:spcPts val="0"/>
                        </a:spcAft>
                      </a:pPr>
                      <a:r>
                        <a:rPr sz="1100" b="0">
                          <a:solidFill>
                            <a:srgbClr val="333333"/>
                          </a:solidFill>
                          <a:latin typeface="Courier New"/>
                        </a:rPr>
                        <a:t>            ekf_check_state.fail_count++;</a:t>
                      </a:r>
                    </a:p>
                    <a:p>
                      <a:pPr algn="l">
                        <a:lnSpc>
                          <a:spcPct val="106000"/>
                        </a:lnSpc>
                        <a:spcAft>
                          <a:spcPts val="0"/>
                        </a:spcAft>
                      </a:pPr>
                      <a:r>
                        <a:rPr sz="1100" b="0">
                          <a:solidFill>
                            <a:srgbClr val="333333"/>
                          </a:solidFill>
                          <a:latin typeface="Courier New"/>
                        </a:rPr>
                        <a:t>            if (ekf_check_state.fail_count == (EKF_CHECK_ITERATIONS_MAX-2)) {</a:t>
                      </a:r>
                    </a:p>
                    <a:p>
                      <a:pPr algn="l">
                        <a:lnSpc>
                          <a:spcPct val="106000"/>
                        </a:lnSpc>
                        <a:spcAft>
                          <a:spcPts val="0"/>
                        </a:spcAft>
                      </a:pPr>
                      <a:r>
                        <a:rPr sz="1100" b="0">
                          <a:solidFill>
                            <a:srgbClr val="333333"/>
                          </a:solidFill>
                          <a:latin typeface="Courier New"/>
                        </a:rPr>
                        <a:t>                // we are two iterations away from declaring an EKF failsafe, ask the EKF if we can reset</a:t>
                      </a:r>
                    </a:p>
                    <a:p>
                      <a:pPr algn="l">
                        <a:lnSpc>
                          <a:spcPct val="106000"/>
                        </a:lnSpc>
                        <a:spcAft>
                          <a:spcPts val="0"/>
                        </a:spcAft>
                      </a:pPr>
                      <a:r>
                        <a:rPr sz="1100" b="0">
                          <a:solidFill>
                            <a:srgbClr val="333333"/>
                          </a:solidFill>
                          <a:latin typeface="Courier New"/>
                        </a:rPr>
                        <a:t>                // yaw to resolve the issue</a:t>
                      </a:r>
                    </a:p>
                    <a:p>
                      <a:pPr algn="l">
                        <a:lnSpc>
                          <a:spcPct val="106000"/>
                        </a:lnSpc>
                        <a:spcAft>
                          <a:spcPts val="0"/>
                        </a:spcAft>
                      </a:pPr>
                      <a:r>
                        <a:rPr sz="1100" b="0">
                          <a:solidFill>
                            <a:srgbClr val="333333"/>
                          </a:solidFill>
                          <a:latin typeface="Courier New"/>
                        </a:rPr>
                        <a:t>                ahrs.request_yaw_reset();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Courier New"/>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Rover/ekf_check.cpp</a:t>
                      </a:r>
                      <a:r>
                        <a:rPr sz="1100" b="0">
                          <a:solidFill>
                            <a:srgbClr val="999999"/>
                          </a:solidFill>
                          <a:latin typeface="Courier New"/>
                        </a:rPr>
                        <a:t>  ·  </a:t>
                      </a:r>
                      <a:r>
                        <a:rPr sz="1100" b="0">
                          <a:solidFill>
                            <a:srgbClr val="999999"/>
                          </a:solidFill>
                          <a:latin typeface="Courier New"/>
                        </a:rPr>
                        <a:t>93-102</a:t>
                      </a:r>
                      <a:r>
                        <a:rPr sz="1100" b="0">
                          <a:solidFill>
                            <a:srgbClr val="999999"/>
                          </a:solidFill>
                          <a:latin typeface="Courier New"/>
                        </a:rPr>
                        <a:t>  ·  </a:t>
                      </a:r>
                      <a:r>
                        <a:rPr sz="1100" b="0">
                          <a:solidFill>
                            <a:srgbClr val="999999"/>
                          </a:solidFill>
                          <a:latin typeface="Courier New"/>
                        </a:rPr>
                        <a:t>Rover::ekf_over_threshold()</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 use EKF to get variance</a:t>
                      </a:r>
                    </a:p>
                    <a:p>
                      <a:pPr algn="l">
                        <a:lnSpc>
                          <a:spcPct val="106000"/>
                        </a:lnSpc>
                        <a:spcAft>
                          <a:spcPts val="0"/>
                        </a:spcAft>
                      </a:pPr>
                      <a:r>
                        <a:rPr sz="1100" b="0">
                          <a:solidFill>
                            <a:srgbClr val="333333"/>
                          </a:solidFill>
                          <a:latin typeface="Courier New"/>
                        </a:rPr>
                        <a:t>    float position_variance, vel_variance, height_variance, tas_variance;</a:t>
                      </a:r>
                    </a:p>
                    <a:p>
                      <a:pPr algn="l">
                        <a:lnSpc>
                          <a:spcPct val="106000"/>
                        </a:lnSpc>
                        <a:spcAft>
                          <a:spcPts val="0"/>
                        </a:spcAft>
                      </a:pPr>
                      <a:r>
                        <a:rPr sz="1100" b="0">
                          <a:solidFill>
                            <a:srgbClr val="333333"/>
                          </a:solidFill>
                          <a:latin typeface="Courier New"/>
                        </a:rPr>
                        <a:t>    Vector3f mag_variance;</a:t>
                      </a:r>
                    </a:p>
                    <a:p>
                      <a:pPr algn="l">
                        <a:lnSpc>
                          <a:spcPct val="106000"/>
                        </a:lnSpc>
                        <a:spcAft>
                          <a:spcPts val="0"/>
                        </a:spcAft>
                      </a:pPr>
                      <a:r>
                        <a:rPr sz="1100" b="0">
                          <a:solidFill>
                            <a:srgbClr val="333333"/>
                          </a:solidFill>
                          <a:latin typeface="Courier New"/>
                        </a:rPr>
                        <a:t>    ahrs.get_variances(vel_variance, position_variance, height_variance, mag_variance, tas_variance);</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 return true if two of compass, velocity and position variances are over the threshold</a:t>
                      </a:r>
                    </a:p>
                    <a:p>
                      <a:pPr algn="l">
                        <a:lnSpc>
                          <a:spcPct val="106000"/>
                        </a:lnSpc>
                        <a:spcAft>
                          <a:spcPts val="0"/>
                        </a:spcAft>
                      </a:pPr>
                      <a:r>
                        <a:rPr sz="1100" b="0">
                          <a:solidFill>
                            <a:srgbClr val="333333"/>
                          </a:solidFill>
                          <a:latin typeface="Courier New"/>
                        </a:rPr>
                        <a:t>    uint8_t over_thresh_count = 0;</a:t>
                      </a:r>
                    </a:p>
                    <a:p>
                      <a:pPr algn="l">
                        <a:lnSpc>
                          <a:spcPct val="106000"/>
                        </a:lnSpc>
                        <a:spcAft>
                          <a:spcPts val="0"/>
                        </a:spcAft>
                      </a:pPr>
                      <a:r>
                        <a:rPr sz="1100" b="0">
                          <a:solidFill>
                            <a:srgbClr val="333333"/>
                          </a:solidFill>
                          <a:latin typeface="Courier New"/>
                        </a:rPr>
                        <a:t>    if (mag_variance.length() &gt;= g.fs_ekf_thresh) {</a:t>
                      </a:r>
                    </a:p>
                    <a:p>
                      <a:pPr algn="l">
                        <a:lnSpc>
                          <a:spcPct val="106000"/>
                        </a:lnSpc>
                        <a:spcAft>
                          <a:spcPts val="0"/>
                        </a:spcAft>
                      </a:pPr>
                      <a:r>
                        <a:rPr sz="1100" b="0">
                          <a:solidFill>
                            <a:srgbClr val="333333"/>
                          </a:solidFill>
                          <a:latin typeface="Courier New"/>
                        </a:rPr>
                        <a:t>        over_thresh_count++;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Code Snippet (5-10 lines) (continued)</a:t>
            </a:r>
          </a:p>
        </p:txBody>
      </p:sp>
      <p:graphicFrame>
        <p:nvGraphicFramePr>
          <p:cNvPr id="6" name="Table 5"/>
          <p:cNvGraphicFramePr>
            <a:graphicFrameLocks noGrp="1"/>
          </p:cNvGraphicFramePr>
          <p:nvPr/>
        </p:nvGraphicFramePr>
        <p:xfrm>
          <a:off x="566928" y="1591056"/>
          <a:ext cx="11058144" cy="428077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Courier New"/>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ArduSub/failsafe.cpp</a:t>
                      </a:r>
                      <a:r>
                        <a:rPr sz="1100" b="0">
                          <a:solidFill>
                            <a:srgbClr val="999999"/>
                          </a:solidFill>
                          <a:latin typeface="Courier New"/>
                        </a:rPr>
                        <a:t>  ·  </a:t>
                      </a:r>
                      <a:r>
                        <a:rPr sz="1100" b="0">
                          <a:solidFill>
                            <a:srgbClr val="999999"/>
                          </a:solidFill>
                          <a:latin typeface="Courier New"/>
                        </a:rPr>
                        <a:t>112-121</a:t>
                      </a:r>
                      <a:r>
                        <a:rPr sz="1100" b="0">
                          <a:solidFill>
                            <a:srgbClr val="999999"/>
                          </a:solidFill>
                          <a:latin typeface="Courier New"/>
                        </a:rPr>
                        <a:t>  ·  </a:t>
                      </a:r>
                      <a:r>
                        <a:rPr sz="1100" b="0">
                          <a:solidFill>
                            <a:srgbClr val="999999"/>
                          </a:solidFill>
                          <a:latin typeface="Courier New"/>
                        </a:rPr>
                        <a:t>Sub::failsafe_ekf_check()</a:t>
                      </a:r>
                    </a:p>
                    <a:p>
                      <a:pPr algn="l">
                        <a:lnSpc>
                          <a:spcPct val="106000"/>
                        </a:lnSpc>
                        <a:spcAft>
                          <a:spcPts val="0"/>
                        </a:spcAft>
                      </a:pPr>
                      <a:r>
                        <a:rPr sz="1100" b="0">
                          <a:solidFill>
                            <a:srgbClr val="333333"/>
                          </a:solidFill>
                          <a:latin typeface="Courier New"/>
                        </a:rPr>
                        <a:t>    Vector3f magVar;</a:t>
                      </a:r>
                    </a:p>
                    <a:p>
                      <a:pPr algn="l">
                        <a:lnSpc>
                          <a:spcPct val="106000"/>
                        </a:lnSpc>
                        <a:spcAft>
                          <a:spcPts val="0"/>
                        </a:spcAft>
                      </a:pPr>
                      <a:r>
                        <a:rPr sz="1100" b="0">
                          <a:solidFill>
                            <a:srgbClr val="333333"/>
                          </a:solidFill>
                          <a:latin typeface="Courier New"/>
                        </a:rPr>
                        <a:t>    float compass_variance;</a:t>
                      </a:r>
                    </a:p>
                    <a:p>
                      <a:pPr algn="l">
                        <a:lnSpc>
                          <a:spcPct val="106000"/>
                        </a:lnSpc>
                        <a:spcAft>
                          <a:spcPts val="0"/>
                        </a:spcAft>
                      </a:pPr>
                      <a:r>
                        <a:rPr sz="1100" b="0">
                          <a:solidFill>
                            <a:srgbClr val="333333"/>
                          </a:solidFill>
                          <a:latin typeface="Courier New"/>
                        </a:rPr>
                        <a:t>    float vel_variance;</a:t>
                      </a:r>
                    </a:p>
                    <a:p>
                      <a:pPr algn="l">
                        <a:lnSpc>
                          <a:spcPct val="106000"/>
                        </a:lnSpc>
                        <a:spcAft>
                          <a:spcPts val="0"/>
                        </a:spcAft>
                      </a:pPr>
                      <a:r>
                        <a:rPr sz="1100" b="0">
                          <a:solidFill>
                            <a:srgbClr val="333333"/>
                          </a:solidFill>
                          <a:latin typeface="Courier New"/>
                        </a:rPr>
                        <a:t>    ahrs.get_variances(vel_variance, posVar, hgtVar, magVar, tasVar);</a:t>
                      </a:r>
                    </a:p>
                    <a:p>
                      <a:pPr algn="l">
                        <a:lnSpc>
                          <a:spcPct val="106000"/>
                        </a:lnSpc>
                        <a:spcAft>
                          <a:spcPts val="0"/>
                        </a:spcAft>
                      </a:pPr>
                      <a:r>
                        <a:rPr sz="1100" b="0">
                          <a:solidFill>
                            <a:srgbClr val="333333"/>
                          </a:solidFill>
                          <a:latin typeface="Courier New"/>
                        </a:rPr>
                        <a:t>    compass_variance = magVar.length();</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if (compass_variance &lt; g.fs_ekf_thresh &amp;&amp; vel_variance &lt; g.fs_ekf_thresh) {</a:t>
                      </a:r>
                    </a:p>
                    <a:p>
                      <a:pPr algn="l">
                        <a:lnSpc>
                          <a:spcPct val="106000"/>
                        </a:lnSpc>
                        <a:spcAft>
                          <a:spcPts val="0"/>
                        </a:spcAft>
                      </a:pPr>
                      <a:r>
                        <a:rPr sz="1100" b="0">
                          <a:solidFill>
                            <a:srgbClr val="333333"/>
                          </a:solidFill>
                          <a:latin typeface="Courier New"/>
                        </a:rPr>
                        <a:t>        last_ekf_good_ms = AP_HAL::millis();</a:t>
                      </a:r>
                    </a:p>
                    <a:p>
                      <a:pPr algn="l">
                        <a:lnSpc>
                          <a:spcPct val="106000"/>
                        </a:lnSpc>
                        <a:spcAft>
                          <a:spcPts val="0"/>
                        </a:spcAft>
                      </a:pPr>
                      <a:r>
                        <a:rPr sz="1100" b="0">
                          <a:solidFill>
                            <a:srgbClr val="333333"/>
                          </a:solidFill>
                          <a:latin typeface="Courier New"/>
                        </a:rPr>
                        <a:t>        failsafe.ekf = false;</a:t>
                      </a:r>
                    </a:p>
                    <a:p>
                      <a:pPr algn="l">
                        <a:lnSpc>
                          <a:spcPct val="106000"/>
                        </a:lnSpc>
                        <a:spcAft>
                          <a:spcPts val="0"/>
                        </a:spcAft>
                      </a:pPr>
                      <a:r>
                        <a:rPr sz="1100" b="0">
                          <a:solidFill>
                            <a:srgbClr val="333333"/>
                          </a:solidFill>
                          <a:latin typeface="Courier New"/>
                        </a:rPr>
                        <a:t>        AP_Notify::flags.ekf_bad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Courier New"/>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ArduCopter/crash_check.cpp</a:t>
                      </a:r>
                      <a:r>
                        <a:rPr sz="1100" b="0">
                          <a:solidFill>
                            <a:srgbClr val="999999"/>
                          </a:solidFill>
                          <a:latin typeface="Courier New"/>
                        </a:rPr>
                        <a:t>  ·  </a:t>
                      </a:r>
                      <a:r>
                        <a:rPr sz="1100" b="0">
                          <a:solidFill>
                            <a:srgbClr val="999999"/>
                          </a:solidFill>
                          <a:latin typeface="Courier New"/>
                        </a:rPr>
                        <a:t>65-74</a:t>
                      </a:r>
                      <a:r>
                        <a:rPr sz="1100" b="0">
                          <a:solidFill>
                            <a:srgbClr val="999999"/>
                          </a:solidFill>
                          <a:latin typeface="Courier New"/>
                        </a:rPr>
                        <a:t>  ·  </a:t>
                      </a:r>
                      <a:r>
                        <a:rPr sz="1100" b="0">
                          <a:solidFill>
                            <a:srgbClr val="999999"/>
                          </a:solidFill>
                          <a:latin typeface="Courier New"/>
                        </a:rPr>
                        <a:t>Copter::crash_check() — attitude test</a:t>
                      </a:r>
                    </a:p>
                    <a:p>
                      <a:pPr algn="l">
                        <a:lnSpc>
                          <a:spcPct val="106000"/>
                        </a:lnSpc>
                        <a:spcAft>
                          <a:spcPts val="0"/>
                        </a:spcAft>
                      </a:pPr>
                      <a:r>
                        <a:rPr sz="1100" b="0">
                          <a:solidFill>
                            <a:srgbClr val="333333"/>
                          </a:solidFill>
                          <a:latin typeface="Courier New"/>
                        </a:rPr>
                        <a:t>    // check for lean angle over 15 degrees</a:t>
                      </a:r>
                    </a:p>
                    <a:p>
                      <a:pPr algn="l">
                        <a:lnSpc>
                          <a:spcPct val="106000"/>
                        </a:lnSpc>
                        <a:spcAft>
                          <a:spcPts val="0"/>
                        </a:spcAft>
                      </a:pPr>
                      <a:r>
                        <a:rPr sz="1100" b="0">
                          <a:solidFill>
                            <a:srgbClr val="333333"/>
                          </a:solidFill>
                          <a:latin typeface="Courier New"/>
                        </a:rPr>
                        <a:t>    const float lean_angle_deg = degrees(acosf(ahrs.cos_roll()*ahrs.cos_pitch()));</a:t>
                      </a:r>
                    </a:p>
                    <a:p>
                      <a:pPr algn="l">
                        <a:lnSpc>
                          <a:spcPct val="106000"/>
                        </a:lnSpc>
                        <a:spcAft>
                          <a:spcPts val="0"/>
                        </a:spcAft>
                      </a:pPr>
                      <a:r>
                        <a:rPr sz="1100" b="0">
                          <a:solidFill>
                            <a:srgbClr val="333333"/>
                          </a:solidFill>
                          <a:latin typeface="Courier New"/>
                        </a:rPr>
                        <a:t>    if (lean_angle_deg &lt;= CRASH_CHECK_ANGLE_MIN_DEG) {</a:t>
                      </a:r>
                    </a:p>
                    <a:p>
                      <a:pPr algn="l">
                        <a:lnSpc>
                          <a:spcPct val="106000"/>
                        </a:lnSpc>
                        <a:spcAft>
                          <a:spcPts val="0"/>
                        </a:spcAft>
                      </a:pPr>
                      <a:r>
                        <a:rPr sz="1100" b="0">
                          <a:solidFill>
                            <a:srgbClr val="333333"/>
                          </a:solidFill>
                          <a:latin typeface="Courier New"/>
                        </a:rPr>
                        <a:t>        crash_counter = 0;</a:t>
                      </a:r>
                    </a:p>
                    <a:p>
                      <a:pPr algn="l">
                        <a:lnSpc>
                          <a:spcPct val="106000"/>
                        </a:lnSpc>
                        <a:spcAft>
                          <a:spcPts val="0"/>
                        </a:spcAft>
                      </a:pPr>
                      <a:r>
                        <a:rPr sz="1100" b="0">
                          <a:solidFill>
                            <a:srgbClr val="333333"/>
                          </a:solidFill>
                          <a:latin typeface="Courier New"/>
                        </a:rPr>
                        <a:t>        return;</a:t>
                      </a:r>
                    </a:p>
                    <a:p>
                      <a:pPr algn="l">
                        <a:lnSpc>
                          <a:spcPct val="106000"/>
                        </a:lnSpc>
                        <a:spcAft>
                          <a:spcPts val="0"/>
                        </a:spcAft>
                      </a:pPr>
                      <a:r>
                        <a:rPr sz="1100" b="0">
                          <a:solidFill>
                            <a:srgbClr val="333333"/>
                          </a:solidFill>
                          <a:latin typeface="Courier New"/>
                        </a:rPr>
                        <a:t>    }</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 check for angle error over 30 degrees</a:t>
                      </a:r>
                    </a:p>
                    <a:p>
                      <a:pPr algn="l">
                        <a:lnSpc>
                          <a:spcPct val="106000"/>
                        </a:lnSpc>
                        <a:spcAft>
                          <a:spcPts val="0"/>
                        </a:spcAft>
                      </a:pPr>
                      <a:r>
                        <a:rPr sz="1100" b="0">
                          <a:solidFill>
                            <a:srgbClr val="333333"/>
                          </a:solidFill>
                          <a:latin typeface="Courier New"/>
                        </a:rPr>
                        <a:t>    const float angle_error = attitude_control-&gt;get_att_error_angle_deg();</a:t>
                      </a:r>
                    </a:p>
                    <a:p>
                      <a:pPr algn="l">
                        <a:lnSpc>
                          <a:spcPct val="106000"/>
                        </a:lnSpc>
                        <a:spcAft>
                          <a:spcPts val="0"/>
                        </a:spcAft>
                      </a:pPr>
                      <a:r>
                        <a:rPr sz="1100" b="0">
                          <a:solidFill>
                            <a:srgbClr val="333333"/>
                          </a:solidFill>
                          <a:latin typeface="Courier New"/>
                        </a:rPr>
                        <a:t>    if (angle_error &lt;= CRASH_CHECK_ANGLE_DEVIATION_DEG)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4–5</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Code Snippet (5-10 lines) (continued)</a:t>
            </a:r>
          </a:p>
        </p:txBody>
      </p:sp>
      <p:graphicFrame>
        <p:nvGraphicFramePr>
          <p:cNvPr id="6" name="Table 5"/>
          <p:cNvGraphicFramePr>
            <a:graphicFrameLocks noGrp="1"/>
          </p:cNvGraphicFramePr>
          <p:nvPr/>
        </p:nvGraphicFramePr>
        <p:xfrm>
          <a:off x="566928" y="1591056"/>
          <a:ext cx="11058144" cy="356997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Courier New"/>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ArduCopter/crash_check.cpp</a:t>
                      </a:r>
                      <a:r>
                        <a:rPr sz="1100" b="0">
                          <a:solidFill>
                            <a:srgbClr val="999999"/>
                          </a:solidFill>
                          <a:latin typeface="Courier New"/>
                        </a:rPr>
                        <a:t>  ·  </a:t>
                      </a:r>
                      <a:r>
                        <a:rPr sz="1100" b="0">
                          <a:solidFill>
                            <a:srgbClr val="999999"/>
                          </a:solidFill>
                          <a:latin typeface="Courier New"/>
                        </a:rPr>
                        <a:t>78-84</a:t>
                      </a:r>
                      <a:r>
                        <a:rPr sz="1100" b="0">
                          <a:solidFill>
                            <a:srgbClr val="999999"/>
                          </a:solidFill>
                          <a:latin typeface="Courier New"/>
                        </a:rPr>
                        <a:t>  ·  </a:t>
                      </a:r>
                      <a:r>
                        <a:rPr sz="1100" b="0">
                          <a:solidFill>
                            <a:srgbClr val="999999"/>
                          </a:solidFill>
                          <a:latin typeface="Courier New"/>
                        </a:rPr>
                        <a:t>Copter::crash_check() — velocity test</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 check for speed under 10m/s (if available)</a:t>
                      </a:r>
                    </a:p>
                    <a:p>
                      <a:pPr algn="l">
                        <a:lnSpc>
                          <a:spcPct val="106000"/>
                        </a:lnSpc>
                        <a:spcAft>
                          <a:spcPts val="0"/>
                        </a:spcAft>
                      </a:pPr>
                      <a:r>
                        <a:rPr sz="1100" b="0">
                          <a:solidFill>
                            <a:srgbClr val="333333"/>
                          </a:solidFill>
                          <a:latin typeface="Courier New"/>
                        </a:rPr>
                        <a:t>    Vector3f vel_ned;</a:t>
                      </a:r>
                    </a:p>
                    <a:p>
                      <a:pPr algn="l">
                        <a:lnSpc>
                          <a:spcPct val="106000"/>
                        </a:lnSpc>
                        <a:spcAft>
                          <a:spcPts val="0"/>
                        </a:spcAft>
                      </a:pPr>
                      <a:r>
                        <a:rPr sz="1100" b="0">
                          <a:solidFill>
                            <a:srgbClr val="333333"/>
                          </a:solidFill>
                          <a:latin typeface="Courier New"/>
                        </a:rPr>
                        <a:t>    if (ahrs.get_velocity_NED(vel_ned) &amp;&amp; (vel_ned.length() &gt;= CRASH_CHECK_SPEED_MAX)) {</a:t>
                      </a:r>
                    </a:p>
                    <a:p>
                      <a:pPr algn="l">
                        <a:lnSpc>
                          <a:spcPct val="106000"/>
                        </a:lnSpc>
                        <a:spcAft>
                          <a:spcPts val="0"/>
                        </a:spcAft>
                      </a:pPr>
                      <a:r>
                        <a:rPr sz="1100" b="0">
                          <a:solidFill>
                            <a:srgbClr val="333333"/>
                          </a:solidFill>
                          <a:latin typeface="Courier New"/>
                        </a:rPr>
                        <a:t>        crash_counter = 0;</a:t>
                      </a:r>
                    </a:p>
                    <a:p>
                      <a:pPr algn="l">
                        <a:lnSpc>
                          <a:spcPct val="106000"/>
                        </a:lnSpc>
                        <a:spcAft>
                          <a:spcPts val="0"/>
                        </a:spcAft>
                      </a:pPr>
                      <a:r>
                        <a:rPr sz="1100" b="0">
                          <a:solidFill>
                            <a:srgbClr val="333333"/>
                          </a:solidFill>
                          <a:latin typeface="Courier New"/>
                        </a:rPr>
                        <a:t>        return;</a:t>
                      </a:r>
                    </a:p>
                    <a:p>
                      <a:pPr algn="l">
                        <a:lnSpc>
                          <a:spcPct val="106000"/>
                        </a:lnSpc>
                        <a:spcAft>
                          <a:spcPts val="0"/>
                        </a:spcAft>
                      </a:pPr>
                      <a:r>
                        <a:rPr sz="1100" b="0">
                          <a:solidFill>
                            <a:srgbClr val="333333"/>
                          </a:solidFill>
                          <a:latin typeface="Courier New"/>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Courier New"/>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ArduPlane/GCS_MAVLink_Plane.cpp</a:t>
                      </a:r>
                      <a:r>
                        <a:rPr sz="1100" b="0">
                          <a:solidFill>
                            <a:srgbClr val="999999"/>
                          </a:solidFill>
                          <a:latin typeface="Courier New"/>
                        </a:rPr>
                        <a:t>  ·  </a:t>
                      </a:r>
                      <a:r>
                        <a:rPr sz="1100" b="0">
                          <a:solidFill>
                            <a:srgbClr val="999999"/>
                          </a:solidFill>
                          <a:latin typeface="Courier New"/>
                        </a:rPr>
                        <a:t>204-212</a:t>
                      </a:r>
                      <a:r>
                        <a:rPr sz="1100" b="0">
                          <a:solidFill>
                            <a:srgbClr val="999999"/>
                          </a:solidFill>
                          <a:latin typeface="Courier New"/>
                        </a:rPr>
                        <a:t>  ·  </a:t>
                      </a:r>
                      <a:r>
                        <a:rPr sz="1100" b="0">
                          <a:solidFill>
                            <a:srgbClr val="999999"/>
                          </a:solidFill>
                          <a:latin typeface="Courier New"/>
                        </a:rPr>
                        <a:t>GCS_MAVLINK_Plane::send_nav_controller_output()</a:t>
                      </a:r>
                    </a:p>
                    <a:p>
                      <a:pPr algn="l">
                        <a:lnSpc>
                          <a:spcPct val="106000"/>
                        </a:lnSpc>
                        <a:spcAft>
                          <a:spcPts val="0"/>
                        </a:spcAft>
                      </a:pPr>
                      <a:r>
                        <a:rPr sz="1100" b="0">
                          <a:solidFill>
                            <a:srgbClr val="333333"/>
                          </a:solidFill>
                          <a:latin typeface="Courier New"/>
                        </a:rPr>
                        <a:t>void GCS_MAVLINK_Plane::send_nav_controller_output() const</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if (plane.control_mode == &amp;plane.mode_manual) {</a:t>
                      </a:r>
                    </a:p>
                    <a:p>
                      <a:pPr algn="l">
                        <a:lnSpc>
                          <a:spcPct val="106000"/>
                        </a:lnSpc>
                        <a:spcAft>
                          <a:spcPts val="0"/>
                        </a:spcAft>
                      </a:pPr>
                      <a:r>
                        <a:rPr sz="1100" b="0">
                          <a:solidFill>
                            <a:srgbClr val="333333"/>
                          </a:solidFill>
                          <a:latin typeface="Courier New"/>
                        </a:rPr>
                        <a:t>        return;</a:t>
                      </a:r>
                    </a:p>
                    <a:p>
                      <a:pPr algn="l">
                        <a:lnSpc>
                          <a:spcPct val="106000"/>
                        </a:lnSpc>
                        <a:spcAft>
                          <a:spcPts val="0"/>
                        </a:spcAft>
                      </a:pPr>
                      <a:r>
                        <a:rPr sz="1100" b="0">
                          <a:solidFill>
                            <a:srgbClr val="333333"/>
                          </a:solidFill>
                          <a:latin typeface="Courier New"/>
                        </a:rPr>
                        <a:t>    }</a:t>
                      </a:r>
                    </a:p>
                    <a:p>
                      <a:pPr algn="l">
                        <a:lnSpc>
                          <a:spcPct val="106000"/>
                        </a:lnSpc>
                        <a:spcAft>
                          <a:spcPts val="0"/>
                        </a:spcAft>
                      </a:pPr>
                      <a:r>
                        <a:rPr sz="1100" b="0">
                          <a:solidFill>
                            <a:srgbClr val="333333"/>
                          </a:solidFill>
                          <a:latin typeface="Courier New"/>
                        </a:rPr>
                        <a:t>#if HAL_QUADPLANE_ENABLED</a:t>
                      </a:r>
                    </a:p>
                    <a:p>
                      <a:pPr algn="l">
                        <a:lnSpc>
                          <a:spcPct val="106000"/>
                        </a:lnSpc>
                        <a:spcAft>
                          <a:spcPts val="0"/>
                        </a:spcAft>
                      </a:pPr>
                      <a:r>
                        <a:rPr sz="1100" b="0">
                          <a:solidFill>
                            <a:srgbClr val="333333"/>
                          </a:solidFill>
                          <a:latin typeface="Courier New"/>
                        </a:rPr>
                        <a:t>    const QuadPlane &amp;quadplane = plane.quadplane;</a:t>
                      </a:r>
                    </a:p>
                    <a:p>
                      <a:pPr algn="l">
                        <a:lnSpc>
                          <a:spcPct val="106000"/>
                        </a:lnSpc>
                        <a:spcAft>
                          <a:spcPts val="0"/>
                        </a:spcAft>
                      </a:pPr>
                      <a:r>
                        <a:rPr sz="1100" b="0">
                          <a:solidFill>
                            <a:srgbClr val="333333"/>
                          </a:solidFill>
                          <a:latin typeface="Courier New"/>
                        </a:rPr>
                        <a:t>    if (quadplane.show_vtol_view() &amp;&amp; quadplane.using_wp_nav()) {</a:t>
                      </a:r>
                    </a:p>
                    <a:p>
                      <a:pPr algn="l">
                        <a:lnSpc>
                          <a:spcPct val="106000"/>
                        </a:lnSpc>
                        <a:spcAft>
                          <a:spcPts val="0"/>
                        </a:spcAft>
                      </a:pPr>
                      <a:r>
                        <a:rPr sz="1100" b="0">
                          <a:solidFill>
                            <a:srgbClr val="333333"/>
                          </a:solidFill>
                          <a:latin typeface="Courier New"/>
                        </a:rPr>
                        <a:t>        const Vector3f &amp;targets = quadplane.attitude_control-&gt;get_att_target_euler_cd();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Code Snippet (5-10 lines) (continued)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Courier New"/>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ArduPlane/Attitude.cpp</a:t>
                      </a:r>
                      <a:r>
                        <a:rPr sz="1100" b="0">
                          <a:solidFill>
                            <a:srgbClr val="999999"/>
                          </a:solidFill>
                          <a:latin typeface="Courier New"/>
                        </a:rPr>
                        <a:t>  ·  </a:t>
                      </a:r>
                      <a:r>
                        <a:rPr sz="1100" b="0">
                          <a:solidFill>
                            <a:srgbClr val="999999"/>
                          </a:solidFill>
                          <a:latin typeface="Courier New"/>
                        </a:rPr>
                        <a:t>604-611</a:t>
                      </a:r>
                      <a:r>
                        <a:rPr sz="1100" b="0">
                          <a:solidFill>
                            <a:srgbClr val="999999"/>
                          </a:solidFill>
                          <a:latin typeface="Courier New"/>
                        </a:rPr>
                        <a:t>  ·  </a:t>
                      </a:r>
                      <a:r>
                        <a:rPr sz="1100" b="0">
                          <a:solidFill>
                            <a:srgbClr val="999999"/>
                          </a:solidFill>
                          <a:latin typeface="Courier New"/>
                        </a:rPr>
                        <a:t>Plane::calc_nav_roll()</a:t>
                      </a:r>
                    </a:p>
                    <a:p>
                      <a:pPr algn="l">
                        <a:lnSpc>
                          <a:spcPct val="106000"/>
                        </a:lnSpc>
                        <a:spcAft>
                          <a:spcPts val="0"/>
                        </a:spcAft>
                      </a:pPr>
                      <a:r>
                        <a:rPr sz="1100" b="0">
                          <a:solidFill>
                            <a:srgbClr val="333333"/>
                          </a:solidFill>
                          <a:latin typeface="Courier New"/>
                        </a:rPr>
                        <a:t>  calculate a new nav_roll_cd from the navigation controller</a:t>
                      </a:r>
                    </a:p>
                    <a:p>
                      <a:pPr algn="l">
                        <a:lnSpc>
                          <a:spcPct val="106000"/>
                        </a:lnSpc>
                        <a:spcAft>
                          <a:spcPts val="0"/>
                        </a:spcAft>
                      </a:pPr>
                      <a:r>
                        <a:rPr sz="1100" b="0">
                          <a:solidFill>
                            <a:srgbClr val="333333"/>
                          </a:solidFill>
                          <a:latin typeface="Courier New"/>
                        </a:rPr>
                        <a:t> */</a:t>
                      </a:r>
                    </a:p>
                    <a:p>
                      <a:pPr algn="l">
                        <a:lnSpc>
                          <a:spcPct val="106000"/>
                        </a:lnSpc>
                        <a:spcAft>
                          <a:spcPts val="0"/>
                        </a:spcAft>
                      </a:pPr>
                      <a:r>
                        <a:rPr sz="1100" b="0">
                          <a:solidFill>
                            <a:srgbClr val="333333"/>
                          </a:solidFill>
                          <a:latin typeface="Courier New"/>
                        </a:rPr>
                        <a:t>void Plane::calc_nav_roll()</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int32_t commanded_roll = nav_controller-&gt;nav_roll_cd();</a:t>
                      </a:r>
                    </a:p>
                    <a:p>
                      <a:pPr algn="l">
                        <a:lnSpc>
                          <a:spcPct val="106000"/>
                        </a:lnSpc>
                        <a:spcAft>
                          <a:spcPts val="0"/>
                        </a:spcAft>
                      </a:pPr>
                      <a:r>
                        <a:rPr sz="1100" b="0">
                          <a:solidFill>
                            <a:srgbClr val="333333"/>
                          </a:solidFill>
                          <a:latin typeface="Courier New"/>
                        </a:rPr>
                        <a:t>    nav_roll_cd = constrain_int32(commanded_roll, -roll_limit_cd, roll_limit_cd);</a:t>
                      </a:r>
                    </a:p>
                    <a:p>
                      <a:pPr algn="l">
                        <a:lnSpc>
                          <a:spcPct val="106000"/>
                        </a:lnSpc>
                        <a:spcAft>
                          <a:spcPts val="0"/>
                        </a:spcAft>
                      </a:pPr>
                      <a:r>
                        <a:rPr sz="1100" b="0">
                          <a:solidFill>
                            <a:srgbClr val="333333"/>
                          </a:solidFill>
                          <a:latin typeface="Courier New"/>
                        </a:rPr>
                        <a:t>    update_load_factor();</a:t>
                      </a:r>
                    </a:p>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ArduPlane/navigation.cpp</a:t>
                      </a:r>
                      <a:r>
                        <a:rPr sz="1100" b="0">
                          <a:solidFill>
                            <a:srgbClr val="999999"/>
                          </a:solidFill>
                          <a:latin typeface="Courier New"/>
                        </a:rPr>
                        <a:t>  ·  </a:t>
                      </a:r>
                      <a:r>
                        <a:rPr sz="1100" b="0">
                          <a:solidFill>
                            <a:srgbClr val="999999"/>
                          </a:solidFill>
                          <a:latin typeface="Courier New"/>
                        </a:rPr>
                        <a:t>86-94</a:t>
                      </a:r>
                      <a:r>
                        <a:rPr sz="1100" b="0">
                          <a:solidFill>
                            <a:srgbClr val="999999"/>
                          </a:solidFill>
                          <a:latin typeface="Courier New"/>
                        </a:rPr>
                        <a:t>  ·  </a:t>
                      </a:r>
                      <a:r>
                        <a:rPr sz="1100" b="0">
                          <a:solidFill>
                            <a:srgbClr val="999999"/>
                          </a:solidFill>
                          <a:latin typeface="Courier New"/>
                        </a:rPr>
                        <a:t>Plane::navigate()</a:t>
                      </a:r>
                    </a:p>
                    <a:p>
                      <a:pPr algn="l">
                        <a:lnSpc>
                          <a:spcPct val="106000"/>
                        </a:lnSpc>
                        <a:spcAft>
                          <a:spcPts val="0"/>
                        </a:spcAft>
                      </a:pPr>
                      <a:r>
                        <a:rPr sz="1100" b="0">
                          <a:solidFill>
                            <a:srgbClr val="333333"/>
                          </a:solidFill>
                          <a:latin typeface="Courier New"/>
                        </a:rPr>
                        <a:t>void Plane::navigate()</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 do not navigate with corrupt data</a:t>
                      </a:r>
                    </a:p>
                    <a:p>
                      <a:pPr algn="l">
                        <a:lnSpc>
                          <a:spcPct val="106000"/>
                        </a:lnSpc>
                        <a:spcAft>
                          <a:spcPts val="0"/>
                        </a:spcAft>
                      </a:pPr>
                      <a:r>
                        <a:rPr sz="1100" b="0">
                          <a:solidFill>
                            <a:srgbClr val="333333"/>
                          </a:solidFill>
                          <a:latin typeface="Courier New"/>
                        </a:rPr>
                        <a:t>    // ---------------------------------</a:t>
                      </a:r>
                    </a:p>
                    <a:p>
                      <a:pPr algn="l">
                        <a:lnSpc>
                          <a:spcPct val="106000"/>
                        </a:lnSpc>
                        <a:spcAft>
                          <a:spcPts val="0"/>
                        </a:spcAft>
                      </a:pPr>
                      <a:r>
                        <a:rPr sz="1100" b="0">
                          <a:solidFill>
                            <a:srgbClr val="333333"/>
                          </a:solidFill>
                          <a:latin typeface="Courier New"/>
                        </a:rPr>
                        <a:t>    if (!have_position) {</a:t>
                      </a:r>
                    </a:p>
                    <a:p>
                      <a:pPr algn="l">
                        <a:lnSpc>
                          <a:spcPct val="106000"/>
                        </a:lnSpc>
                        <a:spcAft>
                          <a:spcPts val="0"/>
                        </a:spcAft>
                      </a:pPr>
                      <a:r>
                        <a:rPr sz="1100" b="0">
                          <a:solidFill>
                            <a:srgbClr val="333333"/>
                          </a:solidFill>
                          <a:latin typeface="Courier New"/>
                        </a:rPr>
                        <a:t>        return;</a:t>
                      </a:r>
                    </a:p>
                    <a:p>
                      <a:pPr algn="l">
                        <a:lnSpc>
                          <a:spcPct val="106000"/>
                        </a:lnSpc>
                        <a:spcAft>
                          <a:spcPts val="0"/>
                        </a:spcAft>
                      </a:pPr>
                      <a:r>
                        <a:rPr sz="1100" b="0">
                          <a:solidFill>
                            <a:srgbClr val="333333"/>
                          </a:solidFill>
                          <a:latin typeface="Courier New"/>
                        </a:rPr>
                        <a:t>    }</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if (next_WP_loc.lat == 0 &amp;&amp; next_WP_loc.lng == 0)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8–9</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Code Snippet (5-10 lines) (continued)</a:t>
            </a:r>
          </a:p>
        </p:txBody>
      </p:sp>
      <p:graphicFrame>
        <p:nvGraphicFramePr>
          <p:cNvPr id="6" name="Table 5"/>
          <p:cNvGraphicFramePr>
            <a:graphicFrameLocks noGrp="1"/>
          </p:cNvGraphicFramePr>
          <p:nvPr/>
        </p:nvGraphicFramePr>
        <p:xfrm>
          <a:off x="566928" y="1591056"/>
          <a:ext cx="11058144" cy="190509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ArduPlane/navigation.cpp</a:t>
                      </a:r>
                      <a:r>
                        <a:rPr sz="1100" b="0">
                          <a:solidFill>
                            <a:srgbClr val="999999"/>
                          </a:solidFill>
                          <a:latin typeface="Courier New"/>
                        </a:rPr>
                        <a:t>  ·  </a:t>
                      </a:r>
                      <a:r>
                        <a:rPr sz="1100" b="0">
                          <a:solidFill>
                            <a:srgbClr val="999999"/>
                          </a:solidFill>
                          <a:latin typeface="Courier New"/>
                        </a:rPr>
                        <a:t>304-311</a:t>
                      </a:r>
                      <a:r>
                        <a:rPr sz="1100" b="0">
                          <a:solidFill>
                            <a:srgbClr val="999999"/>
                          </a:solidFill>
                          <a:latin typeface="Courier New"/>
                        </a:rPr>
                        <a:t>  ·  </a:t>
                      </a:r>
                      <a:r>
                        <a:rPr sz="1100" b="0">
                          <a:solidFill>
                            <a:srgbClr val="999999"/>
                          </a:solidFill>
                          <a:latin typeface="Courier New"/>
                        </a:rPr>
                        <a:t>Plane::calc_gndspeed_undershoot()</a:t>
                      </a:r>
                    </a:p>
                    <a:p>
                      <a:pPr algn="l">
                        <a:lnSpc>
                          <a:spcPct val="106000"/>
                        </a:lnSpc>
                        <a:spcAft>
                          <a:spcPts val="0"/>
                        </a:spcAft>
                      </a:pPr>
                      <a:r>
                        <a:rPr sz="1100" b="0">
                          <a:solidFill>
                            <a:srgbClr val="333333"/>
                          </a:solidFill>
                          <a:latin typeface="Courier New"/>
                        </a:rPr>
                        <a:t>    Vector3f velNED;</a:t>
                      </a:r>
                    </a:p>
                    <a:p>
                      <a:pPr algn="l">
                        <a:lnSpc>
                          <a:spcPct val="106000"/>
                        </a:lnSpc>
                        <a:spcAft>
                          <a:spcPts val="0"/>
                        </a:spcAft>
                      </a:pPr>
                      <a:r>
                        <a:rPr sz="1100" b="0">
                          <a:solidFill>
                            <a:srgbClr val="333333"/>
                          </a:solidFill>
                          <a:latin typeface="Courier New"/>
                        </a:rPr>
                        <a:t>    if (ahrs.have_inertial_nav() &amp;&amp; ahrs.get_velocity_NED(velNED)) {</a:t>
                      </a:r>
                    </a:p>
                    <a:p>
                      <a:pPr algn="l">
                        <a:lnSpc>
                          <a:spcPct val="106000"/>
                        </a:lnSpc>
                        <a:spcAft>
                          <a:spcPts val="0"/>
                        </a:spcAft>
                      </a:pPr>
                      <a:r>
                        <a:rPr sz="1100" b="0">
                          <a:solidFill>
                            <a:srgbClr val="333333"/>
                          </a:solidFill>
                          <a:latin typeface="Courier New"/>
                        </a:rPr>
                        <a:t>        const Matrix3f &amp;rotMat = ahrs.get_rotation_body_to_ned();</a:t>
                      </a:r>
                    </a:p>
                    <a:p>
                      <a:pPr algn="l">
                        <a:lnSpc>
                          <a:spcPct val="106000"/>
                        </a:lnSpc>
                        <a:spcAft>
                          <a:spcPts val="0"/>
                        </a:spcAft>
                      </a:pPr>
                      <a:r>
                        <a:rPr sz="1100" b="0">
                          <a:solidFill>
                            <a:srgbClr val="333333"/>
                          </a:solidFill>
                          <a:latin typeface="Courier New"/>
                        </a:rPr>
                        <a:t>        Vector2f yawVect = Vector2f(rotMat.a.x,rotMat.b.x);</a:t>
                      </a:r>
                    </a:p>
                    <a:p>
                      <a:pPr algn="l">
                        <a:lnSpc>
                          <a:spcPct val="106000"/>
                        </a:lnSpc>
                        <a:spcAft>
                          <a:spcPts val="0"/>
                        </a:spcAft>
                      </a:pPr>
                      <a:r>
                        <a:rPr sz="1100" b="0">
                          <a:solidFill>
                            <a:srgbClr val="333333"/>
                          </a:solidFill>
                          <a:latin typeface="Courier New"/>
                        </a:rPr>
                        <a:t>        if (!yawVect.is_zero()) {</a:t>
                      </a:r>
                    </a:p>
                    <a:p>
                      <a:pPr algn="l">
                        <a:lnSpc>
                          <a:spcPct val="106000"/>
                        </a:lnSpc>
                        <a:spcAft>
                          <a:spcPts val="0"/>
                        </a:spcAft>
                      </a:pPr>
                      <a:r>
                        <a:rPr sz="1100" b="0">
                          <a:solidFill>
                            <a:srgbClr val="333333"/>
                          </a:solidFill>
                          <a:latin typeface="Courier New"/>
                        </a:rPr>
                        <a:t>            yawVect.normalize();</a:t>
                      </a:r>
                    </a:p>
                    <a:p>
                      <a:pPr algn="l">
                        <a:lnSpc>
                          <a:spcPct val="106000"/>
                        </a:lnSpc>
                        <a:spcAft>
                          <a:spcPts val="0"/>
                        </a:spcAft>
                      </a:pPr>
                      <a:r>
                        <a:rPr sz="1100" b="0">
                          <a:solidFill>
                            <a:srgbClr val="333333"/>
                          </a:solidFill>
                          <a:latin typeface="Courier New"/>
                        </a:rPr>
                        <a:t>            float gndSpdFwd = yawVect * velNED.xy();</a:t>
                      </a:r>
                    </a:p>
                    <a:p>
                      <a:pPr algn="l">
                        <a:lnSpc>
                          <a:spcPct val="106000"/>
                        </a:lnSpc>
                        <a:spcAft>
                          <a:spcPts val="0"/>
                        </a:spcAft>
                      </a:pPr>
                      <a:r>
                        <a:rPr sz="1100" b="0">
                          <a:solidFill>
                            <a:srgbClr val="333333"/>
                          </a:solidFill>
                          <a:latin typeface="Courier New"/>
                        </a:rPr>
                        <a:t>            groundspeed_undershoot_is_valid = aparm.min_groundspeed &gt; 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dependency map</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5a: Layer 1 — direct callers / callees with typed dependency</a:t>
            </a:r>
          </a:p>
        </p:txBody>
      </p:sp>
      <p:graphicFrame>
        <p:nvGraphicFramePr>
          <p:cNvPr id="7" name="Table 6"/>
          <p:cNvGraphicFramePr>
            <a:graphicFrameLocks noGrp="1"/>
          </p:cNvGraphicFramePr>
          <p:nvPr/>
        </p:nvGraphicFramePr>
        <p:xfrm>
          <a:off x="566928" y="1906943"/>
          <a:ext cx="11058144" cy="2684780"/>
        </p:xfrm>
        <a:graphic>
          <a:graphicData uri="http://schemas.openxmlformats.org/drawingml/2006/table">
            <a:tbl>
              <a:tblPr>
                <a:tableStyleId>{5C22544A-7EE6-4342-B048-85BDC9FD1C3A}</a:tableStyleId>
              </a:tblPr>
              <a:tblGrid>
                <a:gridCol w="347345"/>
                <a:gridCol w="3061335"/>
                <a:gridCol w="3095625"/>
                <a:gridCol w="3259455"/>
                <a:gridCol w="1294130"/>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r">
                        <a:lnSpc>
                          <a:spcPct val="106000"/>
                        </a:lnSpc>
                        <a:spcAft>
                          <a:spcPts val="0"/>
                        </a:spcAft>
                      </a:pPr>
                      <a:r>
                        <a:rPr sz="1100" b="1">
                          <a:solidFill>
                            <a:srgbClr val="333333"/>
                          </a:solidFill>
                          <a:latin typeface="Courier New"/>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Copter::ekf_over_threshold()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ahrs.get_variances(); variance filters; compare g.fs_ekf_thresh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Copter::ekf_check()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Plane::ekf_check()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ekf_over_threshold(); ahrs.request_yaw_reset()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Plane 10 Hz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Courier New"/>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Rover::ekf_over_threshold()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ahrs.get_variances(); compare g.fs_ekf_thresh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Rover::ekf_check()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Sub::failsafe_ekf_check()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ahrs.get_variances(); AP_HAL::millis(); gcs().send_text()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Sub periodic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r">
                        <a:lnSpc>
                          <a:spcPct val="106000"/>
                        </a:lnSpc>
                        <a:spcAft>
                          <a:spcPts val="0"/>
                        </a:spcAft>
                      </a:pPr>
                      <a:r>
                        <a:rPr sz="1100" b="1">
                          <a:solidFill>
                            <a:srgbClr val="333333"/>
                          </a:solidFill>
                          <a:latin typeface="Courier New"/>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Copter::crash_check()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ahrs.cos_roll(); ahrs.cos_pitch(); attitude_control-&gt;get_att_error_angle_deg()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Copter::crash_check()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dependency map (continued)</a:t>
            </a:r>
          </a:p>
        </p:txBody>
      </p:sp>
      <p:graphicFrame>
        <p:nvGraphicFramePr>
          <p:cNvPr id="6" name="Table 5"/>
          <p:cNvGraphicFramePr>
            <a:graphicFrameLocks noGrp="1"/>
          </p:cNvGraphicFramePr>
          <p:nvPr/>
        </p:nvGraphicFramePr>
        <p:xfrm>
          <a:off x="566928" y="1591056"/>
          <a:ext cx="11058144" cy="2329180"/>
        </p:xfrm>
        <a:graphic>
          <a:graphicData uri="http://schemas.openxmlformats.org/drawingml/2006/table">
            <a:tbl>
              <a:tblPr>
                <a:tableStyleId>{5C22544A-7EE6-4342-B048-85BDC9FD1C3A}</a:tableStyleId>
              </a:tblPr>
              <a:tblGrid>
                <a:gridCol w="347345"/>
                <a:gridCol w="3061335"/>
                <a:gridCol w="3095625"/>
                <a:gridCol w="3259455"/>
                <a:gridCol w="1294130"/>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030">
                <a:tc>
                  <a:txBody>
                    <a:bodyPr wrap="square">
                      <a:noAutofit/>
                    </a:bodyPr>
                    <a:lstStyle/>
                    <a:p>
                      <a:pPr algn="r">
                        <a:lnSpc>
                          <a:spcPct val="106000"/>
                        </a:lnSpc>
                        <a:spcAft>
                          <a:spcPts val="0"/>
                        </a:spcAft>
                      </a:pPr>
                      <a:r>
                        <a:rPr sz="1100" b="1">
                          <a:solidFill>
                            <a:srgbClr val="333333"/>
                          </a:solidFill>
                          <a:latin typeface="Courier New"/>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Copter::crash_check() (velocity)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ahrs.get_velocity_NED(vel_ned)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Copter::crash_check()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Courier New"/>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GCS_MAVLINK_Plane::send_nav_controller_output()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reads plane.control_mode; nav_controller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GCS telemetry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Plane::calc_nav_roll()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nav_controller-&gt;nav_roll_cd(); update_load_factor()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Plane fast attitude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Plane::navigate()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reads have_position; next_WP_loc; nav_controller 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Plane 10 Hz nav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Plane::calc_gndspeed_undershoot()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ahrs.have_inertial_nav(); ahrs.get_velocity_NED()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Plane::update_GPS_10Hz() (ArduPlane/Plane.cpp:490)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879" y="384048"/>
            <a:ext cx="59919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6–10</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Code Snippet</a:t>
            </a: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exactly as the audit records it, one paragraph per line and nothing abbreviated. The audit keeps Layer 1 lines flush left; the row’s main-table snippet keeps the source’s own indentation.</a:t>
            </a:r>
          </a:p>
        </p:txBody>
      </p:sp>
      <p:graphicFrame>
        <p:nvGraphicFramePr>
          <p:cNvPr id="7" name="Table 6"/>
          <p:cNvGraphicFramePr>
            <a:graphicFrameLocks noGrp="1"/>
          </p:cNvGraphicFramePr>
          <p:nvPr/>
        </p:nvGraphicFramePr>
        <p:xfrm>
          <a:off x="566928" y="2228202"/>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Courier New"/>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Copter::ekf_over_threshold()</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float position_var, vel_var, height_var, tas_variance;</a:t>
                      </a:r>
                    </a:p>
                    <a:p>
                      <a:pPr algn="l">
                        <a:lnSpc>
                          <a:spcPct val="106000"/>
                        </a:lnSpc>
                        <a:spcAft>
                          <a:spcPts val="0"/>
                        </a:spcAft>
                      </a:pPr>
                      <a:r>
                        <a:rPr sz="1100" b="0">
                          <a:solidFill>
                            <a:srgbClr val="333333"/>
                          </a:solidFill>
                          <a:latin typeface="Courier New"/>
                        </a:rPr>
                        <a:t>Vector3f mag_variance;</a:t>
                      </a:r>
                    </a:p>
                    <a:p>
                      <a:pPr algn="l">
                        <a:lnSpc>
                          <a:spcPct val="106000"/>
                        </a:lnSpc>
                        <a:spcAft>
                          <a:spcPts val="0"/>
                        </a:spcAft>
                      </a:pPr>
                      <a:r>
                        <a:rPr sz="1100" b="0">
                          <a:solidFill>
                            <a:srgbClr val="333333"/>
                          </a:solidFill>
                          <a:latin typeface="Courier New"/>
                        </a:rPr>
                        <a:t>variances_valid = ahrs.get_variances(vel_var, position_var, height_var, mag_variance, tas_variance);</a:t>
                      </a:r>
                    </a:p>
                    <a:p>
                      <a:pPr algn="l">
                        <a:lnSpc>
                          <a:spcPct val="106000"/>
                        </a:lnSpc>
                        <a:spcAft>
                          <a:spcPts val="0"/>
                        </a:spcAft>
                      </a:pPr>
                      <a:r>
                        <a:rPr sz="1100" b="0">
                          <a:solidFill>
                            <a:srgbClr val="333333"/>
                          </a:solidFill>
                          <a:latin typeface="Courier New"/>
                        </a:rPr>
                        <a:t>if (!variances_valid) {</a:t>
                      </a:r>
                    </a:p>
                    <a:p>
                      <a:pPr algn="l">
                        <a:lnSpc>
                          <a:spcPct val="106000"/>
                        </a:lnSpc>
                        <a:spcAft>
                          <a:spcPts val="0"/>
                        </a:spcAft>
                      </a:pPr>
                      <a:r>
                        <a:rPr sz="1100" b="0">
                          <a:solidFill>
                            <a:srgbClr val="333333"/>
                          </a:solidFill>
                          <a:latin typeface="Courier New"/>
                        </a:rPr>
                        <a:t>return false;</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uint32_t now_us = AP_HAL::micros();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Courier New"/>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Plane::ekf_check()</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 compare compass and velocity variance vs threshold</a:t>
                      </a:r>
                    </a:p>
                    <a:p>
                      <a:pPr algn="l">
                        <a:lnSpc>
                          <a:spcPct val="106000"/>
                        </a:lnSpc>
                        <a:spcAft>
                          <a:spcPts val="0"/>
                        </a:spcAft>
                      </a:pPr>
                      <a:r>
                        <a:rPr sz="1100" b="0">
                          <a:solidFill>
                            <a:srgbClr val="333333"/>
                          </a:solidFill>
                          <a:latin typeface="Courier New"/>
                        </a:rPr>
                        <a:t>if (ekf_over_threshold()) {</a:t>
                      </a:r>
                    </a:p>
                    <a:p>
                      <a:pPr algn="l">
                        <a:lnSpc>
                          <a:spcPct val="106000"/>
                        </a:lnSpc>
                        <a:spcAft>
                          <a:spcPts val="0"/>
                        </a:spcAft>
                      </a:pPr>
                      <a:r>
                        <a:rPr sz="1100" b="0">
                          <a:solidFill>
                            <a:srgbClr val="333333"/>
                          </a:solidFill>
                          <a:latin typeface="Courier New"/>
                        </a:rPr>
                        <a:t>// if compass is not yet flagged as bad</a:t>
                      </a:r>
                    </a:p>
                    <a:p>
                      <a:pPr algn="l">
                        <a:lnSpc>
                          <a:spcPct val="106000"/>
                        </a:lnSpc>
                        <a:spcAft>
                          <a:spcPts val="0"/>
                        </a:spcAft>
                      </a:pPr>
                      <a:r>
                        <a:rPr sz="1100" b="0">
                          <a:solidFill>
                            <a:srgbClr val="333333"/>
                          </a:solidFill>
                          <a:latin typeface="Courier New"/>
                        </a:rPr>
                        <a:t>if (!ekf_check_state.bad_variance) {</a:t>
                      </a:r>
                    </a:p>
                    <a:p>
                      <a:pPr algn="l">
                        <a:lnSpc>
                          <a:spcPct val="106000"/>
                        </a:lnSpc>
                        <a:spcAft>
                          <a:spcPts val="0"/>
                        </a:spcAft>
                      </a:pPr>
                      <a:r>
                        <a:rPr sz="1100" b="0">
                          <a:solidFill>
                            <a:srgbClr val="333333"/>
                          </a:solidFill>
                          <a:latin typeface="Courier New"/>
                        </a:rPr>
                        <a:t>// increase counter</a:t>
                      </a:r>
                    </a:p>
                    <a:p>
                      <a:pPr algn="l">
                        <a:lnSpc>
                          <a:spcPct val="106000"/>
                        </a:lnSpc>
                        <a:spcAft>
                          <a:spcPts val="0"/>
                        </a:spcAft>
                      </a:pPr>
                      <a:r>
                        <a:rPr sz="1100" b="0">
                          <a:solidFill>
                            <a:srgbClr val="333333"/>
                          </a:solidFill>
                          <a:latin typeface="Courier New"/>
                        </a:rPr>
                        <a:t>ekf_check_state.fail_count++;</a:t>
                      </a:r>
                    </a:p>
                    <a:p>
                      <a:pPr algn="l">
                        <a:lnSpc>
                          <a:spcPct val="106000"/>
                        </a:lnSpc>
                        <a:spcAft>
                          <a:spcPts val="0"/>
                        </a:spcAft>
                      </a:pPr>
                      <a:r>
                        <a:rPr sz="1100" b="0">
                          <a:solidFill>
                            <a:srgbClr val="333333"/>
                          </a:solidFill>
                          <a:latin typeface="Courier New"/>
                        </a:rPr>
                        <a:t>if (ekf_check_state.fail_count == (EKF_CHECK_ITERATIONS_MAX-2)) {</a:t>
                      </a:r>
                    </a:p>
                    <a:p>
                      <a:pPr algn="l">
                        <a:lnSpc>
                          <a:spcPct val="106000"/>
                        </a:lnSpc>
                        <a:spcAft>
                          <a:spcPts val="0"/>
                        </a:spcAft>
                      </a:pPr>
                      <a:r>
                        <a:rPr sz="1100" b="0">
                          <a:solidFill>
                            <a:srgbClr val="333333"/>
                          </a:solidFill>
                          <a:latin typeface="Courier New"/>
                        </a:rPr>
                        <a:t>// we are two iterations away from declaring an EKF failsafe, ask the EKF if we can reset</a:t>
                      </a:r>
                    </a:p>
                    <a:p>
                      <a:pPr algn="l">
                        <a:lnSpc>
                          <a:spcPct val="106000"/>
                        </a:lnSpc>
                        <a:spcAft>
                          <a:spcPts val="0"/>
                        </a:spcAft>
                      </a:pPr>
                      <a:r>
                        <a:rPr sz="1100" b="0">
                          <a:solidFill>
                            <a:srgbClr val="333333"/>
                          </a:solidFill>
                          <a:latin typeface="Courier New"/>
                        </a:rPr>
                        <a:t>// yaw to resolve the issue</a:t>
                      </a:r>
                    </a:p>
                    <a:p>
                      <a:pPr algn="l">
                        <a:lnSpc>
                          <a:spcPct val="106000"/>
                        </a:lnSpc>
                        <a:spcAft>
                          <a:spcPts val="0"/>
                        </a:spcAft>
                      </a:pPr>
                      <a:r>
                        <a:rPr sz="1100" b="0">
                          <a:solidFill>
                            <a:srgbClr val="333333"/>
                          </a:solidFill>
                          <a:latin typeface="Courier New"/>
                        </a:rPr>
                        <a:t>ahrs.request_yaw_reset();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Code Snippet (continued)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Courier New"/>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Rover::ekf_over_threshold()</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 use EKF to get variance</a:t>
                      </a:r>
                    </a:p>
                    <a:p>
                      <a:pPr algn="l">
                        <a:lnSpc>
                          <a:spcPct val="106000"/>
                        </a:lnSpc>
                        <a:spcAft>
                          <a:spcPts val="0"/>
                        </a:spcAft>
                      </a:pPr>
                      <a:r>
                        <a:rPr sz="1100" b="0">
                          <a:solidFill>
                            <a:srgbClr val="333333"/>
                          </a:solidFill>
                          <a:latin typeface="Courier New"/>
                        </a:rPr>
                        <a:t>float position_variance, vel_variance, height_variance, tas_variance;</a:t>
                      </a:r>
                    </a:p>
                    <a:p>
                      <a:pPr algn="l">
                        <a:lnSpc>
                          <a:spcPct val="106000"/>
                        </a:lnSpc>
                        <a:spcAft>
                          <a:spcPts val="0"/>
                        </a:spcAft>
                      </a:pPr>
                      <a:r>
                        <a:rPr sz="1100" b="0">
                          <a:solidFill>
                            <a:srgbClr val="333333"/>
                          </a:solidFill>
                          <a:latin typeface="Courier New"/>
                        </a:rPr>
                        <a:t>Vector3f mag_variance;</a:t>
                      </a:r>
                    </a:p>
                    <a:p>
                      <a:pPr algn="l">
                        <a:lnSpc>
                          <a:spcPct val="106000"/>
                        </a:lnSpc>
                        <a:spcAft>
                          <a:spcPts val="0"/>
                        </a:spcAft>
                      </a:pPr>
                      <a:r>
                        <a:rPr sz="1100" b="0">
                          <a:solidFill>
                            <a:srgbClr val="333333"/>
                          </a:solidFill>
                          <a:latin typeface="Courier New"/>
                        </a:rPr>
                        <a:t>ahrs.get_variances(vel_variance, position_variance, height_variance, mag_variance, tas_variance);</a:t>
                      </a:r>
                    </a:p>
                    <a:p>
                      <a:pPr algn="l">
                        <a:lnSpc>
                          <a:spcPct val="106000"/>
                        </a:lnSpc>
                        <a:spcAft>
                          <a:spcPts val="0"/>
                        </a:spcAft>
                      </a:pPr>
                      <a:r>
                        <a:rPr sz="1100" b="0">
                          <a:solidFill>
                            <a:srgbClr val="333333"/>
                          </a:solidFill>
                          <a:latin typeface="Courier New"/>
                        </a:rPr>
                        <a:t>// return true if two of compass, velocity and position variances are over the threshold</a:t>
                      </a:r>
                    </a:p>
                    <a:p>
                      <a:pPr algn="l">
                        <a:lnSpc>
                          <a:spcPct val="106000"/>
                        </a:lnSpc>
                        <a:spcAft>
                          <a:spcPts val="0"/>
                        </a:spcAft>
                      </a:pPr>
                      <a:r>
                        <a:rPr sz="1100" b="0">
                          <a:solidFill>
                            <a:srgbClr val="333333"/>
                          </a:solidFill>
                          <a:latin typeface="Courier New"/>
                        </a:rPr>
                        <a:t>uint8_t over_thresh_count = 0;</a:t>
                      </a:r>
                    </a:p>
                    <a:p>
                      <a:pPr algn="l">
                        <a:lnSpc>
                          <a:spcPct val="106000"/>
                        </a:lnSpc>
                        <a:spcAft>
                          <a:spcPts val="0"/>
                        </a:spcAft>
                      </a:pPr>
                      <a:r>
                        <a:rPr sz="1100" b="0">
                          <a:solidFill>
                            <a:srgbClr val="333333"/>
                          </a:solidFill>
                          <a:latin typeface="Courier New"/>
                        </a:rPr>
                        <a:t>if (mag_variance.length() &gt;= g.fs_ekf_thresh) {</a:t>
                      </a:r>
                    </a:p>
                    <a:p>
                      <a:pPr algn="l">
                        <a:lnSpc>
                          <a:spcPct val="106000"/>
                        </a:lnSpc>
                        <a:spcAft>
                          <a:spcPts val="0"/>
                        </a:spcAft>
                      </a:pPr>
                      <a:r>
                        <a:rPr sz="1100" b="0">
                          <a:solidFill>
                            <a:srgbClr val="333333"/>
                          </a:solidFill>
                          <a:latin typeface="Courier New"/>
                        </a:rPr>
                        <a:t>over_thresh_count++;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Courier New"/>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Sub::failsafe_ekf_check()</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Vector3f magVar;</a:t>
                      </a:r>
                    </a:p>
                    <a:p>
                      <a:pPr algn="l">
                        <a:lnSpc>
                          <a:spcPct val="106000"/>
                        </a:lnSpc>
                        <a:spcAft>
                          <a:spcPts val="0"/>
                        </a:spcAft>
                      </a:pPr>
                      <a:r>
                        <a:rPr sz="1100" b="0">
                          <a:solidFill>
                            <a:srgbClr val="333333"/>
                          </a:solidFill>
                          <a:latin typeface="Courier New"/>
                        </a:rPr>
                        <a:t>float compass_variance;</a:t>
                      </a:r>
                    </a:p>
                    <a:p>
                      <a:pPr algn="l">
                        <a:lnSpc>
                          <a:spcPct val="106000"/>
                        </a:lnSpc>
                        <a:spcAft>
                          <a:spcPts val="0"/>
                        </a:spcAft>
                      </a:pPr>
                      <a:r>
                        <a:rPr sz="1100" b="0">
                          <a:solidFill>
                            <a:srgbClr val="333333"/>
                          </a:solidFill>
                          <a:latin typeface="Courier New"/>
                        </a:rPr>
                        <a:t>float vel_variance;</a:t>
                      </a:r>
                    </a:p>
                    <a:p>
                      <a:pPr algn="l">
                        <a:lnSpc>
                          <a:spcPct val="106000"/>
                        </a:lnSpc>
                        <a:spcAft>
                          <a:spcPts val="0"/>
                        </a:spcAft>
                      </a:pPr>
                      <a:r>
                        <a:rPr sz="1100" b="0">
                          <a:solidFill>
                            <a:srgbClr val="333333"/>
                          </a:solidFill>
                          <a:latin typeface="Courier New"/>
                        </a:rPr>
                        <a:t>ahrs.get_variances(vel_variance, posVar, hgtVar, magVar, tasVar);</a:t>
                      </a:r>
                    </a:p>
                    <a:p>
                      <a:pPr algn="l">
                        <a:lnSpc>
                          <a:spcPct val="106000"/>
                        </a:lnSpc>
                        <a:spcAft>
                          <a:spcPts val="0"/>
                        </a:spcAft>
                      </a:pPr>
                      <a:r>
                        <a:rPr sz="1100" b="0">
                          <a:solidFill>
                            <a:srgbClr val="333333"/>
                          </a:solidFill>
                          <a:latin typeface="Courier New"/>
                        </a:rPr>
                        <a:t>compass_variance = magVar.length();</a:t>
                      </a:r>
                    </a:p>
                    <a:p>
                      <a:pPr algn="l">
                        <a:lnSpc>
                          <a:spcPct val="106000"/>
                        </a:lnSpc>
                        <a:spcAft>
                          <a:spcPts val="0"/>
                        </a:spcAft>
                      </a:pPr>
                      <a:r>
                        <a:rPr sz="1100" b="0">
                          <a:solidFill>
                            <a:srgbClr val="333333"/>
                          </a:solidFill>
                          <a:latin typeface="Courier New"/>
                        </a:rPr>
                        <a:t>if (compass_variance &lt; g.fs_ekf_thresh &amp;&amp; vel_variance &lt; g.fs_ekf_thresh) {</a:t>
                      </a:r>
                    </a:p>
                    <a:p>
                      <a:pPr algn="l">
                        <a:lnSpc>
                          <a:spcPct val="106000"/>
                        </a:lnSpc>
                        <a:spcAft>
                          <a:spcPts val="0"/>
                        </a:spcAft>
                      </a:pPr>
                      <a:r>
                        <a:rPr sz="1100" b="0">
                          <a:solidFill>
                            <a:srgbClr val="333333"/>
                          </a:solidFill>
                          <a:latin typeface="Courier New"/>
                        </a:rPr>
                        <a:t>last_ekf_good_ms = AP_HAL::millis();</a:t>
                      </a:r>
                    </a:p>
                    <a:p>
                      <a:pPr algn="l">
                        <a:lnSpc>
                          <a:spcPct val="106000"/>
                        </a:lnSpc>
                        <a:spcAft>
                          <a:spcPts val="0"/>
                        </a:spcAft>
                      </a:pPr>
                      <a:r>
                        <a:rPr sz="1100" b="0">
                          <a:solidFill>
                            <a:srgbClr val="333333"/>
                          </a:solidFill>
                          <a:latin typeface="Courier New"/>
                        </a:rPr>
                        <a:t>failsafe.ekf = false;</a:t>
                      </a:r>
                    </a:p>
                    <a:p>
                      <a:pPr algn="l">
                        <a:lnSpc>
                          <a:spcPct val="106000"/>
                        </a:lnSpc>
                        <a:spcAft>
                          <a:spcPts val="0"/>
                        </a:spcAft>
                      </a:pPr>
                      <a:r>
                        <a:rPr sz="1100" b="0">
                          <a:solidFill>
                            <a:srgbClr val="333333"/>
                          </a:solidFill>
                          <a:latin typeface="Courier New"/>
                        </a:rPr>
                        <a:t>AP_Notify::flags.ekf_bad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Code Snippet (continued)</a:t>
            </a:r>
          </a:p>
        </p:txBody>
      </p:sp>
      <p:graphicFrame>
        <p:nvGraphicFramePr>
          <p:cNvPr id="6" name="Table 5"/>
          <p:cNvGraphicFramePr>
            <a:graphicFrameLocks noGrp="1"/>
          </p:cNvGraphicFramePr>
          <p:nvPr/>
        </p:nvGraphicFramePr>
        <p:xfrm>
          <a:off x="566928" y="1591056"/>
          <a:ext cx="11058144" cy="339228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Courier New"/>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Copter::crash_check() (attitude)</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 check for lean angle over 15 degrees</a:t>
                      </a:r>
                    </a:p>
                    <a:p>
                      <a:pPr algn="l">
                        <a:lnSpc>
                          <a:spcPct val="106000"/>
                        </a:lnSpc>
                        <a:spcAft>
                          <a:spcPts val="0"/>
                        </a:spcAft>
                      </a:pPr>
                      <a:r>
                        <a:rPr sz="1100" b="0">
                          <a:solidFill>
                            <a:srgbClr val="333333"/>
                          </a:solidFill>
                          <a:latin typeface="Courier New"/>
                        </a:rPr>
                        <a:t>const float lean_angle_deg = degrees(acosf(ahrs.cos_roll()*ahrs.cos_pitch()));</a:t>
                      </a:r>
                    </a:p>
                    <a:p>
                      <a:pPr algn="l">
                        <a:lnSpc>
                          <a:spcPct val="106000"/>
                        </a:lnSpc>
                        <a:spcAft>
                          <a:spcPts val="0"/>
                        </a:spcAft>
                      </a:pPr>
                      <a:r>
                        <a:rPr sz="1100" b="0">
                          <a:solidFill>
                            <a:srgbClr val="333333"/>
                          </a:solidFill>
                          <a:latin typeface="Courier New"/>
                        </a:rPr>
                        <a:t>if (lean_angle_deg &lt;= CRASH_CHECK_ANGLE_MIN_DEG) {</a:t>
                      </a:r>
                    </a:p>
                    <a:p>
                      <a:pPr algn="l">
                        <a:lnSpc>
                          <a:spcPct val="106000"/>
                        </a:lnSpc>
                        <a:spcAft>
                          <a:spcPts val="0"/>
                        </a:spcAft>
                      </a:pPr>
                      <a:r>
                        <a:rPr sz="1100" b="0">
                          <a:solidFill>
                            <a:srgbClr val="333333"/>
                          </a:solidFill>
                          <a:latin typeface="Courier New"/>
                        </a:rPr>
                        <a:t>crash_counter = 0;</a:t>
                      </a:r>
                    </a:p>
                    <a:p>
                      <a:pPr algn="l">
                        <a:lnSpc>
                          <a:spcPct val="106000"/>
                        </a:lnSpc>
                        <a:spcAft>
                          <a:spcPts val="0"/>
                        </a:spcAft>
                      </a:pPr>
                      <a:r>
                        <a:rPr sz="1100" b="0">
                          <a:solidFill>
                            <a:srgbClr val="333333"/>
                          </a:solidFill>
                          <a:latin typeface="Courier New"/>
                        </a:rPr>
                        <a:t>return;</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check for angle error over 30 degrees</a:t>
                      </a:r>
                    </a:p>
                    <a:p>
                      <a:pPr algn="l">
                        <a:lnSpc>
                          <a:spcPct val="106000"/>
                        </a:lnSpc>
                        <a:spcAft>
                          <a:spcPts val="0"/>
                        </a:spcAft>
                      </a:pPr>
                      <a:r>
                        <a:rPr sz="1100" b="0">
                          <a:solidFill>
                            <a:srgbClr val="333333"/>
                          </a:solidFill>
                          <a:latin typeface="Courier New"/>
                        </a:rPr>
                        <a:t>const float angle_error = attitude_control-&gt;get_att_error_angle_deg();</a:t>
                      </a:r>
                    </a:p>
                    <a:p>
                      <a:pPr algn="l">
                        <a:lnSpc>
                          <a:spcPct val="106000"/>
                        </a:lnSpc>
                        <a:spcAft>
                          <a:spcPts val="0"/>
                        </a:spcAft>
                      </a:pPr>
                      <a:r>
                        <a:rPr sz="1100" b="0">
                          <a:solidFill>
                            <a:srgbClr val="333333"/>
                          </a:solidFill>
                          <a:latin typeface="Courier New"/>
                        </a:rPr>
                        <a:t>if (angle_error &lt;= CRASH_CHECK_ANGLE_DEVIATION_DEG)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9483">
                <a:tc>
                  <a:txBody>
                    <a:bodyPr wrap="square">
                      <a:noAutofit/>
                    </a:bodyPr>
                    <a:lstStyle/>
                    <a:p>
                      <a:pPr algn="r">
                        <a:lnSpc>
                          <a:spcPct val="106000"/>
                        </a:lnSpc>
                        <a:spcAft>
                          <a:spcPts val="0"/>
                        </a:spcAft>
                      </a:pPr>
                      <a:r>
                        <a:rPr sz="1100" b="1">
                          <a:solidFill>
                            <a:srgbClr val="333333"/>
                          </a:solidFill>
                          <a:latin typeface="Courier New"/>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Copter::crash_check() (velocity)</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 check for speed under 10m/s (if available)</a:t>
                      </a:r>
                    </a:p>
                    <a:p>
                      <a:pPr algn="l">
                        <a:lnSpc>
                          <a:spcPct val="106000"/>
                        </a:lnSpc>
                        <a:spcAft>
                          <a:spcPts val="0"/>
                        </a:spcAft>
                      </a:pPr>
                      <a:r>
                        <a:rPr sz="1100" b="0">
                          <a:solidFill>
                            <a:srgbClr val="333333"/>
                          </a:solidFill>
                          <a:latin typeface="Courier New"/>
                        </a:rPr>
                        <a:t>Vector3f vel_ned;</a:t>
                      </a:r>
                    </a:p>
                    <a:p>
                      <a:pPr algn="l">
                        <a:lnSpc>
                          <a:spcPct val="106000"/>
                        </a:lnSpc>
                        <a:spcAft>
                          <a:spcPts val="0"/>
                        </a:spcAft>
                      </a:pPr>
                      <a:r>
                        <a:rPr sz="1100" b="0">
                          <a:solidFill>
                            <a:srgbClr val="333333"/>
                          </a:solidFill>
                          <a:latin typeface="Courier New"/>
                        </a:rPr>
                        <a:t>if (ahrs.get_velocity_NED(vel_ned) &amp;&amp; (vel_ned.length() &gt;= CRASH_CHECK_SPEED_MAX)) {</a:t>
                      </a:r>
                    </a:p>
                    <a:p>
                      <a:pPr algn="l">
                        <a:lnSpc>
                          <a:spcPct val="106000"/>
                        </a:lnSpc>
                        <a:spcAft>
                          <a:spcPts val="0"/>
                        </a:spcAft>
                      </a:pPr>
                      <a:r>
                        <a:rPr sz="1100" b="0">
                          <a:solidFill>
                            <a:srgbClr val="333333"/>
                          </a:solidFill>
                          <a:latin typeface="Courier New"/>
                        </a:rPr>
                        <a:t>crash_counter = 0;</a:t>
                      </a:r>
                    </a:p>
                    <a:p>
                      <a:pPr algn="l">
                        <a:lnSpc>
                          <a:spcPct val="106000"/>
                        </a:lnSpc>
                        <a:spcAft>
                          <a:spcPts val="0"/>
                        </a:spcAft>
                      </a:pPr>
                      <a:r>
                        <a:rPr sz="1100" b="0">
                          <a:solidFill>
                            <a:srgbClr val="333333"/>
                          </a:solidFill>
                          <a:latin typeface="Courier New"/>
                        </a:rPr>
                        <a:t>return;</a:t>
                      </a:r>
                    </a:p>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Code Snippet (continued)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Courier New"/>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GCS_MAVLINK_Plane::send_nav_controller_output()</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void GCS_MAVLINK_Plane::send_nav_controller_output() const</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if (plane.control_mode == &amp;plane.mode_manual) {</a:t>
                      </a:r>
                    </a:p>
                    <a:p>
                      <a:pPr algn="l">
                        <a:lnSpc>
                          <a:spcPct val="106000"/>
                        </a:lnSpc>
                        <a:spcAft>
                          <a:spcPts val="0"/>
                        </a:spcAft>
                      </a:pPr>
                      <a:r>
                        <a:rPr sz="1100" b="0">
                          <a:solidFill>
                            <a:srgbClr val="333333"/>
                          </a:solidFill>
                          <a:latin typeface="Courier New"/>
                        </a:rPr>
                        <a:t>return;</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#if HAL_QUADPLANE_ENABLED</a:t>
                      </a:r>
                    </a:p>
                    <a:p>
                      <a:pPr algn="l">
                        <a:lnSpc>
                          <a:spcPct val="106000"/>
                        </a:lnSpc>
                        <a:spcAft>
                          <a:spcPts val="0"/>
                        </a:spcAft>
                      </a:pPr>
                      <a:r>
                        <a:rPr sz="1100" b="0">
                          <a:solidFill>
                            <a:srgbClr val="333333"/>
                          </a:solidFill>
                          <a:latin typeface="Courier New"/>
                        </a:rPr>
                        <a:t>const QuadPlane &amp;quadplane = plane.quadplane;</a:t>
                      </a:r>
                    </a:p>
                    <a:p>
                      <a:pPr algn="l">
                        <a:lnSpc>
                          <a:spcPct val="106000"/>
                        </a:lnSpc>
                        <a:spcAft>
                          <a:spcPts val="0"/>
                        </a:spcAft>
                      </a:pPr>
                      <a:r>
                        <a:rPr sz="1100" b="0">
                          <a:solidFill>
                            <a:srgbClr val="333333"/>
                          </a:solidFill>
                          <a:latin typeface="Courier New"/>
                        </a:rPr>
                        <a:t>if (quadplane.show_vtol_view() &amp;&amp; quadplane.using_wp_nav()) {</a:t>
                      </a:r>
                    </a:p>
                    <a:p>
                      <a:pPr algn="l">
                        <a:lnSpc>
                          <a:spcPct val="106000"/>
                        </a:lnSpc>
                        <a:spcAft>
                          <a:spcPts val="0"/>
                        </a:spcAft>
                      </a:pPr>
                      <a:r>
                        <a:rPr sz="1100" b="0">
                          <a:solidFill>
                            <a:srgbClr val="333333"/>
                          </a:solidFill>
                          <a:latin typeface="Courier New"/>
                        </a:rPr>
                        <a:t>const Vector3f &amp;targets = quadplane.attitude_control-&gt;get_att_target_euler_cd();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Courier New"/>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Plane::calc_nav_roll()</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calculate a new nav_roll_cd from the navigation controller</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void Plane::calc_nav_roll()</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int32_t commanded_roll = nav_controller-&gt;nav_roll_cd();</a:t>
                      </a:r>
                    </a:p>
                    <a:p>
                      <a:pPr algn="l">
                        <a:lnSpc>
                          <a:spcPct val="106000"/>
                        </a:lnSpc>
                        <a:spcAft>
                          <a:spcPts val="0"/>
                        </a:spcAft>
                      </a:pPr>
                      <a:r>
                        <a:rPr sz="1100" b="0">
                          <a:solidFill>
                            <a:srgbClr val="333333"/>
                          </a:solidFill>
                          <a:latin typeface="Courier New"/>
                        </a:rPr>
                        <a:t>nav_roll_cd = constrain_int32(commanded_roll, -roll_limit_cd,</a:t>
                      </a:r>
                    </a:p>
                    <a:p>
                      <a:pPr algn="l">
                        <a:lnSpc>
                          <a:spcPct val="106000"/>
                        </a:lnSpc>
                        <a:spcAft>
                          <a:spcPts val="0"/>
                        </a:spcAft>
                      </a:pPr>
                      <a:r>
                        <a:rPr sz="1100" b="0">
                          <a:solidFill>
                            <a:srgbClr val="333333"/>
                          </a:solidFill>
                          <a:latin typeface="Courier New"/>
                        </a:rPr>
                        <a:t>roll_limit_cd);</a:t>
                      </a:r>
                    </a:p>
                    <a:p>
                      <a:pPr algn="l">
                        <a:lnSpc>
                          <a:spcPct val="106000"/>
                        </a:lnSpc>
                        <a:spcAft>
                          <a:spcPts val="0"/>
                        </a:spcAft>
                      </a:pPr>
                      <a:r>
                        <a:rPr sz="1100" b="0">
                          <a:solidFill>
                            <a:srgbClr val="333333"/>
                          </a:solidFill>
                          <a:latin typeface="Courier New"/>
                        </a:rPr>
                        <a:t>update_load_factor();</a:t>
                      </a:r>
                    </a:p>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Code Snippet (continued)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Plane::navigate()</a:t>
                      </a:r>
                      <a:r>
                        <a:rPr sz="1100" b="0">
                          <a:solidFill>
                            <a:srgbClr val="999999"/>
                          </a:solidFill>
                          <a:latin typeface="Courier New"/>
                        </a:rPr>
                        <a:t>  ·  </a:t>
                      </a:r>
                      <a:r>
                        <a:rPr sz="1100" b="0">
                          <a:solidFill>
                            <a:srgbClr val="999999"/>
                          </a:solidFill>
                          <a:latin typeface="Courier New"/>
                        </a:rPr>
                        <a:t>Data dependency</a:t>
                      </a:r>
                    </a:p>
                    <a:p>
                      <a:pPr algn="l">
                        <a:lnSpc>
                          <a:spcPct val="106000"/>
                        </a:lnSpc>
                        <a:spcAft>
                          <a:spcPts val="0"/>
                        </a:spcAft>
                      </a:pPr>
                      <a:r>
                        <a:rPr sz="1100" b="0">
                          <a:solidFill>
                            <a:srgbClr val="333333"/>
                          </a:solidFill>
                          <a:latin typeface="Courier New"/>
                        </a:rPr>
                        <a:t>void Plane::navigate()</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do not navigate with corrupt data</a:t>
                      </a:r>
                    </a:p>
                    <a:p>
                      <a:pPr algn="l">
                        <a:lnSpc>
                          <a:spcPct val="106000"/>
                        </a:lnSpc>
                        <a:spcAft>
                          <a:spcPts val="0"/>
                        </a:spcAft>
                      </a:pPr>
                      <a:r>
                        <a:rPr sz="1100" b="0">
                          <a:solidFill>
                            <a:srgbClr val="333333"/>
                          </a:solidFill>
                          <a:latin typeface="Courier New"/>
                        </a:rPr>
                        <a:t>// ---------------------------------</a:t>
                      </a:r>
                    </a:p>
                    <a:p>
                      <a:pPr algn="l">
                        <a:lnSpc>
                          <a:spcPct val="106000"/>
                        </a:lnSpc>
                        <a:spcAft>
                          <a:spcPts val="0"/>
                        </a:spcAft>
                      </a:pPr>
                      <a:r>
                        <a:rPr sz="1100" b="0">
                          <a:solidFill>
                            <a:srgbClr val="333333"/>
                          </a:solidFill>
                          <a:latin typeface="Courier New"/>
                        </a:rPr>
                        <a:t>if (!have_position) {</a:t>
                      </a:r>
                    </a:p>
                    <a:p>
                      <a:pPr algn="l">
                        <a:lnSpc>
                          <a:spcPct val="106000"/>
                        </a:lnSpc>
                        <a:spcAft>
                          <a:spcPts val="0"/>
                        </a:spcAft>
                      </a:pPr>
                      <a:r>
                        <a:rPr sz="1100" b="0">
                          <a:solidFill>
                            <a:srgbClr val="333333"/>
                          </a:solidFill>
                          <a:latin typeface="Courier New"/>
                        </a:rPr>
                        <a:t>return;</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if (next_WP_loc.lat == 0 &amp;&amp; next_WP_loc.lng == 0)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Plane::calc_gndspeed_undershoot()</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Vector3f velNED;</a:t>
                      </a:r>
                    </a:p>
                    <a:p>
                      <a:pPr algn="l">
                        <a:lnSpc>
                          <a:spcPct val="106000"/>
                        </a:lnSpc>
                        <a:spcAft>
                          <a:spcPts val="0"/>
                        </a:spcAft>
                      </a:pPr>
                      <a:r>
                        <a:rPr sz="1100" b="0">
                          <a:solidFill>
                            <a:srgbClr val="333333"/>
                          </a:solidFill>
                          <a:latin typeface="Courier New"/>
                        </a:rPr>
                        <a:t>if (ahrs.have_inertial_nav() &amp;&amp; ahrs.get_velocity_NED(velNED))</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const Matrix3f &amp;rotMat = ahrs.get_rotation_body_to_ned();</a:t>
                      </a:r>
                    </a:p>
                    <a:p>
                      <a:pPr algn="l">
                        <a:lnSpc>
                          <a:spcPct val="106000"/>
                        </a:lnSpc>
                        <a:spcAft>
                          <a:spcPts val="0"/>
                        </a:spcAft>
                      </a:pPr>
                      <a:r>
                        <a:rPr sz="1100" b="0">
                          <a:solidFill>
                            <a:srgbClr val="333333"/>
                          </a:solidFill>
                          <a:latin typeface="Courier New"/>
                        </a:rPr>
                        <a:t>Vector2f yawVect = Vector2f(rotMat.a.x,rotMat.b.x);</a:t>
                      </a:r>
                    </a:p>
                    <a:p>
                      <a:pPr algn="l">
                        <a:lnSpc>
                          <a:spcPct val="106000"/>
                        </a:lnSpc>
                        <a:spcAft>
                          <a:spcPts val="0"/>
                        </a:spcAft>
                      </a:pPr>
                      <a:r>
                        <a:rPr sz="1100" b="0">
                          <a:solidFill>
                            <a:srgbClr val="333333"/>
                          </a:solidFill>
                          <a:latin typeface="Courier New"/>
                        </a:rPr>
                        <a:t>if (!yawVect.is_zero()) {</a:t>
                      </a:r>
                    </a:p>
                    <a:p>
                      <a:pPr algn="l">
                        <a:lnSpc>
                          <a:spcPct val="106000"/>
                        </a:lnSpc>
                        <a:spcAft>
                          <a:spcPts val="0"/>
                        </a:spcAft>
                      </a:pPr>
                      <a:r>
                        <a:rPr sz="1100" b="0">
                          <a:solidFill>
                            <a:srgbClr val="333333"/>
                          </a:solidFill>
                          <a:latin typeface="Courier New"/>
                        </a:rPr>
                        <a:t>yawVect.normalize();</a:t>
                      </a:r>
                    </a:p>
                    <a:p>
                      <a:pPr algn="l">
                        <a:lnSpc>
                          <a:spcPct val="106000"/>
                        </a:lnSpc>
                        <a:spcAft>
                          <a:spcPts val="0"/>
                        </a:spcAft>
                      </a:pPr>
                      <a:r>
                        <a:rPr sz="1100" b="0">
                          <a:solidFill>
                            <a:srgbClr val="333333"/>
                          </a:solidFill>
                          <a:latin typeface="Courier New"/>
                        </a:rPr>
                        <a:t>float gndSpdFwd = yawVect * velNED.xy();</a:t>
                      </a:r>
                    </a:p>
                    <a:p>
                      <a:pPr algn="l">
                        <a:lnSpc>
                          <a:spcPct val="106000"/>
                        </a:lnSpc>
                        <a:spcAft>
                          <a:spcPts val="0"/>
                        </a:spcAft>
                      </a:pPr>
                      <a:r>
                        <a:rPr sz="1100" b="0">
                          <a:solidFill>
                            <a:srgbClr val="333333"/>
                          </a:solidFill>
                          <a:latin typeface="Courier New"/>
                        </a:rPr>
                        <a:t>groundspeed_undershoot_is_valid = aparm.min_groundspeed &gt; 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2,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2 transitive chains</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5a: Layer 2 — full transitive chain, final consumer &amp; hop depth</a:t>
            </a:r>
          </a:p>
        </p:txBody>
      </p:sp>
      <p:graphicFrame>
        <p:nvGraphicFramePr>
          <p:cNvPr id="7" name="Table 6"/>
          <p:cNvGraphicFramePr>
            <a:graphicFrameLocks noGrp="1"/>
          </p:cNvGraphicFramePr>
          <p:nvPr/>
        </p:nvGraphicFramePr>
        <p:xfrm>
          <a:off x="566928" y="1906943"/>
          <a:ext cx="11058144" cy="3573780"/>
        </p:xfrm>
        <a:graphic>
          <a:graphicData uri="http://schemas.openxmlformats.org/drawingml/2006/table">
            <a:tbl>
              <a:tblPr>
                <a:tableStyleId>{5C22544A-7EE6-4342-B048-85BDC9FD1C3A}</a:tableStyleId>
              </a:tblPr>
              <a:tblGrid>
                <a:gridCol w="352425"/>
                <a:gridCol w="2653030"/>
                <a:gridCol w="3670300"/>
                <a:gridCol w="1309370"/>
                <a:gridCol w="586740"/>
                <a:gridCol w="2486025"/>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6830">
                <a:tc>
                  <a:txBody>
                    <a:bodyPr wrap="square">
                      <a:noAutofit/>
                    </a:bodyPr>
                    <a:lstStyle/>
                    <a:p>
                      <a:pPr algn="r">
                        <a:lnSpc>
                          <a:spcPct val="106000"/>
                        </a:lnSpc>
                        <a:spcAft>
                          <a:spcPts val="0"/>
                        </a:spcAft>
                      </a:pPr>
                      <a:r>
                        <a:rPr sz="1100" b="1">
                          <a:solidFill>
                            <a:srgbClr val="333333"/>
                          </a:solidFill>
                          <a:latin typeface="Courier New"/>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EKF variances (via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AP_GPS/EKF → ahrs.get_variances() → ekf_over_threshold() → Copter::ekf_check fail_count → failsafe_ekf_event() → LAND/AltHold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EKF failsafe action (LAND)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r">
                        <a:lnSpc>
                          <a:spcPct val="106000"/>
                        </a:lnSpc>
                        <a:spcAft>
                          <a:spcPts val="0"/>
                        </a:spcAft>
                      </a:pPr>
                      <a:r>
                        <a:rPr sz="1100" b="1">
                          <a:solidFill>
                            <a:srgbClr val="333333"/>
                          </a:solidFill>
                          <a:latin typeface="Courier New"/>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EKF variances (Plane)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EKF variances → Plane::ekf_check → bad_variance → EKF failsafe → mode change (RTL/FBWA)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Plane EKF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mirrors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Courier New"/>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EKF variances (Rover)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EKF variances → Rover::ekf_over_threshold → Rover::ekf_check → EKF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Rover EKF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mirrors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EKF variances (Sub)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EKF variances → Sub::failsafe_ekf_check → failsafe.ekf flag → GCS warn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Sub EKF failsafe flag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mirrors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Courier New"/>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AP_AHRS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AHRS attitude → crash_check attitude test → crash_counter → arming.disarm()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motor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Attitude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5786351"/>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2,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2 transitive chains (continued)</a:t>
            </a:r>
          </a:p>
        </p:txBody>
      </p:sp>
      <p:graphicFrame>
        <p:nvGraphicFramePr>
          <p:cNvPr id="6" name="Table 5"/>
          <p:cNvGraphicFramePr>
            <a:graphicFrameLocks noGrp="1"/>
          </p:cNvGraphicFramePr>
          <p:nvPr/>
        </p:nvGraphicFramePr>
        <p:xfrm>
          <a:off x="566928" y="1591056"/>
          <a:ext cx="11058144" cy="4107180"/>
        </p:xfrm>
        <a:graphic>
          <a:graphicData uri="http://schemas.openxmlformats.org/drawingml/2006/table">
            <a:tbl>
              <a:tblPr>
                <a:tableStyleId>{5C22544A-7EE6-4342-B048-85BDC9FD1C3A}</a:tableStyleId>
              </a:tblPr>
              <a:tblGrid>
                <a:gridCol w="352425"/>
                <a:gridCol w="2653030"/>
                <a:gridCol w="3670300"/>
                <a:gridCol w="1309370"/>
                <a:gridCol w="586740"/>
                <a:gridCol w="2486025"/>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30">
                <a:tc>
                  <a:txBody>
                    <a:bodyPr wrap="square">
                      <a:noAutofit/>
                    </a:bodyPr>
                    <a:lstStyle/>
                    <a:p>
                      <a:pPr algn="r">
                        <a:lnSpc>
                          <a:spcPct val="106000"/>
                        </a:lnSpc>
                        <a:spcAft>
                          <a:spcPts val="0"/>
                        </a:spcAft>
                      </a:pPr>
                      <a:r>
                        <a:rPr sz="1100" b="1">
                          <a:solidFill>
                            <a:srgbClr val="333333"/>
                          </a:solidFill>
                          <a:latin typeface="Courier New"/>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AP_AHRS NED 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EKF velocity → ahrs.get_velocity_NED() → crash_check speed test → crash_counter → arming.disarm()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motor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Velocity branch (F3 split).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r">
                        <a:lnSpc>
                          <a:spcPct val="106000"/>
                        </a:lnSpc>
                        <a:spcAft>
                          <a:spcPts val="0"/>
                        </a:spcAft>
                      </a:pPr>
                      <a:r>
                        <a:rPr sz="1100" b="1">
                          <a:solidFill>
                            <a:srgbClr val="333333"/>
                          </a:solidFill>
                          <a:latin typeface="Courier New"/>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Navigation controller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EKF/nav state → nav_controller → send_nav_controller_output → MAVLink → GCS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GCS 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Reporting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r">
                        <a:lnSpc>
                          <a:spcPct val="106000"/>
                        </a:lnSpc>
                        <a:spcAft>
                          <a:spcPts val="0"/>
                        </a:spcAft>
                      </a:pPr>
                      <a:r>
                        <a:rPr sz="1100" b="1">
                          <a:solidFill>
                            <a:srgbClr val="333333"/>
                          </a:solidFill>
                          <a:latin typeface="Courier New"/>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Navigation controller roll demand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nav_controller (L1/EKF) → nav_roll_cd() → calc_nav_roll → nav_roll_cd → attitude controller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Roll-demand consumption.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430">
                <a:tc>
                  <a:txBody>
                    <a:bodyPr wrap="square">
                      <a:noAutofit/>
                    </a:bodyPr>
                    <a:lstStyle/>
                    <a:p>
                      <a:pPr algn="r">
                        <a:lnSpc>
                          <a:spcPct val="106000"/>
                        </a:lnSpc>
                        <a:spcAft>
                          <a:spcPts val="0"/>
                        </a:spcAft>
                      </a:pPr>
                      <a:r>
                        <a:rPr sz="1100" b="1">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EKF position validity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EKF position → have_position → Plane::navigate → nav_controller-&gt;update_waypoint → calc_nav_roll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Real symbol behind user-example chain (Table 2a L2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129030">
                <a:tc>
                  <a:txBody>
                    <a:bodyPr wrap="square">
                      <a:noAutofit/>
                    </a:bodyPr>
                    <a:lstStyle/>
                    <a:p>
                      <a:pPr algn="r">
                        <a:lnSpc>
                          <a:spcPct val="106000"/>
                        </a:lnSpc>
                        <a:spcAft>
                          <a:spcPts val="0"/>
                        </a:spcAft>
                      </a:pPr>
                      <a:r>
                        <a:rPr sz="1100" b="1">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AP_AHRS::have_inertial_nav() (inertial-nav availability)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AP_AHRS::have_inertial_nav() → Plane::calc_gndspeed_undershoot() [ArduPlane/navigation.cpp:305] → Plane::update_GPS_10Hz() [ArduPlane/Plane.cpp:490]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Plane::update_GPS_10Hz() (groundspeed-undershoot nav compensation)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User-example ahrs.have_inertial_nav() observation gating nav groundspeed compensation.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826760"/>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6–10</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6 — Indirect Timing</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Timing read as a permission: main-loop lockup watchdogs and the rate gates around them.</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11 catalogued rows, with every Notes annotation, flag token and cited path:line range exactly as printed.</a:t>
            </a:r>
          </a:p>
        </p:txBody>
      </p:sp>
      <p:graphicFrame>
        <p:nvGraphicFramePr>
          <p:cNvPr id="7" name="Table 6"/>
          <p:cNvGraphicFramePr>
            <a:graphicFrameLocks noGrp="1"/>
          </p:cNvGraphicFramePr>
          <p:nvPr/>
        </p:nvGraphicFramePr>
        <p:xfrm>
          <a:off x="566928" y="1906943"/>
          <a:ext cx="11058144" cy="2613660"/>
        </p:xfrm>
        <a:graphic>
          <a:graphicData uri="http://schemas.openxmlformats.org/drawingml/2006/table">
            <a:tbl>
              <a:tblPr>
                <a:tableStyleId>{5C22544A-7EE6-4342-B048-85BDC9FD1C3A}</a:tableStyleId>
              </a:tblPr>
              <a:tblGrid>
                <a:gridCol w="2851785"/>
                <a:gridCol w="1327150"/>
                <a:gridCol w="2122170"/>
                <a:gridCol w="2265680"/>
                <a:gridCol w="2491740"/>
              </a:tblGrid>
              <a:tr h="240030">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373630">
                <a:tc>
                  <a:txBody>
                    <a:bodyPr wrap="square">
                      <a:noAutofit/>
                    </a:bodyPr>
                    <a:lstStyle/>
                    <a:p>
                      <a:pPr algn="l">
                        <a:lnSpc>
                          <a:spcPct val="106000"/>
                        </a:lnSpc>
                        <a:spcAft>
                          <a:spcPts val="0"/>
                        </a:spcAft>
                      </a:pPr>
                      <a:r>
                        <a:rPr sz="1100" b="1">
                          <a:solidFill>
                            <a:srgbClr val="333333"/>
                          </a:solidFill>
                          <a:latin typeface="Courier New"/>
                        </a:rPr>
                        <a:t>1</a:t>
                      </a:r>
                    </a:p>
                    <a:p>
                      <a:pPr algn="l">
                        <a:lnSpc>
                          <a:spcPct val="106000"/>
                        </a:lnSpc>
                        <a:spcAft>
                          <a:spcPts val="0"/>
                        </a:spcAft>
                      </a:pPr>
                      <a:r>
                        <a:rPr sz="1100" b="0">
                          <a:solidFill>
                            <a:srgbClr val="333333"/>
                          </a:solidFill>
                          <a:latin typeface="Courier New"/>
                        </a:rPr>
                        <a:t>ArduCopter/failsafe.cpp</a:t>
                      </a:r>
                    </a:p>
                    <a:p>
                      <a:pPr algn="l">
                        <a:lnSpc>
                          <a:spcPct val="106000"/>
                        </a:lnSpc>
                        <a:spcAft>
                          <a:spcPts val="0"/>
                        </a:spcAft>
                      </a:pPr>
                      <a:r>
                        <a:rPr sz="1100" b="0">
                          <a:solidFill>
                            <a:srgbClr val="333333"/>
                          </a:solidFill>
                          <a:latin typeface="Courier New"/>
                        </a:rPr>
                        <a:t>37-45</a:t>
                      </a:r>
                    </a:p>
                    <a:p>
                      <a:pPr algn="l">
                        <a:lnSpc>
                          <a:spcPct val="106000"/>
                        </a:lnSpc>
                        <a:spcAft>
                          <a:spcPts val="0"/>
                        </a:spcAft>
                      </a:pPr>
                      <a:r>
                        <a:rPr sz="1100" b="0">
                          <a:solidFill>
                            <a:srgbClr val="333333"/>
                          </a:solidFill>
                          <a:latin typeface="Courier New"/>
                        </a:rPr>
                        <a:t>Copter::failsafe_check()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has not advanced since the last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(tnow) and AP_Scheduler::ticks() loop counter (timing / loop-cadence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When ticks stall and tnow-failsafe_last_timestamp &gt; 2,000,000 us (2 s) sets in_failsafe, drives motors-&gt;output_min(), then disarms every 1 s (CPU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graphicFrame>
        <p:nvGraphicFramePr>
          <p:cNvPr id="6" name="Table 5"/>
          <p:cNvGraphicFramePr>
            <a:graphicFrameLocks noGrp="1"/>
          </p:cNvGraphicFramePr>
          <p:nvPr/>
        </p:nvGraphicFramePr>
        <p:xfrm>
          <a:off x="566928" y="1591056"/>
          <a:ext cx="11058144" cy="3147060"/>
        </p:xfrm>
        <a:graphic>
          <a:graphicData uri="http://schemas.openxmlformats.org/drawingml/2006/table">
            <a:tbl>
              <a:tblPr>
                <a:tableStyleId>{5C22544A-7EE6-4342-B048-85BDC9FD1C3A}</a:tableStyleId>
              </a:tblPr>
              <a:tblGrid>
                <a:gridCol w="2851785"/>
                <a:gridCol w="1327150"/>
                <a:gridCol w="2122170"/>
                <a:gridCol w="2265680"/>
                <a:gridCol w="2491740"/>
              </a:tblGrid>
              <a:tr h="240030">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907030">
                <a:tc>
                  <a:txBody>
                    <a:bodyPr wrap="square">
                      <a:noAutofit/>
                    </a:bodyPr>
                    <a:lstStyle/>
                    <a:p>
                      <a:pPr algn="l">
                        <a:lnSpc>
                          <a:spcPct val="106000"/>
                        </a:lnSpc>
                        <a:spcAft>
                          <a:spcPts val="0"/>
                        </a:spcAft>
                      </a:pPr>
                      <a:r>
                        <a:rPr sz="1100" b="1">
                          <a:solidFill>
                            <a:srgbClr val="333333"/>
                          </a:solidFill>
                          <a:latin typeface="Courier New"/>
                        </a:rPr>
                        <a:t>2</a:t>
                      </a:r>
                    </a:p>
                    <a:p>
                      <a:pPr algn="l">
                        <a:lnSpc>
                          <a:spcPct val="106000"/>
                        </a:lnSpc>
                        <a:spcAft>
                          <a:spcPts val="0"/>
                        </a:spcAft>
                      </a:pPr>
                      <a:r>
                        <a:rPr sz="1100" b="0">
                          <a:solidFill>
                            <a:srgbClr val="333333"/>
                          </a:solidFill>
                          <a:latin typeface="Courier New"/>
                        </a:rPr>
                        <a:t>ArduPlane/failsafe.cpp</a:t>
                      </a:r>
                    </a:p>
                    <a:p>
                      <a:pPr algn="l">
                        <a:lnSpc>
                          <a:spcPct val="106000"/>
                        </a:lnSpc>
                        <a:spcAft>
                          <a:spcPts val="0"/>
                        </a:spcAft>
                      </a:pPr>
                      <a:r>
                        <a:rPr sz="1100" b="0">
                          <a:solidFill>
                            <a:srgbClr val="333333"/>
                          </a:solidFill>
                          <a:latin typeface="Courier New"/>
                        </a:rPr>
                        <a:t>22-30</a:t>
                      </a:r>
                    </a:p>
                    <a:p>
                      <a:pPr algn="l">
                        <a:lnSpc>
                          <a:spcPct val="106000"/>
                        </a:lnSpc>
                        <a:spcAft>
                          <a:spcPts val="0"/>
                        </a:spcAft>
                      </a:pPr>
                      <a:r>
                        <a:rPr sz="1100" b="0">
                          <a:solidFill>
                            <a:srgbClr val="333333"/>
                          </a:solidFill>
                          <a:latin typeface="Courier New"/>
                        </a:rPr>
                        <a:t>Plane::failsafe_check()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unchanged (main loop stalled)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micros() (tnow) and AP_Scheduler::ticks() (ticks vs last_ticks)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After &gt; 200,000 us (0.2 s) stall sets in_failsafe and passes RC inputs straight to servo outputs (SRV_Channels) every 20 ms instead of disarming.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 Divergent: 0.2 s trip + RC-passthrough (vs Copter 2 s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graphicFrame>
        <p:nvGraphicFramePr>
          <p:cNvPr id="6" name="Table 5"/>
          <p:cNvGraphicFramePr>
            <a:graphicFrameLocks noGrp="1"/>
          </p:cNvGraphicFramePr>
          <p:nvPr/>
        </p:nvGraphicFramePr>
        <p:xfrm>
          <a:off x="566928" y="1591056"/>
          <a:ext cx="11058144" cy="2613660"/>
        </p:xfrm>
        <a:graphic>
          <a:graphicData uri="http://schemas.openxmlformats.org/drawingml/2006/table">
            <a:tbl>
              <a:tblPr>
                <a:tableStyleId>{5C22544A-7EE6-4342-B048-85BDC9FD1C3A}</a:tableStyleId>
              </a:tblPr>
              <a:tblGrid>
                <a:gridCol w="2851785"/>
                <a:gridCol w="1327150"/>
                <a:gridCol w="2122170"/>
                <a:gridCol w="2265680"/>
                <a:gridCol w="2491740"/>
              </a:tblGrid>
              <a:tr h="240030">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373630">
                <a:tc>
                  <a:txBody>
                    <a:bodyPr wrap="square">
                      <a:noAutofit/>
                    </a:bodyPr>
                    <a:lstStyle/>
                    <a:p>
                      <a:pPr algn="l">
                        <a:lnSpc>
                          <a:spcPct val="106000"/>
                        </a:lnSpc>
                        <a:spcAft>
                          <a:spcPts val="0"/>
                        </a:spcAft>
                      </a:pPr>
                      <a:r>
                        <a:rPr sz="1100" b="1">
                          <a:solidFill>
                            <a:srgbClr val="333333"/>
                          </a:solidFill>
                          <a:latin typeface="Courier New"/>
                        </a:rPr>
                        <a:t>3</a:t>
                      </a:r>
                    </a:p>
                    <a:p>
                      <a:pPr algn="l">
                        <a:lnSpc>
                          <a:spcPct val="106000"/>
                        </a:lnSpc>
                        <a:spcAft>
                          <a:spcPts val="0"/>
                        </a:spcAft>
                      </a:pPr>
                      <a:r>
                        <a:rPr sz="1100" b="0">
                          <a:solidFill>
                            <a:srgbClr val="333333"/>
                          </a:solidFill>
                          <a:latin typeface="Courier New"/>
                        </a:rPr>
                        <a:t>Rover/failsafe.cpp</a:t>
                      </a:r>
                    </a:p>
                    <a:p>
                      <a:pPr algn="l">
                        <a:lnSpc>
                          <a:spcPct val="106000"/>
                        </a:lnSpc>
                        <a:spcAft>
                          <a:spcPts val="0"/>
                        </a:spcAft>
                      </a:pPr>
                      <a:r>
                        <a:rPr sz="1100" b="0">
                          <a:solidFill>
                            <a:srgbClr val="333333"/>
                          </a:solidFill>
                          <a:latin typeface="Courier New"/>
                        </a:rPr>
                        <a:t>22-30</a:t>
                      </a:r>
                    </a:p>
                    <a:p>
                      <a:pPr algn="l">
                        <a:lnSpc>
                          <a:spcPct val="106000"/>
                        </a:lnSpc>
                        <a:spcAft>
                          <a:spcPts val="0"/>
                        </a:spcAft>
                      </a:pPr>
                      <a:r>
                        <a:rPr sz="1100" b="0">
                          <a:solidFill>
                            <a:srgbClr val="333333"/>
                          </a:solidFill>
                          <a:latin typeface="Courier New"/>
                        </a:rPr>
                        <a:t>Rover::failsafe_check()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(tnow) and AP_Scheduler::ticks() (ticks vs last_ticks)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After &gt; 200,000 us (0.2 s) stall calls arming.disarm(AP_Arming:: Method::CPUFAILSAFE).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graphicFrame>
        <p:nvGraphicFramePr>
          <p:cNvPr id="6" name="Table 5"/>
          <p:cNvGraphicFramePr>
            <a:graphicFrameLocks noGrp="1"/>
          </p:cNvGraphicFramePr>
          <p:nvPr/>
        </p:nvGraphicFramePr>
        <p:xfrm>
          <a:off x="566928" y="1591056"/>
          <a:ext cx="11058144" cy="2613660"/>
        </p:xfrm>
        <a:graphic>
          <a:graphicData uri="http://schemas.openxmlformats.org/drawingml/2006/table">
            <a:tbl>
              <a:tblPr>
                <a:tableStyleId>{5C22544A-7EE6-4342-B048-85BDC9FD1C3A}</a:tableStyleId>
              </a:tblPr>
              <a:tblGrid>
                <a:gridCol w="2851785"/>
                <a:gridCol w="1327150"/>
                <a:gridCol w="2122170"/>
                <a:gridCol w="2265680"/>
                <a:gridCol w="2491740"/>
              </a:tblGrid>
              <a:tr h="240030">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373630">
                <a:tc>
                  <a:txBody>
                    <a:bodyPr wrap="square">
                      <a:noAutofit/>
                    </a:bodyPr>
                    <a:lstStyle/>
                    <a:p>
                      <a:pPr algn="l">
                        <a:lnSpc>
                          <a:spcPct val="106000"/>
                        </a:lnSpc>
                        <a:spcAft>
                          <a:spcPts val="0"/>
                        </a:spcAft>
                      </a:pPr>
                      <a:r>
                        <a:rPr sz="1100" b="1">
                          <a:solidFill>
                            <a:srgbClr val="333333"/>
                          </a:solidFill>
                          <a:latin typeface="Courier New"/>
                        </a:rPr>
                        <a:t>4</a:t>
                      </a:r>
                    </a:p>
                    <a:p>
                      <a:pPr algn="l">
                        <a:lnSpc>
                          <a:spcPct val="106000"/>
                        </a:lnSpc>
                        <a:spcAft>
                          <a:spcPts val="0"/>
                        </a:spcAft>
                      </a:pPr>
                      <a:r>
                        <a:rPr sz="1100" b="0">
                          <a:solidFill>
                            <a:srgbClr val="333333"/>
                          </a:solidFill>
                          <a:latin typeface="Courier New"/>
                        </a:rPr>
                        <a:t>ArduSub/failsafe.cpp</a:t>
                      </a:r>
                    </a:p>
                    <a:p>
                      <a:pPr algn="l">
                        <a:lnSpc>
                          <a:spcPct val="106000"/>
                        </a:lnSpc>
                        <a:spcAft>
                          <a:spcPts val="0"/>
                        </a:spcAft>
                      </a:pPr>
                      <a:r>
                        <a:rPr sz="1100" b="0">
                          <a:solidFill>
                            <a:srgbClr val="333333"/>
                          </a:solidFill>
                          <a:latin typeface="Courier New"/>
                        </a:rPr>
                        <a:t>31-39</a:t>
                      </a:r>
                    </a:p>
                    <a:p>
                      <a:pPr algn="l">
                        <a:lnSpc>
                          <a:spcPct val="106000"/>
                        </a:lnSpc>
                        <a:spcAft>
                          <a:spcPts val="0"/>
                        </a:spcAft>
                      </a:pPr>
                      <a:r>
                        <a:rPr sz="1100" b="0">
                          <a:solidFill>
                            <a:srgbClr val="333333"/>
                          </a:solidFill>
                          <a:latin typeface="Courier New"/>
                        </a:rPr>
                        <a:t>Sub::mainloop_failsafe_check()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(tnow) and AP_Scheduler::ticks() loop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After &gt; 2,000,000 us (2 s) stall sets in_failsafe and drives motors.output_min().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graphicFrame>
        <p:nvGraphicFramePr>
          <p:cNvPr id="6" name="Table 5"/>
          <p:cNvGraphicFramePr>
            <a:graphicFrameLocks noGrp="1"/>
          </p:cNvGraphicFramePr>
          <p:nvPr/>
        </p:nvGraphicFramePr>
        <p:xfrm>
          <a:off x="566928" y="1591056"/>
          <a:ext cx="11058144" cy="4276090"/>
        </p:xfrm>
        <a:graphic>
          <a:graphicData uri="http://schemas.openxmlformats.org/drawingml/2006/table">
            <a:tbl>
              <a:tblPr>
                <a:tableStyleId>{5C22544A-7EE6-4342-B048-85BDC9FD1C3A}</a:tableStyleId>
              </a:tblPr>
              <a:tblGrid>
                <a:gridCol w="2851785"/>
                <a:gridCol w="1327150"/>
                <a:gridCol w="2122170"/>
                <a:gridCol w="2265680"/>
                <a:gridCol w="2491740"/>
              </a:tblGrid>
              <a:tr h="240030">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907030">
                <a:tc>
                  <a:txBody>
                    <a:bodyPr wrap="square">
                      <a:noAutofit/>
                    </a:bodyPr>
                    <a:lstStyle/>
                    <a:p>
                      <a:pPr algn="l">
                        <a:lnSpc>
                          <a:spcPct val="106000"/>
                        </a:lnSpc>
                        <a:spcAft>
                          <a:spcPts val="0"/>
                        </a:spcAft>
                      </a:pPr>
                      <a:r>
                        <a:rPr sz="1100" b="1">
                          <a:solidFill>
                            <a:srgbClr val="333333"/>
                          </a:solidFill>
                          <a:latin typeface="Courier New"/>
                        </a:rPr>
                        <a:t>5</a:t>
                      </a:r>
                    </a:p>
                    <a:p>
                      <a:pPr algn="l">
                        <a:lnSpc>
                          <a:spcPct val="106000"/>
                        </a:lnSpc>
                        <a:spcAft>
                          <a:spcPts val="0"/>
                        </a:spcAft>
                      </a:pPr>
                      <a:r>
                        <a:rPr sz="1100" b="0">
                          <a:solidFill>
                            <a:srgbClr val="333333"/>
                          </a:solidFill>
                          <a:latin typeface="Courier New"/>
                        </a:rPr>
                        <a:t>Blimp/failsafe.cpp</a:t>
                      </a:r>
                    </a:p>
                    <a:p>
                      <a:pPr algn="l">
                        <a:lnSpc>
                          <a:spcPct val="106000"/>
                        </a:lnSpc>
                        <a:spcAft>
                          <a:spcPts val="0"/>
                        </a:spcAft>
                      </a:pPr>
                      <a:r>
                        <a:rPr sz="1100" b="0">
                          <a:solidFill>
                            <a:srgbClr val="333333"/>
                          </a:solidFill>
                          <a:latin typeface="Courier New"/>
                        </a:rPr>
                        <a:t>37-45</a:t>
                      </a:r>
                    </a:p>
                    <a:p>
                      <a:pPr algn="l">
                        <a:lnSpc>
                          <a:spcPct val="106000"/>
                        </a:lnSpc>
                        <a:spcAft>
                          <a:spcPts val="0"/>
                        </a:spcAft>
                      </a:pPr>
                      <a:r>
                        <a:rPr sz="1100" b="0">
                          <a:solidFill>
                            <a:srgbClr val="333333"/>
                          </a:solidFill>
                          <a:latin typeface="Courier New"/>
                        </a:rPr>
                        <a:t>Blimp::failsafe_check()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(tnow) and AP_Scheduler::ticks() loop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After &gt; 2,000,000 us (2 s) stall sets in_failsafe and drives motors-&gt;output_min().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 Blimp included only because it observes scheduler timing state (AAP 0.3.2).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9030">
                <a:tc>
                  <a:txBody>
                    <a:bodyPr wrap="square">
                      <a:noAutofit/>
                    </a:bodyPr>
                    <a:lstStyle/>
                    <a:p>
                      <a:pPr algn="l">
                        <a:lnSpc>
                          <a:spcPct val="106000"/>
                        </a:lnSpc>
                        <a:spcAft>
                          <a:spcPts val="0"/>
                        </a:spcAft>
                      </a:pPr>
                      <a:r>
                        <a:rPr sz="1100" b="1">
                          <a:solidFill>
                            <a:srgbClr val="333333"/>
                          </a:solidFill>
                          <a:latin typeface="Courier New"/>
                        </a:rPr>
                        <a:t>6</a:t>
                      </a:r>
                    </a:p>
                    <a:p>
                      <a:pPr algn="l">
                        <a:lnSpc>
                          <a:spcPct val="106000"/>
                        </a:lnSpc>
                        <a:spcAft>
                          <a:spcPts val="0"/>
                        </a:spcAft>
                      </a:pPr>
                      <a:r>
                        <a:rPr sz="1100" b="0">
                          <a:solidFill>
                            <a:srgbClr val="333333"/>
                          </a:solidFill>
                          <a:latin typeface="Courier New"/>
                        </a:rPr>
                        <a:t>ArduCopter/ekf_check.cpp</a:t>
                      </a:r>
                    </a:p>
                    <a:p>
                      <a:pPr algn="l">
                        <a:lnSpc>
                          <a:spcPct val="106000"/>
                        </a:lnSpc>
                        <a:spcAft>
                          <a:spcPts val="0"/>
                        </a:spcAft>
                      </a:pPr>
                      <a:r>
                        <a:rPr sz="1100" b="0">
                          <a:solidFill>
                            <a:srgbClr val="333333"/>
                          </a:solidFill>
                          <a:latin typeface="Courier New"/>
                        </a:rPr>
                        <a:t>84-88</a:t>
                      </a:r>
                    </a:p>
                    <a:p>
                      <a:pPr algn="l">
                        <a:lnSpc>
                          <a:spcPct val="106000"/>
                        </a:lnSpc>
                        <a:spcAft>
                          <a:spcPts val="0"/>
                        </a:spcAft>
                      </a:pPr>
                      <a:r>
                        <a:rPr sz="1100" b="0">
                          <a:solidFill>
                            <a:srgbClr val="333333"/>
                          </a:solidFill>
                          <a:latin typeface="Courier New"/>
                        </a:rPr>
                        <a:t>Copter::ekf_check() — GCS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 variance already flagged bad AND ≥ 30 s elapsed since the last warning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AP_HAL::millis() - ekf_check_state.last_warn_time vs EKF_CHECK_WARNING_TIME (30 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Rate-limits the “EKF variance” GCS_SEVERITY_CRITICAL text to at most once per 30 s; stamps last_warn_time = 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[MULTI-CATEGORY w/ Table 5 #1 ekf_check]. 30 s warn-throttle copied in ArduPlane/ekf_check.cpp.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graphicFrame>
        <p:nvGraphicFramePr>
          <p:cNvPr id="6" name="Table 5"/>
          <p:cNvGraphicFramePr>
            <a:graphicFrameLocks noGrp="1"/>
          </p:cNvGraphicFramePr>
          <p:nvPr/>
        </p:nvGraphicFramePr>
        <p:xfrm>
          <a:off x="566928" y="1591056"/>
          <a:ext cx="11058144" cy="3982720"/>
        </p:xfrm>
        <a:graphic>
          <a:graphicData uri="http://schemas.openxmlformats.org/drawingml/2006/table">
            <a:tbl>
              <a:tblPr>
                <a:tableStyleId>{5C22544A-7EE6-4342-B048-85BDC9FD1C3A}</a:tableStyleId>
              </a:tblPr>
              <a:tblGrid>
                <a:gridCol w="2851785"/>
                <a:gridCol w="1327150"/>
                <a:gridCol w="2122170"/>
                <a:gridCol w="2265680"/>
                <a:gridCol w="2491740"/>
              </a:tblGrid>
              <a:tr h="240030">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230">
                <a:tc>
                  <a:txBody>
                    <a:bodyPr wrap="square">
                      <a:noAutofit/>
                    </a:bodyPr>
                    <a:lstStyle/>
                    <a:p>
                      <a:pPr algn="l">
                        <a:lnSpc>
                          <a:spcPct val="106000"/>
                        </a:lnSpc>
                        <a:spcAft>
                          <a:spcPts val="0"/>
                        </a:spcAft>
                      </a:pPr>
                      <a:r>
                        <a:rPr sz="1100" b="1">
                          <a:solidFill>
                            <a:srgbClr val="333333"/>
                          </a:solidFill>
                          <a:latin typeface="Courier New"/>
                        </a:rPr>
                        <a:t>7</a:t>
                      </a:r>
                    </a:p>
                    <a:p>
                      <a:pPr algn="l">
                        <a:lnSpc>
                          <a:spcPct val="106000"/>
                        </a:lnSpc>
                        <a:spcAft>
                          <a:spcPts val="0"/>
                        </a:spcAft>
                      </a:pPr>
                      <a:r>
                        <a:rPr sz="1100" b="0">
                          <a:solidFill>
                            <a:srgbClr val="333333"/>
                          </a:solidFill>
                          <a:latin typeface="Courier New"/>
                        </a:rPr>
                        <a:t>ArduPlane/ekf_check.cpp</a:t>
                      </a:r>
                    </a:p>
                    <a:p>
                      <a:pPr algn="l">
                        <a:lnSpc>
                          <a:spcPct val="106000"/>
                        </a:lnSpc>
                        <a:spcAft>
                          <a:spcPts val="0"/>
                        </a:spcAft>
                      </a:pPr>
                      <a:r>
                        <a:rPr sz="1100" b="0">
                          <a:solidFill>
                            <a:srgbClr val="333333"/>
                          </a:solidFill>
                          <a:latin typeface="Courier New"/>
                        </a:rPr>
                        <a:t>78-82</a:t>
                      </a:r>
                    </a:p>
                    <a:p>
                      <a:pPr algn="l">
                        <a:lnSpc>
                          <a:spcPct val="106000"/>
                        </a:lnSpc>
                        <a:spcAft>
                          <a:spcPts val="0"/>
                        </a:spcAft>
                      </a:pPr>
                      <a:r>
                        <a:rPr sz="1100" b="0">
                          <a:solidFill>
                            <a:srgbClr val="333333"/>
                          </a:solidFill>
                          <a:latin typeface="Courier New"/>
                        </a:rPr>
                        <a:t>Plane::ekf_check() — GCS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EKF variance already flagged bad AND ≥ 30 s elapsed since the last warning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AP_HAL::millis() - ekf_check_state.last_warn_time vs EKF_CHECK_WARNING_TIME (30 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Rate-limits the “EKF variance” GCS text to at most once per 30 s; stamps last_warn_time = 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mirrors ArduCopter/ekf_check.cpp:84-88.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630">
                <a:tc>
                  <a:txBody>
                    <a:bodyPr wrap="square">
                      <a:noAutofit/>
                    </a:bodyPr>
                    <a:lstStyle/>
                    <a:p>
                      <a:pPr algn="l">
                        <a:lnSpc>
                          <a:spcPct val="106000"/>
                        </a:lnSpc>
                        <a:spcAft>
                          <a:spcPts val="0"/>
                        </a:spcAft>
                      </a:pPr>
                      <a:r>
                        <a:rPr sz="1100" b="1">
                          <a:solidFill>
                            <a:srgbClr val="333333"/>
                          </a:solidFill>
                          <a:latin typeface="Courier New"/>
                        </a:rPr>
                        <a:t>8</a:t>
                      </a:r>
                    </a:p>
                    <a:p>
                      <a:pPr algn="l">
                        <a:lnSpc>
                          <a:spcPct val="106000"/>
                        </a:lnSpc>
                        <a:spcAft>
                          <a:spcPts val="0"/>
                        </a:spcAft>
                      </a:pPr>
                      <a:r>
                        <a:rPr sz="1100" b="0">
                          <a:solidFill>
                            <a:srgbClr val="333333"/>
                          </a:solidFill>
                          <a:latin typeface="Courier New"/>
                        </a:rPr>
                        <a:t>ArduSub/failsafe.cpp</a:t>
                      </a:r>
                    </a:p>
                    <a:p>
                      <a:pPr algn="l">
                        <a:lnSpc>
                          <a:spcPct val="106000"/>
                        </a:lnSpc>
                        <a:spcAft>
                          <a:spcPts val="0"/>
                        </a:spcAft>
                      </a:pPr>
                      <a:r>
                        <a:rPr sz="1100" b="0">
                          <a:solidFill>
                            <a:srgbClr val="333333"/>
                          </a:solidFill>
                          <a:latin typeface="Courier New"/>
                        </a:rPr>
                        <a:t>125-130</a:t>
                      </a:r>
                    </a:p>
                    <a:p>
                      <a:pPr algn="l">
                        <a:lnSpc>
                          <a:spcPct val="106000"/>
                        </a:lnSpc>
                        <a:spcAft>
                          <a:spcPts val="0"/>
                        </a:spcAft>
                      </a:pPr>
                      <a:r>
                        <a:rPr sz="1100" b="0">
                          <a:solidFill>
                            <a:srgbClr val="333333"/>
                          </a:solidFill>
                          <a:latin typeface="Courier New"/>
                        </a:rPr>
                        <a:t>Sub::failsafe_ekf_check() — 2 s confirm hysteresis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 variance bad but not yet bad for a full 2 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AP_HAL::millis() vs last_ekf_good_ms + 2000 (2 s clock-based confirmation window)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Suppresses the EKF failsafe (clears failsafe.ekf / ekf_bad and returns) until the EKF has been bad for 2 solid seconds, then trips → arming.disarm(EKFFAILSAFE).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INDIRECT/RELATIONAL (timing). [MULTI-CATEGORY w/ Table 5 #4]. Divergent hysteresis: Sub uses a clock-based 2 s window + 20 s GCS warn-throttle (L141), whereas Copter/Plane use a count-based EKF_CHECK_ITERATIONS_MAX (≈1 s) + 30 s warn-throttle.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306830">
                <a:tc>
                  <a:txBody>
                    <a:bodyPr wrap="square">
                      <a:noAutofit/>
                    </a:bodyPr>
                    <a:lstStyle/>
                    <a:p>
                      <a:pPr algn="l">
                        <a:lnSpc>
                          <a:spcPct val="106000"/>
                        </a:lnSpc>
                        <a:spcAft>
                          <a:spcPts val="0"/>
                        </a:spcAft>
                      </a:pPr>
                      <a:r>
                        <a:rPr sz="1100" b="1">
                          <a:solidFill>
                            <a:srgbClr val="333333"/>
                          </a:solidFill>
                          <a:latin typeface="Courier New"/>
                        </a:rPr>
                        <a:t>9</a:t>
                      </a:r>
                    </a:p>
                    <a:p>
                      <a:pPr algn="l">
                        <a:lnSpc>
                          <a:spcPct val="106000"/>
                        </a:lnSpc>
                        <a:spcAft>
                          <a:spcPts val="0"/>
                        </a:spcAft>
                      </a:pPr>
                      <a:r>
                        <a:rPr sz="1100" b="0">
                          <a:solidFill>
                            <a:srgbClr val="333333"/>
                          </a:solidFill>
                          <a:latin typeface="Courier New"/>
                        </a:rPr>
                        <a:t>ArduCopter/ekf_check.cpp</a:t>
                      </a:r>
                    </a:p>
                    <a:p>
                      <a:pPr algn="l">
                        <a:lnSpc>
                          <a:spcPct val="106000"/>
                        </a:lnSpc>
                        <a:spcAft>
                          <a:spcPts val="0"/>
                        </a:spcAft>
                      </a:pPr>
                      <a:r>
                        <a:rPr sz="1100" b="0">
                          <a:solidFill>
                            <a:srgbClr val="333333"/>
                          </a:solidFill>
                          <a:latin typeface="Courier New"/>
                        </a:rPr>
                        <a:t>125-132</a:t>
                      </a:r>
                    </a:p>
                    <a:p>
                      <a:pPr algn="l">
                        <a:lnSpc>
                          <a:spcPct val="106000"/>
                        </a:lnSpc>
                        <a:spcAft>
                          <a:spcPts val="0"/>
                        </a:spcAft>
                      </a:pPr>
                      <a:r>
                        <a:rPr sz="1100" b="0">
                          <a:solidFill>
                            <a:srgbClr val="333333"/>
                          </a:solidFill>
                          <a:latin typeface="Courier New"/>
                        </a:rPr>
                        <a:t>Copter::ekf_over_threshold() — dt filtering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Each ekf_over_threshold() evaluation (nominally the 10 Hz ekf_check cadence)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delta → dt = (now_us - last_ekf_check_us) * 1e-6 (actual inter-call interval)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Applies the measured dt to the position/velocity variance low-pass filters (pos_variance_filt / vel_variance_filt); the effective filter cutoff tracks the real scheduler call interval rather than a fixed rate.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(timing). [MULTI-CATEGORY w/ Table 5 #1]. EKF check-rate &lt;-&gt; scheduler coupling (AAP 0.5.5): filter behaviour depends on scheduler 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7–9</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graphicFrame>
        <p:nvGraphicFramePr>
          <p:cNvPr id="6" name="Table 5"/>
          <p:cNvGraphicFramePr>
            <a:graphicFrameLocks noGrp="1"/>
          </p:cNvGraphicFramePr>
          <p:nvPr/>
        </p:nvGraphicFramePr>
        <p:xfrm>
          <a:off x="566928" y="1591056"/>
          <a:ext cx="11058144" cy="2498090"/>
        </p:xfrm>
        <a:graphic>
          <a:graphicData uri="http://schemas.openxmlformats.org/drawingml/2006/table">
            <a:tbl>
              <a:tblPr>
                <a:tableStyleId>{5C22544A-7EE6-4342-B048-85BDC9FD1C3A}</a:tableStyleId>
              </a:tblPr>
              <a:tblGrid>
                <a:gridCol w="2851785"/>
                <a:gridCol w="1327150"/>
                <a:gridCol w="2122170"/>
                <a:gridCol w="2265680"/>
                <a:gridCol w="2491740"/>
              </a:tblGrid>
              <a:tr h="240030">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9030">
                <a:tc>
                  <a:txBody>
                    <a:bodyPr wrap="square">
                      <a:noAutofit/>
                    </a:bodyPr>
                    <a:lstStyle/>
                    <a:p>
                      <a:pPr algn="l">
                        <a:lnSpc>
                          <a:spcPct val="106000"/>
                        </a:lnSpc>
                        <a:spcAft>
                          <a:spcPts val="0"/>
                        </a:spcAft>
                      </a:pPr>
                      <a:r>
                        <a:rPr sz="1100" b="1">
                          <a:solidFill>
                            <a:srgbClr val="333333"/>
                          </a:solidFill>
                          <a:latin typeface="Courier New"/>
                        </a:rPr>
                        <a:t>10</a:t>
                      </a:r>
                    </a:p>
                    <a:p>
                      <a:pPr algn="l">
                        <a:lnSpc>
                          <a:spcPct val="106000"/>
                        </a:lnSpc>
                        <a:spcAft>
                          <a:spcPts val="0"/>
                        </a:spcAft>
                      </a:pPr>
                      <a:r>
                        <a:rPr sz="1100" b="0">
                          <a:solidFill>
                            <a:srgbClr val="333333"/>
                          </a:solidFill>
                          <a:latin typeface="Courier New"/>
                        </a:rPr>
                        <a:t>ArduCopter/fence.cpp</a:t>
                      </a:r>
                    </a:p>
                    <a:p>
                      <a:pPr algn="l">
                        <a:lnSpc>
                          <a:spcPct val="106000"/>
                        </a:lnSpc>
                        <a:spcAft>
                          <a:spcPts val="0"/>
                        </a:spcAft>
                      </a:pPr>
                      <a:r>
                        <a:rPr sz="1100" b="0">
                          <a:solidFill>
                            <a:srgbClr val="333333"/>
                          </a:solidFill>
                          <a:latin typeface="Courier New"/>
                        </a:rPr>
                        <a:t>8-16</a:t>
                      </a:r>
                    </a:p>
                    <a:p>
                      <a:pPr algn="l">
                        <a:lnSpc>
                          <a:spcPct val="106000"/>
                        </a:lnSpc>
                        <a:spcAft>
                          <a:spcPts val="0"/>
                        </a:spcAft>
                      </a:pPr>
                      <a:r>
                        <a:rPr sz="1100" b="0">
                          <a:solidFill>
                            <a:srgbClr val="333333"/>
                          </a:solidFill>
                          <a:latin typeface="Courier New"/>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async fence IO callback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AP_HAL::millis() (now) and AP_HAL::timeout_expired(fence_breaches.last_check_ms, now, 40U) (40 ms / 25 Hz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Returns early until 40 ms have elapsed, throttling the geofence breach check to 25 Hz; the position-vs-fence observation itself is Table 4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[MULTI-CATEGORY w/ Table 4 #3] — timing side of the same function (F1). vs Rover/fence.cpp (divergent rate).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9030">
                <a:tc>
                  <a:txBody>
                    <a:bodyPr wrap="square">
                      <a:noAutofit/>
                    </a:bodyPr>
                    <a:lstStyle/>
                    <a:p>
                      <a:pPr algn="l">
                        <a:lnSpc>
                          <a:spcPct val="106000"/>
                        </a:lnSpc>
                        <a:spcAft>
                          <a:spcPts val="0"/>
                        </a:spcAft>
                      </a:pPr>
                      <a:r>
                        <a:rPr sz="1100" b="1">
                          <a:solidFill>
                            <a:srgbClr val="333333"/>
                          </a:solidFill>
                          <a:latin typeface="Courier New"/>
                        </a:rPr>
                        <a:t>11</a:t>
                      </a:r>
                    </a:p>
                    <a:p>
                      <a:pPr algn="l">
                        <a:lnSpc>
                          <a:spcPct val="106000"/>
                        </a:lnSpc>
                        <a:spcAft>
                          <a:spcPts val="0"/>
                        </a:spcAft>
                      </a:pPr>
                      <a:r>
                        <a:rPr sz="1100" b="0">
                          <a:solidFill>
                            <a:srgbClr val="333333"/>
                          </a:solidFill>
                          <a:latin typeface="Courier New"/>
                        </a:rPr>
                        <a:t>Rover/fence.cpp</a:t>
                      </a:r>
                    </a:p>
                    <a:p>
                      <a:pPr algn="l">
                        <a:lnSpc>
                          <a:spcPct val="106000"/>
                        </a:lnSpc>
                        <a:spcAft>
                          <a:spcPts val="0"/>
                        </a:spcAft>
                      </a:pPr>
                      <a:r>
                        <a:rPr sz="1100" b="0">
                          <a:solidFill>
                            <a:srgbClr val="333333"/>
                          </a:solidFill>
                          <a:latin typeface="Courier New"/>
                        </a:rPr>
                        <a:t>6-14</a:t>
                      </a:r>
                    </a:p>
                    <a:p>
                      <a:pPr algn="l">
                        <a:lnSpc>
                          <a:spcPct val="106000"/>
                        </a:lnSpc>
                        <a:spcAft>
                          <a:spcPts val="0"/>
                        </a:spcAft>
                      </a:pPr>
                      <a:r>
                        <a:rPr sz="1100" b="0">
                          <a:solidFill>
                            <a:srgbClr val="333333"/>
                          </a:solidFill>
                          <a:latin typeface="Courier New"/>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1 kHz async fence IO callback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AP_HAL::millis() (now) and AP_HAL::timeout_expired(fence_breaches.last_check_ms, now, 100U) (100 ms / 10 Hz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Returns early until 100 ms have elapsed, throttling the geofence breach check to 10 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[MULTI-CATEGORY w/ Table 4 #9]. vs ArduCopter/fence.cpp:8-16 — divergent rate (40U/25 Hz vs 100U/10 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10–11</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Code Snippet (5-10 lines)</a:t>
            </a:r>
          </a:p>
        </p:txBody>
      </p:sp>
      <p:sp>
        <p:nvSpPr>
          <p:cNvPr id="5" name="TextBox 4"/>
          <p:cNvSpPr txBox="1"/>
          <p:nvPr/>
        </p:nvSpPr>
        <p:spPr>
          <a:xfrm>
            <a:off x="566928" y="1426464"/>
            <a:ext cx="11064240" cy="903541"/>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(5-10 lines), reproduced verbatim from the cited path:line range: one paragraph per source line, in the audit’s own order, with its indentation and its blank lines intact and nothing abbreviated.</a:t>
            </a:r>
          </a:p>
        </p:txBody>
      </p:sp>
      <p:graphicFrame>
        <p:nvGraphicFramePr>
          <p:cNvPr id="7" name="Table 6"/>
          <p:cNvGraphicFramePr>
            <a:graphicFrameLocks noGrp="1"/>
          </p:cNvGraphicFramePr>
          <p:nvPr/>
        </p:nvGraphicFramePr>
        <p:xfrm>
          <a:off x="566928" y="2549461"/>
          <a:ext cx="11058144" cy="208279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Courier New"/>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ArduCopter/failsafe.cpp</a:t>
                      </a:r>
                      <a:r>
                        <a:rPr sz="1100" b="0">
                          <a:solidFill>
                            <a:srgbClr val="999999"/>
                          </a:solidFill>
                          <a:latin typeface="Courier New"/>
                        </a:rPr>
                        <a:t>  ·  </a:t>
                      </a:r>
                      <a:r>
                        <a:rPr sz="1100" b="0">
                          <a:solidFill>
                            <a:srgbClr val="999999"/>
                          </a:solidFill>
                          <a:latin typeface="Courier New"/>
                        </a:rPr>
                        <a:t>37-45</a:t>
                      </a:r>
                      <a:r>
                        <a:rPr sz="1100" b="0">
                          <a:solidFill>
                            <a:srgbClr val="999999"/>
                          </a:solidFill>
                          <a:latin typeface="Courier New"/>
                        </a:rPr>
                        <a:t>  ·  </a:t>
                      </a:r>
                      <a:r>
                        <a:rPr sz="1100" b="0">
                          <a:solidFill>
                            <a:srgbClr val="999999"/>
                          </a:solidFill>
                          <a:latin typeface="Courier New"/>
                        </a:rPr>
                        <a:t>Copter::failsafe_check()</a:t>
                      </a:r>
                    </a:p>
                    <a:p>
                      <a:pPr algn="l">
                        <a:lnSpc>
                          <a:spcPct val="106000"/>
                        </a:lnSpc>
                        <a:spcAft>
                          <a:spcPts val="0"/>
                        </a:spcAft>
                      </a:pPr>
                      <a:r>
                        <a:rPr sz="1100" b="0">
                          <a:solidFill>
                            <a:srgbClr val="333333"/>
                          </a:solidFill>
                          <a:latin typeface="Courier New"/>
                        </a:rPr>
                        <a:t>    uint32_t tnow = AP_HAL::micros();</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const uint16_t ticks = scheduler.ticks();</a:t>
                      </a:r>
                    </a:p>
                    <a:p>
                      <a:pPr algn="l">
                        <a:lnSpc>
                          <a:spcPct val="106000"/>
                        </a:lnSpc>
                        <a:spcAft>
                          <a:spcPts val="0"/>
                        </a:spcAft>
                      </a:pPr>
                      <a:r>
                        <a:rPr sz="1100" b="0">
                          <a:solidFill>
                            <a:srgbClr val="333333"/>
                          </a:solidFill>
                          <a:latin typeface="Courier New"/>
                        </a:rPr>
                        <a:t>    if (ticks != failsafe_last_ticks) {</a:t>
                      </a:r>
                    </a:p>
                    <a:p>
                      <a:pPr algn="l">
                        <a:lnSpc>
                          <a:spcPct val="106000"/>
                        </a:lnSpc>
                        <a:spcAft>
                          <a:spcPts val="0"/>
                        </a:spcAft>
                      </a:pPr>
                      <a:r>
                        <a:rPr sz="1100" b="0">
                          <a:solidFill>
                            <a:srgbClr val="333333"/>
                          </a:solidFill>
                          <a:latin typeface="Courier New"/>
                        </a:rPr>
                        <a:t>        // the main loop is running, all is OK</a:t>
                      </a:r>
                    </a:p>
                    <a:p>
                      <a:pPr algn="l">
                        <a:lnSpc>
                          <a:spcPct val="106000"/>
                        </a:lnSpc>
                        <a:spcAft>
                          <a:spcPts val="0"/>
                        </a:spcAft>
                      </a:pPr>
                      <a:r>
                        <a:rPr sz="1100" b="0">
                          <a:solidFill>
                            <a:srgbClr val="333333"/>
                          </a:solidFill>
                          <a:latin typeface="Courier New"/>
                        </a:rPr>
                        <a:t>        failsafe_last_ticks = ticks;</a:t>
                      </a:r>
                    </a:p>
                    <a:p>
                      <a:pPr algn="l">
                        <a:lnSpc>
                          <a:spcPct val="106000"/>
                        </a:lnSpc>
                        <a:spcAft>
                          <a:spcPts val="0"/>
                        </a:spcAft>
                      </a:pPr>
                      <a:r>
                        <a:rPr sz="1100" b="0">
                          <a:solidFill>
                            <a:srgbClr val="333333"/>
                          </a:solidFill>
                          <a:latin typeface="Courier New"/>
                        </a:rPr>
                        <a:t>        failsafe_last_timestamp = tnow;</a:t>
                      </a:r>
                    </a:p>
                    <a:p>
                      <a:pPr algn="l">
                        <a:lnSpc>
                          <a:spcPct val="106000"/>
                        </a:lnSpc>
                        <a:spcAft>
                          <a:spcPts val="0"/>
                        </a:spcAft>
                      </a:pPr>
                      <a:r>
                        <a:rPr sz="1100" b="0">
                          <a:solidFill>
                            <a:srgbClr val="333333"/>
                          </a:solidFill>
                          <a:latin typeface="Courier New"/>
                        </a:rPr>
                        <a:t>        if (in_failsafe) {</a:t>
                      </a:r>
                    </a:p>
                    <a:p>
                      <a:pPr algn="l">
                        <a:lnSpc>
                          <a:spcPct val="106000"/>
                        </a:lnSpc>
                        <a:spcAft>
                          <a:spcPts val="0"/>
                        </a:spcAft>
                      </a:pPr>
                      <a:r>
                        <a:rPr sz="1100" b="0">
                          <a:solidFill>
                            <a:srgbClr val="333333"/>
                          </a:solidFill>
                          <a:latin typeface="Courier New"/>
                        </a:rPr>
                        <a:t>            in_failsafe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Code Snippet (5-10 lines) (continued)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Courier New"/>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ArduPlane/failsafe.cpp</a:t>
                      </a:r>
                      <a:r>
                        <a:rPr sz="1100" b="0">
                          <a:solidFill>
                            <a:srgbClr val="999999"/>
                          </a:solidFill>
                          <a:latin typeface="Courier New"/>
                        </a:rPr>
                        <a:t>  ·  </a:t>
                      </a:r>
                      <a:r>
                        <a:rPr sz="1100" b="0">
                          <a:solidFill>
                            <a:srgbClr val="999999"/>
                          </a:solidFill>
                          <a:latin typeface="Courier New"/>
                        </a:rPr>
                        <a:t>22-30</a:t>
                      </a:r>
                      <a:r>
                        <a:rPr sz="1100" b="0">
                          <a:solidFill>
                            <a:srgbClr val="999999"/>
                          </a:solidFill>
                          <a:latin typeface="Courier New"/>
                        </a:rPr>
                        <a:t>  ·  </a:t>
                      </a:r>
                      <a:r>
                        <a:rPr sz="1100" b="0">
                          <a:solidFill>
                            <a:srgbClr val="999999"/>
                          </a:solidFill>
                          <a:latin typeface="Courier New"/>
                        </a:rPr>
                        <a:t>Plane::failsafe_check()</a:t>
                      </a:r>
                    </a:p>
                    <a:p>
                      <a:pPr algn="l">
                        <a:lnSpc>
                          <a:spcPct val="106000"/>
                        </a:lnSpc>
                        <a:spcAft>
                          <a:spcPts val="0"/>
                        </a:spcAft>
                      </a:pPr>
                      <a:r>
                        <a:rPr sz="1100" b="0">
                          <a:solidFill>
                            <a:srgbClr val="333333"/>
                          </a:solidFill>
                          <a:latin typeface="Courier New"/>
                        </a:rPr>
                        <a:t>    uint32_t tnow = micros();</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const uint16_t ticks = scheduler.ticks();</a:t>
                      </a:r>
                    </a:p>
                    <a:p>
                      <a:pPr algn="l">
                        <a:lnSpc>
                          <a:spcPct val="106000"/>
                        </a:lnSpc>
                        <a:spcAft>
                          <a:spcPts val="0"/>
                        </a:spcAft>
                      </a:pPr>
                      <a:r>
                        <a:rPr sz="1100" b="0">
                          <a:solidFill>
                            <a:srgbClr val="333333"/>
                          </a:solidFill>
                          <a:latin typeface="Courier New"/>
                        </a:rPr>
                        <a:t>    if (ticks != last_ticks) {</a:t>
                      </a:r>
                    </a:p>
                    <a:p>
                      <a:pPr algn="l">
                        <a:lnSpc>
                          <a:spcPct val="106000"/>
                        </a:lnSpc>
                        <a:spcAft>
                          <a:spcPts val="0"/>
                        </a:spcAft>
                      </a:pPr>
                      <a:r>
                        <a:rPr sz="1100" b="0">
                          <a:solidFill>
                            <a:srgbClr val="333333"/>
                          </a:solidFill>
                          <a:latin typeface="Courier New"/>
                        </a:rPr>
                        <a:t>        // the main loop is running, all is OK</a:t>
                      </a:r>
                    </a:p>
                    <a:p>
                      <a:pPr algn="l">
                        <a:lnSpc>
                          <a:spcPct val="106000"/>
                        </a:lnSpc>
                        <a:spcAft>
                          <a:spcPts val="0"/>
                        </a:spcAft>
                      </a:pPr>
                      <a:r>
                        <a:rPr sz="1100" b="0">
                          <a:solidFill>
                            <a:srgbClr val="333333"/>
                          </a:solidFill>
                          <a:latin typeface="Courier New"/>
                        </a:rPr>
                        <a:t>        last_ticks = ticks;</a:t>
                      </a:r>
                    </a:p>
                    <a:p>
                      <a:pPr algn="l">
                        <a:lnSpc>
                          <a:spcPct val="106000"/>
                        </a:lnSpc>
                        <a:spcAft>
                          <a:spcPts val="0"/>
                        </a:spcAft>
                      </a:pPr>
                      <a:r>
                        <a:rPr sz="1100" b="0">
                          <a:solidFill>
                            <a:srgbClr val="333333"/>
                          </a:solidFill>
                          <a:latin typeface="Courier New"/>
                        </a:rPr>
                        <a:t>        last_timestamp = tnow;</a:t>
                      </a:r>
                    </a:p>
                    <a:p>
                      <a:pPr algn="l">
                        <a:lnSpc>
                          <a:spcPct val="106000"/>
                        </a:lnSpc>
                        <a:spcAft>
                          <a:spcPts val="0"/>
                        </a:spcAft>
                      </a:pPr>
                      <a:r>
                        <a:rPr sz="1100" b="0">
                          <a:solidFill>
                            <a:srgbClr val="333333"/>
                          </a:solidFill>
                          <a:latin typeface="Courier New"/>
                        </a:rPr>
                        <a:t>        in_failsafe = false;</a:t>
                      </a:r>
                    </a:p>
                    <a:p>
                      <a:pPr algn="l">
                        <a:lnSpc>
                          <a:spcPct val="106000"/>
                        </a:lnSpc>
                        <a:spcAft>
                          <a:spcPts val="0"/>
                        </a:spcAft>
                      </a:pPr>
                      <a:r>
                        <a:rPr sz="1100" b="0">
                          <a:solidFill>
                            <a:srgbClr val="333333"/>
                          </a:solidFill>
                          <a:latin typeface="Courier New"/>
                        </a:rPr>
                        <a:t>        return;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Courier New"/>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Rover/failsafe.cpp</a:t>
                      </a:r>
                      <a:r>
                        <a:rPr sz="1100" b="0">
                          <a:solidFill>
                            <a:srgbClr val="999999"/>
                          </a:solidFill>
                          <a:latin typeface="Courier New"/>
                        </a:rPr>
                        <a:t>  ·  </a:t>
                      </a:r>
                      <a:r>
                        <a:rPr sz="1100" b="0">
                          <a:solidFill>
                            <a:srgbClr val="999999"/>
                          </a:solidFill>
                          <a:latin typeface="Courier New"/>
                        </a:rPr>
                        <a:t>22-30</a:t>
                      </a:r>
                      <a:r>
                        <a:rPr sz="1100" b="0">
                          <a:solidFill>
                            <a:srgbClr val="999999"/>
                          </a:solidFill>
                          <a:latin typeface="Courier New"/>
                        </a:rPr>
                        <a:t>  ·  </a:t>
                      </a:r>
                      <a:r>
                        <a:rPr sz="1100" b="0">
                          <a:solidFill>
                            <a:srgbClr val="999999"/>
                          </a:solidFill>
                          <a:latin typeface="Courier New"/>
                        </a:rPr>
                        <a:t>Rover::failsafe_check()</a:t>
                      </a:r>
                    </a:p>
                    <a:p>
                      <a:pPr algn="l">
                        <a:lnSpc>
                          <a:spcPct val="106000"/>
                        </a:lnSpc>
                        <a:spcAft>
                          <a:spcPts val="0"/>
                        </a:spcAft>
                      </a:pPr>
                      <a:r>
                        <a:rPr sz="1100" b="0">
                          <a:solidFill>
                            <a:srgbClr val="333333"/>
                          </a:solidFill>
                          <a:latin typeface="Courier New"/>
                        </a:rPr>
                        <a:t>    const uint32_t tnow = AP_HAL::micros();</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const uint16_t ticks = scheduler.ticks();</a:t>
                      </a:r>
                    </a:p>
                    <a:p>
                      <a:pPr algn="l">
                        <a:lnSpc>
                          <a:spcPct val="106000"/>
                        </a:lnSpc>
                        <a:spcAft>
                          <a:spcPts val="0"/>
                        </a:spcAft>
                      </a:pPr>
                      <a:r>
                        <a:rPr sz="1100" b="0">
                          <a:solidFill>
                            <a:srgbClr val="333333"/>
                          </a:solidFill>
                          <a:latin typeface="Courier New"/>
                        </a:rPr>
                        <a:t>    if (ticks != last_ticks) {</a:t>
                      </a:r>
                    </a:p>
                    <a:p>
                      <a:pPr algn="l">
                        <a:lnSpc>
                          <a:spcPct val="106000"/>
                        </a:lnSpc>
                        <a:spcAft>
                          <a:spcPts val="0"/>
                        </a:spcAft>
                      </a:pPr>
                      <a:r>
                        <a:rPr sz="1100" b="0">
                          <a:solidFill>
                            <a:srgbClr val="333333"/>
                          </a:solidFill>
                          <a:latin typeface="Courier New"/>
                        </a:rPr>
                        <a:t>        // the main loop is running, all is OK</a:t>
                      </a:r>
                    </a:p>
                    <a:p>
                      <a:pPr algn="l">
                        <a:lnSpc>
                          <a:spcPct val="106000"/>
                        </a:lnSpc>
                        <a:spcAft>
                          <a:spcPts val="0"/>
                        </a:spcAft>
                      </a:pPr>
                      <a:r>
                        <a:rPr sz="1100" b="0">
                          <a:solidFill>
                            <a:srgbClr val="333333"/>
                          </a:solidFill>
                          <a:latin typeface="Courier New"/>
                        </a:rPr>
                        <a:t>        last_ticks = ticks;</a:t>
                      </a:r>
                    </a:p>
                    <a:p>
                      <a:pPr algn="l">
                        <a:lnSpc>
                          <a:spcPct val="106000"/>
                        </a:lnSpc>
                        <a:spcAft>
                          <a:spcPts val="0"/>
                        </a:spcAft>
                      </a:pPr>
                      <a:r>
                        <a:rPr sz="1100" b="0">
                          <a:solidFill>
                            <a:srgbClr val="333333"/>
                          </a:solidFill>
                          <a:latin typeface="Courier New"/>
                        </a:rPr>
                        <a:t>        last_timestamp = tnow;</a:t>
                      </a:r>
                    </a:p>
                    <a:p>
                      <a:pPr algn="l">
                        <a:lnSpc>
                          <a:spcPct val="106000"/>
                        </a:lnSpc>
                        <a:spcAft>
                          <a:spcPts val="0"/>
                        </a:spcAft>
                      </a:pPr>
                      <a:r>
                        <a:rPr sz="1100" b="0">
                          <a:solidFill>
                            <a:srgbClr val="333333"/>
                          </a:solidFill>
                          <a:latin typeface="Courier New"/>
                        </a:rPr>
                        <a:t>        return;</a:t>
                      </a:r>
                    </a:p>
                    <a:p>
                      <a:pPr algn="l">
                        <a:lnSpc>
                          <a:spcPct val="106000"/>
                        </a:lnSpc>
                        <a:spcAft>
                          <a:spcPts val="0"/>
                        </a:spcAft>
                      </a:pPr>
                      <a:r>
                        <a:rPr sz="1100" b="0">
                          <a:solidFill>
                            <a:srgbClr val="333333"/>
                          </a:solidFill>
                          <a:latin typeface="Courier New"/>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Code Snippet (5-10 lines) (continued)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Courier New"/>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ArduSub/failsafe.cpp</a:t>
                      </a:r>
                      <a:r>
                        <a:rPr sz="1100" b="0">
                          <a:solidFill>
                            <a:srgbClr val="999999"/>
                          </a:solidFill>
                          <a:latin typeface="Courier New"/>
                        </a:rPr>
                        <a:t>  ·  </a:t>
                      </a:r>
                      <a:r>
                        <a:rPr sz="1100" b="0">
                          <a:solidFill>
                            <a:srgbClr val="999999"/>
                          </a:solidFill>
                          <a:latin typeface="Courier New"/>
                        </a:rPr>
                        <a:t>31-39</a:t>
                      </a:r>
                      <a:r>
                        <a:rPr sz="1100" b="0">
                          <a:solidFill>
                            <a:srgbClr val="999999"/>
                          </a:solidFill>
                          <a:latin typeface="Courier New"/>
                        </a:rPr>
                        <a:t>  ·  </a:t>
                      </a:r>
                      <a:r>
                        <a:rPr sz="1100" b="0">
                          <a:solidFill>
                            <a:srgbClr val="999999"/>
                          </a:solidFill>
                          <a:latin typeface="Courier New"/>
                        </a:rPr>
                        <a:t>Sub::mainloop_failsafe_check()</a:t>
                      </a:r>
                    </a:p>
                    <a:p>
                      <a:pPr algn="l">
                        <a:lnSpc>
                          <a:spcPct val="106000"/>
                        </a:lnSpc>
                        <a:spcAft>
                          <a:spcPts val="0"/>
                        </a:spcAft>
                      </a:pPr>
                      <a:r>
                        <a:rPr sz="1100" b="0">
                          <a:solidFill>
                            <a:srgbClr val="333333"/>
                          </a:solidFill>
                          <a:latin typeface="Courier New"/>
                        </a:rPr>
                        <a:t>    uint32_t tnow = AP_HAL::micros();</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const uint16_t ticks = scheduler.ticks();</a:t>
                      </a:r>
                    </a:p>
                    <a:p>
                      <a:pPr algn="l">
                        <a:lnSpc>
                          <a:spcPct val="106000"/>
                        </a:lnSpc>
                        <a:spcAft>
                          <a:spcPts val="0"/>
                        </a:spcAft>
                      </a:pPr>
                      <a:r>
                        <a:rPr sz="1100" b="0">
                          <a:solidFill>
                            <a:srgbClr val="333333"/>
                          </a:solidFill>
                          <a:latin typeface="Courier New"/>
                        </a:rPr>
                        <a:t>    if (ticks != failsafe_last_ticks) {</a:t>
                      </a:r>
                    </a:p>
                    <a:p>
                      <a:pPr algn="l">
                        <a:lnSpc>
                          <a:spcPct val="106000"/>
                        </a:lnSpc>
                        <a:spcAft>
                          <a:spcPts val="0"/>
                        </a:spcAft>
                      </a:pPr>
                      <a:r>
                        <a:rPr sz="1100" b="0">
                          <a:solidFill>
                            <a:srgbClr val="333333"/>
                          </a:solidFill>
                          <a:latin typeface="Courier New"/>
                        </a:rPr>
                        <a:t>        // the main loop is running, all is OK</a:t>
                      </a:r>
                    </a:p>
                    <a:p>
                      <a:pPr algn="l">
                        <a:lnSpc>
                          <a:spcPct val="106000"/>
                        </a:lnSpc>
                        <a:spcAft>
                          <a:spcPts val="0"/>
                        </a:spcAft>
                      </a:pPr>
                      <a:r>
                        <a:rPr sz="1100" b="0">
                          <a:solidFill>
                            <a:srgbClr val="333333"/>
                          </a:solidFill>
                          <a:latin typeface="Courier New"/>
                        </a:rPr>
                        <a:t>        failsafe_last_ticks = ticks;</a:t>
                      </a:r>
                    </a:p>
                    <a:p>
                      <a:pPr algn="l">
                        <a:lnSpc>
                          <a:spcPct val="106000"/>
                        </a:lnSpc>
                        <a:spcAft>
                          <a:spcPts val="0"/>
                        </a:spcAft>
                      </a:pPr>
                      <a:r>
                        <a:rPr sz="1100" b="0">
                          <a:solidFill>
                            <a:srgbClr val="333333"/>
                          </a:solidFill>
                          <a:latin typeface="Courier New"/>
                        </a:rPr>
                        <a:t>        failsafe_last_timestamp = tnow;</a:t>
                      </a:r>
                    </a:p>
                    <a:p>
                      <a:pPr algn="l">
                        <a:lnSpc>
                          <a:spcPct val="106000"/>
                        </a:lnSpc>
                        <a:spcAft>
                          <a:spcPts val="0"/>
                        </a:spcAft>
                      </a:pPr>
                      <a:r>
                        <a:rPr sz="1100" b="0">
                          <a:solidFill>
                            <a:srgbClr val="333333"/>
                          </a:solidFill>
                          <a:latin typeface="Courier New"/>
                        </a:rPr>
                        <a:t>        if (in_failsafe) {</a:t>
                      </a:r>
                    </a:p>
                    <a:p>
                      <a:pPr algn="l">
                        <a:lnSpc>
                          <a:spcPct val="106000"/>
                        </a:lnSpc>
                        <a:spcAft>
                          <a:spcPts val="0"/>
                        </a:spcAft>
                      </a:pPr>
                      <a:r>
                        <a:rPr sz="1100" b="0">
                          <a:solidFill>
                            <a:srgbClr val="333333"/>
                          </a:solidFill>
                          <a:latin typeface="Courier New"/>
                        </a:rPr>
                        <a:t>            in_failsafe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Courier New"/>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Blimp/failsafe.cpp</a:t>
                      </a:r>
                      <a:r>
                        <a:rPr sz="1100" b="0">
                          <a:solidFill>
                            <a:srgbClr val="999999"/>
                          </a:solidFill>
                          <a:latin typeface="Courier New"/>
                        </a:rPr>
                        <a:t>  ·  </a:t>
                      </a:r>
                      <a:r>
                        <a:rPr sz="1100" b="0">
                          <a:solidFill>
                            <a:srgbClr val="999999"/>
                          </a:solidFill>
                          <a:latin typeface="Courier New"/>
                        </a:rPr>
                        <a:t>37-45</a:t>
                      </a:r>
                      <a:r>
                        <a:rPr sz="1100" b="0">
                          <a:solidFill>
                            <a:srgbClr val="999999"/>
                          </a:solidFill>
                          <a:latin typeface="Courier New"/>
                        </a:rPr>
                        <a:t>  ·  </a:t>
                      </a:r>
                      <a:r>
                        <a:rPr sz="1100" b="0">
                          <a:solidFill>
                            <a:srgbClr val="999999"/>
                          </a:solidFill>
                          <a:latin typeface="Courier New"/>
                        </a:rPr>
                        <a:t>Blimp::failsafe_check()</a:t>
                      </a:r>
                    </a:p>
                    <a:p>
                      <a:pPr algn="l">
                        <a:lnSpc>
                          <a:spcPct val="106000"/>
                        </a:lnSpc>
                        <a:spcAft>
                          <a:spcPts val="0"/>
                        </a:spcAft>
                      </a:pPr>
                      <a:r>
                        <a:rPr sz="1100" b="0">
                          <a:solidFill>
                            <a:srgbClr val="333333"/>
                          </a:solidFill>
                          <a:latin typeface="Courier New"/>
                        </a:rPr>
                        <a:t>    uint32_t tnow = AP_HAL::micros();</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const uint16_t ticks = scheduler.ticks();</a:t>
                      </a:r>
                    </a:p>
                    <a:p>
                      <a:pPr algn="l">
                        <a:lnSpc>
                          <a:spcPct val="106000"/>
                        </a:lnSpc>
                        <a:spcAft>
                          <a:spcPts val="0"/>
                        </a:spcAft>
                      </a:pPr>
                      <a:r>
                        <a:rPr sz="1100" b="0">
                          <a:solidFill>
                            <a:srgbClr val="333333"/>
                          </a:solidFill>
                          <a:latin typeface="Courier New"/>
                        </a:rPr>
                        <a:t>    if (ticks != failsafe_last_ticks) {</a:t>
                      </a:r>
                    </a:p>
                    <a:p>
                      <a:pPr algn="l">
                        <a:lnSpc>
                          <a:spcPct val="106000"/>
                        </a:lnSpc>
                        <a:spcAft>
                          <a:spcPts val="0"/>
                        </a:spcAft>
                      </a:pPr>
                      <a:r>
                        <a:rPr sz="1100" b="0">
                          <a:solidFill>
                            <a:srgbClr val="333333"/>
                          </a:solidFill>
                          <a:latin typeface="Courier New"/>
                        </a:rPr>
                        <a:t>        // the main loop is running, all is OK</a:t>
                      </a:r>
                    </a:p>
                    <a:p>
                      <a:pPr algn="l">
                        <a:lnSpc>
                          <a:spcPct val="106000"/>
                        </a:lnSpc>
                        <a:spcAft>
                          <a:spcPts val="0"/>
                        </a:spcAft>
                      </a:pPr>
                      <a:r>
                        <a:rPr sz="1100" b="0">
                          <a:solidFill>
                            <a:srgbClr val="333333"/>
                          </a:solidFill>
                          <a:latin typeface="Courier New"/>
                        </a:rPr>
                        <a:t>        failsafe_last_ticks = ticks;</a:t>
                      </a:r>
                    </a:p>
                    <a:p>
                      <a:pPr algn="l">
                        <a:lnSpc>
                          <a:spcPct val="106000"/>
                        </a:lnSpc>
                        <a:spcAft>
                          <a:spcPts val="0"/>
                        </a:spcAft>
                      </a:pPr>
                      <a:r>
                        <a:rPr sz="1100" b="0">
                          <a:solidFill>
                            <a:srgbClr val="333333"/>
                          </a:solidFill>
                          <a:latin typeface="Courier New"/>
                        </a:rPr>
                        <a:t>        failsafe_last_timestamp = tnow;</a:t>
                      </a:r>
                    </a:p>
                    <a:p>
                      <a:pPr algn="l">
                        <a:lnSpc>
                          <a:spcPct val="106000"/>
                        </a:lnSpc>
                        <a:spcAft>
                          <a:spcPts val="0"/>
                        </a:spcAft>
                      </a:pPr>
                      <a:r>
                        <a:rPr sz="1100" b="0">
                          <a:solidFill>
                            <a:srgbClr val="333333"/>
                          </a:solidFill>
                          <a:latin typeface="Courier New"/>
                        </a:rPr>
                        <a:t>        if (in_failsafe) {</a:t>
                      </a:r>
                    </a:p>
                    <a:p>
                      <a:pPr algn="l">
                        <a:lnSpc>
                          <a:spcPct val="106000"/>
                        </a:lnSpc>
                        <a:spcAft>
                          <a:spcPts val="0"/>
                        </a:spcAft>
                      </a:pPr>
                      <a:r>
                        <a:rPr sz="1100" b="0">
                          <a:solidFill>
                            <a:srgbClr val="333333"/>
                          </a:solidFill>
                          <a:latin typeface="Courier New"/>
                        </a:rPr>
                        <a:t>            in_failsafe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4–5</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Code Snippet (5-10 lines) (continued)</a:t>
            </a:r>
          </a:p>
        </p:txBody>
      </p:sp>
      <p:graphicFrame>
        <p:nvGraphicFramePr>
          <p:cNvPr id="6" name="Table 5"/>
          <p:cNvGraphicFramePr>
            <a:graphicFrameLocks noGrp="1"/>
          </p:cNvGraphicFramePr>
          <p:nvPr/>
        </p:nvGraphicFramePr>
        <p:xfrm>
          <a:off x="566928" y="1591056"/>
          <a:ext cx="11058144" cy="250378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Courier New"/>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ArduCopter/ekf_check.cpp</a:t>
                      </a:r>
                      <a:r>
                        <a:rPr sz="1100" b="0">
                          <a:solidFill>
                            <a:srgbClr val="999999"/>
                          </a:solidFill>
                          <a:latin typeface="Courier New"/>
                        </a:rPr>
                        <a:t>  ·  </a:t>
                      </a:r>
                      <a:r>
                        <a:rPr sz="1100" b="0">
                          <a:solidFill>
                            <a:srgbClr val="999999"/>
                          </a:solidFill>
                          <a:latin typeface="Courier New"/>
                        </a:rPr>
                        <a:t>84-88</a:t>
                      </a:r>
                      <a:r>
                        <a:rPr sz="1100" b="0">
                          <a:solidFill>
                            <a:srgbClr val="999999"/>
                          </a:solidFill>
                          <a:latin typeface="Courier New"/>
                        </a:rPr>
                        <a:t>  ·  </a:t>
                      </a:r>
                      <a:r>
                        <a:rPr sz="1100" b="0">
                          <a:solidFill>
                            <a:srgbClr val="999999"/>
                          </a:solidFill>
                          <a:latin typeface="Courier New"/>
                        </a:rPr>
                        <a:t>Copter::ekf_check() — GCS warn throttle</a:t>
                      </a:r>
                    </a:p>
                    <a:p>
                      <a:pPr algn="l">
                        <a:lnSpc>
                          <a:spcPct val="106000"/>
                        </a:lnSpc>
                        <a:spcAft>
                          <a:spcPts val="0"/>
                        </a:spcAft>
                      </a:pPr>
                      <a:r>
                        <a:rPr sz="1100" b="0">
                          <a:solidFill>
                            <a:srgbClr val="333333"/>
                          </a:solidFill>
                          <a:latin typeface="Courier New"/>
                        </a:rPr>
                        <a:t>                // send message to gcs</a:t>
                      </a:r>
                    </a:p>
                    <a:p>
                      <a:pPr algn="l">
                        <a:lnSpc>
                          <a:spcPct val="106000"/>
                        </a:lnSpc>
                        <a:spcAft>
                          <a:spcPts val="0"/>
                        </a:spcAft>
                      </a:pPr>
                      <a:r>
                        <a:rPr sz="1100" b="0">
                          <a:solidFill>
                            <a:srgbClr val="333333"/>
                          </a:solidFill>
                          <a:latin typeface="Courier New"/>
                        </a:rPr>
                        <a:t>                if ((AP_HAL::millis() - ekf_check_state.last_warn_time) &gt; EKF_CHECK_WARNING_TIME) {</a:t>
                      </a:r>
                    </a:p>
                    <a:p>
                      <a:pPr algn="l">
                        <a:lnSpc>
                          <a:spcPct val="106000"/>
                        </a:lnSpc>
                        <a:spcAft>
                          <a:spcPts val="0"/>
                        </a:spcAft>
                      </a:pPr>
                      <a:r>
                        <a:rPr sz="1100" b="0">
                          <a:solidFill>
                            <a:srgbClr val="333333"/>
                          </a:solidFill>
                          <a:latin typeface="Courier New"/>
                        </a:rPr>
                        <a:t>                    gcs().send_text(MAV_SEVERITY_CRITICAL,"EKF variance");</a:t>
                      </a:r>
                    </a:p>
                    <a:p>
                      <a:pPr algn="l">
                        <a:lnSpc>
                          <a:spcPct val="106000"/>
                        </a:lnSpc>
                        <a:spcAft>
                          <a:spcPts val="0"/>
                        </a:spcAft>
                      </a:pPr>
                      <a:r>
                        <a:rPr sz="1100" b="0">
                          <a:solidFill>
                            <a:srgbClr val="333333"/>
                          </a:solidFill>
                          <a:latin typeface="Courier New"/>
                        </a:rPr>
                        <a:t>                    ekf_check_state.last_warn_time = AP_HAL::millis();</a:t>
                      </a:r>
                    </a:p>
                    <a:p>
                      <a:pPr algn="l">
                        <a:lnSpc>
                          <a:spcPct val="106000"/>
                        </a:lnSpc>
                        <a:spcAft>
                          <a:spcPts val="0"/>
                        </a:spcAft>
                      </a:pPr>
                      <a:r>
                        <a:rPr sz="1100" b="0">
                          <a:solidFill>
                            <a:srgbClr val="333333"/>
                          </a:solidFill>
                          <a:latin typeface="Courier New"/>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31784">
                <a:tc>
                  <a:txBody>
                    <a:bodyPr wrap="square">
                      <a:noAutofit/>
                    </a:bodyPr>
                    <a:lstStyle/>
                    <a:p>
                      <a:pPr algn="r">
                        <a:lnSpc>
                          <a:spcPct val="106000"/>
                        </a:lnSpc>
                        <a:spcAft>
                          <a:spcPts val="0"/>
                        </a:spcAft>
                      </a:pPr>
                      <a:r>
                        <a:rPr sz="1100" b="1">
                          <a:solidFill>
                            <a:srgbClr val="333333"/>
                          </a:solidFill>
                          <a:latin typeface="Courier New"/>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ArduPlane/ekf_check.cpp</a:t>
                      </a:r>
                      <a:r>
                        <a:rPr sz="1100" b="0">
                          <a:solidFill>
                            <a:srgbClr val="999999"/>
                          </a:solidFill>
                          <a:latin typeface="Courier New"/>
                        </a:rPr>
                        <a:t>  ·  </a:t>
                      </a:r>
                      <a:r>
                        <a:rPr sz="1100" b="0">
                          <a:solidFill>
                            <a:srgbClr val="999999"/>
                          </a:solidFill>
                          <a:latin typeface="Courier New"/>
                        </a:rPr>
                        <a:t>78-82</a:t>
                      </a:r>
                      <a:r>
                        <a:rPr sz="1100" b="0">
                          <a:solidFill>
                            <a:srgbClr val="999999"/>
                          </a:solidFill>
                          <a:latin typeface="Courier New"/>
                        </a:rPr>
                        <a:t>  ·  </a:t>
                      </a:r>
                      <a:r>
                        <a:rPr sz="1100" b="0">
                          <a:solidFill>
                            <a:srgbClr val="999999"/>
                          </a:solidFill>
                          <a:latin typeface="Courier New"/>
                        </a:rPr>
                        <a:t>Plane::ekf_check() — GCS warn throttle</a:t>
                      </a:r>
                    </a:p>
                    <a:p>
                      <a:pPr algn="l">
                        <a:lnSpc>
                          <a:spcPct val="106000"/>
                        </a:lnSpc>
                        <a:spcAft>
                          <a:spcPts val="0"/>
                        </a:spcAft>
                      </a:pPr>
                      <a:r>
                        <a:rPr sz="1100" b="0">
                          <a:solidFill>
                            <a:srgbClr val="333333"/>
                          </a:solidFill>
                          <a:latin typeface="Courier New"/>
                        </a:rPr>
                        <a:t>                // send message to gcs</a:t>
                      </a:r>
                    </a:p>
                    <a:p>
                      <a:pPr algn="l">
                        <a:lnSpc>
                          <a:spcPct val="106000"/>
                        </a:lnSpc>
                        <a:spcAft>
                          <a:spcPts val="0"/>
                        </a:spcAft>
                      </a:pPr>
                      <a:r>
                        <a:rPr sz="1100" b="0">
                          <a:solidFill>
                            <a:srgbClr val="333333"/>
                          </a:solidFill>
                          <a:latin typeface="Courier New"/>
                        </a:rPr>
                        <a:t>                if ((AP_HAL::millis() - ekf_check_state.last_warn_time) &gt; EKF_CHECK_WARNING_TIME) {</a:t>
                      </a:r>
                    </a:p>
                    <a:p>
                      <a:pPr algn="l">
                        <a:lnSpc>
                          <a:spcPct val="106000"/>
                        </a:lnSpc>
                        <a:spcAft>
                          <a:spcPts val="0"/>
                        </a:spcAft>
                      </a:pPr>
                      <a:r>
                        <a:rPr sz="1100" b="0">
                          <a:solidFill>
                            <a:srgbClr val="333333"/>
                          </a:solidFill>
                          <a:latin typeface="Courier New"/>
                        </a:rPr>
                        <a:t>                    gcs().send_text(MAV_SEVERITY_CRITICAL,"EKF variance");</a:t>
                      </a:r>
                    </a:p>
                    <a:p>
                      <a:pPr algn="l">
                        <a:lnSpc>
                          <a:spcPct val="106000"/>
                        </a:lnSpc>
                        <a:spcAft>
                          <a:spcPts val="0"/>
                        </a:spcAft>
                      </a:pPr>
                      <a:r>
                        <a:rPr sz="1100" b="0">
                          <a:solidFill>
                            <a:srgbClr val="333333"/>
                          </a:solidFill>
                          <a:latin typeface="Courier New"/>
                        </a:rPr>
                        <a:t>                    ekf_check_state.last_warn_time = AP_HAL::millis();</a:t>
                      </a:r>
                    </a:p>
                    <a:p>
                      <a:pPr algn="l">
                        <a:lnSpc>
                          <a:spcPct val="106000"/>
                        </a:lnSpc>
                        <a:spcAft>
                          <a:spcPts val="0"/>
                        </a:spcAft>
                      </a:pPr>
                      <a:r>
                        <a:rPr sz="1100" b="0">
                          <a:solidFill>
                            <a:srgbClr val="333333"/>
                          </a:solidFill>
                          <a:latin typeface="Courier New"/>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6–7</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Code Snippet (5-10 lines) (continued)</a:t>
            </a:r>
          </a:p>
        </p:txBody>
      </p:sp>
      <p:graphicFrame>
        <p:nvGraphicFramePr>
          <p:cNvPr id="6" name="Table 5"/>
          <p:cNvGraphicFramePr>
            <a:graphicFrameLocks noGrp="1"/>
          </p:cNvGraphicFramePr>
          <p:nvPr/>
        </p:nvGraphicFramePr>
        <p:xfrm>
          <a:off x="566928" y="1591056"/>
          <a:ext cx="11058144" cy="321458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9483">
                <a:tc>
                  <a:txBody>
                    <a:bodyPr wrap="square">
                      <a:noAutofit/>
                    </a:bodyPr>
                    <a:lstStyle/>
                    <a:p>
                      <a:pPr algn="r">
                        <a:lnSpc>
                          <a:spcPct val="106000"/>
                        </a:lnSpc>
                        <a:spcAft>
                          <a:spcPts val="0"/>
                        </a:spcAft>
                      </a:pPr>
                      <a:r>
                        <a:rPr sz="1100" b="1">
                          <a:solidFill>
                            <a:srgbClr val="333333"/>
                          </a:solidFill>
                          <a:latin typeface="Courier New"/>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ArduSub/failsafe.cpp</a:t>
                      </a:r>
                      <a:r>
                        <a:rPr sz="1100" b="0">
                          <a:solidFill>
                            <a:srgbClr val="999999"/>
                          </a:solidFill>
                          <a:latin typeface="Courier New"/>
                        </a:rPr>
                        <a:t>  ·  </a:t>
                      </a:r>
                      <a:r>
                        <a:rPr sz="1100" b="0">
                          <a:solidFill>
                            <a:srgbClr val="999999"/>
                          </a:solidFill>
                          <a:latin typeface="Courier New"/>
                        </a:rPr>
                        <a:t>125-130</a:t>
                      </a:r>
                      <a:r>
                        <a:rPr sz="1100" b="0">
                          <a:solidFill>
                            <a:srgbClr val="999999"/>
                          </a:solidFill>
                          <a:latin typeface="Courier New"/>
                        </a:rPr>
                        <a:t>  ·  </a:t>
                      </a:r>
                      <a:r>
                        <a:rPr sz="1100" b="0">
                          <a:solidFill>
                            <a:srgbClr val="999999"/>
                          </a:solidFill>
                          <a:latin typeface="Courier New"/>
                        </a:rPr>
                        <a:t>Sub::failsafe_ekf_check() — 2 s confirm hysteresis</a:t>
                      </a:r>
                    </a:p>
                    <a:p>
                      <a:pPr algn="l">
                        <a:lnSpc>
                          <a:spcPct val="106000"/>
                        </a:lnSpc>
                        <a:spcAft>
                          <a:spcPts val="0"/>
                        </a:spcAft>
                      </a:pPr>
                      <a:r>
                        <a:rPr sz="1100" b="0">
                          <a:solidFill>
                            <a:srgbClr val="333333"/>
                          </a:solidFill>
                          <a:latin typeface="Courier New"/>
                        </a:rPr>
                        <a:t>    // Bad EKF for 2 solid seconds triggers failsafe</a:t>
                      </a:r>
                    </a:p>
                    <a:p>
                      <a:pPr algn="l">
                        <a:lnSpc>
                          <a:spcPct val="106000"/>
                        </a:lnSpc>
                        <a:spcAft>
                          <a:spcPts val="0"/>
                        </a:spcAft>
                      </a:pPr>
                      <a:r>
                        <a:rPr sz="1100" b="0">
                          <a:solidFill>
                            <a:srgbClr val="333333"/>
                          </a:solidFill>
                          <a:latin typeface="Courier New"/>
                        </a:rPr>
                        <a:t>    if (AP_HAL::millis() &lt; last_ekf_good_ms + 2000) {</a:t>
                      </a:r>
                    </a:p>
                    <a:p>
                      <a:pPr algn="l">
                        <a:lnSpc>
                          <a:spcPct val="106000"/>
                        </a:lnSpc>
                        <a:spcAft>
                          <a:spcPts val="0"/>
                        </a:spcAft>
                      </a:pPr>
                      <a:r>
                        <a:rPr sz="1100" b="0">
                          <a:solidFill>
                            <a:srgbClr val="333333"/>
                          </a:solidFill>
                          <a:latin typeface="Courier New"/>
                        </a:rPr>
                        <a:t>        failsafe.ekf = false;</a:t>
                      </a:r>
                    </a:p>
                    <a:p>
                      <a:pPr algn="l">
                        <a:lnSpc>
                          <a:spcPct val="106000"/>
                        </a:lnSpc>
                        <a:spcAft>
                          <a:spcPts val="0"/>
                        </a:spcAft>
                      </a:pPr>
                      <a:r>
                        <a:rPr sz="1100" b="0">
                          <a:solidFill>
                            <a:srgbClr val="333333"/>
                          </a:solidFill>
                          <a:latin typeface="Courier New"/>
                        </a:rPr>
                        <a:t>        AP_Notify::flags.ekf_bad = false;</a:t>
                      </a:r>
                    </a:p>
                    <a:p>
                      <a:pPr algn="l">
                        <a:lnSpc>
                          <a:spcPct val="106000"/>
                        </a:lnSpc>
                        <a:spcAft>
                          <a:spcPts val="0"/>
                        </a:spcAft>
                      </a:pPr>
                      <a:r>
                        <a:rPr sz="1100" b="0">
                          <a:solidFill>
                            <a:srgbClr val="333333"/>
                          </a:solidFill>
                          <a:latin typeface="Courier New"/>
                        </a:rPr>
                        <a:t>        return;</a:t>
                      </a:r>
                    </a:p>
                    <a:p>
                      <a:pPr algn="l">
                        <a:lnSpc>
                          <a:spcPct val="106000"/>
                        </a:lnSpc>
                        <a:spcAft>
                          <a:spcPts val="0"/>
                        </a:spcAft>
                      </a:pPr>
                      <a:r>
                        <a:rPr sz="1100" b="0">
                          <a:solidFill>
                            <a:srgbClr val="333333"/>
                          </a:solidFill>
                          <a:latin typeface="Courier New"/>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ArduCopter/ekf_check.cpp</a:t>
                      </a:r>
                      <a:r>
                        <a:rPr sz="1100" b="0">
                          <a:solidFill>
                            <a:srgbClr val="999999"/>
                          </a:solidFill>
                          <a:latin typeface="Courier New"/>
                        </a:rPr>
                        <a:t>  ·  </a:t>
                      </a:r>
                      <a:r>
                        <a:rPr sz="1100" b="0">
                          <a:solidFill>
                            <a:srgbClr val="999999"/>
                          </a:solidFill>
                          <a:latin typeface="Courier New"/>
                        </a:rPr>
                        <a:t>125-132</a:t>
                      </a:r>
                      <a:r>
                        <a:rPr sz="1100" b="0">
                          <a:solidFill>
                            <a:srgbClr val="999999"/>
                          </a:solidFill>
                          <a:latin typeface="Courier New"/>
                        </a:rPr>
                        <a:t>  ·  </a:t>
                      </a:r>
                      <a:r>
                        <a:rPr sz="1100" b="0">
                          <a:solidFill>
                            <a:srgbClr val="999999"/>
                          </a:solidFill>
                          <a:latin typeface="Courier New"/>
                        </a:rPr>
                        <a:t>Copter::ekf_over_threshold() — dt filtering</a:t>
                      </a:r>
                    </a:p>
                    <a:p>
                      <a:pPr algn="l">
                        <a:lnSpc>
                          <a:spcPct val="106000"/>
                        </a:lnSpc>
                        <a:spcAft>
                          <a:spcPts val="0"/>
                        </a:spcAft>
                      </a:pPr>
                      <a:r>
                        <a:rPr sz="1100" b="0">
                          <a:solidFill>
                            <a:srgbClr val="333333"/>
                          </a:solidFill>
                          <a:latin typeface="Courier New"/>
                        </a:rPr>
                        <a:t>    uint32_t now_us = AP_HAL::micros();</a:t>
                      </a:r>
                    </a:p>
                    <a:p>
                      <a:pPr algn="l">
                        <a:lnSpc>
                          <a:spcPct val="106000"/>
                        </a:lnSpc>
                        <a:spcAft>
                          <a:spcPts val="0"/>
                        </a:spcAft>
                      </a:pPr>
                      <a:r>
                        <a:rPr sz="1100" b="0">
                          <a:solidFill>
                            <a:srgbClr val="333333"/>
                          </a:solidFill>
                          <a:latin typeface="Courier New"/>
                        </a:rPr>
                        <a:t>    float dt = (now_us - last_ekf_check_us) * 1e-6f;</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 always update filtered values as this serves the vibration check as well</a:t>
                      </a:r>
                    </a:p>
                    <a:p>
                      <a:pPr algn="l">
                        <a:lnSpc>
                          <a:spcPct val="106000"/>
                        </a:lnSpc>
                        <a:spcAft>
                          <a:spcPts val="0"/>
                        </a:spcAft>
                      </a:pPr>
                      <a:r>
                        <a:rPr sz="1100" b="0">
                          <a:solidFill>
                            <a:srgbClr val="333333"/>
                          </a:solidFill>
                          <a:latin typeface="Courier New"/>
                        </a:rPr>
                        <a:t>    position_var = pos_variance_filt.apply(position_var, dt);</a:t>
                      </a:r>
                    </a:p>
                    <a:p>
                      <a:pPr algn="l">
                        <a:lnSpc>
                          <a:spcPct val="106000"/>
                        </a:lnSpc>
                        <a:spcAft>
                          <a:spcPts val="0"/>
                        </a:spcAft>
                      </a:pPr>
                      <a:r>
                        <a:rPr sz="1100" b="0">
                          <a:solidFill>
                            <a:srgbClr val="333333"/>
                          </a:solidFill>
                          <a:latin typeface="Courier New"/>
                        </a:rPr>
                        <a:t>    vel_var = vel_variance_filt.apply(vel_var, dt);</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last_ekf_check_us = now_us;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8–9</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Code Snippet (5-10 lines) (continued)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ArduCopter/fence.cpp</a:t>
                      </a:r>
                      <a:r>
                        <a:rPr sz="1100" b="0">
                          <a:solidFill>
                            <a:srgbClr val="999999"/>
                          </a:solidFill>
                          <a:latin typeface="Courier New"/>
                        </a:rPr>
                        <a:t>  ·  </a:t>
                      </a:r>
                      <a:r>
                        <a:rPr sz="1100" b="0">
                          <a:solidFill>
                            <a:srgbClr val="999999"/>
                          </a:solidFill>
                          <a:latin typeface="Courier New"/>
                        </a:rPr>
                        <a:t>8-16</a:t>
                      </a:r>
                      <a:r>
                        <a:rPr sz="1100" b="0">
                          <a:solidFill>
                            <a:srgbClr val="999999"/>
                          </a:solidFill>
                          <a:latin typeface="Courier New"/>
                        </a:rPr>
                        <a:t>  ·  </a:t>
                      </a:r>
                      <a:r>
                        <a:rPr sz="1100" b="0">
                          <a:solidFill>
                            <a:srgbClr val="999999"/>
                          </a:solidFill>
                          <a:latin typeface="Courier New"/>
                        </a:rPr>
                        <a:t>Copter::fence_checks_async()</a:t>
                      </a:r>
                    </a:p>
                    <a:p>
                      <a:pPr algn="l">
                        <a:lnSpc>
                          <a:spcPct val="106000"/>
                        </a:lnSpc>
                        <a:spcAft>
                          <a:spcPts val="0"/>
                        </a:spcAft>
                      </a:pPr>
                      <a:r>
                        <a:rPr sz="1100" b="0">
                          <a:solidFill>
                            <a:srgbClr val="333333"/>
                          </a:solidFill>
                          <a:latin typeface="Courier New"/>
                        </a:rPr>
                        <a:t>void Copter::fence_checks_async()</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const uint32_t now = AP_HAL::millis();</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if (!AP_HAL::timeout_expired(fence_breaches.last_check_ms, now, 40U)) { // 25Hz update rate</a:t>
                      </a:r>
                    </a:p>
                    <a:p>
                      <a:pPr algn="l">
                        <a:lnSpc>
                          <a:spcPct val="106000"/>
                        </a:lnSpc>
                        <a:spcAft>
                          <a:spcPts val="0"/>
                        </a:spcAft>
                      </a:pPr>
                      <a:r>
                        <a:rPr sz="1100" b="0">
                          <a:solidFill>
                            <a:srgbClr val="333333"/>
                          </a:solidFill>
                          <a:latin typeface="Courier New"/>
                        </a:rPr>
                        <a:t>        return;</a:t>
                      </a:r>
                    </a:p>
                    <a:p>
                      <a:pPr algn="l">
                        <a:lnSpc>
                          <a:spcPct val="106000"/>
                        </a:lnSpc>
                        <a:spcAft>
                          <a:spcPts val="0"/>
                        </a:spcAft>
                      </a:pPr>
                      <a:r>
                        <a:rPr sz="1100" b="0">
                          <a:solidFill>
                            <a:srgbClr val="333333"/>
                          </a:solidFill>
                          <a:latin typeface="Courier New"/>
                        </a:rPr>
                        <a:t>    }</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if (fence_breaches.have_updates)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842578">
                <a:tc>
                  <a:txBody>
                    <a:bodyPr wrap="square">
                      <a:noAutofit/>
                    </a:bodyPr>
                    <a:lstStyle/>
                    <a:p>
                      <a:pPr algn="r">
                        <a:lnSpc>
                          <a:spcPct val="106000"/>
                        </a:lnSpc>
                        <a:spcAft>
                          <a:spcPts val="0"/>
                        </a:spcAft>
                      </a:pPr>
                      <a:r>
                        <a:rPr sz="1100" b="1">
                          <a:solidFill>
                            <a:srgbClr val="333333"/>
                          </a:solidFill>
                          <a:latin typeface="Courier New"/>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Rover/fence.cpp</a:t>
                      </a:r>
                      <a:r>
                        <a:rPr sz="1100" b="0">
                          <a:solidFill>
                            <a:srgbClr val="999999"/>
                          </a:solidFill>
                          <a:latin typeface="Courier New"/>
                        </a:rPr>
                        <a:t>  ·  </a:t>
                      </a:r>
                      <a:r>
                        <a:rPr sz="1100" b="0">
                          <a:solidFill>
                            <a:srgbClr val="999999"/>
                          </a:solidFill>
                          <a:latin typeface="Courier New"/>
                        </a:rPr>
                        <a:t>6-14</a:t>
                      </a:r>
                      <a:r>
                        <a:rPr sz="1100" b="0">
                          <a:solidFill>
                            <a:srgbClr val="999999"/>
                          </a:solidFill>
                          <a:latin typeface="Courier New"/>
                        </a:rPr>
                        <a:t>  ·  </a:t>
                      </a:r>
                      <a:r>
                        <a:rPr sz="1100" b="0">
                          <a:solidFill>
                            <a:srgbClr val="999999"/>
                          </a:solidFill>
                          <a:latin typeface="Courier New"/>
                        </a:rPr>
                        <a:t>Rover::fence_checks_async()</a:t>
                      </a:r>
                    </a:p>
                    <a:p>
                      <a:pPr algn="l">
                        <a:lnSpc>
                          <a:spcPct val="106000"/>
                        </a:lnSpc>
                        <a:spcAft>
                          <a:spcPts val="0"/>
                        </a:spcAft>
                      </a:pPr>
                      <a:r>
                        <a:rPr sz="1100" b="0">
                          <a:solidFill>
                            <a:srgbClr val="333333"/>
                          </a:solidFill>
                          <a:latin typeface="Courier New"/>
                        </a:rPr>
                        <a:t>void Rover::fence_checks_async()</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    const uint32_t now = AP_HAL::millis();</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if (!AP_HAL::timeout_expired(fence_breaches.last_check_ms, now, 100U)) { // 10Hz update rate</a:t>
                      </a:r>
                    </a:p>
                    <a:p>
                      <a:pPr algn="l">
                        <a:lnSpc>
                          <a:spcPct val="106000"/>
                        </a:lnSpc>
                        <a:spcAft>
                          <a:spcPts val="0"/>
                        </a:spcAft>
                      </a:pPr>
                      <a:r>
                        <a:rPr sz="1100" b="0">
                          <a:solidFill>
                            <a:srgbClr val="333333"/>
                          </a:solidFill>
                          <a:latin typeface="Courier New"/>
                        </a:rPr>
                        <a:t>        return;</a:t>
                      </a:r>
                    </a:p>
                    <a:p>
                      <a:pPr algn="l">
                        <a:lnSpc>
                          <a:spcPct val="106000"/>
                        </a:lnSpc>
                        <a:spcAft>
                          <a:spcPts val="0"/>
                        </a:spcAft>
                      </a:pPr>
                      <a:r>
                        <a:rPr sz="1100" b="0">
                          <a:solidFill>
                            <a:srgbClr val="333333"/>
                          </a:solidFill>
                          <a:latin typeface="Courier New"/>
                        </a:rPr>
                        <a:t>    }</a:t>
                      </a:r>
                    </a:p>
                    <a:p>
                      <a:pPr algn="l">
                        <a:lnSpc>
                          <a:spcPct val="106000"/>
                        </a:lnSpc>
                        <a:spcAft>
                          <a:spcPts val="0"/>
                        </a:spcAft>
                        <a:defRPr sz="1100">
                          <a:latin typeface="Courier New"/>
                        </a:defRPr>
                      </a:pPr>
                      <a:r>
                        <a:rPr sz="1100" b="0">
                          <a:solidFill>
                            <a:srgbClr val="333333"/>
                          </a:solidFill>
                          <a:latin typeface="Courier New"/>
                        </a:rPr>
                        <a:t/>
                      </a:r>
                    </a:p>
                    <a:p>
                      <a:pPr algn="l">
                        <a:lnSpc>
                          <a:spcPct val="106000"/>
                        </a:lnSpc>
                        <a:spcAft>
                          <a:spcPts val="0"/>
                        </a:spcAft>
                      </a:pPr>
                      <a:r>
                        <a:rPr sz="1100" b="0">
                          <a:solidFill>
                            <a:srgbClr val="333333"/>
                          </a:solidFill>
                          <a:latin typeface="Courier New"/>
                        </a:rPr>
                        <a:t>    if (fence_breaches.have_updates)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10–11</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dependency map</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6a: Layer 1 — direct callers / callees with typed dependency</a:t>
            </a:r>
          </a:p>
        </p:txBody>
      </p:sp>
      <p:graphicFrame>
        <p:nvGraphicFramePr>
          <p:cNvPr id="7" name="Table 6"/>
          <p:cNvGraphicFramePr>
            <a:graphicFrameLocks noGrp="1"/>
          </p:cNvGraphicFramePr>
          <p:nvPr/>
        </p:nvGraphicFramePr>
        <p:xfrm>
          <a:off x="566928" y="1906943"/>
          <a:ext cx="11058144" cy="3511550"/>
        </p:xfrm>
        <a:graphic>
          <a:graphicData uri="http://schemas.openxmlformats.org/drawingml/2006/table">
            <a:tbl>
              <a:tblPr>
                <a:tableStyleId>{5C22544A-7EE6-4342-B048-85BDC9FD1C3A}</a:tableStyleId>
              </a:tblPr>
              <a:tblGrid>
                <a:gridCol w="347345"/>
                <a:gridCol w="3061335"/>
                <a:gridCol w="3095625"/>
                <a:gridCol w="3259455"/>
                <a:gridCol w="1294130"/>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430">
                <a:tc>
                  <a:txBody>
                    <a:bodyPr wrap="square">
                      <a:noAutofit/>
                    </a:bodyPr>
                    <a:lstStyle/>
                    <a:p>
                      <a:pPr algn="r">
                        <a:lnSpc>
                          <a:spcPct val="106000"/>
                        </a:lnSpc>
                        <a:spcAft>
                          <a:spcPts val="0"/>
                        </a:spcAft>
                      </a:pPr>
                      <a:r>
                        <a:rPr sz="1100" b="1">
                          <a:solidFill>
                            <a:srgbClr val="333333"/>
                          </a:solidFill>
                          <a:latin typeface="Courier New"/>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Copter::failsafe_check()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AP_HAL::micros(); AP_Scheduler::ticks(); motors-&gt;output_min(); motors-&gt;armed(false)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failsafe_check_static() &lt;- hal.scheduler-&gt;register_timer_failsafe (1 kHz, system.cpp:87)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430">
                <a:tc>
                  <a:txBody>
                    <a:bodyPr wrap="square">
                      <a:noAutofit/>
                    </a:bodyPr>
                    <a:lstStyle/>
                    <a:p>
                      <a:pPr algn="r">
                        <a:lnSpc>
                          <a:spcPct val="106000"/>
                        </a:lnSpc>
                        <a:spcAft>
                          <a:spcPts val="0"/>
                        </a:spcAft>
                      </a:pPr>
                      <a:r>
                        <a:rPr sz="1100" b="1">
                          <a:solidFill>
                            <a:srgbClr val="333333"/>
                          </a:solidFill>
                          <a:latin typeface="Courier New"/>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Plane::failsafe_check()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micros(); AP_Scheduler::ticks(); rc().read_input(); SRV_Channels::set_output_scaled()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failsafe_check_static() &lt;- hal.scheduler-&gt;register_timer_failsafe (1 kHz, system.cpp:103)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430">
                <a:tc>
                  <a:txBody>
                    <a:bodyPr wrap="square">
                      <a:noAutofit/>
                    </a:bodyPr>
                    <a:lstStyle/>
                    <a:p>
                      <a:pPr algn="r">
                        <a:lnSpc>
                          <a:spcPct val="106000"/>
                        </a:lnSpc>
                        <a:spcAft>
                          <a:spcPts val="0"/>
                        </a:spcAft>
                      </a:pPr>
                      <a:r>
                        <a:rPr sz="1100" b="1">
                          <a:solidFill>
                            <a:srgbClr val="333333"/>
                          </a:solidFill>
                          <a:latin typeface="Courier New"/>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Rover::failsafe_check()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AP_HAL::micros(); AP_Scheduler::ticks(); arming.disarm(CPUFAILSAFE)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failsafe_check_static() &lt;- hal.scheduler-&gt;register_timer_failsafe (1 kHz, system.cpp:111)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430">
                <a:tc>
                  <a:txBody>
                    <a:bodyPr wrap="square">
                      <a:noAutofit/>
                    </a:bodyPr>
                    <a:lstStyle/>
                    <a:p>
                      <a:pPr algn="r">
                        <a:lnSpc>
                          <a:spcPct val="106000"/>
                        </a:lnSpc>
                        <a:spcAft>
                          <a:spcPts val="0"/>
                        </a:spcAft>
                      </a:pPr>
                      <a:r>
                        <a:rPr sz="1100" b="1">
                          <a:solidFill>
                            <a:srgbClr val="333333"/>
                          </a:solidFill>
                          <a:latin typeface="Courier New"/>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Sub::mainloop_failsafe_check()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AP_HAL::micros(); AP_Scheduler::ticks(); motors.output_min()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failsafe_check_static() &lt;- hal.scheduler-&gt;register_timer_failsafe (1 kHz, system.cpp:71)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1–4</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dependency map (continued)</a:t>
            </a:r>
          </a:p>
        </p:txBody>
      </p:sp>
      <p:graphicFrame>
        <p:nvGraphicFramePr>
          <p:cNvPr id="6" name="Table 5"/>
          <p:cNvGraphicFramePr>
            <a:graphicFrameLocks noGrp="1"/>
          </p:cNvGraphicFramePr>
          <p:nvPr/>
        </p:nvGraphicFramePr>
        <p:xfrm>
          <a:off x="566928" y="1591056"/>
          <a:ext cx="11058144" cy="3876040"/>
        </p:xfrm>
        <a:graphic>
          <a:graphicData uri="http://schemas.openxmlformats.org/drawingml/2006/table">
            <a:tbl>
              <a:tblPr>
                <a:tableStyleId>{5C22544A-7EE6-4342-B048-85BDC9FD1C3A}</a:tableStyleId>
              </a:tblPr>
              <a:tblGrid>
                <a:gridCol w="347345"/>
                <a:gridCol w="3061335"/>
                <a:gridCol w="3095625"/>
                <a:gridCol w="3259455"/>
                <a:gridCol w="1294130"/>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430">
                <a:tc>
                  <a:txBody>
                    <a:bodyPr wrap="square">
                      <a:noAutofit/>
                    </a:bodyPr>
                    <a:lstStyle/>
                    <a:p>
                      <a:pPr algn="r">
                        <a:lnSpc>
                          <a:spcPct val="106000"/>
                        </a:lnSpc>
                        <a:spcAft>
                          <a:spcPts val="0"/>
                        </a:spcAft>
                      </a:pPr>
                      <a:r>
                        <a:rPr sz="1100" b="1">
                          <a:solidFill>
                            <a:srgbClr val="333333"/>
                          </a:solidFill>
                          <a:latin typeface="Courier New"/>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Blimp::failsafe_check()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AP_HAL::micros(); AP_Scheduler::ticks(); motors-&gt;output_min()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failsafe_check_static() &lt;- hal.scheduler-&gt;register_timer_failsafe (1 kHz, system.cpp:59)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Copter::ekf_check()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AP_HAL::millis(); gcs().send_text()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Copter::ekf_check() bad-variance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Plane::ekf_check()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AP_HAL::millis(); gcs().send_text()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Plane::ekf_check() bad-variance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Courier New"/>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Sub::failsafe_ekf_check() (2 s hysteresis)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AP_HAL::millis(); compares last_ekf_good_ms + 2000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Sub periodic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r">
                        <a:lnSpc>
                          <a:spcPct val="106000"/>
                        </a:lnSpc>
                        <a:spcAft>
                          <a:spcPts val="0"/>
                        </a:spcAft>
                      </a:pPr>
                      <a:r>
                        <a:rPr sz="1100" b="1">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Copter::ekf_over_threshold() (dt)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AP_HAL::micros(); pos_variance_filt.apply(); vel_variance_filt.apply()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Copter::ekf_check()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AP_HAL::millis(); AP_HAL::timeout_expired(.,.,40U)</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1 kHz async IO process (hal.scheduler register_io_process)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Courier New"/>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AP_HAL::millis(); AP_HAL::timeout_expired(.,.,100U)</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1 kHz async IO process (hal.scheduler register_io_process)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879" y="384048"/>
            <a:ext cx="59919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5–11</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Code Snippet</a:t>
            </a: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exactly as the audit records it, one paragraph per line and nothing abbreviated. The audit keeps Layer 1 lines flush left; the row’s main-table snippet keeps the source’s own indentation.</a:t>
            </a:r>
          </a:p>
        </p:txBody>
      </p:sp>
      <p:graphicFrame>
        <p:nvGraphicFramePr>
          <p:cNvPr id="7" name="Table 6"/>
          <p:cNvGraphicFramePr>
            <a:graphicFrameLocks noGrp="1"/>
          </p:cNvGraphicFramePr>
          <p:nvPr/>
        </p:nvGraphicFramePr>
        <p:xfrm>
          <a:off x="566928" y="2228202"/>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Courier New"/>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Copter::failsafe_check()</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uint32_t tnow = AP_HAL::micros();</a:t>
                      </a:r>
                    </a:p>
                    <a:p>
                      <a:pPr algn="l">
                        <a:lnSpc>
                          <a:spcPct val="106000"/>
                        </a:lnSpc>
                        <a:spcAft>
                          <a:spcPts val="0"/>
                        </a:spcAft>
                      </a:pPr>
                      <a:r>
                        <a:rPr sz="1100" b="0">
                          <a:solidFill>
                            <a:srgbClr val="333333"/>
                          </a:solidFill>
                          <a:latin typeface="Courier New"/>
                        </a:rPr>
                        <a:t>const uint16_t ticks = scheduler.ticks();</a:t>
                      </a:r>
                    </a:p>
                    <a:p>
                      <a:pPr algn="l">
                        <a:lnSpc>
                          <a:spcPct val="106000"/>
                        </a:lnSpc>
                        <a:spcAft>
                          <a:spcPts val="0"/>
                        </a:spcAft>
                      </a:pPr>
                      <a:r>
                        <a:rPr sz="1100" b="0">
                          <a:solidFill>
                            <a:srgbClr val="333333"/>
                          </a:solidFill>
                          <a:latin typeface="Courier New"/>
                        </a:rPr>
                        <a:t>if (ticks != failsafe_last_ticks) {</a:t>
                      </a:r>
                    </a:p>
                    <a:p>
                      <a:pPr algn="l">
                        <a:lnSpc>
                          <a:spcPct val="106000"/>
                        </a:lnSpc>
                        <a:spcAft>
                          <a:spcPts val="0"/>
                        </a:spcAft>
                      </a:pPr>
                      <a:r>
                        <a:rPr sz="1100" b="0">
                          <a:solidFill>
                            <a:srgbClr val="333333"/>
                          </a:solidFill>
                          <a:latin typeface="Courier New"/>
                        </a:rPr>
                        <a:t>// the main loop is running, all is OK</a:t>
                      </a:r>
                    </a:p>
                    <a:p>
                      <a:pPr algn="l">
                        <a:lnSpc>
                          <a:spcPct val="106000"/>
                        </a:lnSpc>
                        <a:spcAft>
                          <a:spcPts val="0"/>
                        </a:spcAft>
                      </a:pPr>
                      <a:r>
                        <a:rPr sz="1100" b="0">
                          <a:solidFill>
                            <a:srgbClr val="333333"/>
                          </a:solidFill>
                          <a:latin typeface="Courier New"/>
                        </a:rPr>
                        <a:t>failsafe_last_ticks = ticks;</a:t>
                      </a:r>
                    </a:p>
                    <a:p>
                      <a:pPr algn="l">
                        <a:lnSpc>
                          <a:spcPct val="106000"/>
                        </a:lnSpc>
                        <a:spcAft>
                          <a:spcPts val="0"/>
                        </a:spcAft>
                      </a:pPr>
                      <a:r>
                        <a:rPr sz="1100" b="0">
                          <a:solidFill>
                            <a:srgbClr val="333333"/>
                          </a:solidFill>
                          <a:latin typeface="Courier New"/>
                        </a:rPr>
                        <a:t>failsafe_last_timestamp = tnow;</a:t>
                      </a:r>
                    </a:p>
                    <a:p>
                      <a:pPr algn="l">
                        <a:lnSpc>
                          <a:spcPct val="106000"/>
                        </a:lnSpc>
                        <a:spcAft>
                          <a:spcPts val="0"/>
                        </a:spcAft>
                      </a:pPr>
                      <a:r>
                        <a:rPr sz="1100" b="0">
                          <a:solidFill>
                            <a:srgbClr val="333333"/>
                          </a:solidFill>
                          <a:latin typeface="Courier New"/>
                        </a:rPr>
                        <a:t>if (in_failsafe) {</a:t>
                      </a:r>
                    </a:p>
                    <a:p>
                      <a:pPr algn="l">
                        <a:lnSpc>
                          <a:spcPct val="106000"/>
                        </a:lnSpc>
                        <a:spcAft>
                          <a:spcPts val="0"/>
                        </a:spcAft>
                      </a:pPr>
                      <a:r>
                        <a:rPr sz="1100" b="0">
                          <a:solidFill>
                            <a:srgbClr val="333333"/>
                          </a:solidFill>
                          <a:latin typeface="Courier New"/>
                        </a:rPr>
                        <a:t>in_failsafe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Courier New"/>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Plane::failsafe_check()</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uint32_t tnow = micros();</a:t>
                      </a:r>
                    </a:p>
                    <a:p>
                      <a:pPr algn="l">
                        <a:lnSpc>
                          <a:spcPct val="106000"/>
                        </a:lnSpc>
                        <a:spcAft>
                          <a:spcPts val="0"/>
                        </a:spcAft>
                      </a:pPr>
                      <a:r>
                        <a:rPr sz="1100" b="0">
                          <a:solidFill>
                            <a:srgbClr val="333333"/>
                          </a:solidFill>
                          <a:latin typeface="Courier New"/>
                        </a:rPr>
                        <a:t>const uint16_t ticks = scheduler.ticks();</a:t>
                      </a:r>
                    </a:p>
                    <a:p>
                      <a:pPr algn="l">
                        <a:lnSpc>
                          <a:spcPct val="106000"/>
                        </a:lnSpc>
                        <a:spcAft>
                          <a:spcPts val="0"/>
                        </a:spcAft>
                      </a:pPr>
                      <a:r>
                        <a:rPr sz="1100" b="0">
                          <a:solidFill>
                            <a:srgbClr val="333333"/>
                          </a:solidFill>
                          <a:latin typeface="Courier New"/>
                        </a:rPr>
                        <a:t>if (ticks != last_ticks) {</a:t>
                      </a:r>
                    </a:p>
                    <a:p>
                      <a:pPr algn="l">
                        <a:lnSpc>
                          <a:spcPct val="106000"/>
                        </a:lnSpc>
                        <a:spcAft>
                          <a:spcPts val="0"/>
                        </a:spcAft>
                      </a:pPr>
                      <a:r>
                        <a:rPr sz="1100" b="0">
                          <a:solidFill>
                            <a:srgbClr val="333333"/>
                          </a:solidFill>
                          <a:latin typeface="Courier New"/>
                        </a:rPr>
                        <a:t>// the main loop is running, all is OK</a:t>
                      </a:r>
                    </a:p>
                    <a:p>
                      <a:pPr algn="l">
                        <a:lnSpc>
                          <a:spcPct val="106000"/>
                        </a:lnSpc>
                        <a:spcAft>
                          <a:spcPts val="0"/>
                        </a:spcAft>
                      </a:pPr>
                      <a:r>
                        <a:rPr sz="1100" b="0">
                          <a:solidFill>
                            <a:srgbClr val="333333"/>
                          </a:solidFill>
                          <a:latin typeface="Courier New"/>
                        </a:rPr>
                        <a:t>last_ticks = ticks;</a:t>
                      </a:r>
                    </a:p>
                    <a:p>
                      <a:pPr algn="l">
                        <a:lnSpc>
                          <a:spcPct val="106000"/>
                        </a:lnSpc>
                        <a:spcAft>
                          <a:spcPts val="0"/>
                        </a:spcAft>
                      </a:pPr>
                      <a:r>
                        <a:rPr sz="1100" b="0">
                          <a:solidFill>
                            <a:srgbClr val="333333"/>
                          </a:solidFill>
                          <a:latin typeface="Courier New"/>
                        </a:rPr>
                        <a:t>last_timestamp = tnow;</a:t>
                      </a:r>
                    </a:p>
                    <a:p>
                      <a:pPr algn="l">
                        <a:lnSpc>
                          <a:spcPct val="106000"/>
                        </a:lnSpc>
                        <a:spcAft>
                          <a:spcPts val="0"/>
                        </a:spcAft>
                      </a:pPr>
                      <a:r>
                        <a:rPr sz="1100" b="0">
                          <a:solidFill>
                            <a:srgbClr val="333333"/>
                          </a:solidFill>
                          <a:latin typeface="Courier New"/>
                        </a:rPr>
                        <a:t>in_failsafe = false;</a:t>
                      </a:r>
                    </a:p>
                    <a:p>
                      <a:pPr algn="l">
                        <a:lnSpc>
                          <a:spcPct val="106000"/>
                        </a:lnSpc>
                        <a:spcAft>
                          <a:spcPts val="0"/>
                        </a:spcAft>
                      </a:pPr>
                      <a:r>
                        <a:rPr sz="1100" b="0">
                          <a:solidFill>
                            <a:srgbClr val="333333"/>
                          </a:solidFill>
                          <a:latin typeface="Courier New"/>
                        </a:rPr>
                        <a:t>return;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Code Snippet (continued)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Courier New"/>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Rover::failsafe_check()</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const uint32_t tnow = AP_HAL::micros();</a:t>
                      </a:r>
                    </a:p>
                    <a:p>
                      <a:pPr algn="l">
                        <a:lnSpc>
                          <a:spcPct val="106000"/>
                        </a:lnSpc>
                        <a:spcAft>
                          <a:spcPts val="0"/>
                        </a:spcAft>
                      </a:pPr>
                      <a:r>
                        <a:rPr sz="1100" b="0">
                          <a:solidFill>
                            <a:srgbClr val="333333"/>
                          </a:solidFill>
                          <a:latin typeface="Courier New"/>
                        </a:rPr>
                        <a:t>const uint16_t ticks = scheduler.ticks();</a:t>
                      </a:r>
                    </a:p>
                    <a:p>
                      <a:pPr algn="l">
                        <a:lnSpc>
                          <a:spcPct val="106000"/>
                        </a:lnSpc>
                        <a:spcAft>
                          <a:spcPts val="0"/>
                        </a:spcAft>
                      </a:pPr>
                      <a:r>
                        <a:rPr sz="1100" b="0">
                          <a:solidFill>
                            <a:srgbClr val="333333"/>
                          </a:solidFill>
                          <a:latin typeface="Courier New"/>
                        </a:rPr>
                        <a:t>if (ticks != last_ticks) {</a:t>
                      </a:r>
                    </a:p>
                    <a:p>
                      <a:pPr algn="l">
                        <a:lnSpc>
                          <a:spcPct val="106000"/>
                        </a:lnSpc>
                        <a:spcAft>
                          <a:spcPts val="0"/>
                        </a:spcAft>
                      </a:pPr>
                      <a:r>
                        <a:rPr sz="1100" b="0">
                          <a:solidFill>
                            <a:srgbClr val="333333"/>
                          </a:solidFill>
                          <a:latin typeface="Courier New"/>
                        </a:rPr>
                        <a:t>// the main loop is running, all is OK</a:t>
                      </a:r>
                    </a:p>
                    <a:p>
                      <a:pPr algn="l">
                        <a:lnSpc>
                          <a:spcPct val="106000"/>
                        </a:lnSpc>
                        <a:spcAft>
                          <a:spcPts val="0"/>
                        </a:spcAft>
                      </a:pPr>
                      <a:r>
                        <a:rPr sz="1100" b="0">
                          <a:solidFill>
                            <a:srgbClr val="333333"/>
                          </a:solidFill>
                          <a:latin typeface="Courier New"/>
                        </a:rPr>
                        <a:t>last_ticks = ticks;</a:t>
                      </a:r>
                    </a:p>
                    <a:p>
                      <a:pPr algn="l">
                        <a:lnSpc>
                          <a:spcPct val="106000"/>
                        </a:lnSpc>
                        <a:spcAft>
                          <a:spcPts val="0"/>
                        </a:spcAft>
                      </a:pPr>
                      <a:r>
                        <a:rPr sz="1100" b="0">
                          <a:solidFill>
                            <a:srgbClr val="333333"/>
                          </a:solidFill>
                          <a:latin typeface="Courier New"/>
                        </a:rPr>
                        <a:t>last_timestamp = tnow;</a:t>
                      </a:r>
                    </a:p>
                    <a:p>
                      <a:pPr algn="l">
                        <a:lnSpc>
                          <a:spcPct val="106000"/>
                        </a:lnSpc>
                        <a:spcAft>
                          <a:spcPts val="0"/>
                        </a:spcAft>
                      </a:pPr>
                      <a:r>
                        <a:rPr sz="1100" b="0">
                          <a:solidFill>
                            <a:srgbClr val="333333"/>
                          </a:solidFill>
                          <a:latin typeface="Courier New"/>
                        </a:rPr>
                        <a:t>return;</a:t>
                      </a:r>
                    </a:p>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Courier New"/>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Sub::mainloop_failsafe_check()</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uint32_t tnow = AP_HAL::micros();</a:t>
                      </a:r>
                    </a:p>
                    <a:p>
                      <a:pPr algn="l">
                        <a:lnSpc>
                          <a:spcPct val="106000"/>
                        </a:lnSpc>
                        <a:spcAft>
                          <a:spcPts val="0"/>
                        </a:spcAft>
                      </a:pPr>
                      <a:r>
                        <a:rPr sz="1100" b="0">
                          <a:solidFill>
                            <a:srgbClr val="333333"/>
                          </a:solidFill>
                          <a:latin typeface="Courier New"/>
                        </a:rPr>
                        <a:t>const uint16_t ticks = scheduler.ticks();</a:t>
                      </a:r>
                    </a:p>
                    <a:p>
                      <a:pPr algn="l">
                        <a:lnSpc>
                          <a:spcPct val="106000"/>
                        </a:lnSpc>
                        <a:spcAft>
                          <a:spcPts val="0"/>
                        </a:spcAft>
                      </a:pPr>
                      <a:r>
                        <a:rPr sz="1100" b="0">
                          <a:solidFill>
                            <a:srgbClr val="333333"/>
                          </a:solidFill>
                          <a:latin typeface="Courier New"/>
                        </a:rPr>
                        <a:t>if (ticks != failsafe_last_ticks) {</a:t>
                      </a:r>
                    </a:p>
                    <a:p>
                      <a:pPr algn="l">
                        <a:lnSpc>
                          <a:spcPct val="106000"/>
                        </a:lnSpc>
                        <a:spcAft>
                          <a:spcPts val="0"/>
                        </a:spcAft>
                      </a:pPr>
                      <a:r>
                        <a:rPr sz="1100" b="0">
                          <a:solidFill>
                            <a:srgbClr val="333333"/>
                          </a:solidFill>
                          <a:latin typeface="Courier New"/>
                        </a:rPr>
                        <a:t>// the main loop is running, all is OK</a:t>
                      </a:r>
                    </a:p>
                    <a:p>
                      <a:pPr algn="l">
                        <a:lnSpc>
                          <a:spcPct val="106000"/>
                        </a:lnSpc>
                        <a:spcAft>
                          <a:spcPts val="0"/>
                        </a:spcAft>
                      </a:pPr>
                      <a:r>
                        <a:rPr sz="1100" b="0">
                          <a:solidFill>
                            <a:srgbClr val="333333"/>
                          </a:solidFill>
                          <a:latin typeface="Courier New"/>
                        </a:rPr>
                        <a:t>failsafe_last_ticks = ticks;</a:t>
                      </a:r>
                    </a:p>
                    <a:p>
                      <a:pPr algn="l">
                        <a:lnSpc>
                          <a:spcPct val="106000"/>
                        </a:lnSpc>
                        <a:spcAft>
                          <a:spcPts val="0"/>
                        </a:spcAft>
                      </a:pPr>
                      <a:r>
                        <a:rPr sz="1100" b="0">
                          <a:solidFill>
                            <a:srgbClr val="333333"/>
                          </a:solidFill>
                          <a:latin typeface="Courier New"/>
                        </a:rPr>
                        <a:t>failsafe_last_timestamp = tnow;</a:t>
                      </a:r>
                    </a:p>
                    <a:p>
                      <a:pPr algn="l">
                        <a:lnSpc>
                          <a:spcPct val="106000"/>
                        </a:lnSpc>
                        <a:spcAft>
                          <a:spcPts val="0"/>
                        </a:spcAft>
                      </a:pPr>
                      <a:r>
                        <a:rPr sz="1100" b="0">
                          <a:solidFill>
                            <a:srgbClr val="333333"/>
                          </a:solidFill>
                          <a:latin typeface="Courier New"/>
                        </a:rPr>
                        <a:t>if (in_failsafe) {</a:t>
                      </a:r>
                    </a:p>
                    <a:p>
                      <a:pPr algn="l">
                        <a:lnSpc>
                          <a:spcPct val="106000"/>
                        </a:lnSpc>
                        <a:spcAft>
                          <a:spcPts val="0"/>
                        </a:spcAft>
                      </a:pPr>
                      <a:r>
                        <a:rPr sz="1100" b="0">
                          <a:solidFill>
                            <a:srgbClr val="333333"/>
                          </a:solidFill>
                          <a:latin typeface="Courier New"/>
                        </a:rPr>
                        <a:t>in_failsafe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Code Snippet (continued)</a:t>
            </a:r>
          </a:p>
        </p:txBody>
      </p:sp>
      <p:graphicFrame>
        <p:nvGraphicFramePr>
          <p:cNvPr id="6" name="Table 5"/>
          <p:cNvGraphicFramePr>
            <a:graphicFrameLocks noGrp="1"/>
          </p:cNvGraphicFramePr>
          <p:nvPr/>
        </p:nvGraphicFramePr>
        <p:xfrm>
          <a:off x="566928" y="1591056"/>
          <a:ext cx="11058144" cy="416866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Courier New"/>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Blimp::failsafe_check()</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uint32_t tnow = AP_HAL::micros();</a:t>
                      </a:r>
                    </a:p>
                    <a:p>
                      <a:pPr algn="l">
                        <a:lnSpc>
                          <a:spcPct val="106000"/>
                        </a:lnSpc>
                        <a:spcAft>
                          <a:spcPts val="0"/>
                        </a:spcAft>
                      </a:pPr>
                      <a:r>
                        <a:rPr sz="1100" b="0">
                          <a:solidFill>
                            <a:srgbClr val="333333"/>
                          </a:solidFill>
                          <a:latin typeface="Courier New"/>
                        </a:rPr>
                        <a:t>const uint16_t ticks = scheduler.ticks();</a:t>
                      </a:r>
                    </a:p>
                    <a:p>
                      <a:pPr algn="l">
                        <a:lnSpc>
                          <a:spcPct val="106000"/>
                        </a:lnSpc>
                        <a:spcAft>
                          <a:spcPts val="0"/>
                        </a:spcAft>
                      </a:pPr>
                      <a:r>
                        <a:rPr sz="1100" b="0">
                          <a:solidFill>
                            <a:srgbClr val="333333"/>
                          </a:solidFill>
                          <a:latin typeface="Courier New"/>
                        </a:rPr>
                        <a:t>if (ticks != failsafe_last_ticks) {</a:t>
                      </a:r>
                    </a:p>
                    <a:p>
                      <a:pPr algn="l">
                        <a:lnSpc>
                          <a:spcPct val="106000"/>
                        </a:lnSpc>
                        <a:spcAft>
                          <a:spcPts val="0"/>
                        </a:spcAft>
                      </a:pPr>
                      <a:r>
                        <a:rPr sz="1100" b="0">
                          <a:solidFill>
                            <a:srgbClr val="333333"/>
                          </a:solidFill>
                          <a:latin typeface="Courier New"/>
                        </a:rPr>
                        <a:t>// the main loop is running, all is OK</a:t>
                      </a:r>
                    </a:p>
                    <a:p>
                      <a:pPr algn="l">
                        <a:lnSpc>
                          <a:spcPct val="106000"/>
                        </a:lnSpc>
                        <a:spcAft>
                          <a:spcPts val="0"/>
                        </a:spcAft>
                      </a:pPr>
                      <a:r>
                        <a:rPr sz="1100" b="0">
                          <a:solidFill>
                            <a:srgbClr val="333333"/>
                          </a:solidFill>
                          <a:latin typeface="Courier New"/>
                        </a:rPr>
                        <a:t>failsafe_last_ticks = ticks;</a:t>
                      </a:r>
                    </a:p>
                    <a:p>
                      <a:pPr algn="l">
                        <a:lnSpc>
                          <a:spcPct val="106000"/>
                        </a:lnSpc>
                        <a:spcAft>
                          <a:spcPts val="0"/>
                        </a:spcAft>
                      </a:pPr>
                      <a:r>
                        <a:rPr sz="1100" b="0">
                          <a:solidFill>
                            <a:srgbClr val="333333"/>
                          </a:solidFill>
                          <a:latin typeface="Courier New"/>
                        </a:rPr>
                        <a:t>failsafe_last_timestamp = tnow;</a:t>
                      </a:r>
                    </a:p>
                    <a:p>
                      <a:pPr algn="l">
                        <a:lnSpc>
                          <a:spcPct val="106000"/>
                        </a:lnSpc>
                        <a:spcAft>
                          <a:spcPts val="0"/>
                        </a:spcAft>
                      </a:pPr>
                      <a:r>
                        <a:rPr sz="1100" b="0">
                          <a:solidFill>
                            <a:srgbClr val="333333"/>
                          </a:solidFill>
                          <a:latin typeface="Courier New"/>
                        </a:rPr>
                        <a:t>if (in_failsafe) {</a:t>
                      </a:r>
                    </a:p>
                    <a:p>
                      <a:pPr algn="l">
                        <a:lnSpc>
                          <a:spcPct val="106000"/>
                        </a:lnSpc>
                        <a:spcAft>
                          <a:spcPts val="0"/>
                        </a:spcAft>
                      </a:pPr>
                      <a:r>
                        <a:rPr sz="1100" b="0">
                          <a:solidFill>
                            <a:srgbClr val="333333"/>
                          </a:solidFill>
                          <a:latin typeface="Courier New"/>
                        </a:rPr>
                        <a:t>in_failsafe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31784">
                <a:tc>
                  <a:txBody>
                    <a:bodyPr wrap="square">
                      <a:noAutofit/>
                    </a:bodyPr>
                    <a:lstStyle/>
                    <a:p>
                      <a:pPr algn="r">
                        <a:lnSpc>
                          <a:spcPct val="106000"/>
                        </a:lnSpc>
                        <a:spcAft>
                          <a:spcPts val="0"/>
                        </a:spcAft>
                      </a:pPr>
                      <a:r>
                        <a:rPr sz="1100" b="1">
                          <a:solidFill>
                            <a:srgbClr val="333333"/>
                          </a:solidFill>
                          <a:latin typeface="Courier New"/>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Copter::ekf_check() (warn throttle)</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 send message to gcs</a:t>
                      </a:r>
                    </a:p>
                    <a:p>
                      <a:pPr algn="l">
                        <a:lnSpc>
                          <a:spcPct val="106000"/>
                        </a:lnSpc>
                        <a:spcAft>
                          <a:spcPts val="0"/>
                        </a:spcAft>
                      </a:pPr>
                      <a:r>
                        <a:rPr sz="1100" b="0">
                          <a:solidFill>
                            <a:srgbClr val="333333"/>
                          </a:solidFill>
                          <a:latin typeface="Courier New"/>
                        </a:rPr>
                        <a:t>if ((AP_HAL::millis() - ekf_check_state.last_warn_time) &gt; EKF_CHECK_WARNING_TIME) {</a:t>
                      </a:r>
                    </a:p>
                    <a:p>
                      <a:pPr algn="l">
                        <a:lnSpc>
                          <a:spcPct val="106000"/>
                        </a:lnSpc>
                        <a:spcAft>
                          <a:spcPts val="0"/>
                        </a:spcAft>
                      </a:pPr>
                      <a:r>
                        <a:rPr sz="1100" b="0">
                          <a:solidFill>
                            <a:srgbClr val="333333"/>
                          </a:solidFill>
                          <a:latin typeface="Courier New"/>
                        </a:rPr>
                        <a:t>gcs().send_text(MAV_SEVERITY_CRITICAL,"EKF variance");</a:t>
                      </a:r>
                    </a:p>
                    <a:p>
                      <a:pPr algn="l">
                        <a:lnSpc>
                          <a:spcPct val="106000"/>
                        </a:lnSpc>
                        <a:spcAft>
                          <a:spcPts val="0"/>
                        </a:spcAft>
                      </a:pPr>
                      <a:r>
                        <a:rPr sz="1100" b="0">
                          <a:solidFill>
                            <a:srgbClr val="333333"/>
                          </a:solidFill>
                          <a:latin typeface="Courier New"/>
                        </a:rPr>
                        <a:t>ekf_check_state.last_warn_time = AP_HAL::millis();</a:t>
                      </a:r>
                    </a:p>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131784">
                <a:tc>
                  <a:txBody>
                    <a:bodyPr wrap="square">
                      <a:noAutofit/>
                    </a:bodyPr>
                    <a:lstStyle/>
                    <a:p>
                      <a:pPr algn="r">
                        <a:lnSpc>
                          <a:spcPct val="106000"/>
                        </a:lnSpc>
                        <a:spcAft>
                          <a:spcPts val="0"/>
                        </a:spcAft>
                      </a:pPr>
                      <a:r>
                        <a:rPr sz="1100" b="1">
                          <a:solidFill>
                            <a:srgbClr val="333333"/>
                          </a:solidFill>
                          <a:latin typeface="Courier New"/>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Plane::ekf_check() (warn throttle)</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 send message to gcs</a:t>
                      </a:r>
                    </a:p>
                    <a:p>
                      <a:pPr algn="l">
                        <a:lnSpc>
                          <a:spcPct val="106000"/>
                        </a:lnSpc>
                        <a:spcAft>
                          <a:spcPts val="0"/>
                        </a:spcAft>
                      </a:pPr>
                      <a:r>
                        <a:rPr sz="1100" b="0">
                          <a:solidFill>
                            <a:srgbClr val="333333"/>
                          </a:solidFill>
                          <a:latin typeface="Courier New"/>
                        </a:rPr>
                        <a:t>if ((AP_HAL::millis() - ekf_check_state.last_warn_time) &gt; EKF_CHECK_WARNING_TIME) {</a:t>
                      </a:r>
                    </a:p>
                    <a:p>
                      <a:pPr algn="l">
                        <a:lnSpc>
                          <a:spcPct val="106000"/>
                        </a:lnSpc>
                        <a:spcAft>
                          <a:spcPts val="0"/>
                        </a:spcAft>
                      </a:pPr>
                      <a:r>
                        <a:rPr sz="1100" b="0">
                          <a:solidFill>
                            <a:srgbClr val="333333"/>
                          </a:solidFill>
                          <a:latin typeface="Courier New"/>
                        </a:rPr>
                        <a:t>gcs().send_text(MAV_SEVERITY_CRITICAL,"EKF variance");</a:t>
                      </a:r>
                    </a:p>
                    <a:p>
                      <a:pPr algn="l">
                        <a:lnSpc>
                          <a:spcPct val="106000"/>
                        </a:lnSpc>
                        <a:spcAft>
                          <a:spcPts val="0"/>
                        </a:spcAft>
                      </a:pPr>
                      <a:r>
                        <a:rPr sz="1100" b="0">
                          <a:solidFill>
                            <a:srgbClr val="333333"/>
                          </a:solidFill>
                          <a:latin typeface="Courier New"/>
                        </a:rPr>
                        <a:t>ekf_check_state.last_warn_time = AP_HAL::millis();</a:t>
                      </a:r>
                    </a:p>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5–7</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Code Snippet (continued)</a:t>
            </a:r>
          </a:p>
        </p:txBody>
      </p:sp>
      <p:graphicFrame>
        <p:nvGraphicFramePr>
          <p:cNvPr id="6" name="Table 5"/>
          <p:cNvGraphicFramePr>
            <a:graphicFrameLocks noGrp="1"/>
          </p:cNvGraphicFramePr>
          <p:nvPr/>
        </p:nvGraphicFramePr>
        <p:xfrm>
          <a:off x="566928" y="1591056"/>
          <a:ext cx="11058144" cy="303688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9483">
                <a:tc>
                  <a:txBody>
                    <a:bodyPr wrap="square">
                      <a:noAutofit/>
                    </a:bodyPr>
                    <a:lstStyle/>
                    <a:p>
                      <a:pPr algn="r">
                        <a:lnSpc>
                          <a:spcPct val="106000"/>
                        </a:lnSpc>
                        <a:spcAft>
                          <a:spcPts val="0"/>
                        </a:spcAft>
                      </a:pPr>
                      <a:r>
                        <a:rPr sz="1100" b="1">
                          <a:solidFill>
                            <a:srgbClr val="333333"/>
                          </a:solidFill>
                          <a:latin typeface="Courier New"/>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Sub::failsafe_ekf_check() (2 s hysteresis)</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 Bad EKF for 2 solid seconds triggers failsafe</a:t>
                      </a:r>
                    </a:p>
                    <a:p>
                      <a:pPr algn="l">
                        <a:lnSpc>
                          <a:spcPct val="106000"/>
                        </a:lnSpc>
                        <a:spcAft>
                          <a:spcPts val="0"/>
                        </a:spcAft>
                      </a:pPr>
                      <a:r>
                        <a:rPr sz="1100" b="0">
                          <a:solidFill>
                            <a:srgbClr val="333333"/>
                          </a:solidFill>
                          <a:latin typeface="Courier New"/>
                        </a:rPr>
                        <a:t>if (AP_HAL::millis() &lt; last_ekf_good_ms + 2000) {</a:t>
                      </a:r>
                    </a:p>
                    <a:p>
                      <a:pPr algn="l">
                        <a:lnSpc>
                          <a:spcPct val="106000"/>
                        </a:lnSpc>
                        <a:spcAft>
                          <a:spcPts val="0"/>
                        </a:spcAft>
                      </a:pPr>
                      <a:r>
                        <a:rPr sz="1100" b="0">
                          <a:solidFill>
                            <a:srgbClr val="333333"/>
                          </a:solidFill>
                          <a:latin typeface="Courier New"/>
                        </a:rPr>
                        <a:t>failsafe.ekf = false;</a:t>
                      </a:r>
                    </a:p>
                    <a:p>
                      <a:pPr algn="l">
                        <a:lnSpc>
                          <a:spcPct val="106000"/>
                        </a:lnSpc>
                        <a:spcAft>
                          <a:spcPts val="0"/>
                        </a:spcAft>
                      </a:pPr>
                      <a:r>
                        <a:rPr sz="1100" b="0">
                          <a:solidFill>
                            <a:srgbClr val="333333"/>
                          </a:solidFill>
                          <a:latin typeface="Courier New"/>
                        </a:rPr>
                        <a:t>AP_Notify::flags.ekf_bad = false;</a:t>
                      </a:r>
                    </a:p>
                    <a:p>
                      <a:pPr algn="l">
                        <a:lnSpc>
                          <a:spcPct val="106000"/>
                        </a:lnSpc>
                        <a:spcAft>
                          <a:spcPts val="0"/>
                        </a:spcAft>
                      </a:pPr>
                      <a:r>
                        <a:rPr sz="1100" b="0">
                          <a:solidFill>
                            <a:srgbClr val="333333"/>
                          </a:solidFill>
                          <a:latin typeface="Courier New"/>
                        </a:rPr>
                        <a:t>return;</a:t>
                      </a:r>
                    </a:p>
                    <a:p>
                      <a:pPr algn="l">
                        <a:lnSpc>
                          <a:spcPct val="106000"/>
                        </a:lnSpc>
                        <a:spcAft>
                          <a:spcPts val="0"/>
                        </a:spcAft>
                      </a:pPr>
                      <a:r>
                        <a:rPr sz="1100" b="0">
                          <a:solidFill>
                            <a:srgbClr val="333333"/>
                          </a:solidFill>
                          <a:latin typeface="Courier New"/>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Copter::ekf_over_threshold() (dt)</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uint32_t now_us = AP_HAL::micros();</a:t>
                      </a:r>
                    </a:p>
                    <a:p>
                      <a:pPr algn="l">
                        <a:lnSpc>
                          <a:spcPct val="106000"/>
                        </a:lnSpc>
                        <a:spcAft>
                          <a:spcPts val="0"/>
                        </a:spcAft>
                      </a:pPr>
                      <a:r>
                        <a:rPr sz="1100" b="0">
                          <a:solidFill>
                            <a:srgbClr val="333333"/>
                          </a:solidFill>
                          <a:latin typeface="Courier New"/>
                        </a:rPr>
                        <a:t>float dt = (now_us - last_ekf_check_us) * 1e-6f;</a:t>
                      </a:r>
                    </a:p>
                    <a:p>
                      <a:pPr algn="l">
                        <a:lnSpc>
                          <a:spcPct val="106000"/>
                        </a:lnSpc>
                        <a:spcAft>
                          <a:spcPts val="0"/>
                        </a:spcAft>
                      </a:pPr>
                      <a:r>
                        <a:rPr sz="1100" b="0">
                          <a:solidFill>
                            <a:srgbClr val="333333"/>
                          </a:solidFill>
                          <a:latin typeface="Courier New"/>
                        </a:rPr>
                        <a:t>// always update filtered values as this serves the vibration</a:t>
                      </a:r>
                    </a:p>
                    <a:p>
                      <a:pPr algn="l">
                        <a:lnSpc>
                          <a:spcPct val="106000"/>
                        </a:lnSpc>
                        <a:spcAft>
                          <a:spcPts val="0"/>
                        </a:spcAft>
                      </a:pPr>
                      <a:r>
                        <a:rPr sz="1100" b="0">
                          <a:solidFill>
                            <a:srgbClr val="333333"/>
                          </a:solidFill>
                          <a:latin typeface="Courier New"/>
                        </a:rPr>
                        <a:t>check as well</a:t>
                      </a:r>
                    </a:p>
                    <a:p>
                      <a:pPr algn="l">
                        <a:lnSpc>
                          <a:spcPct val="106000"/>
                        </a:lnSpc>
                        <a:spcAft>
                          <a:spcPts val="0"/>
                        </a:spcAft>
                      </a:pPr>
                      <a:r>
                        <a:rPr sz="1100" b="0">
                          <a:solidFill>
                            <a:srgbClr val="333333"/>
                          </a:solidFill>
                          <a:latin typeface="Courier New"/>
                        </a:rPr>
                        <a:t>position_var = pos_variance_filt.apply(position_var, dt);</a:t>
                      </a:r>
                    </a:p>
                    <a:p>
                      <a:pPr algn="l">
                        <a:lnSpc>
                          <a:spcPct val="106000"/>
                        </a:lnSpc>
                        <a:spcAft>
                          <a:spcPts val="0"/>
                        </a:spcAft>
                      </a:pPr>
                      <a:r>
                        <a:rPr sz="1100" b="0">
                          <a:solidFill>
                            <a:srgbClr val="333333"/>
                          </a:solidFill>
                          <a:latin typeface="Courier New"/>
                        </a:rPr>
                        <a:t>vel_var = vel_variance_filt.apply(vel_var, dt);</a:t>
                      </a:r>
                    </a:p>
                    <a:p>
                      <a:pPr algn="l">
                        <a:lnSpc>
                          <a:spcPct val="106000"/>
                        </a:lnSpc>
                        <a:spcAft>
                          <a:spcPts val="0"/>
                        </a:spcAft>
                      </a:pPr>
                      <a:r>
                        <a:rPr sz="1100" b="0">
                          <a:solidFill>
                            <a:srgbClr val="333333"/>
                          </a:solidFill>
                          <a:latin typeface="Courier New"/>
                        </a:rPr>
                        <a:t>last_ekf_check_us = now_us;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8–9</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Code Snippet (continued)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Courier New"/>
                        </a:rPr>
                        <a:t>Copter::fence_checks_async()</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void Copter::fence_checks_async()</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const uint32_t now = AP_HAL::millis();</a:t>
                      </a:r>
                    </a:p>
                    <a:p>
                      <a:pPr algn="l">
                        <a:lnSpc>
                          <a:spcPct val="106000"/>
                        </a:lnSpc>
                        <a:spcAft>
                          <a:spcPts val="0"/>
                        </a:spcAft>
                      </a:pPr>
                      <a:r>
                        <a:rPr sz="1100" b="0">
                          <a:solidFill>
                            <a:srgbClr val="333333"/>
                          </a:solidFill>
                          <a:latin typeface="Courier New"/>
                        </a:rPr>
                        <a:t>if (!AP_HAL::timeout_expired(fence_breaches.last_check_ms, now</a:t>
                      </a:r>
                    </a:p>
                    <a:p>
                      <a:pPr algn="l">
                        <a:lnSpc>
                          <a:spcPct val="106000"/>
                        </a:lnSpc>
                        <a:spcAft>
                          <a:spcPts val="0"/>
                        </a:spcAft>
                      </a:pPr>
                      <a:r>
                        <a:rPr sz="1100" b="0">
                          <a:solidFill>
                            <a:srgbClr val="333333"/>
                          </a:solidFill>
                          <a:latin typeface="Courier New"/>
                        </a:rPr>
                        <a:t>, 40U)) { // 25Hz update rate</a:t>
                      </a:r>
                    </a:p>
                    <a:p>
                      <a:pPr algn="l">
                        <a:lnSpc>
                          <a:spcPct val="106000"/>
                        </a:lnSpc>
                        <a:spcAft>
                          <a:spcPts val="0"/>
                        </a:spcAft>
                      </a:pPr>
                      <a:r>
                        <a:rPr sz="1100" b="0">
                          <a:solidFill>
                            <a:srgbClr val="333333"/>
                          </a:solidFill>
                          <a:latin typeface="Courier New"/>
                        </a:rPr>
                        <a:t>return;</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if (fence_breaches.have_updates)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Courier New"/>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Courier New"/>
                        </a:rPr>
                        <a:t>Rover::fence_checks_async()</a:t>
                      </a:r>
                      <a:r>
                        <a:rPr sz="1100" b="0">
                          <a:solidFill>
                            <a:srgbClr val="999999"/>
                          </a:solidFill>
                          <a:latin typeface="Courier New"/>
                        </a:rPr>
                        <a:t>  ·  </a:t>
                      </a:r>
                      <a:r>
                        <a:rPr sz="1100" b="0">
                          <a:solidFill>
                            <a:srgbClr val="999999"/>
                          </a:solidFill>
                          <a:latin typeface="Courier New"/>
                        </a:rPr>
                        <a:t>Function call</a:t>
                      </a:r>
                    </a:p>
                    <a:p>
                      <a:pPr algn="l">
                        <a:lnSpc>
                          <a:spcPct val="106000"/>
                        </a:lnSpc>
                        <a:spcAft>
                          <a:spcPts val="0"/>
                        </a:spcAft>
                      </a:pPr>
                      <a:r>
                        <a:rPr sz="1100" b="0">
                          <a:solidFill>
                            <a:srgbClr val="333333"/>
                          </a:solidFill>
                          <a:latin typeface="Courier New"/>
                        </a:rPr>
                        <a:t>void Rover::fence_checks_async()</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const uint32_t now = AP_HAL::millis();</a:t>
                      </a:r>
                    </a:p>
                    <a:p>
                      <a:pPr algn="l">
                        <a:lnSpc>
                          <a:spcPct val="106000"/>
                        </a:lnSpc>
                        <a:spcAft>
                          <a:spcPts val="0"/>
                        </a:spcAft>
                      </a:pPr>
                      <a:r>
                        <a:rPr sz="1100" b="0">
                          <a:solidFill>
                            <a:srgbClr val="333333"/>
                          </a:solidFill>
                          <a:latin typeface="Courier New"/>
                        </a:rPr>
                        <a:t>if (!AP_HAL::timeout_expired(fence_breaches.last_check_ms, now</a:t>
                      </a:r>
                    </a:p>
                    <a:p>
                      <a:pPr algn="l">
                        <a:lnSpc>
                          <a:spcPct val="106000"/>
                        </a:lnSpc>
                        <a:spcAft>
                          <a:spcPts val="0"/>
                        </a:spcAft>
                      </a:pPr>
                      <a:r>
                        <a:rPr sz="1100" b="0">
                          <a:solidFill>
                            <a:srgbClr val="333333"/>
                          </a:solidFill>
                          <a:latin typeface="Courier New"/>
                        </a:rPr>
                        <a:t>, 100U)) { // 10Hz update rate</a:t>
                      </a:r>
                    </a:p>
                    <a:p>
                      <a:pPr algn="l">
                        <a:lnSpc>
                          <a:spcPct val="106000"/>
                        </a:lnSpc>
                        <a:spcAft>
                          <a:spcPts val="0"/>
                        </a:spcAft>
                      </a:pPr>
                      <a:r>
                        <a:rPr sz="1100" b="0">
                          <a:solidFill>
                            <a:srgbClr val="333333"/>
                          </a:solidFill>
                          <a:latin typeface="Courier New"/>
                        </a:rPr>
                        <a:t>return;</a:t>
                      </a:r>
                    </a:p>
                    <a:p>
                      <a:pPr algn="l">
                        <a:lnSpc>
                          <a:spcPct val="106000"/>
                        </a:lnSpc>
                        <a:spcAft>
                          <a:spcPts val="0"/>
                        </a:spcAft>
                      </a:pPr>
                      <a:r>
                        <a:rPr sz="1100" b="0">
                          <a:solidFill>
                            <a:srgbClr val="333333"/>
                          </a:solidFill>
                          <a:latin typeface="Courier New"/>
                        </a:rPr>
                        <a:t>}</a:t>
                      </a:r>
                    </a:p>
                    <a:p>
                      <a:pPr algn="l">
                        <a:lnSpc>
                          <a:spcPct val="106000"/>
                        </a:lnSpc>
                        <a:spcAft>
                          <a:spcPts val="0"/>
                        </a:spcAft>
                      </a:pPr>
                      <a:r>
                        <a:rPr sz="1100" b="0">
                          <a:solidFill>
                            <a:srgbClr val="333333"/>
                          </a:solidFill>
                          <a:latin typeface="Courier New"/>
                        </a:rPr>
                        <a:t>if (fence_breaches.have_updates)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10–11</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2 transitive chains</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6a: Layer 2 — full transitive chain, final consumer &amp; hop depth</a:t>
            </a:r>
          </a:p>
        </p:txBody>
      </p:sp>
      <p:graphicFrame>
        <p:nvGraphicFramePr>
          <p:cNvPr id="7" name="Table 6"/>
          <p:cNvGraphicFramePr>
            <a:graphicFrameLocks noGrp="1"/>
          </p:cNvGraphicFramePr>
          <p:nvPr/>
        </p:nvGraphicFramePr>
        <p:xfrm>
          <a:off x="566928" y="1906943"/>
          <a:ext cx="11058144" cy="3387090"/>
        </p:xfrm>
        <a:graphic>
          <a:graphicData uri="http://schemas.openxmlformats.org/drawingml/2006/table">
            <a:tbl>
              <a:tblPr>
                <a:tableStyleId>{5C22544A-7EE6-4342-B048-85BDC9FD1C3A}</a:tableStyleId>
              </a:tblPr>
              <a:tblGrid>
                <a:gridCol w="352425"/>
                <a:gridCol w="2653030"/>
                <a:gridCol w="3670300"/>
                <a:gridCol w="1309370"/>
                <a:gridCol w="586740"/>
                <a:gridCol w="2486025"/>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18030">
                <a:tc>
                  <a:txBody>
                    <a:bodyPr wrap="square">
                      <a:noAutofit/>
                    </a:bodyPr>
                    <a:lstStyle/>
                    <a:p>
                      <a:pPr algn="r">
                        <a:lnSpc>
                          <a:spcPct val="106000"/>
                        </a:lnSpc>
                        <a:spcAft>
                          <a:spcPts val="0"/>
                        </a:spcAft>
                      </a:pPr>
                      <a:r>
                        <a:rPr sz="1100" b="1">
                          <a:solidFill>
                            <a:srgbClr val="333333"/>
                          </a:solidFill>
                          <a:latin typeface="Courier New"/>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AP_Scheduler::ticks() / AP_HAL::micros() → failsafe_check_static() [1 kHz timer-failsafe] → Copter::failsafe_check() (&gt;2 s stall) → AP_Motors::output_min()/armed(false)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AP_Motors (motor min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Main-loop-lockup watchdog replicated 5 ways — ArduCopter/failsafe.cpp, ArduPlane/failsafe.cpp, Rover/failsafe.cpp, ArduSub/failsafe.cpp (mainloop_failsafe_check) and Blimp/failsafe.cpp — each reads AP_Scheduler::ticks() + AP_HAL::micros(); divergent thresholds/actions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230">
                <a:tc>
                  <a:txBody>
                    <a:bodyPr wrap="square">
                      <a:noAutofit/>
                    </a:bodyPr>
                    <a:lstStyle/>
                    <a:p>
                      <a:pPr algn="r">
                        <a:lnSpc>
                          <a:spcPct val="106000"/>
                        </a:lnSpc>
                        <a:spcAft>
                          <a:spcPts val="0"/>
                        </a:spcAft>
                      </a:pPr>
                      <a:r>
                        <a:rPr sz="1100" b="1">
                          <a:solidFill>
                            <a:srgbClr val="333333"/>
                          </a:solidFill>
                          <a:latin typeface="Courier New"/>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AP_Scheduler::ticks() / micros() → failsafe_check_static() → Plane::failsafe_check() (&gt;0.2 s stall) → SRV_Channels::set_output_scaled() → servos_output()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SRV_Channels (RC passthrough)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watchdog; divergent 0.2 s trip + RC-passthrough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5776488"/>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2 transitive chains (continued)</a:t>
            </a:r>
          </a:p>
        </p:txBody>
      </p:sp>
      <p:graphicFrame>
        <p:nvGraphicFramePr>
          <p:cNvPr id="6" name="Table 5"/>
          <p:cNvGraphicFramePr>
            <a:graphicFrameLocks noGrp="1"/>
          </p:cNvGraphicFramePr>
          <p:nvPr/>
        </p:nvGraphicFramePr>
        <p:xfrm>
          <a:off x="566928" y="1591056"/>
          <a:ext cx="11058144" cy="4107180"/>
        </p:xfrm>
        <a:graphic>
          <a:graphicData uri="http://schemas.openxmlformats.org/drawingml/2006/table">
            <a:tbl>
              <a:tblPr>
                <a:tableStyleId>{5C22544A-7EE6-4342-B048-85BDC9FD1C3A}</a:tableStyleId>
              </a:tblPr>
              <a:tblGrid>
                <a:gridCol w="352425"/>
                <a:gridCol w="2653030"/>
                <a:gridCol w="3670300"/>
                <a:gridCol w="1309370"/>
                <a:gridCol w="586740"/>
                <a:gridCol w="2486025"/>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430">
                <a:tc>
                  <a:txBody>
                    <a:bodyPr wrap="square">
                      <a:noAutofit/>
                    </a:bodyPr>
                    <a:lstStyle/>
                    <a:p>
                      <a:pPr algn="r">
                        <a:lnSpc>
                          <a:spcPct val="106000"/>
                        </a:lnSpc>
                        <a:spcAft>
                          <a:spcPts val="0"/>
                        </a:spcAft>
                      </a:pPr>
                      <a:r>
                        <a:rPr sz="1100" b="1">
                          <a:solidFill>
                            <a:srgbClr val="333333"/>
                          </a:solidFill>
                          <a:latin typeface="Courier New"/>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AP_Scheduler::ticks() / micros() → failsafe_check_static() → Rover::failsafe_check() (&gt;0.2 s stall) → AP_Arming::disarm(CPUFAILSAFE)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AP_Arming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watchdog.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430">
                <a:tc>
                  <a:txBody>
                    <a:bodyPr wrap="square">
                      <a:noAutofit/>
                    </a:bodyPr>
                    <a:lstStyle/>
                    <a:p>
                      <a:pPr algn="r">
                        <a:lnSpc>
                          <a:spcPct val="106000"/>
                        </a:lnSpc>
                        <a:spcAft>
                          <a:spcPts val="0"/>
                        </a:spcAft>
                      </a:pPr>
                      <a:r>
                        <a:rPr sz="1100" b="1">
                          <a:solidFill>
                            <a:srgbClr val="333333"/>
                          </a:solidFill>
                          <a:latin typeface="Courier New"/>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AP_Scheduler::ticks() / micros() → failsafe_check_static() → Sub::mainloop_failsafe_check() (&gt;2 s stall) → AP_Motors::output_min()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AP_Motors (motor 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watchdog.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430">
                <a:tc>
                  <a:txBody>
                    <a:bodyPr wrap="square">
                      <a:noAutofit/>
                    </a:bodyPr>
                    <a:lstStyle/>
                    <a:p>
                      <a:pPr algn="r">
                        <a:lnSpc>
                          <a:spcPct val="106000"/>
                        </a:lnSpc>
                        <a:spcAft>
                          <a:spcPts val="0"/>
                        </a:spcAft>
                      </a:pPr>
                      <a:r>
                        <a:rPr sz="1100" b="1">
                          <a:solidFill>
                            <a:srgbClr val="333333"/>
                          </a:solidFill>
                          <a:latin typeface="Courier New"/>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AP_Scheduler::ticks() / micros() → failsafe_check_static() → Blimp::failsafe_check() (&gt;2 s stall) → AP_Motors::output_min()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AP_Motors (motor 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watchdog; Blimp observes scheduler timing state only (AAP 0.3.2).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430">
                <a:tc>
                  <a:txBody>
                    <a:bodyPr wrap="square">
                      <a:noAutofit/>
                    </a:bodyPr>
                    <a:lstStyle/>
                    <a:p>
                      <a:pPr algn="r">
                        <a:lnSpc>
                          <a:spcPct val="106000"/>
                        </a:lnSpc>
                        <a:spcAft>
                          <a:spcPts val="0"/>
                        </a:spcAft>
                      </a:pPr>
                      <a:r>
                        <a:rPr sz="1100" b="1">
                          <a:solidFill>
                            <a:srgbClr val="333333"/>
                          </a:solidFill>
                          <a:latin typeface="Courier New"/>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AP_HAL::millis() → Copter::ekf_check() (&gt;30 s since last_warn) → gcs().send_text(“EKF variance”) → GCS_MAVLINK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GCS_MAVLINK (telemetry 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30 s warn-throttle (Copter/Plane). [MULTI-CATEGORY w/ Table 5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r">
                        <a:lnSpc>
                          <a:spcPct val="106000"/>
                        </a:lnSpc>
                        <a:spcAft>
                          <a:spcPts val="0"/>
                        </a:spcAft>
                      </a:pPr>
                      <a:r>
                        <a:rPr sz="1100" b="1">
                          <a:solidFill>
                            <a:srgbClr val="333333"/>
                          </a:solidFill>
                          <a:latin typeface="Courier New"/>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AP_HAL::millis() → Plane::ekf_check() (&gt;30 s since last_warn) → gcs().send_text(“EKF variance”) → GCS_MAVLINK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GCS_MAVLINK (telemetry 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mirrors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6003559"/>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3–7</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2 transitive chains (continued)</a:t>
            </a:r>
          </a:p>
        </p:txBody>
      </p:sp>
      <p:graphicFrame>
        <p:nvGraphicFramePr>
          <p:cNvPr id="6" name="Table 5"/>
          <p:cNvGraphicFramePr>
            <a:graphicFrameLocks noGrp="1"/>
          </p:cNvGraphicFramePr>
          <p:nvPr/>
        </p:nvGraphicFramePr>
        <p:xfrm>
          <a:off x="566928" y="1591056"/>
          <a:ext cx="11058144" cy="3689350"/>
        </p:xfrm>
        <a:graphic>
          <a:graphicData uri="http://schemas.openxmlformats.org/drawingml/2006/table">
            <a:tbl>
              <a:tblPr>
                <a:tableStyleId>{5C22544A-7EE6-4342-B048-85BDC9FD1C3A}</a:tableStyleId>
              </a:tblPr>
              <a:tblGrid>
                <a:gridCol w="352425"/>
                <a:gridCol w="2653030"/>
                <a:gridCol w="3670300"/>
                <a:gridCol w="1309370"/>
                <a:gridCol w="586740"/>
                <a:gridCol w="2486025"/>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430">
                <a:tc>
                  <a:txBody>
                    <a:bodyPr wrap="square">
                      <a:noAutofit/>
                    </a:bodyPr>
                    <a:lstStyle/>
                    <a:p>
                      <a:pPr algn="r">
                        <a:lnSpc>
                          <a:spcPct val="106000"/>
                        </a:lnSpc>
                        <a:spcAft>
                          <a:spcPts val="0"/>
                        </a:spcAft>
                      </a:pPr>
                      <a:r>
                        <a:rPr sz="1100" b="1">
                          <a:solidFill>
                            <a:srgbClr val="333333"/>
                          </a:solidFill>
                          <a:latin typeface="Courier New"/>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AP_HAL::millis() → Sub::failsafe_ekf_check() (EKF bad ≥ 2 s) → failsafe.ekf = true → arming.disarm(EKFFAILSAFE)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AP_Arming (EKF failsafe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[MULTI-CATEGORY w/ Table 5 #4]. 2 s confirm + 20 s warn-throttle.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430">
                <a:tc>
                  <a:txBody>
                    <a:bodyPr wrap="square">
                      <a:noAutofit/>
                    </a:bodyPr>
                    <a:lstStyle/>
                    <a:p>
                      <a:pPr algn="r">
                        <a:lnSpc>
                          <a:spcPct val="106000"/>
                        </a:lnSpc>
                        <a:spcAft>
                          <a:spcPts val="0"/>
                        </a:spcAft>
                      </a:pPr>
                      <a:r>
                        <a:rPr sz="1100" b="1">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AP_HAL::micros() inter-call interval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AP_HAL::micros() → dt → pos/vel_variance_filt.apply(var, dt) → ekf_over_threshold() → Copter::ekf_check() failsafe decision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Copter::ekf_check() variance decision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 check-rate &lt;-&gt; scheduler coupling (AAP 0.5.5). [MULTI-CATEGORY w/ Table 5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230">
                <a:tc>
                  <a:txBody>
                    <a:bodyPr wrap="square">
                      <a:noAutofit/>
                    </a:bodyPr>
                    <a:lstStyle/>
                    <a:p>
                      <a:pPr algn="r">
                        <a:lnSpc>
                          <a:spcPct val="106000"/>
                        </a:lnSpc>
                        <a:spcAft>
                          <a:spcPts val="0"/>
                        </a:spcAft>
                      </a:pPr>
                      <a:r>
                        <a:rPr sz="1100" b="1">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AP_HAL::millis() → AP_HAL::timeout_expired(40U) gate → Copter::fence_checks_async() → AC_Fence::check() → fence_breaches latched → main-loop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AC_Fence /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[MULTI-CATEGORY w/ Table 4 #3]. vs Rover (40U/25 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430">
                <a:tc>
                  <a:txBody>
                    <a:bodyPr wrap="square">
                      <a:noAutofit/>
                    </a:bodyPr>
                    <a:lstStyle/>
                    <a:p>
                      <a:pPr algn="r">
                        <a:lnSpc>
                          <a:spcPct val="106000"/>
                        </a:lnSpc>
                        <a:spcAft>
                          <a:spcPts val="0"/>
                        </a:spcAft>
                      </a:pPr>
                      <a:r>
                        <a:rPr sz="1100" b="1">
                          <a:solidFill>
                            <a:srgbClr val="333333"/>
                          </a:solidFill>
                          <a:latin typeface="Courier New"/>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AP_HAL::millis() → AP_HAL::timeout_expired(100U) gate → Rover::fence_checks_async() → AC_Fence::check() → fence_breaches latched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AC_Fence /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[MULTI-CATEGORY w/ Table 4 #9]. vs Copter (100U/10 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585641"/>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8–11</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ROLL-UP  ·  LAYER 1</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Layer 1 dependency types across all 94 rows</a:t>
            </a: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 roll-up of the audit’s own Dependency Type column values, read cell by cell across the six Layer 1 blocks. It is not a new score, a new metric or a new finding.</a:t>
            </a:r>
          </a:p>
        </p:txBody>
      </p:sp>
      <p:graphicFrame>
        <p:nvGraphicFramePr>
          <p:cNvPr id="7" name="Table 6"/>
          <p:cNvGraphicFramePr>
            <a:graphicFrameLocks noGrp="1"/>
          </p:cNvGraphicFramePr>
          <p:nvPr/>
        </p:nvGraphicFramePr>
        <p:xfrm>
          <a:off x="566928" y="2173338"/>
          <a:ext cx="11058144" cy="2255586"/>
        </p:xfrm>
        <a:graphic>
          <a:graphicData uri="http://schemas.openxmlformats.org/drawingml/2006/table">
            <a:tbl>
              <a:tblPr>
                <a:tableStyleId>{5C22544A-7EE6-4342-B048-85BDC9FD1C3A}</a:tableStyleId>
              </a:tblPr>
              <a:tblGrid>
                <a:gridCol w="2878773"/>
                <a:gridCol w="1370844"/>
                <a:gridCol w="6808527"/>
              </a:tblGrid>
              <a:tr h="270927">
                <a:tc>
                  <a:txBody>
                    <a:bodyPr wrap="square">
                      <a:noAutofit/>
                    </a:bodyPr>
                    <a:lstStyle/>
                    <a:p>
                      <a:pPr algn="l">
                        <a:lnSpc>
                          <a:spcPct val="106000"/>
                        </a:lnSpc>
                        <a:spcAft>
                          <a:spcPts val="0"/>
                        </a:spcAft>
                      </a:pPr>
                      <a:r>
                        <a:rPr sz="1300" b="1">
                          <a:solidFill>
                            <a:srgbClr val="333333"/>
                          </a:solidFill>
                          <a:latin typeface="Inter"/>
                        </a:rPr>
                        <a:t>Dependency Type (Layer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What the value records, per the audit’s Legend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80935">
                <a:tc>
                  <a:txBody>
                    <a:bodyPr wrap="square">
                      <a:noAutofit/>
                    </a:bodyPr>
                    <a:lstStyle/>
                    <a:p>
                      <a:pPr algn="l">
                        <a:lnSpc>
                          <a:spcPct val="106000"/>
                        </a:lnSpc>
                        <a:spcAft>
                          <a:spcPts val="0"/>
                        </a:spcAft>
                      </a:pPr>
                      <a:r>
                        <a:rPr sz="1300" b="1">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The component reads or writes PNT fields of a shared structure rather than calling for them.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Courier New"/>
                        </a:rPr>
                        <a:t>61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The component obtains or hands on the PNT value through a direct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80935">
                <a:tc>
                  <a:txBody>
                    <a:bodyPr wrap="square">
                      <a:noAutofit/>
                    </a:bodyPr>
                    <a:lstStyle/>
                    <a:p>
                      <a:pPr algn="l">
                        <a:lnSpc>
                          <a:spcPct val="106000"/>
                        </a:lnSpc>
                        <a:spcAft>
                          <a:spcPts val="0"/>
                        </a:spcAft>
                      </a:pPr>
                      <a:r>
                        <a:rPr sz="1300" b="1">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Courier New"/>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The component sits behind a base class or interface that the PNT edge is declared 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Courier New"/>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The component reaches the PNT value through a process-wide singleton or global.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80935">
                <a:tc>
                  <a:txBody>
                    <a:bodyPr wrap="square">
                      <a:noAutofit/>
                    </a:bodyPr>
                    <a:lstStyle/>
                    <a:p>
                      <a:pPr algn="l">
                        <a:lnSpc>
                          <a:spcPct val="106000"/>
                        </a:lnSpc>
                        <a:spcAft>
                          <a:spcPts val="0"/>
                        </a:spcAft>
                      </a:pPr>
                      <a:r>
                        <a:rPr sz="1300" b="1">
                          <a:solidFill>
                            <a:srgbClr val="333333"/>
                          </a:solidFill>
                          <a:latin typeface="Inter"/>
                        </a:rPr>
                        <a:t>All Layer 1 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Courier New"/>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One Layer 1 row for every catalogued main-table row, which is what makes the distribution exhaustive.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4611804"/>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Layer 1 row carries exactly one Dependency Type value drawn from the audit’s own four-value vocabulary, so the four figures above account for all 94 rows.</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ROLL-UP  ·  LAYER 2</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Layer 2 chain depth, and the evidence-row reconciliation</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Chain Depth is the audit’s own convention: the number of → hops explicitly listed in that chain.</a:t>
            </a:r>
          </a:p>
        </p:txBody>
      </p:sp>
      <p:graphicFrame>
        <p:nvGraphicFramePr>
          <p:cNvPr id="7" name="Table 6"/>
          <p:cNvGraphicFramePr>
            <a:graphicFrameLocks noGrp="1"/>
          </p:cNvGraphicFramePr>
          <p:nvPr/>
        </p:nvGraphicFramePr>
        <p:xfrm>
          <a:off x="566928" y="1852079"/>
          <a:ext cx="11058144" cy="2316505"/>
        </p:xfrm>
        <a:graphic>
          <a:graphicData uri="http://schemas.openxmlformats.org/drawingml/2006/table">
            <a:tbl>
              <a:tblPr>
                <a:tableStyleId>{5C22544A-7EE6-4342-B048-85BDC9FD1C3A}</a:tableStyleId>
              </a:tblPr>
              <a:tblGrid>
                <a:gridCol w="1370844"/>
                <a:gridCol w="2376130"/>
                <a:gridCol w="7311170"/>
              </a:tblGrid>
              <a:tr h="270927">
                <a:tc>
                  <a:txBody>
                    <a:bodyPr wrap="square">
                      <a:noAutofit/>
                    </a:bodyPr>
                    <a:lstStyle/>
                    <a:p>
                      <a:pPr algn="l">
                        <a:lnSpc>
                          <a:spcPct val="106000"/>
                        </a:lnSpc>
                        <a:spcAft>
                          <a:spcPts val="0"/>
                        </a:spcAft>
                      </a:pPr>
                      <a:r>
                        <a:rPr sz="1300" b="1">
                          <a:solidFill>
                            <a:srgbClr val="333333"/>
                          </a:solidFill>
                          <a:latin typeface="Inter"/>
                        </a:rPr>
                        <a:t>Sub-table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Chain Depth values present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What the chains run through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80935">
                <a:tc>
                  <a:txBody>
                    <a:bodyPr wrap="square">
                      <a:noAutofit/>
                    </a:bodyPr>
                    <a:lstStyle/>
                    <a:p>
                      <a:pPr algn="l">
                        <a:lnSpc>
                          <a:spcPct val="106000"/>
                        </a:lnSpc>
                        <a:spcAft>
                          <a:spcPts val="0"/>
                        </a:spcAft>
                      </a:pPr>
                      <a:r>
                        <a:rPr sz="1300" b="1">
                          <a:solidFill>
                            <a:srgbClr val="333333"/>
                          </a:solidFill>
                          <a:latin typeface="Courier New"/>
                        </a:rPr>
                        <a:t>Table 1a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Courier New"/>
                        </a:rPr>
                        <a:t>3  4  5  6  8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Receiver backends through the shared GPS state and the estimator to the motor and servo output, the catalog’s longest chains.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Courier New"/>
                        </a:rPr>
                        <a:t>Table 2a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Courier New"/>
                        </a:rPr>
                        <a:t>3  4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The navigation hub and the estimator stack through to the guidance and mission layer.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80935">
                <a:tc>
                  <a:txBody>
                    <a:bodyPr wrap="square">
                      <a:noAutofit/>
                    </a:bodyPr>
                    <a:lstStyle/>
                    <a:p>
                      <a:pPr algn="l">
                        <a:lnSpc>
                          <a:spcPct val="106000"/>
                        </a:lnSpc>
                        <a:spcAft>
                          <a:spcPts val="0"/>
                        </a:spcAft>
                      </a:pPr>
                      <a:r>
                        <a:rPr sz="1300" b="1">
                          <a:solidFill>
                            <a:srgbClr val="333333"/>
                          </a:solidFill>
                          <a:latin typeface="Courier New"/>
                        </a:rPr>
                        <a:t>Table 3a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Courier New"/>
                        </a:rPr>
                        <a:t>3  4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The board hardware timer through the hardware-abstraction clock to every periodic PNT task.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Courier New"/>
                        </a:rPr>
                        <a:t>Table 4a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Courier New"/>
                        </a:rPr>
                        <a:t>2  3  4  5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Position health and fence evaluation through to mode denial and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1">
                          <a:solidFill>
                            <a:srgbClr val="333333"/>
                          </a:solidFill>
                          <a:latin typeface="Courier New"/>
                        </a:rPr>
                        <a:t>Table 5a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Courier New"/>
                        </a:rPr>
                        <a:t>2  3  4  5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Estimator-variance watchdogs through to the vehicle’s failsafe response.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Courier New"/>
                        </a:rPr>
                        <a:t>Table 6a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Courier New"/>
                        </a:rPr>
                        <a:t>3  4  5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Main-loop lockup watchdogs and their rate gates through to motor output and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Rounded Rectangle 7"/>
          <p:cNvSpPr/>
          <p:nvPr/>
        </p:nvSpPr>
        <p:spPr>
          <a:xfrm>
            <a:off x="566928" y="4369752"/>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94</a:t>
            </a:r>
          </a:p>
          <a:p>
            <a:pPr algn="ctr">
              <a:lnSpc>
                <a:spcPct val="124000"/>
              </a:lnSpc>
            </a:pPr>
            <a:r>
              <a:rPr sz="1200">
                <a:solidFill>
                  <a:srgbClr val="999999"/>
                </a:solidFill>
                <a:latin typeface="Inter"/>
              </a:rPr>
              <a:t>main rows catalogued</a:t>
            </a:r>
          </a:p>
        </p:txBody>
      </p:sp>
      <p:sp>
        <p:nvSpPr>
          <p:cNvPr id="9" name="Rounded Rectangle 8"/>
          <p:cNvSpPr/>
          <p:nvPr/>
        </p:nvSpPr>
        <p:spPr>
          <a:xfrm>
            <a:off x="3381756" y="4369752"/>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3</a:t>
            </a:r>
          </a:p>
          <a:p>
            <a:pPr algn="ctr">
              <a:lnSpc>
                <a:spcPct val="124000"/>
              </a:lnSpc>
            </a:pPr>
            <a:r>
              <a:rPr sz="1200">
                <a:solidFill>
                  <a:srgbClr val="999999"/>
                </a:solidFill>
                <a:latin typeface="Inter"/>
              </a:rPr>
              <a:t>layers per row</a:t>
            </a:r>
          </a:p>
        </p:txBody>
      </p:sp>
      <p:sp>
        <p:nvSpPr>
          <p:cNvPr id="10" name="Rounded Rectangle 9"/>
          <p:cNvSpPr/>
          <p:nvPr/>
        </p:nvSpPr>
        <p:spPr>
          <a:xfrm>
            <a:off x="6196584" y="4369752"/>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282</a:t>
            </a:r>
          </a:p>
          <a:p>
            <a:pPr algn="ctr">
              <a:lnSpc>
                <a:spcPct val="124000"/>
              </a:lnSpc>
            </a:pPr>
            <a:r>
              <a:rPr sz="1200">
                <a:solidFill>
                  <a:srgbClr val="999999"/>
                </a:solidFill>
                <a:latin typeface="Inter"/>
              </a:rPr>
              <a:t>evidence rows in total</a:t>
            </a:r>
          </a:p>
        </p:txBody>
      </p:sp>
      <p:sp>
        <p:nvSpPr>
          <p:cNvPr id="11" name="Rounded Rectangle 10"/>
          <p:cNvSpPr/>
          <p:nvPr/>
        </p:nvSpPr>
        <p:spPr>
          <a:xfrm>
            <a:off x="9011412" y="4369752"/>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18</a:t>
            </a:r>
          </a:p>
          <a:p>
            <a:pPr algn="ctr">
              <a:lnSpc>
                <a:spcPct val="124000"/>
              </a:lnSpc>
            </a:pPr>
            <a:r>
              <a:rPr sz="1200">
                <a:solidFill>
                  <a:srgbClr val="999999"/>
                </a:solidFill>
                <a:latin typeface="Inter"/>
              </a:rPr>
              <a:t>data objects behind them</a:t>
            </a:r>
          </a:p>
        </p:txBody>
      </p:sp>
      <p:sp>
        <p:nvSpPr>
          <p:cNvPr id="12" name="TextBox 11"/>
          <p:cNvSpPr txBox="1"/>
          <p:nvPr/>
        </p:nvSpPr>
        <p:spPr>
          <a:xfrm>
            <a:off x="566928" y="5549328"/>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94 main rows × 3 layers = 282 evidence rows, exactly the total the audit states.</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PNT Instance Audit</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Current Location → New Service Location: the audit’s own wiring contract for the extracted service.</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PNT INSTANCE AUDIT  ·  12 MAPPING ROWS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PNT Instance Audit</a:t>
            </a: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Position, Navigation and Timing touch-point inside the wrapped controller, with the service member each one is refactored into.</a:t>
            </a:r>
          </a:p>
        </p:txBody>
      </p:sp>
      <p:sp>
        <p:nvSpPr>
          <p:cNvPr id="7" name="TextBox 6"/>
          <p:cNvSpPr txBox="1"/>
          <p:nvPr/>
        </p:nvSpPr>
        <p:spPr>
          <a:xfrm>
            <a:off x="566928" y="2228202"/>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Every Position / Navigation / Timing touch-point inside AP_L1_Control mapped onto the reusable AfsimL1Behavior service (the AHRS state shim, the injected-dt timing seam and the extern "C" command surface).</a:t>
            </a:r>
          </a:p>
        </p:txBody>
      </p:sp>
      <p:graphicFrame>
        <p:nvGraphicFramePr>
          <p:cNvPr id="8" name="Table 7"/>
          <p:cNvGraphicFramePr>
            <a:graphicFrameLocks noGrp="1"/>
          </p:cNvGraphicFramePr>
          <p:nvPr/>
        </p:nvGraphicFramePr>
        <p:xfrm>
          <a:off x="566928" y="2701099"/>
          <a:ext cx="11058144" cy="2747137"/>
        </p:xfrm>
        <a:graphic>
          <a:graphicData uri="http://schemas.openxmlformats.org/drawingml/2006/table">
            <a:tbl>
              <a:tblPr>
                <a:tableStyleId>{5C22544A-7EE6-4342-B048-85BDC9FD1C3A}</a:tableStyleId>
              </a:tblPr>
              <a:tblGrid>
                <a:gridCol w="872397"/>
                <a:gridCol w="1577530"/>
                <a:gridCol w="2131135"/>
                <a:gridCol w="3095708"/>
                <a:gridCol w="3381374"/>
              </a:tblGrid>
              <a:tr h="240157">
                <a:tc>
                  <a:txBody>
                    <a:bodyPr wrap="square">
                      <a:noAutofit/>
                    </a:bodyPr>
                    <a:lstStyle/>
                    <a:p>
                      <a:pPr algn="l">
                        <a:lnSpc>
                          <a:spcPct val="106000"/>
                        </a:lnSpc>
                        <a:spcAft>
                          <a:spcPts val="0"/>
                        </a:spcAft>
                      </a:pPr>
                      <a:r>
                        <a:rPr sz="1100" b="1">
                          <a:solidFill>
                            <a:srgbClr val="333333"/>
                          </a:solidFill>
                          <a:latin typeface="Inter"/>
                        </a:rPr>
                        <a:t>PNT Pillar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Current Location(s)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Current Accessor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l">
                        <a:lnSpc>
                          <a:spcPct val="106000"/>
                        </a:lnSpc>
                        <a:spcAft>
                          <a:spcPts val="0"/>
                        </a:spcAft>
                      </a:pPr>
                      <a:r>
                        <a:rPr sz="1100" b="1">
                          <a:solidFill>
                            <a:srgbClr val="333333"/>
                          </a:solidFill>
                          <a:latin typeface="Inter"/>
                        </a:rPr>
                        <a:t>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 vehicle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AP_L1_Control.cpp:L230, L369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`_ahrs.get_location(_current_loc)`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AHRS shim `get_location()`, fed by `set_state_ne(n, 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1">
                          <a:solidFill>
                            <a:srgbClr val="333333"/>
                          </a:solidFill>
                          <a:latin typeface="Inter"/>
                        </a:rPr>
                        <a:t>Navigation (velocity)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Read ground velocity vector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AP_L1_Control.cpp:L236, L375, L507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`_ahrs.groundspeed_vector()`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AHRS shim `groundspeed_vector()`, fed by `set_velocity_EN(velE, velN)`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l">
                        <a:lnSpc>
                          <a:spcPct val="106000"/>
                        </a:lnSpc>
                        <a:spcAft>
                          <a:spcPts val="0"/>
                        </a:spcAft>
                      </a:pPr>
                      <a:r>
                        <a:rPr sz="1100" b="1">
                          <a:solidFill>
                            <a:srgbClr val="333333"/>
                          </a:solidFill>
                          <a:latin typeface="Inter"/>
                        </a:rPr>
                        <a:t>Navigation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 yaw (radians)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AP_L1_Control.cpp:L59, L61, L402, L536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`_ahrs.get_yaw_rad()`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AHRS shim `get_yaw_rad()`, fed by `set_yaw_cd(yaw_cd)`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1">
                          <a:solidFill>
                            <a:srgbClr val="333333"/>
                          </a:solidFill>
                          <a:latin typeface="Inter"/>
                        </a:rPr>
                        <a:t>Navigation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Read yaw (centideg sensor)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AP_L1_Control.cpp:L70, L72, L503, L535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`_ahrs.yaw_sensor`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AHRS shim `yaw_sensor`, fed by `set_yaw_cd(yaw_cd)`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l">
                        <a:lnSpc>
                          <a:spcPct val="106000"/>
                        </a:lnSpc>
                        <a:spcAft>
                          <a:spcPts val="0"/>
                        </a:spcAft>
                      </a:pPr>
                      <a:r>
                        <a:rPr sz="1100" b="1">
                          <a:solidFill>
                            <a:srgbClr val="333333"/>
                          </a:solidFill>
                          <a:latin typeface="Inter"/>
                        </a:rPr>
                        <a:t>Navigation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 pitch (radians)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AP_L1_Control.cpp:L91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`_ahrs.get_pitch_rad()`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AHRS shim `get_pitch_rad()`, fed by `set_pitch_rad(pitch_rad)`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1">
                          <a:solidFill>
                            <a:srgbClr val="333333"/>
                          </a:solidFill>
                          <a:latin typeface="Inter"/>
                        </a:rPr>
                        <a:t>Navigation (airspeed)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Airspeed scaling factor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AP_L1_Control.cpp:L126, L159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`_ahrs.get_EAS2TAS()`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AHRS shim `get_EAS2TAS()` (injected or unit default)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PNT INSTANCE AUDIT  ·  12 MAPPING ROWS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PNT Instance Audit (continued)</a:t>
            </a:r>
          </a:p>
        </p:txBody>
      </p:sp>
      <p:graphicFrame>
        <p:nvGraphicFramePr>
          <p:cNvPr id="6" name="Table 5"/>
          <p:cNvGraphicFramePr>
            <a:graphicFrameLocks noGrp="1"/>
          </p:cNvGraphicFramePr>
          <p:nvPr/>
        </p:nvGraphicFramePr>
        <p:xfrm>
          <a:off x="566928" y="1591056"/>
          <a:ext cx="11058144" cy="4523866"/>
        </p:xfrm>
        <a:graphic>
          <a:graphicData uri="http://schemas.openxmlformats.org/drawingml/2006/table">
            <a:tbl>
              <a:tblPr>
                <a:tableStyleId>{5C22544A-7EE6-4342-B048-85BDC9FD1C3A}</a:tableStyleId>
              </a:tblPr>
              <a:tblGrid>
                <a:gridCol w="872397"/>
                <a:gridCol w="1577530"/>
                <a:gridCol w="2131135"/>
                <a:gridCol w="3095708"/>
                <a:gridCol w="3381374"/>
              </a:tblGrid>
              <a:tr h="240157">
                <a:tc>
                  <a:txBody>
                    <a:bodyPr wrap="square">
                      <a:noAutofit/>
                    </a:bodyPr>
                    <a:lstStyle/>
                    <a:p>
                      <a:pPr algn="l">
                        <a:lnSpc>
                          <a:spcPct val="106000"/>
                        </a:lnSpc>
                        <a:spcAft>
                          <a:spcPts val="0"/>
                        </a:spcAft>
                      </a:pPr>
                      <a:r>
                        <a:rPr sz="1100" b="1">
                          <a:solidFill>
                            <a:srgbClr val="333333"/>
                          </a:solidFill>
                          <a:latin typeface="Inter"/>
                        </a:rPr>
                        <a:t>PNT Pillar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Current Location(s)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Current Accessor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522">
                <a:tc>
                  <a:txBody>
                    <a:bodyPr wrap="square">
                      <a:noAutofit/>
                    </a:bodyPr>
                    <a:lstStyle/>
                    <a:p>
                      <a:pPr algn="l">
                        <a:lnSpc>
                          <a:spcPct val="106000"/>
                        </a:lnSpc>
                        <a:spcAft>
                          <a:spcPts val="0"/>
                        </a:spcAft>
                      </a:pPr>
                      <a:r>
                        <a:rPr sz="1100" b="1">
                          <a:solidFill>
                            <a:srgbClr val="333333"/>
                          </a:solidFill>
                          <a:latin typeface="Inter"/>
                        </a:rPr>
                        <a:t>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Control-step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AP_L1_Control.cpp:L214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`AP_HAL::micros()`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`set_update_dt(dt)` injected timebase. Additive and default-off: when `set_update_dt` is never called the controller keeps its internal `AP_HAL::micros()` delta, so existing vehicle callers are unaffected.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0849">
                <a:tc>
                  <a:txBody>
                    <a:bodyPr wrap="square">
                      <a:noAutofit/>
                    </a:bodyPr>
                    <a:lstStyle/>
                    <a:p>
                      <a:pPr algn="l">
                        <a:lnSpc>
                          <a:spcPct val="106000"/>
                        </a:lnSpc>
                        <a:spcAft>
                          <a:spcPts val="0"/>
                        </a:spcAft>
                      </a:pPr>
                      <a:r>
                        <a:rPr sz="1100" b="1">
                          <a:solidFill>
                            <a:srgbClr val="333333"/>
                          </a:solidFill>
                          <a:latin typeface="Inter"/>
                        </a:rPr>
                        <a:t>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Step delta + state store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AP_L1_Control.cpp:L215, L224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`_last_update_waypoint_us`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Injected-`dt` path (clamp semantics preserved). Additive and default-off: existing callers keep the `_last_update_waypoint_us` `micros()` delta until `set_update_dt` is called.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176">
                <a:tc>
                  <a:txBody>
                    <a:bodyPr wrap="square">
                      <a:noAutofit/>
                    </a:bodyPr>
                    <a:lstStyle/>
                    <a:p>
                      <a:pPr algn="l">
                        <a:lnSpc>
                          <a:spcPct val="106000"/>
                        </a:lnSpc>
                        <a:spcAft>
                          <a:spcPts val="0"/>
                        </a:spcAft>
                      </a:pPr>
                      <a:r>
                        <a:rPr sz="1100" b="1">
                          <a:solidFill>
                            <a:srgbClr val="333333"/>
                          </a:solidFill>
                          <a:latin typeface="Inter"/>
                        </a:rPr>
                        <a:t>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Loiter/heading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AP_L1_Control.cpp:L448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`AP_HAL::millis()`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Injected time for the loiter path. Additive and default-off: when unset the internal `AP_HAL::millis()` clock is used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l">
                        <a:lnSpc>
                          <a:spcPct val="106000"/>
                        </a:lnSpc>
                        <a:spcAft>
                          <a:spcPts val="0"/>
                        </a:spcAft>
                      </a:pPr>
                      <a:r>
                        <a:rPr sz="1100" b="1">
                          <a:solidFill>
                            <a:srgbClr val="333333"/>
                          </a:solidFill>
                          <a:latin typeface="Inter"/>
                        </a:rPr>
                        <a:t>Navigation (math)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Bearing / NE distance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AP_L1_Control.cpp:L239, L382 / L260, L266, L274, L295, L391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`Location::get_bearing_to` / `get_distance_NE`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Preserved unchanged inside `AP_L1_Control`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l">
                        <a:lnSpc>
                          <a:spcPct val="106000"/>
                        </a:lnSpc>
                        <a:spcAft>
                          <a:spcPts val="0"/>
                        </a:spcAft>
                      </a:pPr>
                      <a:r>
                        <a:rPr sz="1100" b="1">
                          <a:solidFill>
                            <a:srgbClr val="333333"/>
                          </a:solidFill>
                          <a:latin typeface="Inter"/>
                        </a:rPr>
                        <a:t>Navigation (output)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Roll command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AP_L1_Control.h:L36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`nav_roll_cd()`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`get_roll_deg()` = `nav_roll_cd()/100` → `L1_GetRollDeg`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1">
                          <a:solidFill>
                            <a:srgbClr val="333333"/>
                          </a:solidFill>
                          <a:latin typeface="Inter"/>
                        </a:rPr>
                        <a:t>Navigation (output)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Lateral acceleration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AP_L1_Control.h:L37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`lateral_acceleration()`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`get_lat_accel()` → `L1_GetLatAccel`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PNT INSTANCE AUDIT  ·  LINE-NUMBER BASIS, QUOTED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line-number basis, reproduced unchanged</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AUDIT’S OWN NOTE BENEATH THE MAPPING TABLE</a:t>
            </a:r>
          </a:p>
        </p:txBody>
      </p:sp>
      <p:sp>
        <p:nvSpPr>
          <p:cNvPr id="7" name="Rectangle 6"/>
          <p:cNvSpPr/>
          <p:nvPr/>
        </p:nvSpPr>
        <p:spPr>
          <a:xfrm>
            <a:off x="566928" y="1761896"/>
            <a:ext cx="32004" cy="1150581"/>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13232" y="1761896"/>
            <a:ext cx="10856976" cy="1150581"/>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“Line-number basis. The Current Location(s) line numbers below are cited as of the audited HEAD 5b67e27b0a (the pre-refactor baseline), which preserves parity with the AAP 0.6.1 instance table; they are not post-seam current-source line numbers. The extraction's single additive, default-off set_update_dt timing seam was applied to AP_L1_Control.cpp / .h after that commit and shifts only those two files' line numbers (it relocates no behavior). Because the seam is default-off, when set_update_dt is never called the controller keeps its internal AP_HAL::micros() / millis() timing path unchanged, so existing vehicle callers are unaffected.”</a:t>
            </a:r>
          </a:p>
        </p:txBody>
      </p:sp>
      <p:sp>
        <p:nvSpPr>
          <p:cNvPr id="9" name="TextBox 8"/>
          <p:cNvSpPr txBox="1"/>
          <p:nvPr/>
        </p:nvSpPr>
        <p:spPr>
          <a:xfrm>
            <a:off x="566928" y="3113645"/>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SERVICE SURFACE THE MAPPING RESOLVES TO</a:t>
            </a:r>
          </a:p>
        </p:txBody>
      </p:sp>
      <p:sp>
        <p:nvSpPr>
          <p:cNvPr id="10" name="Rectangle 9"/>
          <p:cNvSpPr/>
          <p:nvPr/>
        </p:nvSpPr>
        <p:spPr>
          <a:xfrm>
            <a:off x="566928" y="3339349"/>
            <a:ext cx="32004" cy="675093"/>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13232" y="3339349"/>
            <a:ext cx="10856976" cy="675093"/>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“For every PNT touch-point inside the wrapped L1 guidance controller it names the member of the reusable AfsimL1Behavior service that the behavior is refactored into: the AHRS state shim that supplies injected position, velocity and attitude, the injected-dt timing seam that replaces the internal hardware clock, and the extern "C" command surface that returns the roll and lateral-acceleration commands.”</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Coverage &amp; Explicit-Absence Register</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10 sub-registers  ·  109 entries  ·  27 checked absences</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NON-INFERENCE DISCIPLINE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What the register establishes</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AUDIT’S OWN INTRODUCTION TO THE REGISTER</a:t>
            </a:r>
          </a:p>
        </p:txBody>
      </p:sp>
      <p:sp>
        <p:nvSpPr>
          <p:cNvPr id="7" name="Rectangle 6"/>
          <p:cNvSpPr/>
          <p:nvPr/>
        </p:nvSpPr>
        <p:spPr>
          <a:xfrm>
            <a:off x="566928" y="1761896"/>
            <a:ext cx="32004" cy="470992"/>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13232" y="1761896"/>
            <a:ext cx="10856976" cy="470992"/>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“Directory-wide token sweeps and explicit absence notations establishing exhaustiveness across libraries/, the four vehicle directories and the .gitmodules boundary edges (10 sub-registers, 109 entries, 27 checked absences).”</a:t>
            </a:r>
          </a:p>
        </p:txBody>
      </p:sp>
      <p:sp>
        <p:nvSpPr>
          <p:cNvPr id="9" name="Rounded Rectangle 8"/>
          <p:cNvSpPr/>
          <p:nvPr/>
        </p:nvSpPr>
        <p:spPr>
          <a:xfrm>
            <a:off x="566928" y="2452344"/>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10</a:t>
            </a:r>
          </a:p>
          <a:p>
            <a:pPr algn="ctr">
              <a:lnSpc>
                <a:spcPct val="124000"/>
              </a:lnSpc>
            </a:pPr>
            <a:r>
              <a:rPr sz="1200">
                <a:solidFill>
                  <a:srgbClr val="999999"/>
                </a:solidFill>
                <a:latin typeface="Inter"/>
              </a:rPr>
              <a:t>named sub-registers</a:t>
            </a:r>
          </a:p>
        </p:txBody>
      </p:sp>
      <p:sp>
        <p:nvSpPr>
          <p:cNvPr id="10" name="Rounded Rectangle 9"/>
          <p:cNvSpPr/>
          <p:nvPr/>
        </p:nvSpPr>
        <p:spPr>
          <a:xfrm>
            <a:off x="3381756" y="2452344"/>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109</a:t>
            </a:r>
          </a:p>
          <a:p>
            <a:pPr algn="ctr">
              <a:lnSpc>
                <a:spcPct val="124000"/>
              </a:lnSpc>
            </a:pPr>
            <a:r>
              <a:rPr sz="1200">
                <a:solidFill>
                  <a:srgbClr val="999999"/>
                </a:solidFill>
                <a:latin typeface="Inter"/>
              </a:rPr>
              <a:t>register entries</a:t>
            </a:r>
          </a:p>
        </p:txBody>
      </p:sp>
      <p:sp>
        <p:nvSpPr>
          <p:cNvPr id="11" name="Rounded Rectangle 10"/>
          <p:cNvSpPr/>
          <p:nvPr/>
        </p:nvSpPr>
        <p:spPr>
          <a:xfrm>
            <a:off x="6196584" y="2452344"/>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27</a:t>
            </a:r>
          </a:p>
          <a:p>
            <a:pPr algn="ctr">
              <a:lnSpc>
                <a:spcPct val="124000"/>
              </a:lnSpc>
            </a:pPr>
            <a:r>
              <a:rPr sz="1200">
                <a:solidFill>
                  <a:srgbClr val="999999"/>
                </a:solidFill>
                <a:latin typeface="Inter"/>
              </a:rPr>
              <a:t>checked absences</a:t>
            </a:r>
          </a:p>
        </p:txBody>
      </p:sp>
      <p:sp>
        <p:nvSpPr>
          <p:cNvPr id="12" name="Rounded Rectangle 11"/>
          <p:cNvSpPr/>
          <p:nvPr/>
        </p:nvSpPr>
        <p:spPr>
          <a:xfrm>
            <a:off x="9011412" y="2452344"/>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5</a:t>
            </a:r>
          </a:p>
          <a:p>
            <a:pPr algn="ctr">
              <a:lnSpc>
                <a:spcPct val="124000"/>
              </a:lnSpc>
            </a:pPr>
            <a:r>
              <a:rPr sz="1200">
                <a:solidFill>
                  <a:srgbClr val="999999"/>
                </a:solidFill>
                <a:latin typeface="Inter"/>
              </a:rPr>
              <a:t>flag kinds in the catalog</a:t>
            </a:r>
          </a:p>
        </p:txBody>
      </p:sp>
      <p:sp>
        <p:nvSpPr>
          <p:cNvPr id="13" name="TextBox 12"/>
          <p:cNvSpPr txBox="1"/>
          <p:nvPr/>
        </p:nvSpPr>
        <p:spPr>
          <a:xfrm>
            <a:off x="566928" y="3650208"/>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The audit’s own footnote to the Audit-Discipline Flags table: Explicitly-documented absences catalogued in the Coverage register: 27.</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THE TEN SUB-REGISTERS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ten sub-registers, in the audit’s own order</a:t>
            </a:r>
          </a:p>
        </p:txBody>
      </p:sp>
      <p:graphicFrame>
        <p:nvGraphicFramePr>
          <p:cNvPr id="6" name="Table 5"/>
          <p:cNvGraphicFramePr>
            <a:graphicFrameLocks noGrp="1"/>
          </p:cNvGraphicFramePr>
          <p:nvPr/>
        </p:nvGraphicFramePr>
        <p:xfrm>
          <a:off x="566928" y="1591056"/>
          <a:ext cx="11058144" cy="3886296"/>
        </p:xfrm>
        <a:graphic>
          <a:graphicData uri="http://schemas.openxmlformats.org/drawingml/2006/table">
            <a:tbl>
              <a:tblPr>
                <a:tableStyleId>{5C22544A-7EE6-4342-B048-85BDC9FD1C3A}</a:tableStyleId>
              </a:tblPr>
              <a:tblGrid>
                <a:gridCol w="1370844"/>
                <a:gridCol w="9687300"/>
              </a:tblGrid>
              <a:tr h="240219">
                <a:tc>
                  <a:txBody>
                    <a:bodyPr wrap="square">
                      <a:noAutofit/>
                    </a:bodyPr>
                    <a:lstStyle/>
                    <a:p>
                      <a:pPr algn="l">
                        <a:lnSpc>
                          <a:spcPct val="106000"/>
                        </a:lnSpc>
                        <a:spcAft>
                          <a:spcPts val="0"/>
                        </a:spcAft>
                      </a:pPr>
                      <a:r>
                        <a:rPr sz="1100" b="1">
                          <a:solidFill>
                            <a:srgbClr val="333333"/>
                          </a:solidFill>
                          <a:latin typeface="Inter"/>
                        </a:rPr>
                        <a:t>Sub-register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Title, as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Courier New"/>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 supporting-library register (AAP 0.3.1) — AC_Fence / AP_BattMonitor / AP_RCProtocol: non-PNT triggers whose failsafe action is PNT-gated, plus checked absences.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Courier New"/>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Cross-vehicle indirect safety-surface register (F16) — Rover / ArduSub failsafe, fence, and mode surfaces, each resolved to its catalogued numbered-table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Courier New"/>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AntennaTracker &amp; Blimp PNT-intersection register (F18; AAP 0.3.2 — included only where they observe / consume PNT): presence sites, per-mode gating, and checked absences.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Courier New"/>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External-boundary dependency-edge register (AAP 0.4.1 — .gitmodules PNT-relevant vendored submodule boundaries): each boundary resolved to its catalogued PNT edge or publisher site, mirroring the mavlink / DroneCAN edge treatment. Non-inference discipline — every .gitmodules PNT edge is accounted for explicitly, none silently omitted.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Courier New"/>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ArduPlane vehicle-dir indirect glue register (vehicle-symmetry completeness, AAP 0.3.1 / 0.6.1): ArduPlane failsafe-action and altitude-management glue that reacts to / consumes PNT state, mirroring the catalogued ArduCopter twins.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Courier New"/>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AP_AHRS backend register (Navigation-hub completeness): the AP_AHRS frontend hub is catalogued in Table 2 / 2a; each concrete backend overrides the navigation accessors behind the hub.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Courier New"/>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Copter flight modes PNT-gating matrix — 29 files (21 PNT-relevant, 8 checked-absence). Predicate: requires_GPS().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Courier New"/>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Plane flight modes PNT-gating matrix — 26 files (20 PNT-relevant, 6 checked-absence). Predicate: does_auto_navigation().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 drive modes PNT-gating matrix — 14 files (11 PNT-relevant, 3 checked-absence). Predicate: requires_position().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Sub flight modes PNT-gating matrix — 12 files (7 PNT-relevant, 5 checked-absence). Predicate: requires_GPS().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(1)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(1)</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Indirect supporting-library register (AAP 0.3.1) — AC_Fence / AP_BattMonitor / AP_RCProtocol: non-PNT triggers whose failsafe action is PNT-gated, plus checked absences.</a:t>
            </a:r>
          </a:p>
        </p:txBody>
      </p:sp>
      <p:graphicFrame>
        <p:nvGraphicFramePr>
          <p:cNvPr id="7" name="Table 6"/>
          <p:cNvGraphicFramePr>
            <a:graphicFrameLocks noGrp="1"/>
          </p:cNvGraphicFramePr>
          <p:nvPr/>
        </p:nvGraphicFramePr>
        <p:xfrm>
          <a:off x="566928" y="2063953"/>
          <a:ext cx="11058144" cy="3511550"/>
        </p:xfrm>
        <a:graphic>
          <a:graphicData uri="http://schemas.openxmlformats.org/drawingml/2006/table">
            <a:tbl>
              <a:tblPr>
                <a:tableStyleId>{5C22544A-7EE6-4342-B048-85BDC9FD1C3A}</a:tableStyleId>
              </a:tblPr>
              <a:tblGrid>
                <a:gridCol w="2565400"/>
                <a:gridCol w="939800"/>
                <a:gridCol w="4620260"/>
                <a:gridCol w="2932430"/>
              </a:tblGrid>
              <a:tr h="417830">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430">
                <a:tc>
                  <a:txBody>
                    <a:bodyPr wrap="square">
                      <a:noAutofit/>
                    </a:bodyPr>
                    <a:lstStyle/>
                    <a:p>
                      <a:pPr algn="l">
                        <a:lnSpc>
                          <a:spcPct val="106000"/>
                        </a:lnSpc>
                        <a:spcAft>
                          <a:spcPts val="0"/>
                        </a:spcAft>
                      </a:pPr>
                      <a:r>
                        <a:rPr sz="1100" b="0">
                          <a:solidFill>
                            <a:srgbClr val="333333"/>
                          </a:solidFill>
                          <a:latin typeface="Courier New"/>
                        </a:rPr>
                        <a:t>libraries/AC_Fence/ (AC_Fence::check + check_fence_polygon / check_fence_circle)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Reads vehicle position vs polygon / circle / altitude fence; position-dependent breach. Fully catalogued in the numbered tables (not an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libraries/AC_Fence/AC_Fence.cpp:679-843 · Table 4 #4-#8 / Table 4a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430">
                <a:tc>
                  <a:txBody>
                    <a:bodyPr wrap="square">
                      <a:noAutofit/>
                    </a:bodyPr>
                    <a:lstStyle/>
                    <a:p>
                      <a:pPr algn="l">
                        <a:lnSpc>
                          <a:spcPct val="106000"/>
                        </a:lnSpc>
                        <a:spcAft>
                          <a:spcPts val="0"/>
                        </a:spcAft>
                      </a:pPr>
                      <a:r>
                        <a:rPr sz="1100" b="0">
                          <a:solidFill>
                            <a:srgbClr val="333333"/>
                          </a:solidFill>
                          <a:latin typeface="Courier New"/>
                        </a:rPr>
                        <a:t>libraries/AP_BattMonitor/ (58 source files; AP_BattMonitor::check_failsafes)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Directory-wide token sweep found ZERO PNT reads (no ahrs. / gps. / get_location / position_ok / get_velocity_NED). Failsafe trigger is voltage / capacity only; PNT enters at the vehicle action layer, not here.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libraries/AP_BattMonitor/AP_BattMonitor.cpp:781 (check_failsafes) · action cross-ref ArduCopter/events.cpp:99-121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430">
                <a:tc>
                  <a:txBody>
                    <a:bodyPr wrap="square">
                      <a:noAutofit/>
                    </a:bodyPr>
                    <a:lstStyle/>
                    <a:p>
                      <a:pPr algn="l">
                        <a:lnSpc>
                          <a:spcPct val="106000"/>
                        </a:lnSpc>
                        <a:spcAft>
                          <a:spcPts val="0"/>
                        </a:spcAft>
                      </a:pPr>
                      <a:r>
                        <a:rPr sz="1100" b="0">
                          <a:solidFill>
                            <a:srgbClr val="333333"/>
                          </a:solidFill>
                          <a:latin typeface="Courier New"/>
                        </a:rPr>
                        <a:t>libraries/AP_RCProtocol/ (RC failsafe flag)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Token sweep found ZERO PNT reads. Failsafe is a boolean signal-present flag (failsafe_active); no position / nav / PNT-timing observation. PNT enters at the vehicle action layer.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libraries/AP_RCProtocol/AP_RCProtocol.h:126-130 (failsafe_active) · action cross-ref ArduCopter/events.cpp:99-121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430">
                <a:tc>
                  <a:txBody>
                    <a:bodyPr wrap="square">
                      <a:noAutofit/>
                    </a:bodyPr>
                    <a:lstStyle/>
                    <a:p>
                      <a:pPr algn="l">
                        <a:lnSpc>
                          <a:spcPct val="106000"/>
                        </a:lnSpc>
                        <a:spcAft>
                          <a:spcPts val="0"/>
                        </a:spcAft>
                      </a:pPr>
                      <a:r>
                        <a:rPr sz="1100" b="0">
                          <a:solidFill>
                            <a:srgbClr val="333333"/>
                          </a:solidFill>
                          <a:latin typeface="Courier New"/>
                        </a:rPr>
                        <a:t>ArduCopter/events.cpp (handle_battery_failsafe / radio / GCS FS action select)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PNT-reactive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Non-PNT trigger (battery / RC / GCS) but the chosen failsafe action (RTL / SmartRTL) is gated on position_ok and degrades to LAND when position is invalid — the relational PNT site for batt / RC / GCS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ArduCopter/events.cpp:99-121 (do_failsafe_action BATTERY_FAILSAFE) · gate Table 4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(2)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(2)</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Cross-vehicle indirect safety-surface register (F16) — Rover / ArduSub failsafe, fence, and mode surfaces, each resolved to its catalogued numbered-table row.</a:t>
            </a:r>
          </a:p>
        </p:txBody>
      </p:sp>
      <p:graphicFrame>
        <p:nvGraphicFramePr>
          <p:cNvPr id="7" name="Table 6"/>
          <p:cNvGraphicFramePr>
            <a:graphicFrameLocks noGrp="1"/>
          </p:cNvGraphicFramePr>
          <p:nvPr/>
        </p:nvGraphicFramePr>
        <p:xfrm>
          <a:off x="566928" y="2063953"/>
          <a:ext cx="11058144" cy="3040380"/>
        </p:xfrm>
        <a:graphic>
          <a:graphicData uri="http://schemas.openxmlformats.org/drawingml/2006/table">
            <a:tbl>
              <a:tblPr>
                <a:tableStyleId>{5C22544A-7EE6-4342-B048-85BDC9FD1C3A}</a:tableStyleId>
              </a:tblPr>
              <a:tblGrid>
                <a:gridCol w="2565400"/>
                <a:gridCol w="939800"/>
                <a:gridCol w="4620260"/>
                <a:gridCol w="2932430"/>
              </a:tblGrid>
              <a:tr h="417830">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30">
                <a:tc>
                  <a:txBody>
                    <a:bodyPr wrap="square">
                      <a:noAutofit/>
                    </a:bodyPr>
                    <a:lstStyle/>
                    <a:p>
                      <a:pPr algn="l">
                        <a:lnSpc>
                          <a:spcPct val="106000"/>
                        </a:lnSpc>
                        <a:spcAft>
                          <a:spcPts val="0"/>
                        </a:spcAft>
                      </a:pPr>
                      <a:r>
                        <a:rPr sz="1100" b="0">
                          <a:solidFill>
                            <a:srgbClr val="333333"/>
                          </a:solidFill>
                          <a:latin typeface="Courier New"/>
                        </a:rPr>
                        <a:t>Rover/failsafe.cpp (Rover::failsafe_check main-loop watchdog)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Main-loop-lockup watchdog reading scheduler ticks + micros; 0.2 s trip → arming.disarm(CPUFAILSAFE). Catalogued, not an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Rover/failsafe.cpp:18-31 · Table 6 #3 / Table 6a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0">
                          <a:solidFill>
                            <a:srgbClr val="333333"/>
                          </a:solidFill>
                          <a:latin typeface="Courier New"/>
                        </a:rPr>
                        <a:t>Rover/fence.cpp (Rover::fence_checks_async)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Geofence position-vs-boundary check on a 100 ms (10 Hz) timing gate; position-dependent breach.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Rover/fence.cpp:6-14 · Table 6 #11 / Table 6a #11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l">
                        <a:lnSpc>
                          <a:spcPct val="106000"/>
                        </a:lnSpc>
                        <a:spcAft>
                          <a:spcPts val="0"/>
                        </a:spcAft>
                      </a:pPr>
                      <a:r>
                        <a:rPr sz="1100" b="0">
                          <a:solidFill>
                            <a:srgbClr val="333333"/>
                          </a:solidFill>
                          <a:latin typeface="Courier New"/>
                        </a:rPr>
                        <a:t>ArduSub/failsafe.cpp (Sub::failsafe_ekf_check)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EKF-variance health watchdog with 2 s confirm + 20 s warn hysteresis.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ArduSub/failsafe.cpp:100-150 · Table 5 #4 / Table 6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l">
                        <a:lnSpc>
                          <a:spcPct val="106000"/>
                        </a:lnSpc>
                        <a:spcAft>
                          <a:spcPts val="0"/>
                        </a:spcAft>
                      </a:pPr>
                      <a:r>
                        <a:rPr sz="1100" b="0">
                          <a:solidFill>
                            <a:srgbClr val="333333"/>
                          </a:solidFill>
                          <a:latin typeface="Courier New"/>
                        </a:rPr>
                        <a:t>ArduSub/failsafe.cpp (Sub::mainloop_failsafe_check)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Main-loop-lockup watchdog (scheduler ticks + micros; 2 s → motors.output_min).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ArduSub/failsafe.cpp:29-55 · Table 6 #4 / Table 6a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l">
                        <a:lnSpc>
                          <a:spcPct val="106000"/>
                        </a:lnSpc>
                        <a:spcAft>
                          <a:spcPts val="0"/>
                        </a:spcAft>
                      </a:pPr>
                      <a:r>
                        <a:rPr sz="1100" b="0">
                          <a:solidFill>
                            <a:srgbClr val="333333"/>
                          </a:solidFill>
                          <a:latin typeface="Courier New"/>
                        </a:rPr>
                        <a:t>ArduSub/mode*.cpp (12 files)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All 12 Sub mode files enumerated with per-file requires_GPS gating and checked absences in the Sub mode-gating matrix below.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ArduSub/mode.cpp:89-90 (set_mode gate) · Sub mode-gating matrix (this appendix)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(3)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(3)</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AntennaTracker &amp; Blimp PNT-intersection register (F18; AAP 0.3.2 — included only where they observe / consume PNT): presence sites, per-mode gating, and checked absences.</a:t>
            </a:r>
          </a:p>
        </p:txBody>
      </p:sp>
      <p:graphicFrame>
        <p:nvGraphicFramePr>
          <p:cNvPr id="7" name="Table 6"/>
          <p:cNvGraphicFramePr>
            <a:graphicFrameLocks noGrp="1"/>
          </p:cNvGraphicFramePr>
          <p:nvPr/>
        </p:nvGraphicFramePr>
        <p:xfrm>
          <a:off x="566928" y="2063953"/>
          <a:ext cx="11058144" cy="3383915"/>
        </p:xfrm>
        <a:graphic>
          <a:graphicData uri="http://schemas.openxmlformats.org/drawingml/2006/table">
            <a:tbl>
              <a:tblPr>
                <a:tableStyleId>{5C22544A-7EE6-4342-B048-85BDC9FD1C3A}</a:tableStyleId>
              </a:tblPr>
              <a:tblGrid>
                <a:gridCol w="2565400"/>
                <a:gridCol w="939800"/>
                <a:gridCol w="4620260"/>
                <a:gridCol w="2932430"/>
              </a:tblGrid>
              <a:tr h="417830">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30">
                <a:tc>
                  <a:txBody>
                    <a:bodyPr wrap="square">
                      <a:noAutofit/>
                    </a:bodyPr>
                    <a:lstStyle/>
                    <a:p>
                      <a:pPr algn="l">
                        <a:lnSpc>
                          <a:spcPct val="106000"/>
                        </a:lnSpc>
                        <a:spcAft>
                          <a:spcPts val="0"/>
                        </a:spcAft>
                      </a:pPr>
                      <a:r>
                        <a:rPr sz="1100" b="0">
                          <a:solidFill>
                            <a:srgbClr val="333333"/>
                          </a:solidFill>
                          <a:latin typeface="Courier New"/>
                        </a:rPr>
                        <a:t>AntennaTracker/tracking.cpp (Tracker::update_vehicle_pos_estimate)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consumer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Reads vehicle.location and vehicle.vel and dead-reckons location_estimate (offset by vel times dt) to point the antenna. Direct PNT consumption (presence, not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AntennaTracker/tracking.cpp:7-26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0">
                          <a:solidFill>
                            <a:srgbClr val="333333"/>
                          </a:solidFill>
                          <a:latin typeface="Courier New"/>
                        </a:rPr>
                        <a:t>AntennaTracker/mode_auto.cpp + mode_guided.cpp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consumer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Auto / Guided pointing modes consume the tracked vehicle position / bearing to drive pitch and yaw. PNT-reactive.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AntennaTracker/mode_auto.cpp:5-10 · consumes tracking.cpp:7-26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61365">
                <a:tc>
                  <a:txBody>
                    <a:bodyPr wrap="square">
                      <a:noAutofit/>
                    </a:bodyPr>
                    <a:lstStyle/>
                    <a:p>
                      <a:pPr algn="l">
                        <a:lnSpc>
                          <a:spcPct val="106000"/>
                        </a:lnSpc>
                        <a:spcAft>
                          <a:spcPts val="0"/>
                        </a:spcAft>
                      </a:pPr>
                      <a:r>
                        <a:rPr sz="1100" b="0">
                          <a:solidFill>
                            <a:srgbClr val="333333"/>
                          </a:solidFill>
                          <a:latin typeface="Courier New"/>
                        </a:rPr>
                        <a:t>AntennaTracker/mode_manual.cpp + mode_scan.cpp + mode_servotest.cpp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Manual / Scan / Servotest drive the antenna by stick / pattern / test only; token sweep found ZERO vehicle-position reads.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AntennaTracker/mode_servotest.cpp (0 PNT tokens) · mode_scan.cpp / mode_manual.cpp (0)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l">
                        <a:lnSpc>
                          <a:spcPct val="106000"/>
                        </a:lnSpc>
                        <a:spcAft>
                          <a:spcPts val="0"/>
                        </a:spcAft>
                      </a:pPr>
                      <a:r>
                        <a:rPr sz="1100" b="0">
                          <a:solidFill>
                            <a:srgbClr val="333333"/>
                          </a:solidFill>
                          <a:latin typeface="Courier New"/>
                        </a:rPr>
                        <a:t>Blimp/mode.cpp (Blimp::set_mode position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Rejects PNT modes when position invalid: requires_GPS() and not blimp.position_ok(). Same gate idiom as Copter / Sub.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Blimp/mode.cpp:78-79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l">
                        <a:lnSpc>
                          <a:spcPct val="106000"/>
                        </a:lnSpc>
                        <a:spcAft>
                          <a:spcPts val="0"/>
                        </a:spcAft>
                      </a:pPr>
                      <a:r>
                        <a:rPr sz="1100" b="0">
                          <a:solidFill>
                            <a:srgbClr val="333333"/>
                          </a:solidFill>
                          <a:latin typeface="Courier New"/>
                        </a:rPr>
                        <a:t>Blimp/mode_velocity.cpp (ModeVelocity)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needs a valid position / velocity estimate to enter.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Blimp/mode.h:181 (requires_GPS=true) · gate Blimp/mode.cpp:78-79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(3)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(3) (continued)</a:t>
            </a:r>
          </a:p>
        </p:txBody>
      </p:sp>
      <p:graphicFrame>
        <p:nvGraphicFramePr>
          <p:cNvPr id="6" name="Table 5"/>
          <p:cNvGraphicFramePr>
            <a:graphicFrameLocks noGrp="1"/>
          </p:cNvGraphicFramePr>
          <p:nvPr/>
        </p:nvGraphicFramePr>
        <p:xfrm>
          <a:off x="566928" y="1591056"/>
          <a:ext cx="11058144" cy="3040380"/>
        </p:xfrm>
        <a:graphic>
          <a:graphicData uri="http://schemas.openxmlformats.org/drawingml/2006/table">
            <a:tbl>
              <a:tblPr>
                <a:tableStyleId>{5C22544A-7EE6-4342-B048-85BDC9FD1C3A}</a:tableStyleId>
              </a:tblPr>
              <a:tblGrid>
                <a:gridCol w="2565400"/>
                <a:gridCol w="939800"/>
                <a:gridCol w="4620260"/>
                <a:gridCol w="2932430"/>
              </a:tblGrid>
              <a:tr h="417830">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30">
                <a:tc>
                  <a:txBody>
                    <a:bodyPr wrap="square">
                      <a:noAutofit/>
                    </a:bodyPr>
                    <a:lstStyle/>
                    <a:p>
                      <a:pPr algn="l">
                        <a:lnSpc>
                          <a:spcPct val="106000"/>
                        </a:lnSpc>
                        <a:spcAft>
                          <a:spcPts val="0"/>
                        </a:spcAft>
                      </a:pPr>
                      <a:r>
                        <a:rPr sz="1100" b="0">
                          <a:solidFill>
                            <a:srgbClr val="333333"/>
                          </a:solidFill>
                          <a:latin typeface="Courier New"/>
                        </a:rPr>
                        <a:t>Blimp/mode_loiter.cpp (ModeLoiter)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position-gated.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Blimp/mode.h:226 (requires_GPS=true) · gate Blimp/mode.cpp:78-79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l">
                        <a:lnSpc>
                          <a:spcPct val="106000"/>
                        </a:lnSpc>
                        <a:spcAft>
                          <a:spcPts val="0"/>
                        </a:spcAft>
                      </a:pPr>
                      <a:r>
                        <a:rPr sz="1100" b="0">
                          <a:solidFill>
                            <a:srgbClr val="333333"/>
                          </a:solidFill>
                          <a:latin typeface="Courier New"/>
                        </a:rPr>
                        <a:t>Blimp/mode_rtl.cpp (ModeRTL)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position-gated.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Blimp/mode.h:315 (requires_GPS=true) · gate Blimp/mode.cpp:78-79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0">
                          <a:solidFill>
                            <a:srgbClr val="333333"/>
                          </a:solidFill>
                          <a:latin typeface="Courier New"/>
                        </a:rPr>
                        <a:t>Blimp/mode_manual.cpp (ModeManual)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 no position gate; manual stick control.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Blimp/mode.h:138 (requires_GPS=false)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l">
                        <a:lnSpc>
                          <a:spcPct val="106000"/>
                        </a:lnSpc>
                        <a:spcAft>
                          <a:spcPts val="0"/>
                        </a:spcAft>
                      </a:pPr>
                      <a:r>
                        <a:rPr sz="1100" b="0">
                          <a:solidFill>
                            <a:srgbClr val="333333"/>
                          </a:solidFill>
                          <a:latin typeface="Courier New"/>
                        </a:rPr>
                        <a:t>Blimp/mode_land.cpp (ModeLand)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 no horizontal-position gate (descent uses non-PNT references). Checked absence for horizontal PNT.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Blimp/mode.h:271 (requires_GPS=false)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l">
                        <a:lnSpc>
                          <a:spcPct val="106000"/>
                        </a:lnSpc>
                        <a:spcAft>
                          <a:spcPts val="0"/>
                        </a:spcAft>
                      </a:pPr>
                      <a:r>
                        <a:rPr sz="1100" b="0">
                          <a:solidFill>
                            <a:srgbClr val="333333"/>
                          </a:solidFill>
                          <a:latin typeface="Courier New"/>
                        </a:rPr>
                        <a:t>Blimp/failsafe.cpp (Blimp::failsafe_check watchdog)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Main-loop-lockup watchdog (scheduler ticks + micros; 2 s → output_min).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Blimp/failsafe.cpp:37-45 · Table 6 #5 / Table 6a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(4)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(4)</a:t>
            </a:r>
          </a:p>
        </p:txBody>
      </p:sp>
      <p:sp>
        <p:nvSpPr>
          <p:cNvPr id="6" name="TextBox 5"/>
          <p:cNvSpPr txBox="1"/>
          <p:nvPr/>
        </p:nvSpPr>
        <p:spPr>
          <a:xfrm>
            <a:off x="566928" y="1591056"/>
            <a:ext cx="11003280" cy="575310"/>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External-boundary dependency-edge register (AAP 0.4.1 — .gitmodules PNT-relevant vendored submodule boundaries): each boundary resolved to its catalogued PNT edge or publisher site, mirroring the mavlink / DroneCAN edge treatment. Non-inference discipline — every .gitmodules PNT edge is accounted for explicitly, none silently omitted.</a:t>
            </a:r>
          </a:p>
        </p:txBody>
      </p:sp>
      <p:graphicFrame>
        <p:nvGraphicFramePr>
          <p:cNvPr id="7" name="Table 6"/>
          <p:cNvGraphicFramePr>
            <a:graphicFrameLocks noGrp="1"/>
          </p:cNvGraphicFramePr>
          <p:nvPr/>
        </p:nvGraphicFramePr>
        <p:xfrm>
          <a:off x="566928" y="2257806"/>
          <a:ext cx="11058144" cy="2142490"/>
        </p:xfrm>
        <a:graphic>
          <a:graphicData uri="http://schemas.openxmlformats.org/drawingml/2006/table">
            <a:tbl>
              <a:tblPr>
                <a:tableStyleId>{5C22544A-7EE6-4342-B048-85BDC9FD1C3A}</a:tableStyleId>
              </a:tblPr>
              <a:tblGrid>
                <a:gridCol w="2565400"/>
                <a:gridCol w="939800"/>
                <a:gridCol w="4620260"/>
                <a:gridCol w="2932430"/>
              </a:tblGrid>
              <a:tr h="417830">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9030">
                <a:tc>
                  <a:txBody>
                    <a:bodyPr wrap="square">
                      <a:noAutofit/>
                    </a:bodyPr>
                    <a:lstStyle/>
                    <a:p>
                      <a:pPr algn="l">
                        <a:lnSpc>
                          <a:spcPct val="106000"/>
                        </a:lnSpc>
                        <a:spcAft>
                          <a:spcPts val="0"/>
                        </a:spcAft>
                      </a:pPr>
                      <a:r>
                        <a:rPr sz="1100" b="0">
                          <a:solidFill>
                            <a:srgbClr val="333333"/>
                          </a:solidFill>
                          <a:latin typeface="Courier New"/>
                        </a:rPr>
                        <a:t>modules/mavlink (MAVLink message definitions)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(edge)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GPS_INPUT ingress (AP_GPS_MAV Source backend) and NAV_CONTROLLER_OUTPUT egress (navigation-health reporting to the GCS). PNT telemetry boundary — catalogued, not an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.gitmodules:7-9 · Table 1 (AP_GPS_MAV.cpp:67-75 handle_msg) · Table 5 (ArduPlane/GCS_MAVLink_Plane.cpp:204-212 send_nav_controller_output)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l">
                        <a:lnSpc>
                          <a:spcPct val="106000"/>
                        </a:lnSpc>
                        <a:spcAft>
                          <a:spcPts val="0"/>
                        </a:spcAft>
                      </a:pPr>
                      <a:r>
                        <a:rPr sz="1100" b="0">
                          <a:solidFill>
                            <a:srgbClr val="333333"/>
                          </a:solidFill>
                          <a:latin typeface="Courier New"/>
                        </a:rPr>
                        <a:t>modules/DroneCAN/DSDL + libcanard (CAN-bus GNSS message definitions)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Catalogued (edge)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DroneCAN / UAVCAN Fix2 GNSS messages decoded into GPS_State. Positioning-source boundary — catalogued, not an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.gitmodules:19-32 · Table 1 (AP_GPS_DroneCAN.cpp:388-396 handle_fix2_msg)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(4)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(4) (continued)</a:t>
            </a:r>
          </a:p>
        </p:txBody>
      </p:sp>
      <p:graphicFrame>
        <p:nvGraphicFramePr>
          <p:cNvPr id="6" name="Table 5"/>
          <p:cNvGraphicFramePr>
            <a:graphicFrameLocks noGrp="1"/>
          </p:cNvGraphicFramePr>
          <p:nvPr/>
        </p:nvGraphicFramePr>
        <p:xfrm>
          <a:off x="566928" y="1591056"/>
          <a:ext cx="11058144" cy="2498090"/>
        </p:xfrm>
        <a:graphic>
          <a:graphicData uri="http://schemas.openxmlformats.org/drawingml/2006/table">
            <a:tbl>
              <a:tblPr>
                <a:tableStyleId>{5C22544A-7EE6-4342-B048-85BDC9FD1C3A}</a:tableStyleId>
              </a:tblPr>
              <a:tblGrid>
                <a:gridCol w="2565400"/>
                <a:gridCol w="939800"/>
                <a:gridCol w="4620260"/>
                <a:gridCol w="2932430"/>
              </a:tblGrid>
              <a:tr h="417830">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430">
                <a:tc>
                  <a:txBody>
                    <a:bodyPr wrap="square">
                      <a:noAutofit/>
                    </a:bodyPr>
                    <a:lstStyle/>
                    <a:p>
                      <a:pPr algn="l">
                        <a:lnSpc>
                          <a:spcPct val="106000"/>
                        </a:lnSpc>
                        <a:spcAft>
                          <a:spcPts val="0"/>
                        </a:spcAft>
                      </a:pPr>
                      <a:r>
                        <a:rPr sz="1100" b="0">
                          <a:solidFill>
                            <a:srgbClr val="333333"/>
                          </a:solidFill>
                          <a:latin typeface="Courier New"/>
                        </a:rPr>
                        <a:t>modules/ChibiOS (RTOS low-level clock / tick primitives)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(edge)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Board RTOS timer backs the AP_HAL::micros() / millis() monotonic-time primitives. Timing boundary — named explicitly here as the board-timer origin of Table 3a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.gitmodules:13-15 · Table 3 #1 (AP_HAL/system.h:15-20) · Table 3a #1 (RTOS / board-hardware-timer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6830">
                <a:tc>
                  <a:txBody>
                    <a:bodyPr wrap="square">
                      <a:noAutofit/>
                    </a:bodyPr>
                    <a:lstStyle/>
                    <a:p>
                      <a:pPr algn="l">
                        <a:lnSpc>
                          <a:spcPct val="106000"/>
                        </a:lnSpc>
                        <a:spcAft>
                          <a:spcPts val="0"/>
                        </a:spcAft>
                      </a:pPr>
                      <a:r>
                        <a:rPr sz="1100" b="0">
                          <a:solidFill>
                            <a:srgbClr val="333333"/>
                          </a:solidFill>
                          <a:latin typeface="Courier New"/>
                        </a:rPr>
                        <a:t>modules/Micro-XRCE-DDS-Client + modules/Micro-CDR (DDS transport, AP_DDS → ROS2)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publisher (edge)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AP_DDS (AP_DDS_ENABLED=1 by default) reads PNT state and publishes it over the Micro-XRCE-DDS / Micro-CDR transport to ROS2: sensor_msgs/NavSatFix from gps.location() and geographic_msgs/GeoPoseStamped from ahrs.get_location(). PNT-egress boundary — same edge treatment as mavlink / DroneCAN.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.gitmodules:34-40 · libraries/AP_DDS/AP_DDS_Client.cpp:268-270 (NavSatFix ← gps.location) · :577-584 (GeoPose ← ahrs.get_location) · AP_DDS_config.h:11 (#define AP_DDS_ENABLED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(5)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(5)</a:t>
            </a:r>
          </a:p>
        </p:txBody>
      </p:sp>
      <p:sp>
        <p:nvSpPr>
          <p:cNvPr id="6" name="TextBox 5"/>
          <p:cNvSpPr txBox="1"/>
          <p:nvPr/>
        </p:nvSpPr>
        <p:spPr>
          <a:xfrm>
            <a:off x="566928" y="1591056"/>
            <a:ext cx="11003280" cy="575310"/>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ArduPlane vehicle-dir indirect glue register (vehicle-symmetry completeness, AAP 0.3.1 / 0.6.1): ArduPlane failsafe-action and altitude-management glue that reacts to / consumes PNT state, mirroring the catalogued ArduCopter twins.</a:t>
            </a:r>
          </a:p>
        </p:txBody>
      </p:sp>
      <p:graphicFrame>
        <p:nvGraphicFramePr>
          <p:cNvPr id="7" name="Table 6"/>
          <p:cNvGraphicFramePr>
            <a:graphicFrameLocks noGrp="1"/>
          </p:cNvGraphicFramePr>
          <p:nvPr/>
        </p:nvGraphicFramePr>
        <p:xfrm>
          <a:off x="566928" y="2257806"/>
          <a:ext cx="11058144" cy="2675890"/>
        </p:xfrm>
        <a:graphic>
          <a:graphicData uri="http://schemas.openxmlformats.org/drawingml/2006/table">
            <a:tbl>
              <a:tblPr>
                <a:tableStyleId>{5C22544A-7EE6-4342-B048-85BDC9FD1C3A}</a:tableStyleId>
              </a:tblPr>
              <a:tblGrid>
                <a:gridCol w="2565400"/>
                <a:gridCol w="939800"/>
                <a:gridCol w="4620260"/>
                <a:gridCol w="2932430"/>
              </a:tblGrid>
              <a:tr h="417830">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9030">
                <a:tc>
                  <a:txBody>
                    <a:bodyPr wrap="square">
                      <a:noAutofit/>
                    </a:bodyPr>
                    <a:lstStyle/>
                    <a:p>
                      <a:pPr algn="l">
                        <a:lnSpc>
                          <a:spcPct val="106000"/>
                        </a:lnSpc>
                        <a:spcAft>
                          <a:spcPts val="0"/>
                        </a:spcAft>
                      </a:pPr>
                      <a:r>
                        <a:rPr sz="1100" b="0">
                          <a:solidFill>
                            <a:srgbClr val="333333"/>
                          </a:solidFill>
                          <a:latin typeface="Courier New"/>
                        </a:rPr>
                        <a:t>ArduPlane/events.cpp (Plane::handle_battery_failsafe / failsafe_long_on_event / failsafe_short_on_event)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PNT-reactive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Non-PNT trigger (battery / radio / GCS) but the chosen failsafe action is PNT-gated: handle_battery_failsafe reads plane.have_position and plane.current_loc to choose land-sequence continuation vs RTL. Direct Plane analog of the catalogued ArduCopter/events.cpp.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ArduPlane/events.cpp:290-300 (have_position / current_loc land-sequence gate; def @265) · symmetric with ArduCopter/events.cpp:99-121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9030">
                <a:tc>
                  <a:txBody>
                    <a:bodyPr wrap="square">
                      <a:noAutofit/>
                    </a:bodyPr>
                    <a:lstStyle/>
                    <a:p>
                      <a:pPr algn="l">
                        <a:lnSpc>
                          <a:spcPct val="106000"/>
                        </a:lnSpc>
                        <a:spcAft>
                          <a:spcPts val="0"/>
                        </a:spcAft>
                      </a:pPr>
                      <a:r>
                        <a:rPr sz="1100" b="0">
                          <a:solidFill>
                            <a:srgbClr val="333333"/>
                          </a:solidFill>
                          <a:latin typeface="Courier New"/>
                        </a:rPr>
                        <a:t>ArduPlane/altitude.cpp (Plane::setup_alt_slope / check_home_alt_change)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consumer (Sink)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Positioning Sink: re-reads already-catalogued PNT state — current_loc.get_distance() / line_path_proportion() (AHRS get_location, Table 2) and ahrs.get_home() — to derive the glide slope and altitude target. Consumes, does not produce, PNT.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ArduPlane/altitude.cpp:48-55 (setup_alt_slope current_loc distance) · :31-43 (check_home_alt_change ahrs.get_home) · :109 &amp; :202 (current_loc.alt)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(6)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(6)</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AP_AHRS backend register (Navigation-hub completeness): the AP_AHRS frontend hub is catalogued in Table 2 / 2a; each concrete backend overrides the navigation accessors behind the hub.</a:t>
            </a:r>
          </a:p>
        </p:txBody>
      </p:sp>
      <p:graphicFrame>
        <p:nvGraphicFramePr>
          <p:cNvPr id="7" name="Table 6"/>
          <p:cNvGraphicFramePr>
            <a:graphicFrameLocks noGrp="1"/>
          </p:cNvGraphicFramePr>
          <p:nvPr/>
        </p:nvGraphicFramePr>
        <p:xfrm>
          <a:off x="566928" y="2063953"/>
          <a:ext cx="11058144" cy="2903220"/>
        </p:xfrm>
        <a:graphic>
          <a:graphicData uri="http://schemas.openxmlformats.org/drawingml/2006/table">
            <a:tbl>
              <a:tblPr>
                <a:tableStyleId>{5C22544A-7EE6-4342-B048-85BDC9FD1C3A}</a:tableStyleId>
              </a:tblPr>
              <a:tblGrid>
                <a:gridCol w="2565400"/>
                <a:gridCol w="939800"/>
                <a:gridCol w="4620260"/>
                <a:gridCol w="2932430"/>
              </a:tblGrid>
              <a:tr h="417830">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30">
                <a:tc>
                  <a:txBody>
                    <a:bodyPr wrap="square">
                      <a:noAutofit/>
                    </a:bodyPr>
                    <a:lstStyle/>
                    <a:p>
                      <a:pPr algn="l">
                        <a:lnSpc>
                          <a:spcPct val="106000"/>
                        </a:lnSpc>
                        <a:spcAft>
                          <a:spcPts val="0"/>
                        </a:spcAft>
                      </a:pPr>
                      <a:r>
                        <a:rPr sz="1100" b="0">
                          <a:solidFill>
                            <a:srgbClr val="333333"/>
                          </a:solidFill>
                          <a:latin typeface="Courier New"/>
                        </a:rPr>
                        <a:t>AP_AHRS_DCM (libraries/AP_AHRS/AP_AHRS_DCM.cpp)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Legacy DCM estimator backend; overrides get_location / groundspeed. Cited in the numbered Navigation tables alongside the hub.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libraries/AP_AHRS/AP_AHRS_DCM.cpp · Table 2 / Table 2a (AHRS hub + DCM)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230">
                <a:tc>
                  <a:txBody>
                    <a:bodyPr wrap="square">
                      <a:noAutofit/>
                    </a:bodyPr>
                    <a:lstStyle/>
                    <a:p>
                      <a:pPr algn="l">
                        <a:lnSpc>
                          <a:spcPct val="106000"/>
                        </a:lnSpc>
                        <a:spcAft>
                          <a:spcPts val="0"/>
                        </a:spcAft>
                      </a:pPr>
                      <a:r>
                        <a:rPr sz="1100" b="0">
                          <a:solidFill>
                            <a:srgbClr val="333333"/>
                          </a:solidFill>
                          <a:latin typeface="Courier New"/>
                        </a:rPr>
                        <a:t>AP_AHRS_External (libraries/AP_AHRS/AP_AHRS_External.cpp)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backend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External-AHRS backend feeding the hub from an external INS; overrides the position accessor (get_origin). Navigation Source backend behind the AP_AHRS frontend.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libraries/AP_AHRS/AP_AHRS_External.cpp:128 (get_origin) · AP_AHRS_External.h:30 (class : public AP_AHRS_Backend)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38530">
                <a:tc>
                  <a:txBody>
                    <a:bodyPr wrap="square">
                      <a:noAutofit/>
                    </a:bodyPr>
                    <a:lstStyle/>
                    <a:p>
                      <a:pPr algn="l">
                        <a:lnSpc>
                          <a:spcPct val="106000"/>
                        </a:lnSpc>
                        <a:spcAft>
                          <a:spcPts val="0"/>
                        </a:spcAft>
                      </a:pPr>
                      <a:r>
                        <a:rPr sz="1100" b="0">
                          <a:solidFill>
                            <a:srgbClr val="333333"/>
                          </a:solidFill>
                          <a:latin typeface="Courier New"/>
                        </a:rPr>
                        <a:t>AP_AHRS_SIM (libraries/AP_AHRS/AP_AHRS_SIM.cpp)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backend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SITL simulation backend supplying simulated navigation state to the hub; overrides get_location / get_origin. Navigation Source backend behind the AP_AHRS frontend.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libraries/AP_AHRS/AP_AHRS_SIM.cpp:7 (get_location) · :194 (get_origin) · AP_AHRS_SIM.h:37 (class : public AP_AHRS_Backend)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a:t>
            </a:r>
          </a:p>
        </p:txBody>
      </p:sp>
      <p:sp>
        <p:nvSpPr>
          <p:cNvPr id="6" name="TextBox 5"/>
          <p:cNvSpPr txBox="1"/>
          <p:nvPr/>
        </p:nvSpPr>
        <p:spPr>
          <a:xfrm>
            <a:off x="566928" y="1591056"/>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Copter flight modes PNT-gating matrix — 29 files (21 PNT-relevant, 8 checked-absence). Predicate: requires_GPS().</a:t>
            </a:r>
          </a:p>
        </p:txBody>
      </p:sp>
      <p:graphicFrame>
        <p:nvGraphicFramePr>
          <p:cNvPr id="7" name="Table 6"/>
          <p:cNvGraphicFramePr>
            <a:graphicFrameLocks noGrp="1"/>
          </p:cNvGraphicFramePr>
          <p:nvPr/>
        </p:nvGraphicFramePr>
        <p:xfrm>
          <a:off x="566928" y="1870100"/>
          <a:ext cx="11058144" cy="4169410"/>
        </p:xfrm>
        <a:graphic>
          <a:graphicData uri="http://schemas.openxmlformats.org/drawingml/2006/table">
            <a:tbl>
              <a:tblPr>
                <a:tableStyleId>{5C22544A-7EE6-4342-B048-85BDC9FD1C3A}</a:tableStyleId>
              </a:tblPr>
              <a:tblGrid>
                <a:gridCol w="2565400"/>
                <a:gridCol w="939800"/>
                <a:gridCol w="4620260"/>
                <a:gridCol w="2932430"/>
              </a:tblGrid>
              <a:tr h="417830">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l">
                        <a:lnSpc>
                          <a:spcPct val="106000"/>
                        </a:lnSpc>
                        <a:spcAft>
                          <a:spcPts val="0"/>
                        </a:spcAft>
                      </a:pPr>
                      <a:r>
                        <a:rPr sz="1100" b="0">
                          <a:solidFill>
                            <a:srgbClr val="333333"/>
                          </a:solidFill>
                          <a:latin typeface="Courier New"/>
                        </a:rPr>
                        <a:t>mode.cpp (Copter::set_mode() position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new_flightmode-&gt;requires_GPS() &amp;&amp; !copter.position_ok() rejects PNT modes when position invalid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ArduCopter/mode.cpp:303-307 · Table 4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l">
                        <a:lnSpc>
                          <a:spcPct val="106000"/>
                        </a:lnSpc>
                        <a:spcAft>
                          <a:spcPts val="0"/>
                        </a:spcAft>
                      </a:pPr>
                      <a:r>
                        <a:rPr sz="1100" b="0">
                          <a:solidFill>
                            <a:srgbClr val="333333"/>
                          </a:solidFill>
                          <a:latin typeface="Courier New"/>
                        </a:rPr>
                        <a:t>mode_acro.cpp (ModeAcro)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ArduCopter/mode.h:428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l">
                        <a:lnSpc>
                          <a:spcPct val="106000"/>
                        </a:lnSpc>
                        <a:spcAft>
                          <a:spcPts val="0"/>
                        </a:spcAft>
                      </a:pPr>
                      <a:r>
                        <a:rPr sz="1100" b="0">
                          <a:solidFill>
                            <a:srgbClr val="333333"/>
                          </a:solidFill>
                          <a:latin typeface="Courier New"/>
                        </a:rPr>
                        <a:t>mode_acro_heli.cpp (ModeAcro_Heli)</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ArduCopter/mode.h:428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430">
                <a:tc>
                  <a:txBody>
                    <a:bodyPr wrap="square">
                      <a:noAutofit/>
                    </a:bodyPr>
                    <a:lstStyle/>
                    <a:p>
                      <a:pPr algn="l">
                        <a:lnSpc>
                          <a:spcPct val="106000"/>
                        </a:lnSpc>
                        <a:spcAft>
                          <a:spcPts val="0"/>
                        </a:spcAft>
                      </a:pPr>
                      <a:r>
                        <a:rPr sz="1100" b="0">
                          <a:solidFill>
                            <a:srgbClr val="333333"/>
                          </a:solidFill>
                          <a:latin typeface="Courier New"/>
                        </a:rPr>
                        <a:t>mode_althold.cpp (ModeAltHold)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×9;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ArduCopter/mode.h:484 · use ArduCopter/mode_althold.cpp:13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430">
                <a:tc>
                  <a:txBody>
                    <a:bodyPr wrap="square">
                      <a:noAutofit/>
                    </a:bodyPr>
                    <a:lstStyle/>
                    <a:p>
                      <a:pPr algn="l">
                        <a:lnSpc>
                          <a:spcPct val="106000"/>
                        </a:lnSpc>
                        <a:spcAft>
                          <a:spcPts val="0"/>
                        </a:spcAft>
                      </a:pPr>
                      <a:r>
                        <a:rPr sz="1100" b="0">
                          <a:solidFill>
                            <a:srgbClr val="333333"/>
                          </a:solidFill>
                          <a:latin typeface="Courier New"/>
                        </a:rPr>
                        <a:t>mode_auto.cpp (ModeAuto)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(conditional: all sub-modes except NAV_ATTITUDE_TIME)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ArduCopter/mode_auto.cpp:178 · use ArduCopter/mode_auto.cpp:42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l">
                        <a:lnSpc>
                          <a:spcPct val="106000"/>
                        </a:lnSpc>
                        <a:spcAft>
                          <a:spcPts val="0"/>
                        </a:spcAft>
                      </a:pPr>
                      <a:r>
                        <a:rPr sz="1100" b="0">
                          <a:solidFill>
                            <a:srgbClr val="333333"/>
                          </a:solidFill>
                          <a:latin typeface="Courier New"/>
                        </a:rPr>
                        <a:t>mode_autorotate.cpp (ModeAutorotate)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ArduCopter/mode.h:2047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 (continued)</a:t>
            </a:r>
          </a:p>
        </p:txBody>
      </p:sp>
      <p:graphicFrame>
        <p:nvGraphicFramePr>
          <p:cNvPr id="6" name="Table 5"/>
          <p:cNvGraphicFramePr>
            <a:graphicFrameLocks noGrp="1"/>
          </p:cNvGraphicFramePr>
          <p:nvPr/>
        </p:nvGraphicFramePr>
        <p:xfrm>
          <a:off x="566928" y="1591056"/>
          <a:ext cx="11058144" cy="4702810"/>
        </p:xfrm>
        <a:graphic>
          <a:graphicData uri="http://schemas.openxmlformats.org/drawingml/2006/table">
            <a:tbl>
              <a:tblPr>
                <a:tableStyleId>{5C22544A-7EE6-4342-B048-85BDC9FD1C3A}</a:tableStyleId>
              </a:tblPr>
              <a:tblGrid>
                <a:gridCol w="2565400"/>
                <a:gridCol w="939800"/>
                <a:gridCol w="4620260"/>
                <a:gridCol w="2932430"/>
              </a:tblGrid>
              <a:tr h="417830">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430">
                <a:tc>
                  <a:txBody>
                    <a:bodyPr wrap="square">
                      <a:noAutofit/>
                    </a:bodyPr>
                    <a:lstStyle/>
                    <a:p>
                      <a:pPr algn="l">
                        <a:lnSpc>
                          <a:spcPct val="106000"/>
                        </a:lnSpc>
                        <a:spcAft>
                          <a:spcPts val="0"/>
                        </a:spcAft>
                      </a:pPr>
                      <a:r>
                        <a:rPr sz="1100" b="0">
                          <a:solidFill>
                            <a:srgbClr val="333333"/>
                          </a:solidFill>
                          <a:latin typeface="Courier New"/>
                        </a:rPr>
                        <a:t>mode_autotune.cpp (ModeAutoTune)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×5;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ArduCopter/mode.h:829 · use ArduCopter/mode_autotune.cpp:31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l">
                        <a:lnSpc>
                          <a:spcPct val="106000"/>
                        </a:lnSpc>
                        <a:spcAft>
                          <a:spcPts val="0"/>
                        </a:spcAft>
                      </a:pPr>
                      <a:r>
                        <a:rPr sz="1100" b="0">
                          <a:solidFill>
                            <a:srgbClr val="333333"/>
                          </a:solidFill>
                          <a:latin typeface="Courier New"/>
                        </a:rPr>
                        <a:t>mode_avoid_adsb.cpp (ModeAvoidADSB)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ArduCopter/mode.h:1888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430">
                <a:tc>
                  <a:txBody>
                    <a:bodyPr wrap="square">
                      <a:noAutofit/>
                    </a:bodyPr>
                    <a:lstStyle/>
                    <a:p>
                      <a:pPr algn="l">
                        <a:lnSpc>
                          <a:spcPct val="106000"/>
                        </a:lnSpc>
                        <a:spcAft>
                          <a:spcPts val="0"/>
                        </a:spcAft>
                      </a:pPr>
                      <a:r>
                        <a:rPr sz="1100" b="0">
                          <a:solidFill>
                            <a:srgbClr val="333333"/>
                          </a:solidFill>
                          <a:latin typeface="Courier New"/>
                        </a:rPr>
                        <a:t>mode_brake.cpp (ModeBrake)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ArduCopter/mode.h:854 · use ArduCopter/mode_brake.cpp:13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430">
                <a:tc>
                  <a:txBody>
                    <a:bodyPr wrap="square">
                      <a:noAutofit/>
                    </a:bodyPr>
                    <a:lstStyle/>
                    <a:p>
                      <a:pPr algn="l">
                        <a:lnSpc>
                          <a:spcPct val="106000"/>
                        </a:lnSpc>
                        <a:spcAft>
                          <a:spcPts val="0"/>
                        </a:spcAft>
                      </a:pPr>
                      <a:r>
                        <a:rPr sz="1100" b="0">
                          <a:solidFill>
                            <a:srgbClr val="333333"/>
                          </a:solidFill>
                          <a:latin typeface="Courier New"/>
                        </a:rPr>
                        <a:t>mode_circle.cpp (ModeCircle)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ArduCopter/mode.h:884 · use ArduCopter/mode_circle.cpp:16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430">
                <a:tc>
                  <a:txBody>
                    <a:bodyPr wrap="square">
                      <a:noAutofit/>
                    </a:bodyPr>
                    <a:lstStyle/>
                    <a:p>
                      <a:pPr algn="l">
                        <a:lnSpc>
                          <a:spcPct val="106000"/>
                        </a:lnSpc>
                        <a:spcAft>
                          <a:spcPts val="0"/>
                        </a:spcAft>
                      </a:pPr>
                      <a:r>
                        <a:rPr sz="1100" b="0">
                          <a:solidFill>
                            <a:srgbClr val="333333"/>
                          </a:solidFill>
                          <a:latin typeface="Courier New"/>
                        </a:rPr>
                        <a:t>mode_drift.cpp (ModeDrift)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ArduCopter/mode.h:914 · use ArduCopter/mode_drift.cpp:54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l">
                        <a:lnSpc>
                          <a:spcPct val="106000"/>
                        </a:lnSpc>
                        <a:spcAft>
                          <a:spcPts val="0"/>
                        </a:spcAft>
                      </a:pPr>
                      <a:r>
                        <a:rPr sz="1100" b="0">
                          <a:solidFill>
                            <a:srgbClr val="333333"/>
                          </a:solidFill>
                          <a:latin typeface="Courier New"/>
                        </a:rPr>
                        <a:t>mode_flip.cpp (ModeFlip)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ArduCopter/mode.h:942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 (continued)</a:t>
            </a:r>
          </a:p>
        </p:txBody>
      </p:sp>
      <p:graphicFrame>
        <p:nvGraphicFramePr>
          <p:cNvPr id="6" name="Table 5"/>
          <p:cNvGraphicFramePr>
            <a:graphicFrameLocks noGrp="1"/>
          </p:cNvGraphicFramePr>
          <p:nvPr/>
        </p:nvGraphicFramePr>
        <p:xfrm>
          <a:off x="566928" y="1591056"/>
          <a:ext cx="11058144" cy="4702810"/>
        </p:xfrm>
        <a:graphic>
          <a:graphicData uri="http://schemas.openxmlformats.org/drawingml/2006/table">
            <a:tbl>
              <a:tblPr>
                <a:tableStyleId>{5C22544A-7EE6-4342-B048-85BDC9FD1C3A}</a:tableStyleId>
              </a:tblPr>
              <a:tblGrid>
                <a:gridCol w="2565400"/>
                <a:gridCol w="939800"/>
                <a:gridCol w="4620260"/>
                <a:gridCol w="2932430"/>
              </a:tblGrid>
              <a:tr h="417830">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430">
                <a:tc>
                  <a:txBody>
                    <a:bodyPr wrap="square">
                      <a:noAutofit/>
                    </a:bodyPr>
                    <a:lstStyle/>
                    <a:p>
                      <a:pPr algn="l">
                        <a:lnSpc>
                          <a:spcPct val="106000"/>
                        </a:lnSpc>
                        <a:spcAft>
                          <a:spcPts val="0"/>
                        </a:spcAft>
                      </a:pPr>
                      <a:r>
                        <a:rPr sz="1100" b="0">
                          <a:solidFill>
                            <a:srgbClr val="333333"/>
                          </a:solidFill>
                          <a:latin typeface="Courier New"/>
                        </a:rPr>
                        <a:t>mode_flowhold.cpp (ModeFlowHold)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×12;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ArduCopter/mode.h:989 · use ArduCopter/mode_flowhold.cpp:92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430">
                <a:tc>
                  <a:txBody>
                    <a:bodyPr wrap="square">
                      <a:noAutofit/>
                    </a:bodyPr>
                    <a:lstStyle/>
                    <a:p>
                      <a:pPr algn="l">
                        <a:lnSpc>
                          <a:spcPct val="106000"/>
                        </a:lnSpc>
                        <a:spcAft>
                          <a:spcPts val="0"/>
                        </a:spcAft>
                      </a:pPr>
                      <a:r>
                        <a:rPr sz="1100" b="0">
                          <a:solidFill>
                            <a:srgbClr val="333333"/>
                          </a:solidFill>
                          <a:latin typeface="Courier New"/>
                        </a:rPr>
                        <a:t>mode_follow.cpp (ModeFollow)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ArduCopter/mode.h:1918 · use ArduCopter/mode_follow.cpp:33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430">
                <a:tc>
                  <a:txBody>
                    <a:bodyPr wrap="square">
                      <a:noAutofit/>
                    </a:bodyPr>
                    <a:lstStyle/>
                    <a:p>
                      <a:pPr algn="l">
                        <a:lnSpc>
                          <a:spcPct val="106000"/>
                        </a:lnSpc>
                        <a:spcAft>
                          <a:spcPts val="0"/>
                        </a:spcAft>
                      </a:pPr>
                      <a:r>
                        <a:rPr sz="1100" b="0">
                          <a:solidFill>
                            <a:srgbClr val="333333"/>
                          </a:solidFill>
                          <a:latin typeface="Courier New"/>
                        </a:rPr>
                        <a:t>mode_guided.cpp (ModeGuided)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ArduCopter/mode.h:1077 · use ArduCopter/mode_guided.cpp:77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l">
                        <a:lnSpc>
                          <a:spcPct val="106000"/>
                        </a:lnSpc>
                        <a:spcAft>
                          <a:spcPts val="0"/>
                        </a:spcAft>
                      </a:pPr>
                      <a:r>
                        <a:rPr sz="1100" b="0">
                          <a:solidFill>
                            <a:srgbClr val="333333"/>
                          </a:solidFill>
                          <a:latin typeface="Courier New"/>
                        </a:rPr>
                        <a:t>mode_guided_custom.cpp (ModeGuidedCustom)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ArduCopter/mode.h:1077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l">
                        <a:lnSpc>
                          <a:spcPct val="106000"/>
                        </a:lnSpc>
                        <a:spcAft>
                          <a:spcPts val="0"/>
                        </a:spcAft>
                      </a:pPr>
                      <a:r>
                        <a:rPr sz="1100" b="0">
                          <a:solidFill>
                            <a:srgbClr val="333333"/>
                          </a:solidFill>
                          <a:latin typeface="Courier New"/>
                        </a:rPr>
                        <a:t>mode_guided_nogps.cpp (ModeGuidedNoGPS)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ArduCopter/mode.h:1253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430">
                <a:tc>
                  <a:txBody>
                    <a:bodyPr wrap="square">
                      <a:noAutofit/>
                    </a:bodyPr>
                    <a:lstStyle/>
                    <a:p>
                      <a:pPr algn="l">
                        <a:lnSpc>
                          <a:spcPct val="106000"/>
                        </a:lnSpc>
                        <a:spcAft>
                          <a:spcPts val="0"/>
                        </a:spcAft>
                      </a:pPr>
                      <a:r>
                        <a:rPr sz="1100" b="0">
                          <a:solidFill>
                            <a:srgbClr val="333333"/>
                          </a:solidFill>
                          <a:latin typeface="Courier New"/>
                        </a:rPr>
                        <a:t>mode_land.cpp (ModeLand)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(position_ok ×9;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ArduCopter/mode.h:1277 · use ArduCopter/mode_land.cpp:7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 (continued)</a:t>
            </a:r>
          </a:p>
        </p:txBody>
      </p:sp>
      <p:graphicFrame>
        <p:nvGraphicFramePr>
          <p:cNvPr id="6" name="Table 5"/>
          <p:cNvGraphicFramePr>
            <a:graphicFrameLocks noGrp="1"/>
          </p:cNvGraphicFramePr>
          <p:nvPr/>
        </p:nvGraphicFramePr>
        <p:xfrm>
          <a:off x="566928" y="1591056"/>
          <a:ext cx="11058144" cy="4284980"/>
        </p:xfrm>
        <a:graphic>
          <a:graphicData uri="http://schemas.openxmlformats.org/drawingml/2006/table">
            <a:tbl>
              <a:tblPr>
                <a:tableStyleId>{5C22544A-7EE6-4342-B048-85BDC9FD1C3A}</a:tableStyleId>
              </a:tblPr>
              <a:tblGrid>
                <a:gridCol w="2565400"/>
                <a:gridCol w="939800"/>
                <a:gridCol w="4620260"/>
                <a:gridCol w="2932430"/>
              </a:tblGrid>
              <a:tr h="417830">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430">
                <a:tc>
                  <a:txBody>
                    <a:bodyPr wrap="square">
                      <a:noAutofit/>
                    </a:bodyPr>
                    <a:lstStyle/>
                    <a:p>
                      <a:pPr algn="l">
                        <a:lnSpc>
                          <a:spcPct val="106000"/>
                        </a:lnSpc>
                        <a:spcAft>
                          <a:spcPts val="0"/>
                        </a:spcAft>
                      </a:pPr>
                      <a:r>
                        <a:rPr sz="1100" b="0">
                          <a:solidFill>
                            <a:srgbClr val="333333"/>
                          </a:solidFill>
                          <a:latin typeface="Courier New"/>
                        </a:rPr>
                        <a:t>mode_loiter.cpp (ModeLoiter)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ArduCopter/mode.h:1323 · use ArduCopter/mode_loiter.cpp:17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430">
                <a:tc>
                  <a:txBody>
                    <a:bodyPr wrap="square">
                      <a:noAutofit/>
                    </a:bodyPr>
                    <a:lstStyle/>
                    <a:p>
                      <a:pPr algn="l">
                        <a:lnSpc>
                          <a:spcPct val="106000"/>
                        </a:lnSpc>
                        <a:spcAft>
                          <a:spcPts val="0"/>
                        </a:spcAft>
                      </a:pPr>
                      <a:r>
                        <a:rPr sz="1100" b="0">
                          <a:solidFill>
                            <a:srgbClr val="333333"/>
                          </a:solidFill>
                          <a:latin typeface="Courier New"/>
                        </a:rPr>
                        <a:t>mode_poshold.cpp (ModePosHold)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ArduCopter/mode.h:1373 · use ArduCopter/mode_poshold.cpp:28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430">
                <a:tc>
                  <a:txBody>
                    <a:bodyPr wrap="square">
                      <a:noAutofit/>
                    </a:bodyPr>
                    <a:lstStyle/>
                    <a:p>
                      <a:pPr algn="l">
                        <a:lnSpc>
                          <a:spcPct val="106000"/>
                        </a:lnSpc>
                        <a:spcAft>
                          <a:spcPts val="0"/>
                        </a:spcAft>
                      </a:pPr>
                      <a:r>
                        <a:rPr sz="1100" b="0">
                          <a:solidFill>
                            <a:srgbClr val="333333"/>
                          </a:solidFill>
                          <a:latin typeface="Courier New"/>
                        </a:rPr>
                        <a:t>mode_rtl.cpp (ModeRTL)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ArduCopter/mode.h:1461 · use ArduCopter/mode_rtl.cpp:21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430">
                <a:tc>
                  <a:txBody>
                    <a:bodyPr wrap="square">
                      <a:noAutofit/>
                    </a:bodyPr>
                    <a:lstStyle/>
                    <a:p>
                      <a:pPr algn="l">
                        <a:lnSpc>
                          <a:spcPct val="106000"/>
                        </a:lnSpc>
                        <a:spcAft>
                          <a:spcPts val="0"/>
                        </a:spcAft>
                      </a:pPr>
                      <a:r>
                        <a:rPr sz="1100" b="0">
                          <a:solidFill>
                            <a:srgbClr val="333333"/>
                          </a:solidFill>
                          <a:latin typeface="Courier New"/>
                        </a:rPr>
                        <a:t>mode_smart_rtl.cpp (ModeSmartRTL)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ArduCopter/mode.h:1577 · use ArduCopter/mode_smart_rtl.cpp:16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430">
                <a:tc>
                  <a:txBody>
                    <a:bodyPr wrap="square">
                      <a:noAutofit/>
                    </a:bodyPr>
                    <a:lstStyle/>
                    <a:p>
                      <a:pPr algn="l">
                        <a:lnSpc>
                          <a:spcPct val="106000"/>
                        </a:lnSpc>
                        <a:spcAft>
                          <a:spcPts val="0"/>
                        </a:spcAft>
                      </a:pPr>
                      <a:r>
                        <a:rPr sz="1100" b="0">
                          <a:solidFill>
                            <a:srgbClr val="333333"/>
                          </a:solidFill>
                          <a:latin typeface="Courier New"/>
                        </a:rPr>
                        <a:t>mode_sport.cpp (ModeSport)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×9;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ArduCopter/mode.h:1637 · use ArduCopter/mode_sport.cpp:13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 (continued)</a:t>
            </a:r>
          </a:p>
        </p:txBody>
      </p:sp>
      <p:graphicFrame>
        <p:nvGraphicFramePr>
          <p:cNvPr id="6" name="Table 5"/>
          <p:cNvGraphicFramePr>
            <a:graphicFrameLocks noGrp="1"/>
          </p:cNvGraphicFramePr>
          <p:nvPr/>
        </p:nvGraphicFramePr>
        <p:xfrm>
          <a:off x="566928" y="1591056"/>
          <a:ext cx="11058144" cy="4525010"/>
        </p:xfrm>
        <a:graphic>
          <a:graphicData uri="http://schemas.openxmlformats.org/drawingml/2006/table">
            <a:tbl>
              <a:tblPr>
                <a:tableStyleId>{5C22544A-7EE6-4342-B048-85BDC9FD1C3A}</a:tableStyleId>
              </a:tblPr>
              <a:tblGrid>
                <a:gridCol w="2565400"/>
                <a:gridCol w="939800"/>
                <a:gridCol w="4620260"/>
                <a:gridCol w="2932430"/>
              </a:tblGrid>
              <a:tr h="417830">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30">
                <a:tc>
                  <a:txBody>
                    <a:bodyPr wrap="square">
                      <a:noAutofit/>
                    </a:bodyPr>
                    <a:lstStyle/>
                    <a:p>
                      <a:pPr algn="l">
                        <a:lnSpc>
                          <a:spcPct val="106000"/>
                        </a:lnSpc>
                        <a:spcAft>
                          <a:spcPts val="0"/>
                        </a:spcAft>
                      </a:pPr>
                      <a:r>
                        <a:rPr sz="1100" b="0">
                          <a:solidFill>
                            <a:srgbClr val="333333"/>
                          </a:solidFill>
                          <a:latin typeface="Courier New"/>
                        </a:rPr>
                        <a:t>mode_stabilize.cpp (ModeStabilize)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ArduCopter/mode.h:1664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l">
                        <a:lnSpc>
                          <a:spcPct val="106000"/>
                        </a:lnSpc>
                        <a:spcAft>
                          <a:spcPts val="0"/>
                        </a:spcAft>
                      </a:pPr>
                      <a:r>
                        <a:rPr sz="1100" b="0">
                          <a:solidFill>
                            <a:srgbClr val="333333"/>
                          </a:solidFill>
                          <a:latin typeface="Courier New"/>
                        </a:rPr>
                        <a:t>mode_stabilize_heli.cpp (ModeStabilize_Heli)</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ArduCopter/mode.h:1664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430">
                <a:tc>
                  <a:txBody>
                    <a:bodyPr wrap="square">
                      <a:noAutofit/>
                    </a:bodyPr>
                    <a:lstStyle/>
                    <a:p>
                      <a:pPr algn="l">
                        <a:lnSpc>
                          <a:spcPct val="106000"/>
                        </a:lnSpc>
                        <a:spcAft>
                          <a:spcPts val="0"/>
                        </a:spcAft>
                      </a:pPr>
                      <a:r>
                        <a:rPr sz="1100" b="0">
                          <a:solidFill>
                            <a:srgbClr val="333333"/>
                          </a:solidFill>
                          <a:latin typeface="Courier New"/>
                        </a:rPr>
                        <a:t>mode_systemid.cpp (ModeSystemId)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×22;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ArduCopter/mode.h:1712 · use ArduCopter/mode_systemid.cpp:115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430">
                <a:tc>
                  <a:txBody>
                    <a:bodyPr wrap="square">
                      <a:noAutofit/>
                    </a:bodyPr>
                    <a:lstStyle/>
                    <a:p>
                      <a:pPr algn="l">
                        <a:lnSpc>
                          <a:spcPct val="106000"/>
                        </a:lnSpc>
                        <a:spcAft>
                          <a:spcPts val="0"/>
                        </a:spcAft>
                      </a:pPr>
                      <a:r>
                        <a:rPr sz="1100" b="0">
                          <a:solidFill>
                            <a:srgbClr val="333333"/>
                          </a:solidFill>
                          <a:latin typeface="Courier New"/>
                        </a:rPr>
                        <a:t>mode_throw.cpp (ModeThrow)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ArduCopter/mode.h:1791 · use ArduCopter/mode_throw.cpp:23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l">
                        <a:lnSpc>
                          <a:spcPct val="106000"/>
                        </a:lnSpc>
                        <a:spcAft>
                          <a:spcPts val="0"/>
                        </a:spcAft>
                      </a:pPr>
                      <a:r>
                        <a:rPr sz="1100" b="0">
                          <a:solidFill>
                            <a:srgbClr val="333333"/>
                          </a:solidFill>
                          <a:latin typeface="Courier New"/>
                        </a:rPr>
                        <a:t>mode_turtle.cpp (ModeTurtle)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ArduCopter/mode.h:1849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430">
                <a:tc>
                  <a:txBody>
                    <a:bodyPr wrap="square">
                      <a:noAutofit/>
                    </a:bodyPr>
                    <a:lstStyle/>
                    <a:p>
                      <a:pPr algn="l">
                        <a:lnSpc>
                          <a:spcPct val="106000"/>
                        </a:lnSpc>
                        <a:spcAft>
                          <a:spcPts val="0"/>
                        </a:spcAft>
                      </a:pPr>
                      <a:r>
                        <a:rPr sz="1100" b="0">
                          <a:solidFill>
                            <a:srgbClr val="333333"/>
                          </a:solidFill>
                          <a:latin typeface="Courier New"/>
                        </a:rPr>
                        <a:t>mode_zigzag.cpp (ModeZigZag)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ArduCopter/mode.h:1967 · use ArduCopter/mode_zigzag.cpp:75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(8)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(8)</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Plane flight modes PNT-gating matrix — 26 files (20 PNT-relevant, 6 checked-absence). Predicate: does_auto_navigation().</a:t>
            </a:r>
          </a:p>
        </p:txBody>
      </p:sp>
      <p:graphicFrame>
        <p:nvGraphicFramePr>
          <p:cNvPr id="7" name="Table 6"/>
          <p:cNvGraphicFramePr>
            <a:graphicFrameLocks noGrp="1"/>
          </p:cNvGraphicFramePr>
          <p:nvPr/>
        </p:nvGraphicFramePr>
        <p:xfrm>
          <a:off x="566928" y="2063953"/>
          <a:ext cx="11058144" cy="4231640"/>
        </p:xfrm>
        <a:graphic>
          <a:graphicData uri="http://schemas.openxmlformats.org/drawingml/2006/table">
            <a:tbl>
              <a:tblPr>
                <a:tableStyleId>{5C22544A-7EE6-4342-B048-85BDC9FD1C3A}</a:tableStyleId>
              </a:tblPr>
              <a:tblGrid>
                <a:gridCol w="2565400"/>
                <a:gridCol w="939800"/>
                <a:gridCol w="4620260"/>
                <a:gridCol w="2932430"/>
              </a:tblGrid>
              <a:tr h="417830">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l">
                        <a:lnSpc>
                          <a:spcPct val="106000"/>
                        </a:lnSpc>
                        <a:spcAft>
                          <a:spcPts val="0"/>
                        </a:spcAft>
                      </a:pPr>
                      <a:r>
                        <a:rPr sz="1100" b="0">
                          <a:solidFill>
                            <a:srgbClr val="333333"/>
                          </a:solidFill>
                          <a:latin typeface="Courier New"/>
                        </a:rPr>
                        <a:t>mode.cpp (Plane::set_mode() / mode enter)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 consulted; nav modes consume EKF/AHRS nav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430">
                <a:tc>
                  <a:txBody>
                    <a:bodyPr wrap="square">
                      <a:noAutofit/>
                    </a:bodyPr>
                    <a:lstStyle/>
                    <a:p>
                      <a:pPr algn="l">
                        <a:lnSpc>
                          <a:spcPct val="106000"/>
                        </a:lnSpc>
                        <a:spcAft>
                          <a:spcPts val="0"/>
                        </a:spcAft>
                      </a:pPr>
                      <a:r>
                        <a:rPr sz="1100" b="0">
                          <a:solidFill>
                            <a:srgbClr val="333333"/>
                          </a:solidFill>
                          <a:latin typeface="Courier New"/>
                        </a:rPr>
                        <a:t>mode_LoiterAltQLand.cpp (ModeLoiterAltQLand)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ArduPlane/mode.h:427 · use ArduPlane/mode_LoiterAltQLand.cpp:8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l">
                        <a:lnSpc>
                          <a:spcPct val="106000"/>
                        </a:lnSpc>
                        <a:spcAft>
                          <a:spcPts val="0"/>
                        </a:spcAft>
                      </a:pPr>
                      <a:r>
                        <a:rPr sz="1100" b="0">
                          <a:solidFill>
                            <a:srgbClr val="333333"/>
                          </a:solidFill>
                          <a:latin typeface="Courier New"/>
                        </a:rPr>
                        <a:t>mode_acro.cpp (ModeAcro)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l">
                        <a:lnSpc>
                          <a:spcPct val="106000"/>
                        </a:lnSpc>
                        <a:spcAft>
                          <a:spcPts val="0"/>
                        </a:spcAft>
                      </a:pPr>
                      <a:r>
                        <a:rPr sz="1100" b="0">
                          <a:solidFill>
                            <a:srgbClr val="333333"/>
                          </a:solidFill>
                          <a:latin typeface="Courier New"/>
                        </a:rPr>
                        <a:t>mode_auto.cpp (ModeAuto)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ArduPlane/mode_auto.cpp:137 · use ArduPlane/mode_auto.cpp:10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l">
                        <a:lnSpc>
                          <a:spcPct val="106000"/>
                        </a:lnSpc>
                        <a:spcAft>
                          <a:spcPts val="0"/>
                        </a:spcAft>
                      </a:pPr>
                      <a:r>
                        <a:rPr sz="1100" b="0">
                          <a:solidFill>
                            <a:srgbClr val="333333"/>
                          </a:solidFill>
                          <a:latin typeface="Courier New"/>
                        </a:rPr>
                        <a:t>mode_autoland.cpp (ModeAutoLand)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ArduPlane/mode.h:957 · use ArduPlane/mode_autoland.cpp:79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0">
                          <a:solidFill>
                            <a:srgbClr val="333333"/>
                          </a:solidFill>
                          <a:latin typeface="Courier New"/>
                        </a:rPr>
                        <a:t>mode_autotune.cpp (ModeAutoTune)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l">
                        <a:lnSpc>
                          <a:spcPct val="106000"/>
                        </a:lnSpc>
                        <a:spcAft>
                          <a:spcPts val="0"/>
                        </a:spcAft>
                      </a:pPr>
                      <a:r>
                        <a:rPr sz="1100" b="0">
                          <a:solidFill>
                            <a:srgbClr val="333333"/>
                          </a:solidFill>
                          <a:latin typeface="Courier New"/>
                        </a:rPr>
                        <a:t>mode_avoidADSB.cpp (ModeAvoidADSB)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(update_loiter ×1;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use ArduPlane/mode_avoidADSB.cpp:19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(8)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(8) (continued)</a:t>
            </a:r>
          </a:p>
        </p:txBody>
      </p:sp>
      <p:graphicFrame>
        <p:nvGraphicFramePr>
          <p:cNvPr id="6" name="Table 5"/>
          <p:cNvGraphicFramePr>
            <a:graphicFrameLocks noGrp="1"/>
          </p:cNvGraphicFramePr>
          <p:nvPr/>
        </p:nvGraphicFramePr>
        <p:xfrm>
          <a:off x="566928" y="1591056"/>
          <a:ext cx="11058144" cy="4231640"/>
        </p:xfrm>
        <a:graphic>
          <a:graphicData uri="http://schemas.openxmlformats.org/drawingml/2006/table">
            <a:tbl>
              <a:tblPr>
                <a:tableStyleId>{5C22544A-7EE6-4342-B048-85BDC9FD1C3A}</a:tableStyleId>
              </a:tblPr>
              <a:tblGrid>
                <a:gridCol w="2565400"/>
                <a:gridCol w="939800"/>
                <a:gridCol w="4620260"/>
                <a:gridCol w="2932430"/>
              </a:tblGrid>
              <a:tr h="417830">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30">
                <a:tc>
                  <a:txBody>
                    <a:bodyPr wrap="square">
                      <a:noAutofit/>
                    </a:bodyPr>
                    <a:lstStyle/>
                    <a:p>
                      <a:pPr algn="l">
                        <a:lnSpc>
                          <a:spcPct val="106000"/>
                        </a:lnSpc>
                        <a:spcAft>
                          <a:spcPts val="0"/>
                        </a:spcAft>
                      </a:pPr>
                      <a:r>
                        <a:rPr sz="1100" b="0">
                          <a:solidFill>
                            <a:srgbClr val="333333"/>
                          </a:solidFill>
                          <a:latin typeface="Courier New"/>
                        </a:rPr>
                        <a:t>mode_circle.cpp (ModeCircle)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ArduPlane/mode.h:399 · use ArduPlane/mode_circle.cpp:7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l">
                        <a:lnSpc>
                          <a:spcPct val="106000"/>
                        </a:lnSpc>
                        <a:spcAft>
                          <a:spcPts val="0"/>
                        </a:spcAft>
                      </a:pPr>
                      <a:r>
                        <a:rPr sz="1100" b="0">
                          <a:solidFill>
                            <a:srgbClr val="333333"/>
                          </a:solidFill>
                          <a:latin typeface="Courier New"/>
                        </a:rPr>
                        <a:t>mode_cruise.cpp (ModeCruise)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(prev_WP_loc ×4;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use ArduPlane/mode_cruise.cpp:83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0">
                          <a:solidFill>
                            <a:srgbClr val="333333"/>
                          </a:solidFill>
                          <a:latin typeface="Courier New"/>
                        </a:rPr>
                        <a:t>mode_fbwa.cpp (ModeFBWA)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l">
                        <a:lnSpc>
                          <a:spcPct val="106000"/>
                        </a:lnSpc>
                        <a:spcAft>
                          <a:spcPts val="0"/>
                        </a:spcAft>
                      </a:pPr>
                      <a:r>
                        <a:rPr sz="1100" b="0">
                          <a:solidFill>
                            <a:srgbClr val="333333"/>
                          </a:solidFill>
                          <a:latin typeface="Courier New"/>
                        </a:rPr>
                        <a:t>mode_fbwb.cpp (ModeFBWB)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l">
                        <a:lnSpc>
                          <a:spcPct val="106000"/>
                        </a:lnSpc>
                        <a:spcAft>
                          <a:spcPts val="0"/>
                        </a:spcAft>
                      </a:pPr>
                      <a:r>
                        <a:rPr sz="1100" b="0">
                          <a:solidFill>
                            <a:srgbClr val="333333"/>
                          </a:solidFill>
                          <a:latin typeface="Courier New"/>
                        </a:rPr>
                        <a:t>mode_guided.cpp (ModeGuided)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ArduPlane/mode.h:360 · use ArduPlane/mode_guided.cpp:11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l">
                        <a:lnSpc>
                          <a:spcPct val="106000"/>
                        </a:lnSpc>
                        <a:spcAft>
                          <a:spcPts val="0"/>
                        </a:spcAft>
                      </a:pPr>
                      <a:r>
                        <a:rPr sz="1100" b="0">
                          <a:solidFill>
                            <a:srgbClr val="333333"/>
                          </a:solidFill>
                          <a:latin typeface="Courier New"/>
                        </a:rPr>
                        <a:t>mode_loiter.cpp (ModeLoiter)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ArduPlane/mode.h:427 · use ArduPlane/mode_loiter.cpp:7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l">
                        <a:lnSpc>
                          <a:spcPct val="106000"/>
                        </a:lnSpc>
                        <a:spcAft>
                          <a:spcPts val="0"/>
                        </a:spcAft>
                      </a:pPr>
                      <a:r>
                        <a:rPr sz="1100" b="0">
                          <a:solidFill>
                            <a:srgbClr val="333333"/>
                          </a:solidFill>
                          <a:latin typeface="Courier New"/>
                        </a:rPr>
                        <a:t>mode_manual.cpp (ModeManual)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×1;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use ArduPlane/mode_manual.cpp:26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(8)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(8) (continued)</a:t>
            </a:r>
          </a:p>
        </p:txBody>
      </p:sp>
      <p:graphicFrame>
        <p:nvGraphicFramePr>
          <p:cNvPr id="6" name="Table 5"/>
          <p:cNvGraphicFramePr>
            <a:graphicFrameLocks noGrp="1"/>
          </p:cNvGraphicFramePr>
          <p:nvPr/>
        </p:nvGraphicFramePr>
        <p:xfrm>
          <a:off x="566928" y="1591056"/>
          <a:ext cx="11058144" cy="4587240"/>
        </p:xfrm>
        <a:graphic>
          <a:graphicData uri="http://schemas.openxmlformats.org/drawingml/2006/table">
            <a:tbl>
              <a:tblPr>
                <a:tableStyleId>{5C22544A-7EE6-4342-B048-85BDC9FD1C3A}</a:tableStyleId>
              </a:tblPr>
              <a:tblGrid>
                <a:gridCol w="2565400"/>
                <a:gridCol w="939800"/>
                <a:gridCol w="4620260"/>
                <a:gridCol w="2932430"/>
              </a:tblGrid>
              <a:tr h="417830">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30">
                <a:tc>
                  <a:txBody>
                    <a:bodyPr wrap="square">
                      <a:noAutofit/>
                    </a:bodyPr>
                    <a:lstStyle/>
                    <a:p>
                      <a:pPr algn="l">
                        <a:lnSpc>
                          <a:spcPct val="106000"/>
                        </a:lnSpc>
                        <a:spcAft>
                          <a:spcPts val="0"/>
                        </a:spcAft>
                      </a:pPr>
                      <a:r>
                        <a:rPr sz="1100" b="0">
                          <a:solidFill>
                            <a:srgbClr val="333333"/>
                          </a:solidFill>
                          <a:latin typeface="Courier New"/>
                        </a:rPr>
                        <a:t>mode_qacro.cpp (ModeQAcro)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×16;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use ArduPlane/mode_qacro.cpp:8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l">
                        <a:lnSpc>
                          <a:spcPct val="106000"/>
                        </a:lnSpc>
                        <a:spcAft>
                          <a:spcPts val="0"/>
                        </a:spcAft>
                      </a:pPr>
                      <a:r>
                        <a:rPr sz="1100" b="0">
                          <a:solidFill>
                            <a:srgbClr val="333333"/>
                          </a:solidFill>
                          <a:latin typeface="Courier New"/>
                        </a:rPr>
                        <a:t>mode_qautotune.cpp (ModeQAutotune)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×4;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use ArduPlane/mode_qautotune.cpp:11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l">
                        <a:lnSpc>
                          <a:spcPct val="106000"/>
                        </a:lnSpc>
                        <a:spcAft>
                          <a:spcPts val="0"/>
                        </a:spcAft>
                      </a:pPr>
                      <a:r>
                        <a:rPr sz="1100" b="0">
                          <a:solidFill>
                            <a:srgbClr val="333333"/>
                          </a:solidFill>
                          <a:latin typeface="Courier New"/>
                        </a:rPr>
                        <a:t>mode_qhover.cpp (ModeQHover)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(pos_control ×13;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use ArduPlane/mode_qhover.cpp:9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l">
                        <a:lnSpc>
                          <a:spcPct val="106000"/>
                        </a:lnSpc>
                        <a:spcAft>
                          <a:spcPts val="0"/>
                        </a:spcAft>
                      </a:pPr>
                      <a:r>
                        <a:rPr sz="1100" b="0">
                          <a:solidFill>
                            <a:srgbClr val="333333"/>
                          </a:solidFill>
                          <a:latin typeface="Courier New"/>
                        </a:rPr>
                        <a:t>mode_qland.cpp (ModeQLand)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×5;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use ArduPlane/mode_qland.cpp:9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l">
                        <a:lnSpc>
                          <a:spcPct val="106000"/>
                        </a:lnSpc>
                        <a:spcAft>
                          <a:spcPts val="0"/>
                        </a:spcAft>
                      </a:pPr>
                      <a:r>
                        <a:rPr sz="1100" b="0">
                          <a:solidFill>
                            <a:srgbClr val="333333"/>
                          </a:solidFill>
                          <a:latin typeface="Courier New"/>
                        </a:rPr>
                        <a:t>mode_qloiter.cpp (ModeQLoiter)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(loiter_nav ×52;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use ArduPlane/mode_qloiter.cpp:9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l">
                        <a:lnSpc>
                          <a:spcPct val="106000"/>
                        </a:lnSpc>
                        <a:spcAft>
                          <a:spcPts val="0"/>
                        </a:spcAft>
                      </a:pPr>
                      <a:r>
                        <a:rPr sz="1100" b="0">
                          <a:solidFill>
                            <a:srgbClr val="333333"/>
                          </a:solidFill>
                          <a:latin typeface="Courier New"/>
                        </a:rPr>
                        <a:t>mode_qrtl.cpp (ModeQRTL)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×47;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use ArduPlane/mode_qrtl.cpp:10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l">
                        <a:lnSpc>
                          <a:spcPct val="106000"/>
                        </a:lnSpc>
                        <a:spcAft>
                          <a:spcPts val="0"/>
                        </a:spcAft>
                      </a:pPr>
                      <a:r>
                        <a:rPr sz="1100" b="0">
                          <a:solidFill>
                            <a:srgbClr val="333333"/>
                          </a:solidFill>
                          <a:latin typeface="Courier New"/>
                        </a:rPr>
                        <a:t>mode_qstabilize.cpp (ModeQStabilize)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×19;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use ArduPlane/mode_qstabilize.cpp:8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(8)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(8) (continued)</a:t>
            </a:r>
          </a:p>
        </p:txBody>
      </p:sp>
      <p:graphicFrame>
        <p:nvGraphicFramePr>
          <p:cNvPr id="6" name="Table 5"/>
          <p:cNvGraphicFramePr>
            <a:graphicFrameLocks noGrp="1"/>
          </p:cNvGraphicFramePr>
          <p:nvPr/>
        </p:nvGraphicFramePr>
        <p:xfrm>
          <a:off x="566928" y="1591056"/>
          <a:ext cx="11058144" cy="3040380"/>
        </p:xfrm>
        <a:graphic>
          <a:graphicData uri="http://schemas.openxmlformats.org/drawingml/2006/table">
            <a:tbl>
              <a:tblPr>
                <a:tableStyleId>{5C22544A-7EE6-4342-B048-85BDC9FD1C3A}</a:tableStyleId>
              </a:tblPr>
              <a:tblGrid>
                <a:gridCol w="2565400"/>
                <a:gridCol w="939800"/>
                <a:gridCol w="4620260"/>
                <a:gridCol w="2932430"/>
              </a:tblGrid>
              <a:tr h="417830">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30">
                <a:tc>
                  <a:txBody>
                    <a:bodyPr wrap="square">
                      <a:noAutofit/>
                    </a:bodyPr>
                    <a:lstStyle/>
                    <a:p>
                      <a:pPr algn="l">
                        <a:lnSpc>
                          <a:spcPct val="106000"/>
                        </a:lnSpc>
                        <a:spcAft>
                          <a:spcPts val="0"/>
                        </a:spcAft>
                      </a:pPr>
                      <a:r>
                        <a:rPr sz="1100" b="0">
                          <a:solidFill>
                            <a:srgbClr val="333333"/>
                          </a:solidFill>
                          <a:latin typeface="Courier New"/>
                        </a:rPr>
                        <a:t>mode_rtl.cpp (ModeRTL)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ArduPlane/mode.h:507 · use ArduPlane/mode_rtl.cpp:6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l">
                        <a:lnSpc>
                          <a:spcPct val="106000"/>
                        </a:lnSpc>
                        <a:spcAft>
                          <a:spcPts val="0"/>
                        </a:spcAft>
                      </a:pPr>
                      <a:r>
                        <a:rPr sz="1100" b="0">
                          <a:solidFill>
                            <a:srgbClr val="333333"/>
                          </a:solidFill>
                          <a:latin typeface="Courier New"/>
                        </a:rPr>
                        <a:t>mode_stabilize.cpp (ModeStabilize)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l">
                        <a:lnSpc>
                          <a:spcPct val="106000"/>
                        </a:lnSpc>
                        <a:spcAft>
                          <a:spcPts val="0"/>
                        </a:spcAft>
                      </a:pPr>
                      <a:r>
                        <a:rPr sz="1100" b="0">
                          <a:solidFill>
                            <a:srgbClr val="333333"/>
                          </a:solidFill>
                          <a:latin typeface="Courier New"/>
                        </a:rPr>
                        <a:t>mode_takeoff.cpp (ModeTakeoff)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ArduPlane/mode.h:909 · use ArduPlane/mode_takeoff.cpp:74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l">
                        <a:lnSpc>
                          <a:spcPct val="106000"/>
                        </a:lnSpc>
                        <a:spcAft>
                          <a:spcPts val="0"/>
                        </a:spcAft>
                      </a:pPr>
                      <a:r>
                        <a:rPr sz="1100" b="0">
                          <a:solidFill>
                            <a:srgbClr val="333333"/>
                          </a:solidFill>
                          <a:latin typeface="Courier New"/>
                        </a:rPr>
                        <a:t>mode_thermal.cpp (ModeThermal)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ArduPlane/mode.h:1025 · use ArduPlane/mode_thermal.cpp:16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0">
                          <a:solidFill>
                            <a:srgbClr val="333333"/>
                          </a:solidFill>
                          <a:latin typeface="Courier New"/>
                        </a:rPr>
                        <a:t>mode_training.cpp (ModeTraining)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(9)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(9)</a:t>
            </a:r>
          </a:p>
        </p:txBody>
      </p:sp>
      <p:sp>
        <p:nvSpPr>
          <p:cNvPr id="6" name="TextBox 5"/>
          <p:cNvSpPr txBox="1"/>
          <p:nvPr/>
        </p:nvSpPr>
        <p:spPr>
          <a:xfrm>
            <a:off x="566928" y="1591056"/>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Rover drive modes PNT-gating matrix — 14 files (11 PNT-relevant, 3 checked-absence). Predicate: requires_position().</a:t>
            </a:r>
          </a:p>
        </p:txBody>
      </p:sp>
      <p:graphicFrame>
        <p:nvGraphicFramePr>
          <p:cNvPr id="7" name="Table 6"/>
          <p:cNvGraphicFramePr>
            <a:graphicFrameLocks noGrp="1"/>
          </p:cNvGraphicFramePr>
          <p:nvPr/>
        </p:nvGraphicFramePr>
        <p:xfrm>
          <a:off x="566928" y="1870100"/>
          <a:ext cx="11058144" cy="3520440"/>
        </p:xfrm>
        <a:graphic>
          <a:graphicData uri="http://schemas.openxmlformats.org/drawingml/2006/table">
            <a:tbl>
              <a:tblPr>
                <a:tableStyleId>{5C22544A-7EE6-4342-B048-85BDC9FD1C3A}</a:tableStyleId>
              </a:tblPr>
              <a:tblGrid>
                <a:gridCol w="2565400"/>
                <a:gridCol w="939800"/>
                <a:gridCol w="4620260"/>
                <a:gridCol w="2932430"/>
              </a:tblGrid>
              <a:tr h="417830">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l">
                        <a:lnSpc>
                          <a:spcPct val="106000"/>
                        </a:lnSpc>
                        <a:spcAft>
                          <a:spcPts val="0"/>
                        </a:spcAft>
                      </a:pPr>
                      <a:r>
                        <a:rPr sz="1100" b="0">
                          <a:solidFill>
                            <a:srgbClr val="333333"/>
                          </a:solidFill>
                          <a:latin typeface="Courier New"/>
                        </a:rPr>
                        <a:t>mode.cpp (Mode::enter() position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rover.ekf_position_ok() &amp;&amp; requires_position()/requires_velocity() gate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l">
                        <a:lnSpc>
                          <a:spcPct val="106000"/>
                        </a:lnSpc>
                        <a:spcAft>
                          <a:spcPts val="0"/>
                        </a:spcAft>
                      </a:pPr>
                      <a:r>
                        <a:rPr sz="1100" b="0">
                          <a:solidFill>
                            <a:srgbClr val="333333"/>
                          </a:solidFill>
                          <a:latin typeface="Courier New"/>
                        </a:rPr>
                        <a:t>mode_acro.cpp (ModeAcro)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requires_position()=false, but consumes PNT here (wp_nav ×1;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Rover/mode.h:235 · use Rover/mode_acro.cpp:37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l">
                        <a:lnSpc>
                          <a:spcPct val="106000"/>
                        </a:lnSpc>
                        <a:spcAft>
                          <a:spcPts val="0"/>
                        </a:spcAft>
                      </a:pPr>
                      <a:r>
                        <a:rPr sz="1100" b="0">
                          <a:solidFill>
                            <a:srgbClr val="333333"/>
                          </a:solidFill>
                          <a:latin typeface="Courier New"/>
                        </a:rPr>
                        <a:t>mode_auto.cpp (ModeAuto)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use Rover/mode_auto.cpp:14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0">
                          <a:solidFill>
                            <a:srgbClr val="333333"/>
                          </a:solidFill>
                          <a:latin typeface="Courier New"/>
                        </a:rPr>
                        <a:t>mode_circle.cpp (ModeCircle)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use Rover/mode_circle.cpp:85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l">
                        <a:lnSpc>
                          <a:spcPct val="106000"/>
                        </a:lnSpc>
                        <a:spcAft>
                          <a:spcPts val="0"/>
                        </a:spcAft>
                      </a:pPr>
                      <a:r>
                        <a:rPr sz="1100" b="0">
                          <a:solidFill>
                            <a:srgbClr val="333333"/>
                          </a:solidFill>
                          <a:latin typeface="Courier New"/>
                        </a:rPr>
                        <a:t>mode_dock.cpp (ModeDock)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use Rover/mode_dock.cpp:75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0">
                          <a:solidFill>
                            <a:srgbClr val="333333"/>
                          </a:solidFill>
                          <a:latin typeface="Courier New"/>
                        </a:rPr>
                        <a:t>mode_follow.cpp (ModeFollow)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use Rover/mode_follow.cpp:12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l">
                        <a:lnSpc>
                          <a:spcPct val="106000"/>
                        </a:lnSpc>
                        <a:spcAft>
                          <a:spcPts val="0"/>
                        </a:spcAft>
                      </a:pPr>
                      <a:r>
                        <a:rPr sz="1100" b="0">
                          <a:solidFill>
                            <a:srgbClr val="333333"/>
                          </a:solidFill>
                          <a:latin typeface="Courier New"/>
                        </a:rPr>
                        <a:t>mode_guided.cpp (ModeGuided)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use Rover/mode_guided.cpp:15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(9)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(9) (continued)</a:t>
            </a:r>
          </a:p>
        </p:txBody>
      </p:sp>
      <p:graphicFrame>
        <p:nvGraphicFramePr>
          <p:cNvPr id="6" name="Table 5"/>
          <p:cNvGraphicFramePr>
            <a:graphicFrameLocks noGrp="1"/>
          </p:cNvGraphicFramePr>
          <p:nvPr/>
        </p:nvGraphicFramePr>
        <p:xfrm>
          <a:off x="566928" y="1591056"/>
          <a:ext cx="11058144" cy="3342640"/>
        </p:xfrm>
        <a:graphic>
          <a:graphicData uri="http://schemas.openxmlformats.org/drawingml/2006/table">
            <a:tbl>
              <a:tblPr>
                <a:tableStyleId>{5C22544A-7EE6-4342-B048-85BDC9FD1C3A}</a:tableStyleId>
              </a:tblPr>
              <a:tblGrid>
                <a:gridCol w="2565400"/>
                <a:gridCol w="939800"/>
                <a:gridCol w="4620260"/>
                <a:gridCol w="2932430"/>
              </a:tblGrid>
              <a:tr h="417830">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l">
                        <a:lnSpc>
                          <a:spcPct val="106000"/>
                        </a:lnSpc>
                        <a:spcAft>
                          <a:spcPts val="0"/>
                        </a:spcAft>
                      </a:pPr>
                      <a:r>
                        <a:rPr sz="1100" b="0">
                          <a:solidFill>
                            <a:srgbClr val="333333"/>
                          </a:solidFill>
                          <a:latin typeface="Courier New"/>
                        </a:rPr>
                        <a:t>mode_hold.cpp (ModeHold)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Rover/mode.h:630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l">
                        <a:lnSpc>
                          <a:spcPct val="106000"/>
                        </a:lnSpc>
                        <a:spcAft>
                          <a:spcPts val="0"/>
                        </a:spcAft>
                      </a:pPr>
                      <a:r>
                        <a:rPr sz="1100" b="0">
                          <a:solidFill>
                            <a:srgbClr val="333333"/>
                          </a:solidFill>
                          <a:latin typeface="Courier New"/>
                        </a:rPr>
                        <a:t>mode_loiter.cpp (ModeLoiter)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use Rover/mode_loiter.cpp:6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0">
                          <a:solidFill>
                            <a:srgbClr val="333333"/>
                          </a:solidFill>
                          <a:latin typeface="Courier New"/>
                        </a:rPr>
                        <a:t>mode_manual.cpp (ModeManual)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Rover/mode.h:681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0">
                          <a:solidFill>
                            <a:srgbClr val="333333"/>
                          </a:solidFill>
                          <a:latin typeface="Courier New"/>
                        </a:rPr>
                        <a:t>mode_rtl.cpp (ModeRTL)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use Rover/mode_rtl.cpp:11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l">
                        <a:lnSpc>
                          <a:spcPct val="106000"/>
                        </a:lnSpc>
                        <a:spcAft>
                          <a:spcPts val="0"/>
                        </a:spcAft>
                      </a:pPr>
                      <a:r>
                        <a:rPr sz="1100" b="0">
                          <a:solidFill>
                            <a:srgbClr val="333333"/>
                          </a:solidFill>
                          <a:latin typeface="Courier New"/>
                        </a:rPr>
                        <a:t>mode_simple.cpp (ModeSimple)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0">
                          <a:solidFill>
                            <a:srgbClr val="333333"/>
                          </a:solidFill>
                          <a:latin typeface="Courier New"/>
                        </a:rPr>
                        <a:t>mode_smart_rtl.cpp (ModeSmartRTL)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use Rover/mode_smart_rtl.cpp:17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l">
                        <a:lnSpc>
                          <a:spcPct val="106000"/>
                        </a:lnSpc>
                        <a:spcAft>
                          <a:spcPts val="0"/>
                        </a:spcAft>
                      </a:pPr>
                      <a:r>
                        <a:rPr sz="1100" b="0">
                          <a:solidFill>
                            <a:srgbClr val="333333"/>
                          </a:solidFill>
                          <a:latin typeface="Courier New"/>
                        </a:rPr>
                        <a:t>mode_steering.cpp (ModeSteering)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Rover/mode.h:785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(10)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(10)</a:t>
            </a:r>
          </a:p>
        </p:txBody>
      </p:sp>
      <p:sp>
        <p:nvSpPr>
          <p:cNvPr id="6" name="TextBox 5"/>
          <p:cNvSpPr txBox="1"/>
          <p:nvPr/>
        </p:nvSpPr>
        <p:spPr>
          <a:xfrm>
            <a:off x="566928" y="1591056"/>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Sub flight modes PNT-gating matrix — 12 files (7 PNT-relevant, 5 checked-absence). Predicate: requires_GPS().</a:t>
            </a:r>
          </a:p>
        </p:txBody>
      </p:sp>
      <p:graphicFrame>
        <p:nvGraphicFramePr>
          <p:cNvPr id="7" name="Table 6"/>
          <p:cNvGraphicFramePr>
            <a:graphicFrameLocks noGrp="1"/>
          </p:cNvGraphicFramePr>
          <p:nvPr/>
        </p:nvGraphicFramePr>
        <p:xfrm>
          <a:off x="566928" y="1870100"/>
          <a:ext cx="11058144" cy="3458210"/>
        </p:xfrm>
        <a:graphic>
          <a:graphicData uri="http://schemas.openxmlformats.org/drawingml/2006/table">
            <a:tbl>
              <a:tblPr>
                <a:tableStyleId>{5C22544A-7EE6-4342-B048-85BDC9FD1C3A}</a:tableStyleId>
              </a:tblPr>
              <a:tblGrid>
                <a:gridCol w="2565400"/>
                <a:gridCol w="939800"/>
                <a:gridCol w="4620260"/>
                <a:gridCol w="2932430"/>
              </a:tblGrid>
              <a:tr h="417830">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l">
                        <a:lnSpc>
                          <a:spcPct val="106000"/>
                        </a:lnSpc>
                        <a:spcAft>
                          <a:spcPts val="0"/>
                        </a:spcAft>
                      </a:pPr>
                      <a:r>
                        <a:rPr sz="1100" b="0">
                          <a:solidFill>
                            <a:srgbClr val="333333"/>
                          </a:solidFill>
                          <a:latin typeface="Courier New"/>
                        </a:rPr>
                        <a:t>mode.cpp (Sub::set_mode() position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new_flightmode-&gt;requires_GPS() &amp;&amp; !sub.position_ok() rejects PNT modes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0">
                          <a:solidFill>
                            <a:srgbClr val="333333"/>
                          </a:solidFill>
                          <a:latin typeface="Courier New"/>
                        </a:rPr>
                        <a:t>mode_acro.cpp (ModeAcro)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ArduSub/mode.h:155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l">
                        <a:lnSpc>
                          <a:spcPct val="106000"/>
                        </a:lnSpc>
                        <a:spcAft>
                          <a:spcPts val="0"/>
                        </a:spcAft>
                      </a:pPr>
                      <a:r>
                        <a:rPr sz="1100" b="0">
                          <a:solidFill>
                            <a:srgbClr val="333333"/>
                          </a:solidFill>
                          <a:latin typeface="Courier New"/>
                        </a:rPr>
                        <a:t>mode_althold.cpp (ModeAlthold)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ArduSub/mode.h:201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l">
                        <a:lnSpc>
                          <a:spcPct val="106000"/>
                        </a:lnSpc>
                        <a:spcAft>
                          <a:spcPts val="0"/>
                        </a:spcAft>
                      </a:pPr>
                      <a:r>
                        <a:rPr sz="1100" b="0">
                          <a:solidFill>
                            <a:srgbClr val="333333"/>
                          </a:solidFill>
                          <a:latin typeface="Courier New"/>
                        </a:rPr>
                        <a:t>mode_auto.cpp (ModeAuto)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ArduSub/mode.h:314 · use ArduSub/mode_auto.cpp:11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l">
                        <a:lnSpc>
                          <a:spcPct val="106000"/>
                        </a:lnSpc>
                        <a:spcAft>
                          <a:spcPts val="0"/>
                        </a:spcAft>
                      </a:pPr>
                      <a:r>
                        <a:rPr sz="1100" b="0">
                          <a:solidFill>
                            <a:srgbClr val="333333"/>
                          </a:solidFill>
                          <a:latin typeface="Courier New"/>
                        </a:rPr>
                        <a:t>mode_circle.cpp (ModeCircle)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ArduSub/mode.h:382 · use ArduSub/mode_circle.cpp:10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l">
                        <a:lnSpc>
                          <a:spcPct val="106000"/>
                        </a:lnSpc>
                        <a:spcAft>
                          <a:spcPts val="0"/>
                        </a:spcAft>
                      </a:pPr>
                      <a:r>
                        <a:rPr sz="1100" b="0">
                          <a:solidFill>
                            <a:srgbClr val="333333"/>
                          </a:solidFill>
                          <a:latin typeface="Courier New"/>
                        </a:rPr>
                        <a:t>mode_guided.cpp (ModeGuided)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ArduSub/mode.h:260 · use ArduSub/mode_guided.cpp:34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(10)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(10) (continued)</a:t>
            </a:r>
          </a:p>
        </p:txBody>
      </p:sp>
      <p:graphicFrame>
        <p:nvGraphicFramePr>
          <p:cNvPr id="6" name="Table 5"/>
          <p:cNvGraphicFramePr>
            <a:graphicFrameLocks noGrp="1"/>
          </p:cNvGraphicFramePr>
          <p:nvPr/>
        </p:nvGraphicFramePr>
        <p:xfrm>
          <a:off x="566928" y="1591056"/>
          <a:ext cx="11058144" cy="3458210"/>
        </p:xfrm>
        <a:graphic>
          <a:graphicData uri="http://schemas.openxmlformats.org/drawingml/2006/table">
            <a:tbl>
              <a:tblPr>
                <a:tableStyleId>{5C22544A-7EE6-4342-B048-85BDC9FD1C3A}</a:tableStyleId>
              </a:tblPr>
              <a:tblGrid>
                <a:gridCol w="2565400"/>
                <a:gridCol w="939800"/>
                <a:gridCol w="4620260"/>
                <a:gridCol w="2932430"/>
              </a:tblGrid>
              <a:tr h="417830">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l">
                        <a:lnSpc>
                          <a:spcPct val="106000"/>
                        </a:lnSpc>
                        <a:spcAft>
                          <a:spcPts val="0"/>
                        </a:spcAft>
                      </a:pPr>
                      <a:r>
                        <a:rPr sz="1100" b="0">
                          <a:solidFill>
                            <a:srgbClr val="333333"/>
                          </a:solidFill>
                          <a:latin typeface="Courier New"/>
                        </a:rPr>
                        <a:t>mode_manual.cpp (ModeManual)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ArduSub/mode.h:132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0">
                          <a:solidFill>
                            <a:srgbClr val="333333"/>
                          </a:solidFill>
                          <a:latin typeface="Courier New"/>
                        </a:rPr>
                        <a:t>mode_motordetect.cpp (ModeMotordetect)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ArduSub/mode.h:427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l">
                        <a:lnSpc>
                          <a:spcPct val="106000"/>
                        </a:lnSpc>
                        <a:spcAft>
                          <a:spcPts val="0"/>
                        </a:spcAft>
                      </a:pPr>
                      <a:r>
                        <a:rPr sz="1100" b="0">
                          <a:solidFill>
                            <a:srgbClr val="333333"/>
                          </a:solidFill>
                          <a:latin typeface="Courier New"/>
                        </a:rPr>
                        <a:t>mode_poshold.cpp (ModePoshold)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ArduSub/mode.h:355 · use ArduSub/mode_poshold.cpp:13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l">
                        <a:lnSpc>
                          <a:spcPct val="106000"/>
                        </a:lnSpc>
                        <a:spcAft>
                          <a:spcPts val="0"/>
                        </a:spcAft>
                      </a:pPr>
                      <a:r>
                        <a:rPr sz="1100" b="0">
                          <a:solidFill>
                            <a:srgbClr val="333333"/>
                          </a:solidFill>
                          <a:latin typeface="Courier New"/>
                        </a:rPr>
                        <a:t>mode_stabilize.cpp (ModeStabilize)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ArduSub/mode.h:178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30">
                <a:tc>
                  <a:txBody>
                    <a:bodyPr wrap="square">
                      <a:noAutofit/>
                    </a:bodyPr>
                    <a:lstStyle/>
                    <a:p>
                      <a:pPr algn="l">
                        <a:lnSpc>
                          <a:spcPct val="106000"/>
                        </a:lnSpc>
                        <a:spcAft>
                          <a:spcPts val="0"/>
                        </a:spcAft>
                      </a:pPr>
                      <a:r>
                        <a:rPr sz="1100" b="0">
                          <a:solidFill>
                            <a:srgbClr val="333333"/>
                          </a:solidFill>
                          <a:latin typeface="Courier New"/>
                        </a:rPr>
                        <a:t>mode_surface.cpp (ModeSurface)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(wp_nav ×1;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Courier New"/>
                        </a:rPr>
                        <a:t>ArduSub/mode.h:404 · use ArduSub/mode_surface.cpp:54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30">
                <a:tc>
                  <a:txBody>
                    <a:bodyPr wrap="square">
                      <a:noAutofit/>
                    </a:bodyPr>
                    <a:lstStyle/>
                    <a:p>
                      <a:pPr algn="l">
                        <a:lnSpc>
                          <a:spcPct val="106000"/>
                        </a:lnSpc>
                        <a:spcAft>
                          <a:spcPts val="0"/>
                        </a:spcAft>
                      </a:pPr>
                      <a:r>
                        <a:rPr sz="1100" b="0">
                          <a:solidFill>
                            <a:srgbClr val="333333"/>
                          </a:solidFill>
                          <a:latin typeface="Courier New"/>
                        </a:rPr>
                        <a:t>mode_surftrak.cpp (ModeSurftrak)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×3;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Courier New"/>
                        </a:rPr>
                        <a:t>ArduSub/mode.h:201 · use ArduSub/mode_surftrak.cpp:91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PROVENANCE  ·  THE AUDIT’S OWN GUARANTEE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Provenance, in the audit’s own words</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QUOTED FROM THE AUDIT’S EXECUTIVE SUMMARY</a:t>
            </a:r>
          </a:p>
        </p:txBody>
      </p:sp>
      <p:sp>
        <p:nvSpPr>
          <p:cNvPr id="7" name="Rectangle 6"/>
          <p:cNvSpPr/>
          <p:nvPr/>
        </p:nvSpPr>
        <p:spPr>
          <a:xfrm>
            <a:off x="566928" y="1761896"/>
            <a:ext cx="32004" cy="912837"/>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13232" y="1761896"/>
            <a:ext cx="10856976" cy="912837"/>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“Provenance. This Executive Summary is derived entirely from the findings already catalogued in this document — the numbered tables, the instance mapping and the registers that follow — and no new static analysis of the ArduPilot codebase was performed to produce it. Every figure above is a reconciled total of that catalog, and every cited path:line reference in this document is unchanged: none was re-derived, re-scored or re-verified for this summary.”</a:t>
            </a:r>
          </a:p>
        </p:txBody>
      </p:sp>
      <p:sp>
        <p:nvSpPr>
          <p:cNvPr id="9" name="TextBox 8"/>
          <p:cNvSpPr txBox="1"/>
          <p:nvPr/>
        </p:nvSpPr>
        <p:spPr>
          <a:xfrm>
            <a:off x="566928" y="2875901"/>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WHAT THAT MEANS FOR THIS DECK</a:t>
            </a:r>
          </a:p>
        </p:txBody>
      </p:sp>
      <p:sp>
        <p:nvSpPr>
          <p:cNvPr id="10" name="TextBox 9"/>
          <p:cNvSpPr txBox="1"/>
          <p:nvPr/>
        </p:nvSpPr>
        <p:spPr>
          <a:xfrm>
            <a:off x="566928" y="3101605"/>
            <a:ext cx="11003280" cy="2855125"/>
          </a:xfrm>
          <a:prstGeom prst="rect">
            <a:avLst/>
          </a:prstGeom>
          <a:noFill/>
        </p:spPr>
        <p:txBody>
          <a:bodyPr wrap="square" lIns="0" rIns="0" tIns="0" bIns="0" anchor="t">
            <a:noAutofit/>
          </a:bodyPr>
          <a:lstStyle/>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This deck adds no finding and no score: every audit-derived figure is preserved exactly as the audit states it, and every row is the audit’s row.</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Where a figure is the deck’s own rather than the audit’s, the slide that carries it says so: the roll-up of the audit’s own Dependency Type column across the Layer 1 rows is labelled a roll-up, and the reconciliation’s deck-coverage column and slide locators are labelled as this deck’s own navigation metadata.</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No cited path:line reference was re-derived, re-scored or re-verified for this deck, and the audit’s line-number-basis notes are quoted, not reconciled.</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The audit’s own flag tokens, [FIX F*] markers and AAP cross-references are transcribed exactly as printed, including where their referents lie outside the document.</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The source PDF is unchanged: it was read, never rewritten, re-rendered or regenerated.</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SOURCE-TO-DECK COVERAGE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reconciliation</a:t>
            </a: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construct in the source, the figure the audit states for it, and the slides that carry it. Read across a row to check the audit’s own figure against the slides that represent it.</a:t>
            </a:r>
          </a:p>
        </p:txBody>
      </p:sp>
      <p:graphicFrame>
        <p:nvGraphicFramePr>
          <p:cNvPr id="7" name="Table 6"/>
          <p:cNvGraphicFramePr>
            <a:graphicFrameLocks noGrp="1"/>
          </p:cNvGraphicFramePr>
          <p:nvPr/>
        </p:nvGraphicFramePr>
        <p:xfrm>
          <a:off x="566928" y="2099945"/>
          <a:ext cx="11058144" cy="3415723"/>
        </p:xfrm>
        <a:graphic>
          <a:graphicData uri="http://schemas.openxmlformats.org/drawingml/2006/table">
            <a:tbl>
              <a:tblPr>
                <a:tableStyleId>{5C22544A-7EE6-4342-B048-85BDC9FD1C3A}</a:tableStyleId>
              </a:tblPr>
              <a:tblGrid>
                <a:gridCol w="5026429"/>
                <a:gridCol w="1553623"/>
                <a:gridCol w="1462233"/>
                <a:gridCol w="1370844"/>
                <a:gridCol w="1645015"/>
              </a:tblGrid>
              <a:tr h="240219">
                <a:tc>
                  <a:txBody>
                    <a:bodyPr wrap="square">
                      <a:noAutofit/>
                    </a:bodyPr>
                    <a:lstStyle/>
                    <a:p>
                      <a:pPr algn="l">
                        <a:lnSpc>
                          <a:spcPct val="106000"/>
                        </a:lnSpc>
                        <a:spcAft>
                          <a:spcPts val="0"/>
                        </a:spcAft>
                      </a:pPr>
                      <a:r>
                        <a:rPr sz="1100" b="1">
                          <a:solidFill>
                            <a:srgbClr val="333333"/>
                          </a:solidFill>
                          <a:latin typeface="Inter"/>
                        </a:rPr>
                        <a:t>Source construct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Stated by the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Deck coverage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Slides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0">
                          <a:solidFill>
                            <a:srgbClr val="333333"/>
                          </a:solidFill>
                          <a:latin typeface="Inter"/>
                        </a:rPr>
                        <a:t>Audit-Discipline Flags — taxonomy with the audit’s stated counts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Flag [SHARED-STRUCT] — every token occurrence, catalog-wide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4, 16–19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Flag [DUPLICATED] — every token occurrence, catalog-wide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4, 16, 20–23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Flag [CIRCULAR] — every token occurrence, catalog-wide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4, 16, 24–25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Flag [MULTI-CATEGORY] — every token occurrence, catalog-wide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4, 16, 26–27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Inter"/>
                        </a:rPr>
                        <a:t>Flag [ABSENT] — every token occurrence, catalog-wide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4, 16, 28–30, 212, 214–215, 220–222, 224–226, 228–232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The two touch-points named in superlative risk language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1 — Core Positioning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33–37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1 — Code Snippet (5-10 lines)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38–51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1a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52–54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1a — Layer 1 Code Snippet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55–67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5643880"/>
            <a:ext cx="11003280" cy="638175"/>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For a single-flag row, Stated by the audit is a token-occurrence figure: it counts occurrences of that token in the audit’s text, not the rows listed on the severity axis. The corpus is the Notes of every main row and every Layer 2 chain, the Legend entry that defines the flag and, for [ABSENT], the Coverage register’s checked absences, so the Slides column locates the Legend, the flags table, the severity-axis listing and the register.</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SOURCE-TO-DECK COVERAGE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reconciliation (continued)</a:t>
            </a:r>
          </a:p>
        </p:txBody>
      </p:sp>
      <p:graphicFrame>
        <p:nvGraphicFramePr>
          <p:cNvPr id="6" name="Table 5"/>
          <p:cNvGraphicFramePr>
            <a:graphicFrameLocks noGrp="1"/>
          </p:cNvGraphicFramePr>
          <p:nvPr/>
        </p:nvGraphicFramePr>
        <p:xfrm>
          <a:off x="566928" y="1591056"/>
          <a:ext cx="11058144" cy="3363066"/>
        </p:xfrm>
        <a:graphic>
          <a:graphicData uri="http://schemas.openxmlformats.org/drawingml/2006/table">
            <a:tbl>
              <a:tblPr>
                <a:tableStyleId>{5C22544A-7EE6-4342-B048-85BDC9FD1C3A}</a:tableStyleId>
              </a:tblPr>
              <a:tblGrid>
                <a:gridCol w="5026429"/>
                <a:gridCol w="1553623"/>
                <a:gridCol w="1462233"/>
                <a:gridCol w="1370844"/>
                <a:gridCol w="1645015"/>
              </a:tblGrid>
              <a:tr h="240219">
                <a:tc>
                  <a:txBody>
                    <a:bodyPr wrap="square">
                      <a:noAutofit/>
                    </a:bodyPr>
                    <a:lstStyle/>
                    <a:p>
                      <a:pPr algn="l">
                        <a:lnSpc>
                          <a:spcPct val="106000"/>
                        </a:lnSpc>
                        <a:spcAft>
                          <a:spcPts val="0"/>
                        </a:spcAft>
                      </a:pPr>
                      <a:r>
                        <a:rPr sz="1100" b="1">
                          <a:solidFill>
                            <a:srgbClr val="333333"/>
                          </a:solidFill>
                          <a:latin typeface="Inter"/>
                        </a:rPr>
                        <a:t>Source construct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Stated by the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Deck coverage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Slides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0">
                          <a:solidFill>
                            <a:srgbClr val="333333"/>
                          </a:solidFill>
                          <a:latin typeface="Inter"/>
                        </a:rPr>
                        <a:t>Table 1a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68–77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2 — Core Navigation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79–85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2 — Code Snippet (5-10 lines)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86–99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2a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100–102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2a — Layer 1 Code Snippet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103–116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2a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117–121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3 — Core Timing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123–124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3 — Code Snippet (5-10 lines)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125–129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3a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130–131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3a — Layer 1 Code Snippet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132–136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3a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137–138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4 — Indirect Positioning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140–143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4 — Code Snippet (5-10 lines)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144–149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SOURCE-TO-DECK COVERAGE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reconciliation (continued)</a:t>
            </a:r>
          </a:p>
        </p:txBody>
      </p:sp>
      <p:graphicFrame>
        <p:nvGraphicFramePr>
          <p:cNvPr id="6" name="Table 5"/>
          <p:cNvGraphicFramePr>
            <a:graphicFrameLocks noGrp="1"/>
          </p:cNvGraphicFramePr>
          <p:nvPr/>
        </p:nvGraphicFramePr>
        <p:xfrm>
          <a:off x="566928" y="1591056"/>
          <a:ext cx="11058144" cy="3363066"/>
        </p:xfrm>
        <a:graphic>
          <a:graphicData uri="http://schemas.openxmlformats.org/drawingml/2006/table">
            <a:tbl>
              <a:tblPr>
                <a:tableStyleId>{5C22544A-7EE6-4342-B048-85BDC9FD1C3A}</a:tableStyleId>
              </a:tblPr>
              <a:tblGrid>
                <a:gridCol w="5026429"/>
                <a:gridCol w="1553623"/>
                <a:gridCol w="1462233"/>
                <a:gridCol w="1370844"/>
                <a:gridCol w="1645015"/>
              </a:tblGrid>
              <a:tr h="240219">
                <a:tc>
                  <a:txBody>
                    <a:bodyPr wrap="square">
                      <a:noAutofit/>
                    </a:bodyPr>
                    <a:lstStyle/>
                    <a:p>
                      <a:pPr algn="l">
                        <a:lnSpc>
                          <a:spcPct val="106000"/>
                        </a:lnSpc>
                        <a:spcAft>
                          <a:spcPts val="0"/>
                        </a:spcAft>
                      </a:pPr>
                      <a:r>
                        <a:rPr sz="1100" b="1">
                          <a:solidFill>
                            <a:srgbClr val="333333"/>
                          </a:solidFill>
                          <a:latin typeface="Inter"/>
                        </a:rPr>
                        <a:t>Source construct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Stated by the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Deck coverage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Slides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0">
                          <a:solidFill>
                            <a:srgbClr val="333333"/>
                          </a:solidFill>
                          <a:latin typeface="Inter"/>
                        </a:rPr>
                        <a:t>Table 4a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150–151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4a — Layer 1 Code Snippet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152–156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4a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157–158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5 — Indirect Navigation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160–163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5 — Code Snippet (5-10 lines)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164–169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5a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170–171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5a — Layer 1 Code Snippet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172–176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5a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177–178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6 — Indirect Timing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180–186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6 — Code Snippet (5-10 lines)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187–192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6a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193–194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6a — Layer 1 Code Snippet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195–199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6a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200–202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SOURCE-TO-DECK COVERAGE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reconciliation (continued)</a:t>
            </a:r>
          </a:p>
        </p:txBody>
      </p:sp>
      <p:graphicFrame>
        <p:nvGraphicFramePr>
          <p:cNvPr id="6" name="Table 5"/>
          <p:cNvGraphicFramePr>
            <a:graphicFrameLocks noGrp="1"/>
          </p:cNvGraphicFramePr>
          <p:nvPr/>
        </p:nvGraphicFramePr>
        <p:xfrm>
          <a:off x="566928" y="1591056"/>
          <a:ext cx="11058144" cy="3363066"/>
        </p:xfrm>
        <a:graphic>
          <a:graphicData uri="http://schemas.openxmlformats.org/drawingml/2006/table">
            <a:tbl>
              <a:tblPr>
                <a:tableStyleId>{5C22544A-7EE6-4342-B048-85BDC9FD1C3A}</a:tableStyleId>
              </a:tblPr>
              <a:tblGrid>
                <a:gridCol w="5026429"/>
                <a:gridCol w="1553623"/>
                <a:gridCol w="1462233"/>
                <a:gridCol w="1370844"/>
                <a:gridCol w="1645015"/>
              </a:tblGrid>
              <a:tr h="240219">
                <a:tc>
                  <a:txBody>
                    <a:bodyPr wrap="square">
                      <a:noAutofit/>
                    </a:bodyPr>
                    <a:lstStyle/>
                    <a:p>
                      <a:pPr algn="l">
                        <a:lnSpc>
                          <a:spcPct val="106000"/>
                        </a:lnSpc>
                        <a:spcAft>
                          <a:spcPts val="0"/>
                        </a:spcAft>
                      </a:pPr>
                      <a:r>
                        <a:rPr sz="1100" b="1">
                          <a:solidFill>
                            <a:srgbClr val="333333"/>
                          </a:solidFill>
                          <a:latin typeface="Inter"/>
                        </a:rPr>
                        <a:t>Source construct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Stated by the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Deck coverage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Slides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0">
                          <a:solidFill>
                            <a:srgbClr val="333333"/>
                          </a:solidFill>
                          <a:latin typeface="Inter"/>
                        </a:rPr>
                        <a:t>Layer 1 Dependency Type roll-up, every Layer 1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Roll-up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203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Layer 2 Chain Depth ranges, one per sub-table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Roll-up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204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PNT Instance Audit — every mapping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Instance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206–207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(1)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212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(2)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213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(3)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214–215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(4)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216–217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(5)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218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(6)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219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(7)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220–224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(8)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225–228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(9)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Courier New"/>
                        </a:rPr>
                        <a:t>229–230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(10)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Courier New"/>
                        </a:rPr>
                        <a:t>231–232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TOTALS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totals, reconciled</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Each total the audit states, beside the number of rows this deck actually carries.</a:t>
            </a:r>
          </a:p>
        </p:txBody>
      </p:sp>
      <p:graphicFrame>
        <p:nvGraphicFramePr>
          <p:cNvPr id="7" name="Table 6"/>
          <p:cNvGraphicFramePr>
            <a:graphicFrameLocks noGrp="1"/>
          </p:cNvGraphicFramePr>
          <p:nvPr/>
        </p:nvGraphicFramePr>
        <p:xfrm>
          <a:off x="566928" y="1852079"/>
          <a:ext cx="11058144" cy="2438343"/>
        </p:xfrm>
        <a:graphic>
          <a:graphicData uri="http://schemas.openxmlformats.org/drawingml/2006/table">
            <a:tbl>
              <a:tblPr>
                <a:tableStyleId>{5C22544A-7EE6-4342-B048-85BDC9FD1C3A}</a:tableStyleId>
              </a:tblPr>
              <a:tblGrid>
                <a:gridCol w="5757546"/>
                <a:gridCol w="2741688"/>
                <a:gridCol w="2558910"/>
              </a:tblGrid>
              <a:tr h="270927">
                <a:tc>
                  <a:txBody>
                    <a:bodyPr wrap="square">
                      <a:noAutofit/>
                    </a:bodyPr>
                    <a:lstStyle/>
                    <a:p>
                      <a:pPr algn="l">
                        <a:lnSpc>
                          <a:spcPct val="106000"/>
                        </a:lnSpc>
                        <a:spcAft>
                          <a:spcPts val="0"/>
                        </a:spcAft>
                      </a:pPr>
                      <a:r>
                        <a:rPr sz="1300" b="1">
                          <a:solidFill>
                            <a:srgbClr val="333333"/>
                          </a:solidFill>
                          <a:latin typeface="Inter"/>
                        </a:rPr>
                        <a:t>Reconciled total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As the audit states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Deck coverage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70927">
                <a:tc>
                  <a:txBody>
                    <a:bodyPr wrap="square">
                      <a:noAutofit/>
                    </a:bodyPr>
                    <a:lstStyle/>
                    <a:p>
                      <a:pPr algn="l">
                        <a:lnSpc>
                          <a:spcPct val="106000"/>
                        </a:lnSpc>
                        <a:spcAft>
                          <a:spcPts val="0"/>
                        </a:spcAft>
                      </a:pPr>
                      <a:r>
                        <a:rPr sz="1300" b="0">
                          <a:solidFill>
                            <a:srgbClr val="333333"/>
                          </a:solidFill>
                          <a:latin typeface="Inter"/>
                        </a:rPr>
                        <a:t>Core references (Tables 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Courier New"/>
                        </a:rPr>
                        <a:t>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Courier New"/>
                        </a:rPr>
                        <a:t>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0">
                          <a:solidFill>
                            <a:srgbClr val="333333"/>
                          </a:solidFill>
                          <a:latin typeface="Inter"/>
                        </a:rPr>
                        <a:t>Indirect references (Tables 4–6)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Courier New"/>
                        </a:rPr>
                        <a:t>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1">
                          <a:solidFill>
                            <a:srgbClr val="333333"/>
                          </a:solidFill>
                          <a:latin typeface="Courier New"/>
                        </a:rPr>
                        <a:t>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0">
                          <a:solidFill>
                            <a:srgbClr val="333333"/>
                          </a:solidFill>
                          <a:latin typeface="Inter"/>
                        </a:rPr>
                        <a:t>Total catalogued main 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Courier New"/>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Courier New"/>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0">
                          <a:solidFill>
                            <a:srgbClr val="333333"/>
                          </a:solidFill>
                          <a:latin typeface="Inter"/>
                        </a:rPr>
                        <a:t>Evidence rows (main + Layer 1 + Layer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Courier New"/>
                        </a:rPr>
                        <a:t>282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1">
                          <a:solidFill>
                            <a:srgbClr val="333333"/>
                          </a:solidFill>
                          <a:latin typeface="Courier New"/>
                        </a:rPr>
                        <a:t>282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0">
                          <a:solidFill>
                            <a:srgbClr val="333333"/>
                          </a:solidFill>
                          <a:latin typeface="Inter"/>
                        </a:rPr>
                        <a:t>Main-row Code Snippet (5-10 lines) cells,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Courier New"/>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Courier New"/>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0">
                          <a:solidFill>
                            <a:srgbClr val="333333"/>
                          </a:solidFill>
                          <a:latin typeface="Inter"/>
                        </a:rPr>
                        <a:t>Layer 1 Code Snippet cells,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Courier New"/>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1">
                          <a:solidFill>
                            <a:srgbClr val="333333"/>
                          </a:solidFill>
                          <a:latin typeface="Courier New"/>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0">
                          <a:solidFill>
                            <a:srgbClr val="333333"/>
                          </a:solidFill>
                          <a:latin typeface="Inter"/>
                        </a:rPr>
                        <a:t>Coverage register entries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Courier New"/>
                        </a:rPr>
                        <a:t>109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Courier New"/>
                        </a:rPr>
                        <a:t>109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0">
                          <a:solidFill>
                            <a:srgbClr val="333333"/>
                          </a:solidFill>
                          <a:latin typeface="Inter"/>
                        </a:rPr>
                        <a:t>Current → new service mapping 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Courier New"/>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1">
                          <a:solidFill>
                            <a:srgbClr val="333333"/>
                          </a:solidFill>
                          <a:latin typeface="Courier New"/>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4491590"/>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EVERY COLUMN OF THE SOURCE TABLES, SET ON A SLIDE</a:t>
            </a:r>
          </a:p>
        </p:txBody>
      </p:sp>
      <p:sp>
        <p:nvSpPr>
          <p:cNvPr id="9" name="TextBox 8"/>
          <p:cNvSpPr txBox="1"/>
          <p:nvPr/>
        </p:nvSpPr>
        <p:spPr>
          <a:xfrm>
            <a:off x="566928" y="4717294"/>
            <a:ext cx="11003280" cy="744093"/>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Every column of every source table is carried on these slides, Code Snippet (5-10 lines) included: each main row and each Layer 1 edge has its own cell set out verbatim, one paragraph per source line, under the File Path and Line(s) the audit prints for it. Nothing is abbreviated, summarised or left at its citation.</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1225296"/>
            <a:ext cx="10424160" cy="659739"/>
          </a:xfrm>
          <a:prstGeom prst="rect">
            <a:avLst/>
          </a:prstGeom>
          <a:noFill/>
        </p:spPr>
        <p:txBody>
          <a:bodyPr wrap="square" lIns="0" rIns="0" tIns="0" bIns="0" anchor="t">
            <a:noAutofit/>
          </a:bodyPr>
          <a:lstStyle/>
          <a:p>
            <a:pPr algn="l">
              <a:lnSpc>
                <a:spcPct val="108000"/>
              </a:lnSpc>
              <a:spcAft>
                <a:spcPts val="0"/>
              </a:spcAft>
            </a:pPr>
            <a:r>
              <a:rPr sz="3600" b="1">
                <a:solidFill>
                  <a:srgbClr val="FFFFFF"/>
                </a:solidFill>
                <a:latin typeface="Space Grotesk"/>
              </a:rPr>
              <a:t>Every finding, exactly as catalogued</a:t>
            </a:r>
          </a:p>
        </p:txBody>
      </p:sp>
      <p:sp>
        <p:nvSpPr>
          <p:cNvPr id="3" name="TextBox 2"/>
          <p:cNvSpPr txBox="1"/>
          <p:nvPr/>
        </p:nvSpPr>
        <p:spPr>
          <a:xfrm>
            <a:off x="566928" y="2159355"/>
            <a:ext cx="8412480" cy="2214676"/>
          </a:xfrm>
          <a:prstGeom prst="rect">
            <a:avLst/>
          </a:prstGeom>
          <a:noFill/>
        </p:spPr>
        <p:txBody>
          <a:bodyPr wrap="square" lIns="0" rIns="0" tIns="0" bIns="0" anchor="t">
            <a:noAutofit/>
          </a:bodyPr>
          <a:lstStyle/>
          <a:p>
            <a:pPr algn="l" marL="228600" indent="-228600">
              <a:lnSpc>
                <a:spcPct val="124000"/>
              </a:lnSpc>
              <a:spcAft>
                <a:spcPts val="1200"/>
              </a:spcAft>
              <a:buClr>
                <a:srgbClr val="FFFFFF"/>
              </a:buClr>
              <a:buSzPct val="100000"/>
              <a:buFont typeface="Inter"/>
              <a:buChar char="•"/>
            </a:pPr>
            <a:r>
              <a:rPr sz="1600" b="0">
                <a:solidFill>
                  <a:srgbClr val="FFFFFF"/>
                </a:solidFill>
                <a:latin typeface="Inter"/>
              </a:rPr>
              <a:t>Both axes are the audit’s own: its Audit-Discipline Flags for severity, its Group and pillar structure for category.</a:t>
            </a:r>
          </a:p>
          <a:p>
            <a:pPr algn="l" marL="228600" indent="-228600">
              <a:lnSpc>
                <a:spcPct val="124000"/>
              </a:lnSpc>
              <a:spcAft>
                <a:spcPts val="1200"/>
              </a:spcAft>
              <a:buClr>
                <a:srgbClr val="FFFFFF"/>
              </a:buClr>
              <a:buSzPct val="100000"/>
              <a:buFont typeface="Inter"/>
              <a:buChar char="•"/>
            </a:pPr>
            <a:r>
              <a:rPr sz="1600" b="0">
                <a:solidFill>
                  <a:srgbClr val="FFFFFF"/>
                </a:solidFill>
                <a:latin typeface="Inter"/>
              </a:rPr>
              <a:t>Every audit-derived figure is preserved exactly as stated; every row keeps its own number, citation and Notes text.</a:t>
            </a:r>
          </a:p>
          <a:p>
            <a:pPr algn="l" marL="228600" indent="-228600">
              <a:lnSpc>
                <a:spcPct val="124000"/>
              </a:lnSpc>
              <a:spcAft>
                <a:spcPts val="1200"/>
              </a:spcAft>
              <a:buClr>
                <a:srgbClr val="FFFFFF"/>
              </a:buClr>
              <a:buSzPct val="100000"/>
              <a:buFont typeface="Inter"/>
              <a:buChar char="•"/>
            </a:pPr>
            <a:r>
              <a:rPr sz="1600" b="0">
                <a:solidFill>
                  <a:srgbClr val="FFFFFF"/>
                </a:solidFill>
                <a:latin typeface="Inter"/>
              </a:rPr>
              <a:t>The source of record stays exactly as it is: ArduPilot_PNT_Reference_Audit.pdf at audited HEAD 5b67e27b0a.</a:t>
            </a:r>
          </a:p>
        </p:txBody>
      </p:sp>
      <p:sp>
        <p:nvSpPr>
          <p:cNvPr id="4" name="Rectangle 3"/>
          <p:cNvSpPr/>
          <p:nvPr/>
        </p:nvSpPr>
        <p:spPr>
          <a:xfrm>
            <a:off x="566928" y="4846320"/>
            <a:ext cx="420624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5102352"/>
            <a:ext cx="3840480" cy="347472"/>
          </a:xfrm>
          <a:prstGeom prst="rect">
            <a:avLst/>
          </a:prstGeom>
          <a:noFill/>
        </p:spPr>
        <p:txBody>
          <a:bodyPr wrap="square" lIns="0" rIns="0" tIns="0" bIns="0" anchor="t">
            <a:noAutofit/>
          </a:bodyPr>
          <a:lstStyle/>
          <a:p>
            <a:pPr algn="l">
              <a:lnSpc>
                <a:spcPct val="100000"/>
              </a:lnSpc>
              <a:spcAft>
                <a:spcPts val="0"/>
              </a:spcAft>
            </a:pPr>
            <a:r>
              <a:rPr sz="1600" b="1">
                <a:solidFill>
                  <a:srgbClr val="94FAD5"/>
                </a:solidFill>
                <a:latin typeface="Space Grotesk"/>
              </a:rPr>
              <a:t>Blitzy</a:t>
            </a:r>
          </a:p>
        </p:txBody>
      </p:sp>
      <p:sp>
        <p:nvSpPr>
          <p:cNvPr id="6" name="TextBox 5"/>
          <p:cNvSpPr txBox="1"/>
          <p:nvPr/>
        </p:nvSpPr>
        <p:spPr>
          <a:xfrm>
            <a:off x="566928" y="5522976"/>
            <a:ext cx="11058144" cy="214960"/>
          </a:xfrm>
          <a:prstGeom prst="rect">
            <a:avLst/>
          </a:prstGeom>
          <a:noFill/>
        </p:spPr>
        <p:txBody>
          <a:bodyPr wrap="square" lIns="0" rIns="0" tIns="0" bIns="0" anchor="t">
            <a:noAutofit/>
          </a:bodyPr>
          <a:lstStyle/>
          <a:p>
            <a:pPr algn="l">
              <a:lnSpc>
                <a:spcPct val="100000"/>
              </a:lnSpc>
              <a:spcAft>
                <a:spcPts val="0"/>
              </a:spcAft>
            </a:pPr>
            <a:r>
              <a:rPr sz="1400" b="0">
                <a:solidFill>
                  <a:srgbClr val="94FAD5"/>
                </a:solidFill>
                <a:latin typeface="Inter"/>
              </a:rPr>
              <a:t>ArduPilot PNT (Positioning, Navigation, Timing) Reference Audit  ·  43 pages  ·  94 catalogued references  ·  282 evidence rows</a:t>
            </a:r>
          </a:p>
        </p:txBody>
      </p:sp>
    </p:spTree>
  </p:cSld>
  <p:clrMapOvr>
    <a:masterClrMapping/>
  </p:clrMapOvr>
</p:sld>
</file>

<file path=ppt/theme/theme1.xml><?xml version="1.0" encoding="utf-8"?>
<a:theme xmlns:a="http://schemas.openxmlformats.org/drawingml/2006/main" name="Blitzy Presentation">
  <a:themeElements>
    <a:clrScheme name="Blitzy">
      <a:dk1>
        <a:srgbClr val="333333"/>
      </a:dk1>
      <a:lt1>
        <a:srgbClr val="FFFFFF"/>
      </a:lt1>
      <a:dk2>
        <a:srgbClr val="1A105F"/>
      </a:dk2>
      <a:lt2>
        <a:srgbClr val="F4EFF6"/>
      </a:lt2>
      <a:accent1>
        <a:srgbClr val="5B39F3"/>
      </a:accent1>
      <a:accent2>
        <a:srgbClr val="7A6DEC"/>
      </a:accent2>
      <a:accent3>
        <a:srgbClr val="4101DB"/>
      </a:accent3>
      <a:accent4>
        <a:srgbClr val="2D1C77"/>
      </a:accent4>
      <a:accent5>
        <a:srgbClr val="94FAD5"/>
      </a:accent5>
      <a:accent6>
        <a:srgbClr val="999999"/>
      </a:accent6>
      <a:hlink>
        <a:srgbClr val="5B39F3"/>
      </a:hlink>
      <a:folHlink>
        <a:srgbClr val="2D1C77"/>
      </a:folHlink>
    </a:clrScheme>
    <a:fontScheme name="Blitzy">
      <a:majorFont>
        <a:latin typeface="Space Grotesk"/>
        <a:ea typeface=""/>
        <a:cs typeface=""/>
      </a:majorFont>
      <a:minorFont>
        <a:latin typeface="Inter"/>
        <a:ea typeface=""/>
        <a:cs typeface=""/>
      </a:minorFont>
    </a:fontScheme>
    <a:fmtScheme name="Blitzy">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33741</Words>
  <PresentationFormat>Widescreen</PresentationFormat>
  <Paragraphs>7022</Paragraphs>
  <Slides>239</Slides>
  <Notes>0</Notes>
  <HiddenSlides>0</HiddenSlides>
  <MMClips>0</MMClips>
  <ScaleCrop>false</ScaleCrop>
  <HeadingPairs>
    <vt:vector size="4" baseType="variant">
      <vt:variant>
        <vt:lpstr>Theme</vt:lpstr>
      </vt:variant>
      <vt:variant>
        <vt:i4>1</vt:i4>
      </vt:variant>
      <vt:variant>
        <vt:lpstr>Slide Titles</vt:lpstr>
      </vt:variant>
      <vt:variant>
        <vt:i4>239</vt:i4>
      </vt:variant>
    </vt:vector>
  </HeadingPairs>
  <TitlesOfParts>
    <vt:vector size="240" baseType="lpstr">
      <vt:lpstr>Blitzy Presentation</vt:lpstr>
      <vt:lpstr>ArduPilot PNT (Positioning, Navigation, Timing) Reference Audit</vt:lpstr>
      <vt:lpstr>How to read this deck</vt:lpstr>
      <vt:lpstr>The audit at a glance</vt:lpstr>
      <vt:lpstr>Legend</vt:lpstr>
      <vt:lpstr>Scope of the catalog</vt:lpstr>
      <vt:lpstr>Footprint Summary</vt:lpstr>
      <vt:lpstr>Project overview and the core problem addressed</vt:lpstr>
      <vt:lpstr>Project overview and the core problem addressed (continued)</vt:lpstr>
      <vt:lpstr>Key Stakeholders and Users</vt:lpstr>
      <vt:lpstr>Which part of this deck each audience needs</vt:lpstr>
      <vt:lpstr>Key Findings at a Glance</vt:lpstr>
      <vt:lpstr>Key Findings at a Glance (continued)</vt:lpstr>
      <vt:lpstr>Expected Impact and Value Proposition</vt:lpstr>
      <vt:lpstr>Document Roadmap / How to Read This Document</vt:lpstr>
      <vt:lpstr>Severity axis</vt:lpstr>
      <vt:lpstr>Audit-Discipline Flags</vt:lpstr>
      <vt:lpstr>Flag [SHARED-STRUCT] – where it is applied</vt:lpstr>
      <vt:lpstr>Flag [SHARED-STRUCT] (continued)</vt:lpstr>
      <vt:lpstr>Flag [SHARED-STRUCT] in the Layer 2 chains</vt:lpstr>
      <vt:lpstr>Flag [DUPLICATED] – where it is applied</vt:lpstr>
      <vt:lpstr>Flag [DUPLICATED] (continued)</vt:lpstr>
      <vt:lpstr>Flag [DUPLICATED] in the Layer 2 chains</vt:lpstr>
      <vt:lpstr>Flag [DUPLICATED] in the Layer 2 chains (continued)</vt:lpstr>
      <vt:lpstr>Flag [CIRCULAR] – where it is applied</vt:lpstr>
      <vt:lpstr>Flag [CIRCULAR] in the Layer 2 chains</vt:lpstr>
      <vt:lpstr>Flag [MULTI-CATEGORY] – where it is applied</vt:lpstr>
      <vt:lpstr>Flag [MULTI-CATEGORY] in the Layer 2 chains</vt:lpstr>
      <vt:lpstr>Flag [ABSENT] – where it is applied</vt:lpstr>
      <vt:lpstr>Flag [ABSENT] in the Layer 2 chains</vt:lpstr>
      <vt:lpstr>Flag [ABSENT] – the checked absences</vt:lpstr>
      <vt:lpstr>The two touch-points the audit itself singles out</vt:lpstr>
      <vt:lpstr>Table 1 — Core Positioning</vt:lpstr>
      <vt:lpstr>Table 1 — Core Positioning</vt:lpstr>
      <vt:lpstr>Table 1 — Core Positioning (continued)</vt:lpstr>
      <vt:lpstr>Table 1 — Core Positioning (continued)</vt:lpstr>
      <vt:lpstr>Table 1 — Core Positioning (continued)</vt:lpstr>
      <vt:lpstr>Table 1 — Core Positioning (continued)</vt:lpstr>
      <vt:lpstr>Table 1 — Code Snippet (5-10 lines)</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1a — Layer 1 dependency map</vt:lpstr>
      <vt:lpstr>Table 1a — Layer 1 dependency map (continued)</vt:lpstr>
      <vt:lpstr>Table 1a — Layer 1 dependency map (continued)</vt:lpstr>
      <vt:lpstr>Table 1a — Layer 1 Code Snippet</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2 transitive chains</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2 — Core Navigation</vt:lpstr>
      <vt:lpstr>Table 2 — Core Navigation</vt:lpstr>
      <vt:lpstr>Table 2 — Core Navigation (continued)</vt:lpstr>
      <vt:lpstr>Table 2 — Core Navigation (continued)</vt:lpstr>
      <vt:lpstr>Table 2 — Core Navigation (continued)</vt:lpstr>
      <vt:lpstr>Table 2 — Core Navigation (continued)</vt:lpstr>
      <vt:lpstr>Table 2 — Core Navigation (continued)</vt:lpstr>
      <vt:lpstr>Table 2 — Core Navigation (continued)</vt:lpstr>
      <vt:lpstr>Table 2 — Code Snippet (5-10 lines)</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2a — Layer 1 dependency map</vt:lpstr>
      <vt:lpstr>Table 2a — Layer 1 dependency map (continued)</vt:lpstr>
      <vt:lpstr>Table 2a — Layer 1 dependency map (continued)</vt:lpstr>
      <vt:lpstr>Table 2a — Layer 1 Code Snippet</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2 transitive chains</vt:lpstr>
      <vt:lpstr>Table 2a — Layer 2 transitive chains (continued)</vt:lpstr>
      <vt:lpstr>Table 2a — Layer 2 transitive chains (continued)</vt:lpstr>
      <vt:lpstr>Table 2a — Layer 2 transitive chains (continued)</vt:lpstr>
      <vt:lpstr>Table 2a — Layer 2 transitive chains (continued)</vt:lpstr>
      <vt:lpstr>Table 3 — Core Timing</vt:lpstr>
      <vt:lpstr>Table 3 — Core Timing</vt:lpstr>
      <vt:lpstr>Table 3 — Core Timing (continued)</vt:lpstr>
      <vt:lpstr>Table 3 — Code Snippet (5-10 lines)</vt:lpstr>
      <vt:lpstr>Table 3 — Code Snippet (5-10 lines) (continued)</vt:lpstr>
      <vt:lpstr>Table 3 — Code Snippet (5-10 lines) (continued)</vt:lpstr>
      <vt:lpstr>Table 3 — Code Snippet (5-10 lines) (continued)</vt:lpstr>
      <vt:lpstr>Table 3 — Code Snippet (5-10 lines) (continued)</vt:lpstr>
      <vt:lpstr>Table 3a — Layer 1 dependency map</vt:lpstr>
      <vt:lpstr>Table 3a — Layer 1 dependency map (continued)</vt:lpstr>
      <vt:lpstr>Table 3a — Layer 1 Code Snippet</vt:lpstr>
      <vt:lpstr>Table 3a — Layer 1 Code Snippet (continued)</vt:lpstr>
      <vt:lpstr>Table 3a — Layer 1 Code Snippet (continued)</vt:lpstr>
      <vt:lpstr>Table 3a — Layer 1 Code Snippet (continued)</vt:lpstr>
      <vt:lpstr>Table 3a — Layer 1 Code Snippet (continued)</vt:lpstr>
      <vt:lpstr>Table 3a — Layer 2 transitive chains</vt:lpstr>
      <vt:lpstr>Table 3a — Layer 2 transitive chains (continued)</vt:lpstr>
      <vt:lpstr>Table 4 — Indirect Positioning</vt:lpstr>
      <vt:lpstr>Table 4 — Indirect Positioning</vt:lpstr>
      <vt:lpstr>Table 4 — Indirect Positioning (continued)</vt:lpstr>
      <vt:lpstr>Table 4 — Indirect Positioning (continued)</vt:lpstr>
      <vt:lpstr>Table 4 — Indirect Positioning (continued)</vt:lpstr>
      <vt:lpstr>Table 4 — Code Snippet (5-10 lines)</vt:lpstr>
      <vt:lpstr>Table 4 — Code Snippet (5-10 lines) (continued)</vt:lpstr>
      <vt:lpstr>Table 4 — Code Snippet (5-10 lines) (continued)</vt:lpstr>
      <vt:lpstr>Table 4 — Code Snippet (5-10 lines) (continued)</vt:lpstr>
      <vt:lpstr>Table 4 — Code Snippet (5-10 lines) (continued)</vt:lpstr>
      <vt:lpstr>Table 4 — Code Snippet (5-10 lines) (continued)</vt:lpstr>
      <vt:lpstr>Table 4a — Layer 1 dependency map</vt:lpstr>
      <vt:lpstr>Table 4a — Layer 1 dependency map (continued)</vt:lpstr>
      <vt:lpstr>Table 4a — Layer 1 Code Snippet</vt:lpstr>
      <vt:lpstr>Table 4a — Layer 1 Code Snippet (continued)</vt:lpstr>
      <vt:lpstr>Table 4a — Layer 1 Code Snippet (continued)</vt:lpstr>
      <vt:lpstr>Table 4a — Layer 1 Code Snippet (continued)</vt:lpstr>
      <vt:lpstr>Table 4a — Layer 1 Code Snippet (continued)</vt:lpstr>
      <vt:lpstr>Table 4a — Layer 2 transitive chains</vt:lpstr>
      <vt:lpstr>Table 4a — Layer 2 transitive chains (continued)</vt:lpstr>
      <vt:lpstr>Table 5 — Indirect Navigation</vt:lpstr>
      <vt:lpstr>Table 5 — Indirect Navigation</vt:lpstr>
      <vt:lpstr>Table 5 — Indirect Navigation (continued)</vt:lpstr>
      <vt:lpstr>Table 5 — Indirect Navigation (continued)</vt:lpstr>
      <vt:lpstr>Table 5 — Indirect Navigation (continued)</vt:lpstr>
      <vt:lpstr>Table 5 — Code Snippet (5-10 lines)</vt:lpstr>
      <vt:lpstr>Table 5 — Code Snippet (5-10 lines) (continued)</vt:lpstr>
      <vt:lpstr>Table 5 — Code Snippet (5-10 lines) (continued)</vt:lpstr>
      <vt:lpstr>Table 5 — Code Snippet (5-10 lines) (continued)</vt:lpstr>
      <vt:lpstr>Table 5 — Code Snippet (5-10 lines) (continued)</vt:lpstr>
      <vt:lpstr>Table 5 — Code Snippet (5-10 lines) (continued)</vt:lpstr>
      <vt:lpstr>Table 5a — Layer 1 dependency map</vt:lpstr>
      <vt:lpstr>Table 5a — Layer 1 dependency map (continued)</vt:lpstr>
      <vt:lpstr>Table 5a — Layer 1 Code Snippet</vt:lpstr>
      <vt:lpstr>Table 5a — Layer 1 Code Snippet (continued)</vt:lpstr>
      <vt:lpstr>Table 5a — Layer 1 Code Snippet (continued)</vt:lpstr>
      <vt:lpstr>Table 5a — Layer 1 Code Snippet (continued)</vt:lpstr>
      <vt:lpstr>Table 5a — Layer 1 Code Snippet (continued)</vt:lpstr>
      <vt:lpstr>Table 5a — Layer 2 transitive chains</vt:lpstr>
      <vt:lpstr>Table 5a — Layer 2 transitive chains (continued)</vt:lpstr>
      <vt:lpstr>Table 6 — Indirect Timing</vt:lpstr>
      <vt:lpstr>Table 6 — Indirect Timing</vt:lpstr>
      <vt:lpstr>Table 6 — Indirect Timing (continued)</vt:lpstr>
      <vt:lpstr>Table 6 — Indirect Timing (continued)</vt:lpstr>
      <vt:lpstr>Table 6 — Indirect Timing (continued)</vt:lpstr>
      <vt:lpstr>Table 6 — Indirect Timing (continued)</vt:lpstr>
      <vt:lpstr>Table 6 — Indirect Timing (continued)</vt:lpstr>
      <vt:lpstr>Table 6 — Indirect Timing (continued)</vt:lpstr>
      <vt:lpstr>Table 6 — Code Snippet (5-10 lines)</vt:lpstr>
      <vt:lpstr>Table 6 — Code Snippet (5-10 lines) (continued)</vt:lpstr>
      <vt:lpstr>Table 6 — Code Snippet (5-10 lines) (continued)</vt:lpstr>
      <vt:lpstr>Table 6 — Code Snippet (5-10 lines) (continued)</vt:lpstr>
      <vt:lpstr>Table 6 — Code Snippet (5-10 lines) (continued)</vt:lpstr>
      <vt:lpstr>Table 6 — Code Snippet (5-10 lines) (continued)</vt:lpstr>
      <vt:lpstr>Table 6a — Layer 1 dependency map</vt:lpstr>
      <vt:lpstr>Table 6a — Layer 1 dependency map (continued)</vt:lpstr>
      <vt:lpstr>Table 6a — Layer 1 Code Snippet</vt:lpstr>
      <vt:lpstr>Table 6a — Layer 1 Code Snippet (continued)</vt:lpstr>
      <vt:lpstr>Table 6a — Layer 1 Code Snippet (continued)</vt:lpstr>
      <vt:lpstr>Table 6a — Layer 1 Code Snippet (continued)</vt:lpstr>
      <vt:lpstr>Table 6a — Layer 1 Code Snippet (continued)</vt:lpstr>
      <vt:lpstr>Table 6a — Layer 2 transitive chains</vt:lpstr>
      <vt:lpstr>Table 6a — Layer 2 transitive chains (continued)</vt:lpstr>
      <vt:lpstr>Table 6a — Layer 2 transitive chains (continued)</vt:lpstr>
      <vt:lpstr>Layer 1 dependency types across all 94 rows</vt:lpstr>
      <vt:lpstr>Layer 2 chain depth, and the evidence-row reconciliation</vt:lpstr>
      <vt:lpstr>PNT Instance Audit</vt:lpstr>
      <vt:lpstr>PNT Instance Audit</vt:lpstr>
      <vt:lpstr>PNT Instance Audit (continued)</vt:lpstr>
      <vt:lpstr>The line-number basis, reproduced unchanged</vt:lpstr>
      <vt:lpstr>Coverage &amp; Explicit-Absence Register</vt:lpstr>
      <vt:lpstr>What the register establishes</vt:lpstr>
      <vt:lpstr>The ten sub-registers, in the audit’s own order</vt:lpstr>
      <vt:lpstr>Coverage sub-register (1)</vt:lpstr>
      <vt:lpstr>Coverage sub-register (2)</vt:lpstr>
      <vt:lpstr>Coverage sub-register (3)</vt:lpstr>
      <vt:lpstr>Coverage sub-register (3) (continued)</vt:lpstr>
      <vt:lpstr>Coverage sub-register (4)</vt:lpstr>
      <vt:lpstr>Coverage sub-register (4) (continued)</vt:lpstr>
      <vt:lpstr>Coverage sub-register (5)</vt:lpstr>
      <vt:lpstr>Coverage sub-register (6)</vt:lpstr>
      <vt:lpstr>Coverage sub-register (7)</vt:lpstr>
      <vt:lpstr>Coverage sub-register (7) (continued)</vt:lpstr>
      <vt:lpstr>Coverage sub-register (7) (continued)</vt:lpstr>
      <vt:lpstr>Coverage sub-register (7) (continued)</vt:lpstr>
      <vt:lpstr>Coverage sub-register (7) (continued)</vt:lpstr>
      <vt:lpstr>Coverage sub-register (8)</vt:lpstr>
      <vt:lpstr>Coverage sub-register (8) (continued)</vt:lpstr>
      <vt:lpstr>Coverage sub-register (8) (continued)</vt:lpstr>
      <vt:lpstr>Coverage sub-register (8) (continued)</vt:lpstr>
      <vt:lpstr>Coverage sub-register (9)</vt:lpstr>
      <vt:lpstr>Coverage sub-register (9) (continued)</vt:lpstr>
      <vt:lpstr>Coverage sub-register (10)</vt:lpstr>
      <vt:lpstr>Coverage sub-register (10) (continued)</vt:lpstr>
      <vt:lpstr>Provenance, in the audit’s own words</vt:lpstr>
      <vt:lpstr>Coverage reconciliation</vt:lpstr>
      <vt:lpstr>Coverage reconciliation (continued)</vt:lpstr>
      <vt:lpstr>Coverage reconciliation (continued)</vt:lpstr>
      <vt:lpstr>Coverage reconciliation (continued)</vt:lpstr>
      <vt:lpstr>The totals, reconciled</vt:lpstr>
      <vt:lpstr>Every finding, exactly as catalogued</vt:lpstr>
    </vt:vector>
  </TitlesOfParts>
  <Company>Blitzy</Company>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ArduPilot PNT Reference Audit — Full Findings</dc:title>
  <dc:creator>Blitzy</dc:creator>
  <cp:lastModifiedBy>Blitzy</cp:lastModifiedBy>
  <cp:revision>1</cp:revision>
  <dc:subject>Every catalogued finding of the ArduPilot PNT Reference Audit, ordered by the audit’s own Audit-Discipline Flags severity axis and its own Group and pillar category axis.</dc:subject>
  <dc:description>Comprehensive findings deck over the ArduPilot PNT Reference Audit at audited HEAD 5b67e27b0a: all 94 catalogued main rows with their paired Layer 1 and Layer 2 dependency maps, the 12-row service mapping and all 109 coverage entries, quoted verbatim.</dc:description>
  <cp:keywords>ArduPilot; PNT; positioning; navigation; timing; static-analysis catalog; audit findings; dependency map</cp:keywords>
  <cp:category>Audit findings reference</cp:category>
  <cp:contentStatus>Final</cp:contentStatus>
  <dc:language>en-GB</dc:language>
  <dcterms:created xsi:type="dcterms:W3CDTF">2026-08-01T21:17:14Z</dcterms:created>
  <dcterms:modified xsi:type="dcterms:W3CDTF">2026-08-01T21:17:14Z</dcterms:modified>
</cp:coreProperties>
</file>