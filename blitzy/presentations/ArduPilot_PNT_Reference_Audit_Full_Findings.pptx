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 id="347" r:id="rId97"/>
    <p:sldId id="348" r:id="rId98"/>
    <p:sldId id="349" r:id="rId99"/>
    <p:sldId id="350" r:id="rId100"/>
    <p:sldId id="351" r:id="rId101"/>
    <p:sldId id="352" r:id="rId102"/>
    <p:sldId id="353" r:id="rId103"/>
    <p:sldId id="354" r:id="rId104"/>
    <p:sldId id="355" r:id="rId105"/>
    <p:sldId id="356" r:id="rId106"/>
    <p:sldId id="357" r:id="rId107"/>
    <p:sldId id="358" r:id="rId108"/>
    <p:sldId id="359" r:id="rId109"/>
    <p:sldId id="360" r:id="rId110"/>
    <p:sldId id="361" r:id="rId111"/>
    <p:sldId id="362" r:id="rId112"/>
    <p:sldId id="363" r:id="rId113"/>
    <p:sldId id="364" r:id="rId114"/>
    <p:sldId id="365" r:id="rId115"/>
    <p:sldId id="366" r:id="rId116"/>
    <p:sldId id="367" r:id="rId117"/>
    <p:sldId id="368" r:id="rId118"/>
    <p:sldId id="369" r:id="rId119"/>
    <p:sldId id="370" r:id="rId120"/>
    <p:sldId id="371" r:id="rId121"/>
    <p:sldId id="372" r:id="rId122"/>
    <p:sldId id="373" r:id="rId123"/>
    <p:sldId id="374" r:id="rId124"/>
    <p:sldId id="375" r:id="rId125"/>
    <p:sldId id="376" r:id="rId126"/>
    <p:sldId id="377" r:id="rId127"/>
    <p:sldId id="378" r:id="rId128"/>
    <p:sldId id="379" r:id="rId129"/>
    <p:sldId id="380" r:id="rId130"/>
    <p:sldId id="381" r:id="rId131"/>
    <p:sldId id="382" r:id="rId132"/>
    <p:sldId id="383" r:id="rId133"/>
    <p:sldId id="384" r:id="rId134"/>
    <p:sldId id="385" r:id="rId135"/>
    <p:sldId id="386" r:id="rId136"/>
    <p:sldId id="387" r:id="rId137"/>
    <p:sldId id="388" r:id="rId138"/>
    <p:sldId id="389" r:id="rId139"/>
    <p:sldId id="390" r:id="rId140"/>
    <p:sldId id="391" r:id="rId141"/>
    <p:sldId id="392" r:id="rId142"/>
    <p:sldId id="393" r:id="rId143"/>
    <p:sldId id="394" r:id="rId144"/>
    <p:sldId id="395" r:id="rId14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0.xml"/><Relationship Id="rId76" Type="http://schemas.openxmlformats.org/officeDocument/2006/relationships/slide" Target="slides/slide71.xml"/><Relationship Id="rId77" Type="http://schemas.openxmlformats.org/officeDocument/2006/relationships/slide" Target="slides/slide72.xml"/><Relationship Id="rId78" Type="http://schemas.openxmlformats.org/officeDocument/2006/relationships/slide" Target="slides/slide73.xml"/><Relationship Id="rId79" Type="http://schemas.openxmlformats.org/officeDocument/2006/relationships/slide" Target="slides/slide74.xml"/><Relationship Id="rId80" Type="http://schemas.openxmlformats.org/officeDocument/2006/relationships/slide" Target="slides/slide75.xml"/><Relationship Id="rId81" Type="http://schemas.openxmlformats.org/officeDocument/2006/relationships/slide" Target="slides/slide76.xml"/><Relationship Id="rId82" Type="http://schemas.openxmlformats.org/officeDocument/2006/relationships/slide" Target="slides/slide77.xml"/><Relationship Id="rId83" Type="http://schemas.openxmlformats.org/officeDocument/2006/relationships/slide" Target="slides/slide78.xml"/><Relationship Id="rId84" Type="http://schemas.openxmlformats.org/officeDocument/2006/relationships/slide" Target="slides/slide79.xml"/><Relationship Id="rId85" Type="http://schemas.openxmlformats.org/officeDocument/2006/relationships/slide" Target="slides/slide80.xml"/><Relationship Id="rId86" Type="http://schemas.openxmlformats.org/officeDocument/2006/relationships/slide" Target="slides/slide81.xml"/><Relationship Id="rId87" Type="http://schemas.openxmlformats.org/officeDocument/2006/relationships/slide" Target="slides/slide82.xml"/><Relationship Id="rId88" Type="http://schemas.openxmlformats.org/officeDocument/2006/relationships/slide" Target="slides/slide83.xml"/><Relationship Id="rId89" Type="http://schemas.openxmlformats.org/officeDocument/2006/relationships/slide" Target="slides/slide84.xml"/><Relationship Id="rId90" Type="http://schemas.openxmlformats.org/officeDocument/2006/relationships/slide" Target="slides/slide85.xml"/><Relationship Id="rId91" Type="http://schemas.openxmlformats.org/officeDocument/2006/relationships/slide" Target="slides/slide86.xml"/><Relationship Id="rId92" Type="http://schemas.openxmlformats.org/officeDocument/2006/relationships/slide" Target="slides/slide87.xml"/><Relationship Id="rId93" Type="http://schemas.openxmlformats.org/officeDocument/2006/relationships/slide" Target="slides/slide88.xml"/><Relationship Id="rId94" Type="http://schemas.openxmlformats.org/officeDocument/2006/relationships/slide" Target="slides/slide89.xml"/><Relationship Id="rId95" Type="http://schemas.openxmlformats.org/officeDocument/2006/relationships/slide" Target="slides/slide90.xml"/><Relationship Id="rId96" Type="http://schemas.openxmlformats.org/officeDocument/2006/relationships/slide" Target="slides/slide91.xml"/><Relationship Id="rId97" Type="http://schemas.openxmlformats.org/officeDocument/2006/relationships/slide" Target="slides/slide92.xml"/><Relationship Id="rId98" Type="http://schemas.openxmlformats.org/officeDocument/2006/relationships/slide" Target="slides/slide93.xml"/><Relationship Id="rId99" Type="http://schemas.openxmlformats.org/officeDocument/2006/relationships/slide" Target="slides/slide94.xml"/><Relationship Id="rId100" Type="http://schemas.openxmlformats.org/officeDocument/2006/relationships/slide" Target="slides/slide95.xml"/><Relationship Id="rId101" Type="http://schemas.openxmlformats.org/officeDocument/2006/relationships/slide" Target="slides/slide96.xml"/><Relationship Id="rId102" Type="http://schemas.openxmlformats.org/officeDocument/2006/relationships/slide" Target="slides/slide97.xml"/><Relationship Id="rId103" Type="http://schemas.openxmlformats.org/officeDocument/2006/relationships/slide" Target="slides/slide98.xml"/><Relationship Id="rId104" Type="http://schemas.openxmlformats.org/officeDocument/2006/relationships/slide" Target="slides/slide99.xml"/><Relationship Id="rId105" Type="http://schemas.openxmlformats.org/officeDocument/2006/relationships/slide" Target="slides/slide100.xml"/><Relationship Id="rId106" Type="http://schemas.openxmlformats.org/officeDocument/2006/relationships/slide" Target="slides/slide101.xml"/><Relationship Id="rId107" Type="http://schemas.openxmlformats.org/officeDocument/2006/relationships/slide" Target="slides/slide102.xml"/><Relationship Id="rId108" Type="http://schemas.openxmlformats.org/officeDocument/2006/relationships/slide" Target="slides/slide103.xml"/><Relationship Id="rId109" Type="http://schemas.openxmlformats.org/officeDocument/2006/relationships/slide" Target="slides/slide104.xml"/><Relationship Id="rId110" Type="http://schemas.openxmlformats.org/officeDocument/2006/relationships/slide" Target="slides/slide105.xml"/><Relationship Id="rId111" Type="http://schemas.openxmlformats.org/officeDocument/2006/relationships/slide" Target="slides/slide106.xml"/><Relationship Id="rId112" Type="http://schemas.openxmlformats.org/officeDocument/2006/relationships/slide" Target="slides/slide107.xml"/><Relationship Id="rId113" Type="http://schemas.openxmlformats.org/officeDocument/2006/relationships/slide" Target="slides/slide108.xml"/><Relationship Id="rId114" Type="http://schemas.openxmlformats.org/officeDocument/2006/relationships/slide" Target="slides/slide109.xml"/><Relationship Id="rId115" Type="http://schemas.openxmlformats.org/officeDocument/2006/relationships/slide" Target="slides/slide110.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19.xml"/><Relationship Id="rId125" Type="http://schemas.openxmlformats.org/officeDocument/2006/relationships/slide" Target="slides/slide120.xml"/><Relationship Id="rId126" Type="http://schemas.openxmlformats.org/officeDocument/2006/relationships/slide" Target="slides/slide121.xml"/><Relationship Id="rId127" Type="http://schemas.openxmlformats.org/officeDocument/2006/relationships/slide" Target="slides/slide122.xml"/><Relationship Id="rId128" Type="http://schemas.openxmlformats.org/officeDocument/2006/relationships/slide" Target="slides/slide123.xml"/><Relationship Id="rId129" Type="http://schemas.openxmlformats.org/officeDocument/2006/relationships/slide" Target="slides/slide124.xml"/><Relationship Id="rId130" Type="http://schemas.openxmlformats.org/officeDocument/2006/relationships/slide" Target="slides/slide125.xml"/><Relationship Id="rId131" Type="http://schemas.openxmlformats.org/officeDocument/2006/relationships/slide" Target="slides/slide126.xml"/><Relationship Id="rId132" Type="http://schemas.openxmlformats.org/officeDocument/2006/relationships/slide" Target="slides/slide127.xml"/><Relationship Id="rId133" Type="http://schemas.openxmlformats.org/officeDocument/2006/relationships/slide" Target="slides/slide128.xml"/><Relationship Id="rId134" Type="http://schemas.openxmlformats.org/officeDocument/2006/relationships/slide" Target="slides/slide129.xml"/><Relationship Id="rId135" Type="http://schemas.openxmlformats.org/officeDocument/2006/relationships/slide" Target="slides/slide130.xml"/><Relationship Id="rId136" Type="http://schemas.openxmlformats.org/officeDocument/2006/relationships/slide" Target="slides/slide131.xml"/><Relationship Id="rId137" Type="http://schemas.openxmlformats.org/officeDocument/2006/relationships/slide" Target="slides/slide132.xml"/><Relationship Id="rId138" Type="http://schemas.openxmlformats.org/officeDocument/2006/relationships/slide" Target="slides/slide133.xml"/><Relationship Id="rId139" Type="http://schemas.openxmlformats.org/officeDocument/2006/relationships/slide" Target="slides/slide134.xml"/><Relationship Id="rId140" Type="http://schemas.openxmlformats.org/officeDocument/2006/relationships/slide" Target="slides/slide135.xml"/><Relationship Id="rId141" Type="http://schemas.openxmlformats.org/officeDocument/2006/relationships/slide" Target="slides/slide136.xml"/><Relationship Id="rId142" Type="http://schemas.openxmlformats.org/officeDocument/2006/relationships/slide" Target="slides/slide137.xml"/><Relationship Id="rId143" Type="http://schemas.openxmlformats.org/officeDocument/2006/relationships/slide" Target="slides/slide138.xml"/><Relationship Id="rId144" Type="http://schemas.openxmlformats.org/officeDocument/2006/relationships/slide" Target="slides/slide139.xml"/><Relationship Id="rId145" Type="http://schemas.openxmlformats.org/officeDocument/2006/relationships/slide" Target="slides/slide1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litzy Title">
    <p:bg>
      <p:bgPr>
        <a:gradFill rotWithShape="0">
          <a:gsLst>
            <a:gs pos="15560">
              <a:srgbClr val="7A6DEC"/>
            </a:gs>
            <a:gs pos="62740">
              <a:srgbClr val="5B39F3"/>
            </a:gs>
            <a:gs pos="84440">
              <a:srgbClr val="4101DB"/>
            </a:gs>
          </a:gsLst>
          <a:lin ang="20280000" scaled="0"/>
        </a:gradFill>
        <a:effectLst/>
      </p:bgPr>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litzy Content">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litzy Section Divider">
    <p:bg>
      <p:bgPr>
        <a:gradFill rotWithShape="0">
          <a:gsLst>
            <a:gs pos="0">
              <a:srgbClr val="2D1C77"/>
            </a:gs>
            <a:gs pos="100000">
              <a:srgbClr val="5B39F3"/>
            </a:gs>
          </a:gsLst>
          <a:lin ang="2700000" scaled="0"/>
        </a:grad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itzy Closing">
    <p:bg>
      <p:bgPr>
        <a:solidFill>
          <a:srgbClr val="1A105F"/>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txStyles>
    <p:titleStyle>
      <a:lvl1pPr>
        <a:defRPr>
          <a:solidFill>
            <a:schemeClr val="tx1"/>
          </a:solidFill>
          <a:latin typeface="+mj-lt"/>
        </a:defRPr>
      </a:lvl1pPr>
      <a:lvl2pPr>
        <a:defRPr>
          <a:solidFill>
            <a:schemeClr val="tx1"/>
          </a:solidFill>
          <a:latin typeface="+mj-lt"/>
        </a:defRPr>
      </a:lvl2pPr>
      <a:lvl3pPr>
        <a:defRPr>
          <a:solidFill>
            <a:schemeClr val="tx1"/>
          </a:solidFill>
          <a:latin typeface="+mj-lt"/>
        </a:defRPr>
      </a:lvl3pPr>
      <a:lvl4pPr>
        <a:defRPr>
          <a:solidFill>
            <a:schemeClr val="tx1"/>
          </a:solidFill>
          <a:latin typeface="+mj-lt"/>
        </a:defRPr>
      </a:lvl4pPr>
      <a:lvl5pPr>
        <a:defRPr>
          <a:solidFill>
            <a:schemeClr val="tx1"/>
          </a:solidFill>
          <a:latin typeface="+mj-lt"/>
        </a:defRPr>
      </a:lvl5pPr>
      <a:lvl6pPr>
        <a:defRPr>
          <a:solidFill>
            <a:schemeClr val="tx1"/>
          </a:solidFill>
          <a:latin typeface="+mj-lt"/>
        </a:defRPr>
      </a:lvl6pPr>
      <a:lvl7pPr>
        <a:defRPr>
          <a:solidFill>
            <a:schemeClr val="tx1"/>
          </a:solidFill>
          <a:latin typeface="+mj-lt"/>
        </a:defRPr>
      </a:lvl7pPr>
      <a:lvl8pPr>
        <a:defRPr>
          <a:solidFill>
            <a:schemeClr val="tx1"/>
          </a:solidFill>
          <a:latin typeface="+mj-lt"/>
        </a:defRPr>
      </a:lvl8pPr>
      <a:lvl9pPr>
        <a:defRPr>
          <a:solidFill>
            <a:schemeClr val="tx1"/>
          </a:solidFill>
          <a:latin typeface="+mj-lt"/>
        </a:defRPr>
      </a:lvl9pPr>
    </p:titleStyle>
    <p:body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vl6pPr>
        <a:defRPr>
          <a:solidFill>
            <a:schemeClr val="tx1"/>
          </a:solidFill>
          <a:latin typeface="+mn-lt"/>
        </a:defRPr>
      </a:lvl6pPr>
      <a:lvl7pPr>
        <a:defRPr>
          <a:solidFill>
            <a:schemeClr val="tx1"/>
          </a:solidFill>
          <a:latin typeface="+mn-lt"/>
        </a:defRPr>
      </a:lvl7pPr>
      <a:lvl8pPr>
        <a:defRPr>
          <a:solidFill>
            <a:schemeClr val="tx1"/>
          </a:solidFill>
          <a:latin typeface="+mn-lt"/>
        </a:defRPr>
      </a:lvl8pPr>
      <a:lvl9pPr>
        <a:defRPr>
          <a:solidFill>
            <a:schemeClr val="tx1"/>
          </a:solidFill>
          <a:latin typeface="+mn-lt"/>
        </a:defRPr>
      </a:lvl9pPr>
    </p:bodyStyle>
    <p:other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vl6pPr>
        <a:defRPr>
          <a:solidFill>
            <a:schemeClr val="tx1"/>
          </a:solidFill>
          <a:latin typeface="+mn-lt"/>
        </a:defRPr>
      </a:lvl6pPr>
      <a:lvl7pPr>
        <a:defRPr>
          <a:solidFill>
            <a:schemeClr val="tx1"/>
          </a:solidFill>
          <a:latin typeface="+mn-lt"/>
        </a:defRPr>
      </a:lvl7pPr>
      <a:lvl8pPr>
        <a:defRPr>
          <a:solidFill>
            <a:schemeClr val="tx1"/>
          </a:solidFill>
          <a:latin typeface="+mn-lt"/>
        </a:defRPr>
      </a:lvl8pPr>
      <a:lvl9pPr>
        <a:defRPr>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1481328"/>
            <a:ext cx="11058144" cy="310896"/>
          </a:xfrm>
          <a:prstGeom prst="rect">
            <a:avLst/>
          </a:prstGeom>
          <a:noFill/>
        </p:spPr>
        <p:txBody>
          <a:bodyPr wrap="square" lIns="0" rIns="0" tIns="0" bIns="0" anchor="t">
            <a:noAutofit/>
          </a:bodyPr>
          <a:lstStyle/>
          <a:p>
            <a:pPr algn="l">
              <a:lnSpc>
                <a:spcPct val="100000"/>
              </a:lnSpc>
              <a:spcAft>
                <a:spcPts val="0"/>
              </a:spcAft>
            </a:pPr>
            <a:r>
              <a:rPr sz="1300" b="0">
                <a:solidFill>
                  <a:srgbClr val="94FAD5"/>
                </a:solidFill>
                <a:latin typeface="Fira Code"/>
              </a:rPr>
              <a:t>FULL FINDINGS  ·  COMPREHENSIVE REFERENCE DECK</a:t>
            </a:r>
          </a:p>
        </p:txBody>
      </p:sp>
      <p:sp>
        <p:nvSpPr>
          <p:cNvPr id="3" name="TextBox 2"/>
          <p:cNvSpPr txBox="1"/>
          <p:nvPr/>
        </p:nvSpPr>
        <p:spPr>
          <a:xfrm>
            <a:off x="566928" y="1920240"/>
            <a:ext cx="10424160" cy="1737360"/>
          </a:xfrm>
          <a:prstGeom prst="rect">
            <a:avLst/>
          </a:prstGeom>
          <a:noFill/>
        </p:spPr>
        <p:txBody>
          <a:bodyPr wrap="square" lIns="0" rIns="0" tIns="0" bIns="0" anchor="t">
            <a:noAutofit/>
          </a:bodyPr>
          <a:lstStyle/>
          <a:p>
            <a:pPr algn="l">
              <a:lnSpc>
                <a:spcPct val="130000"/>
              </a:lnSpc>
              <a:spcAft>
                <a:spcPts val="0"/>
              </a:spcAft>
            </a:pPr>
            <a:r>
              <a:rPr sz="4000" b="1">
                <a:solidFill>
                  <a:srgbClr val="FFFFFF"/>
                </a:solidFill>
                <a:latin typeface="Space Grotesk"/>
              </a:rPr>
              <a:t>ArduPilot PNT (Positioning, Navigation, Timing) Reference Audit</a:t>
            </a:r>
          </a:p>
        </p:txBody>
      </p:sp>
      <p:sp>
        <p:nvSpPr>
          <p:cNvPr id="4" name="TextBox 3"/>
          <p:cNvSpPr txBox="1"/>
          <p:nvPr/>
        </p:nvSpPr>
        <p:spPr>
          <a:xfrm>
            <a:off x="566928" y="3675887"/>
            <a:ext cx="7863840" cy="731520"/>
          </a:xfrm>
          <a:prstGeom prst="rect">
            <a:avLst/>
          </a:prstGeom>
          <a:noFill/>
        </p:spPr>
        <p:txBody>
          <a:bodyPr wrap="square" lIns="0" rIns="0" tIns="0" bIns="0" anchor="t">
            <a:noAutofit/>
          </a:bodyPr>
          <a:lstStyle/>
          <a:p>
            <a:pPr algn="l">
              <a:lnSpc>
                <a:spcPct val="124000"/>
              </a:lnSpc>
              <a:spcAft>
                <a:spcPts val="0"/>
              </a:spcAft>
            </a:pPr>
            <a:r>
              <a:rPr sz="1800" b="0">
                <a:solidFill>
                  <a:srgbClr val="FFFFFF"/>
                </a:solidFill>
                <a:latin typeface="Inter"/>
              </a:rPr>
              <a:t>Read-only static-analysis audit — every snippet reproduced verbatim from the cited path:line range</a:t>
            </a:r>
          </a:p>
        </p:txBody>
      </p:sp>
      <p:sp>
        <p:nvSpPr>
          <p:cNvPr id="5" name="Rectangle 4"/>
          <p:cNvSpPr/>
          <p:nvPr/>
        </p:nvSpPr>
        <p:spPr>
          <a:xfrm>
            <a:off x="566928" y="4498848"/>
            <a:ext cx="420624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66928" y="4773168"/>
            <a:ext cx="11058144" cy="310896"/>
          </a:xfrm>
          <a:prstGeom prst="rect">
            <a:avLst/>
          </a:prstGeom>
          <a:noFill/>
        </p:spPr>
        <p:txBody>
          <a:bodyPr wrap="square" lIns="0" rIns="0" tIns="0" bIns="0" anchor="t">
            <a:noAutofit/>
          </a:bodyPr>
          <a:lstStyle/>
          <a:p>
            <a:pPr algn="l">
              <a:lnSpc>
                <a:spcPct val="100000"/>
              </a:lnSpc>
              <a:spcAft>
                <a:spcPts val="0"/>
              </a:spcAft>
            </a:pPr>
            <a:r>
              <a:rPr sz="1200" b="0">
                <a:solidFill>
                  <a:srgbClr val="94FAD5"/>
                </a:solidFill>
                <a:latin typeface="Fira Code"/>
              </a:rPr>
              <a:t>HEAD 5b67e27b0a  ·  43 pages  ·  Read-only static-analysis catalog</a:t>
            </a:r>
          </a:p>
        </p:txBody>
      </p:sp>
      <p:sp>
        <p:nvSpPr>
          <p:cNvPr id="7" name="TextBox 6"/>
          <p:cNvSpPr txBox="1"/>
          <p:nvPr/>
        </p:nvSpPr>
        <p:spPr>
          <a:xfrm>
            <a:off x="566928" y="5138928"/>
            <a:ext cx="10424160" cy="548640"/>
          </a:xfrm>
          <a:prstGeom prst="rect">
            <a:avLst/>
          </a:prstGeom>
          <a:noFill/>
        </p:spPr>
        <p:txBody>
          <a:bodyPr wrap="square" lIns="0" rIns="0" tIns="0" bIns="0" anchor="t">
            <a:noAutofit/>
          </a:bodyPr>
          <a:lstStyle/>
          <a:p>
            <a:pPr algn="l">
              <a:lnSpc>
                <a:spcPct val="120000"/>
              </a:lnSpc>
              <a:spcAft>
                <a:spcPts val="0"/>
              </a:spcAft>
            </a:pPr>
            <a:r>
              <a:rPr sz="1400" b="0">
                <a:solidFill>
                  <a:srgbClr val="FFFFFF"/>
                </a:solidFill>
                <a:latin typeface="Inter"/>
              </a:rPr>
              <a:t>Every catalogued finding, ordered by the audit’s own severity and category axes.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TWO AXES, BOTH THE AUDIT’S OWN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How to read this deck</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This deck is a communication layer over a finished audit: it selects nothing, scores nothing and omits nothing.</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173338"/>
          <a:ext cx="11058144" cy="1609149"/>
        </p:xfrm>
        <a:graphic>
          <a:graphicData uri="http://schemas.openxmlformats.org/drawingml/2006/table">
            <a:tbl>
              <a:tblPr>
                <a:tableStyleId>{5C22544A-7EE6-4342-B048-85BDC9FD1C3A}</a:tableStyleId>
              </a:tblPr>
              <a:tblGrid>
                <a:gridCol w="1279454"/>
                <a:gridCol w="5940325"/>
                <a:gridCol w="3838365"/>
              </a:tblGrid>
              <a:tr h="240219">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orders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the axis comes from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1">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audit’s five Audit-Discipline Flags, presented with the audit’s own stated occurrence counts, followed by the two touch-points the audit itself singles out in superlative risk language.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Audit-Discipline Flags, transcribed with its own footnote.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1">
                          <a:solidFill>
                            <a:srgbClr val="333333"/>
                          </a:solidFill>
                          <a:latin typeface="Inter"/>
                        </a:rPr>
                        <a:t>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catalog’s own structure: GROUP 1 core references and GROUP 2 indirect / relational references across Positioning, Navigation and Timing, each main table followed by its paired Layer 1 and Layer 2 dependency map, then the instance mapping and the 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audit’s own table numbering,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4020231"/>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FIDELITY RULE THIS DECK FOLLOWS</a:t>
            </a:r>
          </a:p>
        </p:txBody>
      </p:sp>
      <p:sp>
        <p:nvSpPr>
          <p:cNvPr id="9" name="TextBox 8"/>
          <p:cNvSpPr txBox="1"/>
          <p:nvPr/>
        </p:nvSpPr>
        <p:spPr>
          <a:xfrm>
            <a:off x="566928" y="4245935"/>
            <a:ext cx="11003280" cy="1783549"/>
          </a:xfrm>
          <a:prstGeom prst="rect">
            <a:avLst/>
          </a:prstGeom>
          <a:noFill/>
        </p:spPr>
        <p:txBody>
          <a:bodyPr wrap="square" lIns="0" rIns="0" tIns="0" bIns="0" anchor="t">
            <a:noAutofit/>
          </a:bodyPr>
          <a:lstStyle/>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Every figure on every slide is a figure the audit itself states. Nothing is recomputed, re-scored or re-worded.</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Every row keeps its own number, file path, line range, classification and the audit’s own Notes text, including its flag tokens and its [FIX F*] and AAP cross-references, exactly as printed.</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Cited path:line ranges are transcribed, never re-derived: they are stated as of the audited HEAD 5b67e27b0a, the pre-refactor baseline.</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Each row’s Code Snippet (5-10 lines) stays in the source audit at the cited range; this deck carries the citation so any row can be checked against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EVERY FIGURE AS THE AUDIT STATES IT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audit at a glance</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The audit prints these totals on its own face; they reconcile against the rows that follow.</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1852079"/>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FRONT-MATTER LINE</a:t>
            </a:r>
          </a:p>
        </p:txBody>
      </p:sp>
      <p:sp>
        <p:nvSpPr>
          <p:cNvPr id="8" name="Rectangle 7"/>
          <p:cNvSpPr/>
          <p:nvPr/>
        </p:nvSpPr>
        <p:spPr>
          <a:xfrm>
            <a:off x="566928" y="2077783"/>
            <a:ext cx="32004" cy="470992"/>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13232" y="2077783"/>
            <a:ext cx="10856976" cy="470992"/>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“Audited HEAD 5b67e27b0a · Core references: 63 · Indirect references: 31 · Total references: 94 · Evidence rows: 282 (main + Layer 1 + Layer 2)”</a:t>
            </a:r>
          </a:p>
        </p:txBody>
      </p:sp>
      <p:sp>
        <p:nvSpPr>
          <p:cNvPr id="10" name="Rounded Rectangle 9"/>
          <p:cNvSpPr/>
          <p:nvPr/>
        </p:nvSpPr>
        <p:spPr>
          <a:xfrm>
            <a:off x="566928"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63</a:t>
            </a:r>
          </a:p>
          <a:p>
            <a:pPr algn="ctr">
              <a:lnSpc>
                <a:spcPct val="124000"/>
              </a:lnSpc>
            </a:pPr>
            <a:r>
              <a:rPr sz="1200">
                <a:solidFill>
                  <a:srgbClr val="999999"/>
                </a:solidFill>
                <a:latin typeface="Inter"/>
              </a:rPr>
              <a:t>core references (Tables 1–3)</a:t>
            </a:r>
          </a:p>
        </p:txBody>
      </p:sp>
      <p:sp>
        <p:nvSpPr>
          <p:cNvPr id="11" name="Rounded Rectangle 10"/>
          <p:cNvSpPr/>
          <p:nvPr/>
        </p:nvSpPr>
        <p:spPr>
          <a:xfrm>
            <a:off x="3381756"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31</a:t>
            </a:r>
          </a:p>
          <a:p>
            <a:pPr algn="ctr">
              <a:lnSpc>
                <a:spcPct val="124000"/>
              </a:lnSpc>
            </a:pPr>
            <a:r>
              <a:rPr sz="1200">
                <a:solidFill>
                  <a:srgbClr val="999999"/>
                </a:solidFill>
                <a:latin typeface="Inter"/>
              </a:rPr>
              <a:t>indirect references (Tables 4–6)</a:t>
            </a:r>
          </a:p>
        </p:txBody>
      </p:sp>
      <p:sp>
        <p:nvSpPr>
          <p:cNvPr id="12" name="Rounded Rectangle 11"/>
          <p:cNvSpPr/>
          <p:nvPr/>
        </p:nvSpPr>
        <p:spPr>
          <a:xfrm>
            <a:off x="6196584"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94</a:t>
            </a:r>
          </a:p>
          <a:p>
            <a:pPr algn="ctr">
              <a:lnSpc>
                <a:spcPct val="124000"/>
              </a:lnSpc>
            </a:pPr>
            <a:r>
              <a:rPr sz="1200">
                <a:solidFill>
                  <a:srgbClr val="999999"/>
                </a:solidFill>
                <a:latin typeface="Inter"/>
              </a:rPr>
              <a:t>main rows catalogued</a:t>
            </a:r>
          </a:p>
        </p:txBody>
      </p:sp>
      <p:sp>
        <p:nvSpPr>
          <p:cNvPr id="13" name="Rounded Rectangle 12"/>
          <p:cNvSpPr/>
          <p:nvPr/>
        </p:nvSpPr>
        <p:spPr>
          <a:xfrm>
            <a:off x="9011412"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282</a:t>
            </a:r>
          </a:p>
          <a:p>
            <a:pPr algn="ctr">
              <a:lnSpc>
                <a:spcPct val="124000"/>
              </a:lnSpc>
            </a:pPr>
            <a:r>
              <a:rPr sz="1200">
                <a:solidFill>
                  <a:srgbClr val="999999"/>
                </a:solidFill>
                <a:latin typeface="Inter"/>
              </a:rPr>
              <a:t>evidence rows in total</a:t>
            </a:r>
          </a:p>
        </p:txBody>
      </p:sp>
      <p:sp>
        <p:nvSpPr>
          <p:cNvPr id="14" name="Rounded Rectangle 13"/>
          <p:cNvSpPr/>
          <p:nvPr/>
        </p:nvSpPr>
        <p:spPr>
          <a:xfrm>
            <a:off x="566928"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18</a:t>
            </a:r>
          </a:p>
          <a:p>
            <a:pPr algn="ctr">
              <a:lnSpc>
                <a:spcPct val="124000"/>
              </a:lnSpc>
            </a:pPr>
            <a:r>
              <a:rPr sz="1200">
                <a:solidFill>
                  <a:srgbClr val="999999"/>
                </a:solidFill>
                <a:latin typeface="Inter"/>
              </a:rPr>
              <a:t>data objects</a:t>
            </a:r>
          </a:p>
        </p:txBody>
      </p:sp>
      <p:sp>
        <p:nvSpPr>
          <p:cNvPr id="15" name="Rounded Rectangle 14"/>
          <p:cNvSpPr/>
          <p:nvPr/>
        </p:nvSpPr>
        <p:spPr>
          <a:xfrm>
            <a:off x="3381756"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12</a:t>
            </a:r>
          </a:p>
          <a:p>
            <a:pPr algn="ctr">
              <a:lnSpc>
                <a:spcPct val="124000"/>
              </a:lnSpc>
            </a:pPr>
            <a:r>
              <a:rPr sz="1200">
                <a:solidFill>
                  <a:srgbClr val="999999"/>
                </a:solidFill>
                <a:latin typeface="Inter"/>
              </a:rPr>
              <a:t>catalog tables in 6 groups</a:t>
            </a:r>
          </a:p>
        </p:txBody>
      </p:sp>
      <p:sp>
        <p:nvSpPr>
          <p:cNvPr id="16" name="Rounded Rectangle 15"/>
          <p:cNvSpPr/>
          <p:nvPr/>
        </p:nvSpPr>
        <p:spPr>
          <a:xfrm>
            <a:off x="6196584"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12</a:t>
            </a:r>
          </a:p>
          <a:p>
            <a:pPr algn="ctr">
              <a:lnSpc>
                <a:spcPct val="124000"/>
              </a:lnSpc>
            </a:pPr>
            <a:r>
              <a:rPr sz="1200">
                <a:solidFill>
                  <a:srgbClr val="999999"/>
                </a:solidFill>
                <a:latin typeface="Inter"/>
              </a:rPr>
              <a:t>current → new mapping rows</a:t>
            </a:r>
          </a:p>
        </p:txBody>
      </p:sp>
      <p:sp>
        <p:nvSpPr>
          <p:cNvPr id="17" name="Rounded Rectangle 16"/>
          <p:cNvSpPr/>
          <p:nvPr/>
        </p:nvSpPr>
        <p:spPr>
          <a:xfrm>
            <a:off x="9011412"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109</a:t>
            </a:r>
          </a:p>
          <a:p>
            <a:pPr algn="ctr">
              <a:lnSpc>
                <a:spcPct val="124000"/>
              </a:lnSpc>
            </a:pPr>
            <a:r>
              <a:rPr sz="1200">
                <a:solidFill>
                  <a:srgbClr val="999999"/>
                </a:solidFill>
                <a:latin typeface="Inter"/>
              </a:rPr>
              <a:t>coverage register entries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LEGEND  ·  THE AUDIT’S OWN CLASSIFICATION VOCABULARY</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Legend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685202"/>
        </p:xfrm>
        <a:graphic>
          <a:graphicData uri="http://schemas.openxmlformats.org/drawingml/2006/table">
            <a:tbl>
              <a:tblPr>
                <a:tableStyleId>{5C22544A-7EE6-4342-B048-85BDC9FD1C3A}</a:tableStyleId>
              </a:tblPr>
              <a:tblGrid>
                <a:gridCol w="2010571"/>
                <a:gridCol w="9047573"/>
              </a:tblGrid>
              <a:tr h="240219">
                <a:tc>
                  <a:txBody>
                    <a:bodyPr wrap="square">
                      <a:noAutofit/>
                    </a:bodyPr>
                    <a:lstStyle/>
                    <a:p>
                      <a:pPr algn="l">
                        <a:lnSpc>
                          <a:spcPct val="106000"/>
                        </a:lnSpc>
                        <a:spcAft>
                          <a:spcPts val="0"/>
                        </a:spcAft>
                      </a:pPr>
                      <a:r>
                        <a:rPr sz="1100" b="1">
                          <a:solidFill>
                            <a:srgbClr val="333333"/>
                          </a:solidFill>
                          <a:latin typeface="Inter"/>
                        </a:rPr>
                        <a:t>Term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Meaning, as the audit defines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Inter"/>
                        </a:rPr>
                        <a:t>Role (Group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 = produces/writes PNT state from a measurement | Transform = fuses/derives/converts PNT state (EKF fusion, GPS blending, geodetic↔NED) | Sink = only reads PNT state to drive control/behavior.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Group 2 columns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Trigger Condition (what invokes the code) | PNT State Observed (the exact accessor/value read, e.g. gps.status(), ahrs.have_inertial_nav(), EKF variance) — the discriminator from Group 1 | Behavior Change Description (how behavior changes).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Dependency Type (Layer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 (shared data value/struct field) | Function call (direct call) | Inheritance / Interface (backend overrides a virtual frontend interface) | Shared global / singleton (access via an AP:: accessor — AP::gps(), AP::ahrs(), AP::scheduler(), AP::rtc()).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Inter"/>
                        </a:rPr>
                        <a:t>Notes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[CIRCULAR] circular dependency (e.g. AHRS↔EKF) | [SHARED-STRUCT] PNT fields packed with non-PNT fields (extraction risk) | [DUPLICATED] copy-pasted PNT logic across locations | [MULTI-CATEGORY] spans &gt;1 PNT category (emitted once per table) | [ABSENT] expected PNT element not found where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1">
                          <a:solidFill>
                            <a:srgbClr val="333333"/>
                          </a:solidFill>
                          <a:latin typeface="Inter"/>
                        </a:rPr>
                        <a:t>Cross-reference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Each main table owns a monotonic, per-table # space (1,2,3…). Its dependency sub-table (the matching Xa table) reuses those exact numbers as Ref #. Each Xa table contains a Layer 1 block (direct edges) followed by a Layer 2 block (full transitive chain + final consumer + Chain Depth = the number of → hops explicitly listed in that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4404274"/>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follows the same convention throughout: the number of → hops explicitly listed in that chain.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SCOPE AND LINE-NUMBER BASIS, VERBATIM</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Scope of the catalog</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SCOPE</a:t>
            </a:r>
          </a:p>
        </p:txBody>
      </p:sp>
      <p:sp>
        <p:nvSpPr>
          <p:cNvPr id="7" name="TextBox 6"/>
          <p:cNvSpPr txBox="1"/>
          <p:nvPr/>
        </p:nvSpPr>
        <p:spPr>
          <a:xfrm>
            <a:off x="566928" y="1761896"/>
            <a:ext cx="11003280" cy="1802358"/>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Scope. This document is an audit-grade, read-only static-analysis catalog of every location in the ArduPilot firmware codebase (repository root containing ArduCopter/, ArduPlane/, Rover/, ArduSub/, AntennaTracker/, Blimp/, libraries/, modules/) where Positioning, Navigation, and Timing (PNT) data is handled, together with a two-layer dependency map for every catalogued reference. GROUP 1 catalogs core references — code that directly implements, reads, writes, or processes PNT data. GROUP 2 catalogs indirect / relational references — code that does not directly read or write PNT data but whose behavior changes as a result of PNT state. All file paths are repository-root-relative; every code snippet is reproduced VERBATIM from the cited path and line range so each row is independently verifiable. No source file is modified by this audit.</a:t>
            </a:r>
          </a:p>
        </p:txBody>
      </p:sp>
      <p:sp>
        <p:nvSpPr>
          <p:cNvPr id="8" name="TextBox 7"/>
          <p:cNvSpPr txBox="1"/>
          <p:nvPr/>
        </p:nvSpPr>
        <p:spPr>
          <a:xfrm>
            <a:off x="566928" y="376542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LINE-NUMBER BASIS, AS PRINTED ON THE AUDIT’S FIRST PAGE</a:t>
            </a:r>
          </a:p>
        </p:txBody>
      </p:sp>
      <p:sp>
        <p:nvSpPr>
          <p:cNvPr id="9" name="Rectangle 8"/>
          <p:cNvSpPr/>
          <p:nvPr/>
        </p:nvSpPr>
        <p:spPr>
          <a:xfrm>
            <a:off x="566928" y="3991126"/>
            <a:ext cx="32004" cy="983056"/>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713232" y="3991126"/>
            <a:ext cx="10856976" cy="983056"/>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“Line-number basis: every cited path:line range in this document is stated as of the audited HEAD 5b67e27b0a (the pre-refactor baseline). The reusable-service extraction adds one additive, default-off set_update_dt timing seam to AP_L1_Control.cpp / .h after that commit; that seam relocates no behavior and only shifts those two files' line numbers, so the numbers here are intentionally not post-seam current-source lines.”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THE SURVEYED SURFACE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Footprint Summary</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The surface swept to make the catalog exhaustive, in the audit’s own words and figures.</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1852079"/>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Footprint surveyed: libraries/ = 151 subsystems; libraries/AP_GPS/*.{cpp,h} = 44 files (14 receiver backends each catalogued individually + AP_GPS_Blended + GPS_Backend base); EKF families AP_NavEKF/AP_NavEKF2/AP_NavEKF3 with AP_NavEKF3 split across 13 fusion modules (all catalogued); flight/drive-mode files = 81 (ArduCopter 29 + ArduPlane 26 + Rover 14 + ArduSub 12), enumerated in the Coverage &amp; Explicit-Absence Register. PNT state is produced under libraries/ and consumed/acted-upon in vehicle glue code (failsafe, ekf_check, fence, flight-mode gating).</a:t>
            </a:r>
          </a:p>
        </p:txBody>
      </p:sp>
      <p:sp>
        <p:nvSpPr>
          <p:cNvPr id="8" name="Rounded Rectangle 7"/>
          <p:cNvSpPr/>
          <p:nvPr/>
        </p:nvSpPr>
        <p:spPr>
          <a:xfrm>
            <a:off x="566928"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151</a:t>
            </a:r>
          </a:p>
          <a:p>
            <a:pPr algn="ctr">
              <a:lnSpc>
                <a:spcPct val="124000"/>
              </a:lnSpc>
            </a:pPr>
            <a:r>
              <a:rPr sz="1200">
                <a:solidFill>
                  <a:srgbClr val="999999"/>
                </a:solidFill>
                <a:latin typeface="Inter"/>
              </a:rPr>
              <a:t>subsystems in libraries/</a:t>
            </a:r>
          </a:p>
        </p:txBody>
      </p:sp>
      <p:sp>
        <p:nvSpPr>
          <p:cNvPr id="9" name="Rounded Rectangle 8"/>
          <p:cNvSpPr/>
          <p:nvPr/>
        </p:nvSpPr>
        <p:spPr>
          <a:xfrm>
            <a:off x="2818790"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44</a:t>
            </a:r>
          </a:p>
          <a:p>
            <a:pPr algn="ctr">
              <a:lnSpc>
                <a:spcPct val="124000"/>
              </a:lnSpc>
            </a:pPr>
            <a:r>
              <a:rPr sz="1200">
                <a:solidFill>
                  <a:srgbClr val="999999"/>
                </a:solidFill>
                <a:latin typeface="Inter"/>
              </a:rPr>
              <a:t>AP_GPS files</a:t>
            </a:r>
          </a:p>
        </p:txBody>
      </p:sp>
      <p:sp>
        <p:nvSpPr>
          <p:cNvPr id="10" name="Rounded Rectangle 9"/>
          <p:cNvSpPr/>
          <p:nvPr/>
        </p:nvSpPr>
        <p:spPr>
          <a:xfrm>
            <a:off x="5070652"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14</a:t>
            </a:r>
          </a:p>
          <a:p>
            <a:pPr algn="ctr">
              <a:lnSpc>
                <a:spcPct val="124000"/>
              </a:lnSpc>
            </a:pPr>
            <a:r>
              <a:rPr sz="1200">
                <a:solidFill>
                  <a:srgbClr val="999999"/>
                </a:solidFill>
                <a:latin typeface="Inter"/>
              </a:rPr>
              <a:t>receiver backends</a:t>
            </a:r>
          </a:p>
        </p:txBody>
      </p:sp>
      <p:sp>
        <p:nvSpPr>
          <p:cNvPr id="11" name="Rounded Rectangle 10"/>
          <p:cNvSpPr/>
          <p:nvPr/>
        </p:nvSpPr>
        <p:spPr>
          <a:xfrm>
            <a:off x="7322514"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13</a:t>
            </a:r>
          </a:p>
          <a:p>
            <a:pPr algn="ctr">
              <a:lnSpc>
                <a:spcPct val="124000"/>
              </a:lnSpc>
            </a:pPr>
            <a:r>
              <a:rPr sz="1200">
                <a:solidFill>
                  <a:srgbClr val="999999"/>
                </a:solidFill>
                <a:latin typeface="Inter"/>
              </a:rPr>
              <a:t>EKF3 fusion modules</a:t>
            </a:r>
          </a:p>
        </p:txBody>
      </p:sp>
      <p:sp>
        <p:nvSpPr>
          <p:cNvPr id="12" name="Rounded Rectangle 11"/>
          <p:cNvSpPr/>
          <p:nvPr/>
        </p:nvSpPr>
        <p:spPr>
          <a:xfrm>
            <a:off x="9574376"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81</a:t>
            </a:r>
          </a:p>
          <a:p>
            <a:pPr algn="ctr">
              <a:lnSpc>
                <a:spcPct val="124000"/>
              </a:lnSpc>
            </a:pPr>
            <a:r>
              <a:rPr sz="1200">
                <a:solidFill>
                  <a:srgbClr val="999999"/>
                </a:solidFill>
                <a:latin typeface="Inter"/>
              </a:rPr>
              <a:t>flight / drive-mode files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EXECUTIVE SUMMARY  ·  AS THE AUDIT OPENS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Project overview and the core problem addressed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Rectangle 5"/>
          <p:cNvSpPr/>
          <p:nvPr/>
        </p:nvSpPr>
        <p:spPr>
          <a:xfrm>
            <a:off x="566928" y="1536192"/>
            <a:ext cx="32004" cy="983056"/>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713232" y="1536192"/>
            <a:ext cx="10856976" cy="983056"/>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“This Executive Summary opens the audit and states up front what the catalog behind it establishes: where every Positioning, Navigation and Timing behavior in the ArduPilot firmware lives today, what depends on it, and — for the L1 lateral-navigation slice — which member of the reusable AfsimL1Behavior service each behavior is refactored into. It is a reading aid: the numbered tables, the instance mapping and the registers that follow remain the authoritative record.”</a:t>
            </a:r>
          </a:p>
        </p:txBody>
      </p:sp>
      <p:sp>
        <p:nvSpPr>
          <p:cNvPr id="8" name="TextBox 7"/>
          <p:cNvSpPr txBox="1"/>
          <p:nvPr/>
        </p:nvSpPr>
        <p:spPr>
          <a:xfrm>
            <a:off x="566928" y="2720416"/>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PROJECT OVERVIEW</a:t>
            </a:r>
          </a:p>
        </p:txBody>
      </p:sp>
      <p:sp>
        <p:nvSpPr>
          <p:cNvPr id="9" name="TextBox 8"/>
          <p:cNvSpPr txBox="1"/>
          <p:nvPr/>
        </p:nvSpPr>
        <p:spPr>
          <a:xfrm>
            <a:off x="566928" y="2946120"/>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This deliverable is an audit-grade, read-only static-analysis catalog of every location in the ArduPilot firmware codebase where Positioning, Navigation and Timing (PNT) data is handled, taken at audited HEAD 5b67e27b0a. Every catalogued reference reproduces the code at its cited path:line range verbatim and carries a two-layer dependency map: Layer 1 records the direct callers, callees and typed data edges around the reference, and Layer 2 records the full transitive chain through to the final consumer that acts on the value.</a:t>
            </a:r>
          </a:p>
        </p:txBody>
      </p:sp>
      <p:sp>
        <p:nvSpPr>
          <p:cNvPr id="10" name="TextBox 9"/>
          <p:cNvSpPr txBox="1"/>
          <p:nvPr/>
        </p:nvSpPr>
        <p:spPr>
          <a:xfrm>
            <a:off x="566928" y="4420513"/>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catalog is extended with a current-location → new-service-location mapping. For every PNT touch-point inside the wrapped L1 guidance controller it names the member of the reusable AfsimL1Behavior service that the behavior is refactored into: the AHRS state shim that supplies injected position, velocity and attitude, the injected-dt timing seam that replaces the internal hardware clock, and the extern "C" command surface that returns the roll and lateral-acceleration commands. No source file is modified by this audit.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EXECUTIVE SUMMARY  ·  AS THE AUDIT OPENS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Project overview and the core problem addressed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CORE PROBLEM ADDRESSED</a:t>
            </a:r>
          </a:p>
        </p:txBody>
      </p:sp>
      <p:sp>
        <p:nvSpPr>
          <p:cNvPr id="7" name="TextBox 6"/>
          <p:cNvSpPr txBox="1"/>
          <p:nvPr/>
        </p:nvSpPr>
        <p:spPr>
          <a:xfrm>
            <a:off x="566928" y="1761896"/>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PNT behavior in ArduPilot is not a library that a host can call — it is embedded in the vehicle flight loop and duplicated across vehicles. Position, velocity, attitude and the control-step timebase are pulled implicitly from shared AHRS/EKF state and the hardware clock; PNT values arrive packed into structures alongside non-PNT fields; and the same derivation is repeated across the vehicle glue code. The catalog records that coupling directly: [SHARED-STRUCT] marks the packed structures, [DUPLICATED] marks the repeated derivations, and [CIRCULAR] marks the state that depends on itself.</a:t>
            </a:r>
          </a:p>
        </p:txBody>
      </p:sp>
      <p:sp>
        <p:nvSpPr>
          <p:cNvPr id="8" name="TextBox 7"/>
          <p:cNvSpPr txBox="1"/>
          <p:nvPr/>
        </p:nvSpPr>
        <p:spPr>
          <a:xfrm>
            <a:off x="566928" y="3236289"/>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consequence is that an external host cannot reuse a PNT behavior without first knowing every place that behavior lives, what it reads, and what breaks if it moves. This audit establishes exactly that ground truth — an enumerated, independently verifiable inventory of every PNT touch-point together with its dependency neighbourhood — and, for the L1-navigation slice, names the service member each behavior moves to, so the extraction can be reviewed as a mapping between named locations rather than as a rewrite.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STAKEHOLDER ROUTING  ·  THE AUDIT’S OWN AUDIENCES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Key Stakeholders and Users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1008659"/>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Integration and host engineers embedding the extracted guidance service use the current → new service location mapping as the wiring contract: it names, accessor by accessor, the value the host must inject and the service member that now supplies it. Flight-controls reviewers signing off the guidance seam use the Core Navigation and Core Timing tables, with their paired dependency sub-tables, to confirm that nothing outside the audited seam observes the values being injected.</a:t>
            </a:r>
          </a:p>
        </p:txBody>
      </p:sp>
      <p:sp>
        <p:nvSpPr>
          <p:cNvPr id="7" name="TextBox 6"/>
          <p:cNvSpPr txBox="1"/>
          <p:nvPr/>
        </p:nvSpPr>
        <p:spPr>
          <a:xfrm>
            <a:off x="566928" y="2746019"/>
            <a:ext cx="11003280" cy="1008659"/>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Firmware maintainers auditing PNT coupling use the audit-discipline flags to locate circular state, shared structures and duplicated derivations before touching shared state, and the Coverage &amp; Explicit-Absence Register to see which surfaces were swept and found clear. Reviewers and auditors rely on the read-only guarantee and on the verbatim path:line citations, which make every row independently checkable against the tree at the audited HEAD rather than something that has to be taken on trust.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STAKEHOLDER ROUTING  ·  WHICH PART CARRIES WHAT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Which part of this deck each audience needs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267285"/>
        </p:xfrm>
        <a:graphic>
          <a:graphicData uri="http://schemas.openxmlformats.org/drawingml/2006/table">
            <a:tbl>
              <a:tblPr>
                <a:tableStyleId>{5C22544A-7EE6-4342-B048-85BDC9FD1C3A}</a:tableStyleId>
              </a:tblPr>
              <a:tblGrid>
                <a:gridCol w="2193350"/>
                <a:gridCol w="5940325"/>
                <a:gridCol w="2924469"/>
              </a:tblGrid>
              <a:tr h="240219">
                <a:tc>
                  <a:txBody>
                    <a:bodyPr wrap="square">
                      <a:noAutofit/>
                    </a:bodyPr>
                    <a:lstStyle/>
                    <a:p>
                      <a:pPr algn="l">
                        <a:lnSpc>
                          <a:spcPct val="106000"/>
                        </a:lnSpc>
                        <a:spcAft>
                          <a:spcPts val="0"/>
                        </a:spcAft>
                      </a:pPr>
                      <a:r>
                        <a:rPr sz="1100" b="1">
                          <a:solidFill>
                            <a:srgbClr val="333333"/>
                          </a:solidFill>
                          <a:latin typeface="Inter"/>
                        </a:rPr>
                        <a:t>Audience the audit names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they use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it is in this deck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Inter"/>
                        </a:rPr>
                        <a:t>Integration and host engineers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current → new service location mapping, as the wiring contract: accessor by accessor, the value the host must inject and the service member that now supplies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Part 11 · PNT Instance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Flight-controls reviewers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Core Navigation and Core Timing with their paired dependency sub-tables, to confirm that nothing outside the audited seam observes the values being injected.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Parts 5 and 6 · Core Navigation, Core 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1">
                          <a:solidFill>
                            <a:srgbClr val="333333"/>
                          </a:solidFill>
                          <a:latin typeface="Inter"/>
                        </a:rPr>
                        <a:t>Firmware maintainers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audit-discipline flags, to locate circular state, shared structures and duplicated derivations before touching shared state, and the Coverage &amp; Explicit-Absence Register to see which surfaces were swept and found clear.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Part 3 · severity axis; Part 12 · 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Inter"/>
                        </a:rPr>
                        <a:t>Reviewers and auditors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read-only guarantee and the verbatim path:line citations, which make every row independently checkable against the tree at the audited HEAD rather than something that has to be taken on trust.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Part 13 · provenance and reconciliation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KEY FINDINGS AT A GLANCE  ·  EVERY FIGURE AS STATED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Key Findings at a Glance</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Every figure below is a reconciled total of the catalog itself, carried forward unchanged from the tables, the instance mapping and the registers that follow.</a:t>
            </a:r>
          </a:p>
        </p:txBody>
      </p:sp>
      <p:graphicFrame>
        <p:nvGraphicFramePr>
          <p:cNvPr id="7" name="Table 6"/>
          <p:cNvGraphicFramePr>
            <a:graphicFrameLocks noGrp="1"/>
          </p:cNvGraphicFramePr>
          <p:nvPr/>
        </p:nvGraphicFramePr>
        <p:xfrm>
          <a:off x="566928" y="2063953"/>
          <a:ext cx="11058144" cy="3280817"/>
        </p:xfrm>
        <a:graphic>
          <a:graphicData uri="http://schemas.openxmlformats.org/drawingml/2006/table">
            <a:tbl>
              <a:tblPr>
                <a:tableStyleId>{5C22544A-7EE6-4342-B048-85BDC9FD1C3A}</a:tableStyleId>
              </a:tblPr>
              <a:tblGrid>
                <a:gridCol w="2101961"/>
                <a:gridCol w="822506"/>
                <a:gridCol w="4203922"/>
                <a:gridCol w="3929755"/>
              </a:tblGrid>
              <a:tr h="240219">
                <a:tc>
                  <a:txBody>
                    <a:bodyPr wrap="square">
                      <a:noAutofit/>
                    </a:bodyPr>
                    <a:lstStyle/>
                    <a:p>
                      <a:pPr algn="l">
                        <a:lnSpc>
                          <a:spcPct val="106000"/>
                        </a:lnSpc>
                        <a:spcAft>
                          <a:spcPts val="0"/>
                        </a:spcAft>
                      </a:pPr>
                      <a:r>
                        <a:rPr sz="1100" b="1">
                          <a:solidFill>
                            <a:srgbClr val="333333"/>
                          </a:solidFill>
                          <a:latin typeface="Inter"/>
                        </a:rPr>
                        <a:t>Dimension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Value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the Catalog Establishes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It Is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1">
                          <a:solidFill>
                            <a:srgbClr val="333333"/>
                          </a:solidFill>
                          <a:latin typeface="Inter"/>
                        </a:rPr>
                        <a:t>Core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Code that directly implements, reads, writes or processes PNT 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 — CORE PNT REFERENCES: Table 1 Core Positioning, Table 2 Core Navigation, Table 3 Core Timing, each with its 1a / 2a / 3a dependency map.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1">
                          <a:solidFill>
                            <a:srgbClr val="333333"/>
                          </a:solidFill>
                          <a:latin typeface="Inter"/>
                        </a:rPr>
                        <a:t>Indirect / relational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Fira Code"/>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Code that reads no PNT data itself but whose behavior changes as a result of PNT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 — INDIRECT / RELATIONAL PNT REFERENCES: Table 4 Indirect Positioning, Table 5 Indirect Navigation, Table 6 Indirect Timing, each with its 4a / 5a / 6a dependency map.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Total catalogued touch-points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Core plus indirect — the complete PNT surface enumerated by this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All GROUP 1 and GROUP 2 main tables.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Evidence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Fira Code"/>
                        </a:rPr>
                        <a:t>282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94 touch-points × 3 layers: the main row, its Layer 1 direct edges and its Layer 2 transitive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Each main table together with its matching Xa dependency sub-table.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Data objects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table objects: 6 main tables plus their 6 Layer 1 and 6 Layer 2 blocks.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Tables 1 / 1a through 6 / 6a.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Catalog structure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Tables in 6 numbered groups: 6 main tables, each paired with an Xa sub-table holding its Layer 1 and Layer 2 blocks.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Tables 1 / 1a through 6 / 6a, rendered in that order.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KEY FINDINGS AT A GLANCE  ·  EVERY FIGURE AS STATED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Key Findings at a Glance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560161"/>
        </p:xfrm>
        <a:graphic>
          <a:graphicData uri="http://schemas.openxmlformats.org/drawingml/2006/table">
            <a:tbl>
              <a:tblPr>
                <a:tableStyleId>{5C22544A-7EE6-4342-B048-85BDC9FD1C3A}</a:tableStyleId>
              </a:tblPr>
              <a:tblGrid>
                <a:gridCol w="2101961"/>
                <a:gridCol w="822506"/>
                <a:gridCol w="4203922"/>
                <a:gridCol w="3929755"/>
              </a:tblGrid>
              <a:tr h="240219">
                <a:tc>
                  <a:txBody>
                    <a:bodyPr wrap="square">
                      <a:noAutofit/>
                    </a:bodyPr>
                    <a:lstStyle/>
                    <a:p>
                      <a:pPr algn="l">
                        <a:lnSpc>
                          <a:spcPct val="106000"/>
                        </a:lnSpc>
                        <a:spcAft>
                          <a:spcPts val="0"/>
                        </a:spcAft>
                      </a:pPr>
                      <a:r>
                        <a:rPr sz="1100" b="1">
                          <a:solidFill>
                            <a:srgbClr val="333333"/>
                          </a:solidFill>
                          <a:latin typeface="Inter"/>
                        </a:rPr>
                        <a:t>Dimension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Value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the Catalog Establishes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It Is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l">
                        <a:lnSpc>
                          <a:spcPct val="106000"/>
                        </a:lnSpc>
                        <a:spcAft>
                          <a:spcPts val="0"/>
                        </a:spcAft>
                      </a:pPr>
                      <a:r>
                        <a:rPr sz="1100" b="1">
                          <a:solidFill>
                            <a:srgbClr val="333333"/>
                          </a:solidFill>
                          <a:latin typeface="Inter"/>
                        </a:rPr>
                        <a:t>Audit-discipline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Flag kinds, with occurrences [CIRCULAR] 8 · [SHARED-STRUCT] 19 · [DUPLICATED] 36 · [MULTI-CATEGORY] 7 · [ABSENT] 30. They mark extraction risk and enforce non-inference discipline inline in the Notes columns.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Notes columns throughout; taxonomy and occurrence counts in Audit-Discipline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Inter"/>
                        </a:rPr>
                        <a:t>Coverage and explicit absences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Fira Code"/>
                        </a:rPr>
                        <a:t>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Register entries across 10 sub-registers, including 27 checked, explicitly documented absences — evidence that the sweep was exhaustive rather than opportunistic.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&amp; Explicit-Absence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1">
                          <a:solidFill>
                            <a:srgbClr val="333333"/>
                          </a:solidFill>
                          <a:latin typeface="Inter"/>
                        </a:rPr>
                        <a:t>Current → new service mapping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L1-navigation touch-points mapped onto the AfsimL1Behavior member each is refactored into, spanning position, velocity, attitude, airspeed scaling, timing, geometry and the command outputs.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Instance Audit — Current Location → 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EXECUTIVE SUMMARY  ·  WHAT THE CATALOG IS FOR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Expected Impact and Value Proposition</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744093"/>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audit converts an implicit understanding of ArduPilot PNT coupling into a verifiable extraction baseline. Because every row cites a path:line range and reproduces the code at that range verbatim, the inventory can be re-checked against the tree at audited HEAD 5b67e27b0a rather than taken on trust, and the totals above reconcile against the catalog they summarise.</a:t>
            </a:r>
          </a:p>
        </p:txBody>
      </p:sp>
      <p:sp>
        <p:nvSpPr>
          <p:cNvPr id="7" name="TextBox 6"/>
          <p:cNvSpPr txBox="1"/>
          <p:nvPr/>
        </p:nvSpPr>
        <p:spPr>
          <a:xfrm>
            <a:off x="566928" y="2481453"/>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audit-discipline flags turn extraction risk into explicit, addressable markers — where state is circular, where PNT fields are packed with non-PNT fields, where a derivation is duplicated, and, through the checked absences, where an expected PNT element was looked for and genuinely is not present. For the L1-navigation slice the current → new mapping supplies a documented wiring contract for the reusable service, so the guidance seam can be reviewed and signed off against named locations on both sides of the extraction.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DOCUMENT ROADMAP  ·  THE AUDIT’S OWN READING ORDER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Document Roadmap / How to Read This Document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The sections below appear in this order. Section names, table numbers and row numbering are exactly as catalogued.</a:t>
            </a:r>
          </a:p>
        </p:txBody>
      </p:sp>
      <p:graphicFrame>
        <p:nvGraphicFramePr>
          <p:cNvPr id="7" name="Table 6"/>
          <p:cNvGraphicFramePr>
            <a:graphicFrameLocks noGrp="1"/>
          </p:cNvGraphicFramePr>
          <p:nvPr/>
        </p:nvGraphicFramePr>
        <p:xfrm>
          <a:off x="566928" y="1870100"/>
          <a:ext cx="11058144" cy="3165639"/>
        </p:xfrm>
        <a:graphic>
          <a:graphicData uri="http://schemas.openxmlformats.org/drawingml/2006/table">
            <a:tbl>
              <a:tblPr>
                <a:tableStyleId>{5C22544A-7EE6-4342-B048-85BDC9FD1C3A}</a:tableStyleId>
              </a:tblPr>
              <a:tblGrid>
                <a:gridCol w="3198636"/>
                <a:gridCol w="7859508"/>
              </a:tblGrid>
              <a:tr h="240219">
                <a:tc>
                  <a:txBody>
                    <a:bodyPr wrap="square">
                      <a:noAutofit/>
                    </a:bodyPr>
                    <a:lstStyle/>
                    <a:p>
                      <a:pPr algn="l">
                        <a:lnSpc>
                          <a:spcPct val="106000"/>
                        </a:lnSpc>
                        <a:spcAft>
                          <a:spcPts val="0"/>
                        </a:spcAft>
                      </a:pPr>
                      <a:r>
                        <a:rPr sz="1100" b="1">
                          <a:solidFill>
                            <a:srgbClr val="333333"/>
                          </a:solidFill>
                          <a:latin typeface="Inter"/>
                        </a:rPr>
                        <a:t>Section, as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it contains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1">
                          <a:solidFill>
                            <a:srgbClr val="333333"/>
                          </a:solidFill>
                          <a:latin typeface="Inter"/>
                        </a:rPr>
                        <a:t>Legend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classification vocabularies — Role for Group 1, the Trigger Condition / PNT State Observed / Behavior Change discriminators for Group 2, Dependency Type for Layer 1 — plus the Notes-flag meanings and the cross-reference rule that ties each Xa table back to its main table numbering. Read this first.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Footprint Summary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surveyed surface: the subsystems, receiver backends, EKF families and flight-mode files swept to make the catalog exhaustive.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GROUP 1 — CORE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Tables 1 / 1a Core Positioning, 2 / 2a Core Navigation and 3 / 3a Core Timing: code that directly implements, reads, writes or processes PNT data. Table 2 also carries the New Service Location column.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GROUP 2 — INDIRECT / RELATIONAL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Tables 4 / 4a Indirect Positioning, 5 / 5a Indirect Navigation and 6 / 6a Indirect Timing: code whose behavior changes as a result of PNT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PNT Instance Audit — Current Location → 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consolidated mapping of every PNT touch-point inside the wrapped L1 controller onto its AfsimL1Behavior member, with the line-number basis stated alongside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Inter"/>
                        </a:rPr>
                        <a:t>Audit-Discipline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flag taxonomy with its occurrence counts, reconciled against the catalog.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Coverage &amp; Explicit-Absence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directory-wide token sweeps and checked absences that establish exhaustiveness across libraries/, the vehicle directories and the submodule boundary edges.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Severity axis</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The audit’s own Audit-Discipline Flags, with its own stated occurrence counts. No new scale is introduced.</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AUDIT-DISCIPLINE FLAGS  ·  5 KINDS, CATALOG-WIDE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Audit-Discipline Flags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Extraction-risk and non-inference discipline markers applied inline in the Notes columns throughout the catalog.  Occurrence counts reconcile with the verified corpus totals.</a:t>
            </a:r>
          </a:p>
        </p:txBody>
      </p:sp>
      <p:graphicFrame>
        <p:nvGraphicFramePr>
          <p:cNvPr id="7" name="Table 6"/>
          <p:cNvGraphicFramePr>
            <a:graphicFrameLocks noGrp="1"/>
          </p:cNvGraphicFramePr>
          <p:nvPr/>
        </p:nvGraphicFramePr>
        <p:xfrm>
          <a:off x="566928" y="2063953"/>
          <a:ext cx="11058144" cy="1625562"/>
        </p:xfrm>
        <a:graphic>
          <a:graphicData uri="http://schemas.openxmlformats.org/drawingml/2006/table">
            <a:tbl>
              <a:tblPr>
                <a:tableStyleId>{5C22544A-7EE6-4342-B048-85BDC9FD1C3A}</a:tableStyleId>
              </a:tblPr>
              <a:tblGrid>
                <a:gridCol w="2101961"/>
                <a:gridCol w="1370844"/>
                <a:gridCol w="7585339"/>
              </a:tblGrid>
              <a:tr h="270927">
                <a:tc>
                  <a:txBody>
                    <a:bodyPr wrap="square">
                      <a:noAutofit/>
                    </a:bodyPr>
                    <a:lstStyle/>
                    <a:p>
                      <a:pPr algn="l">
                        <a:lnSpc>
                          <a:spcPct val="106000"/>
                        </a:lnSpc>
                        <a:spcAft>
                          <a:spcPts val="0"/>
                        </a:spcAft>
                      </a:pPr>
                      <a:r>
                        <a:rPr sz="1300" b="1">
                          <a:solidFill>
                            <a:srgbClr val="333333"/>
                          </a:solidFill>
                          <a:latin typeface="Inter"/>
                        </a:rPr>
                        <a:t>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Occurrences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Meaning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70927">
                <a:tc>
                  <a:txBody>
                    <a:bodyPr wrap="square">
                      <a:noAutofit/>
                    </a:bodyPr>
                    <a:lstStyle/>
                    <a:p>
                      <a:pPr algn="l">
                        <a:lnSpc>
                          <a:spcPct val="106000"/>
                        </a:lnSpc>
                        <a:spcAft>
                          <a:spcPts val="0"/>
                        </a:spcAft>
                      </a:pPr>
                      <a:r>
                        <a:rPr sz="1300" b="1">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Circular dependency (e.g. AHRS ↔ EKF).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PNT fields packed with non-PNT fields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1">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Same PNT value read/derived in multiple places.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Touch-point spans more than one PNT pillar.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1">
                          <a:solidFill>
                            <a:srgbClr val="5B39F3"/>
                          </a:solidFill>
                          <a:latin typeface="Fira Code"/>
                        </a:rPr>
                        <a:t>[ABSENT]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A checked, explicitly-documented absence (non-inference discipline).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3817531"/>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Explicitly-documented absences catalogued in the Coverage register: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[SHARED-STRUCT]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[SHARED-STRUCT] – where it is applied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PNT fields packed with non-PNT fields (extraction risk).</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1906943"/>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19  ·  [SHARED-STRUCT] marks the packed structures</a:t>
            </a:r>
          </a:p>
        </p:txBody>
      </p:sp>
      <p:graphicFrame>
        <p:nvGraphicFramePr>
          <p:cNvPr id="8" name="Table 7"/>
          <p:cNvGraphicFramePr>
            <a:graphicFrameLocks noGrp="1"/>
          </p:cNvGraphicFramePr>
          <p:nvPr/>
        </p:nvGraphicFramePr>
        <p:xfrm>
          <a:off x="566928" y="2185987"/>
          <a:ext cx="11058144" cy="3708597"/>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1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libraries/AP_GPS/AP_GPS_UBLOX.cpp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1510-1518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AP_GPS_UBLOX::_parse_gps()(NAV-POSLLH)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libraries/AP_GPS/AP_GPS_NMEA.cpp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333-340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AP_GPS_NMEA::_term_complete()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1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484-491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libraries/AP_GPS/AP_GPS_NOVA.cpp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209-216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1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276-283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libraries/AP_GPS/AP_GPS_SBP2.cpp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328-335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AP_GPS_SBP2::_attempt_state_update()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1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libraries/AP_GPS/AP_GPS_SIRF.cpp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178-185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AP_GPS_SIRF::_parse_gps()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1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libraries/AP_GPS/AP_GPS_ERB.cpp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150-157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AP_GPS_ERB::_parse_gps()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1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libraries/AP_GPS/AP_GPS_MAV.cpp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67-75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AP_GPS_MAV::handle_msg()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1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libraries/AP_GPS/AP_GPS_MSP.cpp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44-51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AP_GPS_MSP::handle_msp()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9" name="TextBox 8"/>
          <p:cNvSpPr txBox="1"/>
          <p:nvPr/>
        </p:nvSpPr>
        <p:spPr>
          <a:xfrm>
            <a:off x="566928" y="6022600"/>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[SHARED-STRUCT]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[SHARED-STRUCT]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392325"/>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1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libraries/AP_GPS/AP_GPS_GSOF.cpp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231-238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AP_GPS_GSOF::pack_state_data()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libraries/AP_GPS/AP_GPS_DroneCAN.cpp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388-396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AP_GPS_DroneCAN::handle_fix2_msg()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1 #13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libraries/AP_GPS/AP_GPS_ExternalAHRS.cpp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49-56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AP_GPS_ExternalAHRS::handle_external()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1 #14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libraries/AP_GPS/AP_GPS_SITL.cpp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86-93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AP_GPS_SITL::read()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1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192-201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structAP_GPS::GPS_State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1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libraries/AP_Common/Location.h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11-20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classLocation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4111397"/>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[SHARED-STRUCT]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[SHARED-STRUCT] in the Layer 2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1076053"/>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1a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and AP_RTC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1a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class Location (geodetic value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 where it is applied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Same PNT value read/derived in multiple places.</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1906943"/>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36  ·  [DUPLICATED] marks the repeated derivations</a:t>
            </a:r>
          </a:p>
        </p:txBody>
      </p:sp>
      <p:graphicFrame>
        <p:nvGraphicFramePr>
          <p:cNvPr id="8" name="Table 7"/>
          <p:cNvGraphicFramePr>
            <a:graphicFrameLocks noGrp="1"/>
          </p:cNvGraphicFramePr>
          <p:nvPr/>
        </p:nvGraphicFramePr>
        <p:xfrm>
          <a:off x="566928" y="2185987"/>
          <a:ext cx="11058144" cy="3646076"/>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2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528-536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2 #21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560-568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4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20-28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4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17-25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4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ArduPlane/takeoff.cpp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58-62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Plane::auto_takeoff_check()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5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117-125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5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56-65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5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93-102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5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112-121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5960079"/>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290680"/>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6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37-45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6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22-30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6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22-30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6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31-39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6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Blimp/failsafe.cpp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37-45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Blimp::failsafe_check()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6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84-88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78-82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6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8-16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6-14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009752"/>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in the Layer 2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189035"/>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2a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2a #21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4a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 fence failsafe (RTL/LAND)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4a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5a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(via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failsafe action (LAND)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5a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(Plane)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5a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(Rover)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5a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(Sub)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 EKF failsafe 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6a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(motor min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6a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 (RC passthrough)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AP_Arming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6a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in the Layer 2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619012"/>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6a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6a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6a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6a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6a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[CIRCULAR]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[CIRCULAR] – where it is applied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Circular dependency (e.g. AHRS ↔ EKF).</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1906943"/>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8  ·  [CIRCULAR] marks the state that depends on itself</a:t>
            </a:r>
          </a:p>
        </p:txBody>
      </p:sp>
      <p:graphicFrame>
        <p:nvGraphicFramePr>
          <p:cNvPr id="8" name="Table 7"/>
          <p:cNvGraphicFramePr>
            <a:graphicFrameLocks noGrp="1"/>
          </p:cNvGraphicFramePr>
          <p:nvPr/>
        </p:nvGraphicFramePr>
        <p:xfrm>
          <a:off x="566928" y="2185987"/>
          <a:ext cx="11058144" cy="2152106"/>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2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3600-3604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2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627-636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2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502-511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2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libraries/AP_NavEKF3/AP_NavEKF3_Measurements.cpp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559-567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2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528-536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4466109"/>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[CIRCULAR]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[CIRCULAR] in the Layer 2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720657"/>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2a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2a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[MULTI-CATEGORY]</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[MULTI-CATEGORY] – where it is applied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Touch-point spans more than one PNT pillar.</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1906943"/>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7  ·  Touch-point spans more than one PNT pillar.</a:t>
            </a:r>
          </a:p>
        </p:txBody>
      </p:sp>
      <p:graphicFrame>
        <p:nvGraphicFramePr>
          <p:cNvPr id="8" name="Table 7"/>
          <p:cNvGraphicFramePr>
            <a:graphicFrameLocks noGrp="1"/>
          </p:cNvGraphicFramePr>
          <p:nvPr/>
        </p:nvGraphicFramePr>
        <p:xfrm>
          <a:off x="566928" y="2185987"/>
          <a:ext cx="11058144" cy="1316272"/>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1 #17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360-365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192-201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structAP_GPS::GPS_State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3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409-418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AP_GPS::time_week_ms()/time_week()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363027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[MULTI-CATEGORY]</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[MULTI-CATEGORY] in the Layer 2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1138574"/>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1a #15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velocity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1a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and AP_RTC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3a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receiver (time-of-week)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GPS-time / UTC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[ABSENT]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[ABSENT] – where it is applied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 checked, explicitly-documented absence (non-inference discipline).</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1906943"/>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30  ·  where an expected PNT element was looked for and genuinely is not present</a:t>
            </a:r>
          </a:p>
        </p:txBody>
      </p:sp>
      <p:graphicFrame>
        <p:nvGraphicFramePr>
          <p:cNvPr id="8" name="Table 7"/>
          <p:cNvGraphicFramePr>
            <a:graphicFrameLocks noGrp="1"/>
          </p:cNvGraphicFramePr>
          <p:nvPr/>
        </p:nvGraphicFramePr>
        <p:xfrm>
          <a:off x="566928" y="2379840"/>
          <a:ext cx="11058144" cy="658136"/>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1 #23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libraries/AC_AttitudeControl/AC_PosControl.cpp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363-372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AC_PosControl::input_pos_NEU_cm()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[ABSENT]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3165992"/>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[ABSENT]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[ABSENT] in the Layer 2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80438"/>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4a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(no PNT — GPS-independent)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[ABSENT]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[ABSENT]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[ABSENT] – the checked absences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FOOTNOTE TO THE FLAGS TABLE</a:t>
            </a:r>
          </a:p>
        </p:txBody>
      </p:sp>
      <p:sp>
        <p:nvSpPr>
          <p:cNvPr id="7" name="Rectangle 6"/>
          <p:cNvSpPr/>
          <p:nvPr/>
        </p:nvSpPr>
        <p:spPr>
          <a:xfrm>
            <a:off x="566928" y="1761896"/>
            <a:ext cx="32004" cy="214960"/>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214960"/>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“Explicitly-documented absences catalogued in the Coverage register: 27.”</a:t>
            </a:r>
          </a:p>
        </p:txBody>
      </p:sp>
      <p:sp>
        <p:nvSpPr>
          <p:cNvPr id="9" name="TextBox 8"/>
          <p:cNvSpPr txBox="1"/>
          <p:nvPr/>
        </p:nvSpPr>
        <p:spPr>
          <a:xfrm>
            <a:off x="566928" y="2178024"/>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WHERE THEY ARE CATALOGUED</a:t>
            </a:r>
          </a:p>
        </p:txBody>
      </p:sp>
      <p:sp>
        <p:nvSpPr>
          <p:cNvPr id="10" name="TextBox 9"/>
          <p:cNvSpPr txBox="1"/>
          <p:nvPr/>
        </p:nvSpPr>
        <p:spPr>
          <a:xfrm>
            <a:off x="566928" y="2403728"/>
            <a:ext cx="11003280" cy="479526"/>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checked absences are catalogued entry by entry in the Coverage &amp; Explicit-Absence Register, which is carried in full in Part 12 of this deck: each one names the surface that was swept, what was looked for, and the evidence that it is not present.</a:t>
            </a:r>
          </a:p>
        </p:txBody>
      </p:sp>
      <p:sp>
        <p:nvSpPr>
          <p:cNvPr id="11" name="TextBox 10"/>
          <p:cNvSpPr txBox="1"/>
          <p:nvPr/>
        </p:nvSpPr>
        <p:spPr>
          <a:xfrm>
            <a:off x="566928" y="308442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DISCIPLINE THE FLAG ENFORCES</a:t>
            </a:r>
          </a:p>
        </p:txBody>
      </p:sp>
      <p:sp>
        <p:nvSpPr>
          <p:cNvPr id="12" name="Rectangle 11"/>
          <p:cNvSpPr/>
          <p:nvPr/>
        </p:nvSpPr>
        <p:spPr>
          <a:xfrm>
            <a:off x="566928" y="3310126"/>
            <a:ext cx="32004" cy="214960"/>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13232" y="3310126"/>
            <a:ext cx="10856976" cy="214960"/>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“A checked, explicitly-documented absence (non-inference discipline).”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THE TWO NAMED TOP RISKS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two touch-points the audit itself singles out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199605"/>
          </a:xfrm>
          <a:prstGeom prst="rect">
            <a:avLst/>
          </a:prstGeom>
          <a:noFill/>
        </p:spPr>
        <p:txBody>
          <a:bodyPr wrap="square" lIns="0" rIns="0" tIns="0" bIns="0" anchor="t">
            <a:noAutofit/>
          </a:bodyPr>
          <a:lstStyle/>
          <a:p>
            <a:pPr algn="l">
              <a:lnSpc>
                <a:spcPct val="124000"/>
              </a:lnSpc>
              <a:spcAft>
                <a:spcPts val="0"/>
              </a:spcAft>
            </a:pPr>
            <a:r>
              <a:rPr sz="1300" b="0">
                <a:solidFill>
                  <a:srgbClr val="333333"/>
                </a:solidFill>
                <a:latin typeface="Inter"/>
              </a:rPr>
              <a:t>The audit applies superlative risk language to exactly two catalogued touch-points. Both are quoted here in full, as printed.</a:t>
            </a:r>
          </a:p>
        </p:txBody>
      </p:sp>
      <p:sp>
        <p:nvSpPr>
          <p:cNvPr id="7" name="TextBox 6"/>
          <p:cNvSpPr txBox="1"/>
          <p:nvPr/>
        </p:nvSpPr>
        <p:spPr>
          <a:xfrm>
            <a:off x="566928" y="1936965"/>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Table 1 #18  ·  libraries/AP_GPS/AP_GPS.h  192-201  structAP_GPS::GPS_State</a:t>
            </a:r>
          </a:p>
        </p:txBody>
      </p:sp>
      <p:sp>
        <p:nvSpPr>
          <p:cNvPr id="8" name="Rectangle 7"/>
          <p:cNvSpPr/>
          <p:nvPr/>
        </p:nvSpPr>
        <p:spPr>
          <a:xfrm>
            <a:off x="566928" y="2162669"/>
            <a:ext cx="32004" cy="437349"/>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13232" y="2162669"/>
            <a:ext cx="10856976" cy="437349"/>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“[SHARED-STRUCT] [MULTI-CATEGORY] One struct mixes Positioning (location), Navigation (velocity, ground_speed, ground_course) and Timing (time_week_ms, time_week) — see Table 3 #8. Primary extraction-risk struct for a PNT split.”</a:t>
            </a:r>
          </a:p>
        </p:txBody>
      </p:sp>
      <p:sp>
        <p:nvSpPr>
          <p:cNvPr id="10" name="TextBox 9"/>
          <p:cNvSpPr txBox="1"/>
          <p:nvPr/>
        </p:nvSpPr>
        <p:spPr>
          <a:xfrm>
            <a:off x="566928" y="2801186"/>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Table 1 #20  ·  libraries/AP_Common/Location.h  11-20  classLocation</a:t>
            </a:r>
          </a:p>
        </p:txBody>
      </p:sp>
      <p:sp>
        <p:nvSpPr>
          <p:cNvPr id="11" name="Rectangle 10"/>
          <p:cNvSpPr/>
          <p:nvPr/>
        </p:nvSpPr>
        <p:spPr>
          <a:xfrm>
            <a:off x="566928" y="3026890"/>
            <a:ext cx="32004" cy="437349"/>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13232" y="3026890"/>
            <a:ext cx="10856976" cy="437349"/>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“[SHARED-STRUCT] Geodetic PNT fields lat/lng (1E7 deg) and alt (cm) packed with NON-PNT bitfields relative_alt, loiter_ccw, terrain_alt, origin_alt, loiter_xtrack. Ubiquitous value type; top extraction risk.”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1 — Core Positioning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Where PNT is born: receiver backends, the shared state struct and the location value type.</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26 catalogued rows, with every Notes annotation, flag token and cited path:line range exactly as printed.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929091"/>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libraries/AP_GPS/AP_GPS_UBLOX.cpp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1510-1518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AP_GPS_UBLOX::_parse_gps()(NAV-POSLLH)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u-blox UBX binary NAV-POSLLH.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libraries/AP_GPS/AP_GPS_NMEA.cpp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333-340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AP_GPS_NMEA::_term_complete()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NMEA-0183 ASCII (GGA/RMC) sentence.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484-491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Septentrio SBF binary PVTGeodetic.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libraries/AP_GPS/AP_GPS_NOVA.cpp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209-216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NovAtel OEM BESTPOS.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276-283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Swift Navigation SBP v1 POS_LLH.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347009"/>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libraries/AP_GPS/AP_GPS_SBP2.cpp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328-335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AP_GPS_SBP2::_attempt_state_update()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Swift Navigation SBP v2 POS_LLH.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libraries/AP_GPS/AP_GPS_SIRF.cpp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178-185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AP_GPS_SIRF::_parse_gps()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SiRF binary geodetic navigation.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libraries/AP_GPS/AP_GPS_ERB.cpp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150-157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AP_GPS_ERB::_parse_gps()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Emlid Reach ERB protocol.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libraries/AP_GPS/AP_GPS_MAV.cpp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67-75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AP_GPS_MAV::handle_msg()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MAVLink GPS_INPUT message.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libraries/AP_GPS/AP_GPS_MSP.cpp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44-51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AP_GPS_MSP::handle_msp()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MSP protocol GPS data.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libraries/AP_GPS/AP_GPS_GSOF.cpp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231-238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AP_GPS_GSOF::pack_state_data()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Trimble GSOF binary.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69310"/>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libraries/AP_GPS/AP_GPS_DroneCAN.cpp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388-396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AP_GPS_DroneCAN::handle_fix2_msg()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DroneCAN/UAVCAN Fix2 (external boundary modules/DroneCAN).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libraries/AP_GPS/AP_GPS_ExternalAHRS.cpp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49-56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AP_GPS_ExternalAHRS::handle_external()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External AHRS/INS GPS feed.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libraries/AP_GPS/AP_GPS_SITL.cpp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86-93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AP_GPS_SITL::read()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Software-in-the-loop simulated GPS.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libraries/AP_GPS/GPS_Backend.cpp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101-109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AP_GPS_Backend::fill_3d_velocity()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Backend base class; derives state.velocity (NED) from ground_speed + ground_course for receivers that do not report 3D velocity. Shared by all backends.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324-329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Frontend accessor exposing backend-measured GPS_State.location; dispatches to primary_instance. Reached vehicle-side via the AP::gps() 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360-365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[MULTI-CATEGORY] 3D NED velocity accessor of measured GPS_State.velocity. velocity also drives Navigation fusion (Table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12–17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587228"/>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192-201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structAP_GPS::GPS_State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[MULTI-CATEGORY] One struct mixes Positioning (location), Navigation (velocity, ground_speed, ground_course) and Timing (time_week_ms, time_week) — see Table 3 #8. Primary extraction-risk struct for a PNT split.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libraries/AP_GPS/AP_GPS_Blended.cpp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17-25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AP_GPS_Blended::_calc_weights()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Multi-receiver blending of location/velocity (GPS_MAX_RECEIVERS==2). Reads gps.state[].status (Data dependency) to weight receivers.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libraries/AP_Common/Location.h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11-20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classLocation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Geodetic PNT fields lat/lng (1E7 deg) and alt (cm) packed with NON-PNT bitfields relative_alt, loiter_ccw, terrain_alt, origin_alt, loiter_xtrack. Ubiquitous value type; top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libraries/AP_Common/Location.cpp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259-268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Location::get_vector_from_origin_NEU_cm()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Geodetic (lat/lng/alt) → NEU centimetre vector relative to the EKF origin (geodetic↔NED duality).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libraries/AP_InertialNav/AP_InertialNav.cpp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14-23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AP_InertialNav::update()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Pulls EKF origin-relative NE/D position into _relpos_cm (cm). get_position_neu_cm() exposes it to vehicle code.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libraries/AC_AttitudeControl/AC_PosControl.cpp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363-372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AC_PosControl::input_pos_NEU_cm()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3D position/velocity controller consuming the position target. there is no standalone AC_PosControl library — it physically resides under libraries/AC_AttitudeControl/ (snapshot-fidelity note).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libraries/APM_Control/AR_PosControl.cpp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114-123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AR_PosControl::update()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position controller; reads AP::ahrs().get_relative_position_NED_origin() and get_velocity_NED() (Shared global/singleton). Separate controller from Copter's AC_PosControl.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18–24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076053"/>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libraries/AP_Beacon/AP_Beacon.cpp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175-184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AP_Beacon::get_vehicle_position_ned()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Non-GPS (GPS-denied) positioning source; returns vehicle NED position with a staleness timeout.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libraries/AP_VisualOdom/AP_VisualOdom.cpp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201-210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AP_VisualOdom::handle_pose_estimate()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Non-GPS visual-odometry position/attitude source feeding EKF external-nav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25–26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dependency map</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1a: Layer 1 — direct callers / callees with typed dependency</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001472"/>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AP_GPS_SBP2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AP_GPS_SIRF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AP_GPS_ERB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AP_GPS_MAV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19389"/>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AP_GPS_MSP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AP_GPS_GSOF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AP_GPS_DroneCAN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AP_GPS_ExternalAHRS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AP_GPS_SITL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AP_GPS_Backend::fill_3d_velocity()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cosf/sinf on state.ground_course; writes state.velocity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All receiver backends (UBLOX, NMEA, SIRF,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returns state[instance].location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NavEKF3_Measurements::readGpsData(); AP_AHRS; AC_WPNav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returns state[instance].velocity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NavEKF3_Measurements::readGpsData() (PosVel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(data struct — no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All GPS backends (write); frontend accessors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AP_GPS_Blended::_calc_weights()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gps.state[].status; time deltas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AP_GPS_Blended::calc_weights()/update (blended primary)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165638"/>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class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get_alt_cm(); get_vector_xy_from_origin_NE_cm()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GPS_State; AP_AHRS; AC_WPNav; AP_Mission (ubiquitous)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Location::get_vector_from_origin_NEU_cm()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get_alt_cm(); get_vector_xy_from_origin_NE_cm()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AC_WPNav::get_vector_NEU_cm()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AP_InertialNav::update()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_ahrs_ekf.get_relative_position_NE_origin_float()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Copter::read_inertia()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AC_PosControl::input_pos_NEU_cm()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input_pos_NEU_m()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 mode_auto.cpp / mode.cpp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AR_PosControl::update()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AP::ahrs().get_relative_position_NED_origin(); 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 mode controllers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AP_Beacon::get_vehicle_position_ned()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device_ready(); AP_HAL::millis()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 range-beacon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AP_VisualOdom::handle_pose_estimate()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_driver backend handle_pose_estimate()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 / AP_ExternalAHRS pose handlers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20–26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1a: Layer 2 — full transitive chain, final consumer &amp; hop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5421092"/>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AP_GPS_SBP2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AP_GPS_SBP2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AP_GPS_SIRF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AP_GPS_SIRF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AP_GPS_ERB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AP_GPS_ERB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AP_GPS_MAV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AP_GPS_MAV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AP_GPS_MSP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AP_GPS_MSP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AP_GPS_GSOF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AP_GPS_GSOF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AP_GPS_DroneCAN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AP_GPS_DroneCAN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AP_GPS_ExternalAHRS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AP_GPS_ExternalAHRS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AP_GPS_SITL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AP_GPS_SITL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13–14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221966"/>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velocity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GPS_State.velocity → AP_GPS::velocity() → NavEKF3_Measurements::readGpsData → NavEKF3::FuseVelPosNED → AP_AHRS::get_velocity_NED() → AC_PosControl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[MULTI-CATEGORY] also Navigation.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AP_GPS::location() → NavEKF3_Measurements::readGpsData (gps.location) → NavEKF3::FuseVelPosNED → AP_AHRS::get_location() → AC_WPNav::set_wp_destination_loc → AC_PosControl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Geodetic position path (ingestion hop explicit).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AP_GPS::velocity() → NavEKF3_Measurements::readGpsData (gps.velocity) → NavEKF3::FuseVelPosNED → AP_AHRS::get_velocity_NED() → AC_PosControl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Velocity path (ingestion hop explicit).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GPS_State → AP_GPS accessors {location|velocity|time_week} → NavEKF3_Measurements → EKF/AHRS + AP_RTC → controllers +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and AP_RTC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[MULTI-CATEGORY] branches into Table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94103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15–18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909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AP_GPS_Blended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Blended → AP_GPS primary (blended) location/velocity → NavEKF3_Measurements → NavEKF3::FuseVelPosNED → AP_AHRS → controllers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 upstream of EKF ingestion.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class Location (geodetic value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Location → AC_WPNav::set_wp_destination_loc → get_vector_NEU_cm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Pervasive value type; depth measured along its dominant waypoint-control consumer branch (the AC_WPNav→PosControl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Location→NEU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get_vector_from_origin_NEU_cm() → AC_WPNav::get_vector_NEU_cm → set_wp_destination_NEU_cm → AC_PosControl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Geodetic↔NED transform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AP_InertialNav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origin-relative pos → AP_InertialNav::update → _relpos_cm → Copter logging/reporting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 / logger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Reporting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AC_PosControl (Sink)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pos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Inbound chain to a Sink endpoint.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64816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849367"/>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AR_PosControl (Sink, Rover)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pos/vel → AR_PosControl → AR_AttitudeControl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actuation endpoint.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AP_Beacon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AP_Beacon → get_vehicle_position_ned → NavEKF3 RngBcn fusion → AP_AHRS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GPS-denied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AP_VisualOdom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AP_VisualOdom → NavEKF3 external-nav fusion → AP_AHRS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GPS-denied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3568439"/>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24–26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2 — Core Navigation</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The navigation hub, the estimator stack and the guidance and mission layer.</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28 catalogued rows, with every Notes annotation, flag token and cited path:line range exactly as printed.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106789"/>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3600-3604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Central navigation hub returns the fused Location from the active EKF. Reached via AP::ahrs(). AHRS owns NavEKF2/NavEKF3 while the EKF core reads AHRS/sensor state back through AP_DAL — AHRS↔EKF mutual reference.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libraries/AP_AHRS/AP_AHRS.h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238-246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AP_AHRS::groundspeed()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Read accessor returning the already-fused state.ground_speed (m/s). Performs no fusion and produces nothing from a measurement — classified Sink (read accessor), NOT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269-277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AP_AHRS::get_origin()/have_inertial_nav()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Availability/origin read accessors (have_inertial_nav() is a user-cited symbol, L273). They report EKF availability/origin — read accessors, NOT measurement Sources; classified Sink. EKF origin is WRITTEN by the EKF (see #15 calcGpsGoodToAlign / setOrigin).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1739-1748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Geodetic↔NED: origin-relative NED position via active-EKF-type dispatch (DCM/EKF2/EKF3) — performs conversion on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3662-3666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Exposes the fused NED velocity (nav-hub output of EKF fusion); consumed by crash detection and Rover position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448653"/>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627-636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Extended Kalman Filter predict/fuse step (the core PNT transform). AHRS owns NavEKF2/NavEKF3 while the EKF core reads AHRS/sensor state back through AP_DAL — AHRS↔EKF mutual reference.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6409">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502-511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[CIRCULAR] GPS position/velocity fusion scheduling; the dtIMUavg&lt;0.005 gate couples EKF fusion cadence to the scheduler loop rate (timing coupling). AHRS owns NavEKF2/NavEKF3 while the EKF core reads AHRS/sensor state back through AP_DAL — AHRS↔EKF mutual reference.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694-702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Core position/velocity measurement-update (Kalman gain applied to GPS/baro NED innovations).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639884"/>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640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libraries/AP_NavEKF3/AP_NavEKF3_Measurements.cpp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559-567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GPS ingestion into the EKF delayed-time buffer (reads gps.location()/velocity()/status via AP_DAL). This is the GPS→EKF hop omitted earlier (cf. Table 1a chains). AHRS owns NavEKF2/NavEKF3 while the EKF core reads AHRS/sensor state back through AP_DAL — AHRS↔EKF mutual reference.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232-240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Navigation aiding-mode state machine (none/relative/absolute) driving which PNT measurements are fused.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libraries/AP_NavEKF3/AP_NavEKF3_MagFusion.cpp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227-235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NavEKF3_core::SelectMagFusion()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Magnetometer/yaw fusion scheduling feeding the heading component of the navigation solution.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libraries/AP_NavEKF3/AP_NavEKF3_AirDataFusion.cpp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193-201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NavEKF3_core::SelectTasFusion()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True-airspeed / synthetic-sideslip fusion (wind/velocity estimation for fixed-wing nav).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libraries/AP_NavEKF3/AP_NavEKF3_OptFlowFusion.cpp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21-29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NavEKF3_core::SelectFlowFusion()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Optical-flow fusion scheduling for GPS-denied velocity/position aiding.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06789"/>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libraries/AP_NavEKF3/AP_NavEKF3_Outputs.cpp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326-334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NavEKF3_core::getLLH()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 position output: converts the filter state to a geodetic Location consumed by AP_AHRS.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libraries/AP_NavEKF3/AP_NavEKF3_VehicleStatus.cpp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14-22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NavEKF3_core::calcGpsGoodToAlign()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GPS-quality gate deciding whether the GPS is good enough to align/aid the navigation solution.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libraries/AP_NavEKF3/AP_NavEKF3_GyroBias.cpp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6-13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NavEKF3_core::resetGyroBias()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Gyro-bias state reset within the inertial-navigation state vector.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libraries/AP_NavEKF3/AP_NavEKF3_RngBcnFusion.cpp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95-103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NavEKF3_core::FuseRngBcn()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Range-beacon (non-GPS) position fusion — consumes AP_Beacon ranges (Table 1 #25).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libraries/AP_NavEKF3/AP_NavEKF3_Logging.cpp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NavEKF3_core::Log_Write_XKF1()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Logs the fused navigation state (pos/vel/attitude) to the dataflash; reads PNT state, drives no control — a logging Sink.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14–18</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51393"/>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1846-1854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EKF3 frontend: exposes the per-core nav_filter_status (position/velocity validity bits) to vehicle health logic (Group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528-536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[CIRCULAR] [DUPLICATED] Second-generation EKF predict/fuse step; selectable alternative to EKF3. AHRS owns NavEKF2/NavEKF3 while the EKF core reads AHRS/sensor state back through AP_DAL — AHRS↔EKF mutual reference. parallel EKF implementation to AP_NavEKF3 (extraction note).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560-568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EKF2 GPS position/velocity measurement-update; structurally mirrors EKF3 FuseVelPosNED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libraries/AP_NavEKF/EKFGSF_yaw.cpp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30-38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EKFGSF_yaw::update()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Gaussian-Sum-Filter emergency yaw estimator (shared by EKF2/EKF3) providing a GPS-velocity-derived yaw used to recover the navigation solution.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libraries/AC_WPNav/AC_WPNav.cpp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245-254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AC_WPNav::set_wp_destination_loc()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Waypoint navigation: converts a Location waypoint to a NEU target (get_vector_NEU_cm) relative to EKF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514843"/>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libraries/AP_Mission/AP_Mission.cpp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552-561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AP_Mission::get_next_nav_cmd()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Mission-command storage reader + navigation-command sequencing: scans stored commands and returns the next NAV waypoint. NOT a PNT measurement Source — it sequences stored navigation targets (Transform).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194901">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libraries/AP_L1_Control/AP_L1_Control.cpp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226-234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AP_L1_Control::update_waypoint()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AfsimL1Behavior::set_leg_ne() -&gt; AP_L1_Control::update_waypoint(prev, next); state via AHRS shim (get_location()/groundspeed_vector()) fed by set_state_ne(); dt via set_update_dt()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Fixed-wing lateral (L1) guidance consuming the AHRS navigation position via _ahrs.get_location() (returns early if unavailable). The same method also reads AP_HAL::micros() at L214 for the dt timing coupling.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128711">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libraries/AP_L1_Control/AP_L1_Control.cpp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79-88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AfsimL1Behavior::get_roll_deg() = nav_roll_cd()/100 -&gt; L1_GetRollDeg; get_lat_accel() -&gt; L1_GetLatAccel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Derives demanded roll (centi-deg) from the lateral-acceleration demand and AHRS pitch.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24–26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431450"/>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libraries/AP_TECS/AP_TECS.cpp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1259-1268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AP_TECS::update_pitch_throttle()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Fixed-wing Total Energy Control (speed/altitude) producing pitch &amp; throttle demands.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libraries/AC_AttitudeControl/AC_AttitudeControl.cpp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411-419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AC_AttitudeControl::input_euler_angle_roll_pitch_yaw_cd()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Attitude/rate controller consuming the navigation demand; downstream of all navigation.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27–28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dependency map</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2a: Layer 1 — direct callers / callees with typed dependency</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761255"/>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returns state.location (fused by active EKF)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 inertia.cpp; commands.cpp; GCS_MAVLink_Copter.cpp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AP_AHRS::groundspeed()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returns state.ground_speed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 speed control; GCS reporting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AP_AHRS::have_inertial_nav()/get_origin()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active_EKF_type(); EKF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Copter::ekf_has_absolute_position (system.cpp); 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dcm/EKF2/EKF3 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AR_PosControl::update; AP_InertialNav::update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returns state.velocity_NED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Copter::crash_check; AR_PosControl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fill_scratch_variables(); Select*Fusion(); CovariancePrediction()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NavEKF3::UpdateFilter() (frontend, per core)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readGpsData();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Kalman gain on NED pos/vel innovations; correct stateStruct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597088"/>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gps.location(); gps.velocity(); gps.status() (via AP_DAL); storedGPS.push()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checks gpsGoodToAlign, posTimeout; sets PV_AidingMode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NavEKF3_core::controlFilterModes()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NavEKF3_core::SelectMagFusion()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FuseMagnetometer(); FuseEulerYaw()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NavEKF3_core::SelectTasFusion()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FuseAirspeed()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NavEKF3_core::SelectFlowFusion()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EstimateTerrainOffset(); FuseOptFlow()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NavEKF3_core::getLLH()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outputDataNew / EKF_origin; builds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NavEKF3::getLLH() (frontend) -&gt;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NavEKF3_core::calcGpsGoodToAlign()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reads gps metrics; sets 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NavEKF3_core::readGpsData()/setAidingMode()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NavEKF3_core::resetGyroBias()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zeroes stateStruct.gyro_bias; resets 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NavEKF3_core::InitialiseFilterBootstrap()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NavEKF3_core::FuseRngBcn()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range innovations; correct NED position states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NavEKF3_core::SelectRngBcnFusion()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NavEKF3_core::Log_Write_XKF1()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getEulerAngles(); getVelNED(); getLLH(); AP::logger().Write*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NavEKF3_core::Log_Write()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9–18</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19390"/>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core[].getFilterStatus()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Copter::position_ok(); 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Select*Fusion(); CovariancePrediction()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NavEKF2::UpdateFilter() (frontend)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Kalman gain on NED pos/vel innovations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EKFGSF_yaw::update()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predict()/correct() per model; AHRS complementary 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NavEKF3_core::runYawEstimatorPrediction()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AC_WPNav::set_wp_destination_loc()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get_vector_NEU_cm(); set_wp_destination_NEU_cm()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 mode_auto / mode_guided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AP_Mission::get_next_nav_cmd()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get_next_cmd(); read_cmd_from_storage()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ArduCopter/Plane mission sequencing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AP_L1_Control::update_waypoint()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_ahrs.get_location(_current_loc)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 navigation.cpp update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_ahrs.get_pitch_rad(); _latAccDem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Plane::calc_nav_roll() (Attitude.cpp L608)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AP_TECS::update_pitch_throttle()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_update_pitch(); _update_throttle_with_airspeed()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 stabilize/auto pitch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AC_AttitudeControl::input_euler_angle_roll_pitch_yaw_cd()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input_euler_angle_roll_pitch_yaw_rad()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ArduCopter/ArduPlane flight-mode run()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2a: Layer 2 — full transitive chain, final consumer &amp; hop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44865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3950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(via AP_AHRS) — user example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 AP_AHRS::get_location() → Plane::navigate() [ArduPlane/navigation.cpp:86] → ModeAuto::navigate() [ArduPlane/mode_auto.cpp:124]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ModeAuto::navigate() [ArduPlane/mode_auto.cpp:124]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USER-SUPPLIED example (AAP 0.1.3/0.5.4). The literal example named 'ArduPlane::flight_mode_auto()', which does NOT exist in this snapshot; normalized to the real symbols Plane::navigate() and ModeAuto::navigate(). navigate() is gated on have_position (Table 5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AP_AHRS::groundspeed()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 velocity → NavEKF3 fusion → AP_AHRS::groundspeed() → Rover speed control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Ground-vehicle speed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AP_AHRS::have_inertial_nav()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health → AP_AHRS::have_inertial_nav() → Copter::ekf_has_absolute_position → position_ok() → set_mode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mode transition (allow/deny)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Also observed in Group 2 (Table 5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5483612"/>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23183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 AHRS NED dispatch → {AR_PosControl | AP_InertialNav} → actuators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Geodetic↔NED transform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 AHRS → Copter::crash_check / controllers → disarm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Velocity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AP_InertialSensor, AP_Baro} → NavEKF3::UpdateFilter → AP_AHRS estimate → all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AHRS↔EKF; EKF reads AP_DAL.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 PosVel fusion (Select)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readGpsData buffer → SelectVelPosFusion → FuseVelPosNED → EKF states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Core fusion scheduling.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NED innovations → FuseVelPosNED → stateStruct correction → getLLH → 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Position/velocity measurement-update.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AP_GPS::location()/velocity() → readGpsData → storedGPS buffer → SelectVelPosFusion →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state correction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Explicit GPS→EKF ingestion hop (cf. Table 1a chains).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health → setAidingMode → PV_AidingMode → SelectVelPosFusion → EKF states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aiding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Nav aiding-mode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95090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4–10</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23183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NavEKF3_core::SelectMagFusion()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magnetometer → SelectMagFusion → FuseMagnetometer → yaw state → AP_AHRS heading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Heading component.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NavEKF3_core::SelectTasFusion()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airspeed → SelectTasFusion → FuseAirspeed → wind/vel states → AP_AHRS::wind_estimate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Wind/velocity.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NavEKF3_core::SelectFlowFusion()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optical flow → SelectFlowFusion → FuseOptFlow → vel/pos states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GPS-denied aiding.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NavEKF3_core::getLLH()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state → getLLH → NavEKF3::getLLH (frontend) → AP_AHRS::get_location() → nav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 /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position output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NavEKF3_core::calcGpsGoodToAlign()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metrics → calcGpsGoodToAlign → gpsGoodToAlign → setAidingMode → EKF origin set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origin / aiding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 quality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NavEKF3_core::resetGyroBias()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InitialiseFilterBootstrap → resetGyroBias → stateStruct.gyro_bias → state 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Bias init.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NavEKF3_core::FuseRngBcn()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AP_Beacon ranges → FuseRngBcn → EKF NED position correction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Non-GPS position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95090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054132"/>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NavEKF3_core::Log_Write_XKF1()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states → Log_Write_XKF1 → AP_Logger → dataflash/SD 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dataflash 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Logging Sink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core status bits → NavEKF3::getFilterStatus → AP_AHRS → Copter::position_ok()/ekf_check()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vehicle health logic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Status output feeds 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INS, Baro} → NavEKF2::UpdateFilter → AP_AHRS (when EKF2 active) →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[DUPLICATED] parallel EKF to EKF3.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 NED → NavEKF2 FuseVelPosNED → EKF2 states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mirrors EKF3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EKFGSF_yaw::update()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velocity + IMU → EKFGSF_yaw::update → emergency yaw → EKF yaw reset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Yaw-recovery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AC_WPNav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 pos → AC_WPNav target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Multirotor waypoint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AP_Mission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mission storage → get_next_nav_cmd → mode_auto → AC_WPNav → controllers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Mission sequencing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773204"/>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18–24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44498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AP_L1_Control::update_waypoint()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pos → L1 guidance → nav_roll_cd() → Plane::calc_nav_roll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Fixed-wing lateral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L1 latAccDem → nav_roll_cd() → Plane::calc_nav_roll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Roll-demand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AP_TECS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airspeed/alt demand → TECS update_pitch_throttle → pitch/throttle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Energy/altitude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AC_AttitudeControl (Sink)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 demand → input_euler_* → attitude_controller_run_quat → rate_controller_run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Inbound chain to attitude 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416405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25–28</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3 — Core Timing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The monotonic clock, the real-time clock and the scheduler cadence every PNT task is stamped against.</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Core Timing</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9 catalogued rows, with every Notes annotation, flag token and cited path:line range exactly as printed.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054133"/>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libraries/AP_HAL/system.h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AP_HAL::micros()/millis()/micros64()/millis64()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Monotonic time backbone (user-cited micros()/millis()). Free functions in the AP_HAL namespace backed by the board RTOS timer; the time primitive every PNT subsystem stamps against.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libraries/AP_RTC/AP_RTC.h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32-40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AP_RTC::get_utc_usec()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UTC wall-clock time in microseconds (returns false if unavailable). The absolute-time API consumed for logging and GPS-time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libraries/AP_RTC/AP_RTC.cpp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56-65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AP_RTC::set_utc_usec()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Time-SOURCE ARBITRATION: accepts a new UTC time only if its source_type out-ranks the current rtc_source_type (GPS &gt; GCS &gt; HW). Selects the best clock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libraries/AP_RTC/JitterCorrection.cpp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50-58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JitterCorrection::correct_offboard_timestamp_usec()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Time synchronization: maps an offboard (remote-system) timestamp onto the local clock by tracking the minimum observed link offset — rejects 'from the future' samples.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libraries/AP_Scheduler/AP_Scheduler.cpp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354-363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Main-loop timing core: stamps each loop with AP_HAL::micros64() and derives the measured loop time. Drives the cadence of every periodic PNT task (EKF predict/fuse, AHRS,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libraries/AP_Scheduler/AP_Scheduler.cpp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168-176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AP_Scheduler::tick()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Increments the loop tick counters (_tick_counter / _tick_counter32) that index task scheduling intervals.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libraries/AP_Scheduler/AP_Scheduler.h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149-155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AP_Scheduler::get_loop_period_us()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Loop-rate→period derivation: _loop_period_us = 1000000UL / _loop_rate_hz. Couples the configured loop rate to the per-loop time budget and to controller/EKF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Core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142244"/>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409-418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AP_GPS::time_week_ms()/time_week()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[MULTI-CATEGORY] GPS time-of-week (ms-of-week + week number) — the TIMING facet of the GPS_State that also carries Positioning (Table 1 #4/#17). Emitted separately here per the multi-category rule.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640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libraries/AP_HAL/Scheduler.h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13-21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AP_HAL::Scheduler::delay()/delay_microseconds()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Abstract HAL timing-service interface (pure virtual; implemented by the board backend — ChibiOS / Linux / SITL). Supplies the time-blocking primitives delay() / delay_microseconds() and the periodic-task registration register_timer_process() / register_io_process() (lines 60-64) on which the main loop is built. Distinct from the AP_Scheduler library (#5-#7) and the AP_HAL::micros()/millis() clock primitives in system.h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dependency map</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3a: Layer 1 — direct callers / callees with typed dependency</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294351"/>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board RTOS/HAL timer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AP_Scheduler, AP_GPS, all failsafes (ubiquitous)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AP_RTC::get_utc_usec() — via AP::rtc()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AP::rtc().get_utc_usec(rtc)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AP_Scheduler::Log_Write_Performance ; AP_Logger; AP_Stats; AP_NMEA_Output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AP_RTC::set_utc_usec() (source arbitration)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reads hal.util-&gt;get_soft_armed(); compares &amp; writes rtc_source_type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(GPS time); GCS SYSTEM_TIME; AP_BoardConfig (HW 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JitterCorrection::correct_offboard_timestamp_usec()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computes diff_us; updates link_offset_usec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AP_RTC; DroneCAN/MAVLink timestamp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AP_HAL::micros64(); get_loop_period_s(); dispatches run-table tasks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AP_Vehicle::loop() via scheduler.loop() (AP_Vehicle.cpp:545)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AP_Scheduler::tick()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increments _tick_counter / _tick_counter32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AP_Scheduler::loop(); fast-loop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AP_Scheduler::get_loop_period_us()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derives _loop_period_us from _loop_rate_hz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task budgeting; controller dt (G_Dt)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AP_GPS::time_week_ms() / 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returns state[instance].time_week_ms / 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 readGpsData (GPS time); time_epoch conversion; logging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191231"/>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AP_HAL::Scheduler (abstract HAL timing / scheduling 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pure virtual — implemented by the board backend (ChibiOS / Linux / SITL HAL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 via hal.scheduler-&gt;delay_microseconds (AP_Scheduler.cpp:373); register_io_process; AP_Vehicle init; all subsystems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2 transitive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3a: Layer 2 — full transitive chain, final consumer &amp; hop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991612"/>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RTOS/board hardware timer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board timer → AP_HAL::micros()/millis() → AP_Scheduler / EKF / AP_GPS timestamps → every periodic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all periodic PNT subsystems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Monotonic-time backbone.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GPS/GCS UTC time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time source → AP_RTC → AP::rtc().get_utc_usec() → AP_Logger / AP_Stats → log timestamps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dataflash log timestamps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Singleton consumption edge (AP::rtc()).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time / GCS SYSTEM_TIME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time source → set_utc_usec source arbitration → rtc_source_type → system UTC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RTC system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Best-source selection.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Offboard (remote) timestamp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MAVLink/DroneCAN timestamp → correct_offboard_timestamp_usec → corrected local time → EKF / sensor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fused-sensor 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Time-sync 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AP_HAL::micros64() (loop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AP_HAL::micros64() → AP_Scheduler::loop() → run-table tasks (EKF/AHRS/controllers)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(all tasks)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Loop drives every PNT task.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loop() → tick() counters → task-table interval check → periodic task dispatch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periodic task dispatch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Cadence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6026571"/>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1–6</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56016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SCHED_LOOP_RATE parameter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_loop_rate_hz → get_loop_period_us (1e6/rate) → task budget + G_Dt → AC_AttitudeControl / EKF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controller / EKF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Rate→period coupling.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 receiver (time-of-week)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 receiver → GPS_State.time_week → AP_GPS::time_week() → NavEKF3 readGpsData / time_epoch_usec → UTC/log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GPS-time / UTC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[MULTI-CATEGORY] timing facet of 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board RTOS scheduler (HAL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board HAL Scheduler backend → AP_HAL::Scheduler interface (delay / register_timer_process) → AP_Scheduler::loop → periodic PNT tasks (EKF / AHRS /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periodic PNT task execution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HAL timing interface beneath the AP_Scheduler library (#5-#7); the board backend implements the pure-virtual 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427923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7–9</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4 — Indirect Positioning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Positioning read as a permission: health checks, fence evaluations and mode gates.</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10 catalogued rows, with every Notes annotation, flag token and cited path:line range exactly as printed.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159446"/>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l">
                        <a:lnSpc>
                          <a:spcPct val="106000"/>
                        </a:lnSpc>
                        <a:spcAft>
                          <a:spcPts val="0"/>
                        </a:spcAft>
                      </a:pPr>
                      <a:r>
                        <a:rPr sz="1100" b="1">
                          <a:solidFill>
                            <a:srgbClr val="333333"/>
                          </a:solidFill>
                          <a:latin typeface="Fira Code"/>
                        </a:rPr>
                        <a:t>1</a:t>
                      </a:r>
                    </a:p>
                    <a:p>
                      <a:pPr algn="l">
                        <a:lnSpc>
                          <a:spcPct val="106000"/>
                        </a:lnSpc>
                        <a:spcAft>
                          <a:spcPts val="0"/>
                        </a:spcAft>
                      </a:pPr>
                      <a:r>
                        <a:rPr sz="1100" b="0">
                          <a:solidFill>
                            <a:srgbClr val="333333"/>
                          </a:solidFill>
                          <a:latin typeface="Fira Code"/>
                        </a:rPr>
                        <a:t>ArduCopter/system.cpp</a:t>
                      </a:r>
                    </a:p>
                    <a:p>
                      <a:pPr algn="l">
                        <a:lnSpc>
                          <a:spcPct val="106000"/>
                        </a:lnSpc>
                        <a:spcAft>
                          <a:spcPts val="0"/>
                        </a:spcAft>
                      </a:pPr>
                      <a:r>
                        <a:rPr sz="1100" b="0">
                          <a:solidFill>
                            <a:srgbClr val="333333"/>
                          </a:solidFill>
                          <a:latin typeface="Fira Code"/>
                        </a:rPr>
                        <a:t>226-234</a:t>
                      </a:r>
                    </a:p>
                    <a:p>
                      <a:pPr algn="l">
                        <a:lnSpc>
                          <a:spcPct val="106000"/>
                        </a:lnSpc>
                        <a:spcAft>
                          <a:spcPts val="0"/>
                        </a:spcAft>
                      </a:pPr>
                      <a:r>
                        <a:rPr sz="1100" b="0">
                          <a:solidFill>
                            <a:srgbClr val="333333"/>
                          </a:solidFill>
                          <a:latin typeface="Fira Code"/>
                        </a:rPr>
                        <a:t>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Evaluated on position-mode entry and by position-dependent failsafes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failsafe.ekf flag; ekf_has_absolute_position() / ekf_has_relative_position() (EKF position validity)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false when EKF failsafe is set or no EKF position estimate exists, causing callers to deny position-requiring 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(positioning). Pure observer of EKF position health — reads no raw PNT, but gates downstream 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2</a:t>
                      </a:r>
                    </a:p>
                    <a:p>
                      <a:pPr algn="l">
                        <a:lnSpc>
                          <a:spcPct val="106000"/>
                        </a:lnSpc>
                        <a:spcAft>
                          <a:spcPts val="0"/>
                        </a:spcAft>
                      </a:pPr>
                      <a:r>
                        <a:rPr sz="1100" b="0">
                          <a:solidFill>
                            <a:srgbClr val="333333"/>
                          </a:solidFill>
                          <a:latin typeface="Fira Code"/>
                        </a:rPr>
                        <a:t>ArduCopter/mode.cpp</a:t>
                      </a:r>
                    </a:p>
                    <a:p>
                      <a:pPr algn="l">
                        <a:lnSpc>
                          <a:spcPct val="106000"/>
                        </a:lnSpc>
                        <a:spcAft>
                          <a:spcPts val="0"/>
                        </a:spcAft>
                      </a:pPr>
                      <a:r>
                        <a:rPr sz="1100" b="0">
                          <a:solidFill>
                            <a:srgbClr val="333333"/>
                          </a:solidFill>
                          <a:latin typeface="Fira Code"/>
                        </a:rPr>
                        <a:t>303-310</a:t>
                      </a:r>
                    </a:p>
                    <a:p>
                      <a:pPr algn="l">
                        <a:lnSpc>
                          <a:spcPct val="106000"/>
                        </a:lnSpc>
                        <a:spcAft>
                          <a:spcPts val="0"/>
                        </a:spcAft>
                      </a:pPr>
                      <a:r>
                        <a:rPr sz="1100" b="0">
                          <a:solidFill>
                            <a:srgbClr val="333333"/>
                          </a:solidFill>
                          <a:latin typeface="Fira Code"/>
                        </a:rPr>
                        <a:t>Copter::set_mode() — requires_GPS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Pilot/GCS/auto requests a flight-mode change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new_flightmode-&gt;requires_GPS() &amp;&amp; 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Rejects the mode change with “requires position” when the target mode needs GPS and position_ok() is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(positioning). Central position-gate for ALL position-requiring Copter modes (per-mode requires_GPS() enumerated in the 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661806">
                <a:tc>
                  <a:txBody>
                    <a:bodyPr wrap="square">
                      <a:noAutofit/>
                    </a:bodyPr>
                    <a:lstStyle/>
                    <a:p>
                      <a:pPr algn="l">
                        <a:lnSpc>
                          <a:spcPct val="106000"/>
                        </a:lnSpc>
                        <a:spcAft>
                          <a:spcPts val="0"/>
                        </a:spcAft>
                      </a:pPr>
                      <a:r>
                        <a:rPr sz="1100" b="1">
                          <a:solidFill>
                            <a:srgbClr val="333333"/>
                          </a:solidFill>
                          <a:latin typeface="Fira Code"/>
                        </a:rPr>
                        <a:t>3</a:t>
                      </a:r>
                    </a:p>
                    <a:p>
                      <a:pPr algn="l">
                        <a:lnSpc>
                          <a:spcPct val="106000"/>
                        </a:lnSpc>
                        <a:spcAft>
                          <a:spcPts val="0"/>
                        </a:spcAft>
                      </a:pPr>
                      <a:r>
                        <a:rPr sz="1100" b="0">
                          <a:solidFill>
                            <a:srgbClr val="333333"/>
                          </a:solidFill>
                          <a:latin typeface="Fira Code"/>
                        </a:rPr>
                        <a:t>ArduCopter/fence.cpp</a:t>
                      </a:r>
                    </a:p>
                    <a:p>
                      <a:pPr algn="l">
                        <a:lnSpc>
                          <a:spcPct val="106000"/>
                        </a:lnSpc>
                        <a:spcAft>
                          <a:spcPts val="0"/>
                        </a:spcAft>
                      </a:pPr>
                      <a:r>
                        <a:rPr sz="1100" b="0">
                          <a:solidFill>
                            <a:srgbClr val="333333"/>
                          </a:solidFill>
                          <a:latin typeface="Fira Code"/>
                        </a:rPr>
                        <a:t>20-28</a:t>
                      </a:r>
                    </a:p>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25 Hz fence rate-gate elapsed and no breach latched awaiting the main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fence.get_breaches() (current breach bitmask, L21); fence.check() (re-evaluates vehicle position vs fences, L25)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Latches new_breaches bitmask for the main loop and logs a breach-cleared event when the vehicle returns inside the 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[FIX F1] Cited window centers on get_breaches() (L21) and check() (L25) — the actual geofence observation — not the L8-17 async/timing entry. mirrors Rover::fence_checks_async (#9). Timing rate-gate documented in Table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804050"/>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1">
                          <a:solidFill>
                            <a:srgbClr val="333333"/>
                          </a:solidFill>
                          <a:latin typeface="Fira Code"/>
                        </a:rPr>
                        <a:t>4</a:t>
                      </a:r>
                    </a:p>
                    <a:p>
                      <a:pPr algn="l">
                        <a:lnSpc>
                          <a:spcPct val="106000"/>
                        </a:lnSpc>
                        <a:spcAft>
                          <a:spcPts val="0"/>
                        </a:spcAft>
                      </a:pPr>
                      <a:r>
                        <a:rPr sz="1100" b="0">
                          <a:solidFill>
                            <a:srgbClr val="333333"/>
                          </a:solidFill>
                          <a:latin typeface="Fira Code"/>
                        </a:rPr>
                        <a:t>libraries/AC_Fence/AC_Fence.cpp</a:t>
                      </a:r>
                    </a:p>
                    <a:p>
                      <a:pPr algn="l">
                        <a:lnSpc>
                          <a:spcPct val="106000"/>
                        </a:lnSpc>
                        <a:spcAft>
                          <a:spcPts val="0"/>
                        </a:spcAft>
                      </a:pPr>
                      <a:r>
                        <a:rPr sz="1100" b="0">
                          <a:solidFill>
                            <a:srgbClr val="333333"/>
                          </a:solidFill>
                          <a:latin typeface="Fira Code"/>
                        </a:rPr>
                        <a:t>677-685</a:t>
                      </a:r>
                    </a:p>
                    <a:p>
                      <a:pPr algn="l">
                        <a:lnSpc>
                          <a:spcPct val="106000"/>
                        </a:lnSpc>
                        <a:spcAft>
                          <a:spcPts val="0"/>
                        </a:spcAft>
                      </a:pPr>
                      <a:r>
                        <a:rPr sz="1100" b="0">
                          <a:solidFill>
                            <a:srgbClr val="333333"/>
                          </a:solidFill>
                          <a:latin typeface="Fira Code"/>
                        </a:rPr>
                        <a:t>AC_Fence::check_fence_polygon()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Polygon (inclusion/exclusion) fence enabled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AP::ahrs().get_location(loc) — current vehicle Location tested against the 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record_breach(POLYGON) when _poly_loader.breached(loc) is true → sets the polygon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F2] Real position-observing path (was mis-cited to L753-762 mask init). Snippet centers on the AP::ahrs().get_location() read (L680).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5</a:t>
                      </a:r>
                    </a:p>
                    <a:p>
                      <a:pPr algn="l">
                        <a:lnSpc>
                          <a:spcPct val="106000"/>
                        </a:lnSpc>
                        <a:spcAft>
                          <a:spcPts val="0"/>
                        </a:spcAft>
                      </a:pPr>
                      <a:r>
                        <a:rPr sz="1100" b="0">
                          <a:solidFill>
                            <a:srgbClr val="333333"/>
                          </a:solidFill>
                          <a:latin typeface="Fira Code"/>
                        </a:rPr>
                        <a:t>libraries/AC_Fence/AC_Fence.cpp</a:t>
                      </a:r>
                    </a:p>
                    <a:p>
                      <a:pPr algn="l">
                        <a:lnSpc>
                          <a:spcPct val="106000"/>
                        </a:lnSpc>
                        <a:spcAft>
                          <a:spcPts val="0"/>
                        </a:spcAft>
                      </a:pPr>
                      <a:r>
                        <a:rPr sz="1100" b="0">
                          <a:solidFill>
                            <a:srgbClr val="333333"/>
                          </a:solidFill>
                          <a:latin typeface="Fira Code"/>
                        </a:rPr>
                        <a:t>707-715</a:t>
                      </a:r>
                    </a:p>
                    <a:p>
                      <a:pPr algn="l">
                        <a:lnSpc>
                          <a:spcPct val="106000"/>
                        </a:lnSpc>
                        <a:spcAft>
                          <a:spcPts val="0"/>
                        </a:spcAft>
                      </a:pPr>
                      <a:r>
                        <a:rPr sz="1100" b="0">
                          <a:solidFill>
                            <a:srgbClr val="333333"/>
                          </a:solidFill>
                          <a:latin typeface="Fira Code"/>
                        </a:rPr>
                        <a:t>AC_Fence::check_fence_circle()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Circle fence enabled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AP::ahrs().get_relative_position_NE_home(home) — NE distance from home (L713)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Records a circle breach when the home distance exceeds the configured radius.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[FIX F2] Real position-observing path; snippet centers on the NE-home position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128711">
                <a:tc>
                  <a:txBody>
                    <a:bodyPr wrap="square">
                      <a:noAutofit/>
                    </a:bodyPr>
                    <a:lstStyle/>
                    <a:p>
                      <a:pPr algn="l">
                        <a:lnSpc>
                          <a:spcPct val="106000"/>
                        </a:lnSpc>
                        <a:spcAft>
                          <a:spcPts val="0"/>
                        </a:spcAft>
                      </a:pPr>
                      <a:r>
                        <a:rPr sz="1100" b="1">
                          <a:solidFill>
                            <a:srgbClr val="333333"/>
                          </a:solidFill>
                          <a:latin typeface="Fira Code"/>
                        </a:rPr>
                        <a:t>6</a:t>
                      </a:r>
                    </a:p>
                    <a:p>
                      <a:pPr algn="l">
                        <a:lnSpc>
                          <a:spcPct val="106000"/>
                        </a:lnSpc>
                        <a:spcAft>
                          <a:spcPts val="0"/>
                        </a:spcAft>
                      </a:pPr>
                      <a:r>
                        <a:rPr sz="1100" b="0">
                          <a:solidFill>
                            <a:srgbClr val="333333"/>
                          </a:solidFill>
                          <a:latin typeface="Fira Code"/>
                        </a:rPr>
                        <a:t>libraries/AC_Fence/AC_Fence.cpp</a:t>
                      </a:r>
                    </a:p>
                    <a:p>
                      <a:pPr algn="l">
                        <a:lnSpc>
                          <a:spcPct val="106000"/>
                        </a:lnSpc>
                        <a:spcAft>
                          <a:spcPts val="0"/>
                        </a:spcAft>
                      </a:pPr>
                      <a:r>
                        <a:rPr sz="1100" b="0">
                          <a:solidFill>
                            <a:srgbClr val="333333"/>
                          </a:solidFill>
                          <a:latin typeface="Fira Code"/>
                        </a:rPr>
                        <a:t>540-548</a:t>
                      </a:r>
                    </a:p>
                    <a:p>
                      <a:pPr algn="l">
                        <a:lnSpc>
                          <a:spcPct val="106000"/>
                        </a:lnSpc>
                        <a:spcAft>
                          <a:spcPts val="0"/>
                        </a:spcAft>
                      </a:pPr>
                      <a:r>
                        <a:rPr sz="1100" b="0">
                          <a:solidFill>
                            <a:srgbClr val="333333"/>
                          </a:solidFill>
                          <a:latin typeface="Fira Code"/>
                        </a:rPr>
                        <a:t>AC_Fence::check_fence_alt_max()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Maximum-altitude fence enabled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AP::ahrs().get_relative_position_D_home(alt) — altitude relative to home (L546)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Records an altitude breach when alt exceeds _alt_max.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F2] Real altitude-observing path; snippet centers on the D-home altitude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626350"/>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l">
                        <a:lnSpc>
                          <a:spcPct val="106000"/>
                        </a:lnSpc>
                        <a:spcAft>
                          <a:spcPts val="0"/>
                        </a:spcAft>
                      </a:pPr>
                      <a:r>
                        <a:rPr sz="1100" b="1">
                          <a:solidFill>
                            <a:srgbClr val="333333"/>
                          </a:solidFill>
                          <a:latin typeface="Fira Code"/>
                        </a:rPr>
                        <a:t>7</a:t>
                      </a:r>
                    </a:p>
                    <a:p>
                      <a:pPr algn="l">
                        <a:lnSpc>
                          <a:spcPct val="106000"/>
                        </a:lnSpc>
                        <a:spcAft>
                          <a:spcPts val="0"/>
                        </a:spcAft>
                      </a:pPr>
                      <a:r>
                        <a:rPr sz="1100" b="0">
                          <a:solidFill>
                            <a:srgbClr val="333333"/>
                          </a:solidFill>
                          <a:latin typeface="Fira Code"/>
                        </a:rPr>
                        <a:t>libraries/AC_Fence/AC_Fence.cpp</a:t>
                      </a:r>
                    </a:p>
                    <a:p>
                      <a:pPr algn="l">
                        <a:lnSpc>
                          <a:spcPct val="106000"/>
                        </a:lnSpc>
                        <a:spcAft>
                          <a:spcPts val="0"/>
                        </a:spcAft>
                      </a:pPr>
                      <a:r>
                        <a:rPr sz="1100" b="0">
                          <a:solidFill>
                            <a:srgbClr val="333333"/>
                          </a:solidFill>
                          <a:latin typeface="Fira Code"/>
                        </a:rPr>
                        <a:t>837-845</a:t>
                      </a:r>
                    </a:p>
                    <a:p>
                      <a:pPr algn="l">
                        <a:lnSpc>
                          <a:spcPct val="106000"/>
                        </a:lnSpc>
                        <a:spcAft>
                          <a:spcPts val="0"/>
                        </a:spcAft>
                      </a:pPr>
                      <a:r>
                        <a:rPr sz="1100" b="0">
                          <a:solidFill>
                            <a:srgbClr val="333333"/>
                          </a:solidFill>
                          <a:latin typeface="Fira Code"/>
                        </a:rPr>
                        <a:t>AC_Fence::check()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Periodic fence check invoked from the vehicle 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(aggregator) results of check_fence_alt_max() / check_fence_circle() / check_fence_polygon() position checks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the bitmask of breached fence types that drives the vehicle fence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F2] Orchestrator dispatch (L837 circle, L842 polygon). The position reads themselves are in the dispatched checks (#4-#6).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6409">
                <a:tc>
                  <a:txBody>
                    <a:bodyPr wrap="square">
                      <a:noAutofit/>
                    </a:bodyPr>
                    <a:lstStyle/>
                    <a:p>
                      <a:pPr algn="l">
                        <a:lnSpc>
                          <a:spcPct val="106000"/>
                        </a:lnSpc>
                        <a:spcAft>
                          <a:spcPts val="0"/>
                        </a:spcAft>
                      </a:pPr>
                      <a:r>
                        <a:rPr sz="1100" b="1">
                          <a:solidFill>
                            <a:srgbClr val="333333"/>
                          </a:solidFill>
                          <a:latin typeface="Fira Code"/>
                        </a:rPr>
                        <a:t>8</a:t>
                      </a:r>
                    </a:p>
                    <a:p>
                      <a:pPr algn="l">
                        <a:lnSpc>
                          <a:spcPct val="106000"/>
                        </a:lnSpc>
                        <a:spcAft>
                          <a:spcPts val="0"/>
                        </a:spcAft>
                      </a:pPr>
                      <a:r>
                        <a:rPr sz="1100" b="0">
                          <a:solidFill>
                            <a:srgbClr val="333333"/>
                          </a:solidFill>
                          <a:latin typeface="Fira Code"/>
                        </a:rPr>
                        <a:t>ArduCopter/mode_guided_nogps.cpp</a:t>
                      </a:r>
                    </a:p>
                    <a:p>
                      <a:pPr algn="l">
                        <a:lnSpc>
                          <a:spcPct val="106000"/>
                        </a:lnSpc>
                        <a:spcAft>
                          <a:spcPts val="0"/>
                        </a:spcAft>
                      </a:pPr>
                      <a:r>
                        <a:rPr sz="1100" b="0">
                          <a:solidFill>
                            <a:srgbClr val="333333"/>
                          </a:solidFill>
                          <a:latin typeface="Fira Code"/>
                        </a:rPr>
                        <a:t>9-15</a:t>
                      </a:r>
                    </a:p>
                    <a:p>
                      <a:pPr algn="l">
                        <a:lnSpc>
                          <a:spcPct val="106000"/>
                        </a:lnSpc>
                        <a:spcAft>
                          <a:spcPts val="0"/>
                        </a:spcAft>
                      </a:pPr>
                      <a:r>
                        <a:rPr sz="1100" b="0">
                          <a:solidFill>
                            <a:srgbClr val="333333"/>
                          </a:solidFill>
                          <a:latin typeface="Fira Code"/>
                        </a:rPr>
                        <a:t>ModeGuidedNoGPS::init()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GUIDED_NOGPS entry (companion-computer angle control without 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 by design] no position state observed; requires_GPS() returns false (ArduCopter/mode.h)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Starts angle control only and remains available when position_ok() is false — the GPS-denied fallback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(positioning). Contrast row: intentionally PNT-position-INDEPENDENT mode (documents an explicit absence of positioning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l">
                        <a:lnSpc>
                          <a:spcPct val="106000"/>
                        </a:lnSpc>
                        <a:spcAft>
                          <a:spcPts val="0"/>
                        </a:spcAft>
                      </a:pPr>
                      <a:r>
                        <a:rPr sz="1100" b="1">
                          <a:solidFill>
                            <a:srgbClr val="333333"/>
                          </a:solidFill>
                          <a:latin typeface="Fira Code"/>
                        </a:rPr>
                        <a:t>9</a:t>
                      </a:r>
                    </a:p>
                    <a:p>
                      <a:pPr algn="l">
                        <a:lnSpc>
                          <a:spcPct val="106000"/>
                        </a:lnSpc>
                        <a:spcAft>
                          <a:spcPts val="0"/>
                        </a:spcAft>
                      </a:pPr>
                      <a:r>
                        <a:rPr sz="1100" b="0">
                          <a:solidFill>
                            <a:srgbClr val="333333"/>
                          </a:solidFill>
                          <a:latin typeface="Fira Code"/>
                        </a:rPr>
                        <a:t>Rover/fence.cpp</a:t>
                      </a:r>
                    </a:p>
                    <a:p>
                      <a:pPr algn="l">
                        <a:lnSpc>
                          <a:spcPct val="106000"/>
                        </a:lnSpc>
                        <a:spcAft>
                          <a:spcPts val="0"/>
                        </a:spcAft>
                      </a:pPr>
                      <a:r>
                        <a:rPr sz="1100" b="0">
                          <a:solidFill>
                            <a:srgbClr val="333333"/>
                          </a:solidFill>
                          <a:latin typeface="Fira Code"/>
                        </a:rPr>
                        <a:t>17-25</a:t>
                      </a:r>
                    </a:p>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fence rate-gate elapsed and no breach latched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fence.get_breaches() (L19); fence.check() (vehicle position vs fence, L21)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Latches new_breaches for the main loop; clears on return inside the 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structurally identical to ArduCopter::fence_checks_async (#3) — copy-paste across vehicles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435120"/>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17203">
                <a:tc>
                  <a:txBody>
                    <a:bodyPr wrap="square">
                      <a:noAutofit/>
                    </a:bodyPr>
                    <a:lstStyle/>
                    <a:p>
                      <a:pPr algn="l">
                        <a:lnSpc>
                          <a:spcPct val="106000"/>
                        </a:lnSpc>
                        <a:spcAft>
                          <a:spcPts val="0"/>
                        </a:spcAft>
                      </a:pPr>
                      <a:r>
                        <a:rPr sz="1100" b="1">
                          <a:solidFill>
                            <a:srgbClr val="333333"/>
                          </a:solidFill>
                          <a:latin typeface="Fira Code"/>
                        </a:rPr>
                        <a:t>10</a:t>
                      </a:r>
                    </a:p>
                    <a:p>
                      <a:pPr algn="l">
                        <a:lnSpc>
                          <a:spcPct val="106000"/>
                        </a:lnSpc>
                        <a:spcAft>
                          <a:spcPts val="0"/>
                        </a:spcAft>
                      </a:pPr>
                      <a:r>
                        <a:rPr sz="1100" b="0">
                          <a:solidFill>
                            <a:srgbClr val="333333"/>
                          </a:solidFill>
                          <a:latin typeface="Fira Code"/>
                        </a:rPr>
                        <a:t>ArduPlane/takeoff.cpp</a:t>
                      </a:r>
                    </a:p>
                    <a:p>
                      <a:pPr algn="l">
                        <a:lnSpc>
                          <a:spcPct val="106000"/>
                        </a:lnSpc>
                        <a:spcAft>
                          <a:spcPts val="0"/>
                        </a:spcAft>
                      </a:pPr>
                      <a:r>
                        <a:rPr sz="1100" b="0">
                          <a:solidFill>
                            <a:srgbClr val="333333"/>
                          </a:solidFill>
                          <a:latin typeface="Fira Code"/>
                        </a:rPr>
                        <a:t>58-62</a:t>
                      </a:r>
                    </a:p>
                    <a:p>
                      <a:pPr algn="l">
                        <a:lnSpc>
                          <a:spcPct val="106000"/>
                        </a:lnSpc>
                        <a:spcAft>
                          <a:spcPts val="0"/>
                        </a:spcAft>
                      </a:pPr>
                      <a:r>
                        <a:rPr sz="1100" b="0">
                          <a:solidFill>
                            <a:srgbClr val="333333"/>
                          </a:solidFill>
                          <a:latin typeface="Fira Code"/>
                        </a:rPr>
                        <a:t>Plane::auto_takeoff_check()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Auto/TAKEOFF launch readiness re-evaluated each loop from Plane::set_servos() (Ardu Plane/servos.cpp:125)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gps.status() &lt; AP_GPS:: GPS_OK_FIX_3D (GPS fix quality; gps.status() = AP_GPS::status())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false — auto-takeoff is blocked (throttle stays suppressed) until a 3D GPS fix is acquired.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(positioning). User-example PNT-State-Observed accessor gps.status() (= AP_GPS::status(), libraries/AP_GPS/AP_GPS.h:293). the same gps.status() &lt; GPS_OK_FIX_3D fix-gate recurs in ArduPlane/Plane.cpp (L420/485) and ArduPlane/is_flying.cpp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dependency map</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4a: Layer 1 — direct callers / callees with typed dependency</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179172"/>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ekf_has_absolute_position(); ekf_has_relative_position(); reads failsafe.ekf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Copter::set_mode (mode.cpp:306); position-dependent failsafes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Copter::set_mode() requires_GPS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new_flightmode-&gt;requires_GPS(); 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GCS/RC/auto mode-change entry points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fence.get_breaches(); 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 IO thread (1 kHz async, 25 Hz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AC_Fence::check_fence_polygon()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AP::ahrs().get_location(); _poly_loader.breached()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AC_Fence::check() (L842)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AC_Fence::check_fence_circle()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AP::ahrs().get_relative_position_NE_home()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AC_Fence::check() (L837)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AC_Fence::check_fence_alt_max()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AP::ahrs().get_relative_position_D_home()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AC_Fence::check() (L821)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check_fence_alt_max(); check_fence_circle(); check_fence_polygon()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 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ModeGuidedNoGPS::init()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ModeGuided::angle_control_start()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Copter::set_mode()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fence.get_breaches(); 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 IO thread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658136"/>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Plane::auto_takeoff_check()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AP_GPS::status() (gps.status()); compares vs AP_GPS::GPS_OK_FIX_3D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Plane::set_servos() (ArduPlane/servos.cpp:125)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2 transitive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4a: Layer 2 — full transitive chain, final consumer &amp; hop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92909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position health (via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 NavEKF3 → AP_AHRS::have_inertial_nav() → Copter::ekf_has_absolute_position() → Copter::position_ok() → set_mode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flight-mode entry allow/deny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Core positioning-health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position_ok() → set_mode requires_GPS gate → mode_change_failed() → mode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rejected mode change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Gate decision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 position → AC_Fence::check (polygon/circle/alt) → get_breaches bitmask → fence_checks_async latch → Copter::fence_check()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 fence failsafe (RTL/LAND)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mirrors Rover chain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AP_AHRS::get_location() → check_fence_polygon → _poly_loader.breached() → record_breach() → _breached_fences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polygon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Polygon position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NE-home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AP::ahrs().get_relative_position_NE_home() → check_fence_circle → distance&gt;radius → record_breach()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circle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Circle position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5964050"/>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5139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D-home altitude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AP::ahrs().get_relative_position_D_home() → check_fence_alt_max → alt&gt;_alt_max → record_breach()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altitude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Altitude position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 position checks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position checks → AC_Fence::check() aggregate → breach bitmask → vehicle fence_check() →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vehicle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Aggregator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(no PNT — GPS-independent)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ModeGuidedNoGPS::init() → angle_control_start()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no positioning hop — fallback by design.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AP::ahrs() position → AC_Fence::check → get_breaches → Rover::fence_checks_async latch → Rover::fence_check()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structurally identical to Copter chain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AP_GPS::status() (GPS fix-status accessor)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AP_GPS::status() → Plane::auto_takeoff_check() [ArduPlane/takeoff.cpp:59] → Plane::set_servos() [ArduPlane/servos.cpp:125]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Plane::set_servos() (throttle suppression / launch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User-example gps.status() observation gating auto-takeoff.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47046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6–10</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5 — Indirect Navigation</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Navigation read as a permission: estimator-variance watchdogs across the vehicle firmwares.</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10 catalogued rows, with every Notes annotation, flag token and cited path:line range exactly as printed.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741529"/>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1806">
                <a:tc>
                  <a:txBody>
                    <a:bodyPr wrap="square">
                      <a:noAutofit/>
                    </a:bodyPr>
                    <a:lstStyle/>
                    <a:p>
                      <a:pPr algn="l">
                        <a:lnSpc>
                          <a:spcPct val="106000"/>
                        </a:lnSpc>
                        <a:spcAft>
                          <a:spcPts val="0"/>
                        </a:spcAft>
                      </a:pPr>
                      <a:r>
                        <a:rPr sz="1100" b="1">
                          <a:solidFill>
                            <a:srgbClr val="333333"/>
                          </a:solidFill>
                          <a:latin typeface="Fira Code"/>
                        </a:rPr>
                        <a:t>1</a:t>
                      </a:r>
                    </a:p>
                    <a:p>
                      <a:pPr algn="l">
                        <a:lnSpc>
                          <a:spcPct val="106000"/>
                        </a:lnSpc>
                        <a:spcAft>
                          <a:spcPts val="0"/>
                        </a:spcAft>
                      </a:pPr>
                      <a:r>
                        <a:rPr sz="1100" b="0">
                          <a:solidFill>
                            <a:srgbClr val="333333"/>
                          </a:solidFill>
                          <a:latin typeface="Fira Code"/>
                        </a:rPr>
                        <a:t>ArduCopter/ekf_check.cpp</a:t>
                      </a:r>
                    </a:p>
                    <a:p>
                      <a:pPr algn="l">
                        <a:lnSpc>
                          <a:spcPct val="106000"/>
                        </a:lnSpc>
                        <a:spcAft>
                          <a:spcPts val="0"/>
                        </a:spcAft>
                      </a:pPr>
                      <a:r>
                        <a:rPr sz="1100" b="0">
                          <a:solidFill>
                            <a:srgbClr val="333333"/>
                          </a:solidFill>
                          <a:latin typeface="Fira Code"/>
                        </a:rPr>
                        <a:t>117-125</a:t>
                      </a:r>
                    </a:p>
                    <a:p>
                      <a:pPr algn="l">
                        <a:lnSpc>
                          <a:spcPct val="106000"/>
                        </a:lnSpc>
                        <a:spcAft>
                          <a:spcPts val="0"/>
                        </a:spcAft>
                      </a:pPr>
                      <a:r>
                        <a:rPr sz="1100" b="0">
                          <a:solidFill>
                            <a:srgbClr val="333333"/>
                          </a:solidFill>
                          <a:latin typeface="Fira Code"/>
                        </a:rPr>
                        <a:t>Copter::ekf_over_threshold()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10 Hz EKF health check while the EKF has an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ahrs.get_variances() → velocity / position / height / magnetometer variances vs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Counts bad iterations; after EKF_CHECK_ITERATIONS_MAX (≈10) trips the EKF failsafe (LAND / 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1806">
                <a:tc>
                  <a:txBody>
                    <a:bodyPr wrap="square">
                      <a:noAutofit/>
                    </a:bodyPr>
                    <a:lstStyle/>
                    <a:p>
                      <a:pPr algn="l">
                        <a:lnSpc>
                          <a:spcPct val="106000"/>
                        </a:lnSpc>
                        <a:spcAft>
                          <a:spcPts val="0"/>
                        </a:spcAft>
                      </a:pPr>
                      <a:r>
                        <a:rPr sz="1100" b="1">
                          <a:solidFill>
                            <a:srgbClr val="333333"/>
                          </a:solidFill>
                          <a:latin typeface="Fira Code"/>
                        </a:rPr>
                        <a:t>2</a:t>
                      </a:r>
                    </a:p>
                    <a:p>
                      <a:pPr algn="l">
                        <a:lnSpc>
                          <a:spcPct val="106000"/>
                        </a:lnSpc>
                        <a:spcAft>
                          <a:spcPts val="0"/>
                        </a:spcAft>
                      </a:pPr>
                      <a:r>
                        <a:rPr sz="1100" b="0">
                          <a:solidFill>
                            <a:srgbClr val="333333"/>
                          </a:solidFill>
                          <a:latin typeface="Fira Code"/>
                        </a:rPr>
                        <a:t>ArduPlane/ekf_check.cpp</a:t>
                      </a:r>
                    </a:p>
                    <a:p>
                      <a:pPr algn="l">
                        <a:lnSpc>
                          <a:spcPct val="106000"/>
                        </a:lnSpc>
                        <a:spcAft>
                          <a:spcPts val="0"/>
                        </a:spcAft>
                      </a:pPr>
                      <a:r>
                        <a:rPr sz="1100" b="0">
                          <a:solidFill>
                            <a:srgbClr val="333333"/>
                          </a:solidFill>
                          <a:latin typeface="Fira Code"/>
                        </a:rPr>
                        <a:t>56-65</a:t>
                      </a:r>
                    </a:p>
                    <a:p>
                      <a:pPr algn="l">
                        <a:lnSpc>
                          <a:spcPct val="106000"/>
                        </a:lnSpc>
                        <a:spcAft>
                          <a:spcPts val="0"/>
                        </a:spcAft>
                      </a:pPr>
                      <a:r>
                        <a:rPr sz="1100" b="0">
                          <a:solidFill>
                            <a:srgbClr val="333333"/>
                          </a:solidFill>
                          <a:latin typeface="Fira Code"/>
                        </a:rPr>
                        <a:t>Plane::ekf_check()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10 Hz EKF health check (fixed-wing)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ekf_over_threshold() (compass &amp; velocity variance vs 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Increments fail_count; two iterations before failsafe asks the EKF to reset yaw (ahrs.request_yaw_reset()); trips EKF failsafe at 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41529"/>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1806">
                <a:tc>
                  <a:txBody>
                    <a:bodyPr wrap="square">
                      <a:noAutofit/>
                    </a:bodyPr>
                    <a:lstStyle/>
                    <a:p>
                      <a:pPr algn="l">
                        <a:lnSpc>
                          <a:spcPct val="106000"/>
                        </a:lnSpc>
                        <a:spcAft>
                          <a:spcPts val="0"/>
                        </a:spcAft>
                      </a:pPr>
                      <a:r>
                        <a:rPr sz="1100" b="1">
                          <a:solidFill>
                            <a:srgbClr val="333333"/>
                          </a:solidFill>
                          <a:latin typeface="Fira Code"/>
                        </a:rPr>
                        <a:t>3</a:t>
                      </a:r>
                    </a:p>
                    <a:p>
                      <a:pPr algn="l">
                        <a:lnSpc>
                          <a:spcPct val="106000"/>
                        </a:lnSpc>
                        <a:spcAft>
                          <a:spcPts val="0"/>
                        </a:spcAft>
                      </a:pPr>
                      <a:r>
                        <a:rPr sz="1100" b="0">
                          <a:solidFill>
                            <a:srgbClr val="333333"/>
                          </a:solidFill>
                          <a:latin typeface="Fira Code"/>
                        </a:rPr>
                        <a:t>Rover/ekf_check.cpp</a:t>
                      </a:r>
                    </a:p>
                    <a:p>
                      <a:pPr algn="l">
                        <a:lnSpc>
                          <a:spcPct val="106000"/>
                        </a:lnSpc>
                        <a:spcAft>
                          <a:spcPts val="0"/>
                        </a:spcAft>
                      </a:pPr>
                      <a:r>
                        <a:rPr sz="1100" b="0">
                          <a:solidFill>
                            <a:srgbClr val="333333"/>
                          </a:solidFill>
                          <a:latin typeface="Fira Code"/>
                        </a:rPr>
                        <a:t>93-102</a:t>
                      </a:r>
                    </a:p>
                    <a:p>
                      <a:pPr algn="l">
                        <a:lnSpc>
                          <a:spcPct val="106000"/>
                        </a:lnSpc>
                        <a:spcAft>
                          <a:spcPts val="0"/>
                        </a:spcAft>
                      </a:pPr>
                      <a:r>
                        <a:rPr sz="1100" b="0">
                          <a:solidFill>
                            <a:srgbClr val="333333"/>
                          </a:solidFill>
                          <a:latin typeface="Fira Code"/>
                        </a:rPr>
                        <a:t>Rover::ekf_over_threshold()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10 Hz EKF health check (ground vehicle)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ahrs.get_variances() → compass / velocity / position variance; ≥2 over 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Sets bad_variance → Rover EKF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1806">
                <a:tc>
                  <a:txBody>
                    <a:bodyPr wrap="square">
                      <a:noAutofit/>
                    </a:bodyPr>
                    <a:lstStyle/>
                    <a:p>
                      <a:pPr algn="l">
                        <a:lnSpc>
                          <a:spcPct val="106000"/>
                        </a:lnSpc>
                        <a:spcAft>
                          <a:spcPts val="0"/>
                        </a:spcAft>
                      </a:pPr>
                      <a:r>
                        <a:rPr sz="1100" b="1">
                          <a:solidFill>
                            <a:srgbClr val="333333"/>
                          </a:solidFill>
                          <a:latin typeface="Fira Code"/>
                        </a:rPr>
                        <a:t>4</a:t>
                      </a:r>
                    </a:p>
                    <a:p>
                      <a:pPr algn="l">
                        <a:lnSpc>
                          <a:spcPct val="106000"/>
                        </a:lnSpc>
                        <a:spcAft>
                          <a:spcPts val="0"/>
                        </a:spcAft>
                      </a:pPr>
                      <a:r>
                        <a:rPr sz="1100" b="0">
                          <a:solidFill>
                            <a:srgbClr val="333333"/>
                          </a:solidFill>
                          <a:latin typeface="Fira Code"/>
                        </a:rPr>
                        <a:t>ArduSub/failsafe.cpp</a:t>
                      </a:r>
                    </a:p>
                    <a:p>
                      <a:pPr algn="l">
                        <a:lnSpc>
                          <a:spcPct val="106000"/>
                        </a:lnSpc>
                        <a:spcAft>
                          <a:spcPts val="0"/>
                        </a:spcAft>
                      </a:pPr>
                      <a:r>
                        <a:rPr sz="1100" b="0">
                          <a:solidFill>
                            <a:srgbClr val="333333"/>
                          </a:solidFill>
                          <a:latin typeface="Fira Code"/>
                        </a:rPr>
                        <a:t>112-121</a:t>
                      </a:r>
                    </a:p>
                    <a:p>
                      <a:pPr algn="l">
                        <a:lnSpc>
                          <a:spcPct val="106000"/>
                        </a:lnSpc>
                        <a:spcAft>
                          <a:spcPts val="0"/>
                        </a:spcAft>
                      </a:pPr>
                      <a:r>
                        <a:rPr sz="1100" b="0">
                          <a:solidFill>
                            <a:srgbClr val="333333"/>
                          </a:solidFill>
                          <a:latin typeface="Fira Code"/>
                        </a:rPr>
                        <a:t>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Periodic EKF health check (submarine)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ahrs.get_variances() → compass_variance &amp; vel_variance vs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Clears/sets failsafe.ekf and AP_Notify ekf_bad based on variance vs threshold; GCS warns “EKF bad”.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[FIX F13 dep-type]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81748"/>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1">
                          <a:solidFill>
                            <a:srgbClr val="333333"/>
                          </a:solidFill>
                          <a:latin typeface="Fira Code"/>
                        </a:rPr>
                        <a:t>5</a:t>
                      </a:r>
                    </a:p>
                    <a:p>
                      <a:pPr algn="l">
                        <a:lnSpc>
                          <a:spcPct val="106000"/>
                        </a:lnSpc>
                        <a:spcAft>
                          <a:spcPts val="0"/>
                        </a:spcAft>
                      </a:pPr>
                      <a:r>
                        <a:rPr sz="1100" b="0">
                          <a:solidFill>
                            <a:srgbClr val="333333"/>
                          </a:solidFill>
                          <a:latin typeface="Fira Code"/>
                        </a:rPr>
                        <a:t>ArduCopter/crash_check.cpp</a:t>
                      </a:r>
                    </a:p>
                    <a:p>
                      <a:pPr algn="l">
                        <a:lnSpc>
                          <a:spcPct val="106000"/>
                        </a:lnSpc>
                        <a:spcAft>
                          <a:spcPts val="0"/>
                        </a:spcAft>
                      </a:pPr>
                      <a:r>
                        <a:rPr sz="1100" b="0">
                          <a:solidFill>
                            <a:srgbClr val="333333"/>
                          </a:solidFill>
                          <a:latin typeface="Fira Code"/>
                        </a:rPr>
                        <a:t>65-74</a:t>
                      </a:r>
                    </a:p>
                    <a:p>
                      <a:pPr algn="l">
                        <a:lnSpc>
                          <a:spcPct val="106000"/>
                        </a:lnSpc>
                        <a:spcAft>
                          <a:spcPts val="0"/>
                        </a:spcAft>
                      </a:pPr>
                      <a:r>
                        <a:rPr sz="1100" b="0">
                          <a:solidFill>
                            <a:srgbClr val="333333"/>
                          </a:solidFill>
                          <a:latin typeface="Fira Code"/>
                        </a:rPr>
                        <a:t>Copter::crash_check() — attitude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Disarm/crash monitor running while armed and not landed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ahrs.cos_roll() / ahrs.cos_pitch() (lean angle); attitude_control-&gt; get_att_error_angle_deg()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Resets crash_counter (declares not-crashing) when lean angle ≤ 15° or attitude error ≤ 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F3] Split row: attitude-only observation (lean L66, angle-error L73). Velocity observation is the separate row #6 (was wrongly bundled into the L64-73 citation).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6</a:t>
                      </a:r>
                    </a:p>
                    <a:p>
                      <a:pPr algn="l">
                        <a:lnSpc>
                          <a:spcPct val="106000"/>
                        </a:lnSpc>
                        <a:spcAft>
                          <a:spcPts val="0"/>
                        </a:spcAft>
                      </a:pPr>
                      <a:r>
                        <a:rPr sz="1100" b="0">
                          <a:solidFill>
                            <a:srgbClr val="333333"/>
                          </a:solidFill>
                          <a:latin typeface="Fira Code"/>
                        </a:rPr>
                        <a:t>ArduCopter/crash_check.cpp</a:t>
                      </a:r>
                    </a:p>
                    <a:p>
                      <a:pPr algn="l">
                        <a:lnSpc>
                          <a:spcPct val="106000"/>
                        </a:lnSpc>
                        <a:spcAft>
                          <a:spcPts val="0"/>
                        </a:spcAft>
                      </a:pPr>
                      <a:r>
                        <a:rPr sz="1100" b="0">
                          <a:solidFill>
                            <a:srgbClr val="333333"/>
                          </a:solidFill>
                          <a:latin typeface="Fira Code"/>
                        </a:rPr>
                        <a:t>78-84</a:t>
                      </a:r>
                    </a:p>
                    <a:p>
                      <a:pPr algn="l">
                        <a:lnSpc>
                          <a:spcPct val="106000"/>
                        </a:lnSpc>
                        <a:spcAft>
                          <a:spcPts val="0"/>
                        </a:spcAft>
                      </a:pPr>
                      <a:r>
                        <a:rPr sz="1100" b="0">
                          <a:solidFill>
                            <a:srgbClr val="333333"/>
                          </a:solidFill>
                          <a:latin typeface="Fira Code"/>
                        </a:rPr>
                        <a:t>Copter::crash_check() — velocity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Continues after the attitude test indicates a possible crash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ahrs.get_velocity_NED(vel_ned) → NED speed magnitude (L80-81)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Resets crash_counter when speed ≥ CRASH_CHECK_SPEED_MAX (10 m/s); otherwise increments toward the 2-second crash trigger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[FIX F3] Split row: the velocity observation cited at L78-84 (ahrs.get_velocity_NED L80-81), now accurately centered — not the L64-73 attitude range.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306409">
                <a:tc>
                  <a:txBody>
                    <a:bodyPr wrap="square">
                      <a:noAutofit/>
                    </a:bodyPr>
                    <a:lstStyle/>
                    <a:p>
                      <a:pPr algn="l">
                        <a:lnSpc>
                          <a:spcPct val="106000"/>
                        </a:lnSpc>
                        <a:spcAft>
                          <a:spcPts val="0"/>
                        </a:spcAft>
                      </a:pPr>
                      <a:r>
                        <a:rPr sz="1100" b="1">
                          <a:solidFill>
                            <a:srgbClr val="333333"/>
                          </a:solidFill>
                          <a:latin typeface="Fira Code"/>
                        </a:rPr>
                        <a:t>7</a:t>
                      </a:r>
                    </a:p>
                    <a:p>
                      <a:pPr algn="l">
                        <a:lnSpc>
                          <a:spcPct val="106000"/>
                        </a:lnSpc>
                        <a:spcAft>
                          <a:spcPts val="0"/>
                        </a:spcAft>
                      </a:pPr>
                      <a:r>
                        <a:rPr sz="1100" b="0">
                          <a:solidFill>
                            <a:srgbClr val="333333"/>
                          </a:solidFill>
                          <a:latin typeface="Fira Code"/>
                        </a:rPr>
                        <a:t>ArduPlane/GCS_MAVLink_Plane.cpp</a:t>
                      </a:r>
                    </a:p>
                    <a:p>
                      <a:pPr algn="l">
                        <a:lnSpc>
                          <a:spcPct val="106000"/>
                        </a:lnSpc>
                        <a:spcAft>
                          <a:spcPts val="0"/>
                        </a:spcAft>
                      </a:pPr>
                      <a:r>
                        <a:rPr sz="1100" b="0">
                          <a:solidFill>
                            <a:srgbClr val="333333"/>
                          </a:solidFill>
                          <a:latin typeface="Fira Code"/>
                        </a:rPr>
                        <a:t>204-212</a:t>
                      </a:r>
                    </a:p>
                    <a:p>
                      <a:pPr algn="l">
                        <a:lnSpc>
                          <a:spcPct val="106000"/>
                        </a:lnSpc>
                        <a:spcAft>
                          <a:spcPts val="0"/>
                        </a:spcAft>
                      </a:pPr>
                      <a:r>
                        <a:rPr sz="1100" b="0">
                          <a:solidFill>
                            <a:srgbClr val="333333"/>
                          </a:solidFill>
                          <a:latin typeface="Fira Code"/>
                        </a:rPr>
                        <a:t>GCS_MAVLINK_Plane::send_nav_controller_output()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GCS telemetry stream requests 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nav_controller navigation state (target bearing, xtrack error, wp distance) — unless in 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Emits the NAV_CONTROLLER_OUTPUT MAVLink message (navigation-health reporting to the GCS).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(navigation). Reporting Sink for navigation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5–7</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626351"/>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1">
                          <a:solidFill>
                            <a:srgbClr val="333333"/>
                          </a:solidFill>
                          <a:latin typeface="Fira Code"/>
                        </a:rPr>
                        <a:t>8</a:t>
                      </a:r>
                    </a:p>
                    <a:p>
                      <a:pPr algn="l">
                        <a:lnSpc>
                          <a:spcPct val="106000"/>
                        </a:lnSpc>
                        <a:spcAft>
                          <a:spcPts val="0"/>
                        </a:spcAft>
                      </a:pPr>
                      <a:r>
                        <a:rPr sz="1100" b="0">
                          <a:solidFill>
                            <a:srgbClr val="333333"/>
                          </a:solidFill>
                          <a:latin typeface="Fira Code"/>
                        </a:rPr>
                        <a:t>ArduPlane/Attitude.cpp</a:t>
                      </a:r>
                    </a:p>
                    <a:p>
                      <a:pPr algn="l">
                        <a:lnSpc>
                          <a:spcPct val="106000"/>
                        </a:lnSpc>
                        <a:spcAft>
                          <a:spcPts val="0"/>
                        </a:spcAft>
                      </a:pPr>
                      <a:r>
                        <a:rPr sz="1100" b="0">
                          <a:solidFill>
                            <a:srgbClr val="333333"/>
                          </a:solidFill>
                          <a:latin typeface="Fira Code"/>
                        </a:rPr>
                        <a:t>604-611</a:t>
                      </a:r>
                    </a:p>
                    <a:p>
                      <a:pPr algn="l">
                        <a:lnSpc>
                          <a:spcPct val="106000"/>
                        </a:lnSpc>
                        <a:spcAft>
                          <a:spcPts val="0"/>
                        </a:spcAft>
                      </a:pPr>
                      <a:r>
                        <a:rPr sz="1100" b="0">
                          <a:solidFill>
                            <a:srgbClr val="333333"/>
                          </a:solidFill>
                          <a:latin typeface="Fira Code"/>
                        </a:rPr>
                        <a:t>Plane::calc_nav_roll()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Fixed-wing attitude loop computing the roll demand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nav_controller-&gt;nav_roll_cd() (L1/navigation lateral roll demand)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Sets nav_roll_cd from the navigation controller, constrained to ±roll_limit_cd.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(navigation). Consumes navigation-controller output (user-cited calc_nav_roll).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9</a:t>
                      </a:r>
                    </a:p>
                    <a:p>
                      <a:pPr algn="l">
                        <a:lnSpc>
                          <a:spcPct val="106000"/>
                        </a:lnSpc>
                        <a:spcAft>
                          <a:spcPts val="0"/>
                        </a:spcAft>
                      </a:pPr>
                      <a:r>
                        <a:rPr sz="1100" b="0">
                          <a:solidFill>
                            <a:srgbClr val="333333"/>
                          </a:solidFill>
                          <a:latin typeface="Fira Code"/>
                        </a:rPr>
                        <a:t>ArduPlane/navigation.cpp</a:t>
                      </a:r>
                    </a:p>
                    <a:p>
                      <a:pPr algn="l">
                        <a:lnSpc>
                          <a:spcPct val="106000"/>
                        </a:lnSpc>
                        <a:spcAft>
                          <a:spcPts val="0"/>
                        </a:spcAft>
                      </a:pPr>
                      <a:r>
                        <a:rPr sz="1100" b="0">
                          <a:solidFill>
                            <a:srgbClr val="333333"/>
                          </a:solidFill>
                          <a:latin typeface="Fira Code"/>
                        </a:rPr>
                        <a:t>86-94</a:t>
                      </a:r>
                    </a:p>
                    <a:p>
                      <a:pPr algn="l">
                        <a:lnSpc>
                          <a:spcPct val="106000"/>
                        </a:lnSpc>
                        <a:spcAft>
                          <a:spcPts val="0"/>
                        </a:spcAft>
                      </a:pPr>
                      <a:r>
                        <a:rPr sz="1100" b="0">
                          <a:solidFill>
                            <a:srgbClr val="333333"/>
                          </a:solidFill>
                          <a:latin typeface="Fira Code"/>
                        </a:rPr>
                        <a:t>Plane::navigate()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10 Hz fixed-wing navigation 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have_position flag (EKF/GPS position validity); next_WP_loc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Returns early (skips navigation) when have_position is false; otherwise computes the desired direction and distance to the next 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(navigation). This is the real symbol behind the user-example 'flight_mode_auto' chain (Table 2a L2 #1); gated on PNT position validity.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306409">
                <a:tc>
                  <a:txBody>
                    <a:bodyPr wrap="square">
                      <a:noAutofit/>
                    </a:bodyPr>
                    <a:lstStyle/>
                    <a:p>
                      <a:pPr algn="l">
                        <a:lnSpc>
                          <a:spcPct val="106000"/>
                        </a:lnSpc>
                        <a:spcAft>
                          <a:spcPts val="0"/>
                        </a:spcAft>
                      </a:pPr>
                      <a:r>
                        <a:rPr sz="1100" b="1">
                          <a:solidFill>
                            <a:srgbClr val="333333"/>
                          </a:solidFill>
                          <a:latin typeface="Fira Code"/>
                        </a:rPr>
                        <a:t>10</a:t>
                      </a:r>
                    </a:p>
                    <a:p>
                      <a:pPr algn="l">
                        <a:lnSpc>
                          <a:spcPct val="106000"/>
                        </a:lnSpc>
                        <a:spcAft>
                          <a:spcPts val="0"/>
                        </a:spcAft>
                      </a:pPr>
                      <a:r>
                        <a:rPr sz="1100" b="0">
                          <a:solidFill>
                            <a:srgbClr val="333333"/>
                          </a:solidFill>
                          <a:latin typeface="Fira Code"/>
                        </a:rPr>
                        <a:t>ArduPlane/navigation.cpp</a:t>
                      </a:r>
                    </a:p>
                    <a:p>
                      <a:pPr algn="l">
                        <a:lnSpc>
                          <a:spcPct val="106000"/>
                        </a:lnSpc>
                        <a:spcAft>
                          <a:spcPts val="0"/>
                        </a:spcAft>
                      </a:pPr>
                      <a:r>
                        <a:rPr sz="1100" b="0">
                          <a:solidFill>
                            <a:srgbClr val="333333"/>
                          </a:solidFill>
                          <a:latin typeface="Fira Code"/>
                        </a:rPr>
                        <a:t>304-311</a:t>
                      </a:r>
                    </a:p>
                    <a:p>
                      <a:pPr algn="l">
                        <a:lnSpc>
                          <a:spcPct val="106000"/>
                        </a:lnSpc>
                        <a:spcAft>
                          <a:spcPts val="0"/>
                        </a:spcAft>
                      </a:pPr>
                      <a:r>
                        <a:rPr sz="1100" b="0">
                          <a:solidFill>
                            <a:srgbClr val="333333"/>
                          </a:solidFill>
                          <a:latin typeface="Fira Code"/>
                        </a:rPr>
                        <a:t>Plane::calc_gndspeed_undershoot()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10 Hz GPS/navigation update (Plane::update_GPS_10Hz, ArduPlane/Plane.cpp:490)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ahrs.have_inertial_nav() (inertial-navigation solution availability)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Ground-speed-undershoot (min-groundspeed wind/flyaway compensation) is computed only when inertial nav is available; otherwise it is skipped and left stale/zero.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(navigation). User-example PNT-State-Observed accessor ahrs.have_inertial_nav() (libraries/AP_AHRS/AP_AHRS.h:273); the accessor itself is catalogued in Table 2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8–10</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dependency map</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5a: Layer 1 — direct callers / callees with typed dependency</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938953"/>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ahrs.get_variances(); variance filters; compare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ekf_over_threshold(); ahrs.request_yaw_reset()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 10 Hz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ahrs.get_variances(); compare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ahrs.get_variances(); AP_HAL::millis(); gcs().send_text()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 periodic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Copter::crash_check()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ahrs.cos_roll(); ahrs.cos_pitch(); attitude_control-&gt;get_att_error_angle_deg()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Copter::crash_check()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Copter::crash_check() (velocity)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ahrs.get_velocity_NED(vel_ned)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Copter::crash_check()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GCS_MAVLINK_Plane::send_nav_controller_output()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reads plane.control_mode; nav_controller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 telemetry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Plane::calc_nav_roll()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nav_controller-&gt;nav_roll_cd(); update_load_factor()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 fast attitude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076053"/>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Plane::navigate()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reads have_position; next_WP_loc; nav_controller 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 10 Hz nav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Plane::calc_gndspeed_undershoot()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ahrs.have_inertial_nav(); 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Plane::update_GPS_10Hz() (ArduPlane/Plane.cpp:490)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2 transitive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5a: Layer 2 — full transitive chain, final consumer &amp; hop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751392"/>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(via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AP_GPS/EKF → ahrs.get_variances() → ekf_over_threshold() → Copter::ekf_check fail_count → failsafe_ekf_event() → LAND/AltHold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failsafe action (LAND)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(Plane)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 Plane::ekf_check → bad_variance → EKF failsafe → mode change (RTL/FBWA)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mirrors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(Rover)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 Rover::ekf_over_threshold → Rover::ekf_check → EKF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mirrors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(Sub)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 Sub::failsafe_ekf_check → failsafe.ekf flag → GCS warn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 EKF failsafe 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mirrors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 attitude → crash_check attitude test → crash_counter → arming.disarm()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motor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Attitude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5786351"/>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909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NED 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velocity → ahrs.get_velocity_NED() → crash_check speed test → crash_counter → arming.disarm()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motor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Velocity branch (F3 split).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Navigation controller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EKF/nav state → nav_controller → send_nav_controller_output → MAVLink → GCS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 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Reporting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Navigation controller roll demand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nav_controller (L1/EKF) → nav_roll_cd() → calc_nav_roll → nav_roll_cd → attitude controller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Roll-demand consumption.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position validity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position → have_position → Plane::navigate → nav_controller-&gt;update_waypoint → calc_nav_roll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Real symbol behind user-example chain (Table 2a L2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AP_AHRS::have_inertial_nav() (inertial-nav availability)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AP_AHRS::have_inertial_nav() → Plane::calc_gndspeed_undershoot() [ArduPlane/navigation.cpp:305] → Plane::update_GPS_10Hz() [ArduPlane/Plane.cpp:490]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Plane::update_GPS_10Hz() (groundspeed-undershoot nav compensation)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User-example ahrs.have_inertial_nav() observation gating nav groundspeed compensation.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64816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6 — Indirect Timing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Timing read as a permission: main-loop lockup watchdogs and the rate gates around them.</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11 catalogued rows, with every Notes annotation, flag token and cited path:line range exactly as printed.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2968215"/>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550298">
                <a:tc>
                  <a:txBody>
                    <a:bodyPr wrap="square">
                      <a:noAutofit/>
                    </a:bodyPr>
                    <a:lstStyle/>
                    <a:p>
                      <a:pPr algn="l">
                        <a:lnSpc>
                          <a:spcPct val="106000"/>
                        </a:lnSpc>
                        <a:spcAft>
                          <a:spcPts val="0"/>
                        </a:spcAft>
                      </a:pPr>
                      <a:r>
                        <a:rPr sz="1100" b="1">
                          <a:solidFill>
                            <a:srgbClr val="333333"/>
                          </a:solidFill>
                          <a:latin typeface="Fira Code"/>
                        </a:rPr>
                        <a:t>1</a:t>
                      </a:r>
                    </a:p>
                    <a:p>
                      <a:pPr algn="l">
                        <a:lnSpc>
                          <a:spcPct val="106000"/>
                        </a:lnSpc>
                        <a:spcAft>
                          <a:spcPts val="0"/>
                        </a:spcAft>
                      </a:pPr>
                      <a:r>
                        <a:rPr sz="1100" b="0">
                          <a:solidFill>
                            <a:srgbClr val="333333"/>
                          </a:solidFill>
                          <a:latin typeface="Fira Code"/>
                        </a:rPr>
                        <a:t>ArduCopter/failsafe.cpp</a:t>
                      </a:r>
                    </a:p>
                    <a:p>
                      <a:pPr algn="l">
                        <a:lnSpc>
                          <a:spcPct val="106000"/>
                        </a:lnSpc>
                        <a:spcAft>
                          <a:spcPts val="0"/>
                        </a:spcAft>
                      </a:pPr>
                      <a:r>
                        <a:rPr sz="1100" b="0">
                          <a:solidFill>
                            <a:srgbClr val="333333"/>
                          </a:solidFill>
                          <a:latin typeface="Fira Code"/>
                        </a:rPr>
                        <a:t>37-45</a:t>
                      </a:r>
                    </a:p>
                    <a:p>
                      <a:pPr algn="l">
                        <a:lnSpc>
                          <a:spcPct val="106000"/>
                        </a:lnSpc>
                        <a:spcAft>
                          <a:spcPts val="0"/>
                        </a:spcAft>
                      </a:pPr>
                      <a:r>
                        <a:rPr sz="1100" b="0">
                          <a:solidFill>
                            <a:srgbClr val="333333"/>
                          </a:solidFill>
                          <a:latin typeface="Fira Code"/>
                        </a:rPr>
                        <a:t>Copter::failsafe_check()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has not advanced since the last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loop counter (timing / loop-cadence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When ticks stall and tnow-failsafe_last_timestamp &gt; 2,000,000 us (2 s) sets in_failsafe, drives motors-&gt;output_min(), then disarms every 1 s (CPU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23612"/>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905695">
                <a:tc>
                  <a:txBody>
                    <a:bodyPr wrap="square">
                      <a:noAutofit/>
                    </a:bodyPr>
                    <a:lstStyle/>
                    <a:p>
                      <a:pPr algn="l">
                        <a:lnSpc>
                          <a:spcPct val="106000"/>
                        </a:lnSpc>
                        <a:spcAft>
                          <a:spcPts val="0"/>
                        </a:spcAft>
                      </a:pPr>
                      <a:r>
                        <a:rPr sz="1100" b="1">
                          <a:solidFill>
                            <a:srgbClr val="333333"/>
                          </a:solidFill>
                          <a:latin typeface="Fira Code"/>
                        </a:rPr>
                        <a:t>2</a:t>
                      </a:r>
                    </a:p>
                    <a:p>
                      <a:pPr algn="l">
                        <a:lnSpc>
                          <a:spcPct val="106000"/>
                        </a:lnSpc>
                        <a:spcAft>
                          <a:spcPts val="0"/>
                        </a:spcAft>
                      </a:pPr>
                      <a:r>
                        <a:rPr sz="1100" b="0">
                          <a:solidFill>
                            <a:srgbClr val="333333"/>
                          </a:solidFill>
                          <a:latin typeface="Fira Code"/>
                        </a:rPr>
                        <a:t>ArduPlane/failsafe.cpp</a:t>
                      </a:r>
                    </a:p>
                    <a:p>
                      <a:pPr algn="l">
                        <a:lnSpc>
                          <a:spcPct val="106000"/>
                        </a:lnSpc>
                        <a:spcAft>
                          <a:spcPts val="0"/>
                        </a:spcAft>
                      </a:pPr>
                      <a:r>
                        <a:rPr sz="1100" b="0">
                          <a:solidFill>
                            <a:srgbClr val="333333"/>
                          </a:solidFill>
                          <a:latin typeface="Fira Code"/>
                        </a:rPr>
                        <a:t>22-30</a:t>
                      </a:r>
                    </a:p>
                    <a:p>
                      <a:pPr algn="l">
                        <a:lnSpc>
                          <a:spcPct val="106000"/>
                        </a:lnSpc>
                        <a:spcAft>
                          <a:spcPts val="0"/>
                        </a:spcAft>
                      </a:pPr>
                      <a:r>
                        <a:rPr sz="1100" b="0">
                          <a:solidFill>
                            <a:srgbClr val="333333"/>
                          </a:solidFill>
                          <a:latin typeface="Fira Code"/>
                        </a:rPr>
                        <a:t>Plane::failsafe_check()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 (main loop stalled)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micros() (tnow) and AP_Scheduler::ticks() (ticks vs last_ticks)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 us (0.2 s) stall sets in_failsafe and passes RC inputs straight to servo outputs (SRV_Channels) every 20 ms instead of disarming.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 Divergent: 0.2 s trip + RC-passthrough (vs Copter 2 s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968215"/>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550298">
                <a:tc>
                  <a:txBody>
                    <a:bodyPr wrap="square">
                      <a:noAutofit/>
                    </a:bodyPr>
                    <a:lstStyle/>
                    <a:p>
                      <a:pPr algn="l">
                        <a:lnSpc>
                          <a:spcPct val="106000"/>
                        </a:lnSpc>
                        <a:spcAft>
                          <a:spcPts val="0"/>
                        </a:spcAft>
                      </a:pPr>
                      <a:r>
                        <a:rPr sz="1100" b="1">
                          <a:solidFill>
                            <a:srgbClr val="333333"/>
                          </a:solidFill>
                          <a:latin typeface="Fira Code"/>
                        </a:rPr>
                        <a:t>3</a:t>
                      </a:r>
                    </a:p>
                    <a:p>
                      <a:pPr algn="l">
                        <a:lnSpc>
                          <a:spcPct val="106000"/>
                        </a:lnSpc>
                        <a:spcAft>
                          <a:spcPts val="0"/>
                        </a:spcAft>
                      </a:pPr>
                      <a:r>
                        <a:rPr sz="1100" b="0">
                          <a:solidFill>
                            <a:srgbClr val="333333"/>
                          </a:solidFill>
                          <a:latin typeface="Fira Code"/>
                        </a:rPr>
                        <a:t>Rover/failsafe.cpp</a:t>
                      </a:r>
                    </a:p>
                    <a:p>
                      <a:pPr algn="l">
                        <a:lnSpc>
                          <a:spcPct val="106000"/>
                        </a:lnSpc>
                        <a:spcAft>
                          <a:spcPts val="0"/>
                        </a:spcAft>
                      </a:pPr>
                      <a:r>
                        <a:rPr sz="1100" b="0">
                          <a:solidFill>
                            <a:srgbClr val="333333"/>
                          </a:solidFill>
                          <a:latin typeface="Fira Code"/>
                        </a:rPr>
                        <a:t>22-30</a:t>
                      </a:r>
                    </a:p>
                    <a:p>
                      <a:pPr algn="l">
                        <a:lnSpc>
                          <a:spcPct val="106000"/>
                        </a:lnSpc>
                        <a:spcAft>
                          <a:spcPts val="0"/>
                        </a:spcAft>
                      </a:pPr>
                      <a:r>
                        <a:rPr sz="1100" b="0">
                          <a:solidFill>
                            <a:srgbClr val="333333"/>
                          </a:solidFill>
                          <a:latin typeface="Fira Code"/>
                        </a:rPr>
                        <a:t>Rover::failsafe_check()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(ticks vs last_ticks)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 us (0.2 s) stall calls arming.disarm(AP_Arming:: Method::CPUFAILSAFE).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968215"/>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550298">
                <a:tc>
                  <a:txBody>
                    <a:bodyPr wrap="square">
                      <a:noAutofit/>
                    </a:bodyPr>
                    <a:lstStyle/>
                    <a:p>
                      <a:pPr algn="l">
                        <a:lnSpc>
                          <a:spcPct val="106000"/>
                        </a:lnSpc>
                        <a:spcAft>
                          <a:spcPts val="0"/>
                        </a:spcAft>
                      </a:pPr>
                      <a:r>
                        <a:rPr sz="1100" b="1">
                          <a:solidFill>
                            <a:srgbClr val="333333"/>
                          </a:solidFill>
                          <a:latin typeface="Fira Code"/>
                        </a:rPr>
                        <a:t>4</a:t>
                      </a:r>
                    </a:p>
                    <a:p>
                      <a:pPr algn="l">
                        <a:lnSpc>
                          <a:spcPct val="106000"/>
                        </a:lnSpc>
                        <a:spcAft>
                          <a:spcPts val="0"/>
                        </a:spcAft>
                      </a:pPr>
                      <a:r>
                        <a:rPr sz="1100" b="0">
                          <a:solidFill>
                            <a:srgbClr val="333333"/>
                          </a:solidFill>
                          <a:latin typeface="Fira Code"/>
                        </a:rPr>
                        <a:t>ArduSub/failsafe.cpp</a:t>
                      </a:r>
                    </a:p>
                    <a:p>
                      <a:pPr algn="l">
                        <a:lnSpc>
                          <a:spcPct val="106000"/>
                        </a:lnSpc>
                        <a:spcAft>
                          <a:spcPts val="0"/>
                        </a:spcAft>
                      </a:pPr>
                      <a:r>
                        <a:rPr sz="1100" b="0">
                          <a:solidFill>
                            <a:srgbClr val="333333"/>
                          </a:solidFill>
                          <a:latin typeface="Fira Code"/>
                        </a:rPr>
                        <a:t>31-39</a:t>
                      </a:r>
                    </a:p>
                    <a:p>
                      <a:pPr algn="l">
                        <a:lnSpc>
                          <a:spcPct val="106000"/>
                        </a:lnSpc>
                        <a:spcAft>
                          <a:spcPts val="0"/>
                        </a:spcAft>
                      </a:pPr>
                      <a:r>
                        <a:rPr sz="1100" b="0">
                          <a:solidFill>
                            <a:srgbClr val="333333"/>
                          </a:solidFill>
                          <a:latin typeface="Fira Code"/>
                        </a:rPr>
                        <a:t>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loop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2,000,000 us (2 s) stall sets in_failsafe and drives 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52323"/>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905695">
                <a:tc>
                  <a:txBody>
                    <a:bodyPr wrap="square">
                      <a:noAutofit/>
                    </a:bodyPr>
                    <a:lstStyle/>
                    <a:p>
                      <a:pPr algn="l">
                        <a:lnSpc>
                          <a:spcPct val="106000"/>
                        </a:lnSpc>
                        <a:spcAft>
                          <a:spcPts val="0"/>
                        </a:spcAft>
                      </a:pPr>
                      <a:r>
                        <a:rPr sz="1100" b="1">
                          <a:solidFill>
                            <a:srgbClr val="333333"/>
                          </a:solidFill>
                          <a:latin typeface="Fira Code"/>
                        </a:rPr>
                        <a:t>5</a:t>
                      </a:r>
                    </a:p>
                    <a:p>
                      <a:pPr algn="l">
                        <a:lnSpc>
                          <a:spcPct val="106000"/>
                        </a:lnSpc>
                        <a:spcAft>
                          <a:spcPts val="0"/>
                        </a:spcAft>
                      </a:pPr>
                      <a:r>
                        <a:rPr sz="1100" b="0">
                          <a:solidFill>
                            <a:srgbClr val="333333"/>
                          </a:solidFill>
                          <a:latin typeface="Fira Code"/>
                        </a:rPr>
                        <a:t>Blimp/failsafe.cpp</a:t>
                      </a:r>
                    </a:p>
                    <a:p>
                      <a:pPr algn="l">
                        <a:lnSpc>
                          <a:spcPct val="106000"/>
                        </a:lnSpc>
                        <a:spcAft>
                          <a:spcPts val="0"/>
                        </a:spcAft>
                      </a:pPr>
                      <a:r>
                        <a:rPr sz="1100" b="0">
                          <a:solidFill>
                            <a:srgbClr val="333333"/>
                          </a:solidFill>
                          <a:latin typeface="Fira Code"/>
                        </a:rPr>
                        <a:t>37-45</a:t>
                      </a:r>
                    </a:p>
                    <a:p>
                      <a:pPr algn="l">
                        <a:lnSpc>
                          <a:spcPct val="106000"/>
                        </a:lnSpc>
                        <a:spcAft>
                          <a:spcPts val="0"/>
                        </a:spcAft>
                      </a:pPr>
                      <a:r>
                        <a:rPr sz="1100" b="0">
                          <a:solidFill>
                            <a:srgbClr val="333333"/>
                          </a:solidFill>
                          <a:latin typeface="Fira Code"/>
                        </a:rPr>
                        <a:t>Blimp::failsafe_check()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loop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2,000,000 us (2 s) stall sets in_failsafe and drives motors-&gt;output_min().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 Blimp included only because it observes scheduler timing state (AAP 0.3.2).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6</a:t>
                      </a:r>
                    </a:p>
                    <a:p>
                      <a:pPr algn="l">
                        <a:lnSpc>
                          <a:spcPct val="106000"/>
                        </a:lnSpc>
                        <a:spcAft>
                          <a:spcPts val="0"/>
                        </a:spcAft>
                      </a:pPr>
                      <a:r>
                        <a:rPr sz="1100" b="0">
                          <a:solidFill>
                            <a:srgbClr val="333333"/>
                          </a:solidFill>
                          <a:latin typeface="Fira Code"/>
                        </a:rPr>
                        <a:t>ArduCopter/ekf_check.cpp</a:t>
                      </a:r>
                    </a:p>
                    <a:p>
                      <a:pPr algn="l">
                        <a:lnSpc>
                          <a:spcPct val="106000"/>
                        </a:lnSpc>
                        <a:spcAft>
                          <a:spcPts val="0"/>
                        </a:spcAft>
                      </a:pPr>
                      <a:r>
                        <a:rPr sz="1100" b="0">
                          <a:solidFill>
                            <a:srgbClr val="333333"/>
                          </a:solidFill>
                          <a:latin typeface="Fira Code"/>
                        </a:rPr>
                        <a:t>84-88</a:t>
                      </a:r>
                    </a:p>
                    <a:p>
                      <a:pPr algn="l">
                        <a:lnSpc>
                          <a:spcPct val="106000"/>
                        </a:lnSpc>
                        <a:spcAft>
                          <a:spcPts val="0"/>
                        </a:spcAft>
                      </a:pPr>
                      <a:r>
                        <a:rPr sz="1100" b="0">
                          <a:solidFill>
                            <a:srgbClr val="333333"/>
                          </a:solidFill>
                          <a:latin typeface="Fira Code"/>
                        </a:rPr>
                        <a:t>Copter::ekf_check()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variance already flagged bad AND ≥ 30 s elapsed since the last warning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AP_HAL::millis() - ekf_check_state.last_warn_time vs EKF_CHECK_WARNING_TIME (30 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Rate-limits the “EKF variance” GCS_SEVERITY_CRITICAL text to at most once per 30 s; stamps last_warn_time = 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[MULTI-CATEGORY w/ Table 5 #1 ekf_check]. 30 s warn-throttle copied in ArduPlane/ekf_check.cpp.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59446"/>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l">
                        <a:lnSpc>
                          <a:spcPct val="106000"/>
                        </a:lnSpc>
                        <a:spcAft>
                          <a:spcPts val="0"/>
                        </a:spcAft>
                      </a:pPr>
                      <a:r>
                        <a:rPr sz="1100" b="1">
                          <a:solidFill>
                            <a:srgbClr val="333333"/>
                          </a:solidFill>
                          <a:latin typeface="Fira Code"/>
                        </a:rPr>
                        <a:t>7</a:t>
                      </a:r>
                    </a:p>
                    <a:p>
                      <a:pPr algn="l">
                        <a:lnSpc>
                          <a:spcPct val="106000"/>
                        </a:lnSpc>
                        <a:spcAft>
                          <a:spcPts val="0"/>
                        </a:spcAft>
                      </a:pPr>
                      <a:r>
                        <a:rPr sz="1100" b="0">
                          <a:solidFill>
                            <a:srgbClr val="333333"/>
                          </a:solidFill>
                          <a:latin typeface="Fira Code"/>
                        </a:rPr>
                        <a:t>ArduPlane/ekf_check.cpp</a:t>
                      </a:r>
                    </a:p>
                    <a:p>
                      <a:pPr algn="l">
                        <a:lnSpc>
                          <a:spcPct val="106000"/>
                        </a:lnSpc>
                        <a:spcAft>
                          <a:spcPts val="0"/>
                        </a:spcAft>
                      </a:pPr>
                      <a:r>
                        <a:rPr sz="1100" b="0">
                          <a:solidFill>
                            <a:srgbClr val="333333"/>
                          </a:solidFill>
                          <a:latin typeface="Fira Code"/>
                        </a:rPr>
                        <a:t>78-82</a:t>
                      </a:r>
                    </a:p>
                    <a:p>
                      <a:pPr algn="l">
                        <a:lnSpc>
                          <a:spcPct val="106000"/>
                        </a:lnSpc>
                        <a:spcAft>
                          <a:spcPts val="0"/>
                        </a:spcAft>
                      </a:pPr>
                      <a:r>
                        <a:rPr sz="1100" b="0">
                          <a:solidFill>
                            <a:srgbClr val="333333"/>
                          </a:solidFill>
                          <a:latin typeface="Fira Code"/>
                        </a:rPr>
                        <a:t>Plane::ekf_check()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 variance already flagged bad AND ≥ 30 s elapsed since the last warning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AP_HAL::millis() - ekf_check_state.last_warn_time vs EKF_CHECK_WARNING_TIME (30 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Rate-limits the “EKF variance” GCS text to at most once per 30 s; stamps last_warn_time = 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mirrors ArduCopter/ekf_check.cpp:84-88.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1806">
                <a:tc>
                  <a:txBody>
                    <a:bodyPr wrap="square">
                      <a:noAutofit/>
                    </a:bodyPr>
                    <a:lstStyle/>
                    <a:p>
                      <a:pPr algn="l">
                        <a:lnSpc>
                          <a:spcPct val="106000"/>
                        </a:lnSpc>
                        <a:spcAft>
                          <a:spcPts val="0"/>
                        </a:spcAft>
                      </a:pPr>
                      <a:r>
                        <a:rPr sz="1100" b="1">
                          <a:solidFill>
                            <a:srgbClr val="333333"/>
                          </a:solidFill>
                          <a:latin typeface="Fira Code"/>
                        </a:rPr>
                        <a:t>8</a:t>
                      </a:r>
                    </a:p>
                    <a:p>
                      <a:pPr algn="l">
                        <a:lnSpc>
                          <a:spcPct val="106000"/>
                        </a:lnSpc>
                        <a:spcAft>
                          <a:spcPts val="0"/>
                        </a:spcAft>
                      </a:pPr>
                      <a:r>
                        <a:rPr sz="1100" b="0">
                          <a:solidFill>
                            <a:srgbClr val="333333"/>
                          </a:solidFill>
                          <a:latin typeface="Fira Code"/>
                        </a:rPr>
                        <a:t>ArduSub/failsafe.cpp</a:t>
                      </a:r>
                    </a:p>
                    <a:p>
                      <a:pPr algn="l">
                        <a:lnSpc>
                          <a:spcPct val="106000"/>
                        </a:lnSpc>
                        <a:spcAft>
                          <a:spcPts val="0"/>
                        </a:spcAft>
                      </a:pPr>
                      <a:r>
                        <a:rPr sz="1100" b="0">
                          <a:solidFill>
                            <a:srgbClr val="333333"/>
                          </a:solidFill>
                          <a:latin typeface="Fira Code"/>
                        </a:rPr>
                        <a:t>125-130</a:t>
                      </a:r>
                    </a:p>
                    <a:p>
                      <a:pPr algn="l">
                        <a:lnSpc>
                          <a:spcPct val="106000"/>
                        </a:lnSpc>
                        <a:spcAft>
                          <a:spcPts val="0"/>
                        </a:spcAft>
                      </a:pPr>
                      <a:r>
                        <a:rPr sz="1100" b="0">
                          <a:solidFill>
                            <a:srgbClr val="333333"/>
                          </a:solidFill>
                          <a:latin typeface="Fira Code"/>
                        </a:rPr>
                        <a:t>Sub::failsafe_ekf_check() — 2 s confirm hysteresis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variance bad but not yet bad for a full 2 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AP_HAL::millis() vs last_ekf_good_ms + 2000 (2 s clock-based confirmation window)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Suppresses the EKF failsafe (clears failsafe.ekf / ekf_bad and returns) until the EKF has been bad for 2 solid seconds, then trips → arming.disarm(EKFFAILSAFE).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(timing). [MULTI-CATEGORY w/ Table 5 #4]. Divergent hysteresis: Sub uses a clock-based 2 s window + 20 s GCS warn-throttle (L141), whereas Copter/Plane use a count-based EKF_CHECK_ITERATIONS_MAX (≈1 s) + 30 s warn-throttle.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128711">
                <a:tc>
                  <a:txBody>
                    <a:bodyPr wrap="square">
                      <a:noAutofit/>
                    </a:bodyPr>
                    <a:lstStyle/>
                    <a:p>
                      <a:pPr algn="l">
                        <a:lnSpc>
                          <a:spcPct val="106000"/>
                        </a:lnSpc>
                        <a:spcAft>
                          <a:spcPts val="0"/>
                        </a:spcAft>
                      </a:pPr>
                      <a:r>
                        <a:rPr sz="1100" b="1">
                          <a:solidFill>
                            <a:srgbClr val="333333"/>
                          </a:solidFill>
                          <a:latin typeface="Fira Code"/>
                        </a:rPr>
                        <a:t>9</a:t>
                      </a:r>
                    </a:p>
                    <a:p>
                      <a:pPr algn="l">
                        <a:lnSpc>
                          <a:spcPct val="106000"/>
                        </a:lnSpc>
                        <a:spcAft>
                          <a:spcPts val="0"/>
                        </a:spcAft>
                      </a:pPr>
                      <a:r>
                        <a:rPr sz="1100" b="0">
                          <a:solidFill>
                            <a:srgbClr val="333333"/>
                          </a:solidFill>
                          <a:latin typeface="Fira Code"/>
                        </a:rPr>
                        <a:t>ArduCopter/ekf_check.cpp</a:t>
                      </a:r>
                    </a:p>
                    <a:p>
                      <a:pPr algn="l">
                        <a:lnSpc>
                          <a:spcPct val="106000"/>
                        </a:lnSpc>
                        <a:spcAft>
                          <a:spcPts val="0"/>
                        </a:spcAft>
                      </a:pPr>
                      <a:r>
                        <a:rPr sz="1100" b="0">
                          <a:solidFill>
                            <a:srgbClr val="333333"/>
                          </a:solidFill>
                          <a:latin typeface="Fira Code"/>
                        </a:rPr>
                        <a:t>125-132</a:t>
                      </a:r>
                    </a:p>
                    <a:p>
                      <a:pPr algn="l">
                        <a:lnSpc>
                          <a:spcPct val="106000"/>
                        </a:lnSpc>
                        <a:spcAft>
                          <a:spcPts val="0"/>
                        </a:spcAft>
                      </a:pPr>
                      <a:r>
                        <a:rPr sz="1100" b="0">
                          <a:solidFill>
                            <a:srgbClr val="333333"/>
                          </a:solidFill>
                          <a:latin typeface="Fira Code"/>
                        </a:rPr>
                        <a:t>Copter::ekf_over_threshold() — dt filtering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Each ekf_over_threshold() evaluation (nominally the 10 Hz ekf_check cadence)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delta → dt = (now_us - last_ekf_check_us) * 1e-6 (actual inter-call interval)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Applies the measured dt to the position/velocity variance low-pass filters (pos_variance_filt / vel_variance_filt); the effective filter cutoff tracks the real scheduler call interval rather than a fixed rate.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(timing). [MULTI-CATEGORY w/ Table 5 #1]. EKF check-rate &lt;-&gt; scheduler coupling (AAP 0.5.5): filter behaviour depends on scheduler 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7–9</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675339"/>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1">
                          <a:solidFill>
                            <a:srgbClr val="333333"/>
                          </a:solidFill>
                          <a:latin typeface="Fira Code"/>
                        </a:rPr>
                        <a:t>10</a:t>
                      </a:r>
                    </a:p>
                    <a:p>
                      <a:pPr algn="l">
                        <a:lnSpc>
                          <a:spcPct val="106000"/>
                        </a:lnSpc>
                        <a:spcAft>
                          <a:spcPts val="0"/>
                        </a:spcAft>
                      </a:pPr>
                      <a:r>
                        <a:rPr sz="1100" b="0">
                          <a:solidFill>
                            <a:srgbClr val="333333"/>
                          </a:solidFill>
                          <a:latin typeface="Fira Code"/>
                        </a:rPr>
                        <a:t>ArduCopter/fence.cpp</a:t>
                      </a:r>
                    </a:p>
                    <a:p>
                      <a:pPr algn="l">
                        <a:lnSpc>
                          <a:spcPct val="106000"/>
                        </a:lnSpc>
                        <a:spcAft>
                          <a:spcPts val="0"/>
                        </a:spcAft>
                      </a:pPr>
                      <a:r>
                        <a:rPr sz="1100" b="0">
                          <a:solidFill>
                            <a:srgbClr val="333333"/>
                          </a:solidFill>
                          <a:latin typeface="Fira Code"/>
                        </a:rPr>
                        <a:t>8-16</a:t>
                      </a:r>
                    </a:p>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async fence IO callback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AP_HAL::millis() (now) and AP_HAL::timeout_expired(fence_breaches.last_check_ms, now, 40U) (40 ms / 25 Hz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early until 40 ms have elapsed, throttling the geofence breach check to 25 Hz; the position-vs-fence observation itself is Table 4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[MULTI-CATEGORY w/ Table 4 #3] — timing side of the same function (F1). vs Rover/fence.cpp (divergent rate).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11</a:t>
                      </a:r>
                    </a:p>
                    <a:p>
                      <a:pPr algn="l">
                        <a:lnSpc>
                          <a:spcPct val="106000"/>
                        </a:lnSpc>
                        <a:spcAft>
                          <a:spcPts val="0"/>
                        </a:spcAft>
                      </a:pPr>
                      <a:r>
                        <a:rPr sz="1100" b="0">
                          <a:solidFill>
                            <a:srgbClr val="333333"/>
                          </a:solidFill>
                          <a:latin typeface="Fira Code"/>
                        </a:rPr>
                        <a:t>Rover/fence.cpp</a:t>
                      </a:r>
                    </a:p>
                    <a:p>
                      <a:pPr algn="l">
                        <a:lnSpc>
                          <a:spcPct val="106000"/>
                        </a:lnSpc>
                        <a:spcAft>
                          <a:spcPts val="0"/>
                        </a:spcAft>
                      </a:pPr>
                      <a:r>
                        <a:rPr sz="1100" b="0">
                          <a:solidFill>
                            <a:srgbClr val="333333"/>
                          </a:solidFill>
                          <a:latin typeface="Fira Code"/>
                        </a:rPr>
                        <a:t>6-14</a:t>
                      </a:r>
                    </a:p>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1 kHz async fence IO callback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AP_HAL::millis() (now) and AP_HAL::timeout_expired(fence_breaches.last_check_ms, now, 100U) (100 ms / 10 Hz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Returns early until 100 ms have elapsed, throttling the geofence breach check to 10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[MULTI-CATEGORY w/ Table 4 #9]. vs ArduCopter/fence.cpp:8-16 — divergent rate (40U/25 Hz vs 100U/10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10–11</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dependency map</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6a: Layer 1 — direct callers / callees with typed dependency</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106789"/>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AP_Scheduler::ticks(); motors-&gt;output_min(); motors-&gt;armed(false)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system.cpp:87)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micros(); AP_Scheduler::ticks(); rc().read_input(); SRV_Channels::set_output_scaled()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system.cpp:103)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AP_Scheduler::ticks(); arming.disarm(CPUFAILSAFE)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system.cpp:111)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AP_Scheduler::ticks(); 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system.cpp:71)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Blimp::failsafe_check()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AP_Scheduler::ticks(); motors-&gt;output_min()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system.cpp:59)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280818"/>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Copter::ekf_check()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gcs().send_text()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Copter::ekf_check() bad-variance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Plane::ekf_check()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gcs().send_text()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Plane::ekf_check() bad-variance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Sub::failsafe_ekf_check() (2 s hysteresis)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compares last_ekf_good_ms + 2000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Sub periodic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Copter::ekf_over_threshold()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pos_variance_filt.apply(); vel_variance_filt.apply()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AP_HAL::timeout_expired(.,.,40U)</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 kHz async IO process (hal.scheduler register_io_process)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AP_HAL::timeout_expired(.,.,100U)</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 kHz async IO process (hal.scheduler register_io_process)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2 transitive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6a: Layer 2 — full transitive chain, final consumer &amp; hop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741529"/>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372600">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AP_Scheduler::ticks() / AP_HAL::micros() → failsafe_check_static() [1 kHz timer-failsafe] → Copter::failsafe_check() (&gt;2 s stall) → AP_Motors::output_min()/armed(false)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(motor min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AP_Scheduler::ticks() / micros() → failsafe_check_static() → Plane::failsafe_check() (&gt;0.2 s stall) → SRV_Channels::set_output_scaled() → servos_output()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 (RC passthrough)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watchdog; divergent 0.2 s trip + RC-passthrough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577648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284487"/>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AP_Scheduler::ticks() / micros() → failsafe_check_static() → Rover::failsafe_check() (&gt;0.2 s stall) → AP_Arming::disarm(CPUFAILSAFE)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AP_Arming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AP_Scheduler::ticks() / micros() → failsafe_check_static() → Sub::mainloop_failsafe_check() (&gt;2 s stall) → AP_Motors::output_min()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AP_Scheduler::ticks() / micros() → failsafe_check_static() → Blimp::failsafe_check() (&gt;2 s stall) → AP_Motors::output_min()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watchdog; Blimp observes scheduler timing state only (AAP 0.3.2).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 Copter::ekf_check() (&gt;30 s since last_warn) → gcs().send_text(“EKF variance”) → GCS_MAVLINK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30 s warn-throttle (Copter/Plane). [MULTI-CATEGORY w/ Table 5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 Plane::ekf_check() (&gt;30 s since last_warn) → gcs().send_text(“EKF variance”) → GCS_MAVLINK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mirrors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6003559"/>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3–7</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866569"/>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 Sub::failsafe_ekf_check() (EKF bad ≥ 2 s) → failsafe.ekf = true → arming.disarm(EKFFAILSAFE)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AP_Arming (EKF failsafe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[MULTI-CATEGORY w/ Table 5 #4]. 2 s confirm + 20 s warn-throttle.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inter-call interval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dt → pos/vel_variance_filt.apply(var, dt) → ekf_over_threshold() → Copter::ekf_check() failsafe decision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Copter::ekf_check() variance decision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check-rate &lt;-&gt; scheduler coupling (AAP 0.5.5). [MULTI-CATEGORY w/ Table 5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 AP_HAL::timeout_expired(40U) gate → Copter::fence_checks_async() → AC_Fence::check() → fence_breaches latched → main-loop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[MULTI-CATEGORY w/ Table 4 #3]. vs Rover (40U/25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 AP_HAL::timeout_expired(100U) gate → Rover::fence_checks_async() → AC_Fence::check() → fence_breaches latched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[MULTI-CATEGORY w/ Table 4 #9]. vs Copter (100U/10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585641"/>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8–11</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ROLL-UP  ·  LAYER 1</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Layer 1 dependency types across all 94 rows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 roll-up of the audit’s own Dependency Type column values, read cell by cell across the six Layer 1 blocks. It is not a new score, a new metric or a new finding.</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173338"/>
          <a:ext cx="11058144" cy="2255586"/>
        </p:xfrm>
        <a:graphic>
          <a:graphicData uri="http://schemas.openxmlformats.org/drawingml/2006/table">
            <a:tbl>
              <a:tblPr>
                <a:tableStyleId>{5C22544A-7EE6-4342-B048-85BDC9FD1C3A}</a:tableStyleId>
              </a:tblPr>
              <a:tblGrid>
                <a:gridCol w="2878773"/>
                <a:gridCol w="1370844"/>
                <a:gridCol w="6808527"/>
              </a:tblGrid>
              <a:tr h="270927">
                <a:tc>
                  <a:txBody>
                    <a:bodyPr wrap="square">
                      <a:noAutofit/>
                    </a:bodyPr>
                    <a:lstStyle/>
                    <a:p>
                      <a:pPr algn="l">
                        <a:lnSpc>
                          <a:spcPct val="106000"/>
                        </a:lnSpc>
                        <a:spcAft>
                          <a:spcPts val="0"/>
                        </a:spcAft>
                      </a:pPr>
                      <a:r>
                        <a:rPr sz="1300" b="1">
                          <a:solidFill>
                            <a:srgbClr val="333333"/>
                          </a:solidFill>
                          <a:latin typeface="Inter"/>
                        </a:rPr>
                        <a:t>Dependency Type (Layer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What the value records, per the audit’s Legend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80935">
                <a:tc>
                  <a:txBody>
                    <a:bodyPr wrap="square">
                      <a:noAutofit/>
                    </a:bodyPr>
                    <a:lstStyle/>
                    <a:p>
                      <a:pPr algn="l">
                        <a:lnSpc>
                          <a:spcPct val="106000"/>
                        </a:lnSpc>
                        <a:spcAft>
                          <a:spcPts val="0"/>
                        </a:spcAft>
                      </a:pPr>
                      <a:r>
                        <a:rPr sz="1300" b="1">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The component reads or writes PNT fields of a shared structure rather than calling for them.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61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The component obtains or hands on the PNT value through a direct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80935">
                <a:tc>
                  <a:txBody>
                    <a:bodyPr wrap="square">
                      <a:noAutofit/>
                    </a:bodyPr>
                    <a:lstStyle/>
                    <a:p>
                      <a:pPr algn="l">
                        <a:lnSpc>
                          <a:spcPct val="106000"/>
                        </a:lnSpc>
                        <a:spcAft>
                          <a:spcPts val="0"/>
                        </a:spcAft>
                      </a:pPr>
                      <a:r>
                        <a:rPr sz="1300" b="1">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The component sits behind a base class or interface that the PNT edge is declared 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The component reaches the PNT value through a process-wide singleton or global.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80935">
                <a:tc>
                  <a:txBody>
                    <a:bodyPr wrap="square">
                      <a:noAutofit/>
                    </a:bodyPr>
                    <a:lstStyle/>
                    <a:p>
                      <a:pPr algn="l">
                        <a:lnSpc>
                          <a:spcPct val="106000"/>
                        </a:lnSpc>
                        <a:spcAft>
                          <a:spcPts val="0"/>
                        </a:spcAft>
                      </a:pPr>
                      <a:r>
                        <a:rPr sz="1300" b="1">
                          <a:solidFill>
                            <a:srgbClr val="333333"/>
                          </a:solidFill>
                          <a:latin typeface="Inter"/>
                        </a:rPr>
                        <a:t>All Layer 1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One Layer 1 row for every catalogued main-table row, which is what makes the distribution exhaustive.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4611804"/>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Layer 1 row carries exactly one Dependency Type value drawn from the audit’s own four-value vocabulary, so the four figures above account for all 94 rows.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ROLL-UP  ·  LAYER 2</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Layer 2 chain depth, and the evidence-row reconciliation</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Chain Depth is the audit’s own convention: the number of → hops explicitly listed in that chain.</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852079"/>
          <a:ext cx="11058144" cy="2316505"/>
        </p:xfrm>
        <a:graphic>
          <a:graphicData uri="http://schemas.openxmlformats.org/drawingml/2006/table">
            <a:tbl>
              <a:tblPr>
                <a:tableStyleId>{5C22544A-7EE6-4342-B048-85BDC9FD1C3A}</a:tableStyleId>
              </a:tblPr>
              <a:tblGrid>
                <a:gridCol w="1370844"/>
                <a:gridCol w="2376130"/>
                <a:gridCol w="7311170"/>
              </a:tblGrid>
              <a:tr h="270927">
                <a:tc>
                  <a:txBody>
                    <a:bodyPr wrap="square">
                      <a:noAutofit/>
                    </a:bodyPr>
                    <a:lstStyle/>
                    <a:p>
                      <a:pPr algn="l">
                        <a:lnSpc>
                          <a:spcPct val="106000"/>
                        </a:lnSpc>
                        <a:spcAft>
                          <a:spcPts val="0"/>
                        </a:spcAft>
                      </a:pPr>
                      <a:r>
                        <a:rPr sz="1300" b="1">
                          <a:solidFill>
                            <a:srgbClr val="333333"/>
                          </a:solidFill>
                          <a:latin typeface="Inter"/>
                        </a:rPr>
                        <a:t>Sub-table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Chain Depth values present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What the chains run through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80935">
                <a:tc>
                  <a:txBody>
                    <a:bodyPr wrap="square">
                      <a:noAutofit/>
                    </a:bodyPr>
                    <a:lstStyle/>
                    <a:p>
                      <a:pPr algn="l">
                        <a:lnSpc>
                          <a:spcPct val="106000"/>
                        </a:lnSpc>
                        <a:spcAft>
                          <a:spcPts val="0"/>
                        </a:spcAft>
                      </a:pPr>
                      <a:r>
                        <a:rPr sz="1300" b="1">
                          <a:solidFill>
                            <a:srgbClr val="333333"/>
                          </a:solidFill>
                          <a:latin typeface="Fira Code"/>
                        </a:rPr>
                        <a:t>Table 1a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Fira Code"/>
                        </a:rPr>
                        <a:t>3  4  5  6  8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Receiver backends through the shared GPS state and the estimator to the motor and servo output, the catalog’s longest chains.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Fira Code"/>
                        </a:rPr>
                        <a:t>Table 2a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Fira Code"/>
                        </a:rPr>
                        <a:t>3  4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The navigation hub and the estimator stack through to the guidance and mission layer.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80935">
                <a:tc>
                  <a:txBody>
                    <a:bodyPr wrap="square">
                      <a:noAutofit/>
                    </a:bodyPr>
                    <a:lstStyle/>
                    <a:p>
                      <a:pPr algn="l">
                        <a:lnSpc>
                          <a:spcPct val="106000"/>
                        </a:lnSpc>
                        <a:spcAft>
                          <a:spcPts val="0"/>
                        </a:spcAft>
                      </a:pPr>
                      <a:r>
                        <a:rPr sz="1300" b="1">
                          <a:solidFill>
                            <a:srgbClr val="333333"/>
                          </a:solidFill>
                          <a:latin typeface="Fira Code"/>
                        </a:rPr>
                        <a:t>Table 3a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Fira Code"/>
                        </a:rPr>
                        <a:t>3  4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The board hardware timer through the hardware-abstraction clock to every periodic PNT task.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Fira Code"/>
                        </a:rPr>
                        <a:t>Table 4a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Fira Code"/>
                        </a:rPr>
                        <a:t>2  3  4  5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Position health and fence evaluation through to mode denial and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1">
                          <a:solidFill>
                            <a:srgbClr val="333333"/>
                          </a:solidFill>
                          <a:latin typeface="Fira Code"/>
                        </a:rPr>
                        <a:t>Table 5a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Fira Code"/>
                        </a:rPr>
                        <a:t>2  3  4  5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Estimator-variance watchdogs through to the vehicle’s failsafe response.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Fira Code"/>
                        </a:rPr>
                        <a:t>Table 6a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Fira Code"/>
                        </a:rPr>
                        <a:t>3  4  5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Main-loop lockup watchdogs and their rate gates through to motor output and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Rounded Rectangle 7"/>
          <p:cNvSpPr/>
          <p:nvPr/>
        </p:nvSpPr>
        <p:spPr>
          <a:xfrm>
            <a:off x="566928"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94</a:t>
            </a:r>
          </a:p>
          <a:p>
            <a:pPr algn="ctr">
              <a:lnSpc>
                <a:spcPct val="124000"/>
              </a:lnSpc>
            </a:pPr>
            <a:r>
              <a:rPr sz="1200">
                <a:solidFill>
                  <a:srgbClr val="999999"/>
                </a:solidFill>
                <a:latin typeface="Inter"/>
              </a:rPr>
              <a:t>main rows catalogued</a:t>
            </a:r>
          </a:p>
        </p:txBody>
      </p:sp>
      <p:sp>
        <p:nvSpPr>
          <p:cNvPr id="9" name="Rounded Rectangle 8"/>
          <p:cNvSpPr/>
          <p:nvPr/>
        </p:nvSpPr>
        <p:spPr>
          <a:xfrm>
            <a:off x="3381756"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3</a:t>
            </a:r>
          </a:p>
          <a:p>
            <a:pPr algn="ctr">
              <a:lnSpc>
                <a:spcPct val="124000"/>
              </a:lnSpc>
            </a:pPr>
            <a:r>
              <a:rPr sz="1200">
                <a:solidFill>
                  <a:srgbClr val="999999"/>
                </a:solidFill>
                <a:latin typeface="Inter"/>
              </a:rPr>
              <a:t>layers per row</a:t>
            </a:r>
          </a:p>
        </p:txBody>
      </p:sp>
      <p:sp>
        <p:nvSpPr>
          <p:cNvPr id="10" name="Rounded Rectangle 9"/>
          <p:cNvSpPr/>
          <p:nvPr/>
        </p:nvSpPr>
        <p:spPr>
          <a:xfrm>
            <a:off x="6196584"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282</a:t>
            </a:r>
          </a:p>
          <a:p>
            <a:pPr algn="ctr">
              <a:lnSpc>
                <a:spcPct val="124000"/>
              </a:lnSpc>
            </a:pPr>
            <a:r>
              <a:rPr sz="1200">
                <a:solidFill>
                  <a:srgbClr val="999999"/>
                </a:solidFill>
                <a:latin typeface="Inter"/>
              </a:rPr>
              <a:t>evidence rows in total</a:t>
            </a:r>
          </a:p>
        </p:txBody>
      </p:sp>
      <p:sp>
        <p:nvSpPr>
          <p:cNvPr id="11" name="Rounded Rectangle 10"/>
          <p:cNvSpPr/>
          <p:nvPr/>
        </p:nvSpPr>
        <p:spPr>
          <a:xfrm>
            <a:off x="9011412"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18</a:t>
            </a:r>
          </a:p>
          <a:p>
            <a:pPr algn="ctr">
              <a:lnSpc>
                <a:spcPct val="124000"/>
              </a:lnSpc>
            </a:pPr>
            <a:r>
              <a:rPr sz="1200">
                <a:solidFill>
                  <a:srgbClr val="999999"/>
                </a:solidFill>
                <a:latin typeface="Inter"/>
              </a:rPr>
              <a:t>data objects behind them</a:t>
            </a:r>
          </a:p>
        </p:txBody>
      </p:sp>
      <p:sp>
        <p:nvSpPr>
          <p:cNvPr id="12" name="TextBox 11"/>
          <p:cNvSpPr txBox="1"/>
          <p:nvPr/>
        </p:nvSpPr>
        <p:spPr>
          <a:xfrm>
            <a:off x="566928" y="554932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94 main rows × 3 layers = 282 evidence rows, exactly the total the audit states.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PNT Instance Audit</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Current Location → New Service Location: the audit’s own wiring contract for the extracted service.</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PNT INSTANCE AUDIT  ·  12 MAPPING ROWS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PNT Instance Audit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Position, Navigation and Timing touch-point inside the wrapped controller, with the service member each one is refactored into.</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2228202"/>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Every Position / Navigation / Timing touch-point inside AP_L1_Control mapped onto the reusable AfsimL1Behavior service (the AHRS state shim, the injected-dt timing seam and the extern "C" command surface).</a:t>
            </a:r>
          </a:p>
        </p:txBody>
      </p:sp>
      <p:graphicFrame>
        <p:nvGraphicFramePr>
          <p:cNvPr id="8" name="Table 7"/>
          <p:cNvGraphicFramePr>
            <a:graphicFrameLocks noGrp="1"/>
          </p:cNvGraphicFramePr>
          <p:nvPr/>
        </p:nvGraphicFramePr>
        <p:xfrm>
          <a:off x="566928" y="2701099"/>
          <a:ext cx="11058144" cy="2747721"/>
        </p:xfrm>
        <a:graphic>
          <a:graphicData uri="http://schemas.openxmlformats.org/drawingml/2006/table">
            <a:tbl>
              <a:tblPr>
                <a:tableStyleId>{5C22544A-7EE6-4342-B048-85BDC9FD1C3A}</a:tableStyleId>
              </a:tblPr>
              <a:tblGrid>
                <a:gridCol w="1416539"/>
                <a:gridCol w="1827792"/>
                <a:gridCol w="2056266"/>
                <a:gridCol w="2376130"/>
                <a:gridCol w="3381417"/>
              </a:tblGrid>
              <a:tr h="240219">
                <a:tc>
                  <a:txBody>
                    <a:bodyPr wrap="square">
                      <a:noAutofit/>
                    </a:bodyPr>
                    <a:lstStyle/>
                    <a:p>
                      <a:pPr algn="l">
                        <a:lnSpc>
                          <a:spcPct val="106000"/>
                        </a:lnSpc>
                        <a:spcAft>
                          <a:spcPts val="0"/>
                        </a:spcAft>
                      </a:pPr>
                      <a:r>
                        <a:rPr sz="1100" b="1">
                          <a:solidFill>
                            <a:srgbClr val="333333"/>
                          </a:solidFill>
                          <a:latin typeface="Inter"/>
                        </a:rPr>
                        <a:t>PNT Pillar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Location(s)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Accessor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Inter"/>
                        </a:rPr>
                        <a:t>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 vehicle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AP_L1_Control.cpp:L230, L369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`_ahrs.get_location(_current_loc)`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 shim `get_location()`, fed by `set_state_ne(n, 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Navigation (velocity)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Read ground velocity vector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AP_L1_Control.cpp:L236, L375, L507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`_ahrs.groundspeed_vector()`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 shim `groundspeed_vector()`, fed by `set_velocity_EN(velE, velN)`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Navigation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 yaw (radians)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AP_L1_Control.cpp:L59, L61, L402, L536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`_ahrs.get_yaw_rad()`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 shim `get_yaw_rad()`, fed by `set_yaw_cd(yaw_cd)`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Navigation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Read yaw (centideg sensor)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AP_L1_Control.cpp:L70, L72, L503, L535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`_ahrs.yaw_sensor`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 shim `yaw_sensor`, fed by `set_yaw_cd(yaw_cd)`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Navigation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 pitch (radians)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`_ahrs.get_pitch_rad()`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 shim `get_pitch_rad()`, fed by `set_pitch_rad(pitch_rad)`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Navigation (airspeed)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Airspeed scaling factor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AP_L1_Control.cpp:L126, L159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`_ahrs.get_EAS2TAS()`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 shim `get_EAS2TAS()` (injected or unit default)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PNT INSTANCE AUDIT  ·  12 MAPPING ROWS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PNT Instance Audit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524706"/>
        </p:xfrm>
        <a:graphic>
          <a:graphicData uri="http://schemas.openxmlformats.org/drawingml/2006/table">
            <a:tbl>
              <a:tblPr>
                <a:tableStyleId>{5C22544A-7EE6-4342-B048-85BDC9FD1C3A}</a:tableStyleId>
              </a:tblPr>
              <a:tblGrid>
                <a:gridCol w="1416539"/>
                <a:gridCol w="1827792"/>
                <a:gridCol w="2056266"/>
                <a:gridCol w="2376130"/>
                <a:gridCol w="3381417"/>
              </a:tblGrid>
              <a:tr h="240219">
                <a:tc>
                  <a:txBody>
                    <a:bodyPr wrap="square">
                      <a:noAutofit/>
                    </a:bodyPr>
                    <a:lstStyle/>
                    <a:p>
                      <a:pPr algn="l">
                        <a:lnSpc>
                          <a:spcPct val="106000"/>
                        </a:lnSpc>
                        <a:spcAft>
                          <a:spcPts val="0"/>
                        </a:spcAft>
                      </a:pPr>
                      <a:r>
                        <a:rPr sz="1100" b="1">
                          <a:solidFill>
                            <a:srgbClr val="333333"/>
                          </a:solidFill>
                          <a:latin typeface="Inter"/>
                        </a:rPr>
                        <a:t>PNT Pillar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Location(s)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Accessor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1">
                          <a:solidFill>
                            <a:srgbClr val="333333"/>
                          </a:solidFill>
                          <a:latin typeface="Inter"/>
                        </a:rPr>
                        <a:t>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Control-step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AP_L1_Control.cpp:L214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`set_update_dt(dt)` injected timebase. Additive and default-off: when `set_update_dt` is never called the controller keeps its internal `AP_HAL::micros()` delta, so existing vehicle callers are unaffected.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l">
                        <a:lnSpc>
                          <a:spcPct val="106000"/>
                        </a:lnSpc>
                        <a:spcAft>
                          <a:spcPts val="0"/>
                        </a:spcAft>
                      </a:pPr>
                      <a:r>
                        <a:rPr sz="1100" b="1">
                          <a:solidFill>
                            <a:srgbClr val="333333"/>
                          </a:solidFill>
                          <a:latin typeface="Inter"/>
                        </a:rPr>
                        <a:t>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Step delta + state store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AP_L1_Control.cpp:L215, L224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`_last_update_waypoint_us`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Injected-`dt` path (clamp semantics preserved). Additive and default-off: existing callers keep the `_last_update_waypoint_us` `micros()` delta until `set_update_dt` is called.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1">
                          <a:solidFill>
                            <a:srgbClr val="333333"/>
                          </a:solidFill>
                          <a:latin typeface="Inter"/>
                        </a:rPr>
                        <a:t>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Loiter/heading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AP_L1_Control.cpp:L448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Injected time for the loiter path. Additive and default-off: when unset the internal `AP_HAL::millis()` clock is used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Inter"/>
                        </a:rPr>
                        <a:t>Navigation (math)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Bearing / NE distance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AP_L1_Control.cpp:L239, L382 / L260, L266, L274, L295, L391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`Location::get_bearing_to` / `get_distance_NE`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Preserved unchanged inside `AP_L1_Control`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Navigation (output)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Roll command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AP_L1_Control.h:L36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`get_roll_deg()` = `nav_roll_cd()/100` → `L1_GetRollDeg`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Navigation (output)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Lateral acceleration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AP_L1_Control.h:L37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`lateral_acceleration()`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`get_lat_accel()` → `L1_GetLatAccel`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PNT INSTANCE AUDIT  ·  LINE-NUMBER BASIS, QUOTED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line-number basis, reproduced unchanged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NOTE BENEATH THE MAPPING TABLE</a:t>
            </a:r>
          </a:p>
        </p:txBody>
      </p:sp>
      <p:sp>
        <p:nvSpPr>
          <p:cNvPr id="7" name="Rectangle 6"/>
          <p:cNvSpPr/>
          <p:nvPr/>
        </p:nvSpPr>
        <p:spPr>
          <a:xfrm>
            <a:off x="566928" y="1761896"/>
            <a:ext cx="32004" cy="1150581"/>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1150581"/>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“Line-number basis. The Current Location(s) line numbers below are cited as of the audited HEAD 5b67e27b0a (the pre-refactor baseline), which preserves parity with the AAP 0.6.1 instance table; they are not post-seam current-source line numbers. The extraction's single additive, default-off set_update_dt timing seam was applied to AP_L1_Control.cpp / .h after that commit and shifts only those two files' line numbers (it relocates no behavior). Because the seam is default-off, when set_update_dt is never called the controller keeps its internal AP_HAL::micros() / millis() timing path unchanged, so existing vehicle callers are unaffected.”</a:t>
            </a:r>
          </a:p>
        </p:txBody>
      </p:sp>
      <p:sp>
        <p:nvSpPr>
          <p:cNvPr id="9" name="TextBox 8"/>
          <p:cNvSpPr txBox="1"/>
          <p:nvPr/>
        </p:nvSpPr>
        <p:spPr>
          <a:xfrm>
            <a:off x="566928" y="3113645"/>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SERVICE SURFACE THE MAPPING RESOLVES TO</a:t>
            </a:r>
          </a:p>
        </p:txBody>
      </p:sp>
      <p:sp>
        <p:nvSpPr>
          <p:cNvPr id="10" name="Rectangle 9"/>
          <p:cNvSpPr/>
          <p:nvPr/>
        </p:nvSpPr>
        <p:spPr>
          <a:xfrm>
            <a:off x="566928" y="3339349"/>
            <a:ext cx="32004" cy="675093"/>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13232" y="3339349"/>
            <a:ext cx="10856976" cy="675093"/>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“For every PNT touch-point inside the wrapped L1 guidance controller it names the member of the reusable AfsimL1Behavior service that the behavior is refactored into: the AHRS state shim that supplies injected position, velocity and attitude, the injected-dt timing seam that replaces the internal hardware clock, and the extern "C" command surface that returns the roll and lateral-acceleration commands.”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Coverage &amp; Explicit-Absence Register</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10 sub-registers  ·  109 entries  ·  27 checked absences</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NON-INFERENCE DISCIPLINE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What the register establishes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INTRODUCTION TO THE REGISTER</a:t>
            </a:r>
          </a:p>
        </p:txBody>
      </p:sp>
      <p:sp>
        <p:nvSpPr>
          <p:cNvPr id="7" name="Rectangle 6"/>
          <p:cNvSpPr/>
          <p:nvPr/>
        </p:nvSpPr>
        <p:spPr>
          <a:xfrm>
            <a:off x="566928" y="1761896"/>
            <a:ext cx="32004" cy="470992"/>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470992"/>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“Directory-wide token sweeps and explicit absence notations establishing exhaustiveness across libraries/, the four vehicle directories and the .gitmodules boundary edges (10 sub-registers, 109 entries, 27 checked absences).”</a:t>
            </a:r>
          </a:p>
        </p:txBody>
      </p:sp>
      <p:sp>
        <p:nvSpPr>
          <p:cNvPr id="9" name="Rounded Rectangle 8"/>
          <p:cNvSpPr/>
          <p:nvPr/>
        </p:nvSpPr>
        <p:spPr>
          <a:xfrm>
            <a:off x="566928"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10</a:t>
            </a:r>
          </a:p>
          <a:p>
            <a:pPr algn="ctr">
              <a:lnSpc>
                <a:spcPct val="124000"/>
              </a:lnSpc>
            </a:pPr>
            <a:r>
              <a:rPr sz="1200">
                <a:solidFill>
                  <a:srgbClr val="999999"/>
                </a:solidFill>
                <a:latin typeface="Inter"/>
              </a:rPr>
              <a:t>named sub-registers</a:t>
            </a:r>
          </a:p>
        </p:txBody>
      </p:sp>
      <p:sp>
        <p:nvSpPr>
          <p:cNvPr id="10" name="Rounded Rectangle 9"/>
          <p:cNvSpPr/>
          <p:nvPr/>
        </p:nvSpPr>
        <p:spPr>
          <a:xfrm>
            <a:off x="3381756"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109</a:t>
            </a:r>
          </a:p>
          <a:p>
            <a:pPr algn="ctr">
              <a:lnSpc>
                <a:spcPct val="124000"/>
              </a:lnSpc>
            </a:pPr>
            <a:r>
              <a:rPr sz="1200">
                <a:solidFill>
                  <a:srgbClr val="999999"/>
                </a:solidFill>
                <a:latin typeface="Inter"/>
              </a:rPr>
              <a:t>register entries</a:t>
            </a:r>
          </a:p>
        </p:txBody>
      </p:sp>
      <p:sp>
        <p:nvSpPr>
          <p:cNvPr id="11" name="Rounded Rectangle 10"/>
          <p:cNvSpPr/>
          <p:nvPr/>
        </p:nvSpPr>
        <p:spPr>
          <a:xfrm>
            <a:off x="6196584"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27</a:t>
            </a:r>
          </a:p>
          <a:p>
            <a:pPr algn="ctr">
              <a:lnSpc>
                <a:spcPct val="124000"/>
              </a:lnSpc>
            </a:pPr>
            <a:r>
              <a:rPr sz="1200">
                <a:solidFill>
                  <a:srgbClr val="999999"/>
                </a:solidFill>
                <a:latin typeface="Inter"/>
              </a:rPr>
              <a:t>checked absences</a:t>
            </a:r>
          </a:p>
        </p:txBody>
      </p:sp>
      <p:sp>
        <p:nvSpPr>
          <p:cNvPr id="12" name="Rounded Rectangle 11"/>
          <p:cNvSpPr/>
          <p:nvPr/>
        </p:nvSpPr>
        <p:spPr>
          <a:xfrm>
            <a:off x="9011412"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5</a:t>
            </a:r>
          </a:p>
          <a:p>
            <a:pPr algn="ctr">
              <a:lnSpc>
                <a:spcPct val="124000"/>
              </a:lnSpc>
            </a:pPr>
            <a:r>
              <a:rPr sz="1200">
                <a:solidFill>
                  <a:srgbClr val="999999"/>
                </a:solidFill>
                <a:latin typeface="Inter"/>
              </a:rPr>
              <a:t>flag kinds in the catalog</a:t>
            </a:r>
          </a:p>
        </p:txBody>
      </p:sp>
      <p:sp>
        <p:nvSpPr>
          <p:cNvPr id="13" name="TextBox 12"/>
          <p:cNvSpPr txBox="1"/>
          <p:nvPr/>
        </p:nvSpPr>
        <p:spPr>
          <a:xfrm>
            <a:off x="566928" y="365020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The audit’s own footnote to the Audit-Discipline Flags table: Explicitly-documented absences catalogued in the Coverage register: 27.</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THE TEN SUB-REGISTERS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ten sub-registers, in the audit’s own order</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886296"/>
        </p:xfrm>
        <a:graphic>
          <a:graphicData uri="http://schemas.openxmlformats.org/drawingml/2006/table">
            <a:tbl>
              <a:tblPr>
                <a:tableStyleId>{5C22544A-7EE6-4342-B048-85BDC9FD1C3A}</a:tableStyleId>
              </a:tblPr>
              <a:tblGrid>
                <a:gridCol w="1370844"/>
                <a:gridCol w="9687300"/>
              </a:tblGrid>
              <a:tr h="240219">
                <a:tc>
                  <a:txBody>
                    <a:bodyPr wrap="square">
                      <a:noAutofit/>
                    </a:bodyPr>
                    <a:lstStyle/>
                    <a:p>
                      <a:pPr algn="l">
                        <a:lnSpc>
                          <a:spcPct val="106000"/>
                        </a:lnSpc>
                        <a:spcAft>
                          <a:spcPts val="0"/>
                        </a:spcAft>
                      </a:pPr>
                      <a:r>
                        <a:rPr sz="1100" b="1">
                          <a:solidFill>
                            <a:srgbClr val="333333"/>
                          </a:solidFill>
                          <a:latin typeface="Inter"/>
                        </a:rPr>
                        <a:t>Sub-register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Title, as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 supporting-library register (AAP 0.3.1) — AC_Fence / AP_BattMonitor / AP_RCProtocol: non-PNT triggers whose failsafe action is PNT-gated, plus checked absences.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Cross-vehicle indirect safety-surface register (F16) — Rover / ArduSub failsafe, fence, and mode surfaces, each resolved to its catalogued numbered-table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AntennaTracker &amp; Blimp PNT-intersection register (F18; AAP 0.3.2 — included only where they observe / consume PNT): presence sites, per-mode gating, and checked absences.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External-boundary dependency-edge register (AAP 0.4.1 — .gitmodules PNT-relevant vendored submodule boundaries): each boundary resolved to its catalogued PNT edge or publisher site, mirroring the mavlink / DroneCAN edge treatment. Non-inference discipline — every .gitmodules PNT edge is accounted for explicitly, none silently omitted.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ArduPlane vehicle-dir indirect glue register (vehicle-symmetry completeness, AAP 0.3.1 / 0.6.1): ArduPlane failsafe-action and altitude-management glue that reacts to / consumes PNT state, mirroring the catalogued ArduCopter twins.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AP_AHRS backend register (Navigation-hub completeness): the AP_AHRS frontend hub is catalogued in Table 2 / 2a; each concrete backend overrides the navigation accessors behind the hub.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Copter flight modes PNT-gating matrix — 29 files (21 PNT-relevant, 8 checked-absence). Predicate: requires_GPS().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Plane flight modes PNT-gating matrix — 26 files (20 PNT-relevant, 6 checked-absence). Predicate: does_auto_navigation().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drive modes PNT-gating matrix — 14 files (11 PNT-relevant, 3 checked-absence). Predicate: requires_position().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Sub flight modes PNT-gating matrix — 12 files (7 PNT-relevant, 5 checked-absence). Predicate: requires_GPS().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(1)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(1)</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Indirect supporting-library register (AAP 0.3.1) — AC_Fence / AP_BattMonitor / AP_RCProtocol: non-PNT triggers whose failsafe action is PNT-gated, plus checked absences.</a:t>
            </a:r>
          </a:p>
        </p:txBody>
      </p:sp>
      <p:graphicFrame>
        <p:nvGraphicFramePr>
          <p:cNvPr id="7" name="Table 6"/>
          <p:cNvGraphicFramePr>
            <a:graphicFrameLocks noGrp="1"/>
          </p:cNvGraphicFramePr>
          <p:nvPr/>
        </p:nvGraphicFramePr>
        <p:xfrm>
          <a:off x="566928" y="2063953"/>
          <a:ext cx="11058144" cy="3866569"/>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0">
                          <a:solidFill>
                            <a:srgbClr val="333333"/>
                          </a:solidFill>
                          <a:latin typeface="Fira Code"/>
                        </a:rPr>
                        <a:t>libraries/AC_Fence/ (AC_Fence::check + check_fence_polygon / check_fence_circle)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Reads vehicle position vs polygon / circle / altitude fence; position-dependent breach. Fully catalogued in the numbered tables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libraries/AC_Fence/AC_Fence.cpp:679-843 · Table 4 #4-#8 / Table 4a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l">
                        <a:lnSpc>
                          <a:spcPct val="106000"/>
                        </a:lnSpc>
                        <a:spcAft>
                          <a:spcPts val="0"/>
                        </a:spcAft>
                      </a:pPr>
                      <a:r>
                        <a:rPr sz="1100" b="0">
                          <a:solidFill>
                            <a:srgbClr val="333333"/>
                          </a:solidFill>
                          <a:latin typeface="Fira Code"/>
                        </a:rPr>
                        <a:t>libraries/AP_BattMonitor/ (58 source files; AP_BattMonitor::check_failsafes)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Directory-wide token sweep found ZERO PNT reads (no ahrs. / gps. / get_location / position_ok / get_velocity_NED). Failsafe trigger is voltage / capacity only; PNT enters at the vehicle action layer, not here.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libraries/AP_BattMonitor/AP_BattMonitor.cpp:781 (check_failsafes) · action cross-ref ArduCopter/events.cpp:99-121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l">
                        <a:lnSpc>
                          <a:spcPct val="106000"/>
                        </a:lnSpc>
                        <a:spcAft>
                          <a:spcPts val="0"/>
                        </a:spcAft>
                      </a:pPr>
                      <a:r>
                        <a:rPr sz="1100" b="0">
                          <a:solidFill>
                            <a:srgbClr val="333333"/>
                          </a:solidFill>
                          <a:latin typeface="Fira Code"/>
                        </a:rPr>
                        <a:t>libraries/AP_RCProtocol/ (RC failsafe 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Token sweep found ZERO PNT reads. Failsafe is a boolean signal-present flag (failsafe_active); no position / nav / PNT-timing observation. PNT enters at the vehicle action layer.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libraries/AP_RCProtocol/AP_RCProtocol.h:126-130 (failsafe_active) · action cross-ref ArduCopter/events.cpp:99-121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l">
                        <a:lnSpc>
                          <a:spcPct val="106000"/>
                        </a:lnSpc>
                        <a:spcAft>
                          <a:spcPts val="0"/>
                        </a:spcAft>
                      </a:pPr>
                      <a:r>
                        <a:rPr sz="1100" b="0">
                          <a:solidFill>
                            <a:srgbClr val="333333"/>
                          </a:solidFill>
                          <a:latin typeface="Fira Code"/>
                        </a:rPr>
                        <a:t>ArduCopter/events.cpp (handle_battery_failsafe / radio / GCS FS action select)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PNT-reactive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Non-PNT trigger (battery / RC / GCS) but the chosen failsafe action (RTL / SmartRTL) is gated on position_ok and degrades to LAND when position is invalid — the relational PNT site for batt / RC / GCS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ArduCopter/events.cpp:99-121 (do_failsafe_action BATTERY_FAILSAFE) · gate Table 4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(2)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(2)</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Cross-vehicle indirect safety-surface register (F16) — Rover / ArduSub failsafe, fence, and mode surfaces, each resolved to its catalogued numbered-table row.</a:t>
            </a:r>
          </a:p>
        </p:txBody>
      </p:sp>
      <p:graphicFrame>
        <p:nvGraphicFramePr>
          <p:cNvPr id="7" name="Table 6"/>
          <p:cNvGraphicFramePr>
            <a:graphicFrameLocks noGrp="1"/>
          </p:cNvGraphicFramePr>
          <p:nvPr/>
        </p:nvGraphicFramePr>
        <p:xfrm>
          <a:off x="566928" y="2063953"/>
          <a:ext cx="11058144" cy="286290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Rover/failsafe.cpp (Rover::failsafe_check main-loop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Main-loop-lockup watchdog reading scheduler ticks + micros; 0.2 s trip → arming.disarm(CPUFAILSAFE). Catalogued,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Rover/failsafe.cpp:18-31 · Table 6 #3 / Table 6a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Rover/fence.cpp (Rover::fence_checks_async)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Geofence position-vs-boundary check on a 100 ms (10 Hz) timing gate; position-dependent breach.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Rover/fence.cpp:6-14 · Table 6 #11 / Table 6a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ArduSub/failsafe.cpp (Sub::failsafe_ekf_check)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EKF-variance health watchdog with 2 s confirm + 20 s warn hysteresis.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ArduSub/failsafe.cpp:100-150 · Table 5 #4 / Table 6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ArduSub/failsafe.cpp (Sub::mainloop_failsafe_check)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Main-loop-lockup watchdog (scheduler ticks + micros; 2 s → motors.output_min).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ArduSub/failsafe.cpp:29-55 · Table 6 #4 / Table 6a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ArduSub/mode*.cpp (12 files)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All 12 Sub mode files enumerated with per-file requires_GPS gating and checked absences in the Sub mode-gating matrix below.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ArduSub/mode.cpp:89-90 (set_mode gate) · Sub mode-gating matrix (this appendix)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(3)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(3)</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AntennaTracker &amp; Blimp PNT-intersection register (F18; AAP 0.3.2 — included only where they observe / consume PNT): presence sites, per-mode gating, and checked absences.</a:t>
            </a:r>
          </a:p>
        </p:txBody>
      </p:sp>
      <p:graphicFrame>
        <p:nvGraphicFramePr>
          <p:cNvPr id="7" name="Table 6"/>
          <p:cNvGraphicFramePr>
            <a:graphicFrameLocks noGrp="1"/>
          </p:cNvGraphicFramePr>
          <p:nvPr/>
        </p:nvGraphicFramePr>
        <p:xfrm>
          <a:off x="566928" y="2063953"/>
          <a:ext cx="11058144" cy="3991613"/>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0">
                          <a:solidFill>
                            <a:srgbClr val="333333"/>
                          </a:solidFill>
                          <a:latin typeface="Fira Code"/>
                        </a:rPr>
                        <a:t>AntennaTracker/tracking.cpp (Tracker::update_vehicle_pos_estimate)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consumer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Reads vehicle.location and vehicle.vel and dead-reckons location_estimate (offset by vel times dt) to point the antenna. Direct PNT consumption (presence, not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AntennaTracker/tracking.cpp:7-26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AntennaTracker/mode_auto.cpp + mode_guided.cpp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consumer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Auto / Guided pointing modes consume the tracked vehicle position / bearing to drive pitch and yaw. PNT-reactive.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AntennaTracker/mode_auto.cpp:5-10 · consumes tracking.cpp:7-26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AntennaTracker/mode_manual.cpp + mode_scan.cpp + mode_servotest.cpp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Manual / Scan / Servotest drive the antenna by stick / pattern / test only; token sweep found ZERO vehicle-position reads.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AntennaTracker/mode_servotest.cpp (0 PNT tokens) · mode_scan.cpp / mode_manual.cpp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Blimp/mode.cpp (Blimp::set_mode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Rejects PNT modes when position invalid: requires_GPS() and not blimp.position_ok(). Same gate idiom as Copter / Sub.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Blimp/mode_velocity.cpp (ModeVelocity)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needs a valid position / velocity estimate to enter.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Blimp/mode.h:181 (requires_GPS=true) · gate 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Blimp/mode_loiter.cpp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position-gated.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Blimp/mode.h:226 (requires_GPS=true) · gate 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(3)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(3)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444984"/>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Blimp/mode_rtl.cpp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position-gated.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Blimp/mode.h:315 (requires_GPS=true) · gate 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Blimp/mode_manual.cpp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 no position gate; manual stick control.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Blimp/mode.h:138 (requires_GPS=false)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Blimp/mode_land.cpp (ModeLand)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 no horizontal-position gate (descent uses non-PNT references). Checked absence for horizontal PNT.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Blimp/mode.h:271 (requires_GPS=false)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Blimp/failsafe.cpp (Blimp::failsafe_check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Main-loop-lockup watchdog (scheduler ticks + micros; 2 s → output_min).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Blimp/failsafe.cpp:37-45 · Table 6 #5 / Table 6a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(4)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(4)</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575310"/>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External-boundary dependency-edge register (AAP 0.4.1 — .gitmodules PNT-relevant vendored submodule boundaries): each boundary resolved to its catalogued PNT edge or publisher site, mirroring the mavlink / DroneCAN edge treatment. Non-inference discipline — every .gitmodules PNT edge is accounted for explicitly, none silently omitted.</a:t>
            </a:r>
          </a:p>
        </p:txBody>
      </p:sp>
      <p:graphicFrame>
        <p:nvGraphicFramePr>
          <p:cNvPr id="7" name="Table 6"/>
          <p:cNvGraphicFramePr>
            <a:graphicFrameLocks noGrp="1"/>
          </p:cNvGraphicFramePr>
          <p:nvPr/>
        </p:nvGraphicFramePr>
        <p:xfrm>
          <a:off x="566928" y="2257806"/>
          <a:ext cx="11058144" cy="2737860"/>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0">
                          <a:solidFill>
                            <a:srgbClr val="333333"/>
                          </a:solidFill>
                          <a:latin typeface="Fira Code"/>
                        </a:rPr>
                        <a:t>modules/mavlink (MAVLink message definitions)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GPS_INPUT ingress (AP_GPS_MAV Source backend) and NAV_CONTROLLER_OUTPUT egress (navigation-health reporting to the GCS). PNT telemetry boundary — catalogued,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.gitmodules:7-9 · Table 1 (AP_GPS_MAV.cpp:67-75 handle_msg) · Table 5 (ArduPlane/GCS_MAVLink_Plane.cpp:204-212 send_nav_controller_output)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modules/DroneCAN/DSDL + libcanard (CAN-bus GNSS message definitions)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DroneCAN / UAVCAN Fix2 GNSS messages decoded into GPS_State. Positioning-source boundary — catalogued,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.gitmodules:19-32 · Table 1 (AP_GPS_DroneCAN.cpp:388-396 handle_fix2_msg)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modules/ChibiOS (RTOS low-level clock / tick primitives)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Board RTOS timer backs the AP_HAL::micros() / millis() monotonic-time primitives. Timing boundary — named explicitly here as the board-timer origin of Table 3a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.gitmodules:13-15 · Table 3 #1 (AP_HAL/system.h:15-20) · Table 3a #1 (RTOS / board-hardware-timer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(4)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(4)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724327"/>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l">
                        <a:lnSpc>
                          <a:spcPct val="106000"/>
                        </a:lnSpc>
                        <a:spcAft>
                          <a:spcPts val="0"/>
                        </a:spcAft>
                      </a:pPr>
                      <a:r>
                        <a:rPr sz="1100" b="0">
                          <a:solidFill>
                            <a:srgbClr val="333333"/>
                          </a:solidFill>
                          <a:latin typeface="Fira Code"/>
                        </a:rPr>
                        <a:t>modules/Micro-XRCE-DDS-Client + modules/Micro-CDR (DDS transport, AP_DDS → ROS2)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publisher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AP_DDS (AP_DDS_ENABLED=1 by default) reads PNT state and publishes it over the Micro-XRCE-DDS / Micro-CDR transport to ROS2: sensor_msgs/NavSatFix from gps.location() and geographic_msgs/GeoPoseStamped from ahrs.get_location(). PNT-egress boundary — same edge treatment as mavlink / DroneCAN.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.gitmodules:34-40 · libraries/AP_DDS/AP_DDS_Client.cpp:268-270 (NavSatFix ← gps.location) · :577-584 (GeoPose ← ahrs.get_location) · AP_DDS_config.h:11 (#define AP_DDS_ENABLED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(5)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(5)</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575310"/>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ArduPlane vehicle-dir indirect glue register (vehicle-symmetry completeness, AAP 0.3.1 / 0.6.1): ArduPlane failsafe-action and altitude-management glue that reacts to / consumes PNT state, mirroring the catalogued ArduCopter twins.</a:t>
            </a:r>
          </a:p>
        </p:txBody>
      </p:sp>
      <p:graphicFrame>
        <p:nvGraphicFramePr>
          <p:cNvPr id="7" name="Table 6"/>
          <p:cNvGraphicFramePr>
            <a:graphicFrameLocks noGrp="1"/>
          </p:cNvGraphicFramePr>
          <p:nvPr/>
        </p:nvGraphicFramePr>
        <p:xfrm>
          <a:off x="566928" y="2257806"/>
          <a:ext cx="11058144" cy="249764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0">
                          <a:solidFill>
                            <a:srgbClr val="333333"/>
                          </a:solidFill>
                          <a:latin typeface="Fira Code"/>
                        </a:rPr>
                        <a:t>ArduPlane/events.cpp (Plane::handle_battery_failsafe / failsafe_long_on_event / failsafe_short_on_event)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PNT-reactive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Non-PNT trigger (battery / radio / GCS) but the chosen failsafe action is PNT-gated: handle_battery_failsafe reads plane.have_position and plane.current_loc to choose land-sequence continuation vs RTL. Direct Plane analog of the catalogued ArduCopter/events.cpp.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ArduPlane/events.cpp:290-300 (have_position / current_loc land-sequence gate; def @265) · symmetric with ArduCopter/events.cpp:99-121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0">
                          <a:solidFill>
                            <a:srgbClr val="333333"/>
                          </a:solidFill>
                          <a:latin typeface="Fira Code"/>
                        </a:rPr>
                        <a:t>ArduPlane/altitude.cpp (Plane::setup_alt_slope / check_home_alt_change)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consumer (Sink)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Positioning Sink: re-reads already-catalogued PNT state — current_loc.get_distance() / line_path_proportion() (AHRS get_location, Table 2) and ahrs.get_home() — to derive the glide slope and altitude target. Consumes, does not produce, PNT.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ArduPlane/altitude.cpp:48-55 (setup_alt_slope current_loc distance) · :31-43 (check_home_alt_change ahrs.get_home) · :109 &amp; :202 (current_loc.alt)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(6)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(6)</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AP_AHRS backend register (Navigation-hub completeness): the AP_AHRS frontend hub is catalogued in Table 2 / 2a; each concrete backend overrides the navigation accessors behind the hub.</a:t>
            </a:r>
          </a:p>
        </p:txBody>
      </p:sp>
      <p:graphicFrame>
        <p:nvGraphicFramePr>
          <p:cNvPr id="7" name="Table 6"/>
          <p:cNvGraphicFramePr>
            <a:graphicFrameLocks noGrp="1"/>
          </p:cNvGraphicFramePr>
          <p:nvPr/>
        </p:nvGraphicFramePr>
        <p:xfrm>
          <a:off x="566928" y="2063953"/>
          <a:ext cx="11058144" cy="256016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AP_AHRS_DCM (libraries/AP_AHRS/AP_AHRS_DCM.cpp)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Legacy DCM estimator backend; overrides get_location / groundspeed. Cited in the numbered Navigation tables alongside the hub.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libraries/AP_AHRS/AP_AHRS_DCM.cpp · Table 2 / Table 2a (AHRS hub + DCM)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l">
                        <a:lnSpc>
                          <a:spcPct val="106000"/>
                        </a:lnSpc>
                        <a:spcAft>
                          <a:spcPts val="0"/>
                        </a:spcAft>
                      </a:pPr>
                      <a:r>
                        <a:rPr sz="1100" b="0">
                          <a:solidFill>
                            <a:srgbClr val="333333"/>
                          </a:solidFill>
                          <a:latin typeface="Fira Code"/>
                        </a:rPr>
                        <a:t>AP_AHRS_External (libraries/AP_AHRS/AP_AHRS_External.cpp)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backend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External-AHRS backend feeding the hub from an external INS; overrides the position accessor (get_origin). Navigation Source backend behind the AP_AHRS frontend.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libraries/AP_AHRS/AP_AHRS_External.cpp:128 (get_origin) · AP_AHRS_External.h:30 (class : public AP_AHRS_Backend)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AP_AHRS_SIM (libraries/AP_AHRS/AP_AHRS_SIM.cpp)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backend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SITL simulation backend supplying simulated navigation state to the hub; overrides get_location / get_origin. Navigation Source backend behind the AP_AHRS frontend.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libraries/AP_AHRS/AP_AHRS_SIM.cpp:7 (get_location) · :194 (get_origin) · AP_AHRS_SIM.h:37 (class : public AP_AHRS_Backend)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Copter flight modes PNT-gating matrix — 29 files (21 PNT-relevant, 8 checked-absence). Predicate: requires_GPS().</a:t>
            </a:r>
          </a:p>
        </p:txBody>
      </p:sp>
      <p:graphicFrame>
        <p:nvGraphicFramePr>
          <p:cNvPr id="7" name="Table 6"/>
          <p:cNvGraphicFramePr>
            <a:graphicFrameLocks noGrp="1"/>
          </p:cNvGraphicFramePr>
          <p:nvPr/>
        </p:nvGraphicFramePr>
        <p:xfrm>
          <a:off x="566928" y="1870100"/>
          <a:ext cx="11058144" cy="416931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mode.cpp (Copter::set_mode()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new_flightmode-&gt;requires_GPS() &amp;&amp; !copter.position_ok() rejects PNT modes when position invalid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ArduCopter/mode.cpp:303-307 · Table 4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ArduCopter/mode.h:428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mode_acro_heli.cpp (ModeAcro_Heli)</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ArduCopter/mode.h:428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mode_althold.cpp (ModeAltHold)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ArduCopter/mode.h:484 · use ArduCopter/mode_althold.cpp:13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(conditional: all sub-modes except NAV_ATTITUDE_TIME)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ArduCopter/mode_auto.cpp:178 · use ArduCopter/mode_auto.cpp:42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mode_autorotate.cpp (ModeAutorotate)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ArduCopter/mode.h:2047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347008"/>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0">
                          <a:solidFill>
                            <a:srgbClr val="333333"/>
                          </a:solidFill>
                          <a:latin typeface="Fira Code"/>
                        </a:rPr>
                        <a:t>mode_autotune.cpp (ModeAutoTune)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×5;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ArduCopter/mode.h:829 · use ArduCopter/mode_autotune.cpp:31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mode_avoid_adsb.cpp (ModeAvoidADSB)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ArduCopter/mode.h:1888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mode_brake.cpp (ModeBrake)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ArduCopter/mode.h:854 · use ArduCopter/mode_brake.cpp:13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ArduCopter/mode.h:884 · use ArduCopter/mode_circle.cpp:16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mode_drift.cpp (ModeDrift)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ArduCopter/mode.h:914 · use ArduCopter/mode_drift.cpp:54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mode_flip.cpp (ModeFlip)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ArduCopter/mode.h:942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347008"/>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0">
                          <a:solidFill>
                            <a:srgbClr val="333333"/>
                          </a:solidFill>
                          <a:latin typeface="Fira Code"/>
                        </a:rPr>
                        <a:t>mode_flowhold.cpp (ModeFlowHold)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×12;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ArduCopter/mode.h:989 · use ArduCopter/mode_flowhold.cpp:92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mode_follow.cpp (ModeFollow)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ArduCopter/mode.h:1918 · use ArduCopter/mode_follow.cpp:33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ArduCopter/mode.h:1077 · use ArduCopter/mode_guided.cpp:77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mode_guided_custom.cpp (ModeGuidedCustom)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ArduCopter/mode.h:1077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mode_guided_nogps.cpp (ModeGuidedNoGPS)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ArduCopter/mode.h:1253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mode_land.cpp (ModeLand)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(position_ok ×9;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ArduCopter/mode.h:1277 · use ArduCopter/mode_land.cpp:7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06789"/>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0">
                          <a:solidFill>
                            <a:srgbClr val="333333"/>
                          </a:solidFill>
                          <a:latin typeface="Fira Code"/>
                        </a:rPr>
                        <a:t>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ArduCopter/mode.h:1323 · use ArduCopter/mode_loiter.cpp:17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mode_poshold.cpp (ModePosHold)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ArduCopter/mode.h:1373 · use ArduCopter/mode_poshold.cpp:28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ArduCopter/mode.h:1461 · use ArduCopter/mode_rtl.cpp:21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mode_smart_rtl.cpp (ModeSmartRTL)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ArduCopter/mode.h:1577 · use ArduCopter/mode_smart_rtl.cpp:16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mode_sport.cpp (ModeSport)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ArduCopter/mode.h:1637 · use ArduCopter/mode_sport.cpp:13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347009"/>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mode_stabilize.cpp (ModeStabilize)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ArduCopter/mode.h:1664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mode_stabilize_heli.cpp (ModeStabilize_Heli)</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ArduCopter/mode.h:1664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mode_systemid.cpp (ModeSystemId)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×22;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ArduCopter/mode.h:1712 · use ArduCopter/mode_systemid.cpp:115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mode_throw.cpp (ModeThrow)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ArduCopter/mode.h:1791 · use ArduCopter/mode_throw.cpp:23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mode_turtle.cpp (ModeTurtle)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ArduCopter/mode.h:1849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mode_zigzag.cpp (ModeZigZag)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ArduCopter/mode.h:1967 · use ArduCopter/mode_zigzag.cpp:75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Plane flight modes PNT-gating matrix — 26 files (20 PNT-relevant, 6 checked-absence). Predicate: does_auto_navigation().</a:t>
            </a:r>
          </a:p>
        </p:txBody>
      </p:sp>
      <p:graphicFrame>
        <p:nvGraphicFramePr>
          <p:cNvPr id="7" name="Table 6"/>
          <p:cNvGraphicFramePr>
            <a:graphicFrameLocks noGrp="1"/>
          </p:cNvGraphicFramePr>
          <p:nvPr/>
        </p:nvGraphicFramePr>
        <p:xfrm>
          <a:off x="566928" y="2063953"/>
          <a:ext cx="11058144" cy="3636216"/>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0">
                          <a:solidFill>
                            <a:srgbClr val="333333"/>
                          </a:solidFill>
                          <a:latin typeface="Fira Code"/>
                        </a:rPr>
                        <a:t>mode.cpp (Plane::set_mode() / mode enter)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 consulted; nav modes consume EKF/AHRS nav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mode_LoiterAltQLand.cpp (ModeLoiterAltQLand)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ArduPlane/mode.h:427 · use ArduPlane/mode_LoiterAltQLand.cpp:8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ArduPlane/mode_auto.cpp:137 · use ArduPlane/mode_auto.cpp:10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mode_autoland.cpp (ModeAutoLand)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ArduPlane/mode.h:957 · use ArduPlane/mode_autoland.cpp:79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mode_autotune.cpp (ModeAutoTune)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0953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mode_avoidADSB.cpp (ModeAvoidADSB)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(update_loiter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ArduPlane/mode_avoidADSB.cpp:19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ArduPlane/mode.h:399 · use ArduPlane/mode_circle.cpp:7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mode_cruise.cpp (ModeCruise)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(prev_WP_loc ×4;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ArduPlane/mode_cruise.cpp:83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mode_fbwa.cpp (ModeFBWA)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mode_fbwb.cpp (ModeFBWB)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ArduPlane/mode.h:360 · use ArduPlane/mode_guided.cpp:11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ArduPlane/mode.h:427 · use ArduPlane/mode_loiter.cpp:7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0953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ArduPlane/mode_manual.cpp:26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mode_qacro.cpp (ModeQAcro)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×16;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ArduPlane/mode_qacro.cpp:8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mode_qautotune.cpp (ModeQAutotune)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×4;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ArduPlane/mode_qautotune.cpp:11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mode_qhover.cpp (ModeQHover)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(pos_control ×13;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ArduPlane/mode_qhover.cpp:9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mode_qland.cpp (ModeQLand)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×5;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ArduPlane/mode_qland.cpp:9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mode_qloiter.cpp (ModeQLoiter)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(loiter_nav ×52;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ArduPlane/mode_qloiter.cpp:9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mode_qrtl.cpp (ModeQRTL)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×47;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ArduPlane/mode_qrtl.cpp:10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813915"/>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mode_qstabilize.cpp (ModeQStabilize)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×19;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ArduPlane/mode_qstabilize.cpp:8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ArduPlane/mode.h:507 · use ArduPlane/mode_rtl.cpp:6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mode_stabilize.cpp (ModeStabilize)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mode_takeoff.cpp (ModeTakeoff)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ArduPlane/mode.h:909 · use ArduPlane/mode_takeoff.cpp:74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mode_thermal.cpp (ModeThermal)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ArduPlane/mode.h:1025 · use ArduPlane/mode_thermal.cpp:16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mode_training.cpp (ModeTraining)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(9)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(9)</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Rover drive modes PNT-gating matrix — 14 files (11 PNT-relevant, 3 checked-absence). Predicate: requires_position().</a:t>
            </a:r>
          </a:p>
        </p:txBody>
      </p:sp>
      <p:graphicFrame>
        <p:nvGraphicFramePr>
          <p:cNvPr id="7" name="Table 6"/>
          <p:cNvGraphicFramePr>
            <a:graphicFrameLocks noGrp="1"/>
          </p:cNvGraphicFramePr>
          <p:nvPr/>
        </p:nvGraphicFramePr>
        <p:xfrm>
          <a:off x="566928" y="1870100"/>
          <a:ext cx="11058144" cy="4356870"/>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0">
                          <a:solidFill>
                            <a:srgbClr val="333333"/>
                          </a:solidFill>
                          <a:latin typeface="Fira Code"/>
                        </a:rPr>
                        <a:t>mode.cpp (Mode::enter()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rover.ekf_position_ok() &amp;&amp; requires_position()/requires_velocity() gate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requires_position()=false, but consumes PNT here (wp_nav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Rover/mode.h:235 · use Rover/mode_acro.cpp:37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Rover/mode_auto.cpp:14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Rover/mode_circle.cpp:85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mode_dock.cpp (ModeDock)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Rover/mode_dock.cpp:75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mode_follow.cpp (ModeFollow)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Rover/mode_follow.cpp:12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Rover/mode_guided.cpp:15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mode_hold.cpp (ModeHold)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Rover/mode.h:630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Rover/mode_loiter.cpp:6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(9)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(9)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685202"/>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Rover/mode.h:681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Rover/mode_rtl.cpp:11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mode_simple.cpp (ModeSimple)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mode_smart_rtl.cpp (ModeSmartRTL)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Rover/mode_smart_rtl.cpp:17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mode_steering.cpp (ModeSteering)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Rover/mode.h:785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(10)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(10)</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Sub flight modes PNT-gating matrix — 12 files (7 PNT-relevant, 5 checked-absence). Predicate: requires_GPS().</a:t>
            </a:r>
          </a:p>
        </p:txBody>
      </p:sp>
      <p:graphicFrame>
        <p:nvGraphicFramePr>
          <p:cNvPr id="7" name="Table 6"/>
          <p:cNvGraphicFramePr>
            <a:graphicFrameLocks noGrp="1"/>
          </p:cNvGraphicFramePr>
          <p:nvPr/>
        </p:nvGraphicFramePr>
        <p:xfrm>
          <a:off x="566928" y="1870100"/>
          <a:ext cx="11058144" cy="4231832"/>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0">
                          <a:solidFill>
                            <a:srgbClr val="333333"/>
                          </a:solidFill>
                          <a:latin typeface="Fira Code"/>
                        </a:rPr>
                        <a:t>mode.cpp (Sub::set_mode()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new_flightmode-&gt;requires_GPS() &amp;&amp; !sub.position_ok() rejects PNT modes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ArduSub/mode.h:155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mode_althold.cpp (ModeAlthold)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ArduSub/mode.h:201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ArduSub/mode.h:314 · use ArduSub/mode_auto.cpp:11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ArduSub/mode.h:382 · use ArduSub/mode_circle.cpp:10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ArduSub/mode.h:260 · use ArduSub/mode_guided.cpp:34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ArduSub/mode.h:132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(10)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(10)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218299"/>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mode_motordetect.cpp (ModeMotordetect)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ArduSub/mode.h:427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mode_poshold.cpp (ModePoshold)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ArduSub/mode.h:355 · use ArduSub/mode_poshold.cpp:13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mode_stabilize.cpp (ModeStabilize)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ArduSub/mode.h:178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mode_surface.cpp (ModeSurface)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(wp_nav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ArduSub/mode.h:404 · use ArduSub/mode_surface.cpp:54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mode_surftrak.cpp (ModeSurftrak)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×3;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ArduSub/mode.h:201 · use ArduSub/mode_surftrak.cpp:91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PROVENANCE  ·  THE AUDIT’S OWN GUARANTEE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Provenance, in the audit’s own words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QUOTED FROM THE AUDIT’S EXECUTIVE SUMMARY</a:t>
            </a:r>
          </a:p>
        </p:txBody>
      </p:sp>
      <p:sp>
        <p:nvSpPr>
          <p:cNvPr id="7" name="Rectangle 6"/>
          <p:cNvSpPr/>
          <p:nvPr/>
        </p:nvSpPr>
        <p:spPr>
          <a:xfrm>
            <a:off x="566928" y="1761896"/>
            <a:ext cx="32004" cy="912837"/>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912837"/>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“Provenance. This Executive Summary is derived entirely from the findings already catalogued in this document — the numbered tables, the instance mapping and the registers that follow — and no new static analysis of the ArduPilot codebase was performed to produce it. Every figure above is a reconciled total of that catalog, and every cited path:line reference in this document is unchanged: none was re-derived, re-scored or re-verified for this summary.”</a:t>
            </a:r>
          </a:p>
        </p:txBody>
      </p:sp>
      <p:sp>
        <p:nvSpPr>
          <p:cNvPr id="9" name="TextBox 8"/>
          <p:cNvSpPr txBox="1"/>
          <p:nvPr/>
        </p:nvSpPr>
        <p:spPr>
          <a:xfrm>
            <a:off x="566928" y="2875901"/>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WHAT THAT MEANS FOR THIS DECK</a:t>
            </a:r>
          </a:p>
        </p:txBody>
      </p:sp>
      <p:sp>
        <p:nvSpPr>
          <p:cNvPr id="10" name="TextBox 9"/>
          <p:cNvSpPr txBox="1"/>
          <p:nvPr/>
        </p:nvSpPr>
        <p:spPr>
          <a:xfrm>
            <a:off x="566928" y="3101605"/>
            <a:ext cx="11003280" cy="1783549"/>
          </a:xfrm>
          <a:prstGeom prst="rect">
            <a:avLst/>
          </a:prstGeom>
          <a:noFill/>
        </p:spPr>
        <p:txBody>
          <a:bodyPr wrap="square" lIns="0" rIns="0" tIns="0" bIns="0" anchor="t">
            <a:noAutofit/>
          </a:bodyPr>
          <a:lstStyle/>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This deck adds no finding, no metric and no count: every figure on every slide is a figure the audit states, and every row is the audit’s row.</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No cited path:line reference was re-derived, re-scored or re-verified for this deck, and the audit’s line-number-basis notes are quoted, not reconciled.</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The audit’s own flag tokens, [FIX F*] markers and AAP cross-references are transcribed exactly as printed, including where their referents lie outside the document.</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The source PDF is unchanged: it was read, never rewritten, re-rendered or regenerated.</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GENERATED BY THE BUILD’S OWN COMPLETENESS CHECK</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reconciliation</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construct in the source, the figure the audit states for it, and the slides that carry it. This table is generated by the completeness check that gates the save.</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228202"/>
          <a:ext cx="11058144" cy="3843504"/>
        </p:xfrm>
        <a:graphic>
          <a:graphicData uri="http://schemas.openxmlformats.org/drawingml/2006/table">
            <a:tbl>
              <a:tblPr>
                <a:tableStyleId>{5C22544A-7EE6-4342-B048-85BDC9FD1C3A}</a:tableStyleId>
              </a:tblPr>
              <a:tblGrid>
                <a:gridCol w="5026429"/>
                <a:gridCol w="1553623"/>
                <a:gridCol w="1462233"/>
                <a:gridCol w="1370844"/>
                <a:gridCol w="1645015"/>
              </a:tblGrid>
              <a:tr h="240219">
                <a:tc>
                  <a:txBody>
                    <a:bodyPr wrap="square">
                      <a:noAutofit/>
                    </a:bodyPr>
                    <a:lstStyle/>
                    <a:p>
                      <a:pPr algn="l">
                        <a:lnSpc>
                          <a:spcPct val="106000"/>
                        </a:lnSpc>
                        <a:spcAft>
                          <a:spcPts val="0"/>
                        </a:spcAft>
                      </a:pPr>
                      <a:r>
                        <a:rPr sz="1100" b="1">
                          <a:solidFill>
                            <a:srgbClr val="333333"/>
                          </a:solidFill>
                          <a:latin typeface="Inter"/>
                        </a:rPr>
                        <a:t>Source construct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Stated by the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Emitted here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Slides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0">
                          <a:solidFill>
                            <a:srgbClr val="333333"/>
                          </a:solidFill>
                          <a:latin typeface="Inter"/>
                        </a:rPr>
                        <a:t>Audit-Discipline Flags — taxonomy with the audit’s stated counts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Flag [SHARED-STRUCT] — every row it is applied 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17–19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Flag [DUPLICATED] — every row it is applied 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20–23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Flag [CIRCULAR] — every row it is applied 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24–25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Flag [MULTI-CATEGORY] — every row it is applied 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Flag [ABSENT] — every row it is applied 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The two touch-points named in superlative risk language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1 — Core Positioning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33–37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1a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38–40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1a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41–50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2 — Core Navigation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52–58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2a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59–61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2a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62–66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3 — Core Timing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68–69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3a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70–71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GENERATED BY THE BUILD’S OWN COMPLETENESS CHECK</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reconciliation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564161"/>
        </p:xfrm>
        <a:graphic>
          <a:graphicData uri="http://schemas.openxmlformats.org/drawingml/2006/table">
            <a:tbl>
              <a:tblPr>
                <a:tableStyleId>{5C22544A-7EE6-4342-B048-85BDC9FD1C3A}</a:tableStyleId>
              </a:tblPr>
              <a:tblGrid>
                <a:gridCol w="5026429"/>
                <a:gridCol w="1553623"/>
                <a:gridCol w="1462233"/>
                <a:gridCol w="1370844"/>
                <a:gridCol w="1645015"/>
              </a:tblGrid>
              <a:tr h="240219">
                <a:tc>
                  <a:txBody>
                    <a:bodyPr wrap="square">
                      <a:noAutofit/>
                    </a:bodyPr>
                    <a:lstStyle/>
                    <a:p>
                      <a:pPr algn="l">
                        <a:lnSpc>
                          <a:spcPct val="106000"/>
                        </a:lnSpc>
                        <a:spcAft>
                          <a:spcPts val="0"/>
                        </a:spcAft>
                      </a:pPr>
                      <a:r>
                        <a:rPr sz="1100" b="1">
                          <a:solidFill>
                            <a:srgbClr val="333333"/>
                          </a:solidFill>
                          <a:latin typeface="Inter"/>
                        </a:rPr>
                        <a:t>Source construct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Stated by the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Emitted here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Slides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0">
                          <a:solidFill>
                            <a:srgbClr val="333333"/>
                          </a:solidFill>
                          <a:latin typeface="Inter"/>
                        </a:rPr>
                        <a:t>Table 3a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72–73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4 — Indirect Positioning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75–78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4a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79–80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4a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81–82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5 — Indirect Navigation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84–87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5a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88–89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5a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90–91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6 — Indirect Timing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93–99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6a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100–101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6a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102–104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Layer 1 Dependency Type roll-up, every Layer 1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Roll-up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Layer 2 Chain Depth ranges, one per sub-table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Roll-up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PNT Instance Audit — every mapping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Instance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108–109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(1)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(2)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(3)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116–117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(4)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118–119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(5)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GENERATED BY THE BUILD’S OWN COMPLETENESS CHECK</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reconciliation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441314"/>
        </p:xfrm>
        <a:graphic>
          <a:graphicData uri="http://schemas.openxmlformats.org/drawingml/2006/table">
            <a:tbl>
              <a:tblPr>
                <a:tableStyleId>{5C22544A-7EE6-4342-B048-85BDC9FD1C3A}</a:tableStyleId>
              </a:tblPr>
              <a:tblGrid>
                <a:gridCol w="5026429"/>
                <a:gridCol w="1553623"/>
                <a:gridCol w="1462233"/>
                <a:gridCol w="1370844"/>
                <a:gridCol w="1645015"/>
              </a:tblGrid>
              <a:tr h="240219">
                <a:tc>
                  <a:txBody>
                    <a:bodyPr wrap="square">
                      <a:noAutofit/>
                    </a:bodyPr>
                    <a:lstStyle/>
                    <a:p>
                      <a:pPr algn="l">
                        <a:lnSpc>
                          <a:spcPct val="106000"/>
                        </a:lnSpc>
                        <a:spcAft>
                          <a:spcPts val="0"/>
                        </a:spcAft>
                      </a:pPr>
                      <a:r>
                        <a:rPr sz="1100" b="1">
                          <a:solidFill>
                            <a:srgbClr val="333333"/>
                          </a:solidFill>
                          <a:latin typeface="Inter"/>
                        </a:rPr>
                        <a:t>Source construct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Stated by the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Emitted here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Slides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(6)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(7)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122–126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(8)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127–130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(9)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131–132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(10)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133–134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TOTALS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totals, reconciled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Each total the audit states, beside the number of rows this deck actually carries.</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852079"/>
          <a:ext cx="11058144" cy="1896489"/>
        </p:xfrm>
        <a:graphic>
          <a:graphicData uri="http://schemas.openxmlformats.org/drawingml/2006/table">
            <a:tbl>
              <a:tblPr>
                <a:tableStyleId>{5C22544A-7EE6-4342-B048-85BDC9FD1C3A}</a:tableStyleId>
              </a:tblPr>
              <a:tblGrid>
                <a:gridCol w="5757546"/>
                <a:gridCol w="2741688"/>
                <a:gridCol w="2558910"/>
              </a:tblGrid>
              <a:tr h="270927">
                <a:tc>
                  <a:txBody>
                    <a:bodyPr wrap="square">
                      <a:noAutofit/>
                    </a:bodyPr>
                    <a:lstStyle/>
                    <a:p>
                      <a:pPr algn="l">
                        <a:lnSpc>
                          <a:spcPct val="106000"/>
                        </a:lnSpc>
                        <a:spcAft>
                          <a:spcPts val="0"/>
                        </a:spcAft>
                      </a:pPr>
                      <a:r>
                        <a:rPr sz="1300" b="1">
                          <a:solidFill>
                            <a:srgbClr val="333333"/>
                          </a:solidFill>
                          <a:latin typeface="Inter"/>
                        </a:rPr>
                        <a:t>Reconciled total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As the audit states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Emitted in this deck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70927">
                <a:tc>
                  <a:txBody>
                    <a:bodyPr wrap="square">
                      <a:noAutofit/>
                    </a:bodyPr>
                    <a:lstStyle/>
                    <a:p>
                      <a:pPr algn="l">
                        <a:lnSpc>
                          <a:spcPct val="106000"/>
                        </a:lnSpc>
                        <a:spcAft>
                          <a:spcPts val="0"/>
                        </a:spcAft>
                      </a:pPr>
                      <a:r>
                        <a:rPr sz="1300" b="0">
                          <a:solidFill>
                            <a:srgbClr val="333333"/>
                          </a:solidFill>
                          <a:latin typeface="Inter"/>
                        </a:rPr>
                        <a:t>Core references (Tables 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0">
                          <a:solidFill>
                            <a:srgbClr val="333333"/>
                          </a:solidFill>
                          <a:latin typeface="Inter"/>
                        </a:rPr>
                        <a:t>Indirect references (Tables 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1">
                          <a:solidFill>
                            <a:srgbClr val="333333"/>
                          </a:solidFill>
                          <a:latin typeface="Fira Code"/>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0">
                          <a:solidFill>
                            <a:srgbClr val="333333"/>
                          </a:solidFill>
                          <a:latin typeface="Inter"/>
                        </a:rPr>
                        <a:t>Total catalogued main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0">
                          <a:solidFill>
                            <a:srgbClr val="333333"/>
                          </a:solidFill>
                          <a:latin typeface="Inter"/>
                        </a:rPr>
                        <a:t>Evidence rows (main + Layer 1 + Layer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282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1">
                          <a:solidFill>
                            <a:srgbClr val="333333"/>
                          </a:solidFill>
                          <a:latin typeface="Fira Code"/>
                        </a:rPr>
                        <a:t>282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0">
                          <a:solidFill>
                            <a:srgbClr val="333333"/>
                          </a:solidFill>
                          <a:latin typeface="Inter"/>
                        </a:rPr>
                        <a:t>Coverage register entries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0">
                          <a:solidFill>
                            <a:srgbClr val="333333"/>
                          </a:solidFill>
                          <a:latin typeface="Inter"/>
                        </a:rPr>
                        <a:t>Current → new service mapping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3949736"/>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ONE COLUMN OF THE SOURCE TABLES NOT SET ON A SLIDE</a:t>
            </a:r>
          </a:p>
        </p:txBody>
      </p:sp>
      <p:sp>
        <p:nvSpPr>
          <p:cNvPr id="9" name="TextBox 8"/>
          <p:cNvSpPr txBox="1"/>
          <p:nvPr/>
        </p:nvSpPr>
        <p:spPr>
          <a:xfrm>
            <a:off x="566928" y="4175440"/>
            <a:ext cx="11003280" cy="1008659"/>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Every column of every source table is carried on these slides except one: Code Snippet (5-10 lines), the five-to-ten verbatim source lines behind each row. Abbreviating a snippet would breach the no-elision rule this deck is held to, and a slide is the wrong surface for a code listing, so each row instead carries the citation the snippet lives at — the same File Path and Line(s) the audit prints — and the snippet stays in the source audit at that range, unchanged.</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1225296"/>
            <a:ext cx="10424160" cy="659739"/>
          </a:xfrm>
          <a:prstGeom prst="rect">
            <a:avLst/>
          </a:prstGeom>
          <a:noFill/>
        </p:spPr>
        <p:txBody>
          <a:bodyPr wrap="square" lIns="0" rIns="0" tIns="0" bIns="0" anchor="t">
            <a:noAutofit/>
          </a:bodyPr>
          <a:lstStyle/>
          <a:p>
            <a:pPr algn="l">
              <a:lnSpc>
                <a:spcPct val="108000"/>
              </a:lnSpc>
              <a:spcAft>
                <a:spcPts val="0"/>
              </a:spcAft>
            </a:pPr>
            <a:r>
              <a:rPr sz="3600" b="1">
                <a:solidFill>
                  <a:srgbClr val="FFFFFF"/>
                </a:solidFill>
                <a:latin typeface="Space Grotesk"/>
              </a:rPr>
              <a:t>Every finding, exactly as catalogued</a:t>
            </a:r>
          </a:p>
        </p:txBody>
      </p:sp>
      <p:sp>
        <p:nvSpPr>
          <p:cNvPr id="3" name="TextBox 2"/>
          <p:cNvSpPr txBox="1"/>
          <p:nvPr/>
        </p:nvSpPr>
        <p:spPr>
          <a:xfrm>
            <a:off x="566928" y="2159355"/>
            <a:ext cx="8412480" cy="2214676"/>
          </a:xfrm>
          <a:prstGeom prst="rect">
            <a:avLst/>
          </a:prstGeom>
          <a:noFill/>
        </p:spPr>
        <p:txBody>
          <a:bodyPr wrap="square" lIns="0" rIns="0" tIns="0" bIns="0" anchor="t">
            <a:noAutofit/>
          </a:bodyPr>
          <a:lstStyle/>
          <a:p>
            <a:pPr algn="l" marL="228600" indent="-228600">
              <a:lnSpc>
                <a:spcPct val="124000"/>
              </a:lnSpc>
              <a:spcAft>
                <a:spcPts val="1200"/>
              </a:spcAft>
              <a:buClr>
                <a:srgbClr val="FFFFFF"/>
              </a:buClr>
              <a:buSzPct val="100000"/>
              <a:buFont typeface="Inter"/>
              <a:buChar char="•"/>
            </a:pPr>
            <a:r>
              <a:rPr sz="1600" b="0">
                <a:solidFill>
                  <a:srgbClr val="FFFFFF"/>
                </a:solidFill>
                <a:latin typeface="Inter"/>
              </a:rPr>
              <a:t>Both axes are the audit’s own: its Audit-Discipline Flags for severity, its Group and pillar structure for category.</a:t>
            </a:r>
          </a:p>
          <a:p>
            <a:pPr algn="l" marL="228600" indent="-228600">
              <a:lnSpc>
                <a:spcPct val="124000"/>
              </a:lnSpc>
              <a:spcAft>
                <a:spcPts val="1200"/>
              </a:spcAft>
              <a:buClr>
                <a:srgbClr val="FFFFFF"/>
              </a:buClr>
              <a:buSzPct val="100000"/>
              <a:buFont typeface="Inter"/>
              <a:buChar char="•"/>
            </a:pPr>
            <a:r>
              <a:rPr sz="1600" b="0">
                <a:solidFill>
                  <a:srgbClr val="FFFFFF"/>
                </a:solidFill>
                <a:latin typeface="Inter"/>
              </a:rPr>
              <a:t>Every figure printed here is a figure the audit states; every row keeps its own number, citation and Notes text.</a:t>
            </a:r>
          </a:p>
          <a:p>
            <a:pPr algn="l" marL="228600" indent="-228600">
              <a:lnSpc>
                <a:spcPct val="124000"/>
              </a:lnSpc>
              <a:spcAft>
                <a:spcPts val="1200"/>
              </a:spcAft>
              <a:buClr>
                <a:srgbClr val="FFFFFF"/>
              </a:buClr>
              <a:buSzPct val="100000"/>
              <a:buFont typeface="Inter"/>
              <a:buChar char="•"/>
            </a:pPr>
            <a:r>
              <a:rPr sz="1600" b="0">
                <a:solidFill>
                  <a:srgbClr val="FFFFFF"/>
                </a:solidFill>
                <a:latin typeface="Inter"/>
              </a:rPr>
              <a:t>The source of record stays exactly as it is: ArduPilot_PNT_Reference_Audit.pdf at audited HEAD 5b67e27b0a.</a:t>
            </a:r>
          </a:p>
        </p:txBody>
      </p:sp>
      <p:sp>
        <p:nvSpPr>
          <p:cNvPr id="4" name="Rectangle 3"/>
          <p:cNvSpPr/>
          <p:nvPr/>
        </p:nvSpPr>
        <p:spPr>
          <a:xfrm>
            <a:off x="566928" y="4846320"/>
            <a:ext cx="420624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5102352"/>
            <a:ext cx="3840480" cy="347472"/>
          </a:xfrm>
          <a:prstGeom prst="rect">
            <a:avLst/>
          </a:prstGeom>
          <a:noFill/>
        </p:spPr>
        <p:txBody>
          <a:bodyPr wrap="square" lIns="0" rIns="0" tIns="0" bIns="0" anchor="t">
            <a:noAutofit/>
          </a:bodyPr>
          <a:lstStyle/>
          <a:p>
            <a:pPr algn="l">
              <a:lnSpc>
                <a:spcPct val="100000"/>
              </a:lnSpc>
              <a:spcAft>
                <a:spcPts val="0"/>
              </a:spcAft>
            </a:pPr>
            <a:r>
              <a:rPr sz="1600" b="1">
                <a:solidFill>
                  <a:srgbClr val="94FAD5"/>
                </a:solidFill>
                <a:latin typeface="Space Grotesk"/>
              </a:rPr>
              <a:t>Blitzy</a:t>
            </a:r>
          </a:p>
        </p:txBody>
      </p:sp>
      <p:sp>
        <p:nvSpPr>
          <p:cNvPr id="6" name="TextBox 5"/>
          <p:cNvSpPr txBox="1"/>
          <p:nvPr/>
        </p:nvSpPr>
        <p:spPr>
          <a:xfrm>
            <a:off x="566928" y="5522976"/>
            <a:ext cx="11058144" cy="214960"/>
          </a:xfrm>
          <a:prstGeom prst="rect">
            <a:avLst/>
          </a:prstGeom>
          <a:noFill/>
        </p:spPr>
        <p:txBody>
          <a:bodyPr wrap="square" lIns="0" rIns="0" tIns="0" bIns="0" anchor="t">
            <a:noAutofit/>
          </a:bodyPr>
          <a:lstStyle/>
          <a:p>
            <a:pPr algn="l">
              <a:lnSpc>
                <a:spcPct val="100000"/>
              </a:lnSpc>
              <a:spcAft>
                <a:spcPts val="0"/>
              </a:spcAft>
            </a:pPr>
            <a:r>
              <a:rPr sz="1400" b="0">
                <a:solidFill>
                  <a:srgbClr val="94FAD5"/>
                </a:solidFill>
                <a:latin typeface="Inter"/>
              </a:rPr>
              <a:t>ArduPilot PNT (Positioning, Navigation, Timing) Reference Audit  ·  43 pages  ·  94 catalogued references  ·  282 evidence rows</a:t>
            </a:r>
          </a:p>
        </p:txBody>
      </p:sp>
    </p:spTree>
  </p:cSld>
  <p:clrMapOvr>
    <a:masterClrMapping/>
  </p:clrMapOvr>
</p:sld>
</file>

<file path=ppt/theme/theme1.xml><?xml version="1.0" encoding="utf-8"?>
<a:theme xmlns:a="http://schemas.openxmlformats.org/drawingml/2006/main" name="Blitzy Presentation">
  <a:themeElements>
    <a:clrScheme name="Blitzy">
      <a:dk1>
        <a:srgbClr val="333333"/>
      </a:dk1>
      <a:lt1>
        <a:srgbClr val="FFFFFF"/>
      </a:lt1>
      <a:dk2>
        <a:srgbClr val="1A105F"/>
      </a:dk2>
      <a:lt2>
        <a:srgbClr val="F4EFF6"/>
      </a:lt2>
      <a:accent1>
        <a:srgbClr val="5B39F3"/>
      </a:accent1>
      <a:accent2>
        <a:srgbClr val="7A6DEC"/>
      </a:accent2>
      <a:accent3>
        <a:srgbClr val="4101DB"/>
      </a:accent3>
      <a:accent4>
        <a:srgbClr val="2D1C77"/>
      </a:accent4>
      <a:accent5>
        <a:srgbClr val="94FAD5"/>
      </a:accent5>
      <a:accent6>
        <a:srgbClr val="999999"/>
      </a:accent6>
      <a:hlink>
        <a:srgbClr val="5B39F3"/>
      </a:hlink>
      <a:folHlink>
        <a:srgbClr val="2D1C77"/>
      </a:folHlink>
    </a:clrScheme>
    <a:fontScheme name="Blitzy">
      <a:majorFont>
        <a:latin typeface="Space Grotesk"/>
        <a:ea typeface=""/>
        <a:cs typeface=""/>
      </a:majorFont>
      <a:minorFont>
        <a:latin typeface="Inter"/>
        <a:ea typeface=""/>
        <a:cs typeface=""/>
      </a:minorFont>
    </a:fontScheme>
    <a:fmtScheme name="Blitz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21304</Words>
  <PresentationFormat>Widescreen</PresentationFormat>
  <Paragraphs>4280</Paragraphs>
  <Slides>140</Slides>
  <Notes>0</Notes>
  <HiddenSlides>0</HiddenSlides>
  <MMClips>0</MMClips>
  <ScaleCrop>false</ScaleCrop>
  <HeadingPairs>
    <vt:vector size="4" baseType="variant">
      <vt:variant>
        <vt:lpstr>Theme</vt:lpstr>
      </vt:variant>
      <vt:variant>
        <vt:i4>1</vt:i4>
      </vt:variant>
      <vt:variant>
        <vt:lpstr>Slide Titles</vt:lpstr>
      </vt:variant>
      <vt:variant>
        <vt:i4>140</vt:i4>
      </vt:variant>
    </vt:vector>
  </HeadingPairs>
  <TitlesOfParts>
    <vt:vector size="141" baseType="lpstr">
      <vt:lpstr>Blitzy Presentation</vt:lpstr>
      <vt:lpstr>ArduPilot PNT (Positioning, Navigation, Timing) Reference Audit</vt:lpstr>
      <vt:lpstr>How to read this deck</vt:lpstr>
      <vt:lpstr>The audit at a glance</vt:lpstr>
      <vt:lpstr>Legend</vt:lpstr>
      <vt:lpstr>Scope of the catalog</vt:lpstr>
      <vt:lpstr>Footprint Summary</vt:lpstr>
      <vt:lpstr>Project overview and the core problem addressed</vt:lpstr>
      <vt:lpstr>Project overview and the core problem addressed (continued)</vt:lpstr>
      <vt:lpstr>Key Stakeholders and Users</vt:lpstr>
      <vt:lpstr>Which part of this deck each audience needs</vt:lpstr>
      <vt:lpstr>Key Findings at a Glance</vt:lpstr>
      <vt:lpstr>Key Findings at a Glance (continued)</vt:lpstr>
      <vt:lpstr>Expected Impact and Value Proposition</vt:lpstr>
      <vt:lpstr>Document Roadmap / How to Read This Document</vt:lpstr>
      <vt:lpstr>Severity axis</vt:lpstr>
      <vt:lpstr>Audit-Discipline Flags</vt:lpstr>
      <vt:lpstr>Flag [SHARED-STRUCT] – where it is applied</vt:lpstr>
      <vt:lpstr>Flag [SHARED-STRUCT] (continued)</vt:lpstr>
      <vt:lpstr>Flag [SHARED-STRUCT] in the Layer 2 chains</vt:lpstr>
      <vt:lpstr>Flag [DUPLICATED] – where it is applied</vt:lpstr>
      <vt:lpstr>Flag [DUPLICATED] (continued)</vt:lpstr>
      <vt:lpstr>Flag [DUPLICATED] in the Layer 2 chains</vt:lpstr>
      <vt:lpstr>Flag [DUPLICATED] in the Layer 2 chains (continued)</vt:lpstr>
      <vt:lpstr>Flag [CIRCULAR] – where it is applied</vt:lpstr>
      <vt:lpstr>Flag [CIRCULAR] in the Layer 2 chains</vt:lpstr>
      <vt:lpstr>Flag [MULTI-CATEGORY] – where it is applied</vt:lpstr>
      <vt:lpstr>Flag [MULTI-CATEGORY] in the Layer 2 chains</vt:lpstr>
      <vt:lpstr>Flag [ABSENT] – where it is applied</vt:lpstr>
      <vt:lpstr>Flag [ABSENT] in the Layer 2 chains</vt:lpstr>
      <vt:lpstr>Flag [ABSENT] – the checked absences</vt:lpstr>
      <vt:lpstr>The two touch-points the audit itself singles out</vt:lpstr>
      <vt:lpstr>Table 1 — Core Positioning</vt:lpstr>
      <vt:lpstr>Table 1 — Core Positioning</vt:lpstr>
      <vt:lpstr>Table 1 — Core Positioning (continued)</vt:lpstr>
      <vt:lpstr>Table 1 — Core Positioning (continued)</vt:lpstr>
      <vt:lpstr>Table 1 — Core Positioning (continued)</vt:lpstr>
      <vt:lpstr>Table 1 — Core Positioning (continued)</vt:lpstr>
      <vt:lpstr>Table 1a — Layer 1 dependency map</vt:lpstr>
      <vt:lpstr>Table 1a — Layer 1 dependency map (continued)</vt:lpstr>
      <vt:lpstr>Table 1a — Layer 1 dependency map (continued)</vt:lpstr>
      <vt:lpstr>Table 1a — Layer 2 transitive chains</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2 — Core Navigation</vt:lpstr>
      <vt:lpstr>Table 2 — Core Navigation</vt:lpstr>
      <vt:lpstr>Table 2 — Core Navigation (continued)</vt:lpstr>
      <vt:lpstr>Table 2 — Core Navigation (continued)</vt:lpstr>
      <vt:lpstr>Table 2 — Core Navigation (continued)</vt:lpstr>
      <vt:lpstr>Table 2 — Core Navigation (continued)</vt:lpstr>
      <vt:lpstr>Table 2 — Core Navigation (continued)</vt:lpstr>
      <vt:lpstr>Table 2 — Core Navigation (continued)</vt:lpstr>
      <vt:lpstr>Table 2a — Layer 1 dependency map</vt:lpstr>
      <vt:lpstr>Table 2a — Layer 1 dependency map (continued)</vt:lpstr>
      <vt:lpstr>Table 2a — Layer 1 dependency map (continued)</vt:lpstr>
      <vt:lpstr>Table 2a — Layer 2 transitive chains</vt:lpstr>
      <vt:lpstr>Table 2a — Layer 2 transitive chains (continued)</vt:lpstr>
      <vt:lpstr>Table 2a — Layer 2 transitive chains (continued)</vt:lpstr>
      <vt:lpstr>Table 2a — Layer 2 transitive chains (continued)</vt:lpstr>
      <vt:lpstr>Table 2a — Layer 2 transitive chains (continued)</vt:lpstr>
      <vt:lpstr>Table 3 — Core Timing</vt:lpstr>
      <vt:lpstr>Table 3 — Core Timing</vt:lpstr>
      <vt:lpstr>Table 3 — Core Timing (continued)</vt:lpstr>
      <vt:lpstr>Table 3a — Layer 1 dependency map</vt:lpstr>
      <vt:lpstr>Table 3a — Layer 1 dependency map (continued)</vt:lpstr>
      <vt:lpstr>Table 3a — Layer 2 transitive chains</vt:lpstr>
      <vt:lpstr>Table 3a — Layer 2 transitive chains (continued)</vt:lpstr>
      <vt:lpstr>Table 4 — Indirect Positioning</vt:lpstr>
      <vt:lpstr>Table 4 — Indirect Positioning</vt:lpstr>
      <vt:lpstr>Table 4 — Indirect Positioning (continued)</vt:lpstr>
      <vt:lpstr>Table 4 — Indirect Positioning (continued)</vt:lpstr>
      <vt:lpstr>Table 4 — Indirect Positioning (continued)</vt:lpstr>
      <vt:lpstr>Table 4a — Layer 1 dependency map</vt:lpstr>
      <vt:lpstr>Table 4a — Layer 1 dependency map (continued)</vt:lpstr>
      <vt:lpstr>Table 4a — Layer 2 transitive chains</vt:lpstr>
      <vt:lpstr>Table 4a — Layer 2 transitive chains (continued)</vt:lpstr>
      <vt:lpstr>Table 5 — Indirect Navigation</vt:lpstr>
      <vt:lpstr>Table 5 — Indirect Navigation</vt:lpstr>
      <vt:lpstr>Table 5 — Indirect Navigation (continued)</vt:lpstr>
      <vt:lpstr>Table 5 — Indirect Navigation (continued)</vt:lpstr>
      <vt:lpstr>Table 5 — Indirect Navigation (continued)</vt:lpstr>
      <vt:lpstr>Table 5a — Layer 1 dependency map</vt:lpstr>
      <vt:lpstr>Table 5a — Layer 1 dependency map (continued)</vt:lpstr>
      <vt:lpstr>Table 5a — Layer 2 transitive chains</vt:lpstr>
      <vt:lpstr>Table 5a — Layer 2 transitive chains (continued)</vt:lpstr>
      <vt:lpstr>Table 6 — Indirect Timing</vt:lpstr>
      <vt:lpstr>Table 6 — Indirect Timing</vt:lpstr>
      <vt:lpstr>Table 6 — Indirect Timing (continued)</vt:lpstr>
      <vt:lpstr>Table 6 — Indirect Timing (continued)</vt:lpstr>
      <vt:lpstr>Table 6 — Indirect Timing (continued)</vt:lpstr>
      <vt:lpstr>Table 6 — Indirect Timing (continued)</vt:lpstr>
      <vt:lpstr>Table 6 — Indirect Timing (continued)</vt:lpstr>
      <vt:lpstr>Table 6 — Indirect Timing (continued)</vt:lpstr>
      <vt:lpstr>Table 6a — Layer 1 dependency map</vt:lpstr>
      <vt:lpstr>Table 6a — Layer 1 dependency map (continued)</vt:lpstr>
      <vt:lpstr>Table 6a — Layer 2 transitive chains</vt:lpstr>
      <vt:lpstr>Table 6a — Layer 2 transitive chains (continued)</vt:lpstr>
      <vt:lpstr>Table 6a — Layer 2 transitive chains (continued)</vt:lpstr>
      <vt:lpstr>Layer 1 dependency types across all 94 rows</vt:lpstr>
      <vt:lpstr>Layer 2 chain depth, and the evidence-row reconciliation</vt:lpstr>
      <vt:lpstr>PNT Instance Audit</vt:lpstr>
      <vt:lpstr>PNT Instance Audit</vt:lpstr>
      <vt:lpstr>PNT Instance Audit (continued)</vt:lpstr>
      <vt:lpstr>The line-number basis, reproduced unchanged</vt:lpstr>
      <vt:lpstr>Coverage &amp; Explicit-Absence Register</vt:lpstr>
      <vt:lpstr>What the register establishes</vt:lpstr>
      <vt:lpstr>The ten sub-registers, in the audit’s own order</vt:lpstr>
      <vt:lpstr>Coverage sub-register (1)</vt:lpstr>
      <vt:lpstr>Coverage sub-register (2)</vt:lpstr>
      <vt:lpstr>Coverage sub-register (3)</vt:lpstr>
      <vt:lpstr>Coverage sub-register (3) (continued)</vt:lpstr>
      <vt:lpstr>Coverage sub-register (4)</vt:lpstr>
      <vt:lpstr>Coverage sub-register (4) (continued)</vt:lpstr>
      <vt:lpstr>Coverage sub-register (5)</vt:lpstr>
      <vt:lpstr>Coverage sub-register (6)</vt:lpstr>
      <vt:lpstr>Coverage sub-register (7)</vt:lpstr>
      <vt:lpstr>Coverage sub-register (7) (continued)</vt:lpstr>
      <vt:lpstr>Coverage sub-register (7) (continued)</vt:lpstr>
      <vt:lpstr>Coverage sub-register (7) (continued)</vt:lpstr>
      <vt:lpstr>Coverage sub-register (7) (continued)</vt:lpstr>
      <vt:lpstr>Coverage sub-register (8)</vt:lpstr>
      <vt:lpstr>Coverage sub-register (8) (continued)</vt:lpstr>
      <vt:lpstr>Coverage sub-register (8) (continued)</vt:lpstr>
      <vt:lpstr>Coverage sub-register (8) (continued)</vt:lpstr>
      <vt:lpstr>Coverage sub-register (9)</vt:lpstr>
      <vt:lpstr>Coverage sub-register (9) (continued)</vt:lpstr>
      <vt:lpstr>Coverage sub-register (10)</vt:lpstr>
      <vt:lpstr>Coverage sub-register (10) (continued)</vt:lpstr>
      <vt:lpstr>Provenance, in the audit’s own words</vt:lpstr>
      <vt:lpstr>Coverage reconciliation</vt:lpstr>
      <vt:lpstr>Coverage reconciliation (continued)</vt:lpstr>
      <vt:lpstr>Coverage reconciliation (continued)</vt:lpstr>
      <vt:lpstr>The totals, reconciled</vt:lpstr>
      <vt:lpstr>Every finding, exactly as catalogued</vt:lpstr>
    </vt:vector>
  </TitlesOfParts>
  <Company>Blitzy</Company>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ArduPilot PNT Reference Audit — Full Findings</dc:title>
  <dc:creator>Blitzy</dc:creator>
  <cp:lastModifiedBy>Blitzy</cp:lastModifiedBy>
  <cp:revision>1</cp:revision>
  <dc:subject>Every catalogued finding of the ArduPilot PNT Reference Audit, ordered by the audit’s own Audit-Discipline Flags severity axis and its own Group and pillar category axis.</dc:subject>
  <dc:description>Comprehensive findings deck over the ArduPilot PNT Reference Audit at audited HEAD 5b67e27b0a: all 94 catalogued main rows with their paired Layer 1 and Layer 2 dependency maps, the 12-row service mapping and all 109 coverage entries, quoted verbatim.</dc:description>
  <cp:keywords>ArduPilot; PNT; positioning; navigation; timing; static-analysis catalog; audit findings; dependency map</cp:keywords>
  <cp:category>Audit findings reference</cp:category>
  <cp:contentStatus>Final</cp:contentStatus>
  <dc:language>en-GB</dc:language>
  <dcterms:created xsi:type="dcterms:W3CDTF">2026-08-01T01:15:11Z</dcterms:created>
  <dcterms:modified xsi:type="dcterms:W3CDTF">2026-08-01T01:15:11Z</dcterms:modified>
</cp:coreProperties>
</file>