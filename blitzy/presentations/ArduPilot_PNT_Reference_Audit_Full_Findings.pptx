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 Id="rId164" Type="http://schemas.openxmlformats.org/officeDocument/2006/relationships/slide" Target="slides/slide159.xml"/><Relationship Id="rId165" Type="http://schemas.openxmlformats.org/officeDocument/2006/relationships/slide" Target="slides/slide160.xml"/><Relationship Id="rId166" Type="http://schemas.openxmlformats.org/officeDocument/2006/relationships/slide" Target="slides/slide161.xml"/><Relationship Id="rId167" Type="http://schemas.openxmlformats.org/officeDocument/2006/relationships/slide" Target="slides/slide162.xml"/><Relationship Id="rId168" Type="http://schemas.openxmlformats.org/officeDocument/2006/relationships/slide" Target="slides/slide163.xml"/><Relationship Id="rId169" Type="http://schemas.openxmlformats.org/officeDocument/2006/relationships/slide" Target="slides/slide164.xml"/><Relationship Id="rId170" Type="http://schemas.openxmlformats.org/officeDocument/2006/relationships/slide" Target="slides/slide165.xml"/><Relationship Id="rId171" Type="http://schemas.openxmlformats.org/officeDocument/2006/relationships/slide" Target="slides/slide166.xml"/><Relationship Id="rId172" Type="http://schemas.openxmlformats.org/officeDocument/2006/relationships/slide" Target="slides/slide167.xml"/><Relationship Id="rId173" Type="http://schemas.openxmlformats.org/officeDocument/2006/relationships/slide" Target="slides/slide168.xml"/><Relationship Id="rId174" Type="http://schemas.openxmlformats.org/officeDocument/2006/relationships/slide" Target="slides/slide169.xml"/><Relationship Id="rId175" Type="http://schemas.openxmlformats.org/officeDocument/2006/relationships/slide" Target="slides/slide170.xml"/><Relationship Id="rId176" Type="http://schemas.openxmlformats.org/officeDocument/2006/relationships/slide" Target="slides/slide171.xml"/><Relationship Id="rId177" Type="http://schemas.openxmlformats.org/officeDocument/2006/relationships/slide" Target="slides/slide172.xml"/><Relationship Id="rId178" Type="http://schemas.openxmlformats.org/officeDocument/2006/relationships/slide" Target="slides/slide173.xml"/><Relationship Id="rId179" Type="http://schemas.openxmlformats.org/officeDocument/2006/relationships/slide" Target="slides/slide174.xml"/><Relationship Id="rId180" Type="http://schemas.openxmlformats.org/officeDocument/2006/relationships/slide" Target="slides/slide175.xml"/><Relationship Id="rId181" Type="http://schemas.openxmlformats.org/officeDocument/2006/relationships/slide" Target="slides/slide176.xml"/><Relationship Id="rId182" Type="http://schemas.openxmlformats.org/officeDocument/2006/relationships/slide" Target="slides/slide177.xml"/><Relationship Id="rId183" Type="http://schemas.openxmlformats.org/officeDocument/2006/relationships/slide" Target="slides/slide178.xml"/><Relationship Id="rId184" Type="http://schemas.openxmlformats.org/officeDocument/2006/relationships/slide" Target="slides/slide179.xml"/><Relationship Id="rId185" Type="http://schemas.openxmlformats.org/officeDocument/2006/relationships/slide" Target="slides/slide180.xml"/><Relationship Id="rId186" Type="http://schemas.openxmlformats.org/officeDocument/2006/relationships/slide" Target="slides/slide181.xml"/><Relationship Id="rId187" Type="http://schemas.openxmlformats.org/officeDocument/2006/relationships/slide" Target="slides/slide182.xml"/><Relationship Id="rId188" Type="http://schemas.openxmlformats.org/officeDocument/2006/relationships/slide" Target="slides/slide183.xml"/><Relationship Id="rId189" Type="http://schemas.openxmlformats.org/officeDocument/2006/relationships/slide" Target="slides/slide184.xml"/><Relationship Id="rId190" Type="http://schemas.openxmlformats.org/officeDocument/2006/relationships/slide" Target="slides/slide185.xml"/><Relationship Id="rId191" Type="http://schemas.openxmlformats.org/officeDocument/2006/relationships/slide" Target="slides/slide186.xml"/><Relationship Id="rId192" Type="http://schemas.openxmlformats.org/officeDocument/2006/relationships/slide" Target="slides/slide187.xml"/><Relationship Id="rId193" Type="http://schemas.openxmlformats.org/officeDocument/2006/relationships/slide" Target="slides/slide188.xml"/><Relationship Id="rId194" Type="http://schemas.openxmlformats.org/officeDocument/2006/relationships/slide" Target="slides/slide189.xml"/><Relationship Id="rId195" Type="http://schemas.openxmlformats.org/officeDocument/2006/relationships/slide" Target="slides/slide190.xml"/><Relationship Id="rId196" Type="http://schemas.openxmlformats.org/officeDocument/2006/relationships/slide" Target="slides/slide191.xml"/><Relationship Id="rId197" Type="http://schemas.openxmlformats.org/officeDocument/2006/relationships/slide" Target="slides/slide192.xml"/><Relationship Id="rId198" Type="http://schemas.openxmlformats.org/officeDocument/2006/relationships/slide" Target="slides/slide193.xml"/><Relationship Id="rId199" Type="http://schemas.openxmlformats.org/officeDocument/2006/relationships/slide" Target="slides/slide194.xml"/><Relationship Id="rId200" Type="http://schemas.openxmlformats.org/officeDocument/2006/relationships/slide" Target="slides/slide195.xml"/><Relationship Id="rId201" Type="http://schemas.openxmlformats.org/officeDocument/2006/relationships/slide" Target="slides/slide196.xml"/><Relationship Id="rId202" Type="http://schemas.openxmlformats.org/officeDocument/2006/relationships/slide" Target="slides/slide197.xml"/><Relationship Id="rId203" Type="http://schemas.openxmlformats.org/officeDocument/2006/relationships/slide" Target="slides/slide198.xml"/><Relationship Id="rId204" Type="http://schemas.openxmlformats.org/officeDocument/2006/relationships/slide" Target="slides/slide199.xml"/><Relationship Id="rId205" Type="http://schemas.openxmlformats.org/officeDocument/2006/relationships/slide" Target="slides/slide200.xml"/><Relationship Id="rId206" Type="http://schemas.openxmlformats.org/officeDocument/2006/relationships/slide" Target="slides/slide201.xml"/><Relationship Id="rId207" Type="http://schemas.openxmlformats.org/officeDocument/2006/relationships/slide" Target="slides/slide202.xml"/><Relationship Id="rId208" Type="http://schemas.openxmlformats.org/officeDocument/2006/relationships/slide" Target="slides/slide203.xml"/><Relationship Id="rId209" Type="http://schemas.openxmlformats.org/officeDocument/2006/relationships/slide" Target="slides/slide204.xml"/><Relationship Id="rId210" Type="http://schemas.openxmlformats.org/officeDocument/2006/relationships/slide" Target="slides/slide205.xml"/><Relationship Id="rId211" Type="http://schemas.openxmlformats.org/officeDocument/2006/relationships/slide" Target="slides/slide206.xml"/><Relationship Id="rId212" Type="http://schemas.openxmlformats.org/officeDocument/2006/relationships/slide" Target="slides/slide207.xml"/><Relationship Id="rId213" Type="http://schemas.openxmlformats.org/officeDocument/2006/relationships/slide" Target="slides/slide208.xml"/><Relationship Id="rId214" Type="http://schemas.openxmlformats.org/officeDocument/2006/relationships/slide" Target="slides/slide209.xml"/><Relationship Id="rId215" Type="http://schemas.openxmlformats.org/officeDocument/2006/relationships/slide" Target="slides/slide210.xml"/><Relationship Id="rId216" Type="http://schemas.openxmlformats.org/officeDocument/2006/relationships/slide" Target="slides/slide211.xml"/><Relationship Id="rId217" Type="http://schemas.openxmlformats.org/officeDocument/2006/relationships/slide" Target="slides/slide212.xml"/><Relationship Id="rId218" Type="http://schemas.openxmlformats.org/officeDocument/2006/relationships/slide" Target="slides/slide213.xml"/><Relationship Id="rId219" Type="http://schemas.openxmlformats.org/officeDocument/2006/relationships/slide" Target="slides/slide214.xml"/><Relationship Id="rId220" Type="http://schemas.openxmlformats.org/officeDocument/2006/relationships/slide" Target="slides/slide215.xml"/><Relationship Id="rId221" Type="http://schemas.openxmlformats.org/officeDocument/2006/relationships/slide" Target="slides/slide216.xml"/><Relationship Id="rId222" Type="http://schemas.openxmlformats.org/officeDocument/2006/relationships/slide" Target="slides/slide217.xml"/><Relationship Id="rId223" Type="http://schemas.openxmlformats.org/officeDocument/2006/relationships/slide" Target="slides/slide218.xml"/><Relationship Id="rId224" Type="http://schemas.openxmlformats.org/officeDocument/2006/relationships/slide" Target="slides/slide219.xml"/><Relationship Id="rId225" Type="http://schemas.openxmlformats.org/officeDocument/2006/relationships/slide" Target="slides/slide220.xml"/><Relationship Id="rId226" Type="http://schemas.openxmlformats.org/officeDocument/2006/relationships/slide" Target="slides/slide221.xml"/><Relationship Id="rId227" Type="http://schemas.openxmlformats.org/officeDocument/2006/relationships/slide" Target="slides/slide222.xml"/><Relationship Id="rId228" Type="http://schemas.openxmlformats.org/officeDocument/2006/relationships/slide" Target="slides/slide223.xml"/><Relationship Id="rId229" Type="http://schemas.openxmlformats.org/officeDocument/2006/relationships/slide" Target="slides/slide224.xml"/><Relationship Id="rId230" Type="http://schemas.openxmlformats.org/officeDocument/2006/relationships/slide" Target="slides/slide225.xml"/><Relationship Id="rId231" Type="http://schemas.openxmlformats.org/officeDocument/2006/relationships/slide" Target="slides/slide226.xml"/><Relationship Id="rId232" Type="http://schemas.openxmlformats.org/officeDocument/2006/relationships/slide" Target="slides/slide227.xml"/><Relationship Id="rId233" Type="http://schemas.openxmlformats.org/officeDocument/2006/relationships/slide" Target="slides/slide228.xml"/><Relationship Id="rId234" Type="http://schemas.openxmlformats.org/officeDocument/2006/relationships/slide" Target="slides/slide229.xml"/><Relationship Id="rId235" Type="http://schemas.openxmlformats.org/officeDocument/2006/relationships/slide" Target="slides/slide230.xml"/><Relationship Id="rId236" Type="http://schemas.openxmlformats.org/officeDocument/2006/relationships/slide" Target="slides/slide231.xml"/><Relationship Id="rId237" Type="http://schemas.openxmlformats.org/officeDocument/2006/relationships/slide" Target="slides/slide232.xml"/><Relationship Id="rId238" Type="http://schemas.openxmlformats.org/officeDocument/2006/relationships/slide" Target="slides/slide233.xml"/><Relationship Id="rId239" Type="http://schemas.openxmlformats.org/officeDocument/2006/relationships/slide" Target="slides/slide234.xml"/><Relationship Id="rId240" Type="http://schemas.openxmlformats.org/officeDocument/2006/relationships/slide" Target="slides/slide235.xml"/><Relationship Id="rId241" Type="http://schemas.openxmlformats.org/officeDocument/2006/relationships/slide" Target="slides/slide236.xml"/><Relationship Id="rId242" Type="http://schemas.openxmlformats.org/officeDocument/2006/relationships/slide" Target="slides/slide237.xml"/><Relationship Id="rId243" Type="http://schemas.openxmlformats.org/officeDocument/2006/relationships/slide" Target="slides/slide238.xml"/><Relationship Id="rId244" Type="http://schemas.openxmlformats.org/officeDocument/2006/relationships/slide" Target="slides/slide2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litzy Title">
    <p:bg>
      <p:bgPr>
        <a:gradFill rotWithShape="0">
          <a:gsLst>
            <a:gs pos="15560">
              <a:srgbClr val="7A6DEC"/>
            </a:gs>
            <a:gs pos="62740">
              <a:srgbClr val="5B39F3"/>
            </a:gs>
            <a:gs pos="84440">
              <a:srgbClr val="4101DB"/>
            </a:gs>
          </a:gsLst>
          <a:lin ang="20280000" scaled="0"/>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litzy Conten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litzy Section Divider">
    <p:bg>
      <p:bgPr>
        <a:gradFill rotWithShape="0">
          <a:gsLst>
            <a:gs pos="0">
              <a:srgbClr val="2D1C77"/>
            </a:gs>
            <a:gs pos="100000">
              <a:srgbClr val="5B39F3"/>
            </a:gs>
          </a:gsLst>
          <a:lin ang="2700000" scaled="0"/>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itzy Closing">
    <p:bg>
      <p:bgPr>
        <a:solidFill>
          <a:srgbClr val="1A105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defRPr>
          <a:solidFill>
            <a:schemeClr val="tx1"/>
          </a:solidFill>
          <a:latin typeface="+mj-lt"/>
        </a:defRPr>
      </a:lvl1pPr>
      <a:lvl2pPr>
        <a:defRPr>
          <a:solidFill>
            <a:schemeClr val="tx1"/>
          </a:solidFill>
          <a:latin typeface="+mj-lt"/>
        </a:defRPr>
      </a:lvl2pPr>
      <a:lvl3pPr>
        <a:defRPr>
          <a:solidFill>
            <a:schemeClr val="tx1"/>
          </a:solidFill>
          <a:latin typeface="+mj-lt"/>
        </a:defRPr>
      </a:lvl3pPr>
      <a:lvl4pPr>
        <a:defRPr>
          <a:solidFill>
            <a:schemeClr val="tx1"/>
          </a:solidFill>
          <a:latin typeface="+mj-lt"/>
        </a:defRPr>
      </a:lvl4pPr>
      <a:lvl5pPr>
        <a:defRPr>
          <a:solidFill>
            <a:schemeClr val="tx1"/>
          </a:solidFill>
          <a:latin typeface="+mj-lt"/>
        </a:defRPr>
      </a:lvl5pPr>
      <a:lvl6pPr>
        <a:defRPr>
          <a:solidFill>
            <a:schemeClr val="tx1"/>
          </a:solidFill>
          <a:latin typeface="+mj-lt"/>
        </a:defRPr>
      </a:lvl6pPr>
      <a:lvl7pPr>
        <a:defRPr>
          <a:solidFill>
            <a:schemeClr val="tx1"/>
          </a:solidFill>
          <a:latin typeface="+mj-lt"/>
        </a:defRPr>
      </a:lvl7pPr>
      <a:lvl8pPr>
        <a:defRPr>
          <a:solidFill>
            <a:schemeClr val="tx1"/>
          </a:solidFill>
          <a:latin typeface="+mj-lt"/>
        </a:defRPr>
      </a:lvl8pPr>
      <a:lvl9pPr>
        <a:defRPr>
          <a:solidFill>
            <a:schemeClr val="tx1"/>
          </a:solidFill>
          <a:latin typeface="+mj-lt"/>
        </a:defRPr>
      </a:lvl9pPr>
    </p:titleStyle>
    <p:body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vl6pPr>
        <a:defRPr>
          <a:solidFill>
            <a:schemeClr val="tx1"/>
          </a:solidFill>
          <a:latin typeface="+mn-lt"/>
        </a:defRPr>
      </a:lvl6pPr>
      <a:lvl7pPr>
        <a:defRPr>
          <a:solidFill>
            <a:schemeClr val="tx1"/>
          </a:solidFill>
          <a:latin typeface="+mn-lt"/>
        </a:defRPr>
      </a:lvl7pPr>
      <a:lvl8pPr>
        <a:defRPr>
          <a:solidFill>
            <a:schemeClr val="tx1"/>
          </a:solidFill>
          <a:latin typeface="+mn-lt"/>
        </a:defRPr>
      </a:lvl8pPr>
      <a:lvl9pPr>
        <a:defRPr>
          <a:solidFill>
            <a:schemeClr val="tx1"/>
          </a:solidFill>
          <a:latin typeface="+mn-lt"/>
        </a:defRPr>
      </a:lvl9pPr>
    </p:bodyStyle>
    <p:other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vl6pPr>
        <a:defRPr>
          <a:solidFill>
            <a:schemeClr val="tx1"/>
          </a:solidFill>
          <a:latin typeface="+mn-lt"/>
        </a:defRPr>
      </a:lvl6pPr>
      <a:lvl7pPr>
        <a:defRPr>
          <a:solidFill>
            <a:schemeClr val="tx1"/>
          </a:solidFill>
          <a:latin typeface="+mn-lt"/>
        </a:defRPr>
      </a:lvl7pPr>
      <a:lvl8pPr>
        <a:defRPr>
          <a:solidFill>
            <a:schemeClr val="tx1"/>
          </a:solidFill>
          <a:latin typeface="+mn-lt"/>
        </a:defRPr>
      </a:lvl8pPr>
      <a:lvl9pPr>
        <a:defRPr>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481328"/>
            <a:ext cx="11058144" cy="310896"/>
          </a:xfrm>
          <a:prstGeom prst="rect">
            <a:avLst/>
          </a:prstGeom>
          <a:noFill/>
        </p:spPr>
        <p:txBody>
          <a:bodyPr wrap="square" lIns="0" rIns="0" tIns="0" bIns="0" anchor="t">
            <a:noAutofit/>
          </a:bodyPr>
          <a:lstStyle/>
          <a:p>
            <a:pPr algn="l">
              <a:lnSpc>
                <a:spcPct val="100000"/>
              </a:lnSpc>
              <a:spcAft>
                <a:spcPts val="0"/>
              </a:spcAft>
            </a:pPr>
            <a:r>
              <a:rPr sz="1300" b="0">
                <a:solidFill>
                  <a:srgbClr val="94FAD5"/>
                </a:solidFill>
                <a:latin typeface="Fira Code"/>
              </a:rPr>
              <a:t>FULL FINDINGS  ·  COMPREHENSIVE REFERENCE DECK</a:t>
            </a:r>
          </a:p>
        </p:txBody>
      </p:sp>
      <p:sp>
        <p:nvSpPr>
          <p:cNvPr id="3" name="TextBox 2"/>
          <p:cNvSpPr txBox="1"/>
          <p:nvPr/>
        </p:nvSpPr>
        <p:spPr>
          <a:xfrm>
            <a:off x="566928" y="1920240"/>
            <a:ext cx="10424160" cy="1737360"/>
          </a:xfrm>
          <a:prstGeom prst="rect">
            <a:avLst/>
          </a:prstGeom>
          <a:noFill/>
        </p:spPr>
        <p:txBody>
          <a:bodyPr wrap="square" lIns="0" rIns="0" tIns="0" bIns="0" anchor="t">
            <a:noAutofit/>
          </a:bodyPr>
          <a:lstStyle/>
          <a:p>
            <a:pPr algn="l">
              <a:lnSpc>
                <a:spcPct val="130000"/>
              </a:lnSpc>
              <a:spcAft>
                <a:spcPts val="0"/>
              </a:spcAft>
            </a:pPr>
            <a:r>
              <a:rPr sz="4000" b="1">
                <a:solidFill>
                  <a:srgbClr val="FFFFFF"/>
                </a:solidFill>
                <a:latin typeface="Space Grotesk"/>
              </a:rPr>
              <a:t>ArduPilot PNT (Positioning, Navigation, Timing) Reference Audit</a:t>
            </a:r>
          </a:p>
        </p:txBody>
      </p:sp>
      <p:sp>
        <p:nvSpPr>
          <p:cNvPr id="4" name="TextBox 3"/>
          <p:cNvSpPr txBox="1"/>
          <p:nvPr/>
        </p:nvSpPr>
        <p:spPr>
          <a:xfrm>
            <a:off x="566928" y="3675887"/>
            <a:ext cx="7863840" cy="731520"/>
          </a:xfrm>
          <a:prstGeom prst="rect">
            <a:avLst/>
          </a:prstGeom>
          <a:noFill/>
        </p:spPr>
        <p:txBody>
          <a:bodyPr wrap="square" lIns="0" rIns="0" tIns="0" bIns="0" anchor="t">
            <a:noAutofit/>
          </a:bodyPr>
          <a:lstStyle/>
          <a:p>
            <a:pPr algn="l">
              <a:lnSpc>
                <a:spcPct val="124000"/>
              </a:lnSpc>
              <a:spcAft>
                <a:spcPts val="0"/>
              </a:spcAft>
            </a:pPr>
            <a:r>
              <a:rPr sz="1800" b="0">
                <a:solidFill>
                  <a:srgbClr val="FFFFFF"/>
                </a:solidFill>
                <a:latin typeface="Inter"/>
              </a:rPr>
              <a:t>Read-only static-analysis audit — every snippet reproduced verbatim from the cited path:line range</a:t>
            </a:r>
          </a:p>
        </p:txBody>
      </p:sp>
      <p:sp>
        <p:nvSpPr>
          <p:cNvPr id="5" name="Rectangle 4"/>
          <p:cNvSpPr/>
          <p:nvPr/>
        </p:nvSpPr>
        <p:spPr>
          <a:xfrm>
            <a:off x="566928" y="4498848"/>
            <a:ext cx="4206240" cy="91440"/>
          </a:xfrm>
          <a:prstGeom prst="rect">
            <a:avLst/>
          </a:prstGeom>
          <a:gradFill rotWithShape="1">
            <a:gsLst>
              <a:gs pos="0">
                <a:srgbClr val="5B39F3"/>
              </a:gs>
              <a:gs pos="100000">
                <a:srgbClr val="94FAD5"/>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66928" y="4773168"/>
            <a:ext cx="11058144" cy="310896"/>
          </a:xfrm>
          <a:prstGeom prst="rect">
            <a:avLst/>
          </a:prstGeom>
          <a:noFill/>
        </p:spPr>
        <p:txBody>
          <a:bodyPr wrap="square" lIns="0" rIns="0" tIns="0" bIns="0" anchor="t">
            <a:noAutofit/>
          </a:bodyPr>
          <a:lstStyle/>
          <a:p>
            <a:pPr algn="l">
              <a:lnSpc>
                <a:spcPct val="100000"/>
              </a:lnSpc>
              <a:spcAft>
                <a:spcPts val="0"/>
              </a:spcAft>
            </a:pPr>
            <a:r>
              <a:rPr sz="1200" b="0">
                <a:solidFill>
                  <a:srgbClr val="94FAD5"/>
                </a:solidFill>
                <a:latin typeface="Fira Code"/>
              </a:rPr>
              <a:t>HEAD 5b67e27b0a  ·  43 pages  ·  Read-only static-analysis catalog</a:t>
            </a:r>
          </a:p>
        </p:txBody>
      </p:sp>
      <p:sp>
        <p:nvSpPr>
          <p:cNvPr id="7" name="TextBox 6"/>
          <p:cNvSpPr txBox="1"/>
          <p:nvPr/>
        </p:nvSpPr>
        <p:spPr>
          <a:xfrm>
            <a:off x="566928" y="5138928"/>
            <a:ext cx="10424160" cy="548640"/>
          </a:xfrm>
          <a:prstGeom prst="rect">
            <a:avLst/>
          </a:prstGeom>
          <a:noFill/>
        </p:spPr>
        <p:txBody>
          <a:bodyPr wrap="square" lIns="0" rIns="0" tIns="0" bIns="0" anchor="t">
            <a:noAutofit/>
          </a:bodyPr>
          <a:lstStyle/>
          <a:p>
            <a:pPr algn="l">
              <a:lnSpc>
                <a:spcPct val="120000"/>
              </a:lnSpc>
              <a:spcAft>
                <a:spcPts val="0"/>
              </a:spcAft>
            </a:pPr>
            <a:r>
              <a:rPr sz="1400" b="0">
                <a:solidFill>
                  <a:srgbClr val="FFFFFF"/>
                </a:solidFill>
                <a:latin typeface="Inter"/>
              </a:rPr>
              <a:t>Every catalogued finding, ordered by the audit’s own severity and category axes.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TWO AXES, BOTH THE AUDIT’S OWN</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How to read this deck</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582282"/>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This deck is a communication layer over a finished audit: it selects nothing, scores nothing and omits nothing.</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173338"/>
          <a:ext cx="11058144" cy="1609149"/>
        </p:xfrm>
        <a:graphic>
          <a:graphicData uri="http://schemas.openxmlformats.org/drawingml/2006/table">
            <a:tbl>
              <a:tblPr>
                <a:tableStyleId>{5C22544A-7EE6-4342-B048-85BDC9FD1C3A}</a:tableStyleId>
              </a:tblPr>
              <a:tblGrid>
                <a:gridCol w="1279454"/>
                <a:gridCol w="5940325"/>
                <a:gridCol w="3838365"/>
              </a:tblGrid>
              <a:tr h="240219">
                <a:tc>
                  <a:txBody>
                    <a:bodyPr wrap="square">
                      <a:noAutofit/>
                    </a:bodyPr>
                    <a:lstStyle/>
                    <a:p>
                      <a:pPr algn="l">
                        <a:lnSpc>
                          <a:spcPct val="106000"/>
                        </a:lnSpc>
                        <a:spcAft>
                          <a:spcPts val="0"/>
                        </a:spcAft>
                      </a:pPr>
                      <a:r>
                        <a:rPr sz="1100" b="1">
                          <a:solidFill>
                            <a:srgbClr val="333333"/>
                          </a:solidFill>
                          <a:latin typeface="Inter"/>
                        </a:rPr>
                        <a:t>Axis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What orders 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Where the axis comes from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l">
                        <a:lnSpc>
                          <a:spcPct val="106000"/>
                        </a:lnSpc>
                        <a:spcAft>
                          <a:spcPts val="0"/>
                        </a:spcAft>
                      </a:pPr>
                      <a:r>
                        <a:rPr sz="1100" b="1">
                          <a:solidFill>
                            <a:srgbClr val="333333"/>
                          </a:solidFill>
                          <a:latin typeface="Inter"/>
                        </a:rPr>
                        <a:t>Severity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The audit’s five Audit-Discipline Flags, presented with the audit’s own stated occurrence counts, followed by the two touch-points the audit itself singles out in superlative risk language.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Audit-Discipline Flags, transcribed with its own footnote.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l">
                        <a:lnSpc>
                          <a:spcPct val="106000"/>
                        </a:lnSpc>
                        <a:spcAft>
                          <a:spcPts val="0"/>
                        </a:spcAft>
                      </a:pPr>
                      <a:r>
                        <a:rPr sz="1100" b="1">
                          <a:solidFill>
                            <a:srgbClr val="333333"/>
                          </a:solidFill>
                          <a:latin typeface="Inter"/>
                        </a:rPr>
                        <a:t>Category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The catalog’s own structure: GROUP 1 core references and GROUP 2 indirect / relational references across Positioning, Navigation and Timing, each main table followed by its paired Layer 1 and Layer 2 dependency map, then the instance mapping and the coverage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The audit’s own table numbering, unchanged.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566928" y="4020231"/>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THE FIDELITY RULE THIS DECK FOLLOWS</a:t>
            </a:r>
          </a:p>
        </p:txBody>
      </p:sp>
      <p:sp>
        <p:nvSpPr>
          <p:cNvPr id="9" name="TextBox 8"/>
          <p:cNvSpPr txBox="1"/>
          <p:nvPr/>
        </p:nvSpPr>
        <p:spPr>
          <a:xfrm>
            <a:off x="566928" y="4245935"/>
            <a:ext cx="11003280" cy="1783549"/>
          </a:xfrm>
          <a:prstGeom prst="rect">
            <a:avLst/>
          </a:prstGeom>
          <a:noFill/>
        </p:spPr>
        <p:txBody>
          <a:bodyPr wrap="square" lIns="0" rIns="0" tIns="0" bIns="0" anchor="t">
            <a:noAutofit/>
          </a:bodyPr>
          <a:lstStyle/>
          <a:p>
            <a:pPr algn="l" marL="185737" indent="-185737">
              <a:lnSpc>
                <a:spcPct val="124000"/>
              </a:lnSpc>
              <a:spcAft>
                <a:spcPts val="700"/>
              </a:spcAft>
              <a:buClr>
                <a:srgbClr val="333333"/>
              </a:buClr>
              <a:buSzPct val="100000"/>
              <a:buFont typeface="Inter"/>
              <a:buChar char="•"/>
            </a:pPr>
            <a:r>
              <a:rPr sz="1300" b="0">
                <a:solidFill>
                  <a:srgbClr val="333333"/>
                </a:solidFill>
                <a:latin typeface="Inter"/>
              </a:rPr>
              <a:t>Every figure on every slide is a figure the audit itself states. Nothing is recomputed, re-scored or re-worded.</a:t>
            </a:r>
          </a:p>
          <a:p>
            <a:pPr algn="l" marL="185737" indent="-185737">
              <a:lnSpc>
                <a:spcPct val="124000"/>
              </a:lnSpc>
              <a:spcAft>
                <a:spcPts val="700"/>
              </a:spcAft>
              <a:buClr>
                <a:srgbClr val="333333"/>
              </a:buClr>
              <a:buSzPct val="100000"/>
              <a:buFont typeface="Inter"/>
              <a:buChar char="•"/>
            </a:pPr>
            <a:r>
              <a:rPr sz="1300" b="0">
                <a:solidFill>
                  <a:srgbClr val="333333"/>
                </a:solidFill>
                <a:latin typeface="Inter"/>
              </a:rPr>
              <a:t>Every row keeps its own number, file path, line range, classification and the audit’s own Notes text, including its flag tokens and its [FIX F*] and AAP cross-references, exactly as printed.</a:t>
            </a:r>
          </a:p>
          <a:p>
            <a:pPr algn="l" marL="185737" indent="-185737">
              <a:lnSpc>
                <a:spcPct val="124000"/>
              </a:lnSpc>
              <a:spcAft>
                <a:spcPts val="700"/>
              </a:spcAft>
              <a:buClr>
                <a:srgbClr val="333333"/>
              </a:buClr>
              <a:buSzPct val="100000"/>
              <a:buFont typeface="Inter"/>
              <a:buChar char="•"/>
            </a:pPr>
            <a:r>
              <a:rPr sz="1300" b="0">
                <a:solidFill>
                  <a:srgbClr val="333333"/>
                </a:solidFill>
                <a:latin typeface="Inter"/>
              </a:rPr>
              <a:t>Cited path:line ranges are transcribed, never re-derived: they are stated as of the audited HEAD 5b67e27b0a, the pre-refactor baseline.</a:t>
            </a:r>
          </a:p>
          <a:p>
            <a:pPr algn="l" marL="185737" indent="-185737">
              <a:lnSpc>
                <a:spcPct val="124000"/>
              </a:lnSpc>
              <a:spcAft>
                <a:spcPts val="700"/>
              </a:spcAft>
              <a:buClr>
                <a:srgbClr val="333333"/>
              </a:buClr>
              <a:buSzPct val="100000"/>
              <a:buFont typeface="Inter"/>
              <a:buChar char="•"/>
            </a:pPr>
            <a:r>
              <a:rPr sz="1300" b="0">
                <a:solidFill>
                  <a:srgbClr val="333333"/>
                </a:solidFill>
                <a:latin typeface="Inter"/>
              </a:rPr>
              <a:t>Every column of every source table is carried, Code Snippet (5-10 lines) included: each cell’s source lines are set one paragraph per line, in the audit’s own order, with their indentation and their blank lines intact.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EVERY FIGURE AS THE AUDIT STATES IT</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The audit at a glance</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The audit prints these totals on its own face; they reconcile against the rows that follow.</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7" name="TextBox 6"/>
          <p:cNvSpPr txBox="1"/>
          <p:nvPr/>
        </p:nvSpPr>
        <p:spPr>
          <a:xfrm>
            <a:off x="566928" y="1852079"/>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THE AUDIT’S OWN FRONT-MATTER LINE</a:t>
            </a:r>
          </a:p>
        </p:txBody>
      </p:sp>
      <p:sp>
        <p:nvSpPr>
          <p:cNvPr id="8" name="Rectangle 7"/>
          <p:cNvSpPr/>
          <p:nvPr/>
        </p:nvSpPr>
        <p:spPr>
          <a:xfrm>
            <a:off x="566928" y="2077783"/>
            <a:ext cx="32004" cy="470992"/>
          </a:xfrm>
          <a:prstGeom prst="rect">
            <a:avLst/>
          </a:prstGeom>
          <a:solidFill>
            <a:srgbClr val="5B39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13232" y="2077783"/>
            <a:ext cx="10856976" cy="470992"/>
          </a:xfrm>
          <a:prstGeom prst="rect">
            <a:avLst/>
          </a:prstGeom>
          <a:noFill/>
        </p:spPr>
        <p:txBody>
          <a:bodyPr wrap="square" lIns="0" rIns="0" tIns="0" bIns="0" anchor="t">
            <a:noAutofit/>
          </a:bodyPr>
          <a:lstStyle/>
          <a:p>
            <a:pPr algn="l">
              <a:lnSpc>
                <a:spcPct val="120000"/>
              </a:lnSpc>
              <a:spcAft>
                <a:spcPts val="0"/>
              </a:spcAft>
            </a:pPr>
            <a:r>
              <a:rPr sz="1400" b="0">
                <a:solidFill>
                  <a:srgbClr val="333333"/>
                </a:solidFill>
                <a:latin typeface="Inter"/>
              </a:rPr>
              <a:t>“Audited HEAD 5b67e27b0a · Core references: 63 · Indirect references: 31 · Total references: 94 · Evidence rows: 282 (main + Layer 1 + Layer 2)”</a:t>
            </a:r>
          </a:p>
        </p:txBody>
      </p:sp>
      <p:sp>
        <p:nvSpPr>
          <p:cNvPr id="10" name="Rounded Rectangle 9"/>
          <p:cNvSpPr/>
          <p:nvPr/>
        </p:nvSpPr>
        <p:spPr>
          <a:xfrm>
            <a:off x="566928" y="2749943"/>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63</a:t>
            </a:r>
          </a:p>
          <a:p>
            <a:pPr algn="ctr">
              <a:lnSpc>
                <a:spcPct val="124000"/>
              </a:lnSpc>
            </a:pPr>
            <a:r>
              <a:rPr sz="1200">
                <a:solidFill>
                  <a:srgbClr val="999999"/>
                </a:solidFill>
                <a:latin typeface="Inter"/>
              </a:rPr>
              <a:t>core references (Tables 1–3)</a:t>
            </a:r>
          </a:p>
        </p:txBody>
      </p:sp>
      <p:sp>
        <p:nvSpPr>
          <p:cNvPr id="11" name="Rounded Rectangle 10"/>
          <p:cNvSpPr/>
          <p:nvPr/>
        </p:nvSpPr>
        <p:spPr>
          <a:xfrm>
            <a:off x="3381756" y="2749943"/>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31</a:t>
            </a:r>
          </a:p>
          <a:p>
            <a:pPr algn="ctr">
              <a:lnSpc>
                <a:spcPct val="124000"/>
              </a:lnSpc>
            </a:pPr>
            <a:r>
              <a:rPr sz="1200">
                <a:solidFill>
                  <a:srgbClr val="999999"/>
                </a:solidFill>
                <a:latin typeface="Inter"/>
              </a:rPr>
              <a:t>indirect references (Tables 4–6)</a:t>
            </a:r>
          </a:p>
        </p:txBody>
      </p:sp>
      <p:sp>
        <p:nvSpPr>
          <p:cNvPr id="12" name="Rounded Rectangle 11"/>
          <p:cNvSpPr/>
          <p:nvPr/>
        </p:nvSpPr>
        <p:spPr>
          <a:xfrm>
            <a:off x="6196584" y="2749943"/>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94</a:t>
            </a:r>
          </a:p>
          <a:p>
            <a:pPr algn="ctr">
              <a:lnSpc>
                <a:spcPct val="124000"/>
              </a:lnSpc>
            </a:pPr>
            <a:r>
              <a:rPr sz="1200">
                <a:solidFill>
                  <a:srgbClr val="999999"/>
                </a:solidFill>
                <a:latin typeface="Inter"/>
              </a:rPr>
              <a:t>main rows catalogued</a:t>
            </a:r>
          </a:p>
        </p:txBody>
      </p:sp>
      <p:sp>
        <p:nvSpPr>
          <p:cNvPr id="13" name="Rounded Rectangle 12"/>
          <p:cNvSpPr/>
          <p:nvPr/>
        </p:nvSpPr>
        <p:spPr>
          <a:xfrm>
            <a:off x="9011412" y="2749943"/>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282</a:t>
            </a:r>
          </a:p>
          <a:p>
            <a:pPr algn="ctr">
              <a:lnSpc>
                <a:spcPct val="124000"/>
              </a:lnSpc>
            </a:pPr>
            <a:r>
              <a:rPr sz="1200">
                <a:solidFill>
                  <a:srgbClr val="999999"/>
                </a:solidFill>
                <a:latin typeface="Inter"/>
              </a:rPr>
              <a:t>evidence rows in total</a:t>
            </a:r>
          </a:p>
        </p:txBody>
      </p:sp>
      <p:sp>
        <p:nvSpPr>
          <p:cNvPr id="14" name="Rounded Rectangle 13"/>
          <p:cNvSpPr/>
          <p:nvPr/>
        </p:nvSpPr>
        <p:spPr>
          <a:xfrm>
            <a:off x="566928" y="3947807"/>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18</a:t>
            </a:r>
          </a:p>
          <a:p>
            <a:pPr algn="ctr">
              <a:lnSpc>
                <a:spcPct val="124000"/>
              </a:lnSpc>
            </a:pPr>
            <a:r>
              <a:rPr sz="1200">
                <a:solidFill>
                  <a:srgbClr val="999999"/>
                </a:solidFill>
                <a:latin typeface="Inter"/>
              </a:rPr>
              <a:t>data objects</a:t>
            </a:r>
          </a:p>
        </p:txBody>
      </p:sp>
      <p:sp>
        <p:nvSpPr>
          <p:cNvPr id="15" name="Rounded Rectangle 14"/>
          <p:cNvSpPr/>
          <p:nvPr/>
        </p:nvSpPr>
        <p:spPr>
          <a:xfrm>
            <a:off x="3381756" y="3947807"/>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12</a:t>
            </a:r>
          </a:p>
          <a:p>
            <a:pPr algn="ctr">
              <a:lnSpc>
                <a:spcPct val="124000"/>
              </a:lnSpc>
            </a:pPr>
            <a:r>
              <a:rPr sz="1200">
                <a:solidFill>
                  <a:srgbClr val="999999"/>
                </a:solidFill>
                <a:latin typeface="Inter"/>
              </a:rPr>
              <a:t>catalog tables in 6 groups</a:t>
            </a:r>
          </a:p>
        </p:txBody>
      </p:sp>
      <p:sp>
        <p:nvSpPr>
          <p:cNvPr id="16" name="Rounded Rectangle 15"/>
          <p:cNvSpPr/>
          <p:nvPr/>
        </p:nvSpPr>
        <p:spPr>
          <a:xfrm>
            <a:off x="6196584" y="3947807"/>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12</a:t>
            </a:r>
          </a:p>
          <a:p>
            <a:pPr algn="ctr">
              <a:lnSpc>
                <a:spcPct val="124000"/>
              </a:lnSpc>
            </a:pPr>
            <a:r>
              <a:rPr sz="1200">
                <a:solidFill>
                  <a:srgbClr val="999999"/>
                </a:solidFill>
                <a:latin typeface="Inter"/>
              </a:rPr>
              <a:t>current → new mapping rows</a:t>
            </a:r>
          </a:p>
        </p:txBody>
      </p:sp>
      <p:sp>
        <p:nvSpPr>
          <p:cNvPr id="17" name="Rounded Rectangle 16"/>
          <p:cNvSpPr/>
          <p:nvPr/>
        </p:nvSpPr>
        <p:spPr>
          <a:xfrm>
            <a:off x="9011412" y="3947807"/>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109</a:t>
            </a:r>
          </a:p>
          <a:p>
            <a:pPr algn="ctr">
              <a:lnSpc>
                <a:spcPct val="124000"/>
              </a:lnSpc>
            </a:pPr>
            <a:r>
              <a:rPr sz="1200">
                <a:solidFill>
                  <a:srgbClr val="999999"/>
                </a:solidFill>
                <a:latin typeface="Inter"/>
              </a:rPr>
              <a:t>coverage register entries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LEGEND  ·  THE AUDIT’S OWN CLASSIFICATION VOCABULARY</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Legend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685202"/>
        </p:xfrm>
        <a:graphic>
          <a:graphicData uri="http://schemas.openxmlformats.org/drawingml/2006/table">
            <a:tbl>
              <a:tblPr>
                <a:tableStyleId>{5C22544A-7EE6-4342-B048-85BDC9FD1C3A}</a:tableStyleId>
              </a:tblPr>
              <a:tblGrid>
                <a:gridCol w="2010571"/>
                <a:gridCol w="9047573"/>
              </a:tblGrid>
              <a:tr h="240219">
                <a:tc>
                  <a:txBody>
                    <a:bodyPr wrap="square">
                      <a:noAutofit/>
                    </a:bodyPr>
                    <a:lstStyle/>
                    <a:p>
                      <a:pPr algn="l">
                        <a:lnSpc>
                          <a:spcPct val="106000"/>
                        </a:lnSpc>
                        <a:spcAft>
                          <a:spcPts val="0"/>
                        </a:spcAft>
                      </a:pPr>
                      <a:r>
                        <a:rPr sz="1100" b="1">
                          <a:solidFill>
                            <a:srgbClr val="333333"/>
                          </a:solidFill>
                          <a:latin typeface="Inter"/>
                        </a:rPr>
                        <a:t>Term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Meaning, as the audit defines 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l">
                        <a:lnSpc>
                          <a:spcPct val="106000"/>
                        </a:lnSpc>
                        <a:spcAft>
                          <a:spcPts val="0"/>
                        </a:spcAft>
                      </a:pPr>
                      <a:r>
                        <a:rPr sz="1100" b="1">
                          <a:solidFill>
                            <a:srgbClr val="333333"/>
                          </a:solidFill>
                          <a:latin typeface="Inter"/>
                        </a:rPr>
                        <a:t>Role (Group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 = produces/writes PNT state from a measurement | Transform = fuses/derives/converts PNT state (EKF fusion, GPS blending, geodetic↔NED) | Sink = only reads PNT state to drive control/behavior.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Inter"/>
                        </a:rPr>
                        <a:t>Group 2 columns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Trigger Condition (what invokes the code) | PNT State Observed (the exact accessor/value read, e.g. gps.status(), ahrs.have_inertial_nav(), EKF variance) — the discriminator from Group 1 | Behavior Change Description (how behavior changes).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Inter"/>
                        </a:rPr>
                        <a:t>Dependency Type (Layer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Data dependency (shared data value/struct field) | Function call (direct call) | Inheritance / Interface (backend overrides a virtual frontend interface) | Shared global / singleton (access via an AP:: accessor — AP::gps(), AP::ahrs(), AP::scheduler(), AP::rtc()).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1">
                          <a:solidFill>
                            <a:srgbClr val="333333"/>
                          </a:solidFill>
                          <a:latin typeface="Inter"/>
                        </a:rPr>
                        <a:t>Notes flags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[CIRCULAR] circular dependency (e.g. AHRS↔EKF) | [SHARED-STRUCT] PNT fields packed with non-PNT fields (extraction risk) | [DUPLICATED] copy-pasted PNT logic across locations | [MULTI-CATEGORY] spans &gt;1 PNT category (emitted once per table) | [ABSENT] expected PNT element not found where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1">
                          <a:solidFill>
                            <a:srgbClr val="333333"/>
                          </a:solidFill>
                          <a:latin typeface="Inter"/>
                        </a:rPr>
                        <a:t>Cross-reference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Each main table owns a monotonic, per-table # space (1,2,3…). Its dependency sub-table (the matching Xa table) reuses those exact numbers as Ref #. Each Xa table contains a Layer 1 block (direct edges) followed by a Layer 2 block (full transitive chain + final consumer + Chain Depth = the number of → hops explicitly listed in that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566928" y="4404274"/>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follows the same convention throughout: the number of → hops explicitly listed in that chain.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SCOPE AND LINE-NUMBER BASIS, VERBATIM</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Scope of the catalog</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36192"/>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SCOPE</a:t>
            </a:r>
          </a:p>
        </p:txBody>
      </p:sp>
      <p:sp>
        <p:nvSpPr>
          <p:cNvPr id="7" name="TextBox 6"/>
          <p:cNvSpPr txBox="1"/>
          <p:nvPr/>
        </p:nvSpPr>
        <p:spPr>
          <a:xfrm>
            <a:off x="566928" y="1761896"/>
            <a:ext cx="11003280" cy="1802358"/>
          </a:xfrm>
          <a:prstGeom prst="rect">
            <a:avLst/>
          </a:prstGeom>
          <a:noFill/>
        </p:spPr>
        <p:txBody>
          <a:bodyPr wrap="square" lIns="0" rIns="0" tIns="0" bIns="0" anchor="t">
            <a:noAutofit/>
          </a:bodyPr>
          <a:lstStyle/>
          <a:p>
            <a:pPr algn="l">
              <a:lnSpc>
                <a:spcPct val="124000"/>
              </a:lnSpc>
              <a:spcAft>
                <a:spcPts val="0"/>
              </a:spcAft>
            </a:pPr>
            <a:r>
              <a:rPr sz="1400" b="0">
                <a:solidFill>
                  <a:srgbClr val="333333"/>
                </a:solidFill>
                <a:latin typeface="Inter"/>
              </a:rPr>
              <a:t>Scope. This document is an audit-grade, read-only static-analysis catalog of every location in the ArduPilot firmware codebase (repository root containing ArduCopter/, ArduPlane/, Rover/, ArduSub/, AntennaTracker/, Blimp/, libraries/, modules/) where Positioning, Navigation, and Timing (PNT) data is handled, together with a two-layer dependency map for every catalogued reference. GROUP 1 catalogs core references — code that directly implements, reads, writes, or processes PNT data. GROUP 2 catalogs indirect / relational references — code that does not directly read or write PNT data but whose behavior changes as a result of PNT state. All file paths are repository-root-relative; every code snippet is reproduced VERBATIM from the cited path and line range so each row is independently verifiable. No source file is modified by this audit.</a:t>
            </a:r>
          </a:p>
        </p:txBody>
      </p:sp>
      <p:sp>
        <p:nvSpPr>
          <p:cNvPr id="8" name="TextBox 7"/>
          <p:cNvSpPr txBox="1"/>
          <p:nvPr/>
        </p:nvSpPr>
        <p:spPr>
          <a:xfrm>
            <a:off x="566928" y="3765422"/>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LINE-NUMBER BASIS, AS PRINTED ON THE AUDIT’S FIRST PAGE</a:t>
            </a:r>
          </a:p>
        </p:txBody>
      </p:sp>
      <p:sp>
        <p:nvSpPr>
          <p:cNvPr id="9" name="Rectangle 8"/>
          <p:cNvSpPr/>
          <p:nvPr/>
        </p:nvSpPr>
        <p:spPr>
          <a:xfrm>
            <a:off x="566928" y="3991126"/>
            <a:ext cx="32004" cy="983056"/>
          </a:xfrm>
          <a:prstGeom prst="rect">
            <a:avLst/>
          </a:prstGeom>
          <a:solidFill>
            <a:srgbClr val="5B39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13232" y="3991126"/>
            <a:ext cx="10856976" cy="983056"/>
          </a:xfrm>
          <a:prstGeom prst="rect">
            <a:avLst/>
          </a:prstGeom>
          <a:noFill/>
        </p:spPr>
        <p:txBody>
          <a:bodyPr wrap="square" lIns="0" rIns="0" tIns="0" bIns="0" anchor="t">
            <a:noAutofit/>
          </a:bodyPr>
          <a:lstStyle/>
          <a:p>
            <a:pPr algn="l">
              <a:lnSpc>
                <a:spcPct val="120000"/>
              </a:lnSpc>
              <a:spcAft>
                <a:spcPts val="0"/>
              </a:spcAft>
            </a:pPr>
            <a:r>
              <a:rPr sz="1400" b="0">
                <a:solidFill>
                  <a:srgbClr val="333333"/>
                </a:solidFill>
                <a:latin typeface="Inter"/>
              </a:rPr>
              <a:t>“Line-number basis: every cited path:line range in this document is stated as of the audited HEAD 5b67e27b0a (the pre-refactor baseline). The reusable-service extraction adds one additive, default-off set_update_dt timing seam to AP_L1_Control.cpp / .h after that commit; that seam relocates no behavior and only shifts those two files' line numbers, so the numbers here are intentionally not post-seam current-source 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THE SURVEYED SURFACE</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Footprint Summary</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The surface swept to make the catalog exhaustive, in the audit’s own words and figures.</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7" name="TextBox 6"/>
          <p:cNvSpPr txBox="1"/>
          <p:nvPr/>
        </p:nvSpPr>
        <p:spPr>
          <a:xfrm>
            <a:off x="566928" y="1852079"/>
            <a:ext cx="11003280" cy="1273225"/>
          </a:xfrm>
          <a:prstGeom prst="rect">
            <a:avLst/>
          </a:prstGeom>
          <a:noFill/>
        </p:spPr>
        <p:txBody>
          <a:bodyPr wrap="square" lIns="0" rIns="0" tIns="0" bIns="0" anchor="t">
            <a:noAutofit/>
          </a:bodyPr>
          <a:lstStyle/>
          <a:p>
            <a:pPr algn="l">
              <a:lnSpc>
                <a:spcPct val="124000"/>
              </a:lnSpc>
              <a:spcAft>
                <a:spcPts val="0"/>
              </a:spcAft>
            </a:pPr>
            <a:r>
              <a:rPr sz="1400" b="0">
                <a:solidFill>
                  <a:srgbClr val="333333"/>
                </a:solidFill>
                <a:latin typeface="Inter"/>
              </a:rPr>
              <a:t>Footprint surveyed: libraries/ = 151 subsystems; libraries/AP_GPS/*.{cpp,h} = 44 files (14 receiver backends each catalogued individually + AP_GPS_Blended + GPS_Backend base); EKF families AP_NavEKF/AP_NavEKF2/AP_NavEKF3 with AP_NavEKF3 split across 13 fusion modules (all catalogued); flight/drive-mode files = 81 (ArduCopter 29 + ArduPlane 26 + Rover 14 + ArduSub 12), enumerated in the Coverage &amp; Explicit-Absence Register. PNT state is produced under libraries/ and consumed/acted-upon in vehicle glue code (failsafe, ekf_check, fence, flight-mode gating).</a:t>
            </a:r>
          </a:p>
        </p:txBody>
      </p:sp>
      <p:sp>
        <p:nvSpPr>
          <p:cNvPr id="8" name="Rounded Rectangle 7"/>
          <p:cNvSpPr/>
          <p:nvPr/>
        </p:nvSpPr>
        <p:spPr>
          <a:xfrm>
            <a:off x="566928" y="3363048"/>
            <a:ext cx="2050694"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151</a:t>
            </a:r>
          </a:p>
          <a:p>
            <a:pPr algn="ctr">
              <a:lnSpc>
                <a:spcPct val="124000"/>
              </a:lnSpc>
            </a:pPr>
            <a:r>
              <a:rPr sz="1200">
                <a:solidFill>
                  <a:srgbClr val="999999"/>
                </a:solidFill>
                <a:latin typeface="Inter"/>
              </a:rPr>
              <a:t>subsystems in libraries/</a:t>
            </a:r>
          </a:p>
        </p:txBody>
      </p:sp>
      <p:sp>
        <p:nvSpPr>
          <p:cNvPr id="9" name="Rounded Rectangle 8"/>
          <p:cNvSpPr/>
          <p:nvPr/>
        </p:nvSpPr>
        <p:spPr>
          <a:xfrm>
            <a:off x="2818790" y="3363048"/>
            <a:ext cx="2050694"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44</a:t>
            </a:r>
          </a:p>
          <a:p>
            <a:pPr algn="ctr">
              <a:lnSpc>
                <a:spcPct val="124000"/>
              </a:lnSpc>
            </a:pPr>
            <a:r>
              <a:rPr sz="1200">
                <a:solidFill>
                  <a:srgbClr val="999999"/>
                </a:solidFill>
                <a:latin typeface="Inter"/>
              </a:rPr>
              <a:t>AP_GPS files</a:t>
            </a:r>
          </a:p>
        </p:txBody>
      </p:sp>
      <p:sp>
        <p:nvSpPr>
          <p:cNvPr id="10" name="Rounded Rectangle 9"/>
          <p:cNvSpPr/>
          <p:nvPr/>
        </p:nvSpPr>
        <p:spPr>
          <a:xfrm>
            <a:off x="5070652" y="3363048"/>
            <a:ext cx="2050694"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14</a:t>
            </a:r>
          </a:p>
          <a:p>
            <a:pPr algn="ctr">
              <a:lnSpc>
                <a:spcPct val="124000"/>
              </a:lnSpc>
            </a:pPr>
            <a:r>
              <a:rPr sz="1200">
                <a:solidFill>
                  <a:srgbClr val="999999"/>
                </a:solidFill>
                <a:latin typeface="Inter"/>
              </a:rPr>
              <a:t>receiver backends</a:t>
            </a:r>
          </a:p>
        </p:txBody>
      </p:sp>
      <p:sp>
        <p:nvSpPr>
          <p:cNvPr id="11" name="Rounded Rectangle 10"/>
          <p:cNvSpPr/>
          <p:nvPr/>
        </p:nvSpPr>
        <p:spPr>
          <a:xfrm>
            <a:off x="7322514" y="3363048"/>
            <a:ext cx="2050694"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13</a:t>
            </a:r>
          </a:p>
          <a:p>
            <a:pPr algn="ctr">
              <a:lnSpc>
                <a:spcPct val="124000"/>
              </a:lnSpc>
            </a:pPr>
            <a:r>
              <a:rPr sz="1200">
                <a:solidFill>
                  <a:srgbClr val="999999"/>
                </a:solidFill>
                <a:latin typeface="Inter"/>
              </a:rPr>
              <a:t>EKF3 fusion modules</a:t>
            </a:r>
          </a:p>
        </p:txBody>
      </p:sp>
      <p:sp>
        <p:nvSpPr>
          <p:cNvPr id="12" name="Rounded Rectangle 11"/>
          <p:cNvSpPr/>
          <p:nvPr/>
        </p:nvSpPr>
        <p:spPr>
          <a:xfrm>
            <a:off x="9574376" y="3363048"/>
            <a:ext cx="2050694"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81</a:t>
            </a:r>
          </a:p>
          <a:p>
            <a:pPr algn="ctr">
              <a:lnSpc>
                <a:spcPct val="124000"/>
              </a:lnSpc>
            </a:pPr>
            <a:r>
              <a:rPr sz="1200">
                <a:solidFill>
                  <a:srgbClr val="999999"/>
                </a:solidFill>
                <a:latin typeface="Inter"/>
              </a:rPr>
              <a:t>flight / drive-mode files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EXECUTIVE SUMMARY  ·  AS THE AUDIT OPENS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Project overview and the core problem addressed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Rectangle 5"/>
          <p:cNvSpPr/>
          <p:nvPr/>
        </p:nvSpPr>
        <p:spPr>
          <a:xfrm>
            <a:off x="566928" y="1536192"/>
            <a:ext cx="32004" cy="983056"/>
          </a:xfrm>
          <a:prstGeom prst="rect">
            <a:avLst/>
          </a:prstGeom>
          <a:solidFill>
            <a:srgbClr val="5B39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13232" y="1536192"/>
            <a:ext cx="10856976" cy="983056"/>
          </a:xfrm>
          <a:prstGeom prst="rect">
            <a:avLst/>
          </a:prstGeom>
          <a:noFill/>
        </p:spPr>
        <p:txBody>
          <a:bodyPr wrap="square" lIns="0" rIns="0" tIns="0" bIns="0" anchor="t">
            <a:noAutofit/>
          </a:bodyPr>
          <a:lstStyle/>
          <a:p>
            <a:pPr algn="l">
              <a:lnSpc>
                <a:spcPct val="120000"/>
              </a:lnSpc>
              <a:spcAft>
                <a:spcPts val="0"/>
              </a:spcAft>
            </a:pPr>
            <a:r>
              <a:rPr sz="1400" b="0">
                <a:solidFill>
                  <a:srgbClr val="333333"/>
                </a:solidFill>
                <a:latin typeface="Inter"/>
              </a:rPr>
              <a:t>“This Executive Summary opens the audit and states up front what the catalog behind it establishes: where every Positioning, Navigation and Timing behavior in the ArduPilot firmware lives today, what depends on it, and — for the L1 lateral-navigation slice — which member of the reusable AfsimL1Behavior service each behavior is refactored into. It is a reading aid: the numbered tables, the instance mapping and the registers that follow remain the authoritative record.”</a:t>
            </a:r>
          </a:p>
        </p:txBody>
      </p:sp>
      <p:sp>
        <p:nvSpPr>
          <p:cNvPr id="8" name="TextBox 7"/>
          <p:cNvSpPr txBox="1"/>
          <p:nvPr/>
        </p:nvSpPr>
        <p:spPr>
          <a:xfrm>
            <a:off x="566928" y="2720416"/>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PROJECT OVERVIEW</a:t>
            </a:r>
          </a:p>
        </p:txBody>
      </p:sp>
      <p:sp>
        <p:nvSpPr>
          <p:cNvPr id="9" name="TextBox 8"/>
          <p:cNvSpPr txBox="1"/>
          <p:nvPr/>
        </p:nvSpPr>
        <p:spPr>
          <a:xfrm>
            <a:off x="566928" y="2946120"/>
            <a:ext cx="11003280" cy="1273225"/>
          </a:xfrm>
          <a:prstGeom prst="rect">
            <a:avLst/>
          </a:prstGeom>
          <a:noFill/>
        </p:spPr>
        <p:txBody>
          <a:bodyPr wrap="square" lIns="0" rIns="0" tIns="0" bIns="0" anchor="t">
            <a:noAutofit/>
          </a:bodyPr>
          <a:lstStyle/>
          <a:p>
            <a:pPr algn="l">
              <a:lnSpc>
                <a:spcPct val="124000"/>
              </a:lnSpc>
              <a:spcAft>
                <a:spcPts val="0"/>
              </a:spcAft>
            </a:pPr>
            <a:r>
              <a:rPr sz="1400" b="0">
                <a:solidFill>
                  <a:srgbClr val="333333"/>
                </a:solidFill>
                <a:latin typeface="Inter"/>
              </a:rPr>
              <a:t>This deliverable is an audit-grade, read-only static-analysis catalog of every location in the ArduPilot firmware codebase where Positioning, Navigation and Timing (PNT) data is handled, taken at audited HEAD 5b67e27b0a. Every catalogued reference reproduces the code at its cited path:line range verbatim and carries a two-layer dependency map: Layer 1 records the direct callers, callees and typed data edges around the reference, and Layer 2 records the full transitive chain through to the final consumer that acts on the value.</a:t>
            </a:r>
          </a:p>
        </p:txBody>
      </p:sp>
      <p:sp>
        <p:nvSpPr>
          <p:cNvPr id="10" name="TextBox 9"/>
          <p:cNvSpPr txBox="1"/>
          <p:nvPr/>
        </p:nvSpPr>
        <p:spPr>
          <a:xfrm>
            <a:off x="566928" y="4420513"/>
            <a:ext cx="11003280" cy="1273225"/>
          </a:xfrm>
          <a:prstGeom prst="rect">
            <a:avLst/>
          </a:prstGeom>
          <a:noFill/>
        </p:spPr>
        <p:txBody>
          <a:bodyPr wrap="square" lIns="0" rIns="0" tIns="0" bIns="0" anchor="t">
            <a:noAutofit/>
          </a:bodyPr>
          <a:lstStyle/>
          <a:p>
            <a:pPr algn="l">
              <a:lnSpc>
                <a:spcPct val="124000"/>
              </a:lnSpc>
              <a:spcAft>
                <a:spcPts val="0"/>
              </a:spcAft>
            </a:pPr>
            <a:r>
              <a:rPr sz="1400" b="0">
                <a:solidFill>
                  <a:srgbClr val="333333"/>
                </a:solidFill>
                <a:latin typeface="Inter"/>
              </a:rPr>
              <a:t>The catalog is extended with a current-location → new-service-location mapping. For every PNT touch-point inside the wrapped L1 guidance controller it names the member of the reusable AfsimL1Behavior service that the behavior is refactored into: the AHRS state shim that supplies injected position, velocity and attitude, the injected-dt timing seam that replaces the internal hardware clock, and the extern "C" command surface that returns the roll and lateral-acceleration commands. No source file is modified by this audit.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EXECUTIVE SUMMARY  ·  AS THE AUDIT OPENS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Project overview and the core problem addressed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36192"/>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CORE PROBLEM ADDRESSED</a:t>
            </a:r>
          </a:p>
        </p:txBody>
      </p:sp>
      <p:sp>
        <p:nvSpPr>
          <p:cNvPr id="7" name="TextBox 6"/>
          <p:cNvSpPr txBox="1"/>
          <p:nvPr/>
        </p:nvSpPr>
        <p:spPr>
          <a:xfrm>
            <a:off x="566928" y="1761896"/>
            <a:ext cx="11003280" cy="1273225"/>
          </a:xfrm>
          <a:prstGeom prst="rect">
            <a:avLst/>
          </a:prstGeom>
          <a:noFill/>
        </p:spPr>
        <p:txBody>
          <a:bodyPr wrap="square" lIns="0" rIns="0" tIns="0" bIns="0" anchor="t">
            <a:noAutofit/>
          </a:bodyPr>
          <a:lstStyle/>
          <a:p>
            <a:pPr algn="l">
              <a:lnSpc>
                <a:spcPct val="124000"/>
              </a:lnSpc>
              <a:spcAft>
                <a:spcPts val="0"/>
              </a:spcAft>
            </a:pPr>
            <a:r>
              <a:rPr sz="1400" b="0">
                <a:solidFill>
                  <a:srgbClr val="333333"/>
                </a:solidFill>
                <a:latin typeface="Inter"/>
              </a:rPr>
              <a:t>PNT behavior in ArduPilot is not a library that a host can call — it is embedded in the vehicle flight loop and duplicated across vehicles. Position, velocity, attitude and the control-step timebase are pulled implicitly from shared AHRS/EKF state and the hardware clock; PNT values arrive packed into structures alongside non-PNT fields; and the same derivation is repeated across the vehicle glue code. The catalog records that coupling directly: [SHARED-STRUCT] marks the packed structures, [DUPLICATED] marks the repeated derivations, and [CIRCULAR] marks the state that depends on itself.</a:t>
            </a:r>
          </a:p>
        </p:txBody>
      </p:sp>
      <p:sp>
        <p:nvSpPr>
          <p:cNvPr id="8" name="TextBox 7"/>
          <p:cNvSpPr txBox="1"/>
          <p:nvPr/>
        </p:nvSpPr>
        <p:spPr>
          <a:xfrm>
            <a:off x="566928" y="3236289"/>
            <a:ext cx="11003280" cy="1273225"/>
          </a:xfrm>
          <a:prstGeom prst="rect">
            <a:avLst/>
          </a:prstGeom>
          <a:noFill/>
        </p:spPr>
        <p:txBody>
          <a:bodyPr wrap="square" lIns="0" rIns="0" tIns="0" bIns="0" anchor="t">
            <a:noAutofit/>
          </a:bodyPr>
          <a:lstStyle/>
          <a:p>
            <a:pPr algn="l">
              <a:lnSpc>
                <a:spcPct val="124000"/>
              </a:lnSpc>
              <a:spcAft>
                <a:spcPts val="0"/>
              </a:spcAft>
            </a:pPr>
            <a:r>
              <a:rPr sz="1400" b="0">
                <a:solidFill>
                  <a:srgbClr val="333333"/>
                </a:solidFill>
                <a:latin typeface="Inter"/>
              </a:rPr>
              <a:t>The consequence is that an external host cannot reuse a PNT behavior without first knowing every place that behavior lives, what it reads, and what breaks if it moves. This audit establishes exactly that ground truth — an enumerated, independently verifiable inventory of every PNT touch-point together with its dependency neighbourhood — and, for the L1-navigation slice, names the service member each behavior moves to, so the extraction can be reviewed as a mapping between named locations rather than as a rewrite.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STAKEHOLDER ROUTING  ·  THE AUDIT’S OWN AUDIENCES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Key Stakeholders and Users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36192"/>
            <a:ext cx="11003280" cy="1008659"/>
          </a:xfrm>
          <a:prstGeom prst="rect">
            <a:avLst/>
          </a:prstGeom>
          <a:noFill/>
        </p:spPr>
        <p:txBody>
          <a:bodyPr wrap="square" lIns="0" rIns="0" tIns="0" bIns="0" anchor="t">
            <a:noAutofit/>
          </a:bodyPr>
          <a:lstStyle/>
          <a:p>
            <a:pPr algn="l">
              <a:lnSpc>
                <a:spcPct val="124000"/>
              </a:lnSpc>
              <a:spcAft>
                <a:spcPts val="0"/>
              </a:spcAft>
            </a:pPr>
            <a:r>
              <a:rPr sz="1400" b="0">
                <a:solidFill>
                  <a:srgbClr val="333333"/>
                </a:solidFill>
                <a:latin typeface="Inter"/>
              </a:rPr>
              <a:t>Integration and host engineers embedding the extracted guidance service use the current → new service location mapping as the wiring contract: it names, accessor by accessor, the value the host must inject and the service member that now supplies it. Flight-controls reviewers signing off the guidance seam use the Core Navigation and Core Timing tables, with their paired dependency sub-tables, to confirm that nothing outside the audited seam observes the values being injected.</a:t>
            </a:r>
          </a:p>
        </p:txBody>
      </p:sp>
      <p:sp>
        <p:nvSpPr>
          <p:cNvPr id="7" name="TextBox 6"/>
          <p:cNvSpPr txBox="1"/>
          <p:nvPr/>
        </p:nvSpPr>
        <p:spPr>
          <a:xfrm>
            <a:off x="566928" y="2746019"/>
            <a:ext cx="11003280" cy="1008659"/>
          </a:xfrm>
          <a:prstGeom prst="rect">
            <a:avLst/>
          </a:prstGeom>
          <a:noFill/>
        </p:spPr>
        <p:txBody>
          <a:bodyPr wrap="square" lIns="0" rIns="0" tIns="0" bIns="0" anchor="t">
            <a:noAutofit/>
          </a:bodyPr>
          <a:lstStyle/>
          <a:p>
            <a:pPr algn="l">
              <a:lnSpc>
                <a:spcPct val="124000"/>
              </a:lnSpc>
              <a:spcAft>
                <a:spcPts val="0"/>
              </a:spcAft>
            </a:pPr>
            <a:r>
              <a:rPr sz="1400" b="0">
                <a:solidFill>
                  <a:srgbClr val="333333"/>
                </a:solidFill>
                <a:latin typeface="Inter"/>
              </a:rPr>
              <a:t>Firmware maintainers auditing PNT coupling use the audit-discipline flags to locate circular state, shared structures and duplicated derivations before touching shared state, and the Coverage &amp; Explicit-Absence Register to see which surfaces were swept and found clear. Reviewers and auditors rely on the read-only guarantee and on the verbatim path:line citations, which make every row independently checkable against the tree at the audited HEAD rather than something that has to be taken on trust.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STAKEHOLDER ROUTING  ·  WHICH PART CARRIES WHAT</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Which part of this deck each audience needs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267285"/>
        </p:xfrm>
        <a:graphic>
          <a:graphicData uri="http://schemas.openxmlformats.org/drawingml/2006/table">
            <a:tbl>
              <a:tblPr>
                <a:tableStyleId>{5C22544A-7EE6-4342-B048-85BDC9FD1C3A}</a:tableStyleId>
              </a:tblPr>
              <a:tblGrid>
                <a:gridCol w="2193350"/>
                <a:gridCol w="5940325"/>
                <a:gridCol w="2924469"/>
              </a:tblGrid>
              <a:tr h="240219">
                <a:tc>
                  <a:txBody>
                    <a:bodyPr wrap="square">
                      <a:noAutofit/>
                    </a:bodyPr>
                    <a:lstStyle/>
                    <a:p>
                      <a:pPr algn="l">
                        <a:lnSpc>
                          <a:spcPct val="106000"/>
                        </a:lnSpc>
                        <a:spcAft>
                          <a:spcPts val="0"/>
                        </a:spcAft>
                      </a:pPr>
                      <a:r>
                        <a:rPr sz="1100" b="1">
                          <a:solidFill>
                            <a:srgbClr val="333333"/>
                          </a:solidFill>
                          <a:latin typeface="Inter"/>
                        </a:rPr>
                        <a:t>Audience the audit names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What they use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Where it is in this deck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l">
                        <a:lnSpc>
                          <a:spcPct val="106000"/>
                        </a:lnSpc>
                        <a:spcAft>
                          <a:spcPts val="0"/>
                        </a:spcAft>
                      </a:pPr>
                      <a:r>
                        <a:rPr sz="1100" b="1">
                          <a:solidFill>
                            <a:srgbClr val="333333"/>
                          </a:solidFill>
                          <a:latin typeface="Inter"/>
                        </a:rPr>
                        <a:t>Integration and host engineers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The current → new service location mapping, as the wiring contract: accessor by accessor, the value the host must inject and the service member that now supplies 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Part 11 · PNT Instance Audit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Inter"/>
                        </a:rPr>
                        <a:t>Flight-controls reviewers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Core Navigation and Core Timing with their paired dependency sub-tables, to confirm that nothing outside the audited seam observes the values being injected.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Parts 5 and 6 · Core Navigation, Core Timing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1">
                          <a:solidFill>
                            <a:srgbClr val="333333"/>
                          </a:solidFill>
                          <a:latin typeface="Inter"/>
                        </a:rPr>
                        <a:t>Firmware maintainers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The audit-discipline flags, to locate circular state, shared structures and duplicated derivations before touching shared state, and the Coverage &amp; Explicit-Absence Register to see which surfaces were swept and found clear.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Part 3 · severity axis; Part 12 · coverage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1">
                          <a:solidFill>
                            <a:srgbClr val="333333"/>
                          </a:solidFill>
                          <a:latin typeface="Inter"/>
                        </a:rPr>
                        <a:t>Reviewers and auditors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The read-only guarantee and the verbatim path:line citations, which make every row independently checkable against the tree at the audited HEAD rather than something that has to be taken on trust.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Part 13 · provenance and reconciliation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KEY FINDINGS AT A GLANCE  ·  EVERY FIGURE AS STATED</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Key Findings at a Glance</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91056"/>
            <a:ext cx="11003280" cy="381457"/>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Every figure below is a reconciled total of the catalog itself, carried forward unchanged from the tables, the instance mapping and the registers that follow.</a:t>
            </a:r>
          </a:p>
        </p:txBody>
      </p:sp>
      <p:graphicFrame>
        <p:nvGraphicFramePr>
          <p:cNvPr id="7" name="Table 6"/>
          <p:cNvGraphicFramePr>
            <a:graphicFrameLocks noGrp="1"/>
          </p:cNvGraphicFramePr>
          <p:nvPr/>
        </p:nvGraphicFramePr>
        <p:xfrm>
          <a:off x="566928" y="2063953"/>
          <a:ext cx="11058144" cy="3280817"/>
        </p:xfrm>
        <a:graphic>
          <a:graphicData uri="http://schemas.openxmlformats.org/drawingml/2006/table">
            <a:tbl>
              <a:tblPr>
                <a:tableStyleId>{5C22544A-7EE6-4342-B048-85BDC9FD1C3A}</a:tableStyleId>
              </a:tblPr>
              <a:tblGrid>
                <a:gridCol w="2101961"/>
                <a:gridCol w="822506"/>
                <a:gridCol w="4203922"/>
                <a:gridCol w="3929755"/>
              </a:tblGrid>
              <a:tr h="240219">
                <a:tc>
                  <a:txBody>
                    <a:bodyPr wrap="square">
                      <a:noAutofit/>
                    </a:bodyPr>
                    <a:lstStyle/>
                    <a:p>
                      <a:pPr algn="l">
                        <a:lnSpc>
                          <a:spcPct val="106000"/>
                        </a:lnSpc>
                        <a:spcAft>
                          <a:spcPts val="0"/>
                        </a:spcAft>
                      </a:pPr>
                      <a:r>
                        <a:rPr sz="1100" b="1">
                          <a:solidFill>
                            <a:srgbClr val="333333"/>
                          </a:solidFill>
                          <a:latin typeface="Inter"/>
                        </a:rPr>
                        <a:t>Dimension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Value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What the Catalog Establishes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Where It Is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l">
                        <a:lnSpc>
                          <a:spcPct val="106000"/>
                        </a:lnSpc>
                        <a:spcAft>
                          <a:spcPts val="0"/>
                        </a:spcAft>
                      </a:pPr>
                      <a:r>
                        <a:rPr sz="1100" b="1">
                          <a:solidFill>
                            <a:srgbClr val="333333"/>
                          </a:solidFill>
                          <a:latin typeface="Inter"/>
                        </a:rPr>
                        <a:t>Core PNT references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1">
                          <a:solidFill>
                            <a:srgbClr val="5B39F3"/>
                          </a:solidFill>
                          <a:latin typeface="Fira Code"/>
                        </a:rPr>
                        <a:t>63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Code that directly implements, reads, writes or processes PNT data.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1 — CORE PNT REFERENCES: Table 1 Core Positioning, Table 2 Core Navigation, Table 3 Core Timing, each with its 1a / 2a / 3a dependency map.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l">
                        <a:lnSpc>
                          <a:spcPct val="106000"/>
                        </a:lnSpc>
                        <a:spcAft>
                          <a:spcPts val="0"/>
                        </a:spcAft>
                      </a:pPr>
                      <a:r>
                        <a:rPr sz="1100" b="1">
                          <a:solidFill>
                            <a:srgbClr val="333333"/>
                          </a:solidFill>
                          <a:latin typeface="Inter"/>
                        </a:rPr>
                        <a:t>Indirect / relational PNT references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1">
                          <a:solidFill>
                            <a:srgbClr val="5B39F3"/>
                          </a:solidFill>
                          <a:latin typeface="Fira Code"/>
                        </a:rPr>
                        <a:t>31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Code that reads no PNT data itself but whose behavior changes as a result of PNT 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2 — INDIRECT / RELATIONAL PNT REFERENCES: Table 4 Indirect Positioning, Table 5 Indirect Navigation, Table 6 Indirect Timing, each with its 4a / 5a / 6a dependency map.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Inter"/>
                        </a:rPr>
                        <a:t>Total catalogued touch-points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1">
                          <a:solidFill>
                            <a:srgbClr val="5B39F3"/>
                          </a:solidFill>
                          <a:latin typeface="Fira Code"/>
                        </a:rPr>
                        <a:t>94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Core plus indirect — the complete PNT surface enumerated by this audit.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All GROUP 1 and GROUP 2 main tables.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Inter"/>
                        </a:rPr>
                        <a:t>Evidence rows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1">
                          <a:solidFill>
                            <a:srgbClr val="5B39F3"/>
                          </a:solidFill>
                          <a:latin typeface="Fira Code"/>
                        </a:rPr>
                        <a:t>282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94 touch-points × 3 layers: the main row, its Layer 1 direct edges and its Layer 2 transitive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Each main table together with its matching Xa dependency sub-table.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Inter"/>
                        </a:rPr>
                        <a:t>Data objects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1">
                          <a:solidFill>
                            <a:srgbClr val="5B39F3"/>
                          </a:solidFill>
                          <a:latin typeface="Fira Code"/>
                        </a:rPr>
                        <a:t>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Catalogued table objects: 6 main tables plus their 6 Layer 1 and 6 Layer 2 blocks.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Tables 1 / 1a through 6 / 6a.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Inter"/>
                        </a:rPr>
                        <a:t>Catalog structure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1">
                          <a:solidFill>
                            <a:srgbClr val="5B39F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Tables in 6 numbered groups: 6 main tables, each paired with an Xa sub-table holding its Layer 1 and Layer 2 blocks.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Tables 1 / 1a through 6 / 6a, rendered in that order.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KEY FINDINGS AT A GLANCE  ·  EVERY FIGURE AS STATED</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Key Findings at a Glance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560161"/>
        </p:xfrm>
        <a:graphic>
          <a:graphicData uri="http://schemas.openxmlformats.org/drawingml/2006/table">
            <a:tbl>
              <a:tblPr>
                <a:tableStyleId>{5C22544A-7EE6-4342-B048-85BDC9FD1C3A}</a:tableStyleId>
              </a:tblPr>
              <a:tblGrid>
                <a:gridCol w="2101961"/>
                <a:gridCol w="822506"/>
                <a:gridCol w="4203922"/>
                <a:gridCol w="3929755"/>
              </a:tblGrid>
              <a:tr h="240219">
                <a:tc>
                  <a:txBody>
                    <a:bodyPr wrap="square">
                      <a:noAutofit/>
                    </a:bodyPr>
                    <a:lstStyle/>
                    <a:p>
                      <a:pPr algn="l">
                        <a:lnSpc>
                          <a:spcPct val="106000"/>
                        </a:lnSpc>
                        <a:spcAft>
                          <a:spcPts val="0"/>
                        </a:spcAft>
                      </a:pPr>
                      <a:r>
                        <a:rPr sz="1100" b="1">
                          <a:solidFill>
                            <a:srgbClr val="333333"/>
                          </a:solidFill>
                          <a:latin typeface="Inter"/>
                        </a:rPr>
                        <a:t>Dimension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Value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What the Catalog Establishes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Where It Is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951012">
                <a:tc>
                  <a:txBody>
                    <a:bodyPr wrap="square">
                      <a:noAutofit/>
                    </a:bodyPr>
                    <a:lstStyle/>
                    <a:p>
                      <a:pPr algn="l">
                        <a:lnSpc>
                          <a:spcPct val="106000"/>
                        </a:lnSpc>
                        <a:spcAft>
                          <a:spcPts val="0"/>
                        </a:spcAft>
                      </a:pPr>
                      <a:r>
                        <a:rPr sz="1100" b="1">
                          <a:solidFill>
                            <a:srgbClr val="333333"/>
                          </a:solidFill>
                          <a:latin typeface="Inter"/>
                        </a:rPr>
                        <a:t>Audit-discipline flags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1">
                          <a:solidFill>
                            <a:srgbClr val="5B39F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Flag kinds, with occurrences [CIRCULAR] 8 · [SHARED-STRUCT] 19 · [DUPLICATED] 36 · [MULTI-CATEGORY] 7 · [ABSENT] 30. They mark extraction risk and enforce non-inference discipline inline in the Notes columns.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Notes columns throughout; taxonomy and occurrence counts in Audit-Discipline Flags.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1">
                          <a:solidFill>
                            <a:srgbClr val="333333"/>
                          </a:solidFill>
                          <a:latin typeface="Inter"/>
                        </a:rPr>
                        <a:t>Coverage and explicit absences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1">
                          <a:solidFill>
                            <a:srgbClr val="5B39F3"/>
                          </a:solidFill>
                          <a:latin typeface="Fira Code"/>
                        </a:rPr>
                        <a:t>109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Register entries across 10 sub-registers, including 27 checked, explicitly documented absences — evidence that the sweep was exhaustive rather than opportunistic.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Coverage &amp; Explicit-Absence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l">
                        <a:lnSpc>
                          <a:spcPct val="106000"/>
                        </a:lnSpc>
                        <a:spcAft>
                          <a:spcPts val="0"/>
                        </a:spcAft>
                      </a:pPr>
                      <a:r>
                        <a:rPr sz="1100" b="1">
                          <a:solidFill>
                            <a:srgbClr val="333333"/>
                          </a:solidFill>
                          <a:latin typeface="Inter"/>
                        </a:rPr>
                        <a:t>Current → new service mapping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1">
                          <a:solidFill>
                            <a:srgbClr val="5B39F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L1-navigation touch-points mapped onto the AfsimL1Behavior member each is refactored into, spanning position, velocity, attitude, airspeed scaling, timing, geometry and the command outputs.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Instance Audit — Current Location → New Service 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EXECUTIVE SUMMARY  ·  WHAT THE CATALOG IS FOR</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Expected Impact and Value Proposition</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36192"/>
            <a:ext cx="11003280" cy="744093"/>
          </a:xfrm>
          <a:prstGeom prst="rect">
            <a:avLst/>
          </a:prstGeom>
          <a:noFill/>
        </p:spPr>
        <p:txBody>
          <a:bodyPr wrap="square" lIns="0" rIns="0" tIns="0" bIns="0" anchor="t">
            <a:noAutofit/>
          </a:bodyPr>
          <a:lstStyle/>
          <a:p>
            <a:pPr algn="l">
              <a:lnSpc>
                <a:spcPct val="124000"/>
              </a:lnSpc>
              <a:spcAft>
                <a:spcPts val="0"/>
              </a:spcAft>
            </a:pPr>
            <a:r>
              <a:rPr sz="1400" b="0">
                <a:solidFill>
                  <a:srgbClr val="333333"/>
                </a:solidFill>
                <a:latin typeface="Inter"/>
              </a:rPr>
              <a:t>The audit converts an implicit understanding of ArduPilot PNT coupling into a verifiable extraction baseline. Because every row cites a path:line range and reproduces the code at that range verbatim, the inventory can be re-checked against the tree at audited HEAD 5b67e27b0a rather than taken on trust, and the totals above reconcile against the catalog they summarise.</a:t>
            </a:r>
          </a:p>
        </p:txBody>
      </p:sp>
      <p:sp>
        <p:nvSpPr>
          <p:cNvPr id="7" name="TextBox 6"/>
          <p:cNvSpPr txBox="1"/>
          <p:nvPr/>
        </p:nvSpPr>
        <p:spPr>
          <a:xfrm>
            <a:off x="566928" y="2481453"/>
            <a:ext cx="11003280" cy="1273225"/>
          </a:xfrm>
          <a:prstGeom prst="rect">
            <a:avLst/>
          </a:prstGeom>
          <a:noFill/>
        </p:spPr>
        <p:txBody>
          <a:bodyPr wrap="square" lIns="0" rIns="0" tIns="0" bIns="0" anchor="t">
            <a:noAutofit/>
          </a:bodyPr>
          <a:lstStyle/>
          <a:p>
            <a:pPr algn="l">
              <a:lnSpc>
                <a:spcPct val="124000"/>
              </a:lnSpc>
              <a:spcAft>
                <a:spcPts val="0"/>
              </a:spcAft>
            </a:pPr>
            <a:r>
              <a:rPr sz="1400" b="0">
                <a:solidFill>
                  <a:srgbClr val="333333"/>
                </a:solidFill>
                <a:latin typeface="Inter"/>
              </a:rPr>
              <a:t>The audit-discipline flags turn extraction risk into explicit, addressable markers — where state is circular, where PNT fields are packed with non-PNT fields, where a derivation is duplicated, and, through the checked absences, where an expected PNT element was looked for and genuinely is not present. For the L1-navigation slice the current → new mapping supplies a documented wiring contract for the reusable service, so the guidance seam can be reviewed and signed off against named locations on both sides of the extraction.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DOCUMENT ROADMAP  ·  THE AUDIT’S OWN READING ORDER</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Document Roadmap / How to Read This Document</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91056"/>
            <a:ext cx="11003280" cy="187604"/>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The sections below appear in this order. Section names, table numbers and row numbering are exactly as catalogued.</a:t>
            </a:r>
          </a:p>
        </p:txBody>
      </p:sp>
      <p:graphicFrame>
        <p:nvGraphicFramePr>
          <p:cNvPr id="7" name="Table 6"/>
          <p:cNvGraphicFramePr>
            <a:graphicFrameLocks noGrp="1"/>
          </p:cNvGraphicFramePr>
          <p:nvPr/>
        </p:nvGraphicFramePr>
        <p:xfrm>
          <a:off x="566928" y="1870100"/>
          <a:ext cx="11058144" cy="3165639"/>
        </p:xfrm>
        <a:graphic>
          <a:graphicData uri="http://schemas.openxmlformats.org/drawingml/2006/table">
            <a:tbl>
              <a:tblPr>
                <a:tableStyleId>{5C22544A-7EE6-4342-B048-85BDC9FD1C3A}</a:tableStyleId>
              </a:tblPr>
              <a:tblGrid>
                <a:gridCol w="3198636"/>
                <a:gridCol w="7859508"/>
              </a:tblGrid>
              <a:tr h="240219">
                <a:tc>
                  <a:txBody>
                    <a:bodyPr wrap="square">
                      <a:noAutofit/>
                    </a:bodyPr>
                    <a:lstStyle/>
                    <a:p>
                      <a:pPr algn="l">
                        <a:lnSpc>
                          <a:spcPct val="106000"/>
                        </a:lnSpc>
                        <a:spcAft>
                          <a:spcPts val="0"/>
                        </a:spcAft>
                      </a:pPr>
                      <a:r>
                        <a:rPr sz="1100" b="1">
                          <a:solidFill>
                            <a:srgbClr val="333333"/>
                          </a:solidFill>
                          <a:latin typeface="Inter"/>
                        </a:rPr>
                        <a:t>Section, as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What it contains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l">
                        <a:lnSpc>
                          <a:spcPct val="106000"/>
                        </a:lnSpc>
                        <a:spcAft>
                          <a:spcPts val="0"/>
                        </a:spcAft>
                      </a:pPr>
                      <a:r>
                        <a:rPr sz="1100" b="1">
                          <a:solidFill>
                            <a:srgbClr val="333333"/>
                          </a:solidFill>
                          <a:latin typeface="Inter"/>
                        </a:rPr>
                        <a:t>Legend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The classification vocabularies — Role for Group 1, the Trigger Condition / PNT State Observed / Behavior Change discriminators for Group 2, Dependency Type for Layer 1 — plus the Notes-flag meanings and the cross-reference rule that ties each Xa table back to its main table numbering. Read this first.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Inter"/>
                        </a:rPr>
                        <a:t>Footprint Summary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The surveyed surface: the subsystems, receiver backends, EKF families and flight-mode files swept to make the catalog exhaustive.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Inter"/>
                        </a:rPr>
                        <a:t>GROUP 1 — CORE PNT REFERENCES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Tables 1 / 1a Core Positioning, 2 / 2a Core Navigation and 3 / 3a Core Timing: code that directly implements, reads, writes or processes PNT data. Table 2 also carries the New Service Location column.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Inter"/>
                        </a:rPr>
                        <a:t>GROUP 2 — INDIRECT / RELATIONAL PNT REFERENCES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Tables 4 / 4a Indirect Positioning, 5 / 5a Indirect Navigation and 6 / 6a Indirect Timing: code whose behavior changes as a result of PNT 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Inter"/>
                        </a:rPr>
                        <a:t>PNT Instance Audit — Current Location → New Service 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The consolidated mapping of every PNT touch-point inside the wrapped L1 controller onto its AfsimL1Behavior member, with the line-number basis stated alongside 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1">
                          <a:solidFill>
                            <a:srgbClr val="333333"/>
                          </a:solidFill>
                          <a:latin typeface="Inter"/>
                        </a:rPr>
                        <a:t>Audit-Discipline Flags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The flag taxonomy with its occurrence counts, reconciled against the catalog.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Inter"/>
                        </a:rPr>
                        <a:t>Coverage &amp; Explicit-Absence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The directory-wide token sweeps and checked absences that establish exhaustiveness across libraries/, the vehicle directories and the submodule boundary edges.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0"/>
            <a:ext cx="11058144" cy="1188720"/>
          </a:xfrm>
          <a:prstGeom prst="rect">
            <a:avLst/>
          </a:prstGeom>
          <a:noFill/>
        </p:spPr>
        <p:txBody>
          <a:bodyPr wrap="square" lIns="0" rIns="0" tIns="0" bIns="0" anchor="t">
            <a:noAutofit/>
          </a:bodyPr>
          <a:lstStyle/>
          <a:p>
            <a:pPr algn="ctr">
              <a:lnSpc>
                <a:spcPct val="110000"/>
              </a:lnSpc>
              <a:spcAft>
                <a:spcPts val="0"/>
              </a:spcAft>
            </a:pPr>
            <a:r>
              <a:rPr sz="3800" b="1">
                <a:solidFill>
                  <a:srgbClr val="FFFFFF"/>
                </a:solidFill>
                <a:latin typeface="Space Grotesk"/>
              </a:rPr>
              <a:t>Severity axis</a:t>
            </a:r>
          </a:p>
        </p:txBody>
      </p:sp>
      <p:sp>
        <p:nvSpPr>
          <p:cNvPr id="3" name="TextBox 2"/>
          <p:cNvSpPr txBox="1"/>
          <p:nvPr/>
        </p:nvSpPr>
        <p:spPr>
          <a:xfrm>
            <a:off x="566928" y="3840480"/>
            <a:ext cx="11058144" cy="365760"/>
          </a:xfrm>
          <a:prstGeom prst="rect">
            <a:avLst/>
          </a:prstGeom>
          <a:noFill/>
        </p:spPr>
        <p:txBody>
          <a:bodyPr wrap="square" lIns="0" rIns="0" tIns="0" bIns="0" anchor="t">
            <a:noAutofit/>
          </a:bodyPr>
          <a:lstStyle/>
          <a:p>
            <a:pPr algn="ctr">
              <a:lnSpc>
                <a:spcPct val="100000"/>
              </a:lnSpc>
              <a:spcAft>
                <a:spcPts val="0"/>
              </a:spcAft>
            </a:pPr>
            <a:r>
              <a:rPr sz="1300" b="0">
                <a:solidFill>
                  <a:srgbClr val="94FAD5"/>
                </a:solidFill>
                <a:latin typeface="Fira Code"/>
              </a:rPr>
              <a:t>The audit’s own Audit-Discipline Flags, with its own stated occurrence counts. No new scale is introduced.</a:t>
            </a:r>
          </a:p>
        </p:txBody>
      </p:sp>
      <p:sp>
        <p:nvSpPr>
          <p:cNvPr id="4" name="Rectangle 3"/>
          <p:cNvSpPr/>
          <p:nvPr/>
        </p:nvSpPr>
        <p:spPr>
          <a:xfrm>
            <a:off x="4724400" y="4389120"/>
            <a:ext cx="2743200" cy="91440"/>
          </a:xfrm>
          <a:prstGeom prst="rect">
            <a:avLst/>
          </a:prstGeom>
          <a:gradFill rotWithShape="1">
            <a:gsLst>
              <a:gs pos="0">
                <a:srgbClr val="5B39F3"/>
              </a:gs>
              <a:gs pos="100000">
                <a:srgbClr val="94FAD5"/>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AUDIT-DISCIPLINE FLAGS  ·  5 KINDS, CATALOG-WIDE</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Audit-Discipline Flags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91056"/>
            <a:ext cx="11003280" cy="769162"/>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Extraction-risk and non-inference discipline markers applied inline in the Notes columns throughout the catalog.  Each occurrence figure is the audit’s own count of that token across its whole annotation corpus: the Notes of every main row and every Layer 2 chain, the Legend entry that defines the flag and, for [ABSENT], the Coverage register’s checked absences.</a:t>
            </a:r>
          </a:p>
        </p:txBody>
      </p:sp>
      <p:graphicFrame>
        <p:nvGraphicFramePr>
          <p:cNvPr id="7" name="Table 6"/>
          <p:cNvGraphicFramePr>
            <a:graphicFrameLocks noGrp="1"/>
          </p:cNvGraphicFramePr>
          <p:nvPr/>
        </p:nvGraphicFramePr>
        <p:xfrm>
          <a:off x="566928" y="2451658"/>
          <a:ext cx="11058144" cy="1625562"/>
        </p:xfrm>
        <a:graphic>
          <a:graphicData uri="http://schemas.openxmlformats.org/drawingml/2006/table">
            <a:tbl>
              <a:tblPr>
                <a:tableStyleId>{5C22544A-7EE6-4342-B048-85BDC9FD1C3A}</a:tableStyleId>
              </a:tblPr>
              <a:tblGrid>
                <a:gridCol w="2101961"/>
                <a:gridCol w="1370844"/>
                <a:gridCol w="7585339"/>
              </a:tblGrid>
              <a:tr h="270927">
                <a:tc>
                  <a:txBody>
                    <a:bodyPr wrap="square">
                      <a:noAutofit/>
                    </a:bodyPr>
                    <a:lstStyle/>
                    <a:p>
                      <a:pPr algn="l">
                        <a:lnSpc>
                          <a:spcPct val="106000"/>
                        </a:lnSpc>
                        <a:spcAft>
                          <a:spcPts val="0"/>
                        </a:spcAft>
                      </a:pPr>
                      <a:r>
                        <a:rPr sz="1300" b="1">
                          <a:solidFill>
                            <a:srgbClr val="333333"/>
                          </a:solidFill>
                          <a:latin typeface="Inter"/>
                        </a:rPr>
                        <a:t>Flag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300" b="1">
                          <a:solidFill>
                            <a:srgbClr val="333333"/>
                          </a:solidFill>
                          <a:latin typeface="Inter"/>
                        </a:rPr>
                        <a:t>Occurrences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300" b="1">
                          <a:solidFill>
                            <a:srgbClr val="333333"/>
                          </a:solidFill>
                          <a:latin typeface="Inter"/>
                        </a:rPr>
                        <a:t>Meaning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70927">
                <a:tc>
                  <a:txBody>
                    <a:bodyPr wrap="square">
                      <a:noAutofit/>
                    </a:bodyPr>
                    <a:lstStyle/>
                    <a:p>
                      <a:pPr algn="l">
                        <a:lnSpc>
                          <a:spcPct val="106000"/>
                        </a:lnSpc>
                        <a:spcAft>
                          <a:spcPts val="0"/>
                        </a:spcAft>
                      </a:pPr>
                      <a:r>
                        <a:rPr sz="1300" b="1">
                          <a:solidFill>
                            <a:srgbClr val="5B39F3"/>
                          </a:solidFill>
                          <a:latin typeface="Fira Code"/>
                        </a:rPr>
                        <a:t>[CIRCULAR]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300" b="0">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300" b="0">
                          <a:solidFill>
                            <a:srgbClr val="333333"/>
                          </a:solidFill>
                          <a:latin typeface="Inter"/>
                        </a:rPr>
                        <a:t>Circular dependency (e.g. AHRS ↔ EKF).</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70927">
                <a:tc>
                  <a:txBody>
                    <a:bodyPr wrap="square">
                      <a:noAutofit/>
                    </a:bodyPr>
                    <a:lstStyle/>
                    <a:p>
                      <a:pPr algn="l">
                        <a:lnSpc>
                          <a:spcPct val="106000"/>
                        </a:lnSpc>
                        <a:spcAft>
                          <a:spcPts val="0"/>
                        </a:spcAft>
                      </a:pPr>
                      <a:r>
                        <a:rPr sz="1300" b="1">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300" b="0">
                          <a:solidFill>
                            <a:srgbClr val="333333"/>
                          </a:solidFill>
                          <a:latin typeface="Fira Code"/>
                        </a:rPr>
                        <a:t>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300" b="0">
                          <a:solidFill>
                            <a:srgbClr val="333333"/>
                          </a:solidFill>
                          <a:latin typeface="Inter"/>
                        </a:rPr>
                        <a:t>PNT fields packed with non-PNT fields (extraction risk).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70927">
                <a:tc>
                  <a:txBody>
                    <a:bodyPr wrap="square">
                      <a:noAutofit/>
                    </a:bodyPr>
                    <a:lstStyle/>
                    <a:p>
                      <a:pPr algn="l">
                        <a:lnSpc>
                          <a:spcPct val="106000"/>
                        </a:lnSpc>
                        <a:spcAft>
                          <a:spcPts val="0"/>
                        </a:spcAft>
                      </a:pPr>
                      <a:r>
                        <a:rPr sz="1300" b="1">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300" b="0">
                          <a:solidFill>
                            <a:srgbClr val="333333"/>
                          </a:solidFill>
                          <a:latin typeface="Fira Code"/>
                        </a:rPr>
                        <a:t>36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300" b="0">
                          <a:solidFill>
                            <a:srgbClr val="333333"/>
                          </a:solidFill>
                          <a:latin typeface="Inter"/>
                        </a:rPr>
                        <a:t>Same PNT value read/derived in multiple places.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70927">
                <a:tc>
                  <a:txBody>
                    <a:bodyPr wrap="square">
                      <a:noAutofit/>
                    </a:bodyPr>
                    <a:lstStyle/>
                    <a:p>
                      <a:pPr algn="l">
                        <a:lnSpc>
                          <a:spcPct val="106000"/>
                        </a:lnSpc>
                        <a:spcAft>
                          <a:spcPts val="0"/>
                        </a:spcAft>
                      </a:pPr>
                      <a:r>
                        <a:rPr sz="1300" b="1">
                          <a:solidFill>
                            <a:srgbClr val="5B39F3"/>
                          </a:solidFill>
                          <a:latin typeface="Fira Code"/>
                        </a:rPr>
                        <a:t>[MULTI-CATEGORY]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300" b="0">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300" b="0">
                          <a:solidFill>
                            <a:srgbClr val="333333"/>
                          </a:solidFill>
                          <a:latin typeface="Inter"/>
                        </a:rPr>
                        <a:t>Touch-point spans more than one PNT pillar.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70927">
                <a:tc>
                  <a:txBody>
                    <a:bodyPr wrap="square">
                      <a:noAutofit/>
                    </a:bodyPr>
                    <a:lstStyle/>
                    <a:p>
                      <a:pPr algn="l">
                        <a:lnSpc>
                          <a:spcPct val="106000"/>
                        </a:lnSpc>
                        <a:spcAft>
                          <a:spcPts val="0"/>
                        </a:spcAft>
                      </a:pPr>
                      <a:r>
                        <a:rPr sz="1300" b="1">
                          <a:solidFill>
                            <a:srgbClr val="5B39F3"/>
                          </a:solidFill>
                          <a:latin typeface="Fira Code"/>
                        </a:rPr>
                        <a:t>[ABSENT]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300" b="0">
                          <a:solidFill>
                            <a:srgbClr val="333333"/>
                          </a:solidFill>
                          <a:latin typeface="Fira Code"/>
                        </a:rPr>
                        <a:t>30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300" b="0">
                          <a:solidFill>
                            <a:srgbClr val="333333"/>
                          </a:solidFill>
                          <a:latin typeface="Inter"/>
                        </a:rPr>
                        <a:t>A checked, explicitly-documented absence (non-inference discipline).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566928" y="4205236"/>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Explicitly-documented absences catalogued in the Coverage register: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[SHARED-STRUCT]</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Flag [SHARED-STRUCT] – where it is applied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PNT fields packed with non-PNT fields (extraction risk).</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7" name="TextBox 6"/>
          <p:cNvSpPr txBox="1"/>
          <p:nvPr/>
        </p:nvSpPr>
        <p:spPr>
          <a:xfrm>
            <a:off x="566928" y="1906943"/>
            <a:ext cx="11003280" cy="187604"/>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Occurrences catalog-wide, as the audit states them: 19  ·  [SHARED-STRUCT] marks the packed structures</a:t>
            </a:r>
          </a:p>
        </p:txBody>
      </p:sp>
      <p:graphicFrame>
        <p:nvGraphicFramePr>
          <p:cNvPr id="8" name="Table 7"/>
          <p:cNvGraphicFramePr>
            <a:graphicFrameLocks noGrp="1"/>
          </p:cNvGraphicFramePr>
          <p:nvPr/>
        </p:nvGraphicFramePr>
        <p:xfrm>
          <a:off x="566928" y="2185987"/>
          <a:ext cx="11058144" cy="3468378"/>
        </p:xfrm>
        <a:graphic>
          <a:graphicData uri="http://schemas.openxmlformats.org/drawingml/2006/table">
            <a:tbl>
              <a:tblPr>
                <a:tableStyleId>{5C22544A-7EE6-4342-B048-85BDC9FD1C3A}</a:tableStyleId>
              </a:tblPr>
              <a:tblGrid>
                <a:gridCol w="1553623"/>
                <a:gridCol w="3564195"/>
                <a:gridCol w="913896"/>
                <a:gridCol w="2376130"/>
                <a:gridCol w="2650300"/>
              </a:tblGrid>
              <a:tr h="240219">
                <a:tc>
                  <a:txBody>
                    <a:bodyPr wrap="square">
                      <a:noAutofit/>
                    </a:bodyPr>
                    <a:lstStyle/>
                    <a:p>
                      <a:pPr algn="l">
                        <a:lnSpc>
                          <a:spcPct val="106000"/>
                        </a:lnSpc>
                        <a:spcAft>
                          <a:spcPts val="0"/>
                        </a:spcAft>
                      </a:pPr>
                      <a:r>
                        <a:rPr sz="1100" b="1">
                          <a:solidFill>
                            <a:srgbClr val="333333"/>
                          </a:solidFill>
                          <a:latin typeface="Inter"/>
                        </a:rPr>
                        <a:t>Catalogued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 / 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 flags on the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l">
                        <a:lnSpc>
                          <a:spcPct val="106000"/>
                        </a:lnSpc>
                        <a:spcAft>
                          <a:spcPts val="0"/>
                        </a:spcAft>
                      </a:pPr>
                      <a:r>
                        <a:rPr sz="1100" b="1">
                          <a:solidFill>
                            <a:srgbClr val="333333"/>
                          </a:solidFill>
                          <a:latin typeface="Fira Code"/>
                        </a:rPr>
                        <a:t>Table 1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libraries/AP_GPS/AP_GPS_UBLOX.cpp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1510-1518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AP_GPS_UBLOX::_parse_gps()(NAV-POSLLH)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1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libraries/AP_GPS/AP_GPS_NMEA.cpp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333-340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AP_GPS_NMEA::_term_complete()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Table 1 #3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libraries/AP_GPS/AP_GPS_SBF.cpp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484-491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AP_GPS_SBF::process_message()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1 #4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libraries/AP_GPS/AP_GPS_NOVA.cpp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209-216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AP_GPS_NOVA::process_message()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Table 1 #5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libraries/AP_GPS/AP_GPS_SBP.cpp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276-283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AP_GPS_SBP::_attempt_state_update()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1 #6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libraries/AP_GPS/AP_GPS_SBP2.cpp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328-335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AP_GPS_SBP2::_attempt_state_update()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1">
                          <a:solidFill>
                            <a:srgbClr val="333333"/>
                          </a:solidFill>
                          <a:latin typeface="Fira Code"/>
                        </a:rPr>
                        <a:t>Table 1 #7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libraries/AP_GPS/AP_GPS_SIRF.cpp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178-185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AP_GPS_SIRF::_parse_gps()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1">
                          <a:solidFill>
                            <a:srgbClr val="333333"/>
                          </a:solidFill>
                          <a:latin typeface="Fira Code"/>
                        </a:rPr>
                        <a:t>Table 1 #8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libraries/AP_GPS/AP_GPS_ERB.cpp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150-157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AP_GPS_ERB::_parse_gps()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1">
                          <a:solidFill>
                            <a:srgbClr val="333333"/>
                          </a:solidFill>
                          <a:latin typeface="Fira Code"/>
                        </a:rPr>
                        <a:t>Table 1 #9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libraries/AP_GPS/AP_GPS_MAV.cpp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67-75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AP_GPS_MAV::handle_msg()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9" name="TextBox 8"/>
          <p:cNvSpPr txBox="1"/>
          <p:nvPr/>
        </p:nvSpPr>
        <p:spPr>
          <a:xfrm>
            <a:off x="566928" y="5782381"/>
            <a:ext cx="11003280" cy="411022"/>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Every main-table row the flag is applied to, in catalog order. Each row’s full Notes text is carried at the row itself, in the category part for its table. The catalog-wide figure above counts the token across the whole annotation corpus stated with the taxonomy, not the rows listed here.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[SHARED-STRUCT]</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Flag [SHARED-STRUCT]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632544"/>
        </p:xfrm>
        <a:graphic>
          <a:graphicData uri="http://schemas.openxmlformats.org/drawingml/2006/table">
            <a:tbl>
              <a:tblPr>
                <a:tableStyleId>{5C22544A-7EE6-4342-B048-85BDC9FD1C3A}</a:tableStyleId>
              </a:tblPr>
              <a:tblGrid>
                <a:gridCol w="1553623"/>
                <a:gridCol w="3564195"/>
                <a:gridCol w="913896"/>
                <a:gridCol w="2376130"/>
                <a:gridCol w="2650300"/>
              </a:tblGrid>
              <a:tr h="240219">
                <a:tc>
                  <a:txBody>
                    <a:bodyPr wrap="square">
                      <a:noAutofit/>
                    </a:bodyPr>
                    <a:lstStyle/>
                    <a:p>
                      <a:pPr algn="l">
                        <a:lnSpc>
                          <a:spcPct val="106000"/>
                        </a:lnSpc>
                        <a:spcAft>
                          <a:spcPts val="0"/>
                        </a:spcAft>
                      </a:pPr>
                      <a:r>
                        <a:rPr sz="1100" b="1">
                          <a:solidFill>
                            <a:srgbClr val="333333"/>
                          </a:solidFill>
                          <a:latin typeface="Inter"/>
                        </a:rPr>
                        <a:t>Catalogued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 / 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 flags on the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40219">
                <a:tc>
                  <a:txBody>
                    <a:bodyPr wrap="square">
                      <a:noAutofit/>
                    </a:bodyPr>
                    <a:lstStyle/>
                    <a:p>
                      <a:pPr algn="l">
                        <a:lnSpc>
                          <a:spcPct val="106000"/>
                        </a:lnSpc>
                        <a:spcAft>
                          <a:spcPts val="0"/>
                        </a:spcAft>
                      </a:pPr>
                      <a:r>
                        <a:rPr sz="1100" b="1">
                          <a:solidFill>
                            <a:srgbClr val="333333"/>
                          </a:solidFill>
                          <a:latin typeface="Fira Code"/>
                        </a:rPr>
                        <a:t>Table 1 #10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libraries/AP_GPS/AP_GPS_MSP.cpp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44-51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AP_GPS_MSP::handle_msp()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1 #11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libraries/AP_GPS/AP_GPS_GSOF.cpp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231-238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AP_GPS_GSOF::pack_state_data()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Table 1 #12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libraries/AP_GPS/AP_GPS_DroneCAN.cpp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388-396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AP_GPS_DroneCAN::handle_fix2_msg()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1 #13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libraries/AP_GPS/AP_GPS_ExternalAHRS.cpp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49-56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AP_GPS_ExternalAHRS::handle_external()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1">
                          <a:solidFill>
                            <a:srgbClr val="333333"/>
                          </a:solidFill>
                          <a:latin typeface="Fira Code"/>
                        </a:rPr>
                        <a:t>Table 1 #14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libraries/AP_GPS/AP_GPS_SITL.cpp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86-93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AP_GPS_SITL::read()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1 #18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192-201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structAP_GPS::GPS_State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[SHARED-STRUCT]  [MULTI-CATEGORY]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1">
                          <a:solidFill>
                            <a:srgbClr val="333333"/>
                          </a:solidFill>
                          <a:latin typeface="Fira Code"/>
                        </a:rPr>
                        <a:t>Table 1 #20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libraries/AP_Common/Location.h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11-20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classLocation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566928" y="4351616"/>
            <a:ext cx="11003280" cy="411022"/>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Every main-table row the flag is applied to, in catalog order. Each row’s full Notes text is carried at the row itself, in the category part for its table. The catalog-wide figure above counts the token across the whole annotation corpus stated with the taxonomy, not the rows listed here.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[SHARED-STRUCT]</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Flag [SHARED-STRUCT] in the Layer 2 chains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Layer 2 chain rows the flag is applied to, with the audit’s own Chain Depth.</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1076053"/>
        </p:xfrm>
        <a:graphic>
          <a:graphicData uri="http://schemas.openxmlformats.org/drawingml/2006/table">
            <a:tbl>
              <a:tblPr>
                <a:tableStyleId>{5C22544A-7EE6-4342-B048-85BDC9FD1C3A}</a:tableStyleId>
              </a:tblPr>
              <a:tblGrid>
                <a:gridCol w="1553623"/>
                <a:gridCol w="2833078"/>
                <a:gridCol w="2833078"/>
                <a:gridCol w="1096675"/>
                <a:gridCol w="2741690"/>
              </a:tblGrid>
              <a:tr h="240219">
                <a:tc>
                  <a:txBody>
                    <a:bodyPr wrap="square">
                      <a:noAutofit/>
                    </a:bodyPr>
                    <a:lstStyle/>
                    <a:p>
                      <a:pPr algn="l">
                        <a:lnSpc>
                          <a:spcPct val="106000"/>
                        </a:lnSpc>
                        <a:spcAft>
                          <a:spcPts val="0"/>
                        </a:spcAft>
                      </a:pPr>
                      <a:r>
                        <a:rPr sz="1100" b="1">
                          <a:solidFill>
                            <a:srgbClr val="333333"/>
                          </a:solidFill>
                          <a:latin typeface="Inter"/>
                        </a:rPr>
                        <a:t>Catalogued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 flags on the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l">
                        <a:lnSpc>
                          <a:spcPct val="106000"/>
                        </a:lnSpc>
                        <a:spcAft>
                          <a:spcPts val="0"/>
                        </a:spcAft>
                      </a:pPr>
                      <a:r>
                        <a:rPr sz="1100" b="1">
                          <a:solidFill>
                            <a:srgbClr val="333333"/>
                          </a:solidFill>
                          <a:latin typeface="Fira Code"/>
                        </a:rPr>
                        <a:t>Table 1a #18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GPS_State (struct)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 and AP_RTC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[SHARED-STRUCT]  [MULTI-CATEGORY]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1a #20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class Location (geodetic value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[SHARED-STRUCT]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[DUPLICATED]</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Flag [DUPLICATED] – where it is applied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Same PNT value read/derived in multiple places.</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7" name="TextBox 6"/>
          <p:cNvSpPr txBox="1"/>
          <p:nvPr/>
        </p:nvSpPr>
        <p:spPr>
          <a:xfrm>
            <a:off x="566928" y="1906943"/>
            <a:ext cx="11003280" cy="187604"/>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Occurrences catalog-wide, as the audit states them: 36  ·  [DUPLICATED] marks the repeated derivations</a:t>
            </a:r>
          </a:p>
        </p:txBody>
      </p:sp>
      <p:graphicFrame>
        <p:nvGraphicFramePr>
          <p:cNvPr id="8" name="Table 7"/>
          <p:cNvGraphicFramePr>
            <a:graphicFrameLocks noGrp="1"/>
          </p:cNvGraphicFramePr>
          <p:nvPr/>
        </p:nvGraphicFramePr>
        <p:xfrm>
          <a:off x="566928" y="2185987"/>
          <a:ext cx="11058144" cy="3405857"/>
        </p:xfrm>
        <a:graphic>
          <a:graphicData uri="http://schemas.openxmlformats.org/drawingml/2006/table">
            <a:tbl>
              <a:tblPr>
                <a:tableStyleId>{5C22544A-7EE6-4342-B048-85BDC9FD1C3A}</a:tableStyleId>
              </a:tblPr>
              <a:tblGrid>
                <a:gridCol w="1553623"/>
                <a:gridCol w="3564195"/>
                <a:gridCol w="913896"/>
                <a:gridCol w="2376130"/>
                <a:gridCol w="2650300"/>
              </a:tblGrid>
              <a:tr h="240219">
                <a:tc>
                  <a:txBody>
                    <a:bodyPr wrap="square">
                      <a:noAutofit/>
                    </a:bodyPr>
                    <a:lstStyle/>
                    <a:p>
                      <a:pPr algn="l">
                        <a:lnSpc>
                          <a:spcPct val="106000"/>
                        </a:lnSpc>
                        <a:spcAft>
                          <a:spcPts val="0"/>
                        </a:spcAft>
                      </a:pPr>
                      <a:r>
                        <a:rPr sz="1100" b="1">
                          <a:solidFill>
                            <a:srgbClr val="333333"/>
                          </a:solidFill>
                          <a:latin typeface="Inter"/>
                        </a:rPr>
                        <a:t>Catalogued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 / 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 flags on the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l">
                        <a:lnSpc>
                          <a:spcPct val="106000"/>
                        </a:lnSpc>
                        <a:spcAft>
                          <a:spcPts val="0"/>
                        </a:spcAft>
                      </a:pPr>
                      <a:r>
                        <a:rPr sz="1100" b="1">
                          <a:solidFill>
                            <a:srgbClr val="333333"/>
                          </a:solidFill>
                          <a:latin typeface="Fira Code"/>
                        </a:rPr>
                        <a:t>Table 2 #20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libraries/AP_NavEKF2/AP_NavEKF2_core.cpp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528-536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NavEKF2_core::UpdateFilter()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[CIRCULAR]  [DUPLICATED]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2 #21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libraries/AP_NavEKF2/AP_NavEKF2_PosVelFusion.cpp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560-568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NavEKF2_core::FuseVelPosNED()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Table 4 #3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ArduCopter/fence.cpp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20-28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4 #9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Rover/fence.cpp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17-25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Table 4 #10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ArduPlane/takeoff.cpp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58-62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Plane::auto_takeoff_check()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5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ArduCopter/ekf_check.cpp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117-125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Copter::ekf_over_threshold()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1">
                          <a:solidFill>
                            <a:srgbClr val="333333"/>
                          </a:solidFill>
                          <a:latin typeface="Fira Code"/>
                        </a:rPr>
                        <a:t>Table 5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ArduPlane/ekf_check.cpp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56-65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Plane::ekf_check()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5 #3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Rover/ekf_check.cpp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93-102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Rover::ekf_over_threshold()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9" name="TextBox 8"/>
          <p:cNvSpPr txBox="1"/>
          <p:nvPr/>
        </p:nvSpPr>
        <p:spPr>
          <a:xfrm>
            <a:off x="566928" y="5719860"/>
            <a:ext cx="11003280" cy="411022"/>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Every main-table row the flag is applied to, in catalog order. Each row’s full Notes text is carried at the row itself, in the category part for its table. The catalog-wide figure above counts the token across the whole annotation corpus stated with the taxonomy, not the rows listed here.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[DUPLICATED]</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Flag [DUPLICATED]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30899"/>
        </p:xfrm>
        <a:graphic>
          <a:graphicData uri="http://schemas.openxmlformats.org/drawingml/2006/table">
            <a:tbl>
              <a:tblPr>
                <a:tableStyleId>{5C22544A-7EE6-4342-B048-85BDC9FD1C3A}</a:tableStyleId>
              </a:tblPr>
              <a:tblGrid>
                <a:gridCol w="1553623"/>
                <a:gridCol w="3564195"/>
                <a:gridCol w="913896"/>
                <a:gridCol w="2376130"/>
                <a:gridCol w="2650300"/>
              </a:tblGrid>
              <a:tr h="240219">
                <a:tc>
                  <a:txBody>
                    <a:bodyPr wrap="square">
                      <a:noAutofit/>
                    </a:bodyPr>
                    <a:lstStyle/>
                    <a:p>
                      <a:pPr algn="l">
                        <a:lnSpc>
                          <a:spcPct val="106000"/>
                        </a:lnSpc>
                        <a:spcAft>
                          <a:spcPts val="0"/>
                        </a:spcAft>
                      </a:pPr>
                      <a:r>
                        <a:rPr sz="1100" b="1">
                          <a:solidFill>
                            <a:srgbClr val="333333"/>
                          </a:solidFill>
                          <a:latin typeface="Inter"/>
                        </a:rPr>
                        <a:t>Catalogued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 / 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 flags on the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40219">
                <a:tc>
                  <a:txBody>
                    <a:bodyPr wrap="square">
                      <a:noAutofit/>
                    </a:bodyPr>
                    <a:lstStyle/>
                    <a:p>
                      <a:pPr algn="l">
                        <a:lnSpc>
                          <a:spcPct val="106000"/>
                        </a:lnSpc>
                        <a:spcAft>
                          <a:spcPts val="0"/>
                        </a:spcAft>
                      </a:pPr>
                      <a:r>
                        <a:rPr sz="1100" b="1">
                          <a:solidFill>
                            <a:srgbClr val="333333"/>
                          </a:solidFill>
                          <a:latin typeface="Fira Code"/>
                        </a:rPr>
                        <a:t>Table 5 #4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ArduSub/failsafe.cpp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112-121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Sub::failsafe_ekf_check()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1">
                          <a:solidFill>
                            <a:srgbClr val="333333"/>
                          </a:solidFill>
                          <a:latin typeface="Fira Code"/>
                        </a:rPr>
                        <a:t>Table 6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ArduCopter/failsafe.cpp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37-45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Copter::failsafe_check()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1">
                          <a:solidFill>
                            <a:srgbClr val="333333"/>
                          </a:solidFill>
                          <a:latin typeface="Fira Code"/>
                        </a:rPr>
                        <a:t>Table 6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ArduPlane/failsafe.cpp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22-30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Plane::failsafe_check()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1">
                          <a:solidFill>
                            <a:srgbClr val="333333"/>
                          </a:solidFill>
                          <a:latin typeface="Fira Code"/>
                        </a:rPr>
                        <a:t>Table 6 #3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Rover/failsafe.cpp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22-30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Table 6 #4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ArduSub/failsafe.cpp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31-39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Sub::mainloop_failsafe_check()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1">
                          <a:solidFill>
                            <a:srgbClr val="333333"/>
                          </a:solidFill>
                          <a:latin typeface="Fira Code"/>
                        </a:rPr>
                        <a:t>Table 6 #5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Blimp/failsafe.cpp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37-45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Blimp::failsafe_check()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Table 6 #6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ArduCopter/ekf_check.cpp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84-88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Copter::ekf_check() — GCS warn throttle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6 #7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ArduPlane/ekf_check.cpp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78-82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Plane::ekf_check() — GCS warn throttle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Table 6 #10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ArduCopter/fence.cpp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8-16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6 #11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Rover/fence.cpp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6-14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566928" y="5249971"/>
            <a:ext cx="11003280" cy="411022"/>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Every main-table row the flag is applied to, in catalog order. Each row’s full Notes text is carried at the row itself, in the category part for its table. The catalog-wide figure above counts the token across the whole annotation corpus stated with the taxonomy, not the rows listed here.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[DUPLICATED]</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Flag [DUPLICATED] in the Layer 2 chains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Layer 2 chain rows the flag is applied to, with the audit’s own Chain Depth.</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4189035"/>
        </p:xfrm>
        <a:graphic>
          <a:graphicData uri="http://schemas.openxmlformats.org/drawingml/2006/table">
            <a:tbl>
              <a:tblPr>
                <a:tableStyleId>{5C22544A-7EE6-4342-B048-85BDC9FD1C3A}</a:tableStyleId>
              </a:tblPr>
              <a:tblGrid>
                <a:gridCol w="1553623"/>
                <a:gridCol w="2833078"/>
                <a:gridCol w="2833078"/>
                <a:gridCol w="1096675"/>
                <a:gridCol w="2741690"/>
              </a:tblGrid>
              <a:tr h="240219">
                <a:tc>
                  <a:txBody>
                    <a:bodyPr wrap="square">
                      <a:noAutofit/>
                    </a:bodyPr>
                    <a:lstStyle/>
                    <a:p>
                      <a:pPr algn="l">
                        <a:lnSpc>
                          <a:spcPct val="106000"/>
                        </a:lnSpc>
                        <a:spcAft>
                          <a:spcPts val="0"/>
                        </a:spcAft>
                      </a:pPr>
                      <a:r>
                        <a:rPr sz="1100" b="1">
                          <a:solidFill>
                            <a:srgbClr val="333333"/>
                          </a:solidFill>
                          <a:latin typeface="Inter"/>
                        </a:rPr>
                        <a:t>Catalogued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 flags on the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40219">
                <a:tc>
                  <a:txBody>
                    <a:bodyPr wrap="square">
                      <a:noAutofit/>
                    </a:bodyPr>
                    <a:lstStyle/>
                    <a:p>
                      <a:pPr algn="l">
                        <a:lnSpc>
                          <a:spcPct val="106000"/>
                        </a:lnSpc>
                        <a:spcAft>
                          <a:spcPts val="0"/>
                        </a:spcAft>
                      </a:pPr>
                      <a:r>
                        <a:rPr sz="1100" b="1">
                          <a:solidFill>
                            <a:srgbClr val="333333"/>
                          </a:solidFill>
                          <a:latin typeface="Fira Code"/>
                        </a:rPr>
                        <a:t>Table 2a #20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NavEKF2_core::UpdateFilter()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[CIRCULAR]  [DUPLICATED]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1">
                          <a:solidFill>
                            <a:srgbClr val="333333"/>
                          </a:solidFill>
                          <a:latin typeface="Fira Code"/>
                        </a:rPr>
                        <a:t>Table 2a #21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NavEKF2_core::FuseVelPosNED()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Table 4a #3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 vehicle position (via AC_Fence)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 fence failsafe (RTL/LAND)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4a #9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 vehicle position (via AC_Fence)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 fence 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1">
                          <a:solidFill>
                            <a:srgbClr val="333333"/>
                          </a:solidFill>
                          <a:latin typeface="Fira Code"/>
                        </a:rPr>
                        <a:t>Table 5a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variances (via 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failsafe action (LAND)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1">
                          <a:solidFill>
                            <a:srgbClr val="333333"/>
                          </a:solidFill>
                          <a:latin typeface="Fira Code"/>
                        </a:rPr>
                        <a:t>Table 5a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variances (Plane)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Plane EKF 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1">
                          <a:solidFill>
                            <a:srgbClr val="333333"/>
                          </a:solidFill>
                          <a:latin typeface="Fira Code"/>
                        </a:rPr>
                        <a:t>Table 5a #3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variances (Rover)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Rover EKF 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1">
                          <a:solidFill>
                            <a:srgbClr val="333333"/>
                          </a:solidFill>
                          <a:latin typeface="Fira Code"/>
                        </a:rPr>
                        <a:t>Table 5a #4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variances (Sub)</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Sub EKF failsafe flag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Table 6a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 + AP_Scheduler tick counter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 (motor min / disarm)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6a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AP_HAL::micros() + AP_Scheduler tick counter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SRV_Channels (RC passthrough)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Table 6a #3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 + AP_Scheduler tick counter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AP_Arming (disarm)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6a #4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AP_HAL::micros() + AP_Scheduler tick counter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 (motor min)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[DUPLICATED]</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Flag [DUPLICATED] in the Layer 2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1619012"/>
        </p:xfrm>
        <a:graphic>
          <a:graphicData uri="http://schemas.openxmlformats.org/drawingml/2006/table">
            <a:tbl>
              <a:tblPr>
                <a:tableStyleId>{5C22544A-7EE6-4342-B048-85BDC9FD1C3A}</a:tableStyleId>
              </a:tblPr>
              <a:tblGrid>
                <a:gridCol w="1553623"/>
                <a:gridCol w="2833078"/>
                <a:gridCol w="2833078"/>
                <a:gridCol w="1096675"/>
                <a:gridCol w="2741690"/>
              </a:tblGrid>
              <a:tr h="240219">
                <a:tc>
                  <a:txBody>
                    <a:bodyPr wrap="square">
                      <a:noAutofit/>
                    </a:bodyPr>
                    <a:lstStyle/>
                    <a:p>
                      <a:pPr algn="l">
                        <a:lnSpc>
                          <a:spcPct val="106000"/>
                        </a:lnSpc>
                        <a:spcAft>
                          <a:spcPts val="0"/>
                        </a:spcAft>
                      </a:pPr>
                      <a:r>
                        <a:rPr sz="1100" b="1">
                          <a:solidFill>
                            <a:srgbClr val="333333"/>
                          </a:solidFill>
                          <a:latin typeface="Inter"/>
                        </a:rPr>
                        <a:t>Catalogued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 flags on the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l">
                        <a:lnSpc>
                          <a:spcPct val="106000"/>
                        </a:lnSpc>
                        <a:spcAft>
                          <a:spcPts val="0"/>
                        </a:spcAft>
                      </a:pPr>
                      <a:r>
                        <a:rPr sz="1100" b="1">
                          <a:solidFill>
                            <a:srgbClr val="333333"/>
                          </a:solidFill>
                          <a:latin typeface="Fira Code"/>
                        </a:rPr>
                        <a:t>Table 6a #5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 + AP_Scheduler tick counter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 (motor min)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1">
                          <a:solidFill>
                            <a:srgbClr val="333333"/>
                          </a:solidFill>
                          <a:latin typeface="Fira Code"/>
                        </a:rPr>
                        <a:t>Table 6a #6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AP_HAL::millis() wall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GCS_MAVLINK (telemetry text)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1">
                          <a:solidFill>
                            <a:srgbClr val="333333"/>
                          </a:solidFill>
                          <a:latin typeface="Fira Code"/>
                        </a:rPr>
                        <a:t>Table 6a #7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AP_HAL::millis() wall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GCS_MAVLINK (telemetry text)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1">
                          <a:solidFill>
                            <a:srgbClr val="333333"/>
                          </a:solidFill>
                          <a:latin typeface="Fira Code"/>
                        </a:rPr>
                        <a:t>Table 6a #10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AP_HAL::millis() wall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AC_Fence / fence 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1">
                          <a:solidFill>
                            <a:srgbClr val="333333"/>
                          </a:solidFill>
                          <a:latin typeface="Fira Code"/>
                        </a:rPr>
                        <a:t>Table 6a #11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AP_HAL::millis() wall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AC_Fence / fence 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[CIRCULAR]</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Flag [CIRCULAR] – where it is applied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Circular dependency (e.g. AHRS ↔ EKF).</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7" name="TextBox 6"/>
          <p:cNvSpPr txBox="1"/>
          <p:nvPr/>
        </p:nvSpPr>
        <p:spPr>
          <a:xfrm>
            <a:off x="566928" y="1906943"/>
            <a:ext cx="11003280" cy="187604"/>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Occurrences catalog-wide, as the audit states them: 8  ·  [CIRCULAR] marks the state that depends on itself</a:t>
            </a:r>
          </a:p>
        </p:txBody>
      </p:sp>
      <p:graphicFrame>
        <p:nvGraphicFramePr>
          <p:cNvPr id="8" name="Table 7"/>
          <p:cNvGraphicFramePr>
            <a:graphicFrameLocks noGrp="1"/>
          </p:cNvGraphicFramePr>
          <p:nvPr/>
        </p:nvGraphicFramePr>
        <p:xfrm>
          <a:off x="566928" y="2185987"/>
          <a:ext cx="11058144" cy="2152106"/>
        </p:xfrm>
        <a:graphic>
          <a:graphicData uri="http://schemas.openxmlformats.org/drawingml/2006/table">
            <a:tbl>
              <a:tblPr>
                <a:tableStyleId>{5C22544A-7EE6-4342-B048-85BDC9FD1C3A}</a:tableStyleId>
              </a:tblPr>
              <a:tblGrid>
                <a:gridCol w="1553623"/>
                <a:gridCol w="3564195"/>
                <a:gridCol w="913896"/>
                <a:gridCol w="2376130"/>
                <a:gridCol w="2650300"/>
              </a:tblGrid>
              <a:tr h="240219">
                <a:tc>
                  <a:txBody>
                    <a:bodyPr wrap="square">
                      <a:noAutofit/>
                    </a:bodyPr>
                    <a:lstStyle/>
                    <a:p>
                      <a:pPr algn="l">
                        <a:lnSpc>
                          <a:spcPct val="106000"/>
                        </a:lnSpc>
                        <a:spcAft>
                          <a:spcPts val="0"/>
                        </a:spcAft>
                      </a:pPr>
                      <a:r>
                        <a:rPr sz="1100" b="1">
                          <a:solidFill>
                            <a:srgbClr val="333333"/>
                          </a:solidFill>
                          <a:latin typeface="Inter"/>
                        </a:rPr>
                        <a:t>Catalogued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 / 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 flags on the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40219">
                <a:tc>
                  <a:txBody>
                    <a:bodyPr wrap="square">
                      <a:noAutofit/>
                    </a:bodyPr>
                    <a:lstStyle/>
                    <a:p>
                      <a:pPr algn="l">
                        <a:lnSpc>
                          <a:spcPct val="106000"/>
                        </a:lnSpc>
                        <a:spcAft>
                          <a:spcPts val="0"/>
                        </a:spcAft>
                      </a:pPr>
                      <a:r>
                        <a:rPr sz="1100" b="1">
                          <a:solidFill>
                            <a:srgbClr val="333333"/>
                          </a:solidFill>
                          <a:latin typeface="Fira Code"/>
                        </a:rPr>
                        <a:t>Table 2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libraries/AP_AHRS/AP_AHRS.cpp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3600-3604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AP_AHRS::get_location()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[CIRCULAR]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2 #6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libraries/AP_NavEKF3/AP_NavEKF3_core.cpp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627-636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[CIRCULAR]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Table 2 #7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libraries/AP_NavEKF3/AP_NavEKF3_PosVelFusion.cpp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502-511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NavEKF3_core::SelectVelPosFusion()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[CIRCULAR]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2 #9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libraries/AP_NavEKF3/AP_NavEKF3_Measurements.cpp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559-567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NavEKF3_core::readGpsData()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[CIRCULAR]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Table 2 #20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libraries/AP_NavEKF2/AP_NavEKF2_core.cpp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528-536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NavEKF2_core::UpdateFilter()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[CIRCULAR]  [DUPLICATED]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9" name="TextBox 8"/>
          <p:cNvSpPr txBox="1"/>
          <p:nvPr/>
        </p:nvSpPr>
        <p:spPr>
          <a:xfrm>
            <a:off x="566928" y="4466109"/>
            <a:ext cx="11003280" cy="411022"/>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Every main-table row the flag is applied to, in catalog order. Each row’s full Notes text is carried at the row itself, in the category part for its table. The catalog-wide figure above counts the token across the whole annotation corpus stated with the taxonomy, not the rows listed here.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[CIRCULAR]</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Flag [CIRCULAR] in the Layer 2 chains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Layer 2 chain rows the flag is applied to, with the audit’s own Chain Depth.</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720657"/>
        </p:xfrm>
        <a:graphic>
          <a:graphicData uri="http://schemas.openxmlformats.org/drawingml/2006/table">
            <a:tbl>
              <a:tblPr>
                <a:tableStyleId>{5C22544A-7EE6-4342-B048-85BDC9FD1C3A}</a:tableStyleId>
              </a:tblPr>
              <a:tblGrid>
                <a:gridCol w="1553623"/>
                <a:gridCol w="2833078"/>
                <a:gridCol w="2833078"/>
                <a:gridCol w="1096675"/>
                <a:gridCol w="2741690"/>
              </a:tblGrid>
              <a:tr h="240219">
                <a:tc>
                  <a:txBody>
                    <a:bodyPr wrap="square">
                      <a:noAutofit/>
                    </a:bodyPr>
                    <a:lstStyle/>
                    <a:p>
                      <a:pPr algn="l">
                        <a:lnSpc>
                          <a:spcPct val="106000"/>
                        </a:lnSpc>
                        <a:spcAft>
                          <a:spcPts val="0"/>
                        </a:spcAft>
                      </a:pPr>
                      <a:r>
                        <a:rPr sz="1100" b="1">
                          <a:solidFill>
                            <a:srgbClr val="333333"/>
                          </a:solidFill>
                          <a:latin typeface="Inter"/>
                        </a:rPr>
                        <a:t>Catalogued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 flags on the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40219">
                <a:tc>
                  <a:txBody>
                    <a:bodyPr wrap="square">
                      <a:noAutofit/>
                    </a:bodyPr>
                    <a:lstStyle/>
                    <a:p>
                      <a:pPr algn="l">
                        <a:lnSpc>
                          <a:spcPct val="106000"/>
                        </a:lnSpc>
                        <a:spcAft>
                          <a:spcPts val="0"/>
                        </a:spcAft>
                      </a:pPr>
                      <a:r>
                        <a:rPr sz="1100" b="1">
                          <a:solidFill>
                            <a:srgbClr val="333333"/>
                          </a:solidFill>
                          <a:latin typeface="Fira Code"/>
                        </a:rPr>
                        <a:t>Table 2a #6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[CIRCULAR]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1">
                          <a:solidFill>
                            <a:srgbClr val="333333"/>
                          </a:solidFill>
                          <a:latin typeface="Fira Code"/>
                        </a:rPr>
                        <a:t>Table 2a #20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NavEKF2_core::UpdateFilter()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[CIRCULAR]  [DUPLICATED]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[MULTI-CATEGORY]</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Flag [MULTI-CATEGORY] – where it is applied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Touch-point spans more than one PNT pillar.</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7" name="TextBox 6"/>
          <p:cNvSpPr txBox="1"/>
          <p:nvPr/>
        </p:nvSpPr>
        <p:spPr>
          <a:xfrm>
            <a:off x="566928" y="1906943"/>
            <a:ext cx="11003280" cy="187604"/>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Occurrences catalog-wide, as the audit states them: 7  ·  Touch-point spans more than one PNT pillar.</a:t>
            </a:r>
          </a:p>
        </p:txBody>
      </p:sp>
      <p:graphicFrame>
        <p:nvGraphicFramePr>
          <p:cNvPr id="8" name="Table 7"/>
          <p:cNvGraphicFramePr>
            <a:graphicFrameLocks noGrp="1"/>
          </p:cNvGraphicFramePr>
          <p:nvPr/>
        </p:nvGraphicFramePr>
        <p:xfrm>
          <a:off x="566928" y="2185987"/>
          <a:ext cx="11058144" cy="1316272"/>
        </p:xfrm>
        <a:graphic>
          <a:graphicData uri="http://schemas.openxmlformats.org/drawingml/2006/table">
            <a:tbl>
              <a:tblPr>
                <a:tableStyleId>{5C22544A-7EE6-4342-B048-85BDC9FD1C3A}</a:tableStyleId>
              </a:tblPr>
              <a:tblGrid>
                <a:gridCol w="1553623"/>
                <a:gridCol w="3564195"/>
                <a:gridCol w="913896"/>
                <a:gridCol w="2376130"/>
                <a:gridCol w="2650300"/>
              </a:tblGrid>
              <a:tr h="240219">
                <a:tc>
                  <a:txBody>
                    <a:bodyPr wrap="square">
                      <a:noAutofit/>
                    </a:bodyPr>
                    <a:lstStyle/>
                    <a:p>
                      <a:pPr algn="l">
                        <a:lnSpc>
                          <a:spcPct val="106000"/>
                        </a:lnSpc>
                        <a:spcAft>
                          <a:spcPts val="0"/>
                        </a:spcAft>
                      </a:pPr>
                      <a:r>
                        <a:rPr sz="1100" b="1">
                          <a:solidFill>
                            <a:srgbClr val="333333"/>
                          </a:solidFill>
                          <a:latin typeface="Inter"/>
                        </a:rPr>
                        <a:t>Catalogued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 / 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 flags on the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40219">
                <a:tc>
                  <a:txBody>
                    <a:bodyPr wrap="square">
                      <a:noAutofit/>
                    </a:bodyPr>
                    <a:lstStyle/>
                    <a:p>
                      <a:pPr algn="l">
                        <a:lnSpc>
                          <a:spcPct val="106000"/>
                        </a:lnSpc>
                        <a:spcAft>
                          <a:spcPts val="0"/>
                        </a:spcAft>
                      </a:pPr>
                      <a:r>
                        <a:rPr sz="1100" b="1">
                          <a:solidFill>
                            <a:srgbClr val="333333"/>
                          </a:solidFill>
                          <a:latin typeface="Fira Code"/>
                        </a:rPr>
                        <a:t>Table 1 #17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360-365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[MULTI-CATEGORY]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1 #18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192-201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structAP_GPS::GPS_State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[SHARED-STRUCT]  [MULTI-CATEGORY]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Table 3 #8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409-418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AP_GPS::time_week_ms()/time_week()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[MULTI-CATEGORY]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9" name="TextBox 8"/>
          <p:cNvSpPr txBox="1"/>
          <p:nvPr/>
        </p:nvSpPr>
        <p:spPr>
          <a:xfrm>
            <a:off x="566928" y="3630275"/>
            <a:ext cx="11003280" cy="411022"/>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Every main-table row the flag is applied to, in catalog order. Each row’s full Notes text is carried at the row itself, in the category part for its table. The catalog-wide figure above counts the token across the whole annotation corpus stated with the taxonomy, not the rows listed here.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[MULTI-CATEGORY]</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Flag [MULTI-CATEGORY] in the Layer 2 chains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Layer 2 chain rows the flag is applied to, with the audit’s own Chain Depth.</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1138574"/>
        </p:xfrm>
        <a:graphic>
          <a:graphicData uri="http://schemas.openxmlformats.org/drawingml/2006/table">
            <a:tbl>
              <a:tblPr>
                <a:tableStyleId>{5C22544A-7EE6-4342-B048-85BDC9FD1C3A}</a:tableStyleId>
              </a:tblPr>
              <a:tblGrid>
                <a:gridCol w="1553623"/>
                <a:gridCol w="2833078"/>
                <a:gridCol w="2833078"/>
                <a:gridCol w="1096675"/>
                <a:gridCol w="2741690"/>
              </a:tblGrid>
              <a:tr h="240219">
                <a:tc>
                  <a:txBody>
                    <a:bodyPr wrap="square">
                      <a:noAutofit/>
                    </a:bodyPr>
                    <a:lstStyle/>
                    <a:p>
                      <a:pPr algn="l">
                        <a:lnSpc>
                          <a:spcPct val="106000"/>
                        </a:lnSpc>
                        <a:spcAft>
                          <a:spcPts val="0"/>
                        </a:spcAft>
                      </a:pPr>
                      <a:r>
                        <a:rPr sz="1100" b="1">
                          <a:solidFill>
                            <a:srgbClr val="333333"/>
                          </a:solidFill>
                          <a:latin typeface="Inter"/>
                        </a:rPr>
                        <a:t>Catalogued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 flags on the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40219">
                <a:tc>
                  <a:txBody>
                    <a:bodyPr wrap="square">
                      <a:noAutofit/>
                    </a:bodyPr>
                    <a:lstStyle/>
                    <a:p>
                      <a:pPr algn="l">
                        <a:lnSpc>
                          <a:spcPct val="106000"/>
                        </a:lnSpc>
                        <a:spcAft>
                          <a:spcPts val="0"/>
                        </a:spcAft>
                      </a:pPr>
                      <a:r>
                        <a:rPr sz="1100" b="1">
                          <a:solidFill>
                            <a:srgbClr val="333333"/>
                          </a:solidFill>
                          <a:latin typeface="Fira Code"/>
                        </a:rPr>
                        <a:t>Table 1a #15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GPS velocity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[MULTI-CATEGORY]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Table 1a #18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GPS_State (struct)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 and AP_RTC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5B39F3"/>
                          </a:solidFill>
                          <a:latin typeface="Fira Code"/>
                        </a:rPr>
                        <a:t>[SHARED-STRUCT]  [MULTI-CATEGORY]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1">
                          <a:solidFill>
                            <a:srgbClr val="333333"/>
                          </a:solidFill>
                          <a:latin typeface="Fira Code"/>
                        </a:rPr>
                        <a:t>Table 3a #8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GPS receiver (time-of-week)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GPS-time / UTC conversion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[MULTI-CATEGORY]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[ABSENT]</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Flag [ABSENT] – where it is applied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A checked, explicitly-documented absence (non-inference discipline).</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7" name="TextBox 6"/>
          <p:cNvSpPr txBox="1"/>
          <p:nvPr/>
        </p:nvSpPr>
        <p:spPr>
          <a:xfrm>
            <a:off x="566928" y="1906943"/>
            <a:ext cx="11003280" cy="381457"/>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Occurrences catalog-wide, as the audit states them: 30  ·  where an expected PNT element was looked for and genuinely is not present</a:t>
            </a:r>
          </a:p>
        </p:txBody>
      </p:sp>
      <p:graphicFrame>
        <p:nvGraphicFramePr>
          <p:cNvPr id="8" name="Table 7"/>
          <p:cNvGraphicFramePr>
            <a:graphicFrameLocks noGrp="1"/>
          </p:cNvGraphicFramePr>
          <p:nvPr/>
        </p:nvGraphicFramePr>
        <p:xfrm>
          <a:off x="566928" y="2379840"/>
          <a:ext cx="11058144" cy="658136"/>
        </p:xfrm>
        <a:graphic>
          <a:graphicData uri="http://schemas.openxmlformats.org/drawingml/2006/table">
            <a:tbl>
              <a:tblPr>
                <a:tableStyleId>{5C22544A-7EE6-4342-B048-85BDC9FD1C3A}</a:tableStyleId>
              </a:tblPr>
              <a:tblGrid>
                <a:gridCol w="1553623"/>
                <a:gridCol w="3564195"/>
                <a:gridCol w="913896"/>
                <a:gridCol w="2376130"/>
                <a:gridCol w="2650300"/>
              </a:tblGrid>
              <a:tr h="240219">
                <a:tc>
                  <a:txBody>
                    <a:bodyPr wrap="square">
                      <a:noAutofit/>
                    </a:bodyPr>
                    <a:lstStyle/>
                    <a:p>
                      <a:pPr algn="l">
                        <a:lnSpc>
                          <a:spcPct val="106000"/>
                        </a:lnSpc>
                        <a:spcAft>
                          <a:spcPts val="0"/>
                        </a:spcAft>
                      </a:pPr>
                      <a:r>
                        <a:rPr sz="1100" b="1">
                          <a:solidFill>
                            <a:srgbClr val="333333"/>
                          </a:solidFill>
                          <a:latin typeface="Inter"/>
                        </a:rPr>
                        <a:t>Catalogued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 / 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 flags on the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l">
                        <a:lnSpc>
                          <a:spcPct val="106000"/>
                        </a:lnSpc>
                        <a:spcAft>
                          <a:spcPts val="0"/>
                        </a:spcAft>
                      </a:pPr>
                      <a:r>
                        <a:rPr sz="1100" b="1">
                          <a:solidFill>
                            <a:srgbClr val="333333"/>
                          </a:solidFill>
                          <a:latin typeface="Fira Code"/>
                        </a:rPr>
                        <a:t>Table 1 #23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libraries/AC_AttitudeControl/AC_PosControl.cpp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363-372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AC_PosControl::input_pos_NEU_cm()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[ABSENT]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9" name="TextBox 8"/>
          <p:cNvSpPr txBox="1"/>
          <p:nvPr/>
        </p:nvSpPr>
        <p:spPr>
          <a:xfrm>
            <a:off x="566928" y="3165992"/>
            <a:ext cx="11003280" cy="411022"/>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Every main-table row the flag is applied to, in catalog order. Each row’s full Notes text is carried at the row itself, in the category part for its table. The catalog-wide figure above counts the token across the whole annotation corpus stated with the taxonomy, not the rows listed here.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[ABSENT]</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Flag [ABSENT] in the Layer 2 chains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Layer 2 chain rows the flag is applied to, with the audit’s own Chain Depth.</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480438"/>
        </p:xfrm>
        <a:graphic>
          <a:graphicData uri="http://schemas.openxmlformats.org/drawingml/2006/table">
            <a:tbl>
              <a:tblPr>
                <a:tableStyleId>{5C22544A-7EE6-4342-B048-85BDC9FD1C3A}</a:tableStyleId>
              </a:tblPr>
              <a:tblGrid>
                <a:gridCol w="1553623"/>
                <a:gridCol w="2833078"/>
                <a:gridCol w="2833078"/>
                <a:gridCol w="1096675"/>
                <a:gridCol w="2741690"/>
              </a:tblGrid>
              <a:tr h="240219">
                <a:tc>
                  <a:txBody>
                    <a:bodyPr wrap="square">
                      <a:noAutofit/>
                    </a:bodyPr>
                    <a:lstStyle/>
                    <a:p>
                      <a:pPr algn="l">
                        <a:lnSpc>
                          <a:spcPct val="106000"/>
                        </a:lnSpc>
                        <a:spcAft>
                          <a:spcPts val="0"/>
                        </a:spcAft>
                      </a:pPr>
                      <a:r>
                        <a:rPr sz="1100" b="1">
                          <a:solidFill>
                            <a:srgbClr val="333333"/>
                          </a:solidFill>
                          <a:latin typeface="Inter"/>
                        </a:rPr>
                        <a:t>Catalogued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 flags on the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40219">
                <a:tc>
                  <a:txBody>
                    <a:bodyPr wrap="square">
                      <a:noAutofit/>
                    </a:bodyPr>
                    <a:lstStyle/>
                    <a:p>
                      <a:pPr algn="l">
                        <a:lnSpc>
                          <a:spcPct val="106000"/>
                        </a:lnSpc>
                        <a:spcAft>
                          <a:spcPts val="0"/>
                        </a:spcAft>
                      </a:pPr>
                      <a:r>
                        <a:rPr sz="1100" b="1">
                          <a:solidFill>
                            <a:srgbClr val="333333"/>
                          </a:solidFill>
                          <a:latin typeface="Fira Code"/>
                        </a:rPr>
                        <a:t>Table 4a #8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(no PNT — GPS-independent)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5B39F3"/>
                          </a:solidFill>
                          <a:latin typeface="Fira Code"/>
                        </a:rPr>
                        <a:t>[ABSENT]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[ABSENT]</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Flag [ABSENT] – the checked absences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36192"/>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THE AUDIT’S OWN FOOTNOTE TO THE FLAGS TABLE</a:t>
            </a:r>
          </a:p>
        </p:txBody>
      </p:sp>
      <p:sp>
        <p:nvSpPr>
          <p:cNvPr id="7" name="Rectangle 6"/>
          <p:cNvSpPr/>
          <p:nvPr/>
        </p:nvSpPr>
        <p:spPr>
          <a:xfrm>
            <a:off x="566928" y="1761896"/>
            <a:ext cx="32004" cy="214960"/>
          </a:xfrm>
          <a:prstGeom prst="rect">
            <a:avLst/>
          </a:prstGeom>
          <a:solidFill>
            <a:srgbClr val="5B39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1761896"/>
            <a:ext cx="10856976" cy="214960"/>
          </a:xfrm>
          <a:prstGeom prst="rect">
            <a:avLst/>
          </a:prstGeom>
          <a:noFill/>
        </p:spPr>
        <p:txBody>
          <a:bodyPr wrap="square" lIns="0" rIns="0" tIns="0" bIns="0" anchor="t">
            <a:noAutofit/>
          </a:bodyPr>
          <a:lstStyle/>
          <a:p>
            <a:pPr algn="l">
              <a:lnSpc>
                <a:spcPct val="120000"/>
              </a:lnSpc>
              <a:spcAft>
                <a:spcPts val="0"/>
              </a:spcAft>
            </a:pPr>
            <a:r>
              <a:rPr sz="1400" b="0">
                <a:solidFill>
                  <a:srgbClr val="333333"/>
                </a:solidFill>
                <a:latin typeface="Inter"/>
              </a:rPr>
              <a:t>“Explicitly-documented absences catalogued in the Coverage register: 27.”</a:t>
            </a:r>
          </a:p>
        </p:txBody>
      </p:sp>
      <p:sp>
        <p:nvSpPr>
          <p:cNvPr id="9" name="TextBox 8"/>
          <p:cNvSpPr txBox="1"/>
          <p:nvPr/>
        </p:nvSpPr>
        <p:spPr>
          <a:xfrm>
            <a:off x="566928" y="2178024"/>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WHERE THEY ARE CATALOGUED</a:t>
            </a:r>
          </a:p>
        </p:txBody>
      </p:sp>
      <p:sp>
        <p:nvSpPr>
          <p:cNvPr id="10" name="TextBox 9"/>
          <p:cNvSpPr txBox="1"/>
          <p:nvPr/>
        </p:nvSpPr>
        <p:spPr>
          <a:xfrm>
            <a:off x="566928" y="2403728"/>
            <a:ext cx="11003280" cy="479526"/>
          </a:xfrm>
          <a:prstGeom prst="rect">
            <a:avLst/>
          </a:prstGeom>
          <a:noFill/>
        </p:spPr>
        <p:txBody>
          <a:bodyPr wrap="square" lIns="0" rIns="0" tIns="0" bIns="0" anchor="t">
            <a:noAutofit/>
          </a:bodyPr>
          <a:lstStyle/>
          <a:p>
            <a:pPr algn="l">
              <a:lnSpc>
                <a:spcPct val="124000"/>
              </a:lnSpc>
              <a:spcAft>
                <a:spcPts val="0"/>
              </a:spcAft>
            </a:pPr>
            <a:r>
              <a:rPr sz="1400" b="0">
                <a:solidFill>
                  <a:srgbClr val="333333"/>
                </a:solidFill>
                <a:latin typeface="Inter"/>
              </a:rPr>
              <a:t>The checked absences are catalogued entry by entry in the Coverage &amp; Explicit-Absence Register, which is carried in full in Part 12 of this deck: each one names the surface that was swept, what was looked for, and the evidence that it is not present.</a:t>
            </a:r>
          </a:p>
        </p:txBody>
      </p:sp>
      <p:sp>
        <p:nvSpPr>
          <p:cNvPr id="11" name="TextBox 10"/>
          <p:cNvSpPr txBox="1"/>
          <p:nvPr/>
        </p:nvSpPr>
        <p:spPr>
          <a:xfrm>
            <a:off x="566928" y="3084422"/>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THE DISCIPLINE THE FLAG ENFORCES</a:t>
            </a:r>
          </a:p>
        </p:txBody>
      </p:sp>
      <p:sp>
        <p:nvSpPr>
          <p:cNvPr id="12" name="Rectangle 11"/>
          <p:cNvSpPr/>
          <p:nvPr/>
        </p:nvSpPr>
        <p:spPr>
          <a:xfrm>
            <a:off x="566928" y="3310126"/>
            <a:ext cx="32004" cy="214960"/>
          </a:xfrm>
          <a:prstGeom prst="rect">
            <a:avLst/>
          </a:prstGeom>
          <a:solidFill>
            <a:srgbClr val="5B39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13232" y="3310126"/>
            <a:ext cx="10856976" cy="214960"/>
          </a:xfrm>
          <a:prstGeom prst="rect">
            <a:avLst/>
          </a:prstGeom>
          <a:noFill/>
        </p:spPr>
        <p:txBody>
          <a:bodyPr wrap="square" lIns="0" rIns="0" tIns="0" bIns="0" anchor="t">
            <a:noAutofit/>
          </a:bodyPr>
          <a:lstStyle/>
          <a:p>
            <a:pPr algn="l">
              <a:lnSpc>
                <a:spcPct val="120000"/>
              </a:lnSpc>
              <a:spcAft>
                <a:spcPts val="0"/>
              </a:spcAft>
            </a:pPr>
            <a:r>
              <a:rPr sz="1400" b="0">
                <a:solidFill>
                  <a:srgbClr val="333333"/>
                </a:solidFill>
                <a:latin typeface="Inter"/>
              </a:rPr>
              <a:t>“A checked, explicitly-documented absence (non-inference discipline).”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SEVERITY AXIS  ·  THE TWO NAMED TOP RISKS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The two touch-points the audit itself singles out</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36192"/>
            <a:ext cx="11003280" cy="199605"/>
          </a:xfrm>
          <a:prstGeom prst="rect">
            <a:avLst/>
          </a:prstGeom>
          <a:noFill/>
        </p:spPr>
        <p:txBody>
          <a:bodyPr wrap="square" lIns="0" rIns="0" tIns="0" bIns="0" anchor="t">
            <a:noAutofit/>
          </a:bodyPr>
          <a:lstStyle/>
          <a:p>
            <a:pPr algn="l">
              <a:lnSpc>
                <a:spcPct val="124000"/>
              </a:lnSpc>
              <a:spcAft>
                <a:spcPts val="0"/>
              </a:spcAft>
            </a:pPr>
            <a:r>
              <a:rPr sz="1300" b="0">
                <a:solidFill>
                  <a:srgbClr val="333333"/>
                </a:solidFill>
                <a:latin typeface="Inter"/>
              </a:rPr>
              <a:t>The audit applies superlative risk language to exactly two catalogued touch-points. Both are quoted here in full, as printed.</a:t>
            </a:r>
          </a:p>
        </p:txBody>
      </p:sp>
      <p:sp>
        <p:nvSpPr>
          <p:cNvPr id="7" name="TextBox 6"/>
          <p:cNvSpPr txBox="1"/>
          <p:nvPr/>
        </p:nvSpPr>
        <p:spPr>
          <a:xfrm>
            <a:off x="566928" y="1936965"/>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Table 1 #18  ·  libraries/AP_GPS/AP_GPS.h  192-201  structAP_GPS::GPS_State</a:t>
            </a:r>
          </a:p>
        </p:txBody>
      </p:sp>
      <p:sp>
        <p:nvSpPr>
          <p:cNvPr id="8" name="Rectangle 7"/>
          <p:cNvSpPr/>
          <p:nvPr/>
        </p:nvSpPr>
        <p:spPr>
          <a:xfrm>
            <a:off x="566928" y="2162669"/>
            <a:ext cx="32004" cy="437349"/>
          </a:xfrm>
          <a:prstGeom prst="rect">
            <a:avLst/>
          </a:prstGeom>
          <a:solidFill>
            <a:srgbClr val="5B39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13232" y="2162669"/>
            <a:ext cx="10856976" cy="437349"/>
          </a:xfrm>
          <a:prstGeom prst="rect">
            <a:avLst/>
          </a:prstGeom>
          <a:noFill/>
        </p:spPr>
        <p:txBody>
          <a:bodyPr wrap="square" lIns="0" rIns="0" tIns="0" bIns="0" anchor="t">
            <a:noAutofit/>
          </a:bodyPr>
          <a:lstStyle/>
          <a:p>
            <a:pPr algn="l">
              <a:lnSpc>
                <a:spcPct val="120000"/>
              </a:lnSpc>
              <a:spcAft>
                <a:spcPts val="0"/>
              </a:spcAft>
            </a:pPr>
            <a:r>
              <a:rPr sz="1300" b="0">
                <a:solidFill>
                  <a:srgbClr val="333333"/>
                </a:solidFill>
                <a:latin typeface="Inter"/>
              </a:rPr>
              <a:t>“[SHARED-STRUCT] [MULTI-CATEGORY] One struct mixes Positioning (location), Navigation (velocity, ground_speed, ground_course) and Timing (time_week_ms, time_week) — see Table 3 #8. Primary extraction-risk struct for a PNT split.”</a:t>
            </a:r>
          </a:p>
        </p:txBody>
      </p:sp>
      <p:sp>
        <p:nvSpPr>
          <p:cNvPr id="10" name="TextBox 9"/>
          <p:cNvSpPr txBox="1"/>
          <p:nvPr/>
        </p:nvSpPr>
        <p:spPr>
          <a:xfrm>
            <a:off x="566928" y="2801186"/>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Table 1 #20  ·  libraries/AP_Common/Location.h  11-20  classLocation</a:t>
            </a:r>
          </a:p>
        </p:txBody>
      </p:sp>
      <p:sp>
        <p:nvSpPr>
          <p:cNvPr id="11" name="Rectangle 10"/>
          <p:cNvSpPr/>
          <p:nvPr/>
        </p:nvSpPr>
        <p:spPr>
          <a:xfrm>
            <a:off x="566928" y="3026890"/>
            <a:ext cx="32004" cy="437349"/>
          </a:xfrm>
          <a:prstGeom prst="rect">
            <a:avLst/>
          </a:prstGeom>
          <a:solidFill>
            <a:srgbClr val="5B39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13232" y="3026890"/>
            <a:ext cx="10856976" cy="437349"/>
          </a:xfrm>
          <a:prstGeom prst="rect">
            <a:avLst/>
          </a:prstGeom>
          <a:noFill/>
        </p:spPr>
        <p:txBody>
          <a:bodyPr wrap="square" lIns="0" rIns="0" tIns="0" bIns="0" anchor="t">
            <a:noAutofit/>
          </a:bodyPr>
          <a:lstStyle/>
          <a:p>
            <a:pPr algn="l">
              <a:lnSpc>
                <a:spcPct val="120000"/>
              </a:lnSpc>
              <a:spcAft>
                <a:spcPts val="0"/>
              </a:spcAft>
            </a:pPr>
            <a:r>
              <a:rPr sz="1300" b="0">
                <a:solidFill>
                  <a:srgbClr val="333333"/>
                </a:solidFill>
                <a:latin typeface="Inter"/>
              </a:rPr>
              <a:t>“[SHARED-STRUCT] Geodetic PNT fields lat/lng (1E7 deg) and alt (cm) packed with NON-PNT bitfields relative_alt, loiter_ccw, terrain_alt, origin_alt, loiter_xtrack. Ubiquitous value type; top extraction risk.”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0"/>
            <a:ext cx="11058144" cy="1188720"/>
          </a:xfrm>
          <a:prstGeom prst="rect">
            <a:avLst/>
          </a:prstGeom>
          <a:noFill/>
        </p:spPr>
        <p:txBody>
          <a:bodyPr wrap="square" lIns="0" rIns="0" tIns="0" bIns="0" anchor="t">
            <a:noAutofit/>
          </a:bodyPr>
          <a:lstStyle/>
          <a:p>
            <a:pPr algn="ctr">
              <a:lnSpc>
                <a:spcPct val="110000"/>
              </a:lnSpc>
              <a:spcAft>
                <a:spcPts val="0"/>
              </a:spcAft>
            </a:pPr>
            <a:r>
              <a:rPr sz="3800" b="1">
                <a:solidFill>
                  <a:srgbClr val="FFFFFF"/>
                </a:solidFill>
                <a:latin typeface="Space Grotesk"/>
              </a:rPr>
              <a:t>Table 1 — Core Positioning</a:t>
            </a:r>
          </a:p>
        </p:txBody>
      </p:sp>
      <p:sp>
        <p:nvSpPr>
          <p:cNvPr id="3" name="TextBox 2"/>
          <p:cNvSpPr txBox="1"/>
          <p:nvPr/>
        </p:nvSpPr>
        <p:spPr>
          <a:xfrm>
            <a:off x="566928" y="3840480"/>
            <a:ext cx="11058144" cy="365760"/>
          </a:xfrm>
          <a:prstGeom prst="rect">
            <a:avLst/>
          </a:prstGeom>
          <a:noFill/>
        </p:spPr>
        <p:txBody>
          <a:bodyPr wrap="square" lIns="0" rIns="0" tIns="0" bIns="0" anchor="t">
            <a:noAutofit/>
          </a:bodyPr>
          <a:lstStyle/>
          <a:p>
            <a:pPr algn="ctr">
              <a:lnSpc>
                <a:spcPct val="100000"/>
              </a:lnSpc>
              <a:spcAft>
                <a:spcPts val="0"/>
              </a:spcAft>
            </a:pPr>
            <a:r>
              <a:rPr sz="1300" b="0">
                <a:solidFill>
                  <a:srgbClr val="94FAD5"/>
                </a:solidFill>
                <a:latin typeface="Fira Code"/>
              </a:rPr>
              <a:t>Where PNT is born: receiver backends, the shared state struct and the location value type.</a:t>
            </a:r>
          </a:p>
        </p:txBody>
      </p:sp>
      <p:sp>
        <p:nvSpPr>
          <p:cNvPr id="4" name="Rectangle 3"/>
          <p:cNvSpPr/>
          <p:nvPr/>
        </p:nvSpPr>
        <p:spPr>
          <a:xfrm>
            <a:off x="4724400" y="4389120"/>
            <a:ext cx="2743200" cy="91440"/>
          </a:xfrm>
          <a:prstGeom prst="rect">
            <a:avLst/>
          </a:prstGeom>
          <a:gradFill rotWithShape="1">
            <a:gsLst>
              <a:gs pos="0">
                <a:srgbClr val="5B39F3"/>
              </a:gs>
              <a:gs pos="100000">
                <a:srgbClr val="94FAD5"/>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CORE POSITIONING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Core Positioning</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All 26 catalogued rows, with every Notes annotation, flag token and cited path:line range exactly as printed.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3929091"/>
        </p:xfrm>
        <a:graphic>
          <a:graphicData uri="http://schemas.openxmlformats.org/drawingml/2006/table">
            <a:tbl>
              <a:tblPr>
                <a:tableStyleId>{5C22544A-7EE6-4342-B048-85BDC9FD1C3A}</a:tableStyleId>
              </a:tblPr>
              <a:tblGrid>
                <a:gridCol w="411253"/>
                <a:gridCol w="2330435"/>
                <a:gridCol w="685422"/>
                <a:gridCol w="1964876"/>
                <a:gridCol w="868201"/>
                <a:gridCol w="479795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Role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libraries/AP_GPS/AP_GPS_UBLOX.cpp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1510-1518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AP_GPS_UBLOX::_parse_gps()(NAV-POSLLH)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[SHARED-STRUCT] Receiver backend writes GPS_State.location/status from the u-blox UBX binary NAV-POSLLH. One of 14 receiver backends, each catalogued individually. target 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libraries/AP_GPS/AP_GPS_NMEA.cpp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333-340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AP_GPS_NMEA::_term_complete()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[SHARED-STRUCT] Receiver backend writes GPS_State.location/status from the NMEA-0183 ASCII (GGA/RMC) sentence. One of 14 receiver backends, each catalogued individually. target 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libraries/AP_GPS/AP_GPS_SBF.cpp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484-491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AP_GPS_SBF::process_message()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[SHARED-STRUCT] Receiver backend writes GPS_State.location/status from the Septentrio SBF binary PVTGeodetic. One of 14 receiver backends, each catalogued individually. target 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libraries/AP_GPS/AP_GPS_NOVA.cpp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209-216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AP_GPS_NOVA::process_message()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[SHARED-STRUCT] Receiver backend writes GPS_State.location/status from the NovAtel OEM BESTPOS. One of 14 receiver backends, each catalogued individually. target 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libraries/AP_GPS/AP_GPS_SBP.cpp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276-283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AP_GPS_SBP::_attempt_state_update()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[SHARED-STRUCT] Receiver backend writes GPS_State.location/status from the Swift Navigation SBP v1 POS_LLH. One of 14 receiver backends, each catalogued individually. target 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CORE POSITIONING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Core Positioning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347009"/>
        </p:xfrm>
        <a:graphic>
          <a:graphicData uri="http://schemas.openxmlformats.org/drawingml/2006/table">
            <a:tbl>
              <a:tblPr>
                <a:tableStyleId>{5C22544A-7EE6-4342-B048-85BDC9FD1C3A}</a:tableStyleId>
              </a:tblPr>
              <a:tblGrid>
                <a:gridCol w="411253"/>
                <a:gridCol w="2330435"/>
                <a:gridCol w="685422"/>
                <a:gridCol w="1964876"/>
                <a:gridCol w="868201"/>
                <a:gridCol w="479795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Role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libraries/AP_GPS/AP_GPS_SBP2.cpp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328-335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AP_GPS_SBP2::_attempt_state_update()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[SHARED-STRUCT] Receiver backend writes GPS_State.location/status from the Swift Navigation SBP v2 POS_LLH. One of 14 receiver backends, each catalogued individually. target 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libraries/AP_GPS/AP_GPS_SIRF.cpp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178-185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AP_GPS_SIRF::_parse_gps()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[SHARED-STRUCT] Receiver backend writes GPS_State.location/status from the SiRF binary geodetic navigation. One of 14 receiver backends, each catalogued individually. target 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libraries/AP_GPS/AP_GPS_ERB.cpp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150-157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AP_GPS_ERB::_parse_gps()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[SHARED-STRUCT] Receiver backend writes GPS_State.location/status from the Emlid Reach ERB protocol. One of 14 receiver backends, each catalogued individually. target 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libraries/AP_GPS/AP_GPS_MAV.cpp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67-75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AP_GPS_MAV::handle_msg()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[SHARED-STRUCT] Receiver backend writes GPS_State.location/status from the MAVLink GPS_INPUT message. One of 14 receiver backends, each catalogued individually. target 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libraries/AP_GPS/AP_GPS_MSP.cpp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44-51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AP_GPS_MSP::handle_msp()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[SHARED-STRUCT] Receiver backend writes GPS_State.location/status from the MSP protocol GPS data. One of 14 receiver backends, each catalogued individually. target 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libraries/AP_GPS/AP_GPS_GSOF.cpp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231-238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AP_GPS_GSOF::pack_state_data()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[SHARED-STRUCT] Receiver backend writes GPS_State.location/status from the Trimble GSOF binary. One of 14 receiver backends, each catalogued individually. target 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6–11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CORE POSITIONING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Core Positioning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169310"/>
        </p:xfrm>
        <a:graphic>
          <a:graphicData uri="http://schemas.openxmlformats.org/drawingml/2006/table">
            <a:tbl>
              <a:tblPr>
                <a:tableStyleId>{5C22544A-7EE6-4342-B048-85BDC9FD1C3A}</a:tableStyleId>
              </a:tblPr>
              <a:tblGrid>
                <a:gridCol w="411253"/>
                <a:gridCol w="2330435"/>
                <a:gridCol w="685422"/>
                <a:gridCol w="1964876"/>
                <a:gridCol w="868201"/>
                <a:gridCol w="479795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Role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r">
                        <a:lnSpc>
                          <a:spcPct val="106000"/>
                        </a:lnSpc>
                        <a:spcAft>
                          <a:spcPts val="0"/>
                        </a:spcAft>
                      </a:pPr>
                      <a:r>
                        <a:rPr sz="1100" b="1">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libraries/AP_GPS/AP_GPS_DroneCAN.cpp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388-396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AP_GPS_DroneCAN::handle_fix2_msg()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[SHARED-STRUCT] Receiver backend writes GPS_State.location/status from the DroneCAN/UAVCAN Fix2 (external boundary modules/DroneCAN). One of 14 receiver backends, each catalogued individually. target 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libraries/AP_GPS/AP_GPS_ExternalAHRS.cpp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49-56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AP_GPS_ExternalAHRS::handle_external()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[SHARED-STRUCT] Receiver backend writes GPS_State.location/status from the External AHRS/INS GPS feed. One of 14 receiver backends, each catalogued individually. target 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libraries/AP_GPS/AP_GPS_SITL.cpp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86-93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AP_GPS_SITL::read()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[SHARED-STRUCT] Receiver backend writes GPS_State.location/status from the Software-in-the-loop simulated GPS. One of 14 receiver backends, each catalogued individually. target 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15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libraries/AP_GPS/GPS_Backend.cpp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101-109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AP_GPS_Backend::fill_3d_velocity()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Backend base class; derives state.velocity (NED) from ground_speed + ground_course for receivers that do not report 3D velocity. Shared by all backends.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324-329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Frontend accessor exposing backend-measured GPS_State.location; dispatches to primary_instance. Reached vehicle-side via the AP::gps() singleton.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17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360-365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[MULTI-CATEGORY] 3D NED velocity accessor of measured GPS_State.velocity. velocity also drives Navigation fusion (Table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12–17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CORE POSITIONING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Core Positioning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587228"/>
        </p:xfrm>
        <a:graphic>
          <a:graphicData uri="http://schemas.openxmlformats.org/drawingml/2006/table">
            <a:tbl>
              <a:tblPr>
                <a:tableStyleId>{5C22544A-7EE6-4342-B048-85BDC9FD1C3A}</a:tableStyleId>
              </a:tblPr>
              <a:tblGrid>
                <a:gridCol w="411253"/>
                <a:gridCol w="2330435"/>
                <a:gridCol w="685422"/>
                <a:gridCol w="1964876"/>
                <a:gridCol w="868201"/>
                <a:gridCol w="479795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Role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r">
                        <a:lnSpc>
                          <a:spcPct val="106000"/>
                        </a:lnSpc>
                        <a:spcAft>
                          <a:spcPts val="0"/>
                        </a:spcAft>
                      </a:pPr>
                      <a:r>
                        <a:rPr sz="1100" b="1">
                          <a:solidFill>
                            <a:srgbClr val="333333"/>
                          </a:solidFill>
                          <a:latin typeface="Fira Code"/>
                        </a:rPr>
                        <a:t>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192-201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structAP_GPS::GPS_State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[SHARED-STRUCT] [MULTI-CATEGORY] One struct mixes Positioning (location), Navigation (velocity, ground_speed, ground_course) and Timing (time_week_ms, time_week) — see Table 3 #8. Primary extraction-risk struct for a PNT split.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libraries/AP_GPS/AP_GPS_Blended.cpp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17-25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AP_GPS_Blended::_calc_weights()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Multi-receiver blending of location/velocity (GPS_MAX_RECEIVERS==2). Reads gps.state[].status (Data dependency) to weight receivers.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libraries/AP_Common/Location.h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11-20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classLocation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[SHARED-STRUCT] Geodetic PNT fields lat/lng (1E7 deg) and alt (cm) packed with NON-PNT bitfields relative_alt, loiter_ccw, terrain_alt, origin_alt, loiter_xtrack. Ubiquitous value type; top extraction risk.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libraries/AP_Common/Location.cpp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259-268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Location::get_vector_from_origin_NEU_cm()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Geodetic (lat/lng/alt) → NEU centimetre vector relative to the EKF origin (geodetic↔NED duality).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22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libraries/AP_InertialNav/AP_InertialNav.cpp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14-23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AP_InertialNav::update()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Pulls EKF origin-relative NE/D position into _relpos_cm (cm). get_position_neu_cm() exposes it to vehicle code.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libraries/AC_AttitudeControl/AC_PosControl.cpp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363-372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AC_PosControl::input_pos_NEU_cm()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Sink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[ABSENT] 3D position/velocity controller consuming the position target. there is no standalone AC_PosControl library — it physically resides under libraries/AC_AttitudeControl/ (snapshot-fidelity note).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libraries/APM_Control/AR_PosControl.cpp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114-123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AR_PosControl::update()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Sink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Rover position controller; reads AP::ahrs().get_relative_position_NED_origin() and get_velocity_NED() (Shared global/singleton). Separate controller from Copter's AC_PosControl.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18–24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CORE POSITIONING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Core Positioning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1076053"/>
        </p:xfrm>
        <a:graphic>
          <a:graphicData uri="http://schemas.openxmlformats.org/drawingml/2006/table">
            <a:tbl>
              <a:tblPr>
                <a:tableStyleId>{5C22544A-7EE6-4342-B048-85BDC9FD1C3A}</a:tableStyleId>
              </a:tblPr>
              <a:tblGrid>
                <a:gridCol w="411253"/>
                <a:gridCol w="2330435"/>
                <a:gridCol w="685422"/>
                <a:gridCol w="1964876"/>
                <a:gridCol w="868201"/>
                <a:gridCol w="479795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Role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r">
                        <a:lnSpc>
                          <a:spcPct val="106000"/>
                        </a:lnSpc>
                        <a:spcAft>
                          <a:spcPts val="0"/>
                        </a:spcAft>
                      </a:pPr>
                      <a:r>
                        <a:rPr sz="1100" b="1">
                          <a:solidFill>
                            <a:srgbClr val="333333"/>
                          </a:solidFill>
                          <a:latin typeface="Fira Code"/>
                        </a:rPr>
                        <a:t>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libraries/AP_Beacon/AP_Beacon.cpp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175-184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AP_Beacon::get_vehicle_position_ned()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Non-GPS (GPS-denied) positioning source; returns vehicle NED position with a staleness timeout.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libraries/AP_VisualOdom/AP_VisualOdom.cpp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201-210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AP_VisualOdom::handle_pose_estimate()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Non-GPS visual-odometry position/attitude source feeding EKF external-nav 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25–26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Code Snippet (5-10 lines)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903541"/>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Every row’s Code Snippet (5-10 lines), reproduced verbatim from the cited path:line range: one paragraph per source line, in the audit’s own order, with its indentation and its blank lines intact and nothing abbreviated.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549461"/>
          <a:ext cx="11058144" cy="208279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libraries/AP_GPS/AP_GPS_UBLOX.cpp</a:t>
                      </a:r>
                      <a:r>
                        <a:rPr sz="1100" b="0">
                          <a:solidFill>
                            <a:srgbClr val="999999"/>
                          </a:solidFill>
                          <a:latin typeface="Fira Code"/>
                        </a:rPr>
                        <a:t>  ·  </a:t>
                      </a:r>
                      <a:r>
                        <a:rPr sz="1100" b="0">
                          <a:solidFill>
                            <a:srgbClr val="999999"/>
                          </a:solidFill>
                          <a:latin typeface="Fira Code"/>
                        </a:rPr>
                        <a:t>1510-1518</a:t>
                      </a:r>
                      <a:r>
                        <a:rPr sz="1100" b="0">
                          <a:solidFill>
                            <a:srgbClr val="999999"/>
                          </a:solidFill>
                          <a:latin typeface="Fira Code"/>
                        </a:rPr>
                        <a:t>  ·  </a:t>
                      </a:r>
                      <a:r>
                        <a:rPr sz="1100" b="0">
                          <a:solidFill>
                            <a:srgbClr val="999999"/>
                          </a:solidFill>
                          <a:latin typeface="Fira Code"/>
                        </a:rPr>
                        <a:t>AP_GPS_UBLOX::_parse_gps()(NAV-POSLLH)</a:t>
                      </a:r>
                    </a:p>
                    <a:p>
                      <a:pPr algn="l">
                        <a:lnSpc>
                          <a:spcPct val="106000"/>
                        </a:lnSpc>
                        <a:spcAft>
                          <a:spcPts val="0"/>
                        </a:spcAft>
                      </a:pPr>
                      <a:r>
                        <a:rPr sz="1100" b="0">
                          <a:solidFill>
                            <a:srgbClr val="333333"/>
                          </a:solidFill>
                          <a:latin typeface="Fira Code"/>
                        </a:rPr>
                        <a:t>        _last_pos_time        = _buffer.posllh.itow;</a:t>
                      </a:r>
                    </a:p>
                    <a:p>
                      <a:pPr algn="l">
                        <a:lnSpc>
                          <a:spcPct val="106000"/>
                        </a:lnSpc>
                        <a:spcAft>
                          <a:spcPts val="0"/>
                        </a:spcAft>
                      </a:pPr>
                      <a:r>
                        <a:rPr sz="1100" b="0">
                          <a:solidFill>
                            <a:srgbClr val="333333"/>
                          </a:solidFill>
                          <a:latin typeface="Fira Code"/>
                        </a:rPr>
                        <a:t>        state.location.lng    = _buffer.posllh.longitude;</a:t>
                      </a:r>
                    </a:p>
                    <a:p>
                      <a:pPr algn="l">
                        <a:lnSpc>
                          <a:spcPct val="106000"/>
                        </a:lnSpc>
                        <a:spcAft>
                          <a:spcPts val="0"/>
                        </a:spcAft>
                      </a:pPr>
                      <a:r>
                        <a:rPr sz="1100" b="0">
                          <a:solidFill>
                            <a:srgbClr val="333333"/>
                          </a:solidFill>
                          <a:latin typeface="Fira Code"/>
                        </a:rPr>
                        <a:t>        state.location.lat    = _buffer.posllh.latitude;</a:t>
                      </a:r>
                    </a:p>
                    <a:p>
                      <a:pPr algn="l">
                        <a:lnSpc>
                          <a:spcPct val="106000"/>
                        </a:lnSpc>
                        <a:spcAft>
                          <a:spcPts val="0"/>
                        </a:spcAft>
                      </a:pPr>
                      <a:r>
                        <a:rPr sz="1100" b="0">
                          <a:solidFill>
                            <a:srgbClr val="333333"/>
                          </a:solidFill>
                          <a:latin typeface="Fira Code"/>
                        </a:rPr>
                        <a:t>        state.have_undulation = true;</a:t>
                      </a:r>
                    </a:p>
                    <a:p>
                      <a:pPr algn="l">
                        <a:lnSpc>
                          <a:spcPct val="106000"/>
                        </a:lnSpc>
                        <a:spcAft>
                          <a:spcPts val="0"/>
                        </a:spcAft>
                      </a:pPr>
                      <a:r>
                        <a:rPr sz="1100" b="0">
                          <a:solidFill>
                            <a:srgbClr val="333333"/>
                          </a:solidFill>
                          <a:latin typeface="Fira Code"/>
                        </a:rPr>
                        <a:t>        state.undulation = (_buffer.posllh.altitude_msl - _buffer.posllh.altitude_ellipsoid) * 0.001;</a:t>
                      </a:r>
                    </a:p>
                    <a:p>
                      <a:pPr algn="l">
                        <a:lnSpc>
                          <a:spcPct val="106000"/>
                        </a:lnSpc>
                        <a:spcAft>
                          <a:spcPts val="0"/>
                        </a:spcAft>
                      </a:pPr>
                      <a:r>
                        <a:rPr sz="1100" b="0">
                          <a:solidFill>
                            <a:srgbClr val="333333"/>
                          </a:solidFill>
                          <a:latin typeface="Fira Code"/>
                        </a:rPr>
                        <a:t>        set_alt_amsl_cm(state, _buffer.posllh.altitude_msl / 10);</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state.status          = next_fix;</a:t>
                      </a:r>
                    </a:p>
                    <a:p>
                      <a:pPr algn="l">
                        <a:lnSpc>
                          <a:spcPct val="106000"/>
                        </a:lnSpc>
                        <a:spcAft>
                          <a:spcPts val="0"/>
                        </a:spcAft>
                      </a:pPr>
                      <a:r>
                        <a:rPr sz="1100" b="0">
                          <a:solidFill>
                            <a:srgbClr val="333333"/>
                          </a:solidFill>
                          <a:latin typeface="Fira Code"/>
                        </a:rPr>
                        <a:t>        _new_position = true;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11307211" y="384048"/>
            <a:ext cx="317861"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6997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libraries/AP_GPS/AP_GPS_NMEA.cpp</a:t>
                      </a:r>
                      <a:r>
                        <a:rPr sz="1100" b="0">
                          <a:solidFill>
                            <a:srgbClr val="999999"/>
                          </a:solidFill>
                          <a:latin typeface="Fira Code"/>
                        </a:rPr>
                        <a:t>  ·  </a:t>
                      </a:r>
                      <a:r>
                        <a:rPr sz="1100" b="0">
                          <a:solidFill>
                            <a:srgbClr val="999999"/>
                          </a:solidFill>
                          <a:latin typeface="Fira Code"/>
                        </a:rPr>
                        <a:t>333-340</a:t>
                      </a:r>
                      <a:r>
                        <a:rPr sz="1100" b="0">
                          <a:solidFill>
                            <a:srgbClr val="999999"/>
                          </a:solidFill>
                          <a:latin typeface="Fira Code"/>
                        </a:rPr>
                        <a:t>  ·  </a:t>
                      </a:r>
                      <a:r>
                        <a:rPr sz="1100" b="0">
                          <a:solidFill>
                            <a:srgbClr val="999999"/>
                          </a:solidFill>
                          <a:latin typeface="Fira Code"/>
                        </a:rPr>
                        <a:t>AP_GPS_NMEA::_term_complete()</a:t>
                      </a:r>
                    </a:p>
                    <a:p>
                      <a:pPr algn="l">
                        <a:lnSpc>
                          <a:spcPct val="106000"/>
                        </a:lnSpc>
                        <a:spcAft>
                          <a:spcPts val="0"/>
                        </a:spcAft>
                      </a:pPr>
                      <a:r>
                        <a:rPr sz="1100" b="0">
                          <a:solidFill>
                            <a:srgbClr val="333333"/>
                          </a:solidFill>
                          <a:latin typeface="Fira Code"/>
                        </a:rPr>
                        <a:t>                    state.location.lat  = _new_latitude;</a:t>
                      </a:r>
                    </a:p>
                    <a:p>
                      <a:pPr algn="l">
                        <a:lnSpc>
                          <a:spcPct val="106000"/>
                        </a:lnSpc>
                        <a:spcAft>
                          <a:spcPts val="0"/>
                        </a:spcAft>
                      </a:pPr>
                      <a:r>
                        <a:rPr sz="1100" b="0">
                          <a:solidFill>
                            <a:srgbClr val="333333"/>
                          </a:solidFill>
                          <a:latin typeface="Fira Code"/>
                        </a:rPr>
                        <a:t>                    state.location.lng  = _new_longitude;</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state.num_sats      = _new_satellite_count;</a:t>
                      </a:r>
                    </a:p>
                    <a:p>
                      <a:pPr algn="l">
                        <a:lnSpc>
                          <a:spcPct val="106000"/>
                        </a:lnSpc>
                        <a:spcAft>
                          <a:spcPts val="0"/>
                        </a:spcAft>
                      </a:pPr>
                      <a:r>
                        <a:rPr sz="1100" b="0">
                          <a:solidFill>
                            <a:srgbClr val="333333"/>
                          </a:solidFill>
                          <a:latin typeface="Fira Code"/>
                        </a:rPr>
                        <a:t>                state.hdop          = _new_hdop;</a:t>
                      </a:r>
                    </a:p>
                    <a:p>
                      <a:pPr algn="l">
                        <a:lnSpc>
                          <a:spcPct val="106000"/>
                        </a:lnSpc>
                        <a:spcAft>
                          <a:spcPts val="0"/>
                        </a:spcAft>
                      </a:pPr>
                      <a:r>
                        <a:rPr sz="1100" b="0">
                          <a:solidFill>
                            <a:srgbClr val="333333"/>
                          </a:solidFill>
                          <a:latin typeface="Fira Code"/>
                        </a:rPr>
                        <a:t>                switch(_new_quality_indicator) {</a:t>
                      </a:r>
                    </a:p>
                    <a:p>
                      <a:pPr algn="l">
                        <a:lnSpc>
                          <a:spcPct val="106000"/>
                        </a:lnSpc>
                        <a:spcAft>
                          <a:spcPts val="0"/>
                        </a:spcAft>
                      </a:pPr>
                      <a:r>
                        <a:rPr sz="1100" b="0">
                          <a:solidFill>
                            <a:srgbClr val="333333"/>
                          </a:solidFill>
                          <a:latin typeface="Fira Code"/>
                        </a:rPr>
                        <a:t>                case 0: // Fix not available or invalid</a:t>
                      </a:r>
                    </a:p>
                    <a:p>
                      <a:pPr algn="l">
                        <a:lnSpc>
                          <a:spcPct val="106000"/>
                        </a:lnSpc>
                        <a:spcAft>
                          <a:spcPts val="0"/>
                        </a:spcAft>
                      </a:pPr>
                      <a:r>
                        <a:rPr sz="1100" b="0">
                          <a:solidFill>
                            <a:srgbClr val="333333"/>
                          </a:solidFill>
                          <a:latin typeface="Fira Code"/>
                        </a:rPr>
                        <a:t>                    state.status = AP_GPS::NO_FIX;</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libraries/AP_GPS/AP_GPS_SBF.cpp</a:t>
                      </a:r>
                      <a:r>
                        <a:rPr sz="1100" b="0">
                          <a:solidFill>
                            <a:srgbClr val="999999"/>
                          </a:solidFill>
                          <a:latin typeface="Fira Code"/>
                        </a:rPr>
                        <a:t>  ·  </a:t>
                      </a:r>
                      <a:r>
                        <a:rPr sz="1100" b="0">
                          <a:solidFill>
                            <a:srgbClr val="999999"/>
                          </a:solidFill>
                          <a:latin typeface="Fira Code"/>
                        </a:rPr>
                        <a:t>484-491</a:t>
                      </a:r>
                      <a:r>
                        <a:rPr sz="1100" b="0">
                          <a:solidFill>
                            <a:srgbClr val="999999"/>
                          </a:solidFill>
                          <a:latin typeface="Fira Code"/>
                        </a:rPr>
                        <a:t>  ·  </a:t>
                      </a:r>
                      <a:r>
                        <a:rPr sz="1100" b="0">
                          <a:solidFill>
                            <a:srgbClr val="999999"/>
                          </a:solidFill>
                          <a:latin typeface="Fira Code"/>
                        </a:rPr>
                        <a:t>AP_GPS_SBF::process_message()</a:t>
                      </a:r>
                    </a:p>
                    <a:p>
                      <a:pPr algn="l">
                        <a:lnSpc>
                          <a:spcPct val="106000"/>
                        </a:lnSpc>
                        <a:spcAft>
                          <a:spcPts val="0"/>
                        </a:spcAft>
                      </a:pPr>
                      <a:r>
                        <a:rPr sz="1100" b="0">
                          <a:solidFill>
                            <a:srgbClr val="333333"/>
                          </a:solidFill>
                          <a:latin typeface="Fira Code"/>
                        </a:rPr>
                        <a:t>            state.location.lat = (int32_t)(temp.Latitude * RAD_TO_DEG_DOUBLE * (double)1e7);</a:t>
                      </a:r>
                    </a:p>
                    <a:p>
                      <a:pPr algn="l">
                        <a:lnSpc>
                          <a:spcPct val="106000"/>
                        </a:lnSpc>
                        <a:spcAft>
                          <a:spcPts val="0"/>
                        </a:spcAft>
                      </a:pPr>
                      <a:r>
                        <a:rPr sz="1100" b="0">
                          <a:solidFill>
                            <a:srgbClr val="333333"/>
                          </a:solidFill>
                          <a:latin typeface="Fira Code"/>
                        </a:rPr>
                        <a:t>            state.location.lng = (int32_t)(temp.Longitude * RAD_TO_DEG_DOUBLE * (double)1e7);</a:t>
                      </a:r>
                    </a:p>
                    <a:p>
                      <a:pPr algn="l">
                        <a:lnSpc>
                          <a:spcPct val="106000"/>
                        </a:lnSpc>
                        <a:spcAft>
                          <a:spcPts val="0"/>
                        </a:spcAft>
                      </a:pPr>
                      <a:r>
                        <a:rPr sz="1100" b="0">
                          <a:solidFill>
                            <a:srgbClr val="333333"/>
                          </a:solidFill>
                          <a:latin typeface="Fira Code"/>
                        </a:rPr>
                        <a:t>            state.have_undulation = !is_DNU(temp.Undulation);</a:t>
                      </a:r>
                    </a:p>
                    <a:p>
                      <a:pPr algn="l">
                        <a:lnSpc>
                          <a:spcPct val="106000"/>
                        </a:lnSpc>
                        <a:spcAft>
                          <a:spcPts val="0"/>
                        </a:spcAft>
                      </a:pPr>
                      <a:r>
                        <a:rPr sz="1100" b="0">
                          <a:solidFill>
                            <a:srgbClr val="333333"/>
                          </a:solidFill>
                          <a:latin typeface="Fira Code"/>
                        </a:rPr>
                        <a:t>            double height = temp.Height;  // in metres</a:t>
                      </a:r>
                    </a:p>
                    <a:p>
                      <a:pPr algn="l">
                        <a:lnSpc>
                          <a:spcPct val="106000"/>
                        </a:lnSpc>
                        <a:spcAft>
                          <a:spcPts val="0"/>
                        </a:spcAft>
                      </a:pPr>
                      <a:r>
                        <a:rPr sz="1100" b="0">
                          <a:solidFill>
                            <a:srgbClr val="333333"/>
                          </a:solidFill>
                          <a:latin typeface="Fira Code"/>
                        </a:rPr>
                        <a:t>            if (state.have_undulation) {</a:t>
                      </a:r>
                    </a:p>
                    <a:p>
                      <a:pPr algn="l">
                        <a:lnSpc>
                          <a:spcPct val="106000"/>
                        </a:lnSpc>
                        <a:spcAft>
                          <a:spcPts val="0"/>
                        </a:spcAft>
                      </a:pPr>
                      <a:r>
                        <a:rPr sz="1100" b="0">
                          <a:solidFill>
                            <a:srgbClr val="333333"/>
                          </a:solidFill>
                          <a:latin typeface="Fira Code"/>
                        </a:rPr>
                        <a:t>                height -= temp.Undulation;</a:t>
                      </a:r>
                    </a:p>
                    <a:p>
                      <a:pPr algn="l">
                        <a:lnSpc>
                          <a:spcPct val="106000"/>
                        </a:lnSpc>
                        <a:spcAft>
                          <a:spcPts val="0"/>
                        </a:spcAft>
                      </a:pPr>
                      <a:r>
                        <a:rPr sz="1100" b="0">
                          <a:solidFill>
                            <a:srgbClr val="333333"/>
                          </a:solidFill>
                          <a:latin typeface="Fira Code"/>
                        </a:rPr>
                        <a:t>                state.undulation = -temp.Undulation;</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6997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libraries/AP_GPS/AP_GPS_NOVA.cpp</a:t>
                      </a:r>
                      <a:r>
                        <a:rPr sz="1100" b="0">
                          <a:solidFill>
                            <a:srgbClr val="999999"/>
                          </a:solidFill>
                          <a:latin typeface="Fira Code"/>
                        </a:rPr>
                        <a:t>  ·  </a:t>
                      </a:r>
                      <a:r>
                        <a:rPr sz="1100" b="0">
                          <a:solidFill>
                            <a:srgbClr val="999999"/>
                          </a:solidFill>
                          <a:latin typeface="Fira Code"/>
                        </a:rPr>
                        <a:t>209-216</a:t>
                      </a:r>
                      <a:r>
                        <a:rPr sz="1100" b="0">
                          <a:solidFill>
                            <a:srgbClr val="999999"/>
                          </a:solidFill>
                          <a:latin typeface="Fira Code"/>
                        </a:rPr>
                        <a:t>  ·  </a:t>
                      </a:r>
                      <a:r>
                        <a:rPr sz="1100" b="0">
                          <a:solidFill>
                            <a:srgbClr val="999999"/>
                          </a:solidFill>
                          <a:latin typeface="Fira Code"/>
                        </a:rPr>
                        <a:t>AP_GPS_NOVA::process_message()</a:t>
                      </a:r>
                    </a:p>
                    <a:p>
                      <a:pPr algn="l">
                        <a:lnSpc>
                          <a:spcPct val="106000"/>
                        </a:lnSpc>
                        <a:spcAft>
                          <a:spcPts val="0"/>
                        </a:spcAft>
                      </a:pPr>
                      <a:r>
                        <a:rPr sz="1100" b="0">
                          <a:solidFill>
                            <a:srgbClr val="333333"/>
                          </a:solidFill>
                          <a:latin typeface="Fira Code"/>
                        </a:rPr>
                        <a:t>        state.last_gps_time_ms = AP_HAL::millis();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state.location.lat = (int32_t) (bestposu.lat * (double)1e7);</a:t>
                      </a:r>
                    </a:p>
                    <a:p>
                      <a:pPr algn="l">
                        <a:lnSpc>
                          <a:spcPct val="106000"/>
                        </a:lnSpc>
                        <a:spcAft>
                          <a:spcPts val="0"/>
                        </a:spcAft>
                      </a:pPr>
                      <a:r>
                        <a:rPr sz="1100" b="0">
                          <a:solidFill>
                            <a:srgbClr val="333333"/>
                          </a:solidFill>
                          <a:latin typeface="Fira Code"/>
                        </a:rPr>
                        <a:t>        state.location.lng = (int32_t) (bestposu.lng * (double)1e7);</a:t>
                      </a:r>
                    </a:p>
                    <a:p>
                      <a:pPr algn="l">
                        <a:lnSpc>
                          <a:spcPct val="106000"/>
                        </a:lnSpc>
                        <a:spcAft>
                          <a:spcPts val="0"/>
                        </a:spcAft>
                      </a:pPr>
                      <a:r>
                        <a:rPr sz="1100" b="0">
                          <a:solidFill>
                            <a:srgbClr val="333333"/>
                          </a:solidFill>
                          <a:latin typeface="Fira Code"/>
                        </a:rPr>
                        <a:t>        state.have_undulation = true;</a:t>
                      </a:r>
                    </a:p>
                    <a:p>
                      <a:pPr algn="l">
                        <a:lnSpc>
                          <a:spcPct val="106000"/>
                        </a:lnSpc>
                        <a:spcAft>
                          <a:spcPts val="0"/>
                        </a:spcAft>
                      </a:pPr>
                      <a:r>
                        <a:rPr sz="1100" b="0">
                          <a:solidFill>
                            <a:srgbClr val="333333"/>
                          </a:solidFill>
                          <a:latin typeface="Fira Code"/>
                        </a:rPr>
                        <a:t>        state.undulation = -bestposu.undulation;</a:t>
                      </a:r>
                    </a:p>
                    <a:p>
                      <a:pPr algn="l">
                        <a:lnSpc>
                          <a:spcPct val="106000"/>
                        </a:lnSpc>
                        <a:spcAft>
                          <a:spcPts val="0"/>
                        </a:spcAft>
                      </a:pPr>
                      <a:r>
                        <a:rPr sz="1100" b="0">
                          <a:solidFill>
                            <a:srgbClr val="333333"/>
                          </a:solidFill>
                          <a:latin typeface="Fira Code"/>
                        </a:rPr>
                        <a:t>        set_alt_amsl_cm(state, bestposu.hgt * 100);</a:t>
                      </a:r>
                    </a:p>
                    <a:p>
                      <a:pPr algn="l">
                        <a:lnSpc>
                          <a:spcPct val="106000"/>
                        </a:lnSpc>
                        <a:spcAft>
                          <a:spcPts val="0"/>
                        </a:spcAft>
                        <a:defRPr sz="1100">
                          <a:latin typeface="Fira Code"/>
                        </a:defRPr>
                      </a:pPr>
                      <a:r>
                        <a:rPr sz="1100" b="0">
                          <a:solidFill>
                            <a:srgbClr val="333333"/>
                          </a:solidFill>
                          <a:latin typeface="Fira Code"/>
                        </a:rPr>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libraries/AP_GPS/AP_GPS_SBP.cpp</a:t>
                      </a:r>
                      <a:r>
                        <a:rPr sz="1100" b="0">
                          <a:solidFill>
                            <a:srgbClr val="999999"/>
                          </a:solidFill>
                          <a:latin typeface="Fira Code"/>
                        </a:rPr>
                        <a:t>  ·  </a:t>
                      </a:r>
                      <a:r>
                        <a:rPr sz="1100" b="0">
                          <a:solidFill>
                            <a:srgbClr val="999999"/>
                          </a:solidFill>
                          <a:latin typeface="Fira Code"/>
                        </a:rPr>
                        <a:t>276-283</a:t>
                      </a:r>
                      <a:r>
                        <a:rPr sz="1100" b="0">
                          <a:solidFill>
                            <a:srgbClr val="999999"/>
                          </a:solidFill>
                          <a:latin typeface="Fira Code"/>
                        </a:rPr>
                        <a:t>  ·  </a:t>
                      </a:r>
                      <a:r>
                        <a:rPr sz="1100" b="0">
                          <a:solidFill>
                            <a:srgbClr val="999999"/>
                          </a:solidFill>
                          <a:latin typeface="Fira Code"/>
                        </a:rPr>
                        <a:t>AP_GPS_SBP::_attempt_state_update()</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state.location.lat      = (int32_t) (pos_llh-&gt;lat * (double)1e7);</a:t>
                      </a:r>
                    </a:p>
                    <a:p>
                      <a:pPr algn="l">
                        <a:lnSpc>
                          <a:spcPct val="106000"/>
                        </a:lnSpc>
                        <a:spcAft>
                          <a:spcPts val="0"/>
                        </a:spcAft>
                      </a:pPr>
                      <a:r>
                        <a:rPr sz="1100" b="0">
                          <a:solidFill>
                            <a:srgbClr val="333333"/>
                          </a:solidFill>
                          <a:latin typeface="Fira Code"/>
                        </a:rPr>
                        <a:t>        state.location.lng      = (int32_t) (pos_llh-&gt;lon * (double)1e7);</a:t>
                      </a:r>
                    </a:p>
                    <a:p>
                      <a:pPr algn="l">
                        <a:lnSpc>
                          <a:spcPct val="106000"/>
                        </a:lnSpc>
                        <a:spcAft>
                          <a:spcPts val="0"/>
                        </a:spcAft>
                      </a:pPr>
                      <a:r>
                        <a:rPr sz="1100" b="0">
                          <a:solidFill>
                            <a:srgbClr val="333333"/>
                          </a:solidFill>
                          <a:latin typeface="Fira Code"/>
                        </a:rPr>
                        <a:t>        state.location.alt      = (int32_t) (pos_llh-&gt;height * 100);</a:t>
                      </a:r>
                    </a:p>
                    <a:p>
                      <a:pPr algn="l">
                        <a:lnSpc>
                          <a:spcPct val="106000"/>
                        </a:lnSpc>
                        <a:spcAft>
                          <a:spcPts val="0"/>
                        </a:spcAft>
                      </a:pPr>
                      <a:r>
                        <a:rPr sz="1100" b="0">
                          <a:solidFill>
                            <a:srgbClr val="333333"/>
                          </a:solidFill>
                          <a:latin typeface="Fira Code"/>
                        </a:rPr>
                        <a:t>        state.num_sats          = pos_llh-&gt;n_sats;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if (pos_llh-&gt;flags == 0) {</a:t>
                      </a:r>
                    </a:p>
                    <a:p>
                      <a:pPr algn="l">
                        <a:lnSpc>
                          <a:spcPct val="106000"/>
                        </a:lnSpc>
                        <a:spcAft>
                          <a:spcPts val="0"/>
                        </a:spcAft>
                      </a:pPr>
                      <a:r>
                        <a:rPr sz="1100" b="0">
                          <a:solidFill>
                            <a:srgbClr val="333333"/>
                          </a:solidFill>
                          <a:latin typeface="Fira Code"/>
                        </a:rPr>
                        <a:t>            state.status = AP_GPS::GPS_OK_FIX_3D;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4–5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6997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libraries/AP_GPS/AP_GPS_SBP2.cpp</a:t>
                      </a:r>
                      <a:r>
                        <a:rPr sz="1100" b="0">
                          <a:solidFill>
                            <a:srgbClr val="999999"/>
                          </a:solidFill>
                          <a:latin typeface="Fira Code"/>
                        </a:rPr>
                        <a:t>  ·  </a:t>
                      </a:r>
                      <a:r>
                        <a:rPr sz="1100" b="0">
                          <a:solidFill>
                            <a:srgbClr val="999999"/>
                          </a:solidFill>
                          <a:latin typeface="Fira Code"/>
                        </a:rPr>
                        <a:t>328-335</a:t>
                      </a:r>
                      <a:r>
                        <a:rPr sz="1100" b="0">
                          <a:solidFill>
                            <a:srgbClr val="999999"/>
                          </a:solidFill>
                          <a:latin typeface="Fira Code"/>
                        </a:rPr>
                        <a:t>  ·  </a:t>
                      </a:r>
                      <a:r>
                        <a:rPr sz="1100" b="0">
                          <a:solidFill>
                            <a:srgbClr val="999999"/>
                          </a:solidFill>
                          <a:latin typeface="Fira Code"/>
                        </a:rPr>
                        <a:t>AP_GPS_SBP2::_attempt_state_update()</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state.location.lat      = (int32_t) (last_pos_llh.lat * (double)1e7);</a:t>
                      </a:r>
                    </a:p>
                    <a:p>
                      <a:pPr algn="l">
                        <a:lnSpc>
                          <a:spcPct val="106000"/>
                        </a:lnSpc>
                        <a:spcAft>
                          <a:spcPts val="0"/>
                        </a:spcAft>
                      </a:pPr>
                      <a:r>
                        <a:rPr sz="1100" b="0">
                          <a:solidFill>
                            <a:srgbClr val="333333"/>
                          </a:solidFill>
                          <a:latin typeface="Fira Code"/>
                        </a:rPr>
                        <a:t>        state.location.lng      = (int32_t) (last_pos_llh.lon * (double)1e7);</a:t>
                      </a:r>
                    </a:p>
                    <a:p>
                      <a:pPr algn="l">
                        <a:lnSpc>
                          <a:spcPct val="106000"/>
                        </a:lnSpc>
                        <a:spcAft>
                          <a:spcPts val="0"/>
                        </a:spcAft>
                      </a:pPr>
                      <a:r>
                        <a:rPr sz="1100" b="0">
                          <a:solidFill>
                            <a:srgbClr val="333333"/>
                          </a:solidFill>
                          <a:latin typeface="Fira Code"/>
                        </a:rPr>
                        <a:t>        state.location.alt      = (int32_t) (last_pos_llh.height * 100);</a:t>
                      </a:r>
                    </a:p>
                    <a:p>
                      <a:pPr algn="l">
                        <a:lnSpc>
                          <a:spcPct val="106000"/>
                        </a:lnSpc>
                        <a:spcAft>
                          <a:spcPts val="0"/>
                        </a:spcAft>
                      </a:pPr>
                      <a:r>
                        <a:rPr sz="1100" b="0">
                          <a:solidFill>
                            <a:srgbClr val="333333"/>
                          </a:solidFill>
                          <a:latin typeface="Fira Code"/>
                        </a:rPr>
                        <a:t>        state.num_sats          = last_pos_llh.n_sats;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switch (last_pos_llh.flags.fix_mode) {</a:t>
                      </a:r>
                    </a:p>
                    <a:p>
                      <a:pPr algn="l">
                        <a:lnSpc>
                          <a:spcPct val="106000"/>
                        </a:lnSpc>
                        <a:spcAft>
                          <a:spcPts val="0"/>
                        </a:spcAft>
                      </a:pPr>
                      <a:r>
                        <a:rPr sz="1100" b="0">
                          <a:solidFill>
                            <a:srgbClr val="333333"/>
                          </a:solidFill>
                          <a:latin typeface="Fira Code"/>
                        </a:rPr>
                        <a:t>            case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libraries/AP_GPS/AP_GPS_SIRF.cpp</a:t>
                      </a:r>
                      <a:r>
                        <a:rPr sz="1100" b="0">
                          <a:solidFill>
                            <a:srgbClr val="999999"/>
                          </a:solidFill>
                          <a:latin typeface="Fira Code"/>
                        </a:rPr>
                        <a:t>  ·  </a:t>
                      </a:r>
                      <a:r>
                        <a:rPr sz="1100" b="0">
                          <a:solidFill>
                            <a:srgbClr val="999999"/>
                          </a:solidFill>
                          <a:latin typeface="Fira Code"/>
                        </a:rPr>
                        <a:t>178-185</a:t>
                      </a:r>
                      <a:r>
                        <a:rPr sz="1100" b="0">
                          <a:solidFill>
                            <a:srgbClr val="999999"/>
                          </a:solidFill>
                          <a:latin typeface="Fira Code"/>
                        </a:rPr>
                        <a:t>  ·  </a:t>
                      </a:r>
                      <a:r>
                        <a:rPr sz="1100" b="0">
                          <a:solidFill>
                            <a:srgbClr val="999999"/>
                          </a:solidFill>
                          <a:latin typeface="Fira Code"/>
                        </a:rPr>
                        <a:t>AP_GPS_SIRF::_parse_gps()</a:t>
                      </a:r>
                    </a:p>
                    <a:p>
                      <a:pPr algn="l">
                        <a:lnSpc>
                          <a:spcPct val="106000"/>
                        </a:lnSpc>
                        <a:spcAft>
                          <a:spcPts val="0"/>
                        </a:spcAft>
                      </a:pPr>
                      <a:r>
                        <a:rPr sz="1100" b="0">
                          <a:solidFill>
                            <a:srgbClr val="333333"/>
                          </a:solidFill>
                          <a:latin typeface="Fira Code"/>
                        </a:rPr>
                        <a:t>            state.status = AP_GPS::NO_FIX;</a:t>
                      </a:r>
                    </a:p>
                    <a:p>
                      <a:pPr algn="l">
                        <a:lnSpc>
                          <a:spcPct val="106000"/>
                        </a:lnSpc>
                        <a:spcAft>
                          <a:spcPts val="0"/>
                        </a:spcAft>
                      </a:pPr>
                      <a:r>
                        <a:rPr sz="1100" b="0">
                          <a:solidFill>
                            <a:srgbClr val="333333"/>
                          </a:solidFill>
                          <a:latin typeface="Fira Code"/>
                        </a:rPr>
                        <a:t>        }else if ((_buffer.nav.fix_type &amp; FIX_MASK) == FIX_3D) {</a:t>
                      </a:r>
                    </a:p>
                    <a:p>
                      <a:pPr algn="l">
                        <a:lnSpc>
                          <a:spcPct val="106000"/>
                        </a:lnSpc>
                        <a:spcAft>
                          <a:spcPts val="0"/>
                        </a:spcAft>
                      </a:pPr>
                      <a:r>
                        <a:rPr sz="1100" b="0">
                          <a:solidFill>
                            <a:srgbClr val="333333"/>
                          </a:solidFill>
                          <a:latin typeface="Fira Code"/>
                        </a:rPr>
                        <a:t>            state.status = AP_GPS::GPS_OK_FIX_3D;</a:t>
                      </a:r>
                    </a:p>
                    <a:p>
                      <a:pPr algn="l">
                        <a:lnSpc>
                          <a:spcPct val="106000"/>
                        </a:lnSpc>
                        <a:spcAft>
                          <a:spcPts val="0"/>
                        </a:spcAft>
                      </a:pPr>
                      <a:r>
                        <a:rPr sz="1100" b="0">
                          <a:solidFill>
                            <a:srgbClr val="333333"/>
                          </a:solidFill>
                          <a:latin typeface="Fira Code"/>
                        </a:rPr>
                        <a:t>        }else{</a:t>
                      </a:r>
                    </a:p>
                    <a:p>
                      <a:pPr algn="l">
                        <a:lnSpc>
                          <a:spcPct val="106000"/>
                        </a:lnSpc>
                        <a:spcAft>
                          <a:spcPts val="0"/>
                        </a:spcAft>
                      </a:pPr>
                      <a:r>
                        <a:rPr sz="1100" b="0">
                          <a:solidFill>
                            <a:srgbClr val="333333"/>
                          </a:solidFill>
                          <a:latin typeface="Fira Code"/>
                        </a:rPr>
                        <a:t>            state.status = AP_GPS::GPS_OK_FIX_2D;</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state.location.lat      = int32_t(be32toh(_buffer.nav.latitude));</a:t>
                      </a:r>
                    </a:p>
                    <a:p>
                      <a:pPr algn="l">
                        <a:lnSpc>
                          <a:spcPct val="106000"/>
                        </a:lnSpc>
                        <a:spcAft>
                          <a:spcPts val="0"/>
                        </a:spcAft>
                      </a:pPr>
                      <a:r>
                        <a:rPr sz="1100" b="0">
                          <a:solidFill>
                            <a:srgbClr val="333333"/>
                          </a:solidFill>
                          <a:latin typeface="Fira Code"/>
                        </a:rPr>
                        <a:t>        state.location.lng      = int32_t(be32toh(_buffer.nav.longitude));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6–7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4767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libraries/AP_GPS/AP_GPS_ERB.cpp</a:t>
                      </a:r>
                      <a:r>
                        <a:rPr sz="1100" b="0">
                          <a:solidFill>
                            <a:srgbClr val="999999"/>
                          </a:solidFill>
                          <a:latin typeface="Fira Code"/>
                        </a:rPr>
                        <a:t>  ·  </a:t>
                      </a:r>
                      <a:r>
                        <a:rPr sz="1100" b="0">
                          <a:solidFill>
                            <a:srgbClr val="999999"/>
                          </a:solidFill>
                          <a:latin typeface="Fira Code"/>
                        </a:rPr>
                        <a:t>150-157</a:t>
                      </a:r>
                      <a:r>
                        <a:rPr sz="1100" b="0">
                          <a:solidFill>
                            <a:srgbClr val="999999"/>
                          </a:solidFill>
                          <a:latin typeface="Fira Code"/>
                        </a:rPr>
                        <a:t>  ·  </a:t>
                      </a:r>
                      <a:r>
                        <a:rPr sz="1100" b="0">
                          <a:solidFill>
                            <a:srgbClr val="999999"/>
                          </a:solidFill>
                          <a:latin typeface="Fira Code"/>
                        </a:rPr>
                        <a:t>AP_GPS_ERB::_parse_gps()</a:t>
                      </a:r>
                    </a:p>
                    <a:p>
                      <a:pPr algn="l">
                        <a:lnSpc>
                          <a:spcPct val="106000"/>
                        </a:lnSpc>
                        <a:spcAft>
                          <a:spcPts val="0"/>
                        </a:spcAft>
                      </a:pPr>
                      <a:r>
                        <a:rPr sz="1100" b="0">
                          <a:solidFill>
                            <a:srgbClr val="333333"/>
                          </a:solidFill>
                          <a:latin typeface="Fira Code"/>
                        </a:rPr>
                        <a:t>        _last_pos_time        = _buffer.pos.time;</a:t>
                      </a:r>
                    </a:p>
                    <a:p>
                      <a:pPr algn="l">
                        <a:lnSpc>
                          <a:spcPct val="106000"/>
                        </a:lnSpc>
                        <a:spcAft>
                          <a:spcPts val="0"/>
                        </a:spcAft>
                      </a:pPr>
                      <a:r>
                        <a:rPr sz="1100" b="0">
                          <a:solidFill>
                            <a:srgbClr val="333333"/>
                          </a:solidFill>
                          <a:latin typeface="Fira Code"/>
                        </a:rPr>
                        <a:t>        state.location.lng    = (int32_t)(_buffer.pos.longitude * (double)1e7);</a:t>
                      </a:r>
                    </a:p>
                    <a:p>
                      <a:pPr algn="l">
                        <a:lnSpc>
                          <a:spcPct val="106000"/>
                        </a:lnSpc>
                        <a:spcAft>
                          <a:spcPts val="0"/>
                        </a:spcAft>
                      </a:pPr>
                      <a:r>
                        <a:rPr sz="1100" b="0">
                          <a:solidFill>
                            <a:srgbClr val="333333"/>
                          </a:solidFill>
                          <a:latin typeface="Fira Code"/>
                        </a:rPr>
                        <a:t>        state.location.lat    = (int32_t)(_buffer.pos.latitude * (double)1e7);</a:t>
                      </a:r>
                    </a:p>
                    <a:p>
                      <a:pPr algn="l">
                        <a:lnSpc>
                          <a:spcPct val="106000"/>
                        </a:lnSpc>
                        <a:spcAft>
                          <a:spcPts val="0"/>
                        </a:spcAft>
                      </a:pPr>
                      <a:r>
                        <a:rPr sz="1100" b="0">
                          <a:solidFill>
                            <a:srgbClr val="333333"/>
                          </a:solidFill>
                          <a:latin typeface="Fira Code"/>
                        </a:rPr>
                        <a:t>        state.have_undulation = true;</a:t>
                      </a:r>
                    </a:p>
                    <a:p>
                      <a:pPr algn="l">
                        <a:lnSpc>
                          <a:spcPct val="106000"/>
                        </a:lnSpc>
                        <a:spcAft>
                          <a:spcPts val="0"/>
                        </a:spcAft>
                      </a:pPr>
                      <a:r>
                        <a:rPr sz="1100" b="0">
                          <a:solidFill>
                            <a:srgbClr val="333333"/>
                          </a:solidFill>
                          <a:latin typeface="Fira Code"/>
                        </a:rPr>
                        <a:t>        state.undulation = _buffer.pos.altitude_msl - _buffer.pos.altitude_ellipsoid;</a:t>
                      </a:r>
                    </a:p>
                    <a:p>
                      <a:pPr algn="l">
                        <a:lnSpc>
                          <a:spcPct val="106000"/>
                        </a:lnSpc>
                        <a:spcAft>
                          <a:spcPts val="0"/>
                        </a:spcAft>
                      </a:pPr>
                      <a:r>
                        <a:rPr sz="1100" b="0">
                          <a:solidFill>
                            <a:srgbClr val="333333"/>
                          </a:solidFill>
                          <a:latin typeface="Fira Code"/>
                        </a:rPr>
                        <a:t>        set_alt_amsl_cm(state, _buffer.pos.altitude_msl * 100);</a:t>
                      </a:r>
                    </a:p>
                    <a:p>
                      <a:pPr algn="l">
                        <a:lnSpc>
                          <a:spcPct val="106000"/>
                        </a:lnSpc>
                        <a:spcAft>
                          <a:spcPts val="0"/>
                        </a:spcAft>
                      </a:pPr>
                      <a:r>
                        <a:rPr sz="1100" b="0">
                          <a:solidFill>
                            <a:srgbClr val="333333"/>
                          </a:solidFill>
                          <a:latin typeface="Fira Code"/>
                        </a:rPr>
                        <a:t>        state.status          = next_fix;</a:t>
                      </a:r>
                    </a:p>
                    <a:p>
                      <a:pPr algn="l">
                        <a:lnSpc>
                          <a:spcPct val="106000"/>
                        </a:lnSpc>
                        <a:spcAft>
                          <a:spcPts val="0"/>
                        </a:spcAft>
                      </a:pPr>
                      <a:r>
                        <a:rPr sz="1100" b="0">
                          <a:solidFill>
                            <a:srgbClr val="333333"/>
                          </a:solidFill>
                          <a:latin typeface="Fira Code"/>
                        </a:rPr>
                        <a:t>        _new_position = true;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libraries/AP_GPS/AP_GPS_MAV.cpp</a:t>
                      </a:r>
                      <a:r>
                        <a:rPr sz="1100" b="0">
                          <a:solidFill>
                            <a:srgbClr val="999999"/>
                          </a:solidFill>
                          <a:latin typeface="Fira Code"/>
                        </a:rPr>
                        <a:t>  ·  </a:t>
                      </a:r>
                      <a:r>
                        <a:rPr sz="1100" b="0">
                          <a:solidFill>
                            <a:srgbClr val="999999"/>
                          </a:solidFill>
                          <a:latin typeface="Fira Code"/>
                        </a:rPr>
                        <a:t>67-75</a:t>
                      </a:r>
                      <a:r>
                        <a:rPr sz="1100" b="0">
                          <a:solidFill>
                            <a:srgbClr val="999999"/>
                          </a:solidFill>
                          <a:latin typeface="Fira Code"/>
                        </a:rPr>
                        <a:t>  ·  </a:t>
                      </a:r>
                      <a:r>
                        <a:rPr sz="1100" b="0">
                          <a:solidFill>
                            <a:srgbClr val="999999"/>
                          </a:solidFill>
                          <a:latin typeface="Fira Code"/>
                        </a:rPr>
                        <a:t>AP_GPS_MAV::handle_msg()</a:t>
                      </a:r>
                    </a:p>
                    <a:p>
                      <a:pPr algn="l">
                        <a:lnSpc>
                          <a:spcPct val="106000"/>
                        </a:lnSpc>
                        <a:spcAft>
                          <a:spcPts val="0"/>
                        </a:spcAft>
                      </a:pPr>
                      <a:r>
                        <a:rPr sz="1100" b="0">
                          <a:solidFill>
                            <a:srgbClr val="333333"/>
                          </a:solidFill>
                          <a:latin typeface="Fira Code"/>
                        </a:rPr>
                        <a:t>            state.status = (AP_GPS::GPS_Status)packet.fix_type;</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Location loc = {};</a:t>
                      </a:r>
                    </a:p>
                    <a:p>
                      <a:pPr algn="l">
                        <a:lnSpc>
                          <a:spcPct val="106000"/>
                        </a:lnSpc>
                        <a:spcAft>
                          <a:spcPts val="0"/>
                        </a:spcAft>
                      </a:pPr>
                      <a:r>
                        <a:rPr sz="1100" b="0">
                          <a:solidFill>
                            <a:srgbClr val="333333"/>
                          </a:solidFill>
                          <a:latin typeface="Fira Code"/>
                        </a:rPr>
                        <a:t>            loc.lat = packet.lat;</a:t>
                      </a:r>
                    </a:p>
                    <a:p>
                      <a:pPr algn="l">
                        <a:lnSpc>
                          <a:spcPct val="106000"/>
                        </a:lnSpc>
                        <a:spcAft>
                          <a:spcPts val="0"/>
                        </a:spcAft>
                      </a:pPr>
                      <a:r>
                        <a:rPr sz="1100" b="0">
                          <a:solidFill>
                            <a:srgbClr val="333333"/>
                          </a:solidFill>
                          <a:latin typeface="Fira Code"/>
                        </a:rPr>
                        <a:t>            loc.lng = packet.lon;</a:t>
                      </a:r>
                    </a:p>
                    <a:p>
                      <a:pPr algn="l">
                        <a:lnSpc>
                          <a:spcPct val="106000"/>
                        </a:lnSpc>
                        <a:spcAft>
                          <a:spcPts val="0"/>
                        </a:spcAft>
                      </a:pPr>
                      <a:r>
                        <a:rPr sz="1100" b="0">
                          <a:solidFill>
                            <a:srgbClr val="333333"/>
                          </a:solidFill>
                          <a:latin typeface="Fira Code"/>
                        </a:rPr>
                        <a:t>            if (have_alt) {</a:t>
                      </a:r>
                    </a:p>
                    <a:p>
                      <a:pPr algn="l">
                        <a:lnSpc>
                          <a:spcPct val="106000"/>
                        </a:lnSpc>
                        <a:spcAft>
                          <a:spcPts val="0"/>
                        </a:spcAft>
                      </a:pPr>
                      <a:r>
                        <a:rPr sz="1100" b="0">
                          <a:solidFill>
                            <a:srgbClr val="333333"/>
                          </a:solidFill>
                          <a:latin typeface="Fira Code"/>
                        </a:rPr>
                        <a:t>                loc.alt = packet.alt * 100; // convert to centimeters</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state.location = loc;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8–9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6997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libraries/AP_GPS/AP_GPS_MSP.cpp</a:t>
                      </a:r>
                      <a:r>
                        <a:rPr sz="1100" b="0">
                          <a:solidFill>
                            <a:srgbClr val="999999"/>
                          </a:solidFill>
                          <a:latin typeface="Fira Code"/>
                        </a:rPr>
                        <a:t>  ·  </a:t>
                      </a:r>
                      <a:r>
                        <a:rPr sz="1100" b="0">
                          <a:solidFill>
                            <a:srgbClr val="999999"/>
                          </a:solidFill>
                          <a:latin typeface="Fira Code"/>
                        </a:rPr>
                        <a:t>44-51</a:t>
                      </a:r>
                      <a:r>
                        <a:rPr sz="1100" b="0">
                          <a:solidFill>
                            <a:srgbClr val="999999"/>
                          </a:solidFill>
                          <a:latin typeface="Fira Code"/>
                        </a:rPr>
                        <a:t>  ·  </a:t>
                      </a:r>
                      <a:r>
                        <a:rPr sz="1100" b="0">
                          <a:solidFill>
                            <a:srgbClr val="999999"/>
                          </a:solidFill>
                          <a:latin typeface="Fira Code"/>
                        </a:rPr>
                        <a:t>AP_GPS_MSP::handle_msp()</a:t>
                      </a:r>
                    </a:p>
                    <a:p>
                      <a:pPr algn="l">
                        <a:lnSpc>
                          <a:spcPct val="106000"/>
                        </a:lnSpc>
                        <a:spcAft>
                          <a:spcPts val="0"/>
                        </a:spcAft>
                      </a:pPr>
                      <a:r>
                        <a:rPr sz="1100" b="0">
                          <a:solidFill>
                            <a:srgbClr val="333333"/>
                          </a:solidFill>
                          <a:latin typeface="Fira Code"/>
                        </a:rPr>
                        <a:t>    state.status = (AP_GPS::GPS_Status)pkt.fix_type;</a:t>
                      </a:r>
                    </a:p>
                    <a:p>
                      <a:pPr algn="l">
                        <a:lnSpc>
                          <a:spcPct val="106000"/>
                        </a:lnSpc>
                        <a:spcAft>
                          <a:spcPts val="0"/>
                        </a:spcAft>
                      </a:pPr>
                      <a:r>
                        <a:rPr sz="1100" b="0">
                          <a:solidFill>
                            <a:srgbClr val="333333"/>
                          </a:solidFill>
                          <a:latin typeface="Fira Code"/>
                        </a:rPr>
                        <a:t>    state.num_sats = pkt.satellites_in_view;</a:t>
                      </a:r>
                    </a:p>
                    <a:p>
                      <a:pPr algn="l">
                        <a:lnSpc>
                          <a:spcPct val="106000"/>
                        </a:lnSpc>
                        <a:spcAft>
                          <a:spcPts val="0"/>
                        </a:spcAft>
                      </a:pPr>
                      <a:r>
                        <a:rPr sz="1100" b="0">
                          <a:solidFill>
                            <a:srgbClr val="333333"/>
                          </a:solidFill>
                          <a:latin typeface="Fira Code"/>
                        </a:rPr>
                        <a:t>    state.location = {</a:t>
                      </a:r>
                    </a:p>
                    <a:p>
                      <a:pPr algn="l">
                        <a:lnSpc>
                          <a:spcPct val="106000"/>
                        </a:lnSpc>
                        <a:spcAft>
                          <a:spcPts val="0"/>
                        </a:spcAft>
                      </a:pPr>
                      <a:r>
                        <a:rPr sz="1100" b="0">
                          <a:solidFill>
                            <a:srgbClr val="333333"/>
                          </a:solidFill>
                          <a:latin typeface="Fira Code"/>
                        </a:rPr>
                        <a:t>        pkt.latitude,</a:t>
                      </a:r>
                    </a:p>
                    <a:p>
                      <a:pPr algn="l">
                        <a:lnSpc>
                          <a:spcPct val="106000"/>
                        </a:lnSpc>
                        <a:spcAft>
                          <a:spcPts val="0"/>
                        </a:spcAft>
                      </a:pPr>
                      <a:r>
                        <a:rPr sz="1100" b="0">
                          <a:solidFill>
                            <a:srgbClr val="333333"/>
                          </a:solidFill>
                          <a:latin typeface="Fira Code"/>
                        </a:rPr>
                        <a:t>        pkt.longitude,</a:t>
                      </a:r>
                    </a:p>
                    <a:p>
                      <a:pPr algn="l">
                        <a:lnSpc>
                          <a:spcPct val="106000"/>
                        </a:lnSpc>
                        <a:spcAft>
                          <a:spcPts val="0"/>
                        </a:spcAft>
                      </a:pPr>
                      <a:r>
                        <a:rPr sz="1100" b="0">
                          <a:solidFill>
                            <a:srgbClr val="333333"/>
                          </a:solidFill>
                          <a:latin typeface="Fira Code"/>
                        </a:rPr>
                        <a:t>        pkt.msl_altitude,</a:t>
                      </a:r>
                    </a:p>
                    <a:p>
                      <a:pPr algn="l">
                        <a:lnSpc>
                          <a:spcPct val="106000"/>
                        </a:lnSpc>
                        <a:spcAft>
                          <a:spcPts val="0"/>
                        </a:spcAft>
                      </a:pPr>
                      <a:r>
                        <a:rPr sz="1100" b="0">
                          <a:solidFill>
                            <a:srgbClr val="333333"/>
                          </a:solidFill>
                          <a:latin typeface="Fira Code"/>
                        </a:rPr>
                        <a:t>        Location::AltFrame::ABSOLUTE</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libraries/AP_GPS/AP_GPS_GSOF.cpp</a:t>
                      </a:r>
                      <a:r>
                        <a:rPr sz="1100" b="0">
                          <a:solidFill>
                            <a:srgbClr val="999999"/>
                          </a:solidFill>
                          <a:latin typeface="Fira Code"/>
                        </a:rPr>
                        <a:t>  ·  </a:t>
                      </a:r>
                      <a:r>
                        <a:rPr sz="1100" b="0">
                          <a:solidFill>
                            <a:srgbClr val="999999"/>
                          </a:solidFill>
                          <a:latin typeface="Fira Code"/>
                        </a:rPr>
                        <a:t>231-238</a:t>
                      </a:r>
                      <a:r>
                        <a:rPr sz="1100" b="0">
                          <a:solidFill>
                            <a:srgbClr val="999999"/>
                          </a:solidFill>
                          <a:latin typeface="Fira Code"/>
                        </a:rPr>
                        <a:t>  ·  </a:t>
                      </a:r>
                      <a:r>
                        <a:rPr sz="1100" b="0">
                          <a:solidFill>
                            <a:srgbClr val="999999"/>
                          </a:solidFill>
                          <a:latin typeface="Fira Code"/>
                        </a:rPr>
                        <a:t>AP_GPS_GSOF::pack_state_data()</a:t>
                      </a:r>
                    </a:p>
                    <a:p>
                      <a:pPr algn="l">
                        <a:lnSpc>
                          <a:spcPct val="106000"/>
                        </a:lnSpc>
                        <a:spcAft>
                          <a:spcPts val="0"/>
                        </a:spcAft>
                      </a:pPr>
                      <a:r>
                        <a:rPr sz="1100" b="0">
                          <a:solidFill>
                            <a:srgbClr val="333333"/>
                          </a:solidFill>
                          <a:latin typeface="Fira Code"/>
                        </a:rPr>
                        <a:t>    state.location.lat = (int32_t)(RAD_TO_DEG_DOUBLE * position.latitude_rad * (double)1e7);</a:t>
                      </a:r>
                    </a:p>
                    <a:p>
                      <a:pPr algn="l">
                        <a:lnSpc>
                          <a:spcPct val="106000"/>
                        </a:lnSpc>
                        <a:spcAft>
                          <a:spcPts val="0"/>
                        </a:spcAft>
                      </a:pPr>
                      <a:r>
                        <a:rPr sz="1100" b="0">
                          <a:solidFill>
                            <a:srgbClr val="333333"/>
                          </a:solidFill>
                          <a:latin typeface="Fira Code"/>
                        </a:rPr>
                        <a:t>    state.location.lng = (int32_t)(RAD_TO_DEG_DOUBLE * position.longitude_rad * (double)1e7);</a:t>
                      </a:r>
                    </a:p>
                    <a:p>
                      <a:pPr algn="l">
                        <a:lnSpc>
                          <a:spcPct val="106000"/>
                        </a:lnSpc>
                        <a:spcAft>
                          <a:spcPts val="0"/>
                        </a:spcAft>
                      </a:pPr>
                      <a:r>
                        <a:rPr sz="1100" b="0">
                          <a:solidFill>
                            <a:srgbClr val="333333"/>
                          </a:solidFill>
                          <a:latin typeface="Fira Code"/>
                        </a:rPr>
                        <a:t>    state.location.alt = (int32_t)(position.altitude * 100);</a:t>
                      </a:r>
                    </a:p>
                    <a:p>
                      <a:pPr algn="l">
                        <a:lnSpc>
                          <a:spcPct val="106000"/>
                        </a:lnSpc>
                        <a:spcAft>
                          <a:spcPts val="0"/>
                        </a:spcAft>
                      </a:pPr>
                      <a:r>
                        <a:rPr sz="1100" b="0">
                          <a:solidFill>
                            <a:srgbClr val="333333"/>
                          </a:solidFill>
                          <a:latin typeface="Fira Code"/>
                        </a:rPr>
                        <a:t>    state.last_gps_time_ms = AP_HAL::millis();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if ((vel.velocity_flags &amp; 1) == 1) {</a:t>
                      </a:r>
                    </a:p>
                    <a:p>
                      <a:pPr algn="l">
                        <a:lnSpc>
                          <a:spcPct val="106000"/>
                        </a:lnSpc>
                        <a:spcAft>
                          <a:spcPts val="0"/>
                        </a:spcAft>
                      </a:pPr>
                      <a:r>
                        <a:rPr sz="1100" b="0">
                          <a:solidFill>
                            <a:srgbClr val="333333"/>
                          </a:solidFill>
                          <a:latin typeface="Fira Code"/>
                        </a:rPr>
                        <a:t>        state.ground_speed = vel.horizontal_velocity;</a:t>
                      </a:r>
                    </a:p>
                    <a:p>
                      <a:pPr algn="l">
                        <a:lnSpc>
                          <a:spcPct val="106000"/>
                        </a:lnSpc>
                        <a:spcAft>
                          <a:spcPts val="0"/>
                        </a:spcAft>
                      </a:pPr>
                      <a:r>
                        <a:rPr sz="1100" b="0">
                          <a:solidFill>
                            <a:srgbClr val="333333"/>
                          </a:solidFill>
                          <a:latin typeface="Fira Code"/>
                        </a:rPr>
                        <a:t>        state.ground_course = wrap_360(degrees(vel.heading));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10–11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4767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libraries/AP_GPS/AP_GPS_DroneCAN.cpp</a:t>
                      </a:r>
                      <a:r>
                        <a:rPr sz="1100" b="0">
                          <a:solidFill>
                            <a:srgbClr val="999999"/>
                          </a:solidFill>
                          <a:latin typeface="Fira Code"/>
                        </a:rPr>
                        <a:t>  ·  </a:t>
                      </a:r>
                      <a:r>
                        <a:rPr sz="1100" b="0">
                          <a:solidFill>
                            <a:srgbClr val="999999"/>
                          </a:solidFill>
                          <a:latin typeface="Fira Code"/>
                        </a:rPr>
                        <a:t>388-396</a:t>
                      </a:r>
                      <a:r>
                        <a:rPr sz="1100" b="0">
                          <a:solidFill>
                            <a:srgbClr val="999999"/>
                          </a:solidFill>
                          <a:latin typeface="Fira Code"/>
                        </a:rPr>
                        <a:t>  ·  </a:t>
                      </a:r>
                      <a:r>
                        <a:rPr sz="1100" b="0">
                          <a:solidFill>
                            <a:srgbClr val="999999"/>
                          </a:solidFill>
                          <a:latin typeface="Fira Code"/>
                        </a:rPr>
                        <a:t>AP_GPS_DroneCAN::handle_fix2_msg()</a:t>
                      </a:r>
                    </a:p>
                    <a:p>
                      <a:pPr algn="l">
                        <a:lnSpc>
                          <a:spcPct val="106000"/>
                        </a:lnSpc>
                        <a:spcAft>
                          <a:spcPts val="0"/>
                        </a:spcAft>
                      </a:pPr>
                      <a:r>
                        <a:rPr sz="1100" b="0">
                          <a:solidFill>
                            <a:srgbClr val="333333"/>
                          </a:solidFill>
                          <a:latin typeface="Fira Code"/>
                        </a:rPr>
                        <a:t>        if (msg.height_msl_mm != msg.height_ellipsoid_mm) {</a:t>
                      </a:r>
                    </a:p>
                    <a:p>
                      <a:pPr algn="l">
                        <a:lnSpc>
                          <a:spcPct val="106000"/>
                        </a:lnSpc>
                        <a:spcAft>
                          <a:spcPts val="0"/>
                        </a:spcAft>
                      </a:pPr>
                      <a:r>
                        <a:rPr sz="1100" b="0">
                          <a:solidFill>
                            <a:srgbClr val="333333"/>
                          </a:solidFill>
                          <a:latin typeface="Fira Code"/>
                        </a:rPr>
                        <a:t>            seen_valid_height_ellipsoid = true;</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interim_state.have_undulation = seen_valid_height_ellipsoid;</a:t>
                      </a:r>
                    </a:p>
                    <a:p>
                      <a:pPr algn="l">
                        <a:lnSpc>
                          <a:spcPct val="106000"/>
                        </a:lnSpc>
                        <a:spcAft>
                          <a:spcPts val="0"/>
                        </a:spcAft>
                      </a:pPr>
                      <a:r>
                        <a:rPr sz="1100" b="0">
                          <a:solidFill>
                            <a:srgbClr val="333333"/>
                          </a:solidFill>
                          <a:latin typeface="Fira Code"/>
                        </a:rPr>
                        <a:t>        if (seen_valid_height_ellipsoid) {</a:t>
                      </a:r>
                    </a:p>
                    <a:p>
                      <a:pPr algn="l">
                        <a:lnSpc>
                          <a:spcPct val="106000"/>
                        </a:lnSpc>
                        <a:spcAft>
                          <a:spcPts val="0"/>
                        </a:spcAft>
                      </a:pPr>
                      <a:r>
                        <a:rPr sz="1100" b="0">
                          <a:solidFill>
                            <a:srgbClr val="333333"/>
                          </a:solidFill>
                          <a:latin typeface="Fira Code"/>
                        </a:rPr>
                        <a:t>            interim_state.undulation = (msg.height_msl_mm - msg.height_ellipsoid_mm) * 0.001;</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interim_state.location = loc;</a:t>
                      </a:r>
                    </a:p>
                    <a:p>
                      <a:pPr algn="l">
                        <a:lnSpc>
                          <a:spcPct val="106000"/>
                        </a:lnSpc>
                        <a:spcAft>
                          <a:spcPts val="0"/>
                        </a:spcAft>
                      </a:pPr>
                      <a:r>
                        <a:rPr sz="1100" b="0">
                          <a:solidFill>
                            <a:srgbClr val="333333"/>
                          </a:solidFill>
                          <a:latin typeface="Fira Code"/>
                        </a:rPr>
                        <a:t>        set_alt_amsl_cm(interim_state, alt_amsl_cm);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libraries/AP_GPS/AP_GPS_ExternalAHRS.cpp</a:t>
                      </a:r>
                      <a:r>
                        <a:rPr sz="1100" b="0">
                          <a:solidFill>
                            <a:srgbClr val="999999"/>
                          </a:solidFill>
                          <a:latin typeface="Fira Code"/>
                        </a:rPr>
                        <a:t>  ·  </a:t>
                      </a:r>
                      <a:r>
                        <a:rPr sz="1100" b="0">
                          <a:solidFill>
                            <a:srgbClr val="999999"/>
                          </a:solidFill>
                          <a:latin typeface="Fira Code"/>
                        </a:rPr>
                        <a:t>49-56</a:t>
                      </a:r>
                      <a:r>
                        <a:rPr sz="1100" b="0">
                          <a:solidFill>
                            <a:srgbClr val="999999"/>
                          </a:solidFill>
                          <a:latin typeface="Fira Code"/>
                        </a:rPr>
                        <a:t>  ·  </a:t>
                      </a:r>
                      <a:r>
                        <a:rPr sz="1100" b="0">
                          <a:solidFill>
                            <a:srgbClr val="999999"/>
                          </a:solidFill>
                          <a:latin typeface="Fira Code"/>
                        </a:rPr>
                        <a:t>AP_GPS_ExternalAHRS::handle_external()</a:t>
                      </a:r>
                    </a:p>
                    <a:p>
                      <a:pPr algn="l">
                        <a:lnSpc>
                          <a:spcPct val="106000"/>
                        </a:lnSpc>
                        <a:spcAft>
                          <a:spcPts val="0"/>
                        </a:spcAft>
                      </a:pPr>
                      <a:r>
                        <a:rPr sz="1100" b="0">
                          <a:solidFill>
                            <a:srgbClr val="333333"/>
                          </a:solidFill>
                          <a:latin typeface="Fira Code"/>
                        </a:rPr>
                        <a:t>    state.num_sats = pkt.satellites_in_view;</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const Location loc {</a:t>
                      </a:r>
                    </a:p>
                    <a:p>
                      <a:pPr algn="l">
                        <a:lnSpc>
                          <a:spcPct val="106000"/>
                        </a:lnSpc>
                        <a:spcAft>
                          <a:spcPts val="0"/>
                        </a:spcAft>
                      </a:pPr>
                      <a:r>
                        <a:rPr sz="1100" b="0">
                          <a:solidFill>
                            <a:srgbClr val="333333"/>
                          </a:solidFill>
                          <a:latin typeface="Fira Code"/>
                        </a:rPr>
                        <a:t>        pkt.latitude,</a:t>
                      </a:r>
                    </a:p>
                    <a:p>
                      <a:pPr algn="l">
                        <a:lnSpc>
                          <a:spcPct val="106000"/>
                        </a:lnSpc>
                        <a:spcAft>
                          <a:spcPts val="0"/>
                        </a:spcAft>
                      </a:pPr>
                      <a:r>
                        <a:rPr sz="1100" b="0">
                          <a:solidFill>
                            <a:srgbClr val="333333"/>
                          </a:solidFill>
                          <a:latin typeface="Fira Code"/>
                        </a:rPr>
                        <a:t>        pkt.longitude,</a:t>
                      </a:r>
                    </a:p>
                    <a:p>
                      <a:pPr algn="l">
                        <a:lnSpc>
                          <a:spcPct val="106000"/>
                        </a:lnSpc>
                        <a:spcAft>
                          <a:spcPts val="0"/>
                        </a:spcAft>
                      </a:pPr>
                      <a:r>
                        <a:rPr sz="1100" b="0">
                          <a:solidFill>
                            <a:srgbClr val="333333"/>
                          </a:solidFill>
                          <a:latin typeface="Fira Code"/>
                        </a:rPr>
                        <a:t>        pkt.msl_altitude,</a:t>
                      </a:r>
                    </a:p>
                    <a:p>
                      <a:pPr algn="l">
                        <a:lnSpc>
                          <a:spcPct val="106000"/>
                        </a:lnSpc>
                        <a:spcAft>
                          <a:spcPts val="0"/>
                        </a:spcAft>
                      </a:pPr>
                      <a:r>
                        <a:rPr sz="1100" b="0">
                          <a:solidFill>
                            <a:srgbClr val="333333"/>
                          </a:solidFill>
                          <a:latin typeface="Fira Code"/>
                        </a:rPr>
                        <a:t>        Location::AltFrame::ABSOLUTE</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12–13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4767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libraries/AP_GPS/AP_GPS_SITL.cpp</a:t>
                      </a:r>
                      <a:r>
                        <a:rPr sz="1100" b="0">
                          <a:solidFill>
                            <a:srgbClr val="999999"/>
                          </a:solidFill>
                          <a:latin typeface="Fira Code"/>
                        </a:rPr>
                        <a:t>  ·  </a:t>
                      </a:r>
                      <a:r>
                        <a:rPr sz="1100" b="0">
                          <a:solidFill>
                            <a:srgbClr val="999999"/>
                          </a:solidFill>
                          <a:latin typeface="Fira Code"/>
                        </a:rPr>
                        <a:t>86-93</a:t>
                      </a:r>
                      <a:r>
                        <a:rPr sz="1100" b="0">
                          <a:solidFill>
                            <a:srgbClr val="999999"/>
                          </a:solidFill>
                          <a:latin typeface="Fira Code"/>
                        </a:rPr>
                        <a:t>  ·  </a:t>
                      </a:r>
                      <a:r>
                        <a:rPr sz="1100" b="0">
                          <a:solidFill>
                            <a:srgbClr val="999999"/>
                          </a:solidFill>
                          <a:latin typeface="Fira Code"/>
                        </a:rPr>
                        <a:t>AP_GPS_SITL::read()</a:t>
                      </a:r>
                    </a:p>
                    <a:p>
                      <a:pPr algn="l">
                        <a:lnSpc>
                          <a:spcPct val="106000"/>
                        </a:lnSpc>
                        <a:spcAft>
                          <a:spcPts val="0"/>
                        </a:spcAft>
                      </a:pPr>
                      <a:r>
                        <a:rPr sz="1100" b="0">
                          <a:solidFill>
                            <a:srgbClr val="333333"/>
                          </a:solidFill>
                          <a:latin typeface="Fira Code"/>
                        </a:rPr>
                        <a:t>    state.status = AP_GPS::GPS_OK_FIX_3D;</a:t>
                      </a:r>
                    </a:p>
                    <a:p>
                      <a:pPr algn="l">
                        <a:lnSpc>
                          <a:spcPct val="106000"/>
                        </a:lnSpc>
                        <a:spcAft>
                          <a:spcPts val="0"/>
                        </a:spcAft>
                      </a:pPr>
                      <a:r>
                        <a:rPr sz="1100" b="0">
                          <a:solidFill>
                            <a:srgbClr val="333333"/>
                          </a:solidFill>
                          <a:latin typeface="Fira Code"/>
                        </a:rPr>
                        <a:t>    state.num_sats = 15;</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state.location = Location{</a:t>
                      </a:r>
                    </a:p>
                    <a:p>
                      <a:pPr algn="l">
                        <a:lnSpc>
                          <a:spcPct val="106000"/>
                        </a:lnSpc>
                        <a:spcAft>
                          <a:spcPts val="0"/>
                        </a:spcAft>
                      </a:pPr>
                      <a:r>
                        <a:rPr sz="1100" b="0">
                          <a:solidFill>
                            <a:srgbClr val="333333"/>
                          </a:solidFill>
                          <a:latin typeface="Fira Code"/>
                        </a:rPr>
                        <a:t>        int32_t(latitude*1e7),</a:t>
                      </a:r>
                    </a:p>
                    <a:p>
                      <a:pPr algn="l">
                        <a:lnSpc>
                          <a:spcPct val="106000"/>
                        </a:lnSpc>
                        <a:spcAft>
                          <a:spcPts val="0"/>
                        </a:spcAft>
                      </a:pPr>
                      <a:r>
                        <a:rPr sz="1100" b="0">
                          <a:solidFill>
                            <a:srgbClr val="333333"/>
                          </a:solidFill>
                          <a:latin typeface="Fira Code"/>
                        </a:rPr>
                        <a:t>        int32_t(longitude*1e7),</a:t>
                      </a:r>
                    </a:p>
                    <a:p>
                      <a:pPr algn="l">
                        <a:lnSpc>
                          <a:spcPct val="106000"/>
                        </a:lnSpc>
                        <a:spcAft>
                          <a:spcPts val="0"/>
                        </a:spcAft>
                      </a:pPr>
                      <a:r>
                        <a:rPr sz="1100" b="0">
                          <a:solidFill>
                            <a:srgbClr val="333333"/>
                          </a:solidFill>
                          <a:latin typeface="Fira Code"/>
                        </a:rPr>
                        <a:t>        int32_t(altitude*100),</a:t>
                      </a:r>
                    </a:p>
                    <a:p>
                      <a:pPr algn="l">
                        <a:lnSpc>
                          <a:spcPct val="106000"/>
                        </a:lnSpc>
                        <a:spcAft>
                          <a:spcPts val="0"/>
                        </a:spcAft>
                      </a:pPr>
                      <a:r>
                        <a:rPr sz="1100" b="0">
                          <a:solidFill>
                            <a:srgbClr val="333333"/>
                          </a:solidFill>
                          <a:latin typeface="Fira Code"/>
                        </a:rPr>
                        <a:t>        Location::AltFrame::ABSOLUTE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15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libraries/AP_GPS/GPS_Backend.cpp</a:t>
                      </a:r>
                      <a:r>
                        <a:rPr sz="1100" b="0">
                          <a:solidFill>
                            <a:srgbClr val="999999"/>
                          </a:solidFill>
                          <a:latin typeface="Fira Code"/>
                        </a:rPr>
                        <a:t>  ·  </a:t>
                      </a:r>
                      <a:r>
                        <a:rPr sz="1100" b="0">
                          <a:solidFill>
                            <a:srgbClr val="999999"/>
                          </a:solidFill>
                          <a:latin typeface="Fira Code"/>
                        </a:rPr>
                        <a:t>101-109</a:t>
                      </a:r>
                      <a:r>
                        <a:rPr sz="1100" b="0">
                          <a:solidFill>
                            <a:srgbClr val="999999"/>
                          </a:solidFill>
                          <a:latin typeface="Fira Code"/>
                        </a:rPr>
                        <a:t>  ·  </a:t>
                      </a:r>
                      <a:r>
                        <a:rPr sz="1100" b="0">
                          <a:solidFill>
                            <a:srgbClr val="999999"/>
                          </a:solidFill>
                          <a:latin typeface="Fira Code"/>
                        </a:rPr>
                        <a:t>AP_GPS_Backend::fill_3d_velocity()</a:t>
                      </a:r>
                    </a:p>
                    <a:p>
                      <a:pPr algn="l">
                        <a:lnSpc>
                          <a:spcPct val="106000"/>
                        </a:lnSpc>
                        <a:spcAft>
                          <a:spcPts val="0"/>
                        </a:spcAft>
                      </a:pPr>
                      <a:r>
                        <a:rPr sz="1100" b="0">
                          <a:solidFill>
                            <a:srgbClr val="333333"/>
                          </a:solidFill>
                          <a:latin typeface="Fira Code"/>
                        </a:rPr>
                        <a:t>void AP_GPS_Backend::fill_3d_velocity(void)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float gps_heading = radians(state.ground_course);</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state.velocity.x = state.ground_speed * cosf(gps_heading);</a:t>
                      </a:r>
                    </a:p>
                    <a:p>
                      <a:pPr algn="l">
                        <a:lnSpc>
                          <a:spcPct val="106000"/>
                        </a:lnSpc>
                        <a:spcAft>
                          <a:spcPts val="0"/>
                        </a:spcAft>
                      </a:pPr>
                      <a:r>
                        <a:rPr sz="1100" b="0">
                          <a:solidFill>
                            <a:srgbClr val="333333"/>
                          </a:solidFill>
                          <a:latin typeface="Fira Code"/>
                        </a:rPr>
                        <a:t>    state.velocity.y = state.ground_speed * sinf(gps_heading);</a:t>
                      </a:r>
                    </a:p>
                    <a:p>
                      <a:pPr algn="l">
                        <a:lnSpc>
                          <a:spcPct val="106000"/>
                        </a:lnSpc>
                        <a:spcAft>
                          <a:spcPts val="0"/>
                        </a:spcAft>
                      </a:pPr>
                      <a:r>
                        <a:rPr sz="1100" b="0">
                          <a:solidFill>
                            <a:srgbClr val="333333"/>
                          </a:solidFill>
                          <a:latin typeface="Fira Code"/>
                        </a:rPr>
                        <a:t>    state.velocity.z = 0;</a:t>
                      </a:r>
                    </a:p>
                    <a:p>
                      <a:pPr algn="l">
                        <a:lnSpc>
                          <a:spcPct val="106000"/>
                        </a:lnSpc>
                        <a:spcAft>
                          <a:spcPts val="0"/>
                        </a:spcAft>
                      </a:pPr>
                      <a:r>
                        <a:rPr sz="1100" b="0">
                          <a:solidFill>
                            <a:srgbClr val="333333"/>
                          </a:solidFill>
                          <a:latin typeface="Fira Code"/>
                        </a:rPr>
                        <a:t>    state.have_vertical_velocity = false;</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14–15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859185"/>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309483">
                <a:tc>
                  <a:txBody>
                    <a:bodyPr wrap="square">
                      <a:noAutofit/>
                    </a:bodyPr>
                    <a:lstStyle/>
                    <a:p>
                      <a:pPr algn="r">
                        <a:lnSpc>
                          <a:spcPct val="106000"/>
                        </a:lnSpc>
                        <a:spcAft>
                          <a:spcPts val="0"/>
                        </a:spcAft>
                      </a:pPr>
                      <a:r>
                        <a:rPr sz="1100" b="1">
                          <a:solidFill>
                            <a:srgbClr val="333333"/>
                          </a:solidFill>
                          <a:latin typeface="Fira Code"/>
                        </a:rPr>
                        <a:t>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libraries/AP_GPS/AP_GPS.h</a:t>
                      </a:r>
                      <a:r>
                        <a:rPr sz="1100" b="0">
                          <a:solidFill>
                            <a:srgbClr val="999999"/>
                          </a:solidFill>
                          <a:latin typeface="Fira Code"/>
                        </a:rPr>
                        <a:t>  ·  </a:t>
                      </a:r>
                      <a:r>
                        <a:rPr sz="1100" b="0">
                          <a:solidFill>
                            <a:srgbClr val="999999"/>
                          </a:solidFill>
                          <a:latin typeface="Fira Code"/>
                        </a:rPr>
                        <a:t>324-329</a:t>
                      </a:r>
                      <a:r>
                        <a:rPr sz="1100" b="0">
                          <a:solidFill>
                            <a:srgbClr val="999999"/>
                          </a:solidFill>
                          <a:latin typeface="Fira Code"/>
                        </a:rPr>
                        <a:t>  ·  </a:t>
                      </a:r>
                      <a:r>
                        <a:rPr sz="1100" b="0">
                          <a:solidFill>
                            <a:srgbClr val="999999"/>
                          </a:solidFill>
                          <a:latin typeface="Fira Code"/>
                        </a:rPr>
                        <a:t>AP_GPS::location()</a:t>
                      </a:r>
                    </a:p>
                    <a:p>
                      <a:pPr algn="l">
                        <a:lnSpc>
                          <a:spcPct val="106000"/>
                        </a:lnSpc>
                        <a:spcAft>
                          <a:spcPts val="0"/>
                        </a:spcAft>
                      </a:pPr>
                      <a:r>
                        <a:rPr sz="1100" b="0">
                          <a:solidFill>
                            <a:srgbClr val="333333"/>
                          </a:solidFill>
                          <a:latin typeface="Fira Code"/>
                        </a:rPr>
                        <a:t>    const Location &amp;location(uint8_t instance) const {</a:t>
                      </a:r>
                    </a:p>
                    <a:p>
                      <a:pPr algn="l">
                        <a:lnSpc>
                          <a:spcPct val="106000"/>
                        </a:lnSpc>
                        <a:spcAft>
                          <a:spcPts val="0"/>
                        </a:spcAft>
                      </a:pPr>
                      <a:r>
                        <a:rPr sz="1100" b="0">
                          <a:solidFill>
                            <a:srgbClr val="333333"/>
                          </a:solidFill>
                          <a:latin typeface="Fira Code"/>
                        </a:rPr>
                        <a:t>        return state[instance].location;</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const Location &amp;location() const {</a:t>
                      </a:r>
                    </a:p>
                    <a:p>
                      <a:pPr algn="l">
                        <a:lnSpc>
                          <a:spcPct val="106000"/>
                        </a:lnSpc>
                        <a:spcAft>
                          <a:spcPts val="0"/>
                        </a:spcAft>
                      </a:pPr>
                      <a:r>
                        <a:rPr sz="1100" b="0">
                          <a:solidFill>
                            <a:srgbClr val="333333"/>
                          </a:solidFill>
                          <a:latin typeface="Fira Code"/>
                        </a:rPr>
                        <a:t>        return location(primary_instance);</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309483">
                <a:tc>
                  <a:txBody>
                    <a:bodyPr wrap="square">
                      <a:noAutofit/>
                    </a:bodyPr>
                    <a:lstStyle/>
                    <a:p>
                      <a:pPr algn="r">
                        <a:lnSpc>
                          <a:spcPct val="106000"/>
                        </a:lnSpc>
                        <a:spcAft>
                          <a:spcPts val="0"/>
                        </a:spcAft>
                      </a:pPr>
                      <a:r>
                        <a:rPr sz="1100" b="1">
                          <a:solidFill>
                            <a:srgbClr val="333333"/>
                          </a:solidFill>
                          <a:latin typeface="Fira Code"/>
                        </a:rPr>
                        <a:t>17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libraries/AP_GPS/AP_GPS.h</a:t>
                      </a:r>
                      <a:r>
                        <a:rPr sz="1100" b="0">
                          <a:solidFill>
                            <a:srgbClr val="999999"/>
                          </a:solidFill>
                          <a:latin typeface="Fira Code"/>
                        </a:rPr>
                        <a:t>  ·  </a:t>
                      </a:r>
                      <a:r>
                        <a:rPr sz="1100" b="0">
                          <a:solidFill>
                            <a:srgbClr val="999999"/>
                          </a:solidFill>
                          <a:latin typeface="Fira Code"/>
                        </a:rPr>
                        <a:t>360-365</a:t>
                      </a:r>
                      <a:r>
                        <a:rPr sz="1100" b="0">
                          <a:solidFill>
                            <a:srgbClr val="999999"/>
                          </a:solidFill>
                          <a:latin typeface="Fira Code"/>
                        </a:rPr>
                        <a:t>  ·  </a:t>
                      </a:r>
                      <a:r>
                        <a:rPr sz="1100" b="0">
                          <a:solidFill>
                            <a:srgbClr val="999999"/>
                          </a:solidFill>
                          <a:latin typeface="Fira Code"/>
                        </a:rPr>
                        <a:t>AP_GPS::velocity()</a:t>
                      </a:r>
                    </a:p>
                    <a:p>
                      <a:pPr algn="l">
                        <a:lnSpc>
                          <a:spcPct val="106000"/>
                        </a:lnSpc>
                        <a:spcAft>
                          <a:spcPts val="0"/>
                        </a:spcAft>
                      </a:pPr>
                      <a:r>
                        <a:rPr sz="1100" b="0">
                          <a:solidFill>
                            <a:srgbClr val="333333"/>
                          </a:solidFill>
                          <a:latin typeface="Fira Code"/>
                        </a:rPr>
                        <a:t>    const Vector3f &amp;velocity(uint8_t instance) const {</a:t>
                      </a:r>
                    </a:p>
                    <a:p>
                      <a:pPr algn="l">
                        <a:lnSpc>
                          <a:spcPct val="106000"/>
                        </a:lnSpc>
                        <a:spcAft>
                          <a:spcPts val="0"/>
                        </a:spcAft>
                      </a:pPr>
                      <a:r>
                        <a:rPr sz="1100" b="0">
                          <a:solidFill>
                            <a:srgbClr val="333333"/>
                          </a:solidFill>
                          <a:latin typeface="Fira Code"/>
                        </a:rPr>
                        <a:t>        return state[instance].velocity;</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const Vector3f &amp;velocity() const {</a:t>
                      </a:r>
                    </a:p>
                    <a:p>
                      <a:pPr algn="l">
                        <a:lnSpc>
                          <a:spcPct val="106000"/>
                        </a:lnSpc>
                        <a:spcAft>
                          <a:spcPts val="0"/>
                        </a:spcAft>
                      </a:pPr>
                      <a:r>
                        <a:rPr sz="1100" b="0">
                          <a:solidFill>
                            <a:srgbClr val="333333"/>
                          </a:solidFill>
                          <a:latin typeface="Fira Code"/>
                        </a:rPr>
                        <a:t>        return velocity(primary_instance);</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16–17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103073"/>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020276">
                <a:tc>
                  <a:txBody>
                    <a:bodyPr wrap="square">
                      <a:noAutofit/>
                    </a:bodyPr>
                    <a:lstStyle/>
                    <a:p>
                      <a:pPr algn="r">
                        <a:lnSpc>
                          <a:spcPct val="106000"/>
                        </a:lnSpc>
                        <a:spcAft>
                          <a:spcPts val="0"/>
                        </a:spcAft>
                      </a:pPr>
                      <a:r>
                        <a:rPr sz="1100" b="1">
                          <a:solidFill>
                            <a:srgbClr val="333333"/>
                          </a:solidFill>
                          <a:latin typeface="Fira Code"/>
                        </a:rPr>
                        <a:t>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libraries/AP_GPS/AP_GPS.h</a:t>
                      </a:r>
                      <a:r>
                        <a:rPr sz="1100" b="0">
                          <a:solidFill>
                            <a:srgbClr val="999999"/>
                          </a:solidFill>
                          <a:latin typeface="Fira Code"/>
                        </a:rPr>
                        <a:t>  ·  </a:t>
                      </a:r>
                      <a:r>
                        <a:rPr sz="1100" b="0">
                          <a:solidFill>
                            <a:srgbClr val="999999"/>
                          </a:solidFill>
                          <a:latin typeface="Fira Code"/>
                        </a:rPr>
                        <a:t>192-201</a:t>
                      </a:r>
                      <a:r>
                        <a:rPr sz="1100" b="0">
                          <a:solidFill>
                            <a:srgbClr val="999999"/>
                          </a:solidFill>
                          <a:latin typeface="Fira Code"/>
                        </a:rPr>
                        <a:t>  ·  </a:t>
                      </a:r>
                      <a:r>
                        <a:rPr sz="1100" b="0">
                          <a:solidFill>
                            <a:srgbClr val="999999"/>
                          </a:solidFill>
                          <a:latin typeface="Fira Code"/>
                        </a:rPr>
                        <a:t>structAP_GPS::GPS_State</a:t>
                      </a:r>
                    </a:p>
                    <a:p>
                      <a:pPr algn="l">
                        <a:lnSpc>
                          <a:spcPct val="106000"/>
                        </a:lnSpc>
                        <a:spcAft>
                          <a:spcPts val="0"/>
                        </a:spcAft>
                      </a:pPr>
                      <a:r>
                        <a:rPr sz="1100" b="0">
                          <a:solidFill>
                            <a:srgbClr val="333333"/>
                          </a:solidFill>
                          <a:latin typeface="Fira Code"/>
                        </a:rPr>
                        <a:t>    struct GPS_State {</a:t>
                      </a:r>
                    </a:p>
                    <a:p>
                      <a:pPr algn="l">
                        <a:lnSpc>
                          <a:spcPct val="106000"/>
                        </a:lnSpc>
                        <a:spcAft>
                          <a:spcPts val="0"/>
                        </a:spcAft>
                      </a:pPr>
                      <a:r>
                        <a:rPr sz="1100" b="0">
                          <a:solidFill>
                            <a:srgbClr val="333333"/>
                          </a:solidFill>
                          <a:latin typeface="Fira Code"/>
                        </a:rPr>
                        <a:t>        uint8_t instance; // the instance number of this GPS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all the following fields must all be filled by the backend driver</a:t>
                      </a:r>
                    </a:p>
                    <a:p>
                      <a:pPr algn="l">
                        <a:lnSpc>
                          <a:spcPct val="106000"/>
                        </a:lnSpc>
                        <a:spcAft>
                          <a:spcPts val="0"/>
                        </a:spcAft>
                      </a:pPr>
                      <a:r>
                        <a:rPr sz="1100" b="0">
                          <a:solidFill>
                            <a:srgbClr val="333333"/>
                          </a:solidFill>
                          <a:latin typeface="Fira Code"/>
                        </a:rPr>
                        <a:t>        GPS_Status status;                  ///&lt; driver fix status</a:t>
                      </a:r>
                    </a:p>
                    <a:p>
                      <a:pPr algn="l">
                        <a:lnSpc>
                          <a:spcPct val="106000"/>
                        </a:lnSpc>
                        <a:spcAft>
                          <a:spcPts val="0"/>
                        </a:spcAft>
                      </a:pPr>
                      <a:r>
                        <a:rPr sz="1100" b="0">
                          <a:solidFill>
                            <a:srgbClr val="333333"/>
                          </a:solidFill>
                          <a:latin typeface="Fira Code"/>
                        </a:rPr>
                        <a:t>        uint32_t time_week_ms;              ///&lt; GPS time (milliseconds from start of GPS week)</a:t>
                      </a:r>
                    </a:p>
                    <a:p>
                      <a:pPr algn="l">
                        <a:lnSpc>
                          <a:spcPct val="106000"/>
                        </a:lnSpc>
                        <a:spcAft>
                          <a:spcPts val="0"/>
                        </a:spcAft>
                      </a:pPr>
                      <a:r>
                        <a:rPr sz="1100" b="0">
                          <a:solidFill>
                            <a:srgbClr val="333333"/>
                          </a:solidFill>
                          <a:latin typeface="Fira Code"/>
                        </a:rPr>
                        <a:t>        uint16_t time_week;                 ///&lt; GPS week number</a:t>
                      </a:r>
                    </a:p>
                    <a:p>
                      <a:pPr algn="l">
                        <a:lnSpc>
                          <a:spcPct val="106000"/>
                        </a:lnSpc>
                        <a:spcAft>
                          <a:spcPts val="0"/>
                        </a:spcAft>
                      </a:pPr>
                      <a:r>
                        <a:rPr sz="1100" b="0">
                          <a:solidFill>
                            <a:srgbClr val="333333"/>
                          </a:solidFill>
                          <a:latin typeface="Fira Code"/>
                        </a:rPr>
                        <a:t>        Location location;                  ///&lt; last fix location</a:t>
                      </a:r>
                    </a:p>
                    <a:p>
                      <a:pPr algn="l">
                        <a:lnSpc>
                          <a:spcPct val="106000"/>
                        </a:lnSpc>
                        <a:spcAft>
                          <a:spcPts val="0"/>
                        </a:spcAft>
                      </a:pPr>
                      <a:r>
                        <a:rPr sz="1100" b="0">
                          <a:solidFill>
                            <a:srgbClr val="333333"/>
                          </a:solidFill>
                          <a:latin typeface="Fira Code"/>
                        </a:rPr>
                        <a:t>        float ground_speed;                 ///&lt; ground speed in m/s</a:t>
                      </a:r>
                    </a:p>
                    <a:p>
                      <a:pPr algn="l">
                        <a:lnSpc>
                          <a:spcPct val="106000"/>
                        </a:lnSpc>
                        <a:spcAft>
                          <a:spcPts val="0"/>
                        </a:spcAft>
                      </a:pPr>
                      <a:r>
                        <a:rPr sz="1100" b="0">
                          <a:solidFill>
                            <a:srgbClr val="333333"/>
                          </a:solidFill>
                          <a:latin typeface="Fira Code"/>
                        </a:rPr>
                        <a:t>        float ground_course;                ///&lt; ground course in degrees, wrapped 0-360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libraries/AP_GPS/AP_GPS_Blended.cpp</a:t>
                      </a:r>
                      <a:r>
                        <a:rPr sz="1100" b="0">
                          <a:solidFill>
                            <a:srgbClr val="999999"/>
                          </a:solidFill>
                          <a:latin typeface="Fira Code"/>
                        </a:rPr>
                        <a:t>  ·  </a:t>
                      </a:r>
                      <a:r>
                        <a:rPr sz="1100" b="0">
                          <a:solidFill>
                            <a:srgbClr val="999999"/>
                          </a:solidFill>
                          <a:latin typeface="Fira Code"/>
                        </a:rPr>
                        <a:t>17-25</a:t>
                      </a:r>
                      <a:r>
                        <a:rPr sz="1100" b="0">
                          <a:solidFill>
                            <a:srgbClr val="999999"/>
                          </a:solidFill>
                          <a:latin typeface="Fira Code"/>
                        </a:rPr>
                        <a:t>  ·  </a:t>
                      </a:r>
                      <a:r>
                        <a:rPr sz="1100" b="0">
                          <a:solidFill>
                            <a:srgbClr val="999999"/>
                          </a:solidFill>
                          <a:latin typeface="Fira Code"/>
                        </a:rPr>
                        <a:t>AP_GPS_Blended::_calc_weights()</a:t>
                      </a:r>
                    </a:p>
                    <a:p>
                      <a:pPr algn="l">
                        <a:lnSpc>
                          <a:spcPct val="106000"/>
                        </a:lnSpc>
                        <a:spcAft>
                          <a:spcPts val="0"/>
                        </a:spcAft>
                      </a:pPr>
                      <a:r>
                        <a:rPr sz="1100" b="0">
                          <a:solidFill>
                            <a:srgbClr val="333333"/>
                          </a:solidFill>
                          <a:latin typeface="Fira Code"/>
                        </a:rPr>
                        <a:t>bool AP_GPS_Blended::_calc_weights(void)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zero the blend weights</a:t>
                      </a:r>
                    </a:p>
                    <a:p>
                      <a:pPr algn="l">
                        <a:lnSpc>
                          <a:spcPct val="106000"/>
                        </a:lnSpc>
                        <a:spcAft>
                          <a:spcPts val="0"/>
                        </a:spcAft>
                      </a:pPr>
                      <a:r>
                        <a:rPr sz="1100" b="0">
                          <a:solidFill>
                            <a:srgbClr val="333333"/>
                          </a:solidFill>
                          <a:latin typeface="Fira Code"/>
                        </a:rPr>
                        <a:t>    memset(&amp;_blend_weights, 0, sizeof(_blend_weights));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static_assert(GPS_MAX_RECEIVERS == 2, "GPS blending only currently works with 2 receivers");</a:t>
                      </a:r>
                    </a:p>
                    <a:p>
                      <a:pPr algn="l">
                        <a:lnSpc>
                          <a:spcPct val="106000"/>
                        </a:lnSpc>
                        <a:spcAft>
                          <a:spcPts val="0"/>
                        </a:spcAft>
                      </a:pPr>
                      <a:r>
                        <a:rPr sz="1100" b="0">
                          <a:solidFill>
                            <a:srgbClr val="333333"/>
                          </a:solidFill>
                          <a:latin typeface="Fira Code"/>
                        </a:rPr>
                        <a:t>    // Note that the early quit below relies upon exactly 2 instances</a:t>
                      </a:r>
                    </a:p>
                    <a:p>
                      <a:pPr algn="l">
                        <a:lnSpc>
                          <a:spcPct val="106000"/>
                        </a:lnSpc>
                        <a:spcAft>
                          <a:spcPts val="0"/>
                        </a:spcAft>
                      </a:pPr>
                      <a:r>
                        <a:rPr sz="1100" b="0">
                          <a:solidFill>
                            <a:srgbClr val="333333"/>
                          </a:solidFill>
                          <a:latin typeface="Fira Code"/>
                        </a:rPr>
                        <a:t>    // The time delta calculations below also rely upon every instance being currently detected and being parsed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18–19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458470"/>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197975">
                <a:tc>
                  <a:txBody>
                    <a:bodyPr wrap="square">
                      <a:noAutofit/>
                    </a:bodyPr>
                    <a:lstStyle/>
                    <a:p>
                      <a:pPr algn="r">
                        <a:lnSpc>
                          <a:spcPct val="106000"/>
                        </a:lnSpc>
                        <a:spcAft>
                          <a:spcPts val="0"/>
                        </a:spcAft>
                      </a:pPr>
                      <a:r>
                        <a:rPr sz="1100" b="1">
                          <a:solidFill>
                            <a:srgbClr val="333333"/>
                          </a:solidFill>
                          <a:latin typeface="Fira Code"/>
                        </a:rPr>
                        <a:t>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libraries/AP_Common/Location.h</a:t>
                      </a:r>
                      <a:r>
                        <a:rPr sz="1100" b="0">
                          <a:solidFill>
                            <a:srgbClr val="999999"/>
                          </a:solidFill>
                          <a:latin typeface="Fira Code"/>
                        </a:rPr>
                        <a:t>  ·  </a:t>
                      </a:r>
                      <a:r>
                        <a:rPr sz="1100" b="0">
                          <a:solidFill>
                            <a:srgbClr val="999999"/>
                          </a:solidFill>
                          <a:latin typeface="Fira Code"/>
                        </a:rPr>
                        <a:t>11-20</a:t>
                      </a:r>
                      <a:r>
                        <a:rPr sz="1100" b="0">
                          <a:solidFill>
                            <a:srgbClr val="999999"/>
                          </a:solidFill>
                          <a:latin typeface="Fira Code"/>
                        </a:rPr>
                        <a:t>  ·  </a:t>
                      </a:r>
                      <a:r>
                        <a:rPr sz="1100" b="0">
                          <a:solidFill>
                            <a:srgbClr val="999999"/>
                          </a:solidFill>
                          <a:latin typeface="Fira Code"/>
                        </a:rPr>
                        <a:t>classLocation</a:t>
                      </a:r>
                    </a:p>
                    <a:p>
                      <a:pPr algn="l">
                        <a:lnSpc>
                          <a:spcPct val="106000"/>
                        </a:lnSpc>
                        <a:spcAft>
                          <a:spcPts val="0"/>
                        </a:spcAft>
                      </a:pPr>
                      <a:r>
                        <a:rPr sz="1100" b="0">
                          <a:solidFill>
                            <a:srgbClr val="333333"/>
                          </a:solidFill>
                          <a:latin typeface="Fira Code"/>
                        </a:rPr>
                        <a:t>    uint8_t relative_alt : 1;           // 1 if altitude is relative to home</a:t>
                      </a:r>
                    </a:p>
                    <a:p>
                      <a:pPr algn="l">
                        <a:lnSpc>
                          <a:spcPct val="106000"/>
                        </a:lnSpc>
                        <a:spcAft>
                          <a:spcPts val="0"/>
                        </a:spcAft>
                      </a:pPr>
                      <a:r>
                        <a:rPr sz="1100" b="0">
                          <a:solidFill>
                            <a:srgbClr val="333333"/>
                          </a:solidFill>
                          <a:latin typeface="Fira Code"/>
                        </a:rPr>
                        <a:t>    uint8_t loiter_ccw   : 1;           // 0 if clockwise, 1 if counter clockwise</a:t>
                      </a:r>
                    </a:p>
                    <a:p>
                      <a:pPr algn="l">
                        <a:lnSpc>
                          <a:spcPct val="106000"/>
                        </a:lnSpc>
                        <a:spcAft>
                          <a:spcPts val="0"/>
                        </a:spcAft>
                      </a:pPr>
                      <a:r>
                        <a:rPr sz="1100" b="0">
                          <a:solidFill>
                            <a:srgbClr val="333333"/>
                          </a:solidFill>
                          <a:latin typeface="Fira Code"/>
                        </a:rPr>
                        <a:t>    uint8_t terrain_alt  : 1;           // this altitude is above terrain</a:t>
                      </a:r>
                    </a:p>
                    <a:p>
                      <a:pPr algn="l">
                        <a:lnSpc>
                          <a:spcPct val="106000"/>
                        </a:lnSpc>
                        <a:spcAft>
                          <a:spcPts val="0"/>
                        </a:spcAft>
                      </a:pPr>
                      <a:r>
                        <a:rPr sz="1100" b="0">
                          <a:solidFill>
                            <a:srgbClr val="333333"/>
                          </a:solidFill>
                          <a:latin typeface="Fira Code"/>
                        </a:rPr>
                        <a:t>    uint8_t origin_alt   : 1;           // this altitude is above ekf origin</a:t>
                      </a:r>
                    </a:p>
                    <a:p>
                      <a:pPr algn="l">
                        <a:lnSpc>
                          <a:spcPct val="106000"/>
                        </a:lnSpc>
                        <a:spcAft>
                          <a:spcPts val="0"/>
                        </a:spcAft>
                      </a:pPr>
                      <a:r>
                        <a:rPr sz="1100" b="0">
                          <a:solidFill>
                            <a:srgbClr val="333333"/>
                          </a:solidFill>
                          <a:latin typeface="Fira Code"/>
                        </a:rPr>
                        <a:t>    uint8_t loiter_xtrack : 1;          // 0 to crosstrack from center of waypoint, 1 to crosstrack from tangent exit location</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note that mission storage only stores 24 bits of altitude (~ +/- 83km)</a:t>
                      </a:r>
                    </a:p>
                    <a:p>
                      <a:pPr algn="l">
                        <a:lnSpc>
                          <a:spcPct val="106000"/>
                        </a:lnSpc>
                        <a:spcAft>
                          <a:spcPts val="0"/>
                        </a:spcAft>
                      </a:pPr>
                      <a:r>
                        <a:rPr sz="1100" b="0">
                          <a:solidFill>
                            <a:srgbClr val="333333"/>
                          </a:solidFill>
                          <a:latin typeface="Fira Code"/>
                        </a:rPr>
                        <a:t>    int32_t alt; // in cm</a:t>
                      </a:r>
                    </a:p>
                    <a:p>
                      <a:pPr algn="l">
                        <a:lnSpc>
                          <a:spcPct val="106000"/>
                        </a:lnSpc>
                        <a:spcAft>
                          <a:spcPts val="0"/>
                        </a:spcAft>
                      </a:pPr>
                      <a:r>
                        <a:rPr sz="1100" b="0">
                          <a:solidFill>
                            <a:srgbClr val="333333"/>
                          </a:solidFill>
                          <a:latin typeface="Fira Code"/>
                        </a:rPr>
                        <a:t>    int32_t lat; // in 1E7 degrees</a:t>
                      </a:r>
                    </a:p>
                    <a:p>
                      <a:pPr algn="l">
                        <a:lnSpc>
                          <a:spcPct val="106000"/>
                        </a:lnSpc>
                        <a:spcAft>
                          <a:spcPts val="0"/>
                        </a:spcAft>
                      </a:pPr>
                      <a:r>
                        <a:rPr sz="1100" b="0">
                          <a:solidFill>
                            <a:srgbClr val="333333"/>
                          </a:solidFill>
                          <a:latin typeface="Fira Code"/>
                        </a:rPr>
                        <a:t>    int32_t lng; // in 1E7 degrees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libraries/AP_Common/Location.cpp</a:t>
                      </a:r>
                      <a:r>
                        <a:rPr sz="1100" b="0">
                          <a:solidFill>
                            <a:srgbClr val="999999"/>
                          </a:solidFill>
                          <a:latin typeface="Fira Code"/>
                        </a:rPr>
                        <a:t>  ·  </a:t>
                      </a:r>
                      <a:r>
                        <a:rPr sz="1100" b="0">
                          <a:solidFill>
                            <a:srgbClr val="999999"/>
                          </a:solidFill>
                          <a:latin typeface="Fira Code"/>
                        </a:rPr>
                        <a:t>259-268</a:t>
                      </a:r>
                      <a:r>
                        <a:rPr sz="1100" b="0">
                          <a:solidFill>
                            <a:srgbClr val="999999"/>
                          </a:solidFill>
                          <a:latin typeface="Fira Code"/>
                        </a:rPr>
                        <a:t>  ·  </a:t>
                      </a:r>
                      <a:r>
                        <a:rPr sz="1100" b="0">
                          <a:solidFill>
                            <a:srgbClr val="999999"/>
                          </a:solidFill>
                          <a:latin typeface="Fira Code"/>
                        </a:rPr>
                        <a:t>Location::get_vector_from_origin_NEU_cm()</a:t>
                      </a:r>
                    </a:p>
                    <a:p>
                      <a:pPr algn="l">
                        <a:lnSpc>
                          <a:spcPct val="106000"/>
                        </a:lnSpc>
                        <a:spcAft>
                          <a:spcPts val="0"/>
                        </a:spcAft>
                      </a:pPr>
                      <a:r>
                        <a:rPr sz="1100" b="0">
                          <a:solidFill>
                            <a:srgbClr val="333333"/>
                          </a:solidFill>
                          <a:latin typeface="Fira Code"/>
                        </a:rPr>
                        <a:t>bool Location::get_vector_from_origin_NEU_cm(T &amp;vec_neu)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convert altitude</a:t>
                      </a:r>
                    </a:p>
                    <a:p>
                      <a:pPr algn="l">
                        <a:lnSpc>
                          <a:spcPct val="106000"/>
                        </a:lnSpc>
                        <a:spcAft>
                          <a:spcPts val="0"/>
                        </a:spcAft>
                      </a:pPr>
                      <a:r>
                        <a:rPr sz="1100" b="0">
                          <a:solidFill>
                            <a:srgbClr val="333333"/>
                          </a:solidFill>
                          <a:latin typeface="Fira Code"/>
                        </a:rPr>
                        <a:t>    int32_t alt_above_origin_cm = 0;</a:t>
                      </a:r>
                    </a:p>
                    <a:p>
                      <a:pPr algn="l">
                        <a:lnSpc>
                          <a:spcPct val="106000"/>
                        </a:lnSpc>
                        <a:spcAft>
                          <a:spcPts val="0"/>
                        </a:spcAft>
                      </a:pPr>
                      <a:r>
                        <a:rPr sz="1100" b="0">
                          <a:solidFill>
                            <a:srgbClr val="333333"/>
                          </a:solidFill>
                          <a:latin typeface="Fira Code"/>
                        </a:rPr>
                        <a:t>    if (!get_alt_cm(AltFrame::ABOVE_ORIGIN, alt_above_origin_cm)) {</a:t>
                      </a:r>
                    </a:p>
                    <a:p>
                      <a:pPr algn="l">
                        <a:lnSpc>
                          <a:spcPct val="106000"/>
                        </a:lnSpc>
                        <a:spcAft>
                          <a:spcPts val="0"/>
                        </a:spcAft>
                      </a:pPr>
                      <a:r>
                        <a:rPr sz="1100" b="0">
                          <a:solidFill>
                            <a:srgbClr val="333333"/>
                          </a:solidFill>
                          <a:latin typeface="Fira Code"/>
                        </a:rPr>
                        <a:t>        return false;</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convert lat, lon</a:t>
                      </a:r>
                    </a:p>
                    <a:p>
                      <a:pPr algn="l">
                        <a:lnSpc>
                          <a:spcPct val="106000"/>
                        </a:lnSpc>
                        <a:spcAft>
                          <a:spcPts val="0"/>
                        </a:spcAft>
                      </a:pPr>
                      <a:r>
                        <a:rPr sz="1100" b="0">
                          <a:solidFill>
                            <a:srgbClr val="333333"/>
                          </a:solidFill>
                          <a:latin typeface="Fira Code"/>
                        </a:rPr>
                        <a:t>    if (!get_vector_xy_from_origin_NE_cm(vec_neu.xy()))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20–21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280771"/>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020276">
                <a:tc>
                  <a:txBody>
                    <a:bodyPr wrap="square">
                      <a:noAutofit/>
                    </a:bodyPr>
                    <a:lstStyle/>
                    <a:p>
                      <a:pPr algn="r">
                        <a:lnSpc>
                          <a:spcPct val="106000"/>
                        </a:lnSpc>
                        <a:spcAft>
                          <a:spcPts val="0"/>
                        </a:spcAft>
                      </a:pPr>
                      <a:r>
                        <a:rPr sz="1100" b="1">
                          <a:solidFill>
                            <a:srgbClr val="333333"/>
                          </a:solidFill>
                          <a:latin typeface="Fira Code"/>
                        </a:rPr>
                        <a:t>22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libraries/AP_InertialNav/AP_InertialNav.cpp</a:t>
                      </a:r>
                      <a:r>
                        <a:rPr sz="1100" b="0">
                          <a:solidFill>
                            <a:srgbClr val="999999"/>
                          </a:solidFill>
                          <a:latin typeface="Fira Code"/>
                        </a:rPr>
                        <a:t>  ·  </a:t>
                      </a:r>
                      <a:r>
                        <a:rPr sz="1100" b="0">
                          <a:solidFill>
                            <a:srgbClr val="999999"/>
                          </a:solidFill>
                          <a:latin typeface="Fira Code"/>
                        </a:rPr>
                        <a:t>14-23</a:t>
                      </a:r>
                      <a:r>
                        <a:rPr sz="1100" b="0">
                          <a:solidFill>
                            <a:srgbClr val="999999"/>
                          </a:solidFill>
                          <a:latin typeface="Fira Code"/>
                        </a:rPr>
                        <a:t>  ·  </a:t>
                      </a:r>
                      <a:r>
                        <a:rPr sz="1100" b="0">
                          <a:solidFill>
                            <a:srgbClr val="999999"/>
                          </a:solidFill>
                          <a:latin typeface="Fira Code"/>
                        </a:rPr>
                        <a:t>AP_InertialNav::update()</a:t>
                      </a:r>
                    </a:p>
                    <a:p>
                      <a:pPr algn="l">
                        <a:lnSpc>
                          <a:spcPct val="106000"/>
                        </a:lnSpc>
                        <a:spcAft>
                          <a:spcPts val="0"/>
                        </a:spcAft>
                      </a:pPr>
                      <a:r>
                        <a:rPr sz="1100" b="0">
                          <a:solidFill>
                            <a:srgbClr val="333333"/>
                          </a:solidFill>
                          <a:latin typeface="Fira Code"/>
                        </a:rPr>
                        <a:t>void AP_InertialNav::update(bool high_vibes)</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get the NE position relative to the local earth frame origin</a:t>
                      </a:r>
                    </a:p>
                    <a:p>
                      <a:pPr algn="l">
                        <a:lnSpc>
                          <a:spcPct val="106000"/>
                        </a:lnSpc>
                        <a:spcAft>
                          <a:spcPts val="0"/>
                        </a:spcAft>
                      </a:pPr>
                      <a:r>
                        <a:rPr sz="1100" b="0">
                          <a:solidFill>
                            <a:srgbClr val="333333"/>
                          </a:solidFill>
                          <a:latin typeface="Fira Code"/>
                        </a:rPr>
                        <a:t>    Vector2f posNE;</a:t>
                      </a:r>
                    </a:p>
                    <a:p>
                      <a:pPr algn="l">
                        <a:lnSpc>
                          <a:spcPct val="106000"/>
                        </a:lnSpc>
                        <a:spcAft>
                          <a:spcPts val="0"/>
                        </a:spcAft>
                      </a:pPr>
                      <a:r>
                        <a:rPr sz="1100" b="0">
                          <a:solidFill>
                            <a:srgbClr val="333333"/>
                          </a:solidFill>
                          <a:latin typeface="Fira Code"/>
                        </a:rPr>
                        <a:t>    if (_ahrs_ekf.get_relative_position_NE_origin_float(posNE)) {</a:t>
                      </a:r>
                    </a:p>
                    <a:p>
                      <a:pPr algn="l">
                        <a:lnSpc>
                          <a:spcPct val="106000"/>
                        </a:lnSpc>
                        <a:spcAft>
                          <a:spcPts val="0"/>
                        </a:spcAft>
                      </a:pPr>
                      <a:r>
                        <a:rPr sz="1100" b="0">
                          <a:solidFill>
                            <a:srgbClr val="333333"/>
                          </a:solidFill>
                          <a:latin typeface="Fira Code"/>
                        </a:rPr>
                        <a:t>        _relpos_cm.x = posNE.x * 100; // convert from m to cm</a:t>
                      </a:r>
                    </a:p>
                    <a:p>
                      <a:pPr algn="l">
                        <a:lnSpc>
                          <a:spcPct val="106000"/>
                        </a:lnSpc>
                        <a:spcAft>
                          <a:spcPts val="0"/>
                        </a:spcAft>
                      </a:pPr>
                      <a:r>
                        <a:rPr sz="1100" b="0">
                          <a:solidFill>
                            <a:srgbClr val="333333"/>
                          </a:solidFill>
                          <a:latin typeface="Fira Code"/>
                        </a:rPr>
                        <a:t>        _relpos_cm.y = posNE.y * 100; // convert from m to cm</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get the D position relative to the local earth frame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libraries/AC_AttitudeControl/AC_PosControl.cpp</a:t>
                      </a:r>
                      <a:r>
                        <a:rPr sz="1100" b="0">
                          <a:solidFill>
                            <a:srgbClr val="999999"/>
                          </a:solidFill>
                          <a:latin typeface="Fira Code"/>
                        </a:rPr>
                        <a:t>  ·  </a:t>
                      </a:r>
                      <a:r>
                        <a:rPr sz="1100" b="0">
                          <a:solidFill>
                            <a:srgbClr val="999999"/>
                          </a:solidFill>
                          <a:latin typeface="Fira Code"/>
                        </a:rPr>
                        <a:t>363-372</a:t>
                      </a:r>
                      <a:r>
                        <a:rPr sz="1100" b="0">
                          <a:solidFill>
                            <a:srgbClr val="999999"/>
                          </a:solidFill>
                          <a:latin typeface="Fira Code"/>
                        </a:rPr>
                        <a:t>  ·  </a:t>
                      </a:r>
                      <a:r>
                        <a:rPr sz="1100" b="0">
                          <a:solidFill>
                            <a:srgbClr val="999999"/>
                          </a:solidFill>
                          <a:latin typeface="Fira Code"/>
                        </a:rPr>
                        <a:t>AC_PosControl::input_pos_NEU_cm()</a:t>
                      </a:r>
                    </a:p>
                    <a:p>
                      <a:pPr algn="l">
                        <a:lnSpc>
                          <a:spcPct val="106000"/>
                        </a:lnSpc>
                        <a:spcAft>
                          <a:spcPts val="0"/>
                        </a:spcAft>
                      </a:pPr>
                      <a:r>
                        <a:rPr sz="1100" b="0">
                          <a:solidFill>
                            <a:srgbClr val="333333"/>
                          </a:solidFill>
                          <a:latin typeface="Fira Code"/>
                        </a:rPr>
                        <a:t>void AC_PosControl::input_pos_NEU_cm(const Vector3p&amp; pos_neu_cm, float pos_terrain_target_u_cm, float terrain_buffer_cm)</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input_pos_NEU_m(pos_neu_cm * 0.01, pos_terrain_target_u_cm * 0.01, terrain_buffer_cm * 0.01);</a:t>
                      </a:r>
                    </a:p>
                    <a:p>
                      <a:pPr algn="l">
                        <a:lnSpc>
                          <a:spcPct val="106000"/>
                        </a:lnSpc>
                        <a:spcAft>
                          <a:spcPts val="0"/>
                        </a:spcAft>
                      </a:pPr>
                      <a:r>
                        <a:rPr sz="1100" b="0">
                          <a:solidFill>
                            <a:srgbClr val="333333"/>
                          </a:solidFill>
                          <a:latin typeface="Fira Code"/>
                        </a:rPr>
                        <a:t>}</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Sets a new NEU position target in meters and computes a jerk-limited trajectory.</a:t>
                      </a:r>
                    </a:p>
                    <a:p>
                      <a:pPr algn="l">
                        <a:lnSpc>
                          <a:spcPct val="106000"/>
                        </a:lnSpc>
                        <a:spcAft>
                          <a:spcPts val="0"/>
                        </a:spcAft>
                      </a:pPr>
                      <a:r>
                        <a:rPr sz="1100" b="0">
                          <a:solidFill>
                            <a:srgbClr val="333333"/>
                          </a:solidFill>
                          <a:latin typeface="Fira Code"/>
                        </a:rPr>
                        <a:t>// Updates internal acceleration commands using a smooth kinematic path constrained</a:t>
                      </a:r>
                    </a:p>
                    <a:p>
                      <a:pPr algn="l">
                        <a:lnSpc>
                          <a:spcPct val="106000"/>
                        </a:lnSpc>
                        <a:spcAft>
                          <a:spcPts val="0"/>
                        </a:spcAft>
                      </a:pPr>
                      <a:r>
                        <a:rPr sz="1100" b="0">
                          <a:solidFill>
                            <a:srgbClr val="333333"/>
                          </a:solidFill>
                          <a:latin typeface="Fira Code"/>
                        </a:rPr>
                        <a:t>// by configured acceleration and jerk limits. Terrain margin is used to constrain</a:t>
                      </a:r>
                    </a:p>
                    <a:p>
                      <a:pPr algn="l">
                        <a:lnSpc>
                          <a:spcPct val="106000"/>
                        </a:lnSpc>
                        <a:spcAft>
                          <a:spcPts val="0"/>
                        </a:spcAft>
                      </a:pPr>
                      <a:r>
                        <a:rPr sz="1100" b="0">
                          <a:solidFill>
                            <a:srgbClr val="333333"/>
                          </a:solidFill>
                          <a:latin typeface="Fira Code"/>
                        </a:rPr>
                        <a:t>// horizontal velocity to avoid vertical buffer violation.</a:t>
                      </a:r>
                    </a:p>
                    <a:p>
                      <a:pPr algn="l">
                        <a:lnSpc>
                          <a:spcPct val="106000"/>
                        </a:lnSpc>
                        <a:spcAft>
                          <a:spcPts val="0"/>
                        </a:spcAft>
                      </a:pPr>
                      <a:r>
                        <a:rPr sz="1100" b="0">
                          <a:solidFill>
                            <a:srgbClr val="333333"/>
                          </a:solidFill>
                          <a:latin typeface="Fira Code"/>
                        </a:rPr>
                        <a:t>void AC_PosControl::input_pos_NEU_m(const Vector3p&amp; pos_neu_m, float pos_terrain_target_u_m, float terrain_buffer_m)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22–23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280771"/>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020276">
                <a:tc>
                  <a:txBody>
                    <a:bodyPr wrap="square">
                      <a:noAutofit/>
                    </a:bodyPr>
                    <a:lstStyle/>
                    <a:p>
                      <a:pPr algn="r">
                        <a:lnSpc>
                          <a:spcPct val="106000"/>
                        </a:lnSpc>
                        <a:spcAft>
                          <a:spcPts val="0"/>
                        </a:spcAft>
                      </a:pPr>
                      <a:r>
                        <a:rPr sz="1100" b="1">
                          <a:solidFill>
                            <a:srgbClr val="333333"/>
                          </a:solidFill>
                          <a:latin typeface="Fira Code"/>
                        </a:rPr>
                        <a:t>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libraries/APM_Control/AR_PosControl.cpp</a:t>
                      </a:r>
                      <a:r>
                        <a:rPr sz="1100" b="0">
                          <a:solidFill>
                            <a:srgbClr val="999999"/>
                          </a:solidFill>
                          <a:latin typeface="Fira Code"/>
                        </a:rPr>
                        <a:t>  ·  </a:t>
                      </a:r>
                      <a:r>
                        <a:rPr sz="1100" b="0">
                          <a:solidFill>
                            <a:srgbClr val="999999"/>
                          </a:solidFill>
                          <a:latin typeface="Fira Code"/>
                        </a:rPr>
                        <a:t>114-123</a:t>
                      </a:r>
                      <a:r>
                        <a:rPr sz="1100" b="0">
                          <a:solidFill>
                            <a:srgbClr val="999999"/>
                          </a:solidFill>
                          <a:latin typeface="Fira Code"/>
                        </a:rPr>
                        <a:t>  ·  </a:t>
                      </a:r>
                      <a:r>
                        <a:rPr sz="1100" b="0">
                          <a:solidFill>
                            <a:srgbClr val="999999"/>
                          </a:solidFill>
                          <a:latin typeface="Fira Code"/>
                        </a:rPr>
                        <a:t>AR_PosControl::update()</a:t>
                      </a:r>
                    </a:p>
                    <a:p>
                      <a:pPr algn="l">
                        <a:lnSpc>
                          <a:spcPct val="106000"/>
                        </a:lnSpc>
                        <a:spcAft>
                          <a:spcPts val="0"/>
                        </a:spcAft>
                      </a:pPr>
                      <a:r>
                        <a:rPr sz="1100" b="0">
                          <a:solidFill>
                            <a:srgbClr val="333333"/>
                          </a:solidFill>
                          <a:latin typeface="Fira Code"/>
                        </a:rPr>
                        <a:t>void AR_PosControl::update(float dt)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exit immediately if no current location, destination or disarmed</a:t>
                      </a:r>
                    </a:p>
                    <a:p>
                      <a:pPr algn="l">
                        <a:lnSpc>
                          <a:spcPct val="106000"/>
                        </a:lnSpc>
                        <a:spcAft>
                          <a:spcPts val="0"/>
                        </a:spcAft>
                      </a:pPr>
                      <a:r>
                        <a:rPr sz="1100" b="0">
                          <a:solidFill>
                            <a:srgbClr val="333333"/>
                          </a:solidFill>
                          <a:latin typeface="Fira Code"/>
                        </a:rPr>
                        <a:t>    Vector3p curr_pos_NED_m;</a:t>
                      </a:r>
                    </a:p>
                    <a:p>
                      <a:pPr algn="l">
                        <a:lnSpc>
                          <a:spcPct val="106000"/>
                        </a:lnSpc>
                        <a:spcAft>
                          <a:spcPts val="0"/>
                        </a:spcAft>
                      </a:pPr>
                      <a:r>
                        <a:rPr sz="1100" b="0">
                          <a:solidFill>
                            <a:srgbClr val="333333"/>
                          </a:solidFill>
                          <a:latin typeface="Fira Code"/>
                        </a:rPr>
                        <a:t>    Vector3f curr_vel_NED;</a:t>
                      </a:r>
                    </a:p>
                    <a:p>
                      <a:pPr algn="l">
                        <a:lnSpc>
                          <a:spcPct val="106000"/>
                        </a:lnSpc>
                        <a:spcAft>
                          <a:spcPts val="0"/>
                        </a:spcAft>
                      </a:pPr>
                      <a:r>
                        <a:rPr sz="1100" b="0">
                          <a:solidFill>
                            <a:srgbClr val="333333"/>
                          </a:solidFill>
                          <a:latin typeface="Fira Code"/>
                        </a:rPr>
                        <a:t>    if (!hal.util-&gt;get_soft_armed() || !AP::ahrs().get_relative_position_NED_origin(curr_pos_NED_m) ||</a:t>
                      </a:r>
                    </a:p>
                    <a:p>
                      <a:pPr algn="l">
                        <a:lnSpc>
                          <a:spcPct val="106000"/>
                        </a:lnSpc>
                        <a:spcAft>
                          <a:spcPts val="0"/>
                        </a:spcAft>
                      </a:pPr>
                      <a:r>
                        <a:rPr sz="1100" b="0">
                          <a:solidFill>
                            <a:srgbClr val="333333"/>
                          </a:solidFill>
                          <a:latin typeface="Fira Code"/>
                        </a:rPr>
                        <a:t>        !AP::ahrs().get_velocity_NED(curr_vel_NED)) {</a:t>
                      </a:r>
                    </a:p>
                    <a:p>
                      <a:pPr algn="l">
                        <a:lnSpc>
                          <a:spcPct val="106000"/>
                        </a:lnSpc>
                        <a:spcAft>
                          <a:spcPts val="0"/>
                        </a:spcAft>
                      </a:pPr>
                      <a:r>
                        <a:rPr sz="1100" b="0">
                          <a:solidFill>
                            <a:srgbClr val="333333"/>
                          </a:solidFill>
                          <a:latin typeface="Fira Code"/>
                        </a:rPr>
                        <a:t>        _desired_speed = _atc.get_desired_speed_accel_limited(0.0f, dt);</a:t>
                      </a:r>
                    </a:p>
                    <a:p>
                      <a:pPr algn="l">
                        <a:lnSpc>
                          <a:spcPct val="106000"/>
                        </a:lnSpc>
                        <a:spcAft>
                          <a:spcPts val="0"/>
                        </a:spcAft>
                      </a:pPr>
                      <a:r>
                        <a:rPr sz="1100" b="0">
                          <a:solidFill>
                            <a:srgbClr val="333333"/>
                          </a:solidFill>
                          <a:latin typeface="Fira Code"/>
                        </a:rPr>
                        <a:t>        _desired_lat_accel = 0.0f;</a:t>
                      </a:r>
                    </a:p>
                    <a:p>
                      <a:pPr algn="l">
                        <a:lnSpc>
                          <a:spcPct val="106000"/>
                        </a:lnSpc>
                        <a:spcAft>
                          <a:spcPts val="0"/>
                        </a:spcAft>
                      </a:pPr>
                      <a:r>
                        <a:rPr sz="1100" b="0">
                          <a:solidFill>
                            <a:srgbClr val="333333"/>
                          </a:solidFill>
                          <a:latin typeface="Fira Code"/>
                        </a:rPr>
                        <a:t>        _desired_turn_rate_rads = 0.0f;</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libraries/AP_Beacon/AP_Beacon.cpp</a:t>
                      </a:r>
                      <a:r>
                        <a:rPr sz="1100" b="0">
                          <a:solidFill>
                            <a:srgbClr val="999999"/>
                          </a:solidFill>
                          <a:latin typeface="Fira Code"/>
                        </a:rPr>
                        <a:t>  ·  </a:t>
                      </a:r>
                      <a:r>
                        <a:rPr sz="1100" b="0">
                          <a:solidFill>
                            <a:srgbClr val="999999"/>
                          </a:solidFill>
                          <a:latin typeface="Fira Code"/>
                        </a:rPr>
                        <a:t>175-184</a:t>
                      </a:r>
                      <a:r>
                        <a:rPr sz="1100" b="0">
                          <a:solidFill>
                            <a:srgbClr val="999999"/>
                          </a:solidFill>
                          <a:latin typeface="Fira Code"/>
                        </a:rPr>
                        <a:t>  ·  </a:t>
                      </a:r>
                      <a:r>
                        <a:rPr sz="1100" b="0">
                          <a:solidFill>
                            <a:srgbClr val="999999"/>
                          </a:solidFill>
                          <a:latin typeface="Fira Code"/>
                        </a:rPr>
                        <a:t>AP_Beacon::get_vehicle_position_ned()</a:t>
                      </a:r>
                    </a:p>
                    <a:p>
                      <a:pPr algn="l">
                        <a:lnSpc>
                          <a:spcPct val="106000"/>
                        </a:lnSpc>
                        <a:spcAft>
                          <a:spcPts val="0"/>
                        </a:spcAft>
                      </a:pPr>
                      <a:r>
                        <a:rPr sz="1100" b="0">
                          <a:solidFill>
                            <a:srgbClr val="333333"/>
                          </a:solidFill>
                          <a:latin typeface="Fira Code"/>
                        </a:rPr>
                        <a:t>bool AP_Beacon::get_vehicle_position_ned(Vector3f &amp;position, float&amp; accuracy_estimate)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if (!device_ready()) {</a:t>
                      </a:r>
                    </a:p>
                    <a:p>
                      <a:pPr algn="l">
                        <a:lnSpc>
                          <a:spcPct val="106000"/>
                        </a:lnSpc>
                        <a:spcAft>
                          <a:spcPts val="0"/>
                        </a:spcAft>
                      </a:pPr>
                      <a:r>
                        <a:rPr sz="1100" b="0">
                          <a:solidFill>
                            <a:srgbClr val="333333"/>
                          </a:solidFill>
                          <a:latin typeface="Fira Code"/>
                        </a:rPr>
                        <a:t>        return false;</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check for timeout</a:t>
                      </a:r>
                    </a:p>
                    <a:p>
                      <a:pPr algn="l">
                        <a:lnSpc>
                          <a:spcPct val="106000"/>
                        </a:lnSpc>
                        <a:spcAft>
                          <a:spcPts val="0"/>
                        </a:spcAft>
                      </a:pPr>
                      <a:r>
                        <a:rPr sz="1100" b="0">
                          <a:solidFill>
                            <a:srgbClr val="333333"/>
                          </a:solidFill>
                          <a:latin typeface="Fira Code"/>
                        </a:rPr>
                        <a:t>    if (AP_HAL::millis() - veh_pos_update_ms &gt; AP_BEACON_TIMEOUT_MS) {</a:t>
                      </a:r>
                    </a:p>
                    <a:p>
                      <a:pPr algn="l">
                        <a:lnSpc>
                          <a:spcPct val="106000"/>
                        </a:lnSpc>
                        <a:spcAft>
                          <a:spcPts val="0"/>
                        </a:spcAft>
                      </a:pPr>
                      <a:r>
                        <a:rPr sz="1100" b="0">
                          <a:solidFill>
                            <a:srgbClr val="333333"/>
                          </a:solidFill>
                          <a:latin typeface="Fira Code"/>
                        </a:rPr>
                        <a:t>        return false;</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24–25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438194"/>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197975">
                <a:tc>
                  <a:txBody>
                    <a:bodyPr wrap="square">
                      <a:noAutofit/>
                    </a:bodyPr>
                    <a:lstStyle/>
                    <a:p>
                      <a:pPr algn="r">
                        <a:lnSpc>
                          <a:spcPct val="106000"/>
                        </a:lnSpc>
                        <a:spcAft>
                          <a:spcPts val="0"/>
                        </a:spcAft>
                      </a:pPr>
                      <a:r>
                        <a:rPr sz="1100" b="1">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libraries/AP_VisualOdom/AP_VisualOdom.cpp</a:t>
                      </a:r>
                      <a:r>
                        <a:rPr sz="1100" b="0">
                          <a:solidFill>
                            <a:srgbClr val="999999"/>
                          </a:solidFill>
                          <a:latin typeface="Fira Code"/>
                        </a:rPr>
                        <a:t>  ·  </a:t>
                      </a:r>
                      <a:r>
                        <a:rPr sz="1100" b="0">
                          <a:solidFill>
                            <a:srgbClr val="999999"/>
                          </a:solidFill>
                          <a:latin typeface="Fira Code"/>
                        </a:rPr>
                        <a:t>201-210</a:t>
                      </a:r>
                      <a:r>
                        <a:rPr sz="1100" b="0">
                          <a:solidFill>
                            <a:srgbClr val="999999"/>
                          </a:solidFill>
                          <a:latin typeface="Fira Code"/>
                        </a:rPr>
                        <a:t>  ·  </a:t>
                      </a:r>
                      <a:r>
                        <a:rPr sz="1100" b="0">
                          <a:solidFill>
                            <a:srgbClr val="999999"/>
                          </a:solidFill>
                          <a:latin typeface="Fira Code"/>
                        </a:rPr>
                        <a:t>AP_VisualOdom::handle_pose_estimate()</a:t>
                      </a:r>
                    </a:p>
                    <a:p>
                      <a:pPr algn="l">
                        <a:lnSpc>
                          <a:spcPct val="106000"/>
                        </a:lnSpc>
                        <a:spcAft>
                          <a:spcPts val="0"/>
                        </a:spcAft>
                      </a:pPr>
                      <a:r>
                        <a:rPr sz="1100" b="0">
                          <a:solidFill>
                            <a:srgbClr val="333333"/>
                          </a:solidFill>
                          <a:latin typeface="Fira Code"/>
                        </a:rPr>
                        <a:t>void AP_VisualOdom::handle_pose_estimate(uint64_t remote_time_us, uint32_t time_ms, float x, float y, float z, float roll, float pitch, float yaw, float posErr, float angErr, uint8_t reset_counter, int8_t quality)</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exit immediately if not enabled</a:t>
                      </a:r>
                    </a:p>
                    <a:p>
                      <a:pPr algn="l">
                        <a:lnSpc>
                          <a:spcPct val="106000"/>
                        </a:lnSpc>
                        <a:spcAft>
                          <a:spcPts val="0"/>
                        </a:spcAft>
                      </a:pPr>
                      <a:r>
                        <a:rPr sz="1100" b="0">
                          <a:solidFill>
                            <a:srgbClr val="333333"/>
                          </a:solidFill>
                          <a:latin typeface="Fira Code"/>
                        </a:rPr>
                        <a:t>    if (!enabled()) {</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call backend</a:t>
                      </a:r>
                    </a:p>
                    <a:p>
                      <a:pPr algn="l">
                        <a:lnSpc>
                          <a:spcPct val="106000"/>
                        </a:lnSpc>
                        <a:spcAft>
                          <a:spcPts val="0"/>
                        </a:spcAft>
                      </a:pPr>
                      <a:r>
                        <a:rPr sz="1100" b="0">
                          <a:solidFill>
                            <a:srgbClr val="333333"/>
                          </a:solidFill>
                          <a:latin typeface="Fira Code"/>
                        </a:rPr>
                        <a:t>    if (_driver != nullptr) {</a:t>
                      </a:r>
                    </a:p>
                    <a:p>
                      <a:pPr algn="l">
                        <a:lnSpc>
                          <a:spcPct val="106000"/>
                        </a:lnSpc>
                        <a:spcAft>
                          <a:spcPts val="0"/>
                        </a:spcAft>
                      </a:pPr>
                      <a:r>
                        <a:rPr sz="1100" b="0">
                          <a:solidFill>
                            <a:srgbClr val="333333"/>
                          </a:solidFill>
                          <a:latin typeface="Fira Code"/>
                        </a:rPr>
                        <a:t>        // convert attitude to quaternion and call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213450" y="384048"/>
            <a:ext cx="411622"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DIRECT EDGES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dependency map</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Table 1a: Layer 1 — direct callers / callees with typed dependency</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4001472"/>
        </p:xfrm>
        <a:graphic>
          <a:graphicData uri="http://schemas.openxmlformats.org/drawingml/2006/table">
            <a:tbl>
              <a:tblPr>
                <a:tableStyleId>{5C22544A-7EE6-4342-B048-85BDC9FD1C3A}</a:tableStyleId>
              </a:tblPr>
              <a:tblGrid>
                <a:gridCol w="685422"/>
                <a:gridCol w="2376130"/>
                <a:gridCol w="3061552"/>
                <a:gridCol w="3061552"/>
                <a:gridCol w="1873488"/>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Component/Function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Called By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Dependency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AP_GPS_UBLOX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writes GPS_State.location/status;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AP_GPS::update() → backend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AP_GPS_NMEA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writes GPS_State.location/status;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AP_GPS::update() → backend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AP_GPS_SBF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writes GPS_State.location/status;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AP_GPS::update() → backend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AP_GPS_NOVA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writes GPS_State.location/status;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AP_GPS::update() → backend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AP_GPS_SBP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writes GPS_State.location/status;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AP_GPS::update() → backend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AP_GPS_SBP2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writes GPS_State.location/status;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AP_GPS::update() → backend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AP_GPS_SIRF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writes GPS_State.location/status;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AP_GPS::update() → backend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AP_GPS_ERB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writes GPS_State.location/status;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AP_GPS::update() → backend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AP_GPS_MAV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writes GPS_State.location/status;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AP_GPS::update() → backend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DIRECT EDGES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dependency map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419389"/>
        </p:xfrm>
        <a:graphic>
          <a:graphicData uri="http://schemas.openxmlformats.org/drawingml/2006/table">
            <a:tbl>
              <a:tblPr>
                <a:tableStyleId>{5C22544A-7EE6-4342-B048-85BDC9FD1C3A}</a:tableStyleId>
              </a:tblPr>
              <a:tblGrid>
                <a:gridCol w="685422"/>
                <a:gridCol w="2376130"/>
                <a:gridCol w="3061552"/>
                <a:gridCol w="3061552"/>
                <a:gridCol w="1873488"/>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Component/Function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Called By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Dependency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AP_GPS_MSP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writes GPS_State.location/status;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AP_GPS::update() → backend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AP_GPS_GSOF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writes GPS_State.location/status;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AP_GPS::update() → backend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AP_GPS_DroneCAN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writes GPS_State.location/status;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AP_GPS::update() → backend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AP_GPS_ExternalAHRS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writes GPS_State.location/status;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AP_GPS::update() → backend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AP_GPS_SITL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writes GPS_State.location/status;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AP_GPS::update() → backend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15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AP_GPS_Backend::fill_3d_velocity()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cosf/sinf on state.ground_course; writes state.velocity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All receiver backends (UBLOX, NMEA, SIRF,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Data dependency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returns state[instance].location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NavEKF3_Measurements::readGpsData(); AP_AHRS; AC_WPNav</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17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returns state[instance].velocity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NavEKF3_Measurements::readGpsData() (PosVel 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AP_GPS::GPS_State (struct)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(data struct — no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All GPS backends (write); frontend accessors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Data dependency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AP_GPS_Blended::_calc_weights()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gps.state[].status; time deltas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AP_GPS_Blended::calc_weights()/update (blended primary)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Data dependency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10–19</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DIRECT EDGES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dependency map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165638"/>
        </p:xfrm>
        <a:graphic>
          <a:graphicData uri="http://schemas.openxmlformats.org/drawingml/2006/table">
            <a:tbl>
              <a:tblPr>
                <a:tableStyleId>{5C22544A-7EE6-4342-B048-85BDC9FD1C3A}</a:tableStyleId>
              </a:tblPr>
              <a:tblGrid>
                <a:gridCol w="685422"/>
                <a:gridCol w="2376130"/>
                <a:gridCol w="3061552"/>
                <a:gridCol w="3061552"/>
                <a:gridCol w="1873488"/>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Component/Function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Called By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Dependency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r">
                        <a:lnSpc>
                          <a:spcPct val="106000"/>
                        </a:lnSpc>
                        <a:spcAft>
                          <a:spcPts val="0"/>
                        </a:spcAft>
                      </a:pPr>
                      <a:r>
                        <a:rPr sz="1100" b="1">
                          <a:solidFill>
                            <a:srgbClr val="333333"/>
                          </a:solidFill>
                          <a:latin typeface="Fira Code"/>
                        </a:rPr>
                        <a:t>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class 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get_alt_cm(); get_vector_xy_from_origin_NE_cm()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GPS_State; AP_AHRS; AC_WPNav; AP_Mission (ubiquitous)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Data dependency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Location::get_vector_from_origin_NEU_cm()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get_alt_cm(); get_vector_xy_from_origin_NE_cm()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AC_WPNav::get_vector_NEU_cm()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22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AP_InertialNav::update()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_ahrs_ekf.get_relative_position_NE_origin_float()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Copter::read_inertia()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AC_PosControl::input_pos_NEU_cm()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input_pos_NEU_m()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 mode_auto.cpp / mode.cpp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AR_PosControl::update()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AP::ahrs().get_relative_position_NED_origin(); get_velocity_NED()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Rover mode controllers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Shared global/singleton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AP_Beacon::get_vehicle_position_ned()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device_ready(); AP_HAL::millis()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 range-beacon 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AP_VisualOdom::handle_pose_estimate()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_driver backend handle_pose_estimate()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GCS / AP_ExternalAHRS pose handlers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20–26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Code Snippet</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582282"/>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Every row’s Code Snippet, reproduced verbatim from the cited path:line range: one paragraph per source line, in the audit’s own order, with its indentation and its blank lines intact and nothing abbreviated.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228202"/>
          <a:ext cx="11058144" cy="374767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AP_GPS_UBLOX backend</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_last_pos_time = _buffer.posllh.itow;</a:t>
                      </a:r>
                    </a:p>
                    <a:p>
                      <a:pPr algn="l">
                        <a:lnSpc>
                          <a:spcPct val="106000"/>
                        </a:lnSpc>
                        <a:spcAft>
                          <a:spcPts val="0"/>
                        </a:spcAft>
                      </a:pPr>
                      <a:r>
                        <a:rPr sz="1100" b="0">
                          <a:solidFill>
                            <a:srgbClr val="333333"/>
                          </a:solidFill>
                          <a:latin typeface="Fira Code"/>
                        </a:rPr>
                        <a:t>state.location.lng = _buffer.posllh.longitude;</a:t>
                      </a:r>
                    </a:p>
                    <a:p>
                      <a:pPr algn="l">
                        <a:lnSpc>
                          <a:spcPct val="106000"/>
                        </a:lnSpc>
                        <a:spcAft>
                          <a:spcPts val="0"/>
                        </a:spcAft>
                      </a:pPr>
                      <a:r>
                        <a:rPr sz="1100" b="0">
                          <a:solidFill>
                            <a:srgbClr val="333333"/>
                          </a:solidFill>
                          <a:latin typeface="Fira Code"/>
                        </a:rPr>
                        <a:t>state.location.lat = _buffer.posllh.latitude;</a:t>
                      </a:r>
                    </a:p>
                    <a:p>
                      <a:pPr algn="l">
                        <a:lnSpc>
                          <a:spcPct val="106000"/>
                        </a:lnSpc>
                        <a:spcAft>
                          <a:spcPts val="0"/>
                        </a:spcAft>
                      </a:pPr>
                      <a:r>
                        <a:rPr sz="1100" b="0">
                          <a:solidFill>
                            <a:srgbClr val="333333"/>
                          </a:solidFill>
                          <a:latin typeface="Fira Code"/>
                        </a:rPr>
                        <a:t>state.have_undulation = true;</a:t>
                      </a:r>
                    </a:p>
                    <a:p>
                      <a:pPr algn="l">
                        <a:lnSpc>
                          <a:spcPct val="106000"/>
                        </a:lnSpc>
                        <a:spcAft>
                          <a:spcPts val="0"/>
                        </a:spcAft>
                      </a:pPr>
                      <a:r>
                        <a:rPr sz="1100" b="0">
                          <a:solidFill>
                            <a:srgbClr val="333333"/>
                          </a:solidFill>
                          <a:latin typeface="Fira Code"/>
                        </a:rPr>
                        <a:t>state.undulation = (_buffer.posllh.altitude_msl - _buffer.</a:t>
                      </a:r>
                    </a:p>
                    <a:p>
                      <a:pPr algn="l">
                        <a:lnSpc>
                          <a:spcPct val="106000"/>
                        </a:lnSpc>
                        <a:spcAft>
                          <a:spcPts val="0"/>
                        </a:spcAft>
                      </a:pPr>
                      <a:r>
                        <a:rPr sz="1100" b="0">
                          <a:solidFill>
                            <a:srgbClr val="333333"/>
                          </a:solidFill>
                          <a:latin typeface="Fira Code"/>
                        </a:rPr>
                        <a:t>posllh.altitude_ellipsoid) * 0.001;</a:t>
                      </a:r>
                    </a:p>
                    <a:p>
                      <a:pPr algn="l">
                        <a:lnSpc>
                          <a:spcPct val="106000"/>
                        </a:lnSpc>
                        <a:spcAft>
                          <a:spcPts val="0"/>
                        </a:spcAft>
                      </a:pPr>
                      <a:r>
                        <a:rPr sz="1100" b="0">
                          <a:solidFill>
                            <a:srgbClr val="333333"/>
                          </a:solidFill>
                          <a:latin typeface="Fira Code"/>
                        </a:rPr>
                        <a:t>set_alt_amsl_cm(state, _buffer.posllh.altitude_msl / 10);</a:t>
                      </a:r>
                    </a:p>
                    <a:p>
                      <a:pPr algn="l">
                        <a:lnSpc>
                          <a:spcPct val="106000"/>
                        </a:lnSpc>
                        <a:spcAft>
                          <a:spcPts val="0"/>
                        </a:spcAft>
                      </a:pPr>
                      <a:r>
                        <a:rPr sz="1100" b="0">
                          <a:solidFill>
                            <a:srgbClr val="333333"/>
                          </a:solidFill>
                          <a:latin typeface="Fira Code"/>
                        </a:rPr>
                        <a:t>state.status = next_fix;</a:t>
                      </a:r>
                    </a:p>
                    <a:p>
                      <a:pPr algn="l">
                        <a:lnSpc>
                          <a:spcPct val="106000"/>
                        </a:lnSpc>
                        <a:spcAft>
                          <a:spcPts val="0"/>
                        </a:spcAft>
                      </a:pPr>
                      <a:r>
                        <a:rPr sz="1100" b="0">
                          <a:solidFill>
                            <a:srgbClr val="333333"/>
                          </a:solidFill>
                          <a:latin typeface="Fira Code"/>
                        </a:rPr>
                        <a:t>_new_position = true;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AP_GPS_NMEA backend</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state.location.lat = _new_latitude;</a:t>
                      </a:r>
                    </a:p>
                    <a:p>
                      <a:pPr algn="l">
                        <a:lnSpc>
                          <a:spcPct val="106000"/>
                        </a:lnSpc>
                        <a:spcAft>
                          <a:spcPts val="0"/>
                        </a:spcAft>
                      </a:pPr>
                      <a:r>
                        <a:rPr sz="1100" b="0">
                          <a:solidFill>
                            <a:srgbClr val="333333"/>
                          </a:solidFill>
                          <a:latin typeface="Fira Code"/>
                        </a:rPr>
                        <a:t>state.location.lng = _new_longitude;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state.num_sats = _new_satellite_count;</a:t>
                      </a:r>
                    </a:p>
                    <a:p>
                      <a:pPr algn="l">
                        <a:lnSpc>
                          <a:spcPct val="106000"/>
                        </a:lnSpc>
                        <a:spcAft>
                          <a:spcPts val="0"/>
                        </a:spcAft>
                      </a:pPr>
                      <a:r>
                        <a:rPr sz="1100" b="0">
                          <a:solidFill>
                            <a:srgbClr val="333333"/>
                          </a:solidFill>
                          <a:latin typeface="Fira Code"/>
                        </a:rPr>
                        <a:t>state.hdop = _new_hdop;</a:t>
                      </a:r>
                    </a:p>
                    <a:p>
                      <a:pPr algn="l">
                        <a:lnSpc>
                          <a:spcPct val="106000"/>
                        </a:lnSpc>
                        <a:spcAft>
                          <a:spcPts val="0"/>
                        </a:spcAft>
                      </a:pPr>
                      <a:r>
                        <a:rPr sz="1100" b="0">
                          <a:solidFill>
                            <a:srgbClr val="333333"/>
                          </a:solidFill>
                          <a:latin typeface="Fira Code"/>
                        </a:rPr>
                        <a:t>switch(_new_quality_indicator) {</a:t>
                      </a:r>
                    </a:p>
                    <a:p>
                      <a:pPr algn="l">
                        <a:lnSpc>
                          <a:spcPct val="106000"/>
                        </a:lnSpc>
                        <a:spcAft>
                          <a:spcPts val="0"/>
                        </a:spcAft>
                      </a:pPr>
                      <a:r>
                        <a:rPr sz="1100" b="0">
                          <a:solidFill>
                            <a:srgbClr val="333333"/>
                          </a:solidFill>
                          <a:latin typeface="Fira Code"/>
                        </a:rPr>
                        <a:t>case 0: // Fix not available or invalid</a:t>
                      </a:r>
                    </a:p>
                    <a:p>
                      <a:pPr algn="l">
                        <a:lnSpc>
                          <a:spcPct val="106000"/>
                        </a:lnSpc>
                        <a:spcAft>
                          <a:spcPts val="0"/>
                        </a:spcAft>
                      </a:pPr>
                      <a:r>
                        <a:rPr sz="1100" b="0">
                          <a:solidFill>
                            <a:srgbClr val="333333"/>
                          </a:solidFill>
                          <a:latin typeface="Fira Code"/>
                        </a:rPr>
                        <a:t>state.status = AP_GPS::NO_FIX;</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6997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AP_GPS_SBF backend</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state.location.lat = (int32_t)(temp.Latitude * RAD_TO_DEG_DOUBLE * (double)1e7);</a:t>
                      </a:r>
                    </a:p>
                    <a:p>
                      <a:pPr algn="l">
                        <a:lnSpc>
                          <a:spcPct val="106000"/>
                        </a:lnSpc>
                        <a:spcAft>
                          <a:spcPts val="0"/>
                        </a:spcAft>
                      </a:pPr>
                      <a:r>
                        <a:rPr sz="1100" b="0">
                          <a:solidFill>
                            <a:srgbClr val="333333"/>
                          </a:solidFill>
                          <a:latin typeface="Fira Code"/>
                        </a:rPr>
                        <a:t>state.location.lng = (int32_t)(temp.Longitude * RAD_TO_DEG_DOUBLE * (double)1e7);</a:t>
                      </a:r>
                    </a:p>
                    <a:p>
                      <a:pPr algn="l">
                        <a:lnSpc>
                          <a:spcPct val="106000"/>
                        </a:lnSpc>
                        <a:spcAft>
                          <a:spcPts val="0"/>
                        </a:spcAft>
                      </a:pPr>
                      <a:r>
                        <a:rPr sz="1100" b="0">
                          <a:solidFill>
                            <a:srgbClr val="333333"/>
                          </a:solidFill>
                          <a:latin typeface="Fira Code"/>
                        </a:rPr>
                        <a:t>state.have_undulation = !is_DNU(temp.Undulation);</a:t>
                      </a:r>
                    </a:p>
                    <a:p>
                      <a:pPr algn="l">
                        <a:lnSpc>
                          <a:spcPct val="106000"/>
                        </a:lnSpc>
                        <a:spcAft>
                          <a:spcPts val="0"/>
                        </a:spcAft>
                      </a:pPr>
                      <a:r>
                        <a:rPr sz="1100" b="0">
                          <a:solidFill>
                            <a:srgbClr val="333333"/>
                          </a:solidFill>
                          <a:latin typeface="Fira Code"/>
                        </a:rPr>
                        <a:t>double height = temp.Height; // in metres</a:t>
                      </a:r>
                    </a:p>
                    <a:p>
                      <a:pPr algn="l">
                        <a:lnSpc>
                          <a:spcPct val="106000"/>
                        </a:lnSpc>
                        <a:spcAft>
                          <a:spcPts val="0"/>
                        </a:spcAft>
                      </a:pPr>
                      <a:r>
                        <a:rPr sz="1100" b="0">
                          <a:solidFill>
                            <a:srgbClr val="333333"/>
                          </a:solidFill>
                          <a:latin typeface="Fira Code"/>
                        </a:rPr>
                        <a:t>if (state.have_undulation) {</a:t>
                      </a:r>
                    </a:p>
                    <a:p>
                      <a:pPr algn="l">
                        <a:lnSpc>
                          <a:spcPct val="106000"/>
                        </a:lnSpc>
                        <a:spcAft>
                          <a:spcPts val="0"/>
                        </a:spcAft>
                      </a:pPr>
                      <a:r>
                        <a:rPr sz="1100" b="0">
                          <a:solidFill>
                            <a:srgbClr val="333333"/>
                          </a:solidFill>
                          <a:latin typeface="Fira Code"/>
                        </a:rPr>
                        <a:t>height -= temp.Undulation;</a:t>
                      </a:r>
                    </a:p>
                    <a:p>
                      <a:pPr algn="l">
                        <a:lnSpc>
                          <a:spcPct val="106000"/>
                        </a:lnSpc>
                        <a:spcAft>
                          <a:spcPts val="0"/>
                        </a:spcAft>
                      </a:pPr>
                      <a:r>
                        <a:rPr sz="1100" b="0">
                          <a:solidFill>
                            <a:srgbClr val="333333"/>
                          </a:solidFill>
                          <a:latin typeface="Fira Code"/>
                        </a:rPr>
                        <a:t>state.undulation = -temp.Undulation;</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AP_GPS_NOVA backend</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state.last_gps_time_ms = AP_HAL::millis();</a:t>
                      </a:r>
                    </a:p>
                    <a:p>
                      <a:pPr algn="l">
                        <a:lnSpc>
                          <a:spcPct val="106000"/>
                        </a:lnSpc>
                        <a:spcAft>
                          <a:spcPts val="0"/>
                        </a:spcAft>
                      </a:pPr>
                      <a:r>
                        <a:rPr sz="1100" b="0">
                          <a:solidFill>
                            <a:srgbClr val="333333"/>
                          </a:solidFill>
                          <a:latin typeface="Fira Code"/>
                        </a:rPr>
                        <a:t>state.location.lat = (int32_t) (bestposu.lat * (double)1e7</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state.location.lng = (int32_t) (bestposu.lng * (double)1e7</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state.have_undulation = true;</a:t>
                      </a:r>
                    </a:p>
                    <a:p>
                      <a:pPr algn="l">
                        <a:lnSpc>
                          <a:spcPct val="106000"/>
                        </a:lnSpc>
                        <a:spcAft>
                          <a:spcPts val="0"/>
                        </a:spcAft>
                      </a:pPr>
                      <a:r>
                        <a:rPr sz="1100" b="0">
                          <a:solidFill>
                            <a:srgbClr val="333333"/>
                          </a:solidFill>
                          <a:latin typeface="Fira Code"/>
                        </a:rPr>
                        <a:t>state.undulation = -bestposu.undulation;</a:t>
                      </a:r>
                    </a:p>
                    <a:p>
                      <a:pPr algn="l">
                        <a:lnSpc>
                          <a:spcPct val="106000"/>
                        </a:lnSpc>
                        <a:spcAft>
                          <a:spcPts val="0"/>
                        </a:spcAft>
                      </a:pPr>
                      <a:r>
                        <a:rPr sz="1100" b="0">
                          <a:solidFill>
                            <a:srgbClr val="333333"/>
                          </a:solidFill>
                          <a:latin typeface="Fira Code"/>
                        </a:rPr>
                        <a:t>set_alt_amsl_cm(state, bestposu.hgt * 100);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3–4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392279"/>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7181">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AP_GPS_SBP backend</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state.location.lat = (int32_t) (pos_llh-&gt;lat * (double)1e7);</a:t>
                      </a:r>
                    </a:p>
                    <a:p>
                      <a:pPr algn="l">
                        <a:lnSpc>
                          <a:spcPct val="106000"/>
                        </a:lnSpc>
                        <a:spcAft>
                          <a:spcPts val="0"/>
                        </a:spcAft>
                      </a:pPr>
                      <a:r>
                        <a:rPr sz="1100" b="0">
                          <a:solidFill>
                            <a:srgbClr val="333333"/>
                          </a:solidFill>
                          <a:latin typeface="Fira Code"/>
                        </a:rPr>
                        <a:t>state.location.lng = (int32_t) (pos_llh-&gt;lon * (double)1e7);</a:t>
                      </a:r>
                    </a:p>
                    <a:p>
                      <a:pPr algn="l">
                        <a:lnSpc>
                          <a:spcPct val="106000"/>
                        </a:lnSpc>
                        <a:spcAft>
                          <a:spcPts val="0"/>
                        </a:spcAft>
                      </a:pPr>
                      <a:r>
                        <a:rPr sz="1100" b="0">
                          <a:solidFill>
                            <a:srgbClr val="333333"/>
                          </a:solidFill>
                          <a:latin typeface="Fira Code"/>
                        </a:rPr>
                        <a:t>state.location.alt = (int32_t) (pos_llh-&gt;height * 100</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state.num_sats = pos_llh-&gt;n_sats;</a:t>
                      </a:r>
                    </a:p>
                    <a:p>
                      <a:pPr algn="l">
                        <a:lnSpc>
                          <a:spcPct val="106000"/>
                        </a:lnSpc>
                        <a:spcAft>
                          <a:spcPts val="0"/>
                        </a:spcAft>
                      </a:pPr>
                      <a:r>
                        <a:rPr sz="1100" b="0">
                          <a:solidFill>
                            <a:srgbClr val="333333"/>
                          </a:solidFill>
                          <a:latin typeface="Fira Code"/>
                        </a:rPr>
                        <a:t>if (pos_llh-&gt;flags == 0) {</a:t>
                      </a:r>
                    </a:p>
                    <a:p>
                      <a:pPr algn="l">
                        <a:lnSpc>
                          <a:spcPct val="106000"/>
                        </a:lnSpc>
                        <a:spcAft>
                          <a:spcPts val="0"/>
                        </a:spcAft>
                      </a:pPr>
                      <a:r>
                        <a:rPr sz="1100" b="0">
                          <a:solidFill>
                            <a:srgbClr val="333333"/>
                          </a:solidFill>
                          <a:latin typeface="Fira Code"/>
                        </a:rPr>
                        <a:t>state.status = AP_GPS::GPS_OK_FIX_3D;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AP_GPS_SBP2 backend</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state.location.lat = (int32_t) (last_pos_llh.lat * (double)1e7);</a:t>
                      </a:r>
                    </a:p>
                    <a:p>
                      <a:pPr algn="l">
                        <a:lnSpc>
                          <a:spcPct val="106000"/>
                        </a:lnSpc>
                        <a:spcAft>
                          <a:spcPts val="0"/>
                        </a:spcAft>
                      </a:pPr>
                      <a:r>
                        <a:rPr sz="1100" b="0">
                          <a:solidFill>
                            <a:srgbClr val="333333"/>
                          </a:solidFill>
                          <a:latin typeface="Fira Code"/>
                        </a:rPr>
                        <a:t>state.location.lng = (int32_t) (last_pos_llh.lon * (double)1e7);</a:t>
                      </a:r>
                    </a:p>
                    <a:p>
                      <a:pPr algn="l">
                        <a:lnSpc>
                          <a:spcPct val="106000"/>
                        </a:lnSpc>
                        <a:spcAft>
                          <a:spcPts val="0"/>
                        </a:spcAft>
                      </a:pPr>
                      <a:r>
                        <a:rPr sz="1100" b="0">
                          <a:solidFill>
                            <a:srgbClr val="333333"/>
                          </a:solidFill>
                          <a:latin typeface="Fira Code"/>
                        </a:rPr>
                        <a:t>state.location.alt = (int32_t) (last_pos_llh.height *</a:t>
                      </a:r>
                    </a:p>
                    <a:p>
                      <a:pPr algn="l">
                        <a:lnSpc>
                          <a:spcPct val="106000"/>
                        </a:lnSpc>
                        <a:spcAft>
                          <a:spcPts val="0"/>
                        </a:spcAft>
                      </a:pPr>
                      <a:r>
                        <a:rPr sz="1100" b="0">
                          <a:solidFill>
                            <a:srgbClr val="333333"/>
                          </a:solidFill>
                          <a:latin typeface="Fira Code"/>
                        </a:rPr>
                        <a:t>100);</a:t>
                      </a:r>
                    </a:p>
                    <a:p>
                      <a:pPr algn="l">
                        <a:lnSpc>
                          <a:spcPct val="106000"/>
                        </a:lnSpc>
                        <a:spcAft>
                          <a:spcPts val="0"/>
                        </a:spcAft>
                      </a:pPr>
                      <a:r>
                        <a:rPr sz="1100" b="0">
                          <a:solidFill>
                            <a:srgbClr val="333333"/>
                          </a:solidFill>
                          <a:latin typeface="Fira Code"/>
                        </a:rPr>
                        <a:t>state.num_sats = last_pos_llh.n_sats;</a:t>
                      </a:r>
                    </a:p>
                    <a:p>
                      <a:pPr algn="l">
                        <a:lnSpc>
                          <a:spcPct val="106000"/>
                        </a:lnSpc>
                        <a:spcAft>
                          <a:spcPts val="0"/>
                        </a:spcAft>
                      </a:pPr>
                      <a:r>
                        <a:rPr sz="1100" b="0">
                          <a:solidFill>
                            <a:srgbClr val="333333"/>
                          </a:solidFill>
                          <a:latin typeface="Fira Code"/>
                        </a:rPr>
                        <a:t>switch (last_pos_llh.flags.fix_mode) {</a:t>
                      </a:r>
                    </a:p>
                    <a:p>
                      <a:pPr algn="l">
                        <a:lnSpc>
                          <a:spcPct val="106000"/>
                        </a:lnSpc>
                        <a:spcAft>
                          <a:spcPts val="0"/>
                        </a:spcAft>
                      </a:pPr>
                      <a:r>
                        <a:rPr sz="1100" b="0">
                          <a:solidFill>
                            <a:srgbClr val="333333"/>
                          </a:solidFill>
                          <a:latin typeface="Fira Code"/>
                        </a:rPr>
                        <a:t>case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103073"/>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AP_GPS_SIRF backend</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state.status = AP_GPS::NO_FIX;</a:t>
                      </a:r>
                    </a:p>
                    <a:p>
                      <a:pPr algn="l">
                        <a:lnSpc>
                          <a:spcPct val="106000"/>
                        </a:lnSpc>
                        <a:spcAft>
                          <a:spcPts val="0"/>
                        </a:spcAft>
                      </a:pPr>
                      <a:r>
                        <a:rPr sz="1100" b="0">
                          <a:solidFill>
                            <a:srgbClr val="333333"/>
                          </a:solidFill>
                          <a:latin typeface="Fira Code"/>
                        </a:rPr>
                        <a:t>}else if ((_buffer.nav.fix_type &amp; FIX_MASK) == FIX_3D) {</a:t>
                      </a:r>
                    </a:p>
                    <a:p>
                      <a:pPr algn="l">
                        <a:lnSpc>
                          <a:spcPct val="106000"/>
                        </a:lnSpc>
                        <a:spcAft>
                          <a:spcPts val="0"/>
                        </a:spcAft>
                      </a:pPr>
                      <a:r>
                        <a:rPr sz="1100" b="0">
                          <a:solidFill>
                            <a:srgbClr val="333333"/>
                          </a:solidFill>
                          <a:latin typeface="Fira Code"/>
                        </a:rPr>
                        <a:t>state.status = AP_GPS::GPS_OK_FIX_3D;</a:t>
                      </a:r>
                    </a:p>
                    <a:p>
                      <a:pPr algn="l">
                        <a:lnSpc>
                          <a:spcPct val="106000"/>
                        </a:lnSpc>
                        <a:spcAft>
                          <a:spcPts val="0"/>
                        </a:spcAft>
                      </a:pPr>
                      <a:r>
                        <a:rPr sz="1100" b="0">
                          <a:solidFill>
                            <a:srgbClr val="333333"/>
                          </a:solidFill>
                          <a:latin typeface="Fira Code"/>
                        </a:rPr>
                        <a:t>}else{</a:t>
                      </a:r>
                    </a:p>
                    <a:p>
                      <a:pPr algn="l">
                        <a:lnSpc>
                          <a:spcPct val="106000"/>
                        </a:lnSpc>
                        <a:spcAft>
                          <a:spcPts val="0"/>
                        </a:spcAft>
                      </a:pPr>
                      <a:r>
                        <a:rPr sz="1100" b="0">
                          <a:solidFill>
                            <a:srgbClr val="333333"/>
                          </a:solidFill>
                          <a:latin typeface="Fira Code"/>
                        </a:rPr>
                        <a:t>state.status = AP_GPS::GPS_OK_FIX_2D;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state.location.lat = int32_t(be32toh(_buffer.nav.latitude));</a:t>
                      </a:r>
                    </a:p>
                    <a:p>
                      <a:pPr algn="l">
                        <a:lnSpc>
                          <a:spcPct val="106000"/>
                        </a:lnSpc>
                        <a:spcAft>
                          <a:spcPts val="0"/>
                        </a:spcAft>
                      </a:pPr>
                      <a:r>
                        <a:rPr sz="1100" b="0">
                          <a:solidFill>
                            <a:srgbClr val="333333"/>
                          </a:solidFill>
                          <a:latin typeface="Fira Code"/>
                        </a:rPr>
                        <a:t>state.location.lng = int32_t(be32toh(_buffer.nav.longitude));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197975">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AP_GPS_ERB backend</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_last_pos_time = _buffer.pos.time;</a:t>
                      </a:r>
                    </a:p>
                    <a:p>
                      <a:pPr algn="l">
                        <a:lnSpc>
                          <a:spcPct val="106000"/>
                        </a:lnSpc>
                        <a:spcAft>
                          <a:spcPts val="0"/>
                        </a:spcAft>
                      </a:pPr>
                      <a:r>
                        <a:rPr sz="1100" b="0">
                          <a:solidFill>
                            <a:srgbClr val="333333"/>
                          </a:solidFill>
                          <a:latin typeface="Fira Code"/>
                        </a:rPr>
                        <a:t>state.location.lng = (int32_t)(_buffer.pos.longitude *</a:t>
                      </a:r>
                    </a:p>
                    <a:p>
                      <a:pPr algn="l">
                        <a:lnSpc>
                          <a:spcPct val="106000"/>
                        </a:lnSpc>
                        <a:spcAft>
                          <a:spcPts val="0"/>
                        </a:spcAft>
                      </a:pPr>
                      <a:r>
                        <a:rPr sz="1100" b="0">
                          <a:solidFill>
                            <a:srgbClr val="333333"/>
                          </a:solidFill>
                          <a:latin typeface="Fira Code"/>
                        </a:rPr>
                        <a:t>(double)1e7);</a:t>
                      </a:r>
                    </a:p>
                    <a:p>
                      <a:pPr algn="l">
                        <a:lnSpc>
                          <a:spcPct val="106000"/>
                        </a:lnSpc>
                        <a:spcAft>
                          <a:spcPts val="0"/>
                        </a:spcAft>
                      </a:pPr>
                      <a:r>
                        <a:rPr sz="1100" b="0">
                          <a:solidFill>
                            <a:srgbClr val="333333"/>
                          </a:solidFill>
                          <a:latin typeface="Fira Code"/>
                        </a:rPr>
                        <a:t>state.location.lat = (int32_t)(_buffer.pos.latitude * (</a:t>
                      </a:r>
                    </a:p>
                    <a:p>
                      <a:pPr algn="l">
                        <a:lnSpc>
                          <a:spcPct val="106000"/>
                        </a:lnSpc>
                        <a:spcAft>
                          <a:spcPts val="0"/>
                        </a:spcAft>
                      </a:pPr>
                      <a:r>
                        <a:rPr sz="1100" b="0">
                          <a:solidFill>
                            <a:srgbClr val="333333"/>
                          </a:solidFill>
                          <a:latin typeface="Fira Code"/>
                        </a:rPr>
                        <a:t>double)1e7);</a:t>
                      </a:r>
                    </a:p>
                    <a:p>
                      <a:pPr algn="l">
                        <a:lnSpc>
                          <a:spcPct val="106000"/>
                        </a:lnSpc>
                        <a:spcAft>
                          <a:spcPts val="0"/>
                        </a:spcAft>
                      </a:pPr>
                      <a:r>
                        <a:rPr sz="1100" b="0">
                          <a:solidFill>
                            <a:srgbClr val="333333"/>
                          </a:solidFill>
                          <a:latin typeface="Fira Code"/>
                        </a:rPr>
                        <a:t>state.have_undulation = true;</a:t>
                      </a:r>
                    </a:p>
                    <a:p>
                      <a:pPr algn="l">
                        <a:lnSpc>
                          <a:spcPct val="106000"/>
                        </a:lnSpc>
                        <a:spcAft>
                          <a:spcPts val="0"/>
                        </a:spcAft>
                      </a:pPr>
                      <a:r>
                        <a:rPr sz="1100" b="0">
                          <a:solidFill>
                            <a:srgbClr val="333333"/>
                          </a:solidFill>
                          <a:latin typeface="Fira Code"/>
                        </a:rPr>
                        <a:t>state.undulation = _buffer.pos.altitude_msl - _buffer.pos.</a:t>
                      </a:r>
                    </a:p>
                    <a:p>
                      <a:pPr algn="l">
                        <a:lnSpc>
                          <a:spcPct val="106000"/>
                        </a:lnSpc>
                        <a:spcAft>
                          <a:spcPts val="0"/>
                        </a:spcAft>
                      </a:pPr>
                      <a:r>
                        <a:rPr sz="1100" b="0">
                          <a:solidFill>
                            <a:srgbClr val="333333"/>
                          </a:solidFill>
                          <a:latin typeface="Fira Code"/>
                        </a:rPr>
                        <a:t>altitude_ellipsoid;</a:t>
                      </a:r>
                    </a:p>
                    <a:p>
                      <a:pPr algn="l">
                        <a:lnSpc>
                          <a:spcPct val="106000"/>
                        </a:lnSpc>
                        <a:spcAft>
                          <a:spcPts val="0"/>
                        </a:spcAft>
                      </a:pPr>
                      <a:r>
                        <a:rPr sz="1100" b="0">
                          <a:solidFill>
                            <a:srgbClr val="333333"/>
                          </a:solidFill>
                          <a:latin typeface="Fira Code"/>
                        </a:rPr>
                        <a:t>set_alt_amsl_cm(state, _buffer.pos.altitude_msl * 100);</a:t>
                      </a:r>
                    </a:p>
                    <a:p>
                      <a:pPr algn="l">
                        <a:lnSpc>
                          <a:spcPct val="106000"/>
                        </a:lnSpc>
                        <a:spcAft>
                          <a:spcPts val="0"/>
                        </a:spcAft>
                      </a:pPr>
                      <a:r>
                        <a:rPr sz="1100" b="0">
                          <a:solidFill>
                            <a:srgbClr val="333333"/>
                          </a:solidFill>
                          <a:latin typeface="Fira Code"/>
                        </a:rPr>
                        <a:t>state.status = next_fix;</a:t>
                      </a:r>
                    </a:p>
                    <a:p>
                      <a:pPr algn="l">
                        <a:lnSpc>
                          <a:spcPct val="106000"/>
                        </a:lnSpc>
                        <a:spcAft>
                          <a:spcPts val="0"/>
                        </a:spcAft>
                      </a:pPr>
                      <a:r>
                        <a:rPr sz="1100" b="0">
                          <a:solidFill>
                            <a:srgbClr val="333333"/>
                          </a:solidFill>
                          <a:latin typeface="Fira Code"/>
                        </a:rPr>
                        <a:t>_new_position = true;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7–8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6997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AP_GPS_MAV backend</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state.status = (AP_GPS::GPS_Status)packet.fix_type;</a:t>
                      </a:r>
                    </a:p>
                    <a:p>
                      <a:pPr algn="l">
                        <a:lnSpc>
                          <a:spcPct val="106000"/>
                        </a:lnSpc>
                        <a:spcAft>
                          <a:spcPts val="0"/>
                        </a:spcAft>
                      </a:pPr>
                      <a:r>
                        <a:rPr sz="1100" b="0">
                          <a:solidFill>
                            <a:srgbClr val="333333"/>
                          </a:solidFill>
                          <a:latin typeface="Fira Code"/>
                        </a:rPr>
                        <a:t>Location loc = {};</a:t>
                      </a:r>
                    </a:p>
                    <a:p>
                      <a:pPr algn="l">
                        <a:lnSpc>
                          <a:spcPct val="106000"/>
                        </a:lnSpc>
                        <a:spcAft>
                          <a:spcPts val="0"/>
                        </a:spcAft>
                      </a:pPr>
                      <a:r>
                        <a:rPr sz="1100" b="0">
                          <a:solidFill>
                            <a:srgbClr val="333333"/>
                          </a:solidFill>
                          <a:latin typeface="Fira Code"/>
                        </a:rPr>
                        <a:t>loc.lat = packet.lat;</a:t>
                      </a:r>
                    </a:p>
                    <a:p>
                      <a:pPr algn="l">
                        <a:lnSpc>
                          <a:spcPct val="106000"/>
                        </a:lnSpc>
                        <a:spcAft>
                          <a:spcPts val="0"/>
                        </a:spcAft>
                      </a:pPr>
                      <a:r>
                        <a:rPr sz="1100" b="0">
                          <a:solidFill>
                            <a:srgbClr val="333333"/>
                          </a:solidFill>
                          <a:latin typeface="Fira Code"/>
                        </a:rPr>
                        <a:t>loc.lng = packet.lon;</a:t>
                      </a:r>
                    </a:p>
                    <a:p>
                      <a:pPr algn="l">
                        <a:lnSpc>
                          <a:spcPct val="106000"/>
                        </a:lnSpc>
                        <a:spcAft>
                          <a:spcPts val="0"/>
                        </a:spcAft>
                      </a:pPr>
                      <a:r>
                        <a:rPr sz="1100" b="0">
                          <a:solidFill>
                            <a:srgbClr val="333333"/>
                          </a:solidFill>
                          <a:latin typeface="Fira Code"/>
                        </a:rPr>
                        <a:t>if (have_alt) {</a:t>
                      </a:r>
                    </a:p>
                    <a:p>
                      <a:pPr algn="l">
                        <a:lnSpc>
                          <a:spcPct val="106000"/>
                        </a:lnSpc>
                        <a:spcAft>
                          <a:spcPts val="0"/>
                        </a:spcAft>
                      </a:pPr>
                      <a:r>
                        <a:rPr sz="1100" b="0">
                          <a:solidFill>
                            <a:srgbClr val="333333"/>
                          </a:solidFill>
                          <a:latin typeface="Fira Code"/>
                        </a:rPr>
                        <a:t>loc.alt = packet.alt * 100; // convert to centimeters</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state.location = loc;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AP_GPS_MSP backend</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state.status = (AP_GPS::GPS_Status)pkt.fix_type;</a:t>
                      </a:r>
                    </a:p>
                    <a:p>
                      <a:pPr algn="l">
                        <a:lnSpc>
                          <a:spcPct val="106000"/>
                        </a:lnSpc>
                        <a:spcAft>
                          <a:spcPts val="0"/>
                        </a:spcAft>
                      </a:pPr>
                      <a:r>
                        <a:rPr sz="1100" b="0">
                          <a:solidFill>
                            <a:srgbClr val="333333"/>
                          </a:solidFill>
                          <a:latin typeface="Fira Code"/>
                        </a:rPr>
                        <a:t>state.num_sats = pkt.satellites_in_view;</a:t>
                      </a:r>
                    </a:p>
                    <a:p>
                      <a:pPr algn="l">
                        <a:lnSpc>
                          <a:spcPct val="106000"/>
                        </a:lnSpc>
                        <a:spcAft>
                          <a:spcPts val="0"/>
                        </a:spcAft>
                      </a:pPr>
                      <a:r>
                        <a:rPr sz="1100" b="0">
                          <a:solidFill>
                            <a:srgbClr val="333333"/>
                          </a:solidFill>
                          <a:latin typeface="Fira Code"/>
                        </a:rPr>
                        <a:t>state.location = {</a:t>
                      </a:r>
                    </a:p>
                    <a:p>
                      <a:pPr algn="l">
                        <a:lnSpc>
                          <a:spcPct val="106000"/>
                        </a:lnSpc>
                        <a:spcAft>
                          <a:spcPts val="0"/>
                        </a:spcAft>
                      </a:pPr>
                      <a:r>
                        <a:rPr sz="1100" b="0">
                          <a:solidFill>
                            <a:srgbClr val="333333"/>
                          </a:solidFill>
                          <a:latin typeface="Fira Code"/>
                        </a:rPr>
                        <a:t>pkt.latitude,</a:t>
                      </a:r>
                    </a:p>
                    <a:p>
                      <a:pPr algn="l">
                        <a:lnSpc>
                          <a:spcPct val="106000"/>
                        </a:lnSpc>
                        <a:spcAft>
                          <a:spcPts val="0"/>
                        </a:spcAft>
                      </a:pPr>
                      <a:r>
                        <a:rPr sz="1100" b="0">
                          <a:solidFill>
                            <a:srgbClr val="333333"/>
                          </a:solidFill>
                          <a:latin typeface="Fira Code"/>
                        </a:rPr>
                        <a:t>pkt.longitude,</a:t>
                      </a:r>
                    </a:p>
                    <a:p>
                      <a:pPr algn="l">
                        <a:lnSpc>
                          <a:spcPct val="106000"/>
                        </a:lnSpc>
                        <a:spcAft>
                          <a:spcPts val="0"/>
                        </a:spcAft>
                      </a:pPr>
                      <a:r>
                        <a:rPr sz="1100" b="0">
                          <a:solidFill>
                            <a:srgbClr val="333333"/>
                          </a:solidFill>
                          <a:latin typeface="Fira Code"/>
                        </a:rPr>
                        <a:t>pkt.msl_altitude,</a:t>
                      </a:r>
                    </a:p>
                    <a:p>
                      <a:pPr algn="l">
                        <a:lnSpc>
                          <a:spcPct val="106000"/>
                        </a:lnSpc>
                        <a:spcAft>
                          <a:spcPts val="0"/>
                        </a:spcAft>
                      </a:pPr>
                      <a:r>
                        <a:rPr sz="1100" b="0">
                          <a:solidFill>
                            <a:srgbClr val="333333"/>
                          </a:solidFill>
                          <a:latin typeface="Fira Code"/>
                        </a:rPr>
                        <a:t>Location::AltFrame::ABSOLUTE</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9–10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69978"/>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7181">
                <a:tc>
                  <a:txBody>
                    <a:bodyPr wrap="square">
                      <a:noAutofit/>
                    </a:bodyPr>
                    <a:lstStyle/>
                    <a:p>
                      <a:pPr algn="r">
                        <a:lnSpc>
                          <a:spcPct val="106000"/>
                        </a:lnSpc>
                        <a:spcAft>
                          <a:spcPts val="0"/>
                        </a:spcAft>
                      </a:pPr>
                      <a:r>
                        <a:rPr sz="1100" b="1">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AP_GPS_GSOF backend</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state.location.lat = (int32_t)(RAD_TO_DEG_DOUBLE * position.latitude_rad * (double)1e7);</a:t>
                      </a:r>
                    </a:p>
                    <a:p>
                      <a:pPr algn="l">
                        <a:lnSpc>
                          <a:spcPct val="106000"/>
                        </a:lnSpc>
                        <a:spcAft>
                          <a:spcPts val="0"/>
                        </a:spcAft>
                      </a:pPr>
                      <a:r>
                        <a:rPr sz="1100" b="0">
                          <a:solidFill>
                            <a:srgbClr val="333333"/>
                          </a:solidFill>
                          <a:latin typeface="Fira Code"/>
                        </a:rPr>
                        <a:t>state.location.lng = (int32_t)(RAD_TO_DEG_DOUBLE * position.longitude_rad * (double)1e7);</a:t>
                      </a:r>
                    </a:p>
                    <a:p>
                      <a:pPr algn="l">
                        <a:lnSpc>
                          <a:spcPct val="106000"/>
                        </a:lnSpc>
                        <a:spcAft>
                          <a:spcPts val="0"/>
                        </a:spcAft>
                      </a:pPr>
                      <a:r>
                        <a:rPr sz="1100" b="0">
                          <a:solidFill>
                            <a:srgbClr val="333333"/>
                          </a:solidFill>
                          <a:latin typeface="Fira Code"/>
                        </a:rPr>
                        <a:t>state.location.alt = (int32_t)(position.altitude * 100);</a:t>
                      </a:r>
                    </a:p>
                    <a:p>
                      <a:pPr algn="l">
                        <a:lnSpc>
                          <a:spcPct val="106000"/>
                        </a:lnSpc>
                        <a:spcAft>
                          <a:spcPts val="0"/>
                        </a:spcAft>
                      </a:pPr>
                      <a:r>
                        <a:rPr sz="1100" b="0">
                          <a:solidFill>
                            <a:srgbClr val="333333"/>
                          </a:solidFill>
                          <a:latin typeface="Fira Code"/>
                        </a:rPr>
                        <a:t>state.last_gps_time_ms = AP_HAL::millis();</a:t>
                      </a:r>
                    </a:p>
                    <a:p>
                      <a:pPr algn="l">
                        <a:lnSpc>
                          <a:spcPct val="106000"/>
                        </a:lnSpc>
                        <a:spcAft>
                          <a:spcPts val="0"/>
                        </a:spcAft>
                      </a:pPr>
                      <a:r>
                        <a:rPr sz="1100" b="0">
                          <a:solidFill>
                            <a:srgbClr val="333333"/>
                          </a:solidFill>
                          <a:latin typeface="Fira Code"/>
                        </a:rPr>
                        <a:t>if ((vel.velocity_flags &amp; 1) == 1) {</a:t>
                      </a:r>
                    </a:p>
                    <a:p>
                      <a:pPr algn="l">
                        <a:lnSpc>
                          <a:spcPct val="106000"/>
                        </a:lnSpc>
                        <a:spcAft>
                          <a:spcPts val="0"/>
                        </a:spcAft>
                      </a:pPr>
                      <a:r>
                        <a:rPr sz="1100" b="0">
                          <a:solidFill>
                            <a:srgbClr val="333333"/>
                          </a:solidFill>
                          <a:latin typeface="Fira Code"/>
                        </a:rPr>
                        <a:t>state.ground_speed = vel.horizontal_velocity;</a:t>
                      </a:r>
                    </a:p>
                    <a:p>
                      <a:pPr algn="l">
                        <a:lnSpc>
                          <a:spcPct val="106000"/>
                        </a:lnSpc>
                        <a:spcAft>
                          <a:spcPts val="0"/>
                        </a:spcAft>
                      </a:pPr>
                      <a:r>
                        <a:rPr sz="1100" b="0">
                          <a:solidFill>
                            <a:srgbClr val="333333"/>
                          </a:solidFill>
                          <a:latin typeface="Fira Code"/>
                        </a:rPr>
                        <a:t>state.ground_course = wrap_360(degrees(vel.heading));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AP_GPS_DroneCAN backend</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if (msg.height_msl_mm != msg.height_ellipsoid_mm) {</a:t>
                      </a:r>
                    </a:p>
                    <a:p>
                      <a:pPr algn="l">
                        <a:lnSpc>
                          <a:spcPct val="106000"/>
                        </a:lnSpc>
                        <a:spcAft>
                          <a:spcPts val="0"/>
                        </a:spcAft>
                      </a:pPr>
                      <a:r>
                        <a:rPr sz="1100" b="0">
                          <a:solidFill>
                            <a:srgbClr val="333333"/>
                          </a:solidFill>
                          <a:latin typeface="Fira Code"/>
                        </a:rPr>
                        <a:t>seen_valid_height_ellipsoid = true;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interim_state.have_undulation = seen_valid_height_ellipsoid;</a:t>
                      </a:r>
                    </a:p>
                    <a:p>
                      <a:pPr algn="l">
                        <a:lnSpc>
                          <a:spcPct val="106000"/>
                        </a:lnSpc>
                        <a:spcAft>
                          <a:spcPts val="0"/>
                        </a:spcAft>
                      </a:pPr>
                      <a:r>
                        <a:rPr sz="1100" b="0">
                          <a:solidFill>
                            <a:srgbClr val="333333"/>
                          </a:solidFill>
                          <a:latin typeface="Fira Code"/>
                        </a:rPr>
                        <a:t>if (seen_valid_height_ellipsoid) {</a:t>
                      </a:r>
                    </a:p>
                    <a:p>
                      <a:pPr algn="l">
                        <a:lnSpc>
                          <a:spcPct val="106000"/>
                        </a:lnSpc>
                        <a:spcAft>
                          <a:spcPts val="0"/>
                        </a:spcAft>
                      </a:pPr>
                      <a:r>
                        <a:rPr sz="1100" b="0">
                          <a:solidFill>
                            <a:srgbClr val="333333"/>
                          </a:solidFill>
                          <a:latin typeface="Fira Code"/>
                        </a:rPr>
                        <a:t>interim_state.undulation = (msg.height_msl_mm - msg.height_ellipsoid_mm) * 0.001;</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interim_state.location = loc;</a:t>
                      </a:r>
                    </a:p>
                    <a:p>
                      <a:pPr algn="l">
                        <a:lnSpc>
                          <a:spcPct val="106000"/>
                        </a:lnSpc>
                        <a:spcAft>
                          <a:spcPts val="0"/>
                        </a:spcAft>
                      </a:pPr>
                      <a:r>
                        <a:rPr sz="1100" b="0">
                          <a:solidFill>
                            <a:srgbClr val="333333"/>
                          </a:solidFill>
                          <a:latin typeface="Fira Code"/>
                        </a:rPr>
                        <a:t>set_alt_amsl_cm(interim_state, alt_amsl_cm);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11–12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214581"/>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7181">
                <a:tc>
                  <a:txBody>
                    <a:bodyPr wrap="square">
                      <a:noAutofit/>
                    </a:bodyPr>
                    <a:lstStyle/>
                    <a:p>
                      <a:pPr algn="r">
                        <a:lnSpc>
                          <a:spcPct val="106000"/>
                        </a:lnSpc>
                        <a:spcAft>
                          <a:spcPts val="0"/>
                        </a:spcAft>
                      </a:pPr>
                      <a:r>
                        <a:rPr sz="1100" b="1">
                          <a:solidFill>
                            <a:srgbClr val="333333"/>
                          </a:solidFill>
                          <a:latin typeface="Fira Code"/>
                        </a:rPr>
                        <a:t>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AP_GPS_ExternalAHRS backend</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state.num_sats = pkt.satellites_in_view;</a:t>
                      </a:r>
                    </a:p>
                    <a:p>
                      <a:pPr algn="l">
                        <a:lnSpc>
                          <a:spcPct val="106000"/>
                        </a:lnSpc>
                        <a:spcAft>
                          <a:spcPts val="0"/>
                        </a:spcAft>
                      </a:pPr>
                      <a:r>
                        <a:rPr sz="1100" b="0">
                          <a:solidFill>
                            <a:srgbClr val="333333"/>
                          </a:solidFill>
                          <a:latin typeface="Fira Code"/>
                        </a:rPr>
                        <a:t>const Location loc {</a:t>
                      </a:r>
                    </a:p>
                    <a:p>
                      <a:pPr algn="l">
                        <a:lnSpc>
                          <a:spcPct val="106000"/>
                        </a:lnSpc>
                        <a:spcAft>
                          <a:spcPts val="0"/>
                        </a:spcAft>
                      </a:pPr>
                      <a:r>
                        <a:rPr sz="1100" b="0">
                          <a:solidFill>
                            <a:srgbClr val="333333"/>
                          </a:solidFill>
                          <a:latin typeface="Fira Code"/>
                        </a:rPr>
                        <a:t>pkt.latitude,</a:t>
                      </a:r>
                    </a:p>
                    <a:p>
                      <a:pPr algn="l">
                        <a:lnSpc>
                          <a:spcPct val="106000"/>
                        </a:lnSpc>
                        <a:spcAft>
                          <a:spcPts val="0"/>
                        </a:spcAft>
                      </a:pPr>
                      <a:r>
                        <a:rPr sz="1100" b="0">
                          <a:solidFill>
                            <a:srgbClr val="333333"/>
                          </a:solidFill>
                          <a:latin typeface="Fira Code"/>
                        </a:rPr>
                        <a:t>pkt.longitude,</a:t>
                      </a:r>
                    </a:p>
                    <a:p>
                      <a:pPr algn="l">
                        <a:lnSpc>
                          <a:spcPct val="106000"/>
                        </a:lnSpc>
                        <a:spcAft>
                          <a:spcPts val="0"/>
                        </a:spcAft>
                      </a:pPr>
                      <a:r>
                        <a:rPr sz="1100" b="0">
                          <a:solidFill>
                            <a:srgbClr val="333333"/>
                          </a:solidFill>
                          <a:latin typeface="Fira Code"/>
                        </a:rPr>
                        <a:t>pkt.msl_altitude,</a:t>
                      </a:r>
                    </a:p>
                    <a:p>
                      <a:pPr algn="l">
                        <a:lnSpc>
                          <a:spcPct val="106000"/>
                        </a:lnSpc>
                        <a:spcAft>
                          <a:spcPts val="0"/>
                        </a:spcAft>
                      </a:pPr>
                      <a:r>
                        <a:rPr sz="1100" b="0">
                          <a:solidFill>
                            <a:srgbClr val="333333"/>
                          </a:solidFill>
                          <a:latin typeface="Fira Code"/>
                        </a:rPr>
                        <a:t>Location::AltFrame::ABSOLUTE</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7181">
                <a:tc>
                  <a:txBody>
                    <a:bodyPr wrap="square">
                      <a:noAutofit/>
                    </a:bodyPr>
                    <a:lstStyle/>
                    <a:p>
                      <a:pPr algn="r">
                        <a:lnSpc>
                          <a:spcPct val="106000"/>
                        </a:lnSpc>
                        <a:spcAft>
                          <a:spcPts val="0"/>
                        </a:spcAft>
                      </a:pPr>
                      <a:r>
                        <a:rPr sz="1100" b="1">
                          <a:solidFill>
                            <a:srgbClr val="333333"/>
                          </a:solidFill>
                          <a:latin typeface="Fira Code"/>
                        </a:rPr>
                        <a:t>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AP_GPS_SITL backend</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state.status = AP_GPS::GPS_OK_FIX_3D;</a:t>
                      </a:r>
                    </a:p>
                    <a:p>
                      <a:pPr algn="l">
                        <a:lnSpc>
                          <a:spcPct val="106000"/>
                        </a:lnSpc>
                        <a:spcAft>
                          <a:spcPts val="0"/>
                        </a:spcAft>
                      </a:pPr>
                      <a:r>
                        <a:rPr sz="1100" b="0">
                          <a:solidFill>
                            <a:srgbClr val="333333"/>
                          </a:solidFill>
                          <a:latin typeface="Fira Code"/>
                        </a:rPr>
                        <a:t>state.num_sats = 15;</a:t>
                      </a:r>
                    </a:p>
                    <a:p>
                      <a:pPr algn="l">
                        <a:lnSpc>
                          <a:spcPct val="106000"/>
                        </a:lnSpc>
                        <a:spcAft>
                          <a:spcPts val="0"/>
                        </a:spcAft>
                      </a:pPr>
                      <a:r>
                        <a:rPr sz="1100" b="0">
                          <a:solidFill>
                            <a:srgbClr val="333333"/>
                          </a:solidFill>
                          <a:latin typeface="Fira Code"/>
                        </a:rPr>
                        <a:t>state.location = Location{</a:t>
                      </a:r>
                    </a:p>
                    <a:p>
                      <a:pPr algn="l">
                        <a:lnSpc>
                          <a:spcPct val="106000"/>
                        </a:lnSpc>
                        <a:spcAft>
                          <a:spcPts val="0"/>
                        </a:spcAft>
                      </a:pPr>
                      <a:r>
                        <a:rPr sz="1100" b="0">
                          <a:solidFill>
                            <a:srgbClr val="333333"/>
                          </a:solidFill>
                          <a:latin typeface="Fira Code"/>
                        </a:rPr>
                        <a:t>int32_t(latitude*1e7),</a:t>
                      </a:r>
                    </a:p>
                    <a:p>
                      <a:pPr algn="l">
                        <a:lnSpc>
                          <a:spcPct val="106000"/>
                        </a:lnSpc>
                        <a:spcAft>
                          <a:spcPts val="0"/>
                        </a:spcAft>
                      </a:pPr>
                      <a:r>
                        <a:rPr sz="1100" b="0">
                          <a:solidFill>
                            <a:srgbClr val="333333"/>
                          </a:solidFill>
                          <a:latin typeface="Fira Code"/>
                        </a:rPr>
                        <a:t>int32_t(longitude*1e7),</a:t>
                      </a:r>
                    </a:p>
                    <a:p>
                      <a:pPr algn="l">
                        <a:lnSpc>
                          <a:spcPct val="106000"/>
                        </a:lnSpc>
                        <a:spcAft>
                          <a:spcPts val="0"/>
                        </a:spcAft>
                      </a:pPr>
                      <a:r>
                        <a:rPr sz="1100" b="0">
                          <a:solidFill>
                            <a:srgbClr val="333333"/>
                          </a:solidFill>
                          <a:latin typeface="Fira Code"/>
                        </a:rPr>
                        <a:t>int32_t(altitude*100),</a:t>
                      </a:r>
                    </a:p>
                    <a:p>
                      <a:pPr algn="l">
                        <a:lnSpc>
                          <a:spcPct val="106000"/>
                        </a:lnSpc>
                        <a:spcAft>
                          <a:spcPts val="0"/>
                        </a:spcAft>
                      </a:pPr>
                      <a:r>
                        <a:rPr sz="1100" b="0">
                          <a:solidFill>
                            <a:srgbClr val="333333"/>
                          </a:solidFill>
                          <a:latin typeface="Fira Code"/>
                        </a:rPr>
                        <a:t>Location::AltFrame::ABSOLUTE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13–14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524064"/>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15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AP_GPS_Backend::fill_3d_velocity()</a:t>
                      </a:r>
                      <a:r>
                        <a:rPr sz="1100" b="0">
                          <a:solidFill>
                            <a:srgbClr val="999999"/>
                          </a:solidFill>
                          <a:latin typeface="Fira Code"/>
                        </a:rPr>
                        <a:t>  ·  </a:t>
                      </a:r>
                      <a:r>
                        <a:rPr sz="1100" b="0">
                          <a:solidFill>
                            <a:srgbClr val="999999"/>
                          </a:solidFill>
                          <a:latin typeface="Fira Code"/>
                        </a:rPr>
                        <a:t>Data dependency</a:t>
                      </a:r>
                    </a:p>
                    <a:p>
                      <a:pPr algn="l">
                        <a:lnSpc>
                          <a:spcPct val="106000"/>
                        </a:lnSpc>
                        <a:spcAft>
                          <a:spcPts val="0"/>
                        </a:spcAft>
                      </a:pPr>
                      <a:r>
                        <a:rPr sz="1100" b="0">
                          <a:solidFill>
                            <a:srgbClr val="333333"/>
                          </a:solidFill>
                          <a:latin typeface="Fira Code"/>
                        </a:rPr>
                        <a:t>void AP_GPS_Backend::fill_3d_velocity(void)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float gps_heading = radians(state.ground_course);</a:t>
                      </a:r>
                    </a:p>
                    <a:p>
                      <a:pPr algn="l">
                        <a:lnSpc>
                          <a:spcPct val="106000"/>
                        </a:lnSpc>
                        <a:spcAft>
                          <a:spcPts val="0"/>
                        </a:spcAft>
                      </a:pPr>
                      <a:r>
                        <a:rPr sz="1100" b="0">
                          <a:solidFill>
                            <a:srgbClr val="333333"/>
                          </a:solidFill>
                          <a:latin typeface="Fira Code"/>
                        </a:rPr>
                        <a:t>state.velocity.x = state.ground_speed * cosf(gps_heading);</a:t>
                      </a:r>
                    </a:p>
                    <a:p>
                      <a:pPr algn="l">
                        <a:lnSpc>
                          <a:spcPct val="106000"/>
                        </a:lnSpc>
                        <a:spcAft>
                          <a:spcPts val="0"/>
                        </a:spcAft>
                      </a:pPr>
                      <a:r>
                        <a:rPr sz="1100" b="0">
                          <a:solidFill>
                            <a:srgbClr val="333333"/>
                          </a:solidFill>
                          <a:latin typeface="Fira Code"/>
                        </a:rPr>
                        <a:t>state.velocity.y = state.ground_speed * sinf(gps_heading);</a:t>
                      </a:r>
                    </a:p>
                    <a:p>
                      <a:pPr algn="l">
                        <a:lnSpc>
                          <a:spcPct val="106000"/>
                        </a:lnSpc>
                        <a:spcAft>
                          <a:spcPts val="0"/>
                        </a:spcAft>
                      </a:pPr>
                      <a:r>
                        <a:rPr sz="1100" b="0">
                          <a:solidFill>
                            <a:srgbClr val="333333"/>
                          </a:solidFill>
                          <a:latin typeface="Fira Code"/>
                        </a:rPr>
                        <a:t>state.velocity.z = 0;</a:t>
                      </a:r>
                    </a:p>
                    <a:p>
                      <a:pPr algn="l">
                        <a:lnSpc>
                          <a:spcPct val="106000"/>
                        </a:lnSpc>
                        <a:spcAft>
                          <a:spcPts val="0"/>
                        </a:spcAft>
                      </a:pPr>
                      <a:r>
                        <a:rPr sz="1100" b="0">
                          <a:solidFill>
                            <a:srgbClr val="333333"/>
                          </a:solidFill>
                          <a:latin typeface="Fira Code"/>
                        </a:rPr>
                        <a:t>state.have_vertical_velocity = false;</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309483">
                <a:tc>
                  <a:txBody>
                    <a:bodyPr wrap="square">
                      <a:noAutofit/>
                    </a:bodyPr>
                    <a:lstStyle/>
                    <a:p>
                      <a:pPr algn="r">
                        <a:lnSpc>
                          <a:spcPct val="106000"/>
                        </a:lnSpc>
                        <a:spcAft>
                          <a:spcPts val="0"/>
                        </a:spcAft>
                      </a:pPr>
                      <a:r>
                        <a:rPr sz="1100" b="1">
                          <a:solidFill>
                            <a:srgbClr val="333333"/>
                          </a:solidFill>
                          <a:latin typeface="Fira Code"/>
                        </a:rPr>
                        <a:t>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AP_GPS::location()</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const Location &amp;location(uint8_t instance) const {</a:t>
                      </a:r>
                    </a:p>
                    <a:p>
                      <a:pPr algn="l">
                        <a:lnSpc>
                          <a:spcPct val="106000"/>
                        </a:lnSpc>
                        <a:spcAft>
                          <a:spcPts val="0"/>
                        </a:spcAft>
                      </a:pPr>
                      <a:r>
                        <a:rPr sz="1100" b="0">
                          <a:solidFill>
                            <a:srgbClr val="333333"/>
                          </a:solidFill>
                          <a:latin typeface="Fira Code"/>
                        </a:rPr>
                        <a:t>return state[instance].location;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const Location &amp;location() const {</a:t>
                      </a:r>
                    </a:p>
                    <a:p>
                      <a:pPr algn="l">
                        <a:lnSpc>
                          <a:spcPct val="106000"/>
                        </a:lnSpc>
                        <a:spcAft>
                          <a:spcPts val="0"/>
                        </a:spcAft>
                      </a:pPr>
                      <a:r>
                        <a:rPr sz="1100" b="0">
                          <a:solidFill>
                            <a:srgbClr val="333333"/>
                          </a:solidFill>
                          <a:latin typeface="Fira Code"/>
                        </a:rPr>
                        <a:t>return location(primary_instance);</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1309483">
                <a:tc>
                  <a:txBody>
                    <a:bodyPr wrap="square">
                      <a:noAutofit/>
                    </a:bodyPr>
                    <a:lstStyle/>
                    <a:p>
                      <a:pPr algn="r">
                        <a:lnSpc>
                          <a:spcPct val="106000"/>
                        </a:lnSpc>
                        <a:spcAft>
                          <a:spcPts val="0"/>
                        </a:spcAft>
                      </a:pPr>
                      <a:r>
                        <a:rPr sz="1100" b="1">
                          <a:solidFill>
                            <a:srgbClr val="333333"/>
                          </a:solidFill>
                          <a:latin typeface="Fira Code"/>
                        </a:rPr>
                        <a:t>17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AP_GPS::velocity()</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const Vector3f &amp;velocity(uint8_t instance) const {</a:t>
                      </a:r>
                    </a:p>
                    <a:p>
                      <a:pPr algn="l">
                        <a:lnSpc>
                          <a:spcPct val="106000"/>
                        </a:lnSpc>
                        <a:spcAft>
                          <a:spcPts val="0"/>
                        </a:spcAft>
                      </a:pPr>
                      <a:r>
                        <a:rPr sz="1100" b="0">
                          <a:solidFill>
                            <a:srgbClr val="333333"/>
                          </a:solidFill>
                          <a:latin typeface="Fira Code"/>
                        </a:rPr>
                        <a:t>return state[instance].velocity;</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const Vector3f &amp;velocity() const {</a:t>
                      </a:r>
                    </a:p>
                    <a:p>
                      <a:pPr algn="l">
                        <a:lnSpc>
                          <a:spcPct val="106000"/>
                        </a:lnSpc>
                        <a:spcAft>
                          <a:spcPts val="0"/>
                        </a:spcAft>
                      </a:pPr>
                      <a:r>
                        <a:rPr sz="1100" b="0">
                          <a:solidFill>
                            <a:srgbClr val="333333"/>
                          </a:solidFill>
                          <a:latin typeface="Fira Code"/>
                        </a:rPr>
                        <a:t>return velocity(primary_instance);</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15–17</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25375"/>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197975">
                <a:tc>
                  <a:txBody>
                    <a:bodyPr wrap="square">
                      <a:noAutofit/>
                    </a:bodyPr>
                    <a:lstStyle/>
                    <a:p>
                      <a:pPr algn="r">
                        <a:lnSpc>
                          <a:spcPct val="106000"/>
                        </a:lnSpc>
                        <a:spcAft>
                          <a:spcPts val="0"/>
                        </a:spcAft>
                      </a:pPr>
                      <a:r>
                        <a:rPr sz="1100" b="1">
                          <a:solidFill>
                            <a:srgbClr val="333333"/>
                          </a:solidFill>
                          <a:latin typeface="Fira Code"/>
                        </a:rPr>
                        <a:t>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AP_GPS::GPS_State (struct)</a:t>
                      </a:r>
                      <a:r>
                        <a:rPr sz="1100" b="0">
                          <a:solidFill>
                            <a:srgbClr val="999999"/>
                          </a:solidFill>
                          <a:latin typeface="Fira Code"/>
                        </a:rPr>
                        <a:t>  ·  </a:t>
                      </a:r>
                      <a:r>
                        <a:rPr sz="1100" b="0">
                          <a:solidFill>
                            <a:srgbClr val="999999"/>
                          </a:solidFill>
                          <a:latin typeface="Fira Code"/>
                        </a:rPr>
                        <a:t>Data dependency</a:t>
                      </a:r>
                    </a:p>
                    <a:p>
                      <a:pPr algn="l">
                        <a:lnSpc>
                          <a:spcPct val="106000"/>
                        </a:lnSpc>
                        <a:spcAft>
                          <a:spcPts val="0"/>
                        </a:spcAft>
                      </a:pPr>
                      <a:r>
                        <a:rPr sz="1100" b="0">
                          <a:solidFill>
                            <a:srgbClr val="333333"/>
                          </a:solidFill>
                          <a:latin typeface="Fira Code"/>
                        </a:rPr>
                        <a:t>struct GPS_State {</a:t>
                      </a:r>
                    </a:p>
                    <a:p>
                      <a:pPr algn="l">
                        <a:lnSpc>
                          <a:spcPct val="106000"/>
                        </a:lnSpc>
                        <a:spcAft>
                          <a:spcPts val="0"/>
                        </a:spcAft>
                      </a:pPr>
                      <a:r>
                        <a:rPr sz="1100" b="0">
                          <a:solidFill>
                            <a:srgbClr val="333333"/>
                          </a:solidFill>
                          <a:latin typeface="Fira Code"/>
                        </a:rPr>
                        <a:t>uint8_t instance; // the instance number of this GPS</a:t>
                      </a:r>
                    </a:p>
                    <a:p>
                      <a:pPr algn="l">
                        <a:lnSpc>
                          <a:spcPct val="106000"/>
                        </a:lnSpc>
                        <a:spcAft>
                          <a:spcPts val="0"/>
                        </a:spcAft>
                      </a:pPr>
                      <a:r>
                        <a:rPr sz="1100" b="0">
                          <a:solidFill>
                            <a:srgbClr val="333333"/>
                          </a:solidFill>
                          <a:latin typeface="Fira Code"/>
                        </a:rPr>
                        <a:t>// all the following fields must all be filled by the backend driver</a:t>
                      </a:r>
                    </a:p>
                    <a:p>
                      <a:pPr algn="l">
                        <a:lnSpc>
                          <a:spcPct val="106000"/>
                        </a:lnSpc>
                        <a:spcAft>
                          <a:spcPts val="0"/>
                        </a:spcAft>
                      </a:pPr>
                      <a:r>
                        <a:rPr sz="1100" b="0">
                          <a:solidFill>
                            <a:srgbClr val="333333"/>
                          </a:solidFill>
                          <a:latin typeface="Fira Code"/>
                        </a:rPr>
                        <a:t>GPS_Status status; ///&lt; driver fix status</a:t>
                      </a:r>
                    </a:p>
                    <a:p>
                      <a:pPr algn="l">
                        <a:lnSpc>
                          <a:spcPct val="106000"/>
                        </a:lnSpc>
                        <a:spcAft>
                          <a:spcPts val="0"/>
                        </a:spcAft>
                      </a:pPr>
                      <a:r>
                        <a:rPr sz="1100" b="0">
                          <a:solidFill>
                            <a:srgbClr val="333333"/>
                          </a:solidFill>
                          <a:latin typeface="Fira Code"/>
                        </a:rPr>
                        <a:t>uint32_t time_week_ms; ///&lt; GPS time (milliseconds from start of GPS week)</a:t>
                      </a:r>
                    </a:p>
                    <a:p>
                      <a:pPr algn="l">
                        <a:lnSpc>
                          <a:spcPct val="106000"/>
                        </a:lnSpc>
                        <a:spcAft>
                          <a:spcPts val="0"/>
                        </a:spcAft>
                      </a:pPr>
                      <a:r>
                        <a:rPr sz="1100" b="0">
                          <a:solidFill>
                            <a:srgbClr val="333333"/>
                          </a:solidFill>
                          <a:latin typeface="Fira Code"/>
                        </a:rPr>
                        <a:t>uint16_t time_week; ///&lt; GPS week number</a:t>
                      </a:r>
                    </a:p>
                    <a:p>
                      <a:pPr algn="l">
                        <a:lnSpc>
                          <a:spcPct val="106000"/>
                        </a:lnSpc>
                        <a:spcAft>
                          <a:spcPts val="0"/>
                        </a:spcAft>
                      </a:pPr>
                      <a:r>
                        <a:rPr sz="1100" b="0">
                          <a:solidFill>
                            <a:srgbClr val="333333"/>
                          </a:solidFill>
                          <a:latin typeface="Fira Code"/>
                        </a:rPr>
                        <a:t>Location location; ///&lt; last fix location</a:t>
                      </a:r>
                    </a:p>
                    <a:p>
                      <a:pPr algn="l">
                        <a:lnSpc>
                          <a:spcPct val="106000"/>
                        </a:lnSpc>
                        <a:spcAft>
                          <a:spcPts val="0"/>
                        </a:spcAft>
                      </a:pPr>
                      <a:r>
                        <a:rPr sz="1100" b="0">
                          <a:solidFill>
                            <a:srgbClr val="333333"/>
                          </a:solidFill>
                          <a:latin typeface="Fira Code"/>
                        </a:rPr>
                        <a:t>float ground_speed; ///&lt; ground speed in m</a:t>
                      </a:r>
                    </a:p>
                    <a:p>
                      <a:pPr algn="l">
                        <a:lnSpc>
                          <a:spcPct val="106000"/>
                        </a:lnSpc>
                        <a:spcAft>
                          <a:spcPts val="0"/>
                        </a:spcAft>
                      </a:pPr>
                      <a:r>
                        <a:rPr sz="1100" b="0">
                          <a:solidFill>
                            <a:srgbClr val="333333"/>
                          </a:solidFill>
                          <a:latin typeface="Fira Code"/>
                        </a:rPr>
                        <a:t>/s</a:t>
                      </a:r>
                    </a:p>
                    <a:p>
                      <a:pPr algn="l">
                        <a:lnSpc>
                          <a:spcPct val="106000"/>
                        </a:lnSpc>
                        <a:spcAft>
                          <a:spcPts val="0"/>
                        </a:spcAft>
                      </a:pPr>
                      <a:r>
                        <a:rPr sz="1100" b="0">
                          <a:solidFill>
                            <a:srgbClr val="333333"/>
                          </a:solidFill>
                          <a:latin typeface="Fira Code"/>
                        </a:rPr>
                        <a:t>float ground_course; ///&lt; ground course in</a:t>
                      </a:r>
                    </a:p>
                    <a:p>
                      <a:pPr algn="l">
                        <a:lnSpc>
                          <a:spcPct val="106000"/>
                        </a:lnSpc>
                        <a:spcAft>
                          <a:spcPts val="0"/>
                        </a:spcAft>
                      </a:pPr>
                      <a:r>
                        <a:rPr sz="1100" b="0">
                          <a:solidFill>
                            <a:srgbClr val="333333"/>
                          </a:solidFill>
                          <a:latin typeface="Fira Code"/>
                        </a:rPr>
                        <a:t>degrees, wrapped 0-360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7181">
                <a:tc>
                  <a:txBody>
                    <a:bodyPr wrap="square">
                      <a:noAutofit/>
                    </a:bodyPr>
                    <a:lstStyle/>
                    <a:p>
                      <a:pPr algn="r">
                        <a:lnSpc>
                          <a:spcPct val="106000"/>
                        </a:lnSpc>
                        <a:spcAft>
                          <a:spcPts val="0"/>
                        </a:spcAft>
                      </a:pPr>
                      <a:r>
                        <a:rPr sz="1100" b="1">
                          <a:solidFill>
                            <a:srgbClr val="333333"/>
                          </a:solidFill>
                          <a:latin typeface="Fira Code"/>
                        </a:rPr>
                        <a:t>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AP_GPS_Blended::_calc_weights()</a:t>
                      </a:r>
                      <a:r>
                        <a:rPr sz="1100" b="0">
                          <a:solidFill>
                            <a:srgbClr val="999999"/>
                          </a:solidFill>
                          <a:latin typeface="Fira Code"/>
                        </a:rPr>
                        <a:t>  ·  </a:t>
                      </a:r>
                      <a:r>
                        <a:rPr sz="1100" b="0">
                          <a:solidFill>
                            <a:srgbClr val="999999"/>
                          </a:solidFill>
                          <a:latin typeface="Fira Code"/>
                        </a:rPr>
                        <a:t>Data dependency</a:t>
                      </a:r>
                    </a:p>
                    <a:p>
                      <a:pPr algn="l">
                        <a:lnSpc>
                          <a:spcPct val="106000"/>
                        </a:lnSpc>
                        <a:spcAft>
                          <a:spcPts val="0"/>
                        </a:spcAft>
                      </a:pPr>
                      <a:r>
                        <a:rPr sz="1100" b="0">
                          <a:solidFill>
                            <a:srgbClr val="333333"/>
                          </a:solidFill>
                          <a:latin typeface="Fira Code"/>
                        </a:rPr>
                        <a:t>bool AP_GPS_Blended::_calc_weights(void)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zero the blend weights</a:t>
                      </a:r>
                    </a:p>
                    <a:p>
                      <a:pPr algn="l">
                        <a:lnSpc>
                          <a:spcPct val="106000"/>
                        </a:lnSpc>
                        <a:spcAft>
                          <a:spcPts val="0"/>
                        </a:spcAft>
                      </a:pPr>
                      <a:r>
                        <a:rPr sz="1100" b="0">
                          <a:solidFill>
                            <a:srgbClr val="333333"/>
                          </a:solidFill>
                          <a:latin typeface="Fira Code"/>
                        </a:rPr>
                        <a:t>memset(&amp;_blend_weights, 0, sizeof(_blend_weights));</a:t>
                      </a:r>
                    </a:p>
                    <a:p>
                      <a:pPr algn="l">
                        <a:lnSpc>
                          <a:spcPct val="106000"/>
                        </a:lnSpc>
                        <a:spcAft>
                          <a:spcPts val="0"/>
                        </a:spcAft>
                      </a:pPr>
                      <a:r>
                        <a:rPr sz="1100" b="0">
                          <a:solidFill>
                            <a:srgbClr val="333333"/>
                          </a:solidFill>
                          <a:latin typeface="Fira Code"/>
                        </a:rPr>
                        <a:t>static_assert(GPS_MAX_RECEIVERS == 2, "GPS blending only currently works with 2 receivers");</a:t>
                      </a:r>
                    </a:p>
                    <a:p>
                      <a:pPr algn="l">
                        <a:lnSpc>
                          <a:spcPct val="106000"/>
                        </a:lnSpc>
                        <a:spcAft>
                          <a:spcPts val="0"/>
                        </a:spcAft>
                      </a:pPr>
                      <a:r>
                        <a:rPr sz="1100" b="0">
                          <a:solidFill>
                            <a:srgbClr val="333333"/>
                          </a:solidFill>
                          <a:latin typeface="Fira Code"/>
                        </a:rPr>
                        <a:t>// Note that the early quit below relies upon exactly 2 instances</a:t>
                      </a:r>
                    </a:p>
                    <a:p>
                      <a:pPr algn="l">
                        <a:lnSpc>
                          <a:spcPct val="106000"/>
                        </a:lnSpc>
                        <a:spcAft>
                          <a:spcPts val="0"/>
                        </a:spcAft>
                      </a:pPr>
                      <a:r>
                        <a:rPr sz="1100" b="0">
                          <a:solidFill>
                            <a:srgbClr val="333333"/>
                          </a:solidFill>
                          <a:latin typeface="Fira Code"/>
                        </a:rPr>
                        <a:t>// The time delta calculations below also rely upon every instance being currently detected and being parsed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18–19</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636168"/>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375673">
                <a:tc>
                  <a:txBody>
                    <a:bodyPr wrap="square">
                      <a:noAutofit/>
                    </a:bodyPr>
                    <a:lstStyle/>
                    <a:p>
                      <a:pPr algn="r">
                        <a:lnSpc>
                          <a:spcPct val="106000"/>
                        </a:lnSpc>
                        <a:spcAft>
                          <a:spcPts val="0"/>
                        </a:spcAft>
                      </a:pPr>
                      <a:r>
                        <a:rPr sz="1100" b="1">
                          <a:solidFill>
                            <a:srgbClr val="333333"/>
                          </a:solidFill>
                          <a:latin typeface="Fira Code"/>
                        </a:rPr>
                        <a:t>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class Location</a:t>
                      </a:r>
                      <a:r>
                        <a:rPr sz="1100" b="0">
                          <a:solidFill>
                            <a:srgbClr val="999999"/>
                          </a:solidFill>
                          <a:latin typeface="Fira Code"/>
                        </a:rPr>
                        <a:t>  ·  </a:t>
                      </a:r>
                      <a:r>
                        <a:rPr sz="1100" b="0">
                          <a:solidFill>
                            <a:srgbClr val="999999"/>
                          </a:solidFill>
                          <a:latin typeface="Fira Code"/>
                        </a:rPr>
                        <a:t>Data dependency</a:t>
                      </a:r>
                    </a:p>
                    <a:p>
                      <a:pPr algn="l">
                        <a:lnSpc>
                          <a:spcPct val="106000"/>
                        </a:lnSpc>
                        <a:spcAft>
                          <a:spcPts val="0"/>
                        </a:spcAft>
                      </a:pPr>
                      <a:r>
                        <a:rPr sz="1100" b="0">
                          <a:solidFill>
                            <a:srgbClr val="333333"/>
                          </a:solidFill>
                          <a:latin typeface="Fira Code"/>
                        </a:rPr>
                        <a:t>uint8_t relative_alt : 1; // 1 if altitude is relative to home</a:t>
                      </a:r>
                    </a:p>
                    <a:p>
                      <a:pPr algn="l">
                        <a:lnSpc>
                          <a:spcPct val="106000"/>
                        </a:lnSpc>
                        <a:spcAft>
                          <a:spcPts val="0"/>
                        </a:spcAft>
                      </a:pPr>
                      <a:r>
                        <a:rPr sz="1100" b="0">
                          <a:solidFill>
                            <a:srgbClr val="333333"/>
                          </a:solidFill>
                          <a:latin typeface="Fira Code"/>
                        </a:rPr>
                        <a:t>uint8_t loiter_ccw : 1; // 0 if clockwise, 1 if counter clockwise</a:t>
                      </a:r>
                    </a:p>
                    <a:p>
                      <a:pPr algn="l">
                        <a:lnSpc>
                          <a:spcPct val="106000"/>
                        </a:lnSpc>
                        <a:spcAft>
                          <a:spcPts val="0"/>
                        </a:spcAft>
                      </a:pPr>
                      <a:r>
                        <a:rPr sz="1100" b="0">
                          <a:solidFill>
                            <a:srgbClr val="333333"/>
                          </a:solidFill>
                          <a:latin typeface="Fira Code"/>
                        </a:rPr>
                        <a:t>uint8_t terrain_alt : 1; // this altitude is above</a:t>
                      </a:r>
                    </a:p>
                    <a:p>
                      <a:pPr algn="l">
                        <a:lnSpc>
                          <a:spcPct val="106000"/>
                        </a:lnSpc>
                        <a:spcAft>
                          <a:spcPts val="0"/>
                        </a:spcAft>
                      </a:pPr>
                      <a:r>
                        <a:rPr sz="1100" b="0">
                          <a:solidFill>
                            <a:srgbClr val="333333"/>
                          </a:solidFill>
                          <a:latin typeface="Fira Code"/>
                        </a:rPr>
                        <a:t>terrain</a:t>
                      </a:r>
                    </a:p>
                    <a:p>
                      <a:pPr algn="l">
                        <a:lnSpc>
                          <a:spcPct val="106000"/>
                        </a:lnSpc>
                        <a:spcAft>
                          <a:spcPts val="0"/>
                        </a:spcAft>
                      </a:pPr>
                      <a:r>
                        <a:rPr sz="1100" b="0">
                          <a:solidFill>
                            <a:srgbClr val="333333"/>
                          </a:solidFill>
                          <a:latin typeface="Fira Code"/>
                        </a:rPr>
                        <a:t>uint8_t origin_alt : 1; // this altitude is above</a:t>
                      </a:r>
                    </a:p>
                    <a:p>
                      <a:pPr algn="l">
                        <a:lnSpc>
                          <a:spcPct val="106000"/>
                        </a:lnSpc>
                        <a:spcAft>
                          <a:spcPts val="0"/>
                        </a:spcAft>
                      </a:pPr>
                      <a:r>
                        <a:rPr sz="1100" b="0">
                          <a:solidFill>
                            <a:srgbClr val="333333"/>
                          </a:solidFill>
                          <a:latin typeface="Fira Code"/>
                        </a:rPr>
                        <a:t>ekf origin</a:t>
                      </a:r>
                    </a:p>
                    <a:p>
                      <a:pPr algn="l">
                        <a:lnSpc>
                          <a:spcPct val="106000"/>
                        </a:lnSpc>
                        <a:spcAft>
                          <a:spcPts val="0"/>
                        </a:spcAft>
                      </a:pPr>
                      <a:r>
                        <a:rPr sz="1100" b="0">
                          <a:solidFill>
                            <a:srgbClr val="333333"/>
                          </a:solidFill>
                          <a:latin typeface="Fira Code"/>
                        </a:rPr>
                        <a:t>uint8_t loiter_xtrack : 1; // 0 to crosstrack from center of waypoint, 1 to crosstrack from tangent exit location</a:t>
                      </a:r>
                    </a:p>
                    <a:p>
                      <a:pPr algn="l">
                        <a:lnSpc>
                          <a:spcPct val="106000"/>
                        </a:lnSpc>
                        <a:spcAft>
                          <a:spcPts val="0"/>
                        </a:spcAft>
                      </a:pPr>
                      <a:r>
                        <a:rPr sz="1100" b="0">
                          <a:solidFill>
                            <a:srgbClr val="333333"/>
                          </a:solidFill>
                          <a:latin typeface="Fira Code"/>
                        </a:rPr>
                        <a:t>// note that mission storage only stores 24 bits of altitude (</a:t>
                      </a:r>
                    </a:p>
                    <a:p>
                      <a:pPr algn="l">
                        <a:lnSpc>
                          <a:spcPct val="106000"/>
                        </a:lnSpc>
                        <a:spcAft>
                          <a:spcPts val="0"/>
                        </a:spcAft>
                      </a:pPr>
                      <a:r>
                        <a:rPr sz="1100" b="0">
                          <a:solidFill>
                            <a:srgbClr val="333333"/>
                          </a:solidFill>
                          <a:latin typeface="Fira Code"/>
                        </a:rPr>
                        <a:t>~ +/- 83km)</a:t>
                      </a:r>
                    </a:p>
                    <a:p>
                      <a:pPr algn="l">
                        <a:lnSpc>
                          <a:spcPct val="106000"/>
                        </a:lnSpc>
                        <a:spcAft>
                          <a:spcPts val="0"/>
                        </a:spcAft>
                      </a:pPr>
                      <a:r>
                        <a:rPr sz="1100" b="0">
                          <a:solidFill>
                            <a:srgbClr val="333333"/>
                          </a:solidFill>
                          <a:latin typeface="Fira Code"/>
                        </a:rPr>
                        <a:t>int32_t alt; // in cm</a:t>
                      </a:r>
                    </a:p>
                    <a:p>
                      <a:pPr algn="l">
                        <a:lnSpc>
                          <a:spcPct val="106000"/>
                        </a:lnSpc>
                        <a:spcAft>
                          <a:spcPts val="0"/>
                        </a:spcAft>
                      </a:pPr>
                      <a:r>
                        <a:rPr sz="1100" b="0">
                          <a:solidFill>
                            <a:srgbClr val="333333"/>
                          </a:solidFill>
                          <a:latin typeface="Fira Code"/>
                        </a:rPr>
                        <a:t>int32_t lat; // in 1E7 degrees</a:t>
                      </a:r>
                    </a:p>
                    <a:p>
                      <a:pPr algn="l">
                        <a:lnSpc>
                          <a:spcPct val="106000"/>
                        </a:lnSpc>
                        <a:spcAft>
                          <a:spcPts val="0"/>
                        </a:spcAft>
                      </a:pPr>
                      <a:r>
                        <a:rPr sz="1100" b="0">
                          <a:solidFill>
                            <a:srgbClr val="333333"/>
                          </a:solidFill>
                          <a:latin typeface="Fira Code"/>
                        </a:rPr>
                        <a:t>int32_t lng; // in 1E7 degrees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Location::get_vector_from_origin_NEU_cm()</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bool Location::get_vector_from_origin_NEU_cm(T &amp;vec_neu)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convert altitude</a:t>
                      </a:r>
                    </a:p>
                    <a:p>
                      <a:pPr algn="l">
                        <a:lnSpc>
                          <a:spcPct val="106000"/>
                        </a:lnSpc>
                        <a:spcAft>
                          <a:spcPts val="0"/>
                        </a:spcAft>
                      </a:pPr>
                      <a:r>
                        <a:rPr sz="1100" b="0">
                          <a:solidFill>
                            <a:srgbClr val="333333"/>
                          </a:solidFill>
                          <a:latin typeface="Fira Code"/>
                        </a:rPr>
                        <a:t>int32_t alt_above_origin_cm = 0;</a:t>
                      </a:r>
                    </a:p>
                    <a:p>
                      <a:pPr algn="l">
                        <a:lnSpc>
                          <a:spcPct val="106000"/>
                        </a:lnSpc>
                        <a:spcAft>
                          <a:spcPts val="0"/>
                        </a:spcAft>
                      </a:pPr>
                      <a:r>
                        <a:rPr sz="1100" b="0">
                          <a:solidFill>
                            <a:srgbClr val="333333"/>
                          </a:solidFill>
                          <a:latin typeface="Fira Code"/>
                        </a:rPr>
                        <a:t>if (!get_alt_cm(AltFrame::ABOVE_ORIGIN, alt_above_origin_cm))</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return false;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convert lat, lon</a:t>
                      </a:r>
                    </a:p>
                    <a:p>
                      <a:pPr algn="l">
                        <a:lnSpc>
                          <a:spcPct val="106000"/>
                        </a:lnSpc>
                        <a:spcAft>
                          <a:spcPts val="0"/>
                        </a:spcAft>
                      </a:pPr>
                      <a:r>
                        <a:rPr sz="1100" b="0">
                          <a:solidFill>
                            <a:srgbClr val="333333"/>
                          </a:solidFill>
                          <a:latin typeface="Fira Code"/>
                        </a:rPr>
                        <a:t>if (!get_vector_xy_from_origin_NE_cm(vec_neu.xy()))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20–21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280772"/>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22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AP_InertialNav::update()</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AP_InertialNav::update(bool high_vibes)</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get the NE position relative to the local earth frame origin</a:t>
                      </a:r>
                    </a:p>
                    <a:p>
                      <a:pPr algn="l">
                        <a:lnSpc>
                          <a:spcPct val="106000"/>
                        </a:lnSpc>
                        <a:spcAft>
                          <a:spcPts val="0"/>
                        </a:spcAft>
                      </a:pPr>
                      <a:r>
                        <a:rPr sz="1100" b="0">
                          <a:solidFill>
                            <a:srgbClr val="333333"/>
                          </a:solidFill>
                          <a:latin typeface="Fira Code"/>
                        </a:rPr>
                        <a:t>Vector2f posNE;</a:t>
                      </a:r>
                    </a:p>
                    <a:p>
                      <a:pPr algn="l">
                        <a:lnSpc>
                          <a:spcPct val="106000"/>
                        </a:lnSpc>
                        <a:spcAft>
                          <a:spcPts val="0"/>
                        </a:spcAft>
                      </a:pPr>
                      <a:r>
                        <a:rPr sz="1100" b="0">
                          <a:solidFill>
                            <a:srgbClr val="333333"/>
                          </a:solidFill>
                          <a:latin typeface="Fira Code"/>
                        </a:rPr>
                        <a:t>if (_ahrs_ekf.get_relative_position_NE_origin_float(posNE)) {</a:t>
                      </a:r>
                    </a:p>
                    <a:p>
                      <a:pPr algn="l">
                        <a:lnSpc>
                          <a:spcPct val="106000"/>
                        </a:lnSpc>
                        <a:spcAft>
                          <a:spcPts val="0"/>
                        </a:spcAft>
                      </a:pPr>
                      <a:r>
                        <a:rPr sz="1100" b="0">
                          <a:solidFill>
                            <a:srgbClr val="333333"/>
                          </a:solidFill>
                          <a:latin typeface="Fira Code"/>
                        </a:rPr>
                        <a:t>_relpos_cm.x = posNE.x * 100; // convert from m to cm</a:t>
                      </a:r>
                    </a:p>
                    <a:p>
                      <a:pPr algn="l">
                        <a:lnSpc>
                          <a:spcPct val="106000"/>
                        </a:lnSpc>
                        <a:spcAft>
                          <a:spcPts val="0"/>
                        </a:spcAft>
                      </a:pPr>
                      <a:r>
                        <a:rPr sz="1100" b="0">
                          <a:solidFill>
                            <a:srgbClr val="333333"/>
                          </a:solidFill>
                          <a:latin typeface="Fira Code"/>
                        </a:rPr>
                        <a:t>_relpos_cm.y = posNE.y * 100; // convert from m to cm</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get the D position relative to the local earth frame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197975">
                <a:tc>
                  <a:txBody>
                    <a:bodyPr wrap="square">
                      <a:noAutofit/>
                    </a:bodyPr>
                    <a:lstStyle/>
                    <a:p>
                      <a:pPr algn="r">
                        <a:lnSpc>
                          <a:spcPct val="106000"/>
                        </a:lnSpc>
                        <a:spcAft>
                          <a:spcPts val="0"/>
                        </a:spcAft>
                      </a:pPr>
                      <a:r>
                        <a:rPr sz="1100" b="1">
                          <a:solidFill>
                            <a:srgbClr val="333333"/>
                          </a:solidFill>
                          <a:latin typeface="Fira Code"/>
                        </a:rPr>
                        <a:t>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AC_PosControl::input_pos_NEU_cm()</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AC_PosControl::input_pos_NEU_cm(const Vector3p&amp; pos_neu_cm, float pos_terrain_target_u_cm, float terrain_buffer_cm)</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input_pos_NEU_m(pos_neu_cm * 0.01, pos_terrain_target_u_cm * 0</a:t>
                      </a:r>
                    </a:p>
                    <a:p>
                      <a:pPr algn="l">
                        <a:lnSpc>
                          <a:spcPct val="106000"/>
                        </a:lnSpc>
                        <a:spcAft>
                          <a:spcPts val="0"/>
                        </a:spcAft>
                      </a:pPr>
                      <a:r>
                        <a:rPr sz="1100" b="0">
                          <a:solidFill>
                            <a:srgbClr val="333333"/>
                          </a:solidFill>
                          <a:latin typeface="Fira Code"/>
                        </a:rPr>
                        <a:t>.01, terrain_buffer_cm * 0.01);</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Sets a new NEU position target in meters and computes a jerk-limited trajectory.</a:t>
                      </a:r>
                    </a:p>
                    <a:p>
                      <a:pPr algn="l">
                        <a:lnSpc>
                          <a:spcPct val="106000"/>
                        </a:lnSpc>
                        <a:spcAft>
                          <a:spcPts val="0"/>
                        </a:spcAft>
                      </a:pPr>
                      <a:r>
                        <a:rPr sz="1100" b="0">
                          <a:solidFill>
                            <a:srgbClr val="333333"/>
                          </a:solidFill>
                          <a:latin typeface="Fira Code"/>
                        </a:rPr>
                        <a:t>// Updates internal acceleration commands using a smooth kinematic</a:t>
                      </a:r>
                    </a:p>
                    <a:p>
                      <a:pPr algn="l">
                        <a:lnSpc>
                          <a:spcPct val="106000"/>
                        </a:lnSpc>
                        <a:spcAft>
                          <a:spcPts val="0"/>
                        </a:spcAft>
                      </a:pPr>
                      <a:r>
                        <a:rPr sz="1100" b="0">
                          <a:solidFill>
                            <a:srgbClr val="333333"/>
                          </a:solidFill>
                          <a:latin typeface="Fira Code"/>
                        </a:rPr>
                        <a:t>path constrained</a:t>
                      </a:r>
                    </a:p>
                    <a:p>
                      <a:pPr algn="l">
                        <a:lnSpc>
                          <a:spcPct val="106000"/>
                        </a:lnSpc>
                        <a:spcAft>
                          <a:spcPts val="0"/>
                        </a:spcAft>
                      </a:pPr>
                      <a:r>
                        <a:rPr sz="1100" b="0">
                          <a:solidFill>
                            <a:srgbClr val="333333"/>
                          </a:solidFill>
                          <a:latin typeface="Fira Code"/>
                        </a:rPr>
                        <a:t>// by configured acceleration and jerk limits. Terrain margin is used to constrain</a:t>
                      </a:r>
                    </a:p>
                    <a:p>
                      <a:pPr algn="l">
                        <a:lnSpc>
                          <a:spcPct val="106000"/>
                        </a:lnSpc>
                        <a:spcAft>
                          <a:spcPts val="0"/>
                        </a:spcAft>
                      </a:pPr>
                      <a:r>
                        <a:rPr sz="1100" b="0">
                          <a:solidFill>
                            <a:srgbClr val="333333"/>
                          </a:solidFill>
                          <a:latin typeface="Fira Code"/>
                        </a:rPr>
                        <a:t>// horizontal velocity to avoid vertical buffer violation.</a:t>
                      </a:r>
                    </a:p>
                    <a:p>
                      <a:pPr algn="l">
                        <a:lnSpc>
                          <a:spcPct val="106000"/>
                        </a:lnSpc>
                        <a:spcAft>
                          <a:spcPts val="0"/>
                        </a:spcAft>
                      </a:pPr>
                      <a:r>
                        <a:rPr sz="1100" b="0">
                          <a:solidFill>
                            <a:srgbClr val="333333"/>
                          </a:solidFill>
                          <a:latin typeface="Fira Code"/>
                        </a:rPr>
                        <a:t>void AC_PosControl::input_pos_NEU_m(const Vector3p&amp; pos_neu_m, float pos_terrain_target_u_m, float terrain_buffer_m)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22–23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458470"/>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197975">
                <a:tc>
                  <a:txBody>
                    <a:bodyPr wrap="square">
                      <a:noAutofit/>
                    </a:bodyPr>
                    <a:lstStyle/>
                    <a:p>
                      <a:pPr algn="r">
                        <a:lnSpc>
                          <a:spcPct val="106000"/>
                        </a:lnSpc>
                        <a:spcAft>
                          <a:spcPts val="0"/>
                        </a:spcAft>
                      </a:pPr>
                      <a:r>
                        <a:rPr sz="1100" b="1">
                          <a:solidFill>
                            <a:srgbClr val="333333"/>
                          </a:solidFill>
                          <a:latin typeface="Fira Code"/>
                        </a:rPr>
                        <a:t>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AR_PosControl::update()</a:t>
                      </a:r>
                      <a:r>
                        <a:rPr sz="1100" b="0">
                          <a:solidFill>
                            <a:srgbClr val="999999"/>
                          </a:solidFill>
                          <a:latin typeface="Fira Code"/>
                        </a:rPr>
                        <a:t>  ·  </a:t>
                      </a:r>
                      <a:r>
                        <a:rPr sz="1100" b="0">
                          <a:solidFill>
                            <a:srgbClr val="999999"/>
                          </a:solidFill>
                          <a:latin typeface="Fira Code"/>
                        </a:rPr>
                        <a:t>Shared global/singleton</a:t>
                      </a:r>
                    </a:p>
                    <a:p>
                      <a:pPr algn="l">
                        <a:lnSpc>
                          <a:spcPct val="106000"/>
                        </a:lnSpc>
                        <a:spcAft>
                          <a:spcPts val="0"/>
                        </a:spcAft>
                      </a:pPr>
                      <a:r>
                        <a:rPr sz="1100" b="0">
                          <a:solidFill>
                            <a:srgbClr val="333333"/>
                          </a:solidFill>
                          <a:latin typeface="Fira Code"/>
                        </a:rPr>
                        <a:t>void AR_PosControl::update(float dt)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exit immediately if no current location, destination or disarmed</a:t>
                      </a:r>
                    </a:p>
                    <a:p>
                      <a:pPr algn="l">
                        <a:lnSpc>
                          <a:spcPct val="106000"/>
                        </a:lnSpc>
                        <a:spcAft>
                          <a:spcPts val="0"/>
                        </a:spcAft>
                      </a:pPr>
                      <a:r>
                        <a:rPr sz="1100" b="0">
                          <a:solidFill>
                            <a:srgbClr val="333333"/>
                          </a:solidFill>
                          <a:latin typeface="Fira Code"/>
                        </a:rPr>
                        <a:t>Vector3p curr_pos_NED_m;</a:t>
                      </a:r>
                    </a:p>
                    <a:p>
                      <a:pPr algn="l">
                        <a:lnSpc>
                          <a:spcPct val="106000"/>
                        </a:lnSpc>
                        <a:spcAft>
                          <a:spcPts val="0"/>
                        </a:spcAft>
                      </a:pPr>
                      <a:r>
                        <a:rPr sz="1100" b="0">
                          <a:solidFill>
                            <a:srgbClr val="333333"/>
                          </a:solidFill>
                          <a:latin typeface="Fira Code"/>
                        </a:rPr>
                        <a:t>Vector3f curr_vel_NED;</a:t>
                      </a:r>
                    </a:p>
                    <a:p>
                      <a:pPr algn="l">
                        <a:lnSpc>
                          <a:spcPct val="106000"/>
                        </a:lnSpc>
                        <a:spcAft>
                          <a:spcPts val="0"/>
                        </a:spcAft>
                      </a:pPr>
                      <a:r>
                        <a:rPr sz="1100" b="0">
                          <a:solidFill>
                            <a:srgbClr val="333333"/>
                          </a:solidFill>
                          <a:latin typeface="Fira Code"/>
                        </a:rPr>
                        <a:t>if (!hal.util-&gt;get_soft_armed() || !AP::ahrs().get_relative_position_NED_origin(curr_pos_NED_m) ||</a:t>
                      </a:r>
                    </a:p>
                    <a:p>
                      <a:pPr algn="l">
                        <a:lnSpc>
                          <a:spcPct val="106000"/>
                        </a:lnSpc>
                        <a:spcAft>
                          <a:spcPts val="0"/>
                        </a:spcAft>
                      </a:pPr>
                      <a:r>
                        <a:rPr sz="1100" b="0">
                          <a:solidFill>
                            <a:srgbClr val="333333"/>
                          </a:solidFill>
                          <a:latin typeface="Fira Code"/>
                        </a:rPr>
                        <a:t>!AP::ahrs().get_velocity_NED(curr_vel_NED)) {</a:t>
                      </a:r>
                    </a:p>
                    <a:p>
                      <a:pPr algn="l">
                        <a:lnSpc>
                          <a:spcPct val="106000"/>
                        </a:lnSpc>
                        <a:spcAft>
                          <a:spcPts val="0"/>
                        </a:spcAft>
                      </a:pPr>
                      <a:r>
                        <a:rPr sz="1100" b="0">
                          <a:solidFill>
                            <a:srgbClr val="333333"/>
                          </a:solidFill>
                          <a:latin typeface="Fira Code"/>
                        </a:rPr>
                        <a:t>_desired_speed = _atc.get_desired_speed_accel_limited(0.0f</a:t>
                      </a:r>
                    </a:p>
                    <a:p>
                      <a:pPr algn="l">
                        <a:lnSpc>
                          <a:spcPct val="106000"/>
                        </a:lnSpc>
                        <a:spcAft>
                          <a:spcPts val="0"/>
                        </a:spcAft>
                      </a:pPr>
                      <a:r>
                        <a:rPr sz="1100" b="0">
                          <a:solidFill>
                            <a:srgbClr val="333333"/>
                          </a:solidFill>
                          <a:latin typeface="Fira Code"/>
                        </a:rPr>
                        <a:t>, dt);</a:t>
                      </a:r>
                    </a:p>
                    <a:p>
                      <a:pPr algn="l">
                        <a:lnSpc>
                          <a:spcPct val="106000"/>
                        </a:lnSpc>
                        <a:spcAft>
                          <a:spcPts val="0"/>
                        </a:spcAft>
                      </a:pPr>
                      <a:r>
                        <a:rPr sz="1100" b="0">
                          <a:solidFill>
                            <a:srgbClr val="333333"/>
                          </a:solidFill>
                          <a:latin typeface="Fira Code"/>
                        </a:rPr>
                        <a:t>_desired_lat_accel = 0.0f;</a:t>
                      </a:r>
                    </a:p>
                    <a:p>
                      <a:pPr algn="l">
                        <a:lnSpc>
                          <a:spcPct val="106000"/>
                        </a:lnSpc>
                        <a:spcAft>
                          <a:spcPts val="0"/>
                        </a:spcAft>
                      </a:pPr>
                      <a:r>
                        <a:rPr sz="1100" b="0">
                          <a:solidFill>
                            <a:srgbClr val="333333"/>
                          </a:solidFill>
                          <a:latin typeface="Fira Code"/>
                        </a:rPr>
                        <a:t>_desired_turn_rate_rads = 0.0f;</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AP_Beacon::get_vehicle_position_ned()</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bool AP_Beacon::get_vehicle_position_ned(Vector3f &amp;position, float</a:t>
                      </a:r>
                    </a:p>
                    <a:p>
                      <a:pPr algn="l">
                        <a:lnSpc>
                          <a:spcPct val="106000"/>
                        </a:lnSpc>
                        <a:spcAft>
                          <a:spcPts val="0"/>
                        </a:spcAft>
                      </a:pPr>
                      <a:r>
                        <a:rPr sz="1100" b="0">
                          <a:solidFill>
                            <a:srgbClr val="333333"/>
                          </a:solidFill>
                          <a:latin typeface="Fira Code"/>
                        </a:rPr>
                        <a:t>&amp; accuracy_estimate)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if (!device_ready()) {</a:t>
                      </a:r>
                    </a:p>
                    <a:p>
                      <a:pPr algn="l">
                        <a:lnSpc>
                          <a:spcPct val="106000"/>
                        </a:lnSpc>
                        <a:spcAft>
                          <a:spcPts val="0"/>
                        </a:spcAft>
                      </a:pPr>
                      <a:r>
                        <a:rPr sz="1100" b="0">
                          <a:solidFill>
                            <a:srgbClr val="333333"/>
                          </a:solidFill>
                          <a:latin typeface="Fira Code"/>
                        </a:rPr>
                        <a:t>return false;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check for timeout</a:t>
                      </a:r>
                    </a:p>
                    <a:p>
                      <a:pPr algn="l">
                        <a:lnSpc>
                          <a:spcPct val="106000"/>
                        </a:lnSpc>
                        <a:spcAft>
                          <a:spcPts val="0"/>
                        </a:spcAft>
                      </a:pPr>
                      <a:r>
                        <a:rPr sz="1100" b="0">
                          <a:solidFill>
                            <a:srgbClr val="333333"/>
                          </a:solidFill>
                          <a:latin typeface="Fira Code"/>
                        </a:rPr>
                        <a:t>if (AP_HAL::millis() - veh_pos_update_ms &gt; AP_BEACON_TIMEOUT_MS) {</a:t>
                      </a:r>
                    </a:p>
                    <a:p>
                      <a:pPr algn="l">
                        <a:lnSpc>
                          <a:spcPct val="106000"/>
                        </a:lnSpc>
                        <a:spcAft>
                          <a:spcPts val="0"/>
                        </a:spcAft>
                      </a:pPr>
                      <a:r>
                        <a:rPr sz="1100" b="0">
                          <a:solidFill>
                            <a:srgbClr val="333333"/>
                          </a:solidFill>
                          <a:latin typeface="Fira Code"/>
                        </a:rPr>
                        <a:t>return false;</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24–25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615892"/>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375673">
                <a:tc>
                  <a:txBody>
                    <a:bodyPr wrap="square">
                      <a:noAutofit/>
                    </a:bodyPr>
                    <a:lstStyle/>
                    <a:p>
                      <a:pPr algn="r">
                        <a:lnSpc>
                          <a:spcPct val="106000"/>
                        </a:lnSpc>
                        <a:spcAft>
                          <a:spcPts val="0"/>
                        </a:spcAft>
                      </a:pPr>
                      <a:r>
                        <a:rPr sz="1100" b="1">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AP_VisualOdom::handle_pose_estimate()</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void AP_VisualOdom::handle_pose_estimate(uint64_t remote_time_us,</a:t>
                      </a:r>
                    </a:p>
                    <a:p>
                      <a:pPr algn="l">
                        <a:lnSpc>
                          <a:spcPct val="106000"/>
                        </a:lnSpc>
                        <a:spcAft>
                          <a:spcPts val="0"/>
                        </a:spcAft>
                      </a:pPr>
                      <a:r>
                        <a:rPr sz="1100" b="0">
                          <a:solidFill>
                            <a:srgbClr val="333333"/>
                          </a:solidFill>
                          <a:latin typeface="Fira Code"/>
                        </a:rPr>
                        <a:t>uint32_t time_ms, float x, float y, float z, float roll, float pitch, float yaw, float posErr, float angErr, uint8_t reset_counter,</a:t>
                      </a:r>
                    </a:p>
                    <a:p>
                      <a:pPr algn="l">
                        <a:lnSpc>
                          <a:spcPct val="106000"/>
                        </a:lnSpc>
                        <a:spcAft>
                          <a:spcPts val="0"/>
                        </a:spcAft>
                      </a:pPr>
                      <a:r>
                        <a:rPr sz="1100" b="0">
                          <a:solidFill>
                            <a:srgbClr val="333333"/>
                          </a:solidFill>
                          <a:latin typeface="Fira Code"/>
                        </a:rPr>
                        <a:t>int8_t quality)</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exit immediately if not enabled</a:t>
                      </a:r>
                    </a:p>
                    <a:p>
                      <a:pPr algn="l">
                        <a:lnSpc>
                          <a:spcPct val="106000"/>
                        </a:lnSpc>
                        <a:spcAft>
                          <a:spcPts val="0"/>
                        </a:spcAft>
                      </a:pPr>
                      <a:r>
                        <a:rPr sz="1100" b="0">
                          <a:solidFill>
                            <a:srgbClr val="333333"/>
                          </a:solidFill>
                          <a:latin typeface="Fira Code"/>
                        </a:rPr>
                        <a:t>if (!enabled()) {</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call backend</a:t>
                      </a:r>
                    </a:p>
                    <a:p>
                      <a:pPr algn="l">
                        <a:lnSpc>
                          <a:spcPct val="106000"/>
                        </a:lnSpc>
                        <a:spcAft>
                          <a:spcPts val="0"/>
                        </a:spcAft>
                      </a:pPr>
                      <a:r>
                        <a:rPr sz="1100" b="0">
                          <a:solidFill>
                            <a:srgbClr val="333333"/>
                          </a:solidFill>
                          <a:latin typeface="Fira Code"/>
                        </a:rPr>
                        <a:t>if (_driver != nullptr) {</a:t>
                      </a:r>
                    </a:p>
                    <a:p>
                      <a:pPr algn="l">
                        <a:lnSpc>
                          <a:spcPct val="106000"/>
                        </a:lnSpc>
                        <a:spcAft>
                          <a:spcPts val="0"/>
                        </a:spcAft>
                      </a:pPr>
                      <a:r>
                        <a:rPr sz="1100" b="0">
                          <a:solidFill>
                            <a:srgbClr val="333333"/>
                          </a:solidFill>
                          <a:latin typeface="Fira Code"/>
                        </a:rPr>
                        <a:t>// convert attitude to quaternion and call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213450" y="384048"/>
            <a:ext cx="411622"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 5, 6, 8</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2 transitive chains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Table 1a: Layer 2 — full transitive chain, final consumer &amp; hop depth</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3386133"/>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4108">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AP_GPS_UBLOX (state.location)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AP_GPS_UBLOX → AP_GPS::location()/velocity() → NavEKF3_Measurements::readGpsData (gps.location/gps.velocity) → NavEKF3::FuseVelPosNED → AP_AHRS::get_location()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 / SRV_Channel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Sensor source to actuator; GPS ingested in AP_NavEKF3_Measurements.cpp (readGpsData) before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4108">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AP_GPS_NMEA (state.location)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AP_GPS_NMEA → AP_GPS::location()/velocity() → NavEKF3_Measurements::readGpsData (gps.location/gps.velocity) → NavEKF3::FuseVelPosNED → AP_AHRS::get_location()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 / SRV_Channel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Sensor source to actuator; GPS ingested in AP_NavEKF3_Measurements.cpp (readGpsData) before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566928" y="5421092"/>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9" name="TextBox 8"/>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 5, 6, 8</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386133"/>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4108">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AP_GPS_SBF (state.location)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AP_GPS_SBF → AP_GPS::location()/velocity() → NavEKF3_Measurements::readGpsData (gps.location/gps.velocity) → NavEKF3::FuseVelPosNED → AP_AHRS::get_location()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 / SRV_Channel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Sensor source to actuator; GPS ingested in AP_NavEKF3_Measurements.cpp (readGpsData) before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4108">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AP_GPS_NOVA (state.location)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AP_GPS_NOVA → AP_GPS::location()/velocity() → NavEKF3_Measurements::readGpsData (gps.location/gps.velocity) → NavEKF3::FuseVelPosNED → AP_AHRS::get_location()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 / SRV_Channel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Sensor source to actuator; GPS ingested in AP_NavEKF3_Measurements.cpp (readGpsData) before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566928" y="5105205"/>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3–4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 5, 6, 8</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386133"/>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4108">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AP_GPS_SBP (state.location)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AP_GPS_SBP → AP_GPS::location()/velocity() → NavEKF3_Measurements::readGpsData (gps.location/gps.velocity) → NavEKF3::FuseVelPosNED → AP_AHRS::get_location()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 / SRV_Channel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Sensor source to actuator; GPS ingested in AP_NavEKF3_Measurements.cpp (readGpsData) before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4108">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AP_GPS_SBP2 (state.location)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AP_GPS_SBP2 → AP_GPS::location()/velocity() → NavEKF3_Measurements::readGpsData (gps.location/gps.velocity) → NavEKF3::FuseVelPosNED → AP_AHRS::get_location()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 / SRV_Channel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Sensor source to actuator; GPS ingested in AP_NavEKF3_Measurements.cpp (readGpsData) before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566928" y="5105205"/>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5–6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 5, 6, 8</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386133"/>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4108">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AP_GPS_SIRF (state.location)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AP_GPS_SIRF → AP_GPS::location()/velocity() → NavEKF3_Measurements::readGpsData (gps.location/gps.velocity) → NavEKF3::FuseVelPosNED → AP_AHRS::get_location()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 / SRV_Channel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Sensor source to actuator; GPS ingested in AP_NavEKF3_Measurements.cpp (readGpsData) before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4108">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AP_GPS_ERB (state.location)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AP_GPS_ERB → AP_GPS::location()/velocity() → NavEKF3_Measurements::readGpsData (gps.location/gps.velocity) → NavEKF3::FuseVelPosNED → AP_AHRS::get_location()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 / SRV_Channel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Sensor source to actuator; GPS ingested in AP_NavEKF3_Measurements.cpp (readGpsData) before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566928" y="5105205"/>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7–8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 5, 6, 8</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386133"/>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4108">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AP_GPS_MAV (state.location)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AP_GPS_MAV → AP_GPS::location()/velocity() → NavEKF3_Measurements::readGpsData (gps.location/gps.velocity) → NavEKF3::FuseVelPosNED → AP_AHRS::get_location()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 / SRV_Channel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Sensor source to actuator; GPS ingested in AP_NavEKF3_Measurements.cpp (readGpsData) before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4108">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AP_GPS_MSP (state.location)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AP_GPS_MSP → AP_GPS::location()/velocity() → NavEKF3_Measurements::readGpsData (gps.location/gps.velocity) → NavEKF3::FuseVelPosNED → AP_AHRS::get_location()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 / SRV_Channel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Sensor source to actuator; GPS ingested in AP_NavEKF3_Measurements.cpp (readGpsData) before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566928" y="5105205"/>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9–10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 5, 6, 8</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386133"/>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4108">
                <a:tc>
                  <a:txBody>
                    <a:bodyPr wrap="square">
                      <a:noAutofit/>
                    </a:bodyPr>
                    <a:lstStyle/>
                    <a:p>
                      <a:pPr algn="r">
                        <a:lnSpc>
                          <a:spcPct val="106000"/>
                        </a:lnSpc>
                        <a:spcAft>
                          <a:spcPts val="0"/>
                        </a:spcAft>
                      </a:pPr>
                      <a:r>
                        <a:rPr sz="1100" b="1">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AP_GPS_GSOF (state.location)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AP_GPS_GSOF → AP_GPS::location()/velocity() → NavEKF3_Measurements::readGpsData (gps.location/gps.velocity) → NavEKF3::FuseVelPosNED → AP_AHRS::get_location()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 / SRV_Channel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Sensor source to actuator; GPS ingested in AP_NavEKF3_Measurements.cpp (readGpsData) before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4108">
                <a:tc>
                  <a:txBody>
                    <a:bodyPr wrap="square">
                      <a:noAutofit/>
                    </a:bodyPr>
                    <a:lstStyle/>
                    <a:p>
                      <a:pPr algn="r">
                        <a:lnSpc>
                          <a:spcPct val="106000"/>
                        </a:lnSpc>
                        <a:spcAft>
                          <a:spcPts val="0"/>
                        </a:spcAft>
                      </a:pPr>
                      <a:r>
                        <a:rPr sz="1100" b="1">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AP_GPS_DroneCAN (state.location)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AP_GPS_DroneCAN → AP_GPS::location()/velocity() → NavEKF3_Measurements::readGpsData (gps.location/gps.velocity) → NavEKF3::FuseVelPosNED → AP_AHRS::get_location()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 / SRV_Channel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Sensor source to actuator; GPS ingested in AP_NavEKF3_Measurements.cpp (readGpsData) before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566928" y="5105205"/>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11–12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 5, 6, 8</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386133"/>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4108">
                <a:tc>
                  <a:txBody>
                    <a:bodyPr wrap="square">
                      <a:noAutofit/>
                    </a:bodyPr>
                    <a:lstStyle/>
                    <a:p>
                      <a:pPr algn="r">
                        <a:lnSpc>
                          <a:spcPct val="106000"/>
                        </a:lnSpc>
                        <a:spcAft>
                          <a:spcPts val="0"/>
                        </a:spcAft>
                      </a:pPr>
                      <a:r>
                        <a:rPr sz="1100" b="1">
                          <a:solidFill>
                            <a:srgbClr val="333333"/>
                          </a:solidFill>
                          <a:latin typeface="Fira Code"/>
                        </a:rPr>
                        <a:t>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AP_GPS_ExternalAHRS (state.location)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AP_GPS_ExternalAHRS → AP_GPS::location()/velocity() → NavEKF3_Measurements::readGpsData (gps.location/gps.velocity) → NavEKF3::FuseVelPosNED → AP_AHRS::get_location()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 / SRV_Channel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Sensor source to actuator; GPS ingested in AP_NavEKF3_Measurements.cpp (readGpsData) before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4108">
                <a:tc>
                  <a:txBody>
                    <a:bodyPr wrap="square">
                      <a:noAutofit/>
                    </a:bodyPr>
                    <a:lstStyle/>
                    <a:p>
                      <a:pPr algn="r">
                        <a:lnSpc>
                          <a:spcPct val="106000"/>
                        </a:lnSpc>
                        <a:spcAft>
                          <a:spcPts val="0"/>
                        </a:spcAft>
                      </a:pPr>
                      <a:r>
                        <a:rPr sz="1100" b="1">
                          <a:solidFill>
                            <a:srgbClr val="333333"/>
                          </a:solidFill>
                          <a:latin typeface="Fira Code"/>
                        </a:rPr>
                        <a:t>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AP_GPS_SITL (state.location)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AP_GPS_SITL → AP_GPS::location()/velocity() → NavEKF3_Measurements::readGpsData (gps.location/gps.velocity) → NavEKF3::FuseVelPosNED → AP_AHRS::get_location()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 / SRV_Channel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Sensor source to actuator; GPS ingested in AP_NavEKF3_Measurements.cpp (readGpsData) before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566928" y="5105205"/>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13–14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 5, 6, 8</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221966"/>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951012">
                <a:tc>
                  <a:txBody>
                    <a:bodyPr wrap="square">
                      <a:noAutofit/>
                    </a:bodyPr>
                    <a:lstStyle/>
                    <a:p>
                      <a:pPr algn="r">
                        <a:lnSpc>
                          <a:spcPct val="106000"/>
                        </a:lnSpc>
                        <a:spcAft>
                          <a:spcPts val="0"/>
                        </a:spcAft>
                      </a:pPr>
                      <a:r>
                        <a:rPr sz="1100" b="1">
                          <a:solidFill>
                            <a:srgbClr val="333333"/>
                          </a:solidFill>
                          <a:latin typeface="Fira Code"/>
                        </a:rPr>
                        <a:t>15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GPS velocity (fill_3d_velocity)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GPS_State.velocity → AP_GPS::velocity() → NavEKF3_Measurements::readGpsData → NavEKF3::FuseVelPosNED → AP_AHRS::get_velocity_NED() → AC_PosControl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[MULTI-CATEGORY] also Navigation.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128711">
                <a:tc>
                  <a:txBody>
                    <a:bodyPr wrap="square">
                      <a:noAutofit/>
                    </a:bodyPr>
                    <a:lstStyle/>
                    <a:p>
                      <a:pPr algn="r">
                        <a:lnSpc>
                          <a:spcPct val="106000"/>
                        </a:lnSpc>
                        <a:spcAft>
                          <a:spcPts val="0"/>
                        </a:spcAft>
                      </a:pPr>
                      <a:r>
                        <a:rPr sz="1100" b="1">
                          <a:solidFill>
                            <a:srgbClr val="333333"/>
                          </a:solidFill>
                          <a:latin typeface="Fira Code"/>
                        </a:rPr>
                        <a:t>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AP_GPS::location() → NavEKF3_Measurements::readGpsData (gps.location) → NavEKF3::FuseVelPosNED → AP_AHRS::get_location() → AC_WPNav::set_wp_destination_loc → AC_PosControl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Geodetic position path (ingestion hop explicit).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951012">
                <a:tc>
                  <a:txBody>
                    <a:bodyPr wrap="square">
                      <a:noAutofit/>
                    </a:bodyPr>
                    <a:lstStyle/>
                    <a:p>
                      <a:pPr algn="r">
                        <a:lnSpc>
                          <a:spcPct val="106000"/>
                        </a:lnSpc>
                        <a:spcAft>
                          <a:spcPts val="0"/>
                        </a:spcAft>
                      </a:pPr>
                      <a:r>
                        <a:rPr sz="1100" b="1">
                          <a:solidFill>
                            <a:srgbClr val="333333"/>
                          </a:solidFill>
                          <a:latin typeface="Fira Code"/>
                        </a:rPr>
                        <a:t>17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AP_GPS::velocity() → NavEKF3_Measurements::readGpsData (gps.velocity) → NavEKF3::FuseVelPosNED → AP_AHRS::get_velocity_NED() → AC_PosControl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Velocity path (ingestion hop explicit).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GPS_State (struct)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GPS_State → AP_GPS accessors {location|velocity|time_week} → NavEKF3_Measurements → EKF/AHRS + AP_RTC → controllers +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 and AP_RTC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[SHARED-STRUCT] [MULTI-CATEGORY] branches into Table 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566928" y="5941038"/>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15–18</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 5, 6, 8</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29091"/>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r">
                        <a:lnSpc>
                          <a:spcPct val="106000"/>
                        </a:lnSpc>
                        <a:spcAft>
                          <a:spcPts val="0"/>
                        </a:spcAft>
                      </a:pPr>
                      <a:r>
                        <a:rPr sz="1100" b="1">
                          <a:solidFill>
                            <a:srgbClr val="333333"/>
                          </a:solidFill>
                          <a:latin typeface="Fira Code"/>
                        </a:rPr>
                        <a:t>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AP_GPS_Blended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Blended → AP_GPS primary (blended) location/velocity → NavEKF3_Measurements → NavEKF3::FuseVelPosNED → AP_AHRS → controllers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 upstream of EKF ingestion.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128711">
                <a:tc>
                  <a:txBody>
                    <a:bodyPr wrap="square">
                      <a:noAutofit/>
                    </a:bodyPr>
                    <a:lstStyle/>
                    <a:p>
                      <a:pPr algn="r">
                        <a:lnSpc>
                          <a:spcPct val="106000"/>
                        </a:lnSpc>
                        <a:spcAft>
                          <a:spcPts val="0"/>
                        </a:spcAft>
                      </a:pPr>
                      <a:r>
                        <a:rPr sz="1100" b="1">
                          <a:solidFill>
                            <a:srgbClr val="333333"/>
                          </a:solidFill>
                          <a:latin typeface="Fira Code"/>
                        </a:rPr>
                        <a:t>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class Location (geodetic value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Location → AC_WPNav::set_wp_destination_loc → get_vector_NEU_cm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[SHARED-STRUCT] Pervasive value type; depth measured along its dominant waypoint-control consumer branch (the AC_WPNav→PosControl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Location→NEU conversion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get_vector_from_origin_NEU_cm() → AC_WPNav::get_vector_NEU_cm → set_wp_destination_NEU_cm → AC_PosControl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AC_PosControl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Geodetic↔NED transform edge.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22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AP_InertialNav</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origin-relative pos → AP_InertialNav::update → _relpos_cm → Copter logging/reporting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GCS / logger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Reporting branch.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AC_PosControl (Sink)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 pos → AC_WPNav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Inbound chain to a Sink endpoint.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566928" y="5648163"/>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19–23</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 5, 6, 8</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1a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1849367"/>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r">
                        <a:lnSpc>
                          <a:spcPct val="106000"/>
                        </a:lnSpc>
                        <a:spcAft>
                          <a:spcPts val="0"/>
                        </a:spcAft>
                      </a:pPr>
                      <a:r>
                        <a:rPr sz="1100" b="1">
                          <a:solidFill>
                            <a:srgbClr val="333333"/>
                          </a:solidFill>
                          <a:latin typeface="Fira Code"/>
                        </a:rPr>
                        <a:t>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AR_PosControl (Sink, Rover)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 pos/vel → AR_PosControl → AR_AttitudeControl → SRV_Channels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SRV_Channels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Rover actuation endpoint.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AP_Beacon (Source)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AP_Beacon → get_vehicle_position_ned → NavEKF3 RngBcn fusion → AP_AHRS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GPS-denied 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AP_VisualOdom (Source)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AP_VisualOdom → NavEKF3 external-nav fusion → AP_AHRS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GPS-denied 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566928" y="3568439"/>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24–26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0"/>
            <a:ext cx="11058144" cy="1188720"/>
          </a:xfrm>
          <a:prstGeom prst="rect">
            <a:avLst/>
          </a:prstGeom>
          <a:noFill/>
        </p:spPr>
        <p:txBody>
          <a:bodyPr wrap="square" lIns="0" rIns="0" tIns="0" bIns="0" anchor="t">
            <a:noAutofit/>
          </a:bodyPr>
          <a:lstStyle/>
          <a:p>
            <a:pPr algn="ctr">
              <a:lnSpc>
                <a:spcPct val="110000"/>
              </a:lnSpc>
              <a:spcAft>
                <a:spcPts val="0"/>
              </a:spcAft>
            </a:pPr>
            <a:r>
              <a:rPr sz="3800" b="1">
                <a:solidFill>
                  <a:srgbClr val="FFFFFF"/>
                </a:solidFill>
                <a:latin typeface="Space Grotesk"/>
              </a:rPr>
              <a:t>Table 2 — Core Navigation</a:t>
            </a:r>
          </a:p>
        </p:txBody>
      </p:sp>
      <p:sp>
        <p:nvSpPr>
          <p:cNvPr id="3" name="TextBox 2"/>
          <p:cNvSpPr txBox="1"/>
          <p:nvPr/>
        </p:nvSpPr>
        <p:spPr>
          <a:xfrm>
            <a:off x="566928" y="3840480"/>
            <a:ext cx="11058144" cy="365760"/>
          </a:xfrm>
          <a:prstGeom prst="rect">
            <a:avLst/>
          </a:prstGeom>
          <a:noFill/>
        </p:spPr>
        <p:txBody>
          <a:bodyPr wrap="square" lIns="0" rIns="0" tIns="0" bIns="0" anchor="t">
            <a:noAutofit/>
          </a:bodyPr>
          <a:lstStyle/>
          <a:p>
            <a:pPr algn="ctr">
              <a:lnSpc>
                <a:spcPct val="100000"/>
              </a:lnSpc>
              <a:spcAft>
                <a:spcPts val="0"/>
              </a:spcAft>
            </a:pPr>
            <a:r>
              <a:rPr sz="1300" b="0">
                <a:solidFill>
                  <a:srgbClr val="94FAD5"/>
                </a:solidFill>
                <a:latin typeface="Fira Code"/>
              </a:rPr>
              <a:t>The navigation hub, the estimator stack and the guidance and mission layer.</a:t>
            </a:r>
          </a:p>
        </p:txBody>
      </p:sp>
      <p:sp>
        <p:nvSpPr>
          <p:cNvPr id="4" name="Rectangle 3"/>
          <p:cNvSpPr/>
          <p:nvPr/>
        </p:nvSpPr>
        <p:spPr>
          <a:xfrm>
            <a:off x="4724400" y="4389120"/>
            <a:ext cx="2743200" cy="91440"/>
          </a:xfrm>
          <a:prstGeom prst="rect">
            <a:avLst/>
          </a:prstGeom>
          <a:gradFill rotWithShape="1">
            <a:gsLst>
              <a:gs pos="0">
                <a:srgbClr val="5B39F3"/>
              </a:gs>
              <a:gs pos="100000">
                <a:srgbClr val="94FAD5"/>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CORE NAVIGATION</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Core Navigation</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All 28 catalogued rows, with every Notes annotation, flag token and cited path:line range exactly as printed.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4106789"/>
        </p:xfrm>
        <a:graphic>
          <a:graphicData uri="http://schemas.openxmlformats.org/drawingml/2006/table">
            <a:tbl>
              <a:tblPr>
                <a:tableStyleId>{5C22544A-7EE6-4342-B048-85BDC9FD1C3A}</a:tableStyleId>
              </a:tblPr>
              <a:tblGrid>
                <a:gridCol w="411253"/>
                <a:gridCol w="1964876"/>
                <a:gridCol w="639727"/>
                <a:gridCol w="1782097"/>
                <a:gridCol w="868201"/>
                <a:gridCol w="1599318"/>
                <a:gridCol w="3792672"/>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Role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New Service 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951012">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libraries/AP_AHRS/AP_AHRS.cpp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3600-3604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AP_AHRS::get_location()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[CIRCULAR] Central navigation hub returns the fused Location from the active EKF. Reached via AP::ahrs(). AHRS owns NavEKF2/NavEKF3 while the EKF core reads AHRS/sensor state back through AP_DAL — AHRS↔EKF mutual reference.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libraries/AP_AHRS/AP_AHRS.h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238-246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AP_AHRS::groundspeed()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Sink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Read accessor returning the already-fused state.ground_speed (m/s). Performs no fusion and produces nothing from a measurement — classified Sink (read accessor), NOT 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951012">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libraries/AP_AHRS/AP_AHRS.h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269-277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AP_AHRS::get_origin()/have_inertial_nav()</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Sink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Availability/origin read accessors (have_inertial_nav() is a user-cited symbol, L273). They report EKF availability/origin — read accessors, NOT measurement Sources; classified Sink. EKF origin is WRITTEN by the EKF (see #15 calcGpsGoodToAlign / setOrigin).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libraries/AP_AHRS/AP_AHRS.cpp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1739-1748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AP_AHRS::get_relative_position_NED_origin()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Geodetic↔NED: origin-relative NED position via active-EKF-type dispatch (DCM/EKF2/EKF3) — performs conversion on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libraries/AP_AHRS/AP_AHRS.cpp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3662-3666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AP_AHRS::get_velocity_NED()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Exposes the fused NED velocity (nav-hub output of EKF fusion); consumed by crash detection and Rover position control.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1–5</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CORE NAVIGATION</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Core Navigation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448653"/>
        </p:xfrm>
        <a:graphic>
          <a:graphicData uri="http://schemas.openxmlformats.org/drawingml/2006/table">
            <a:tbl>
              <a:tblPr>
                <a:tableStyleId>{5C22544A-7EE6-4342-B048-85BDC9FD1C3A}</a:tableStyleId>
              </a:tblPr>
              <a:tblGrid>
                <a:gridCol w="411253"/>
                <a:gridCol w="1964876"/>
                <a:gridCol w="639727"/>
                <a:gridCol w="1782097"/>
                <a:gridCol w="868201"/>
                <a:gridCol w="1599318"/>
                <a:gridCol w="3792672"/>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Role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New Service 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128711">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libraries/AP_NavEKF3/AP_NavEKF3_core.cpp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627-636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[CIRCULAR] Extended Kalman Filter predict/fuse step (the core PNT transform). AHRS owns NavEKF2/NavEKF3 while the EKF core reads AHRS/sensor state back through AP_DAL — AHRS↔EKF mutual reference. One of 13 AP_NavEKF3 fusion modules, all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306409">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libraries/AP_NavEKF3/AP_NavEKF3_PosVelFusion.cpp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502-511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NavEKF3_core::SelectVelPosFusion()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[CIRCULAR] GPS position/velocity fusion scheduling; the dtIMUavg&lt;0.005 gate couples EKF fusion cadence to the scheduler loop rate (timing coupling). AHRS owns NavEKF2/NavEKF3 while the EKF core reads AHRS/sensor state back through AP_DAL — AHRS↔EKF mutual reference. One of 13 AP_NavEKF3 fusion modules, all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libraries/AP_NavEKF3/AP_NavEKF3_PosVelFusion.cpp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694-702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Core position/velocity measurement-update (Kalman gain applied to GPS/baro NED innovations). One of 13 AP_NavEKF3 fusion modules, all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6–8</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CORE NAVIGATION</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Core Navigation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639884"/>
        </p:xfrm>
        <a:graphic>
          <a:graphicData uri="http://schemas.openxmlformats.org/drawingml/2006/table">
            <a:tbl>
              <a:tblPr>
                <a:tableStyleId>{5C22544A-7EE6-4342-B048-85BDC9FD1C3A}</a:tableStyleId>
              </a:tblPr>
              <a:tblGrid>
                <a:gridCol w="411253"/>
                <a:gridCol w="1964876"/>
                <a:gridCol w="639727"/>
                <a:gridCol w="1782097"/>
                <a:gridCol w="868201"/>
                <a:gridCol w="1599318"/>
                <a:gridCol w="3792672"/>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Role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New Service 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306409">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libraries/AP_NavEKF3/AP_NavEKF3_Measurements.cpp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559-567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NavEKF3_core::readGpsData()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[CIRCULAR] GPS ingestion into the EKF delayed-time buffer (reads gps.location()/velocity()/status via AP_DAL). This is the GPS→EKF hop omitted earlier (cf. Table 1a chains). AHRS owns NavEKF2/NavEKF3 while the EKF core reads AHRS/sensor state back through AP_DAL — AHRS↔EKF mutual reference. One of 13 AP_NavEKF3 fusion modules, all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libraries/AP_NavEKF3/AP_NavEKF3_Control.cpp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232-240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NavEKF3_core::setAidingMode()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Navigation aiding-mode state machine (none/relative/absolute) driving which PNT measurements are fused. One of 13 AP_NavEKF3 fusion modules, all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libraries/AP_NavEKF3/AP_NavEKF3_MagFusion.cpp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227-235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NavEKF3_core::SelectMagFusion()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Magnetometer/yaw fusion scheduling feeding the heading component of the navigation solution. One of 13 AP_NavEKF3 fusion modules, all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libraries/AP_NavEKF3/AP_NavEKF3_AirDataFusion.cpp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193-201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NavEKF3_core::SelectTasFusion()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True-airspeed / synthetic-sideslip fusion (wind/velocity estimation for fixed-wing nav). One of 13 AP_NavEKF3 fusion modules, all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libraries/AP_NavEKF3/AP_NavEKF3_OptFlowFusion.cpp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21-29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NavEKF3_core::SelectFlowFusion()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Optical-flow fusion scheduling for GPS-denied velocity/position aiding. One of 13 AP_NavEKF3 fusion modules, all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9–13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CORE NAVIGATION</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Core Navigation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106789"/>
        </p:xfrm>
        <a:graphic>
          <a:graphicData uri="http://schemas.openxmlformats.org/drawingml/2006/table">
            <a:tbl>
              <a:tblPr>
                <a:tableStyleId>{5C22544A-7EE6-4342-B048-85BDC9FD1C3A}</a:tableStyleId>
              </a:tblPr>
              <a:tblGrid>
                <a:gridCol w="411253"/>
                <a:gridCol w="1964876"/>
                <a:gridCol w="639727"/>
                <a:gridCol w="1782097"/>
                <a:gridCol w="868201"/>
                <a:gridCol w="1599318"/>
                <a:gridCol w="3792672"/>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Role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New Service 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r">
                        <a:lnSpc>
                          <a:spcPct val="106000"/>
                        </a:lnSpc>
                        <a:spcAft>
                          <a:spcPts val="0"/>
                        </a:spcAft>
                      </a:pPr>
                      <a:r>
                        <a:rPr sz="1100" b="1">
                          <a:solidFill>
                            <a:srgbClr val="333333"/>
                          </a:solidFill>
                          <a:latin typeface="Fira Code"/>
                        </a:rPr>
                        <a:t>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libraries/AP_NavEKF3/AP_NavEKF3_Outputs.cpp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326-334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NavEKF3_core::getLLH()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EKF position output: converts the filter state to a geodetic Location consumed by AP_AHRS. One of 13 AP_NavEKF3 fusion modules, all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15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libraries/AP_NavEKF3/AP_NavEKF3_VehicleStatus.cpp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14-22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NavEKF3_core::calcGpsGoodToAlign()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GPS-quality gate deciding whether the GPS is good enough to align/aid the navigation solution. One of 13 AP_NavEKF3 fusion modules, all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libraries/AP_NavEKF3/AP_NavEKF3_GyroBias.cpp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6-13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NavEKF3_core::resetGyroBias()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Gyro-bias state reset within the inertial-navigation state vector. One of 13 AP_NavEKF3 fusion modules, all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17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libraries/AP_NavEKF3/AP_NavEKF3_RngBcnFusion.cpp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95-103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NavEKF3_core::FuseRngBcn()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Range-beacon (non-GPS) position fusion — consumes AP_Beacon ranges (Table 1 #25). One of 13 AP_NavEKF3 fusion modules, all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libraries/AP_NavEKF3/AP_NavEKF3_Logging.cpp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15-23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NavEKF3_core::Log_Write_XKF1()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Sink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Logs the fused navigation state (pos/vel/attitude) to the dataflash; reads PNT state, drives no control — a logging Sink. One of 13 AP_NavEKF3 fusion modules, all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14–18</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CORE NAVIGATION</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Core Navigation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51393"/>
        </p:xfrm>
        <a:graphic>
          <a:graphicData uri="http://schemas.openxmlformats.org/drawingml/2006/table">
            <a:tbl>
              <a:tblPr>
                <a:tableStyleId>{5C22544A-7EE6-4342-B048-85BDC9FD1C3A}</a:tableStyleId>
              </a:tblPr>
              <a:tblGrid>
                <a:gridCol w="411253"/>
                <a:gridCol w="1964876"/>
                <a:gridCol w="639727"/>
                <a:gridCol w="1782097"/>
                <a:gridCol w="868201"/>
                <a:gridCol w="1599318"/>
                <a:gridCol w="3792672"/>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Role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New Service 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r">
                        <a:lnSpc>
                          <a:spcPct val="106000"/>
                        </a:lnSpc>
                        <a:spcAft>
                          <a:spcPts val="0"/>
                        </a:spcAft>
                      </a:pPr>
                      <a:r>
                        <a:rPr sz="1100" b="1">
                          <a:solidFill>
                            <a:srgbClr val="333333"/>
                          </a:solidFill>
                          <a:latin typeface="Fira Code"/>
                        </a:rPr>
                        <a:t>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libraries/AP_NavEKF3/AP_NavEKF3.cpp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1846-1854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NavEKF3::getFilterStatus()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EKF3 frontend: exposes the per-core nav_filter_status (position/velocity validity bits) to vehicle health logic (Group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128711">
                <a:tc>
                  <a:txBody>
                    <a:bodyPr wrap="square">
                      <a:noAutofit/>
                    </a:bodyPr>
                    <a:lstStyle/>
                    <a:p>
                      <a:pPr algn="r">
                        <a:lnSpc>
                          <a:spcPct val="106000"/>
                        </a:lnSpc>
                        <a:spcAft>
                          <a:spcPts val="0"/>
                        </a:spcAft>
                      </a:pPr>
                      <a:r>
                        <a:rPr sz="1100" b="1">
                          <a:solidFill>
                            <a:srgbClr val="333333"/>
                          </a:solidFill>
                          <a:latin typeface="Fira Code"/>
                        </a:rPr>
                        <a:t>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libraries/AP_NavEKF2/AP_NavEKF2_core.cpp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528-536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NavEKF2_core::UpdateFilter()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[CIRCULAR] [DUPLICATED] Second-generation EKF predict/fuse step; selectable alternative to EKF3. AHRS owns NavEKF2/NavEKF3 while the EKF core reads AHRS/sensor state back through AP_DAL — AHRS↔EKF mutual reference. parallel EKF implementation to AP_NavEKF3 (extraction note).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libraries/AP_NavEKF2/AP_NavEKF2_PosVelFusion.cpp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560-568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NavEKF2_core::FuseVelPosNED()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EKF2 GPS position/velocity measurement-update; structurally mirrors EKF3 FuseVelPosNED (#8).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22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libraries/AP_NavEKF/EKFGSF_yaw.cpp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30-38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EKFGSF_yaw::update()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Gaussian-Sum-Filter emergency yaw estimator (shared by EKF2/EKF3) providing a GPS-velocity-derived yaw used to recover the navigation solution.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libraries/AC_WPNav/AC_WPNav.cpp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245-254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AC_WPNav::set_wp_destination_loc()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Waypoint navigation: converts a Location waypoint to a NEU target (get_vector_NEU_cm) relative to EKF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19–23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CORE NAVIGATION</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Core Navigation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514843"/>
        </p:xfrm>
        <a:graphic>
          <a:graphicData uri="http://schemas.openxmlformats.org/drawingml/2006/table">
            <a:tbl>
              <a:tblPr>
                <a:tableStyleId>{5C22544A-7EE6-4342-B048-85BDC9FD1C3A}</a:tableStyleId>
              </a:tblPr>
              <a:tblGrid>
                <a:gridCol w="411253"/>
                <a:gridCol w="1964876"/>
                <a:gridCol w="639727"/>
                <a:gridCol w="1782097"/>
                <a:gridCol w="868201"/>
                <a:gridCol w="1599318"/>
                <a:gridCol w="3792672"/>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Role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New Service 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951012">
                <a:tc>
                  <a:txBody>
                    <a:bodyPr wrap="square">
                      <a:noAutofit/>
                    </a:bodyPr>
                    <a:lstStyle/>
                    <a:p>
                      <a:pPr algn="r">
                        <a:lnSpc>
                          <a:spcPct val="106000"/>
                        </a:lnSpc>
                        <a:spcAft>
                          <a:spcPts val="0"/>
                        </a:spcAft>
                      </a:pPr>
                      <a:r>
                        <a:rPr sz="1100" b="1">
                          <a:solidFill>
                            <a:srgbClr val="333333"/>
                          </a:solidFill>
                          <a:latin typeface="Fira Code"/>
                        </a:rPr>
                        <a:t>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libraries/AP_Mission/AP_Mission.cpp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552-561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AP_Mission::get_next_nav_cmd()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Mission-command storage reader + navigation-command sequencing: scans stored commands and returns the next NAV waypoint. NOT a PNT measurement Source — it sequences stored navigation targets (Transform).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194901">
                <a:tc>
                  <a:txBody>
                    <a:bodyPr wrap="square">
                      <a:noAutofit/>
                    </a:bodyPr>
                    <a:lstStyle/>
                    <a:p>
                      <a:pPr algn="r">
                        <a:lnSpc>
                          <a:spcPct val="106000"/>
                        </a:lnSpc>
                        <a:spcAft>
                          <a:spcPts val="0"/>
                        </a:spcAft>
                      </a:pPr>
                      <a:r>
                        <a:rPr sz="1100" b="1">
                          <a:solidFill>
                            <a:srgbClr val="333333"/>
                          </a:solidFill>
                          <a:latin typeface="Fira Code"/>
                        </a:rPr>
                        <a:t>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libraries/AP_L1_Control/AP_L1_Control.cpp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226-234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AP_L1_Control::update_waypoint()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AfsimL1Behavior::set_leg_ne() -&gt; AP_L1_Control::update_waypoint(prev, next); state via AHRS shim (get_location()/groundspeed_vector()) fed by set_state_ne(); dt via set_update_dt()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Fixed-wing lateral (L1) guidance consuming the AHRS navigation position via _ahrs.get_location() (returns early if unavailable). The same method also reads AP_HAL::micros() at L214 for the dt timing coupling.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1128711">
                <a:tc>
                  <a:txBody>
                    <a:bodyPr wrap="square">
                      <a:noAutofit/>
                    </a:bodyPr>
                    <a:lstStyle/>
                    <a:p>
                      <a:pPr algn="r">
                        <a:lnSpc>
                          <a:spcPct val="106000"/>
                        </a:lnSpc>
                        <a:spcAft>
                          <a:spcPts val="0"/>
                        </a:spcAft>
                      </a:pPr>
                      <a:r>
                        <a:rPr sz="1100" b="1">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libraries/AP_L1_Control/AP_L1_Control.cpp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79-88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AP_L1_Control::nav_roll_cd()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AfsimL1Behavior::get_roll_deg() = nav_roll_cd()/100 -&gt; L1_GetRollDeg; get_lat_accel() -&gt; L1_GetLatAccel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Derives demanded roll (centi-deg) from the lateral-acceleration demand and AHRS pitch.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24–26</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CORE NAVIGATION</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Core Navigation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1431450"/>
        </p:xfrm>
        <a:graphic>
          <a:graphicData uri="http://schemas.openxmlformats.org/drawingml/2006/table">
            <a:tbl>
              <a:tblPr>
                <a:tableStyleId>{5C22544A-7EE6-4342-B048-85BDC9FD1C3A}</a:tableStyleId>
              </a:tblPr>
              <a:tblGrid>
                <a:gridCol w="411253"/>
                <a:gridCol w="1964876"/>
                <a:gridCol w="639727"/>
                <a:gridCol w="1782097"/>
                <a:gridCol w="868201"/>
                <a:gridCol w="1599318"/>
                <a:gridCol w="3792672"/>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Role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New Service 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r">
                        <a:lnSpc>
                          <a:spcPct val="106000"/>
                        </a:lnSpc>
                        <a:spcAft>
                          <a:spcPts val="0"/>
                        </a:spcAft>
                      </a:pPr>
                      <a:r>
                        <a:rPr sz="1100" b="1">
                          <a:solidFill>
                            <a:srgbClr val="333333"/>
                          </a:solidFill>
                          <a:latin typeface="Fira Code"/>
                        </a:rPr>
                        <a:t>27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libraries/AP_TECS/AP_TECS.cpp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1259-1268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AP_TECS::update_pitch_throttle()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Fixed-wing Total Energy Control (speed/altitude) producing pitch &amp; throttle demands.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libraries/AC_AttitudeControl/AC_AttitudeControl.cpp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411-419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AC_AttitudeControl::input_euler_angle_roll_pitch_yaw_cd()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Sink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Attitude/rate controller consuming the navigation demand; downstream of all navigation.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27–28</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Code Snippet (5-10 lines)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903541"/>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Every row’s Code Snippet (5-10 lines), reproduced verbatim from the cited path:line range: one paragraph per source line, in the audit’s own order, with its indentation and its blank lines intact and nothing abbreviated.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549461"/>
          <a:ext cx="11058144" cy="3214581"/>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131784">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libraries/AP_AHRS/AP_AHRS.cpp</a:t>
                      </a:r>
                      <a:r>
                        <a:rPr sz="1100" b="0">
                          <a:solidFill>
                            <a:srgbClr val="999999"/>
                          </a:solidFill>
                          <a:latin typeface="Fira Code"/>
                        </a:rPr>
                        <a:t>  ·  </a:t>
                      </a:r>
                      <a:r>
                        <a:rPr sz="1100" b="0">
                          <a:solidFill>
                            <a:srgbClr val="999999"/>
                          </a:solidFill>
                          <a:latin typeface="Fira Code"/>
                        </a:rPr>
                        <a:t>3600-3604</a:t>
                      </a:r>
                      <a:r>
                        <a:rPr sz="1100" b="0">
                          <a:solidFill>
                            <a:srgbClr val="999999"/>
                          </a:solidFill>
                          <a:latin typeface="Fira Code"/>
                        </a:rPr>
                        <a:t>  ·  </a:t>
                      </a:r>
                      <a:r>
                        <a:rPr sz="1100" b="0">
                          <a:solidFill>
                            <a:srgbClr val="999999"/>
                          </a:solidFill>
                          <a:latin typeface="Fira Code"/>
                        </a:rPr>
                        <a:t>AP_AHRS::get_location()</a:t>
                      </a:r>
                    </a:p>
                    <a:p>
                      <a:pPr algn="l">
                        <a:lnSpc>
                          <a:spcPct val="106000"/>
                        </a:lnSpc>
                        <a:spcAft>
                          <a:spcPts val="0"/>
                        </a:spcAft>
                      </a:pPr>
                      <a:r>
                        <a:rPr sz="1100" b="0">
                          <a:solidFill>
                            <a:srgbClr val="333333"/>
                          </a:solidFill>
                          <a:latin typeface="Fira Code"/>
                        </a:rPr>
                        <a:t>bool AP_AHRS::get_location(Location &amp;loc)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loc = state.location;</a:t>
                      </a:r>
                    </a:p>
                    <a:p>
                      <a:pPr algn="l">
                        <a:lnSpc>
                          <a:spcPct val="106000"/>
                        </a:lnSpc>
                        <a:spcAft>
                          <a:spcPts val="0"/>
                        </a:spcAft>
                      </a:pPr>
                      <a:r>
                        <a:rPr sz="1100" b="0">
                          <a:solidFill>
                            <a:srgbClr val="333333"/>
                          </a:solidFill>
                          <a:latin typeface="Fira Code"/>
                        </a:rPr>
                        <a:t>    return state.location_ok;</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libraries/AP_AHRS/AP_AHRS.h</a:t>
                      </a:r>
                      <a:r>
                        <a:rPr sz="1100" b="0">
                          <a:solidFill>
                            <a:srgbClr val="999999"/>
                          </a:solidFill>
                          <a:latin typeface="Fira Code"/>
                        </a:rPr>
                        <a:t>  ·  </a:t>
                      </a:r>
                      <a:r>
                        <a:rPr sz="1100" b="0">
                          <a:solidFill>
                            <a:srgbClr val="999999"/>
                          </a:solidFill>
                          <a:latin typeface="Fira Code"/>
                        </a:rPr>
                        <a:t>238-246</a:t>
                      </a:r>
                      <a:r>
                        <a:rPr sz="1100" b="0">
                          <a:solidFill>
                            <a:srgbClr val="999999"/>
                          </a:solidFill>
                          <a:latin typeface="Fira Code"/>
                        </a:rPr>
                        <a:t>  ·  </a:t>
                      </a:r>
                      <a:r>
                        <a:rPr sz="1100" b="0">
                          <a:solidFill>
                            <a:srgbClr val="999999"/>
                          </a:solidFill>
                          <a:latin typeface="Fira Code"/>
                        </a:rPr>
                        <a:t>AP_AHRS::groundspeed()</a:t>
                      </a:r>
                    </a:p>
                    <a:p>
                      <a:pPr algn="l">
                        <a:lnSpc>
                          <a:spcPct val="106000"/>
                        </a:lnSpc>
                        <a:spcAft>
                          <a:spcPts val="0"/>
                        </a:spcAft>
                      </a:pPr>
                      <a:r>
                        <a:rPr sz="1100" b="0">
                          <a:solidFill>
                            <a:srgbClr val="333333"/>
                          </a:solidFill>
                          <a:latin typeface="Fira Code"/>
                        </a:rPr>
                        <a:t>    // EKF has a better ground speed vector estimate</a:t>
                      </a:r>
                    </a:p>
                    <a:p>
                      <a:pPr algn="l">
                        <a:lnSpc>
                          <a:spcPct val="106000"/>
                        </a:lnSpc>
                        <a:spcAft>
                          <a:spcPts val="0"/>
                        </a:spcAft>
                      </a:pPr>
                      <a:r>
                        <a:rPr sz="1100" b="0">
                          <a:solidFill>
                            <a:srgbClr val="333333"/>
                          </a:solidFill>
                          <a:latin typeface="Fira Code"/>
                        </a:rPr>
                        <a:t>    const Vector2f &amp;groundspeed_vector() const { return state.ground_speed_vec;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return ground speed estimate in meters/second. Used by ground vehicles.</a:t>
                      </a:r>
                    </a:p>
                    <a:p>
                      <a:pPr algn="l">
                        <a:lnSpc>
                          <a:spcPct val="106000"/>
                        </a:lnSpc>
                        <a:spcAft>
                          <a:spcPts val="0"/>
                        </a:spcAft>
                      </a:pPr>
                      <a:r>
                        <a:rPr sz="1100" b="0">
                          <a:solidFill>
                            <a:srgbClr val="333333"/>
                          </a:solidFill>
                          <a:latin typeface="Fira Code"/>
                        </a:rPr>
                        <a:t>    float groundspeed(void) const { return state.ground_speed;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const Vector3f &amp;get_accel_ef() const {</a:t>
                      </a:r>
                    </a:p>
                    <a:p>
                      <a:pPr algn="l">
                        <a:lnSpc>
                          <a:spcPct val="106000"/>
                        </a:lnSpc>
                        <a:spcAft>
                          <a:spcPts val="0"/>
                        </a:spcAft>
                      </a:pPr>
                      <a:r>
                        <a:rPr sz="1100" b="0">
                          <a:solidFill>
                            <a:srgbClr val="333333"/>
                          </a:solidFill>
                          <a:latin typeface="Fira Code"/>
                        </a:rPr>
                        <a:t>        return state.accel_ef;</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1–2</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103073"/>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libraries/AP_AHRS/AP_AHRS.h</a:t>
                      </a:r>
                      <a:r>
                        <a:rPr sz="1100" b="0">
                          <a:solidFill>
                            <a:srgbClr val="999999"/>
                          </a:solidFill>
                          <a:latin typeface="Fira Code"/>
                        </a:rPr>
                        <a:t>  ·  </a:t>
                      </a:r>
                      <a:r>
                        <a:rPr sz="1100" b="0">
                          <a:solidFill>
                            <a:srgbClr val="999999"/>
                          </a:solidFill>
                          <a:latin typeface="Fira Code"/>
                        </a:rPr>
                        <a:t>269-277</a:t>
                      </a:r>
                      <a:r>
                        <a:rPr sz="1100" b="0">
                          <a:solidFill>
                            <a:srgbClr val="999999"/>
                          </a:solidFill>
                          <a:latin typeface="Fira Code"/>
                        </a:rPr>
                        <a:t>  ·  </a:t>
                      </a:r>
                      <a:r>
                        <a:rPr sz="1100" b="0">
                          <a:solidFill>
                            <a:srgbClr val="999999"/>
                          </a:solidFill>
                          <a:latin typeface="Fira Code"/>
                        </a:rPr>
                        <a:t>AP_AHRS::get_origin()/have_inertial_nav()</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returns the inertial navigation origin in lat/lon/alt</a:t>
                      </a:r>
                    </a:p>
                    <a:p>
                      <a:pPr algn="l">
                        <a:lnSpc>
                          <a:spcPct val="106000"/>
                        </a:lnSpc>
                        <a:spcAft>
                          <a:spcPts val="0"/>
                        </a:spcAft>
                      </a:pPr>
                      <a:r>
                        <a:rPr sz="1100" b="0">
                          <a:solidFill>
                            <a:srgbClr val="333333"/>
                          </a:solidFill>
                          <a:latin typeface="Fira Code"/>
                        </a:rPr>
                        <a:t>    bool get_origin(Location &amp;ret) const WARN_IF_UNUSED;</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bool have_inertial_nav() const;</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return a ground velocity in meters/second, North/East/Down</a:t>
                      </a:r>
                    </a:p>
                    <a:p>
                      <a:pPr algn="l">
                        <a:lnSpc>
                          <a:spcPct val="106000"/>
                        </a:lnSpc>
                        <a:spcAft>
                          <a:spcPts val="0"/>
                        </a:spcAft>
                      </a:pPr>
                      <a:r>
                        <a:rPr sz="1100" b="0">
                          <a:solidFill>
                            <a:srgbClr val="333333"/>
                          </a:solidFill>
                          <a:latin typeface="Fira Code"/>
                        </a:rPr>
                        <a:t>    // order. Must only be called if have_inertial_nav() is true</a:t>
                      </a:r>
                    </a:p>
                    <a:p>
                      <a:pPr algn="l">
                        <a:lnSpc>
                          <a:spcPct val="106000"/>
                        </a:lnSpc>
                        <a:spcAft>
                          <a:spcPts val="0"/>
                        </a:spcAft>
                      </a:pPr>
                      <a:r>
                        <a:rPr sz="1100" b="0">
                          <a:solidFill>
                            <a:srgbClr val="333333"/>
                          </a:solidFill>
                          <a:latin typeface="Fira Code"/>
                        </a:rPr>
                        <a:t>    bool get_velocity_NED(Vector3f &amp;vec) const WARN_IF_UNUSED;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libraries/AP_AHRS/AP_AHRS.cpp</a:t>
                      </a:r>
                      <a:r>
                        <a:rPr sz="1100" b="0">
                          <a:solidFill>
                            <a:srgbClr val="999999"/>
                          </a:solidFill>
                          <a:latin typeface="Fira Code"/>
                        </a:rPr>
                        <a:t>  ·  </a:t>
                      </a:r>
                      <a:r>
                        <a:rPr sz="1100" b="0">
                          <a:solidFill>
                            <a:srgbClr val="999999"/>
                          </a:solidFill>
                          <a:latin typeface="Fira Code"/>
                        </a:rPr>
                        <a:t>1739-1748</a:t>
                      </a:r>
                      <a:r>
                        <a:rPr sz="1100" b="0">
                          <a:solidFill>
                            <a:srgbClr val="999999"/>
                          </a:solidFill>
                          <a:latin typeface="Fira Code"/>
                        </a:rPr>
                        <a:t>  ·  </a:t>
                      </a:r>
                      <a:r>
                        <a:rPr sz="1100" b="0">
                          <a:solidFill>
                            <a:srgbClr val="999999"/>
                          </a:solidFill>
                          <a:latin typeface="Fira Code"/>
                        </a:rPr>
                        <a:t>AP_AHRS::get_relative_position_NED_origin()</a:t>
                      </a:r>
                    </a:p>
                    <a:p>
                      <a:pPr algn="l">
                        <a:lnSpc>
                          <a:spcPct val="106000"/>
                        </a:lnSpc>
                        <a:spcAft>
                          <a:spcPts val="0"/>
                        </a:spcAft>
                      </a:pPr>
                      <a:r>
                        <a:rPr sz="1100" b="0">
                          <a:solidFill>
                            <a:srgbClr val="333333"/>
                          </a:solidFill>
                          <a:latin typeface="Fira Code"/>
                        </a:rPr>
                        <a:t>bool AP_AHRS::get_relative_position_NED_origin(Vector3p &amp;vec)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switch (active_EKF_type()) {</a:t>
                      </a:r>
                    </a:p>
                    <a:p>
                      <a:pPr algn="l">
                        <a:lnSpc>
                          <a:spcPct val="106000"/>
                        </a:lnSpc>
                        <a:spcAft>
                          <a:spcPts val="0"/>
                        </a:spcAft>
                      </a:pPr>
                      <a:r>
                        <a:rPr sz="1100" b="0">
                          <a:solidFill>
                            <a:srgbClr val="333333"/>
                          </a:solidFill>
                          <a:latin typeface="Fira Code"/>
                        </a:rPr>
                        <a:t>#if AP_AHRS_DCM_ENABLED</a:t>
                      </a:r>
                    </a:p>
                    <a:p>
                      <a:pPr algn="l">
                        <a:lnSpc>
                          <a:spcPct val="106000"/>
                        </a:lnSpc>
                        <a:spcAft>
                          <a:spcPts val="0"/>
                        </a:spcAft>
                      </a:pPr>
                      <a:r>
                        <a:rPr sz="1100" b="0">
                          <a:solidFill>
                            <a:srgbClr val="333333"/>
                          </a:solidFill>
                          <a:latin typeface="Fira Code"/>
                        </a:rPr>
                        <a:t>    case EKFType::DCM:</a:t>
                      </a:r>
                    </a:p>
                    <a:p>
                      <a:pPr algn="l">
                        <a:lnSpc>
                          <a:spcPct val="106000"/>
                        </a:lnSpc>
                        <a:spcAft>
                          <a:spcPts val="0"/>
                        </a:spcAft>
                      </a:pPr>
                      <a:r>
                        <a:rPr sz="1100" b="0">
                          <a:solidFill>
                            <a:srgbClr val="333333"/>
                          </a:solidFill>
                          <a:latin typeface="Fira Code"/>
                        </a:rPr>
                        <a:t>        return dcm.get_relative_position_NED_origin(vec);</a:t>
                      </a:r>
                    </a:p>
                    <a:p>
                      <a:pPr algn="l">
                        <a:lnSpc>
                          <a:spcPct val="106000"/>
                        </a:lnSpc>
                        <a:spcAft>
                          <a:spcPts val="0"/>
                        </a:spcAft>
                      </a:pPr>
                      <a:r>
                        <a:rPr sz="1100" b="0">
                          <a:solidFill>
                            <a:srgbClr val="333333"/>
                          </a:solidFill>
                          <a:latin typeface="Fira Code"/>
                        </a:rPr>
                        <a:t>#endif</a:t>
                      </a:r>
                    </a:p>
                    <a:p>
                      <a:pPr algn="l">
                        <a:lnSpc>
                          <a:spcPct val="106000"/>
                        </a:lnSpc>
                        <a:spcAft>
                          <a:spcPts val="0"/>
                        </a:spcAft>
                      </a:pPr>
                      <a:r>
                        <a:rPr sz="1100" b="0">
                          <a:solidFill>
                            <a:srgbClr val="333333"/>
                          </a:solidFill>
                          <a:latin typeface="Fira Code"/>
                        </a:rPr>
                        <a:t>#if HAL_NAVEKF2_AVAILABLE</a:t>
                      </a:r>
                    </a:p>
                    <a:p>
                      <a:pPr algn="l">
                        <a:lnSpc>
                          <a:spcPct val="106000"/>
                        </a:lnSpc>
                        <a:spcAft>
                          <a:spcPts val="0"/>
                        </a:spcAft>
                      </a:pPr>
                      <a:r>
                        <a:rPr sz="1100" b="0">
                          <a:solidFill>
                            <a:srgbClr val="333333"/>
                          </a:solidFill>
                          <a:latin typeface="Fira Code"/>
                        </a:rPr>
                        <a:t>    case EKFType::TWO: {</a:t>
                      </a:r>
                    </a:p>
                    <a:p>
                      <a:pPr algn="l">
                        <a:lnSpc>
                          <a:spcPct val="106000"/>
                        </a:lnSpc>
                        <a:spcAft>
                          <a:spcPts val="0"/>
                        </a:spcAft>
                      </a:pPr>
                      <a:r>
                        <a:rPr sz="1100" b="0">
                          <a:solidFill>
                            <a:srgbClr val="333333"/>
                          </a:solidFill>
                          <a:latin typeface="Fira Code"/>
                        </a:rPr>
                        <a:t>        Vector2p posNE;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3–4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392279"/>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131784">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libraries/AP_AHRS/AP_AHRS.cpp</a:t>
                      </a:r>
                      <a:r>
                        <a:rPr sz="1100" b="0">
                          <a:solidFill>
                            <a:srgbClr val="999999"/>
                          </a:solidFill>
                          <a:latin typeface="Fira Code"/>
                        </a:rPr>
                        <a:t>  ·  </a:t>
                      </a:r>
                      <a:r>
                        <a:rPr sz="1100" b="0">
                          <a:solidFill>
                            <a:srgbClr val="999999"/>
                          </a:solidFill>
                          <a:latin typeface="Fira Code"/>
                        </a:rPr>
                        <a:t>3662-3666</a:t>
                      </a:r>
                      <a:r>
                        <a:rPr sz="1100" b="0">
                          <a:solidFill>
                            <a:srgbClr val="999999"/>
                          </a:solidFill>
                          <a:latin typeface="Fira Code"/>
                        </a:rPr>
                        <a:t>  ·  </a:t>
                      </a:r>
                      <a:r>
                        <a:rPr sz="1100" b="0">
                          <a:solidFill>
                            <a:srgbClr val="999999"/>
                          </a:solidFill>
                          <a:latin typeface="Fira Code"/>
                        </a:rPr>
                        <a:t>AP_AHRS::get_velocity_NED()</a:t>
                      </a:r>
                    </a:p>
                    <a:p>
                      <a:pPr algn="l">
                        <a:lnSpc>
                          <a:spcPct val="106000"/>
                        </a:lnSpc>
                        <a:spcAft>
                          <a:spcPts val="0"/>
                        </a:spcAft>
                      </a:pPr>
                      <a:r>
                        <a:rPr sz="1100" b="0">
                          <a:solidFill>
                            <a:srgbClr val="333333"/>
                          </a:solidFill>
                          <a:latin typeface="Fira Code"/>
                        </a:rPr>
                        <a:t>bool AP_AHRS::get_velocity_NED(Vector3f &amp;vec)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vec = state.velocity_NED;</a:t>
                      </a:r>
                    </a:p>
                    <a:p>
                      <a:pPr algn="l">
                        <a:lnSpc>
                          <a:spcPct val="106000"/>
                        </a:lnSpc>
                        <a:spcAft>
                          <a:spcPts val="0"/>
                        </a:spcAft>
                      </a:pPr>
                      <a:r>
                        <a:rPr sz="1100" b="0">
                          <a:solidFill>
                            <a:srgbClr val="333333"/>
                          </a:solidFill>
                          <a:latin typeface="Fira Code"/>
                        </a:rPr>
                        <a:t>    return state.velocity_NED_ok;</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libraries/AP_NavEKF3/AP_NavEKF3_core.cpp</a:t>
                      </a:r>
                      <a:r>
                        <a:rPr sz="1100" b="0">
                          <a:solidFill>
                            <a:srgbClr val="999999"/>
                          </a:solidFill>
                          <a:latin typeface="Fira Code"/>
                        </a:rPr>
                        <a:t>  ·  </a:t>
                      </a:r>
                      <a:r>
                        <a:rPr sz="1100" b="0">
                          <a:solidFill>
                            <a:srgbClr val="999999"/>
                          </a:solidFill>
                          <a:latin typeface="Fira Code"/>
                        </a:rPr>
                        <a:t>627-636</a:t>
                      </a:r>
                      <a:r>
                        <a:rPr sz="1100" b="0">
                          <a:solidFill>
                            <a:srgbClr val="999999"/>
                          </a:solidFill>
                          <a:latin typeface="Fira Code"/>
                        </a:rPr>
                        <a:t>  ·  </a:t>
                      </a:r>
                      <a:r>
                        <a:rPr sz="1100" b="0">
                          <a:solidFill>
                            <a:srgbClr val="999999"/>
                          </a:solidFill>
                          <a:latin typeface="Fira Code"/>
                        </a:rPr>
                        <a:t>NavEKF3_core::UpdateFilter()</a:t>
                      </a:r>
                    </a:p>
                    <a:p>
                      <a:pPr algn="l">
                        <a:lnSpc>
                          <a:spcPct val="106000"/>
                        </a:lnSpc>
                        <a:spcAft>
                          <a:spcPts val="0"/>
                        </a:spcAft>
                      </a:pPr>
                      <a:r>
                        <a:rPr sz="1100" b="0">
                          <a:solidFill>
                            <a:srgbClr val="333333"/>
                          </a:solidFill>
                          <a:latin typeface="Fira Code"/>
                        </a:rPr>
                        <a:t>void NavEKF3_core::UpdateFilter(bool predict)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don't run filter updates if states have not been initialised</a:t>
                      </a:r>
                    </a:p>
                    <a:p>
                      <a:pPr algn="l">
                        <a:lnSpc>
                          <a:spcPct val="106000"/>
                        </a:lnSpc>
                        <a:spcAft>
                          <a:spcPts val="0"/>
                        </a:spcAft>
                      </a:pPr>
                      <a:r>
                        <a:rPr sz="1100" b="0">
                          <a:solidFill>
                            <a:srgbClr val="333333"/>
                          </a:solidFill>
                          <a:latin typeface="Fira Code"/>
                        </a:rPr>
                        <a:t>    if (!statesInitialised) {</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fill_scratch_variables();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update sensor selection (for affinity)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5–6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103073"/>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020276">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libraries/AP_NavEKF3/AP_NavEKF3_PosVelFusion.cpp</a:t>
                      </a:r>
                      <a:r>
                        <a:rPr sz="1100" b="0">
                          <a:solidFill>
                            <a:srgbClr val="999999"/>
                          </a:solidFill>
                          <a:latin typeface="Fira Code"/>
                        </a:rPr>
                        <a:t>  ·  </a:t>
                      </a:r>
                      <a:r>
                        <a:rPr sz="1100" b="0">
                          <a:solidFill>
                            <a:srgbClr val="999999"/>
                          </a:solidFill>
                          <a:latin typeface="Fira Code"/>
                        </a:rPr>
                        <a:t>502-511</a:t>
                      </a:r>
                      <a:r>
                        <a:rPr sz="1100" b="0">
                          <a:solidFill>
                            <a:srgbClr val="999999"/>
                          </a:solidFill>
                          <a:latin typeface="Fira Code"/>
                        </a:rPr>
                        <a:t>  ·  </a:t>
                      </a:r>
                      <a:r>
                        <a:rPr sz="1100" b="0">
                          <a:solidFill>
                            <a:srgbClr val="999999"/>
                          </a:solidFill>
                          <a:latin typeface="Fira Code"/>
                        </a:rPr>
                        <a:t>NavEKF3_core::SelectVelPosFusion()</a:t>
                      </a:r>
                    </a:p>
                    <a:p>
                      <a:pPr algn="l">
                        <a:lnSpc>
                          <a:spcPct val="106000"/>
                        </a:lnSpc>
                        <a:spcAft>
                          <a:spcPts val="0"/>
                        </a:spcAft>
                      </a:pPr>
                      <a:r>
                        <a:rPr sz="1100" b="0">
                          <a:solidFill>
                            <a:srgbClr val="333333"/>
                          </a:solidFill>
                          <a:latin typeface="Fira Code"/>
                        </a:rPr>
                        <a:t>void NavEKF3_core::SelectVelPosFusion()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Check if the magnetometer has been fused on that time step and the filter is running at faster than 200 Hz</a:t>
                      </a:r>
                    </a:p>
                    <a:p>
                      <a:pPr algn="l">
                        <a:lnSpc>
                          <a:spcPct val="106000"/>
                        </a:lnSpc>
                        <a:spcAft>
                          <a:spcPts val="0"/>
                        </a:spcAft>
                      </a:pPr>
                      <a:r>
                        <a:rPr sz="1100" b="0">
                          <a:solidFill>
                            <a:srgbClr val="333333"/>
                          </a:solidFill>
                          <a:latin typeface="Fira Code"/>
                        </a:rPr>
                        <a:t>    // If so, don't fuse measurements on this time step to reduce frame over-runs</a:t>
                      </a:r>
                    </a:p>
                    <a:p>
                      <a:pPr algn="l">
                        <a:lnSpc>
                          <a:spcPct val="106000"/>
                        </a:lnSpc>
                        <a:spcAft>
                          <a:spcPts val="0"/>
                        </a:spcAft>
                      </a:pPr>
                      <a:r>
                        <a:rPr sz="1100" b="0">
                          <a:solidFill>
                            <a:srgbClr val="333333"/>
                          </a:solidFill>
                          <a:latin typeface="Fira Code"/>
                        </a:rPr>
                        <a:t>    // Only allow one time slip to prevent high rate magnetometer data preventing fusion of other measurements</a:t>
                      </a:r>
                    </a:p>
                    <a:p>
                      <a:pPr algn="l">
                        <a:lnSpc>
                          <a:spcPct val="106000"/>
                        </a:lnSpc>
                        <a:spcAft>
                          <a:spcPts val="0"/>
                        </a:spcAft>
                      </a:pPr>
                      <a:r>
                        <a:rPr sz="1100" b="0">
                          <a:solidFill>
                            <a:srgbClr val="333333"/>
                          </a:solidFill>
                          <a:latin typeface="Fira Code"/>
                        </a:rPr>
                        <a:t>    if (magFusePerformed &amp;&amp; dtIMUavg &lt; 0.005f &amp;&amp; !posVelFusionDelayed) {</a:t>
                      </a:r>
                    </a:p>
                    <a:p>
                      <a:pPr algn="l">
                        <a:lnSpc>
                          <a:spcPct val="106000"/>
                        </a:lnSpc>
                        <a:spcAft>
                          <a:spcPts val="0"/>
                        </a:spcAft>
                      </a:pPr>
                      <a:r>
                        <a:rPr sz="1100" b="0">
                          <a:solidFill>
                            <a:srgbClr val="333333"/>
                          </a:solidFill>
                          <a:latin typeface="Fira Code"/>
                        </a:rPr>
                        <a:t>        posVelFusionDelayed = true;</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 else {</a:t>
                      </a:r>
                    </a:p>
                    <a:p>
                      <a:pPr algn="l">
                        <a:lnSpc>
                          <a:spcPct val="106000"/>
                        </a:lnSpc>
                        <a:spcAft>
                          <a:spcPts val="0"/>
                        </a:spcAft>
                      </a:pPr>
                      <a:r>
                        <a:rPr sz="1100" b="0">
                          <a:solidFill>
                            <a:srgbClr val="333333"/>
                          </a:solidFill>
                          <a:latin typeface="Fira Code"/>
                        </a:rPr>
                        <a:t>        posVelFusionDelayed = 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libraries/AP_NavEKF3/AP_NavEKF3_PosVelFusion.cpp</a:t>
                      </a:r>
                      <a:r>
                        <a:rPr sz="1100" b="0">
                          <a:solidFill>
                            <a:srgbClr val="999999"/>
                          </a:solidFill>
                          <a:latin typeface="Fira Code"/>
                        </a:rPr>
                        <a:t>  ·  </a:t>
                      </a:r>
                      <a:r>
                        <a:rPr sz="1100" b="0">
                          <a:solidFill>
                            <a:srgbClr val="999999"/>
                          </a:solidFill>
                          <a:latin typeface="Fira Code"/>
                        </a:rPr>
                        <a:t>694-702</a:t>
                      </a:r>
                      <a:r>
                        <a:rPr sz="1100" b="0">
                          <a:solidFill>
                            <a:srgbClr val="999999"/>
                          </a:solidFill>
                          <a:latin typeface="Fira Code"/>
                        </a:rPr>
                        <a:t>  ·  </a:t>
                      </a:r>
                      <a:r>
                        <a:rPr sz="1100" b="0">
                          <a:solidFill>
                            <a:srgbClr val="999999"/>
                          </a:solidFill>
                          <a:latin typeface="Fira Code"/>
                        </a:rPr>
                        <a:t>NavEKF3_core::FuseVelPosNED()</a:t>
                      </a:r>
                    </a:p>
                    <a:p>
                      <a:pPr algn="l">
                        <a:lnSpc>
                          <a:spcPct val="106000"/>
                        </a:lnSpc>
                        <a:spcAft>
                          <a:spcPts val="0"/>
                        </a:spcAft>
                      </a:pPr>
                      <a:r>
                        <a:rPr sz="1100" b="0">
                          <a:solidFill>
                            <a:srgbClr val="333333"/>
                          </a:solidFill>
                          <a:latin typeface="Fira Code"/>
                        </a:rPr>
                        <a:t>void NavEKF3_core::FuseVelPosNED()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declare variables used to control access to arrays</a:t>
                      </a:r>
                    </a:p>
                    <a:p>
                      <a:pPr algn="l">
                        <a:lnSpc>
                          <a:spcPct val="106000"/>
                        </a:lnSpc>
                        <a:spcAft>
                          <a:spcPts val="0"/>
                        </a:spcAft>
                      </a:pPr>
                      <a:r>
                        <a:rPr sz="1100" b="0">
                          <a:solidFill>
                            <a:srgbClr val="333333"/>
                          </a:solidFill>
                          <a:latin typeface="Fira Code"/>
                        </a:rPr>
                        <a:t>    bool fuseData[6] {};</a:t>
                      </a:r>
                    </a:p>
                    <a:p>
                      <a:pPr algn="l">
                        <a:lnSpc>
                          <a:spcPct val="106000"/>
                        </a:lnSpc>
                        <a:spcAft>
                          <a:spcPts val="0"/>
                        </a:spcAft>
                      </a:pPr>
                      <a:r>
                        <a:rPr sz="1100" b="0">
                          <a:solidFill>
                            <a:srgbClr val="333333"/>
                          </a:solidFill>
                          <a:latin typeface="Fira Code"/>
                        </a:rPr>
                        <a:t>    uint8_t stateIndex;</a:t>
                      </a:r>
                    </a:p>
                    <a:p>
                      <a:pPr algn="l">
                        <a:lnSpc>
                          <a:spcPct val="106000"/>
                        </a:lnSpc>
                        <a:spcAft>
                          <a:spcPts val="0"/>
                        </a:spcAft>
                      </a:pPr>
                      <a:r>
                        <a:rPr sz="1100" b="0">
                          <a:solidFill>
                            <a:srgbClr val="333333"/>
                          </a:solidFill>
                          <a:latin typeface="Fira Code"/>
                        </a:rPr>
                        <a:t>    uint8_t obsIndex;</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declare variables used by state and covariance update calculations</a:t>
                      </a:r>
                    </a:p>
                    <a:p>
                      <a:pPr algn="l">
                        <a:lnSpc>
                          <a:spcPct val="106000"/>
                        </a:lnSpc>
                        <a:spcAft>
                          <a:spcPts val="0"/>
                        </a:spcAft>
                      </a:pPr>
                      <a:r>
                        <a:rPr sz="1100" b="0">
                          <a:solidFill>
                            <a:srgbClr val="333333"/>
                          </a:solidFill>
                          <a:latin typeface="Fira Code"/>
                        </a:rPr>
                        <a:t>    Vector6 R_OBS; // Measurement variances used for 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7–8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25375"/>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libraries/AP_NavEKF3/AP_NavEKF3_Measurements.cpp</a:t>
                      </a:r>
                      <a:r>
                        <a:rPr sz="1100" b="0">
                          <a:solidFill>
                            <a:srgbClr val="999999"/>
                          </a:solidFill>
                          <a:latin typeface="Fira Code"/>
                        </a:rPr>
                        <a:t>  ·  </a:t>
                      </a:r>
                      <a:r>
                        <a:rPr sz="1100" b="0">
                          <a:solidFill>
                            <a:srgbClr val="999999"/>
                          </a:solidFill>
                          <a:latin typeface="Fira Code"/>
                        </a:rPr>
                        <a:t>559-567</a:t>
                      </a:r>
                      <a:r>
                        <a:rPr sz="1100" b="0">
                          <a:solidFill>
                            <a:srgbClr val="999999"/>
                          </a:solidFill>
                          <a:latin typeface="Fira Code"/>
                        </a:rPr>
                        <a:t>  ·  </a:t>
                      </a:r>
                      <a:r>
                        <a:rPr sz="1100" b="0">
                          <a:solidFill>
                            <a:srgbClr val="999999"/>
                          </a:solidFill>
                          <a:latin typeface="Fira Code"/>
                        </a:rPr>
                        <a:t>NavEKF3_core::readGpsData()</a:t>
                      </a:r>
                    </a:p>
                    <a:p>
                      <a:pPr algn="l">
                        <a:lnSpc>
                          <a:spcPct val="106000"/>
                        </a:lnSpc>
                        <a:spcAft>
                          <a:spcPts val="0"/>
                        </a:spcAft>
                      </a:pPr>
                      <a:r>
                        <a:rPr sz="1100" b="0">
                          <a:solidFill>
                            <a:srgbClr val="333333"/>
                          </a:solidFill>
                          <a:latin typeface="Fira Code"/>
                        </a:rPr>
                        <a:t>void NavEKF3_core::readGpsData()</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check for new GPS data</a:t>
                      </a:r>
                    </a:p>
                    <a:p>
                      <a:pPr algn="l">
                        <a:lnSpc>
                          <a:spcPct val="106000"/>
                        </a:lnSpc>
                        <a:spcAft>
                          <a:spcPts val="0"/>
                        </a:spcAft>
                      </a:pPr>
                      <a:r>
                        <a:rPr sz="1100" b="0">
                          <a:solidFill>
                            <a:srgbClr val="333333"/>
                          </a:solidFill>
                          <a:latin typeface="Fira Code"/>
                        </a:rPr>
                        <a:t>    const auto &amp;gps = dal.gps();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limit update rate to avoid overflowing the FIFO buffer</a:t>
                      </a:r>
                    </a:p>
                    <a:p>
                      <a:pPr algn="l">
                        <a:lnSpc>
                          <a:spcPct val="106000"/>
                        </a:lnSpc>
                        <a:spcAft>
                          <a:spcPts val="0"/>
                        </a:spcAft>
                      </a:pPr>
                      <a:r>
                        <a:rPr sz="1100" b="0">
                          <a:solidFill>
                            <a:srgbClr val="333333"/>
                          </a:solidFill>
                          <a:latin typeface="Fira Code"/>
                        </a:rPr>
                        <a:t>    if (gps.last_message_time_ms(selected_gps) - lastTimeGpsReceived_ms &lt;= frontend-&gt;sensorIntervalMin_ms) {</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libraries/AP_NavEKF3/AP_NavEKF3_Control.cpp</a:t>
                      </a:r>
                      <a:r>
                        <a:rPr sz="1100" b="0">
                          <a:solidFill>
                            <a:srgbClr val="999999"/>
                          </a:solidFill>
                          <a:latin typeface="Fira Code"/>
                        </a:rPr>
                        <a:t>  ·  </a:t>
                      </a:r>
                      <a:r>
                        <a:rPr sz="1100" b="0">
                          <a:solidFill>
                            <a:srgbClr val="999999"/>
                          </a:solidFill>
                          <a:latin typeface="Fira Code"/>
                        </a:rPr>
                        <a:t>232-240</a:t>
                      </a:r>
                      <a:r>
                        <a:rPr sz="1100" b="0">
                          <a:solidFill>
                            <a:srgbClr val="999999"/>
                          </a:solidFill>
                          <a:latin typeface="Fira Code"/>
                        </a:rPr>
                        <a:t>  ·  </a:t>
                      </a:r>
                      <a:r>
                        <a:rPr sz="1100" b="0">
                          <a:solidFill>
                            <a:srgbClr val="999999"/>
                          </a:solidFill>
                          <a:latin typeface="Fira Code"/>
                        </a:rPr>
                        <a:t>NavEKF3_core::setAidingMode()</a:t>
                      </a:r>
                    </a:p>
                    <a:p>
                      <a:pPr algn="l">
                        <a:lnSpc>
                          <a:spcPct val="106000"/>
                        </a:lnSpc>
                        <a:spcAft>
                          <a:spcPts val="0"/>
                        </a:spcAft>
                      </a:pPr>
                      <a:r>
                        <a:rPr sz="1100" b="0">
                          <a:solidFill>
                            <a:srgbClr val="333333"/>
                          </a:solidFill>
                          <a:latin typeface="Fira Code"/>
                        </a:rPr>
                        <a:t>void NavEKF3_core::setAidingMode()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resetDataSource posResetSource = resetDataSource::DEFAULT;</a:t>
                      </a:r>
                    </a:p>
                    <a:p>
                      <a:pPr algn="l">
                        <a:lnSpc>
                          <a:spcPct val="106000"/>
                        </a:lnSpc>
                        <a:spcAft>
                          <a:spcPts val="0"/>
                        </a:spcAft>
                      </a:pPr>
                      <a:r>
                        <a:rPr sz="1100" b="0">
                          <a:solidFill>
                            <a:srgbClr val="333333"/>
                          </a:solidFill>
                          <a:latin typeface="Fira Code"/>
                        </a:rPr>
                        <a:t>    resetDataSource velResetSource = resetDataSource::DEFAULT;</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Save the previous status so we can detect when it has changed</a:t>
                      </a:r>
                    </a:p>
                    <a:p>
                      <a:pPr algn="l">
                        <a:lnSpc>
                          <a:spcPct val="106000"/>
                        </a:lnSpc>
                        <a:spcAft>
                          <a:spcPts val="0"/>
                        </a:spcAft>
                      </a:pPr>
                      <a:r>
                        <a:rPr sz="1100" b="0">
                          <a:solidFill>
                            <a:srgbClr val="333333"/>
                          </a:solidFill>
                          <a:latin typeface="Fira Code"/>
                        </a:rPr>
                        <a:t>    PV_AidingModePrev = PV_AidingMode;</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setYawSource();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9–10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103073"/>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020276">
                <a:tc>
                  <a:txBody>
                    <a:bodyPr wrap="square">
                      <a:noAutofit/>
                    </a:bodyPr>
                    <a:lstStyle/>
                    <a:p>
                      <a:pPr algn="r">
                        <a:lnSpc>
                          <a:spcPct val="106000"/>
                        </a:lnSpc>
                        <a:spcAft>
                          <a:spcPts val="0"/>
                        </a:spcAft>
                      </a:pPr>
                      <a:r>
                        <a:rPr sz="1100" b="1">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libraries/AP_NavEKF3/AP_NavEKF3_MagFusion.cpp</a:t>
                      </a:r>
                      <a:r>
                        <a:rPr sz="1100" b="0">
                          <a:solidFill>
                            <a:srgbClr val="999999"/>
                          </a:solidFill>
                          <a:latin typeface="Fira Code"/>
                        </a:rPr>
                        <a:t>  ·  </a:t>
                      </a:r>
                      <a:r>
                        <a:rPr sz="1100" b="0">
                          <a:solidFill>
                            <a:srgbClr val="999999"/>
                          </a:solidFill>
                          <a:latin typeface="Fira Code"/>
                        </a:rPr>
                        <a:t>227-235</a:t>
                      </a:r>
                      <a:r>
                        <a:rPr sz="1100" b="0">
                          <a:solidFill>
                            <a:srgbClr val="999999"/>
                          </a:solidFill>
                          <a:latin typeface="Fira Code"/>
                        </a:rPr>
                        <a:t>  ·  </a:t>
                      </a:r>
                      <a:r>
                        <a:rPr sz="1100" b="0">
                          <a:solidFill>
                            <a:srgbClr val="999999"/>
                          </a:solidFill>
                          <a:latin typeface="Fira Code"/>
                        </a:rPr>
                        <a:t>NavEKF3_core::SelectMagFusion()</a:t>
                      </a:r>
                    </a:p>
                    <a:p>
                      <a:pPr algn="l">
                        <a:lnSpc>
                          <a:spcPct val="106000"/>
                        </a:lnSpc>
                        <a:spcAft>
                          <a:spcPts val="0"/>
                        </a:spcAft>
                      </a:pPr>
                      <a:r>
                        <a:rPr sz="1100" b="0">
                          <a:solidFill>
                            <a:srgbClr val="333333"/>
                          </a:solidFill>
                          <a:latin typeface="Fira Code"/>
                        </a:rPr>
                        <a:t>void NavEKF3_core::SelectMagFusion()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clear the flag that lets other processes know that the expensive magnetometer fusion operation has been performed on that time step</a:t>
                      </a:r>
                    </a:p>
                    <a:p>
                      <a:pPr algn="l">
                        <a:lnSpc>
                          <a:spcPct val="106000"/>
                        </a:lnSpc>
                        <a:spcAft>
                          <a:spcPts val="0"/>
                        </a:spcAft>
                      </a:pPr>
                      <a:r>
                        <a:rPr sz="1100" b="0">
                          <a:solidFill>
                            <a:srgbClr val="333333"/>
                          </a:solidFill>
                          <a:latin typeface="Fira Code"/>
                        </a:rPr>
                        <a:t>    // used for load levelling</a:t>
                      </a:r>
                    </a:p>
                    <a:p>
                      <a:pPr algn="l">
                        <a:lnSpc>
                          <a:spcPct val="106000"/>
                        </a:lnSpc>
                        <a:spcAft>
                          <a:spcPts val="0"/>
                        </a:spcAft>
                      </a:pPr>
                      <a:r>
                        <a:rPr sz="1100" b="0">
                          <a:solidFill>
                            <a:srgbClr val="333333"/>
                          </a:solidFill>
                          <a:latin typeface="Fira Code"/>
                        </a:rPr>
                        <a:t>    magFusePerformed = false;</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Store yaw angle when moving for use as a static reference when not moving</a:t>
                      </a:r>
                    </a:p>
                    <a:p>
                      <a:pPr algn="l">
                        <a:lnSpc>
                          <a:spcPct val="106000"/>
                        </a:lnSpc>
                        <a:spcAft>
                          <a:spcPts val="0"/>
                        </a:spcAft>
                      </a:pPr>
                      <a:r>
                        <a:rPr sz="1100" b="0">
                          <a:solidFill>
                            <a:srgbClr val="333333"/>
                          </a:solidFill>
                          <a:latin typeface="Fira Code"/>
                        </a:rPr>
                        <a:t>    if (!onGroundNotMoving) {</a:t>
                      </a:r>
                    </a:p>
                    <a:p>
                      <a:pPr algn="l">
                        <a:lnSpc>
                          <a:spcPct val="106000"/>
                        </a:lnSpc>
                        <a:spcAft>
                          <a:spcPts val="0"/>
                        </a:spcAft>
                      </a:pPr>
                      <a:r>
                        <a:rPr sz="1100" b="0">
                          <a:solidFill>
                            <a:srgbClr val="333333"/>
                          </a:solidFill>
                          <a:latin typeface="Fira Code"/>
                        </a:rPr>
                        <a:t>        if (fabsF(prevTnb[0][2]) &lt; fabsF(prevTnb[1][2]))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libraries/AP_NavEKF3/AP_NavEKF3_AirDataFusion.cpp</a:t>
                      </a:r>
                      <a:r>
                        <a:rPr sz="1100" b="0">
                          <a:solidFill>
                            <a:srgbClr val="999999"/>
                          </a:solidFill>
                          <a:latin typeface="Fira Code"/>
                        </a:rPr>
                        <a:t>  ·  </a:t>
                      </a:r>
                      <a:r>
                        <a:rPr sz="1100" b="0">
                          <a:solidFill>
                            <a:srgbClr val="999999"/>
                          </a:solidFill>
                          <a:latin typeface="Fira Code"/>
                        </a:rPr>
                        <a:t>193-201</a:t>
                      </a:r>
                      <a:r>
                        <a:rPr sz="1100" b="0">
                          <a:solidFill>
                            <a:srgbClr val="999999"/>
                          </a:solidFill>
                          <a:latin typeface="Fira Code"/>
                        </a:rPr>
                        <a:t>  ·  </a:t>
                      </a:r>
                      <a:r>
                        <a:rPr sz="1100" b="0">
                          <a:solidFill>
                            <a:srgbClr val="999999"/>
                          </a:solidFill>
                          <a:latin typeface="Fira Code"/>
                        </a:rPr>
                        <a:t>NavEKF3_core::SelectTasFusion()</a:t>
                      </a:r>
                    </a:p>
                    <a:p>
                      <a:pPr algn="l">
                        <a:lnSpc>
                          <a:spcPct val="106000"/>
                        </a:lnSpc>
                        <a:spcAft>
                          <a:spcPts val="0"/>
                        </a:spcAft>
                      </a:pPr>
                      <a:r>
                        <a:rPr sz="1100" b="0">
                          <a:solidFill>
                            <a:srgbClr val="333333"/>
                          </a:solidFill>
                          <a:latin typeface="Fira Code"/>
                        </a:rPr>
                        <a:t>void NavEKF3_core::SelectTasFusion()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Check if the magnetometer has been fused on that time step and the filter is running at faster than 200 Hz</a:t>
                      </a:r>
                    </a:p>
                    <a:p>
                      <a:pPr algn="l">
                        <a:lnSpc>
                          <a:spcPct val="106000"/>
                        </a:lnSpc>
                        <a:spcAft>
                          <a:spcPts val="0"/>
                        </a:spcAft>
                      </a:pPr>
                      <a:r>
                        <a:rPr sz="1100" b="0">
                          <a:solidFill>
                            <a:srgbClr val="333333"/>
                          </a:solidFill>
                          <a:latin typeface="Fira Code"/>
                        </a:rPr>
                        <a:t>    // If so, don't fuse measurements on this time step to reduce frame over-runs</a:t>
                      </a:r>
                    </a:p>
                    <a:p>
                      <a:pPr algn="l">
                        <a:lnSpc>
                          <a:spcPct val="106000"/>
                        </a:lnSpc>
                        <a:spcAft>
                          <a:spcPts val="0"/>
                        </a:spcAft>
                      </a:pPr>
                      <a:r>
                        <a:rPr sz="1100" b="0">
                          <a:solidFill>
                            <a:srgbClr val="333333"/>
                          </a:solidFill>
                          <a:latin typeface="Fira Code"/>
                        </a:rPr>
                        <a:t>    // Only allow one time slip to prevent high rate magnetometer data locking out fusion of other measurements</a:t>
                      </a:r>
                    </a:p>
                    <a:p>
                      <a:pPr algn="l">
                        <a:lnSpc>
                          <a:spcPct val="106000"/>
                        </a:lnSpc>
                        <a:spcAft>
                          <a:spcPts val="0"/>
                        </a:spcAft>
                      </a:pPr>
                      <a:r>
                        <a:rPr sz="1100" b="0">
                          <a:solidFill>
                            <a:srgbClr val="333333"/>
                          </a:solidFill>
                          <a:latin typeface="Fira Code"/>
                        </a:rPr>
                        <a:t>    if (magFusePerformed &amp;&amp; dtIMUavg &lt; 0.005f &amp;&amp; !airSpdFusionDelayed) {</a:t>
                      </a:r>
                    </a:p>
                    <a:p>
                      <a:pPr algn="l">
                        <a:lnSpc>
                          <a:spcPct val="106000"/>
                        </a:lnSpc>
                        <a:spcAft>
                          <a:spcPts val="0"/>
                        </a:spcAft>
                      </a:pPr>
                      <a:r>
                        <a:rPr sz="1100" b="0">
                          <a:solidFill>
                            <a:srgbClr val="333333"/>
                          </a:solidFill>
                          <a:latin typeface="Fira Code"/>
                        </a:rPr>
                        <a:t>        airSpdFusionDelayed = true;</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 else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11–12</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25375"/>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libraries/AP_NavEKF3/AP_NavEKF3_OptFlowFusion.cpp</a:t>
                      </a:r>
                      <a:r>
                        <a:rPr sz="1100" b="0">
                          <a:solidFill>
                            <a:srgbClr val="999999"/>
                          </a:solidFill>
                          <a:latin typeface="Fira Code"/>
                        </a:rPr>
                        <a:t>  ·  </a:t>
                      </a:r>
                      <a:r>
                        <a:rPr sz="1100" b="0">
                          <a:solidFill>
                            <a:srgbClr val="999999"/>
                          </a:solidFill>
                          <a:latin typeface="Fira Code"/>
                        </a:rPr>
                        <a:t>21-29</a:t>
                      </a:r>
                      <a:r>
                        <a:rPr sz="1100" b="0">
                          <a:solidFill>
                            <a:srgbClr val="999999"/>
                          </a:solidFill>
                          <a:latin typeface="Fira Code"/>
                        </a:rPr>
                        <a:t>  ·  </a:t>
                      </a:r>
                      <a:r>
                        <a:rPr sz="1100" b="0">
                          <a:solidFill>
                            <a:srgbClr val="999999"/>
                          </a:solidFill>
                          <a:latin typeface="Fira Code"/>
                        </a:rPr>
                        <a:t>NavEKF3_core::SelectFlowFusion()</a:t>
                      </a:r>
                    </a:p>
                    <a:p>
                      <a:pPr algn="l">
                        <a:lnSpc>
                          <a:spcPct val="106000"/>
                        </a:lnSpc>
                        <a:spcAft>
                          <a:spcPts val="0"/>
                        </a:spcAft>
                      </a:pPr>
                      <a:r>
                        <a:rPr sz="1100" b="0">
                          <a:solidFill>
                            <a:srgbClr val="333333"/>
                          </a:solidFill>
                          <a:latin typeface="Fira Code"/>
                        </a:rPr>
                        <a:t>void NavEKF3_core::SelectFlowFusion()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Check if the magnetometer has been fused on that time step and the filter is running at faster than 200 Hz</a:t>
                      </a:r>
                    </a:p>
                    <a:p>
                      <a:pPr algn="l">
                        <a:lnSpc>
                          <a:spcPct val="106000"/>
                        </a:lnSpc>
                        <a:spcAft>
                          <a:spcPts val="0"/>
                        </a:spcAft>
                      </a:pPr>
                      <a:r>
                        <a:rPr sz="1100" b="0">
                          <a:solidFill>
                            <a:srgbClr val="333333"/>
                          </a:solidFill>
                          <a:latin typeface="Fira Code"/>
                        </a:rPr>
                        <a:t>    // If so, don't fuse measurements on this time step to reduce frame over-runs</a:t>
                      </a:r>
                    </a:p>
                    <a:p>
                      <a:pPr algn="l">
                        <a:lnSpc>
                          <a:spcPct val="106000"/>
                        </a:lnSpc>
                        <a:spcAft>
                          <a:spcPts val="0"/>
                        </a:spcAft>
                      </a:pPr>
                      <a:r>
                        <a:rPr sz="1100" b="0">
                          <a:solidFill>
                            <a:srgbClr val="333333"/>
                          </a:solidFill>
                          <a:latin typeface="Fira Code"/>
                        </a:rPr>
                        <a:t>    // Only allow one time slip to prevent high rate magnetometer data preventing fusion of other measurements</a:t>
                      </a:r>
                    </a:p>
                    <a:p>
                      <a:pPr algn="l">
                        <a:lnSpc>
                          <a:spcPct val="106000"/>
                        </a:lnSpc>
                        <a:spcAft>
                          <a:spcPts val="0"/>
                        </a:spcAft>
                      </a:pPr>
                      <a:r>
                        <a:rPr sz="1100" b="0">
                          <a:solidFill>
                            <a:srgbClr val="333333"/>
                          </a:solidFill>
                          <a:latin typeface="Fira Code"/>
                        </a:rPr>
                        <a:t>    if (magFusePerformed &amp;&amp; dtIMUavg &lt; 0.005f &amp;&amp; !optFlowFusionDelayed) {</a:t>
                      </a:r>
                    </a:p>
                    <a:p>
                      <a:pPr algn="l">
                        <a:lnSpc>
                          <a:spcPct val="106000"/>
                        </a:lnSpc>
                        <a:spcAft>
                          <a:spcPts val="0"/>
                        </a:spcAft>
                      </a:pPr>
                      <a:r>
                        <a:rPr sz="1100" b="0">
                          <a:solidFill>
                            <a:srgbClr val="333333"/>
                          </a:solidFill>
                          <a:latin typeface="Fira Code"/>
                        </a:rPr>
                        <a:t>        optFlowFusionDelayed = true;</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 else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libraries/AP_NavEKF3/AP_NavEKF3_Outputs.cpp</a:t>
                      </a:r>
                      <a:r>
                        <a:rPr sz="1100" b="0">
                          <a:solidFill>
                            <a:srgbClr val="999999"/>
                          </a:solidFill>
                          <a:latin typeface="Fira Code"/>
                        </a:rPr>
                        <a:t>  ·  </a:t>
                      </a:r>
                      <a:r>
                        <a:rPr sz="1100" b="0">
                          <a:solidFill>
                            <a:srgbClr val="999999"/>
                          </a:solidFill>
                          <a:latin typeface="Fira Code"/>
                        </a:rPr>
                        <a:t>326-334</a:t>
                      </a:r>
                      <a:r>
                        <a:rPr sz="1100" b="0">
                          <a:solidFill>
                            <a:srgbClr val="999999"/>
                          </a:solidFill>
                          <a:latin typeface="Fira Code"/>
                        </a:rPr>
                        <a:t>  ·  </a:t>
                      </a:r>
                      <a:r>
                        <a:rPr sz="1100" b="0">
                          <a:solidFill>
                            <a:srgbClr val="999999"/>
                          </a:solidFill>
                          <a:latin typeface="Fira Code"/>
                        </a:rPr>
                        <a:t>NavEKF3_core::getLLH()</a:t>
                      </a:r>
                    </a:p>
                    <a:p>
                      <a:pPr algn="l">
                        <a:lnSpc>
                          <a:spcPct val="106000"/>
                        </a:lnSpc>
                        <a:spcAft>
                          <a:spcPts val="0"/>
                        </a:spcAft>
                      </a:pPr>
                      <a:r>
                        <a:rPr sz="1100" b="0">
                          <a:solidFill>
                            <a:srgbClr val="333333"/>
                          </a:solidFill>
                          <a:latin typeface="Fira Code"/>
                        </a:rPr>
                        <a:t>bool NavEKF3_core::getLLH(Location &amp;loc)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Location origin;</a:t>
                      </a:r>
                    </a:p>
                    <a:p>
                      <a:pPr algn="l">
                        <a:lnSpc>
                          <a:spcPct val="106000"/>
                        </a:lnSpc>
                        <a:spcAft>
                          <a:spcPts val="0"/>
                        </a:spcAft>
                      </a:pPr>
                      <a:r>
                        <a:rPr sz="1100" b="0">
                          <a:solidFill>
                            <a:srgbClr val="333333"/>
                          </a:solidFill>
                          <a:latin typeface="Fira Code"/>
                        </a:rPr>
                        <a:t>    if (getOriginLLH(origin)) {</a:t>
                      </a:r>
                    </a:p>
                    <a:p>
                      <a:pPr algn="l">
                        <a:lnSpc>
                          <a:spcPct val="106000"/>
                        </a:lnSpc>
                        <a:spcAft>
                          <a:spcPts val="0"/>
                        </a:spcAft>
                      </a:pPr>
                      <a:r>
                        <a:rPr sz="1100" b="0">
                          <a:solidFill>
                            <a:srgbClr val="333333"/>
                          </a:solidFill>
                          <a:latin typeface="Fira Code"/>
                        </a:rPr>
                        <a:t>        postype_t posD;</a:t>
                      </a:r>
                    </a:p>
                    <a:p>
                      <a:pPr algn="l">
                        <a:lnSpc>
                          <a:spcPct val="106000"/>
                        </a:lnSpc>
                        <a:spcAft>
                          <a:spcPts val="0"/>
                        </a:spcAft>
                      </a:pPr>
                      <a:r>
                        <a:rPr sz="1100" b="0">
                          <a:solidFill>
                            <a:srgbClr val="333333"/>
                          </a:solidFill>
                          <a:latin typeface="Fira Code"/>
                        </a:rPr>
                        <a:t>        if (getPosD_local(posD) &amp;&amp; PV_AidingMode != AID_NONE) {</a:t>
                      </a:r>
                    </a:p>
                    <a:p>
                      <a:pPr algn="l">
                        <a:lnSpc>
                          <a:spcPct val="106000"/>
                        </a:lnSpc>
                        <a:spcAft>
                          <a:spcPts val="0"/>
                        </a:spcAft>
                      </a:pPr>
                      <a:r>
                        <a:rPr sz="1100" b="0">
                          <a:solidFill>
                            <a:srgbClr val="333333"/>
                          </a:solidFill>
                          <a:latin typeface="Fira Code"/>
                        </a:rPr>
                        <a:t>            // Altitude returned is an absolute altitude relative to the WGS-84 spherioid</a:t>
                      </a:r>
                    </a:p>
                    <a:p>
                      <a:pPr algn="l">
                        <a:lnSpc>
                          <a:spcPct val="106000"/>
                        </a:lnSpc>
                        <a:spcAft>
                          <a:spcPts val="0"/>
                        </a:spcAft>
                      </a:pPr>
                      <a:r>
                        <a:rPr sz="1100" b="0">
                          <a:solidFill>
                            <a:srgbClr val="333333"/>
                          </a:solidFill>
                          <a:latin typeface="Fira Code"/>
                        </a:rPr>
                        <a:t>            loc.set_alt_cm(origin.alt - posD*100.0, Location::AltFrame::ABSOLUTE);</a:t>
                      </a:r>
                    </a:p>
                    <a:p>
                      <a:pPr algn="l">
                        <a:lnSpc>
                          <a:spcPct val="106000"/>
                        </a:lnSpc>
                        <a:spcAft>
                          <a:spcPts val="0"/>
                        </a:spcAft>
                      </a:pPr>
                      <a:r>
                        <a:rPr sz="1100" b="0">
                          <a:solidFill>
                            <a:srgbClr val="333333"/>
                          </a:solidFill>
                          <a:latin typeface="Fira Code"/>
                        </a:rPr>
                        <a:t>            if (filterStatus.flags.horiz_pos_abs || filterStatus.flags.horiz_pos_rel)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13–14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4767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15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libraries/AP_NavEKF3/AP_NavEKF3_VehicleStatus.cpp</a:t>
                      </a:r>
                      <a:r>
                        <a:rPr sz="1100" b="0">
                          <a:solidFill>
                            <a:srgbClr val="999999"/>
                          </a:solidFill>
                          <a:latin typeface="Fira Code"/>
                        </a:rPr>
                        <a:t>  ·  </a:t>
                      </a:r>
                      <a:r>
                        <a:rPr sz="1100" b="0">
                          <a:solidFill>
                            <a:srgbClr val="999999"/>
                          </a:solidFill>
                          <a:latin typeface="Fira Code"/>
                        </a:rPr>
                        <a:t>14-22</a:t>
                      </a:r>
                      <a:r>
                        <a:rPr sz="1100" b="0">
                          <a:solidFill>
                            <a:srgbClr val="999999"/>
                          </a:solidFill>
                          <a:latin typeface="Fira Code"/>
                        </a:rPr>
                        <a:t>  ·  </a:t>
                      </a:r>
                      <a:r>
                        <a:rPr sz="1100" b="0">
                          <a:solidFill>
                            <a:srgbClr val="999999"/>
                          </a:solidFill>
                          <a:latin typeface="Fira Code"/>
                        </a:rPr>
                        <a:t>NavEKF3_core::calcGpsGoodToAlign()</a:t>
                      </a:r>
                    </a:p>
                    <a:p>
                      <a:pPr algn="l">
                        <a:lnSpc>
                          <a:spcPct val="106000"/>
                        </a:lnSpc>
                        <a:spcAft>
                          <a:spcPts val="0"/>
                        </a:spcAft>
                      </a:pPr>
                      <a:r>
                        <a:rPr sz="1100" b="0">
                          <a:solidFill>
                            <a:srgbClr val="333333"/>
                          </a:solidFill>
                          <a:latin typeface="Fira Code"/>
                        </a:rPr>
                        <a:t>void NavEKF3_core::calcGpsGoodToAlign(void)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if (inFlight &amp;&amp; !finalInflightYawInit &amp;&amp; assume_zero_sideslip() &amp;&amp; !use_compass()) {</a:t>
                      </a:r>
                    </a:p>
                    <a:p>
                      <a:pPr algn="l">
                        <a:lnSpc>
                          <a:spcPct val="106000"/>
                        </a:lnSpc>
                        <a:spcAft>
                          <a:spcPts val="0"/>
                        </a:spcAft>
                      </a:pPr>
                      <a:r>
                        <a:rPr sz="1100" b="0">
                          <a:solidFill>
                            <a:srgbClr val="333333"/>
                          </a:solidFill>
                          <a:latin typeface="Fira Code"/>
                        </a:rPr>
                        <a:t>        // this is a special case where a plane has launched without magnetometer</a:t>
                      </a:r>
                    </a:p>
                    <a:p>
                      <a:pPr algn="l">
                        <a:lnSpc>
                          <a:spcPct val="106000"/>
                        </a:lnSpc>
                        <a:spcAft>
                          <a:spcPts val="0"/>
                        </a:spcAft>
                      </a:pPr>
                      <a:r>
                        <a:rPr sz="1100" b="0">
                          <a:solidFill>
                            <a:srgbClr val="333333"/>
                          </a:solidFill>
                          <a:latin typeface="Fira Code"/>
                        </a:rPr>
                        <a:t>        // is now in the air and needs to align yaw to the GPS and start navigating as soon as possible</a:t>
                      </a:r>
                    </a:p>
                    <a:p>
                      <a:pPr algn="l">
                        <a:lnSpc>
                          <a:spcPct val="106000"/>
                        </a:lnSpc>
                        <a:spcAft>
                          <a:spcPts val="0"/>
                        </a:spcAft>
                      </a:pPr>
                      <a:r>
                        <a:rPr sz="1100" b="0">
                          <a:solidFill>
                            <a:srgbClr val="333333"/>
                          </a:solidFill>
                          <a:latin typeface="Fira Code"/>
                        </a:rPr>
                        <a:t>        gpsGoodToAlign = true;</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libraries/AP_NavEKF3/AP_NavEKF3_GyroBias.cpp</a:t>
                      </a:r>
                      <a:r>
                        <a:rPr sz="1100" b="0">
                          <a:solidFill>
                            <a:srgbClr val="999999"/>
                          </a:solidFill>
                          <a:latin typeface="Fira Code"/>
                        </a:rPr>
                        <a:t>  ·  </a:t>
                      </a:r>
                      <a:r>
                        <a:rPr sz="1100" b="0">
                          <a:solidFill>
                            <a:srgbClr val="999999"/>
                          </a:solidFill>
                          <a:latin typeface="Fira Code"/>
                        </a:rPr>
                        <a:t>6-13</a:t>
                      </a:r>
                      <a:r>
                        <a:rPr sz="1100" b="0">
                          <a:solidFill>
                            <a:srgbClr val="999999"/>
                          </a:solidFill>
                          <a:latin typeface="Fira Code"/>
                        </a:rPr>
                        <a:t>  ·  </a:t>
                      </a:r>
                      <a:r>
                        <a:rPr sz="1100" b="0">
                          <a:solidFill>
                            <a:srgbClr val="999999"/>
                          </a:solidFill>
                          <a:latin typeface="Fira Code"/>
                        </a:rPr>
                        <a:t>NavEKF3_core::resetGyroBias()</a:t>
                      </a:r>
                    </a:p>
                    <a:p>
                      <a:pPr algn="l">
                        <a:lnSpc>
                          <a:spcPct val="106000"/>
                        </a:lnSpc>
                        <a:spcAft>
                          <a:spcPts val="0"/>
                        </a:spcAft>
                      </a:pPr>
                      <a:r>
                        <a:rPr sz="1100" b="0">
                          <a:solidFill>
                            <a:srgbClr val="333333"/>
                          </a:solidFill>
                          <a:latin typeface="Fira Code"/>
                        </a:rPr>
                        <a:t>void NavEKF3_core::resetGyroBias(void)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stateStruct.gyro_bias.zero();</a:t>
                      </a:r>
                    </a:p>
                    <a:p>
                      <a:pPr algn="l">
                        <a:lnSpc>
                          <a:spcPct val="106000"/>
                        </a:lnSpc>
                        <a:spcAft>
                          <a:spcPts val="0"/>
                        </a:spcAft>
                      </a:pPr>
                      <a:r>
                        <a:rPr sz="1100" b="0">
                          <a:solidFill>
                            <a:srgbClr val="333333"/>
                          </a:solidFill>
                          <a:latin typeface="Fira Code"/>
                        </a:rPr>
                        <a:t>    zeroRows(P,10,12);</a:t>
                      </a:r>
                    </a:p>
                    <a:p>
                      <a:pPr algn="l">
                        <a:lnSpc>
                          <a:spcPct val="106000"/>
                        </a:lnSpc>
                        <a:spcAft>
                          <a:spcPts val="0"/>
                        </a:spcAft>
                      </a:pPr>
                      <a:r>
                        <a:rPr sz="1100" b="0">
                          <a:solidFill>
                            <a:srgbClr val="333333"/>
                          </a:solidFill>
                          <a:latin typeface="Fira Code"/>
                        </a:rPr>
                        <a:t>    zeroCols(P,10,12);</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P[10][10] = sq(radians(0.5f * dtIMUavg));</a:t>
                      </a:r>
                    </a:p>
                    <a:p>
                      <a:pPr algn="l">
                        <a:lnSpc>
                          <a:spcPct val="106000"/>
                        </a:lnSpc>
                        <a:spcAft>
                          <a:spcPts val="0"/>
                        </a:spcAft>
                      </a:pPr>
                      <a:r>
                        <a:rPr sz="1100" b="0">
                          <a:solidFill>
                            <a:srgbClr val="333333"/>
                          </a:solidFill>
                          <a:latin typeface="Fira Code"/>
                        </a:rPr>
                        <a:t>    P[11][11] = P[10][10];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15–16</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25375"/>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17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libraries/AP_NavEKF3/AP_NavEKF3_RngBcnFusion.cpp</a:t>
                      </a:r>
                      <a:r>
                        <a:rPr sz="1100" b="0">
                          <a:solidFill>
                            <a:srgbClr val="999999"/>
                          </a:solidFill>
                          <a:latin typeface="Fira Code"/>
                        </a:rPr>
                        <a:t>  ·  </a:t>
                      </a:r>
                      <a:r>
                        <a:rPr sz="1100" b="0">
                          <a:solidFill>
                            <a:srgbClr val="999999"/>
                          </a:solidFill>
                          <a:latin typeface="Fira Code"/>
                        </a:rPr>
                        <a:t>95-103</a:t>
                      </a:r>
                      <a:r>
                        <a:rPr sz="1100" b="0">
                          <a:solidFill>
                            <a:srgbClr val="999999"/>
                          </a:solidFill>
                          <a:latin typeface="Fira Code"/>
                        </a:rPr>
                        <a:t>  ·  </a:t>
                      </a:r>
                      <a:r>
                        <a:rPr sz="1100" b="0">
                          <a:solidFill>
                            <a:srgbClr val="999999"/>
                          </a:solidFill>
                          <a:latin typeface="Fira Code"/>
                        </a:rPr>
                        <a:t>NavEKF3_core::FuseRngBcn()</a:t>
                      </a:r>
                    </a:p>
                    <a:p>
                      <a:pPr algn="l">
                        <a:lnSpc>
                          <a:spcPct val="106000"/>
                        </a:lnSpc>
                        <a:spcAft>
                          <a:spcPts val="0"/>
                        </a:spcAft>
                      </a:pPr>
                      <a:r>
                        <a:rPr sz="1100" b="0">
                          <a:solidFill>
                            <a:srgbClr val="333333"/>
                          </a:solidFill>
                          <a:latin typeface="Fira Code"/>
                        </a:rPr>
                        <a:t>void NavEKF3_core::FuseRngBcn()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declarations</a:t>
                      </a:r>
                    </a:p>
                    <a:p>
                      <a:pPr algn="l">
                        <a:lnSpc>
                          <a:spcPct val="106000"/>
                        </a:lnSpc>
                        <a:spcAft>
                          <a:spcPts val="0"/>
                        </a:spcAft>
                      </a:pPr>
                      <a:r>
                        <a:rPr sz="1100" b="0">
                          <a:solidFill>
                            <a:srgbClr val="333333"/>
                          </a:solidFill>
                          <a:latin typeface="Fira Code"/>
                        </a:rPr>
                        <a:t>    ftype pn;</a:t>
                      </a:r>
                    </a:p>
                    <a:p>
                      <a:pPr algn="l">
                        <a:lnSpc>
                          <a:spcPct val="106000"/>
                        </a:lnSpc>
                        <a:spcAft>
                          <a:spcPts val="0"/>
                        </a:spcAft>
                      </a:pPr>
                      <a:r>
                        <a:rPr sz="1100" b="0">
                          <a:solidFill>
                            <a:srgbClr val="333333"/>
                          </a:solidFill>
                          <a:latin typeface="Fira Code"/>
                        </a:rPr>
                        <a:t>    ftype pe;</a:t>
                      </a:r>
                    </a:p>
                    <a:p>
                      <a:pPr algn="l">
                        <a:lnSpc>
                          <a:spcPct val="106000"/>
                        </a:lnSpc>
                        <a:spcAft>
                          <a:spcPts val="0"/>
                        </a:spcAft>
                      </a:pPr>
                      <a:r>
                        <a:rPr sz="1100" b="0">
                          <a:solidFill>
                            <a:srgbClr val="333333"/>
                          </a:solidFill>
                          <a:latin typeface="Fira Code"/>
                        </a:rPr>
                        <a:t>    ftype pd;</a:t>
                      </a:r>
                    </a:p>
                    <a:p>
                      <a:pPr algn="l">
                        <a:lnSpc>
                          <a:spcPct val="106000"/>
                        </a:lnSpc>
                        <a:spcAft>
                          <a:spcPts val="0"/>
                        </a:spcAft>
                      </a:pPr>
                      <a:r>
                        <a:rPr sz="1100" b="0">
                          <a:solidFill>
                            <a:srgbClr val="333333"/>
                          </a:solidFill>
                          <a:latin typeface="Fira Code"/>
                        </a:rPr>
                        <a:t>    ftype bcn_pn;</a:t>
                      </a:r>
                    </a:p>
                    <a:p>
                      <a:pPr algn="l">
                        <a:lnSpc>
                          <a:spcPct val="106000"/>
                        </a:lnSpc>
                        <a:spcAft>
                          <a:spcPts val="0"/>
                        </a:spcAft>
                      </a:pPr>
                      <a:r>
                        <a:rPr sz="1100" b="0">
                          <a:solidFill>
                            <a:srgbClr val="333333"/>
                          </a:solidFill>
                          <a:latin typeface="Fira Code"/>
                        </a:rPr>
                        <a:t>    ftype bcn_pe;</a:t>
                      </a:r>
                    </a:p>
                    <a:p>
                      <a:pPr algn="l">
                        <a:lnSpc>
                          <a:spcPct val="106000"/>
                        </a:lnSpc>
                        <a:spcAft>
                          <a:spcPts val="0"/>
                        </a:spcAft>
                      </a:pPr>
                      <a:r>
                        <a:rPr sz="1100" b="0">
                          <a:solidFill>
                            <a:srgbClr val="333333"/>
                          </a:solidFill>
                          <a:latin typeface="Fira Code"/>
                        </a:rPr>
                        <a:t>    ftype bcn_pd;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libraries/AP_NavEKF3/AP_NavEKF3_Logging.cpp</a:t>
                      </a:r>
                      <a:r>
                        <a:rPr sz="1100" b="0">
                          <a:solidFill>
                            <a:srgbClr val="999999"/>
                          </a:solidFill>
                          <a:latin typeface="Fira Code"/>
                        </a:rPr>
                        <a:t>  ·  </a:t>
                      </a:r>
                      <a:r>
                        <a:rPr sz="1100" b="0">
                          <a:solidFill>
                            <a:srgbClr val="999999"/>
                          </a:solidFill>
                          <a:latin typeface="Fira Code"/>
                        </a:rPr>
                        <a:t>15-23</a:t>
                      </a:r>
                      <a:r>
                        <a:rPr sz="1100" b="0">
                          <a:solidFill>
                            <a:srgbClr val="999999"/>
                          </a:solidFill>
                          <a:latin typeface="Fira Code"/>
                        </a:rPr>
                        <a:t>  ·  </a:t>
                      </a:r>
                      <a:r>
                        <a:rPr sz="1100" b="0">
                          <a:solidFill>
                            <a:srgbClr val="999999"/>
                          </a:solidFill>
                          <a:latin typeface="Fira Code"/>
                        </a:rPr>
                        <a:t>NavEKF3_core::Log_Write_XKF1()</a:t>
                      </a:r>
                    </a:p>
                    <a:p>
                      <a:pPr algn="l">
                        <a:lnSpc>
                          <a:spcPct val="106000"/>
                        </a:lnSpc>
                        <a:spcAft>
                          <a:spcPts val="0"/>
                        </a:spcAft>
                      </a:pPr>
                      <a:r>
                        <a:rPr sz="1100" b="0">
                          <a:solidFill>
                            <a:srgbClr val="333333"/>
                          </a:solidFill>
                          <a:latin typeface="Fira Code"/>
                        </a:rPr>
                        <a:t>void NavEKF3_core::Log_Write_XKF1(uint64_t time_us)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Write first EKF packet</a:t>
                      </a:r>
                    </a:p>
                    <a:p>
                      <a:pPr algn="l">
                        <a:lnSpc>
                          <a:spcPct val="106000"/>
                        </a:lnSpc>
                        <a:spcAft>
                          <a:spcPts val="0"/>
                        </a:spcAft>
                      </a:pPr>
                      <a:r>
                        <a:rPr sz="1100" b="0">
                          <a:solidFill>
                            <a:srgbClr val="333333"/>
                          </a:solidFill>
                          <a:latin typeface="Fira Code"/>
                        </a:rPr>
                        <a:t>    Vector3f euler;</a:t>
                      </a:r>
                    </a:p>
                    <a:p>
                      <a:pPr algn="l">
                        <a:lnSpc>
                          <a:spcPct val="106000"/>
                        </a:lnSpc>
                        <a:spcAft>
                          <a:spcPts val="0"/>
                        </a:spcAft>
                      </a:pPr>
                      <a:r>
                        <a:rPr sz="1100" b="0">
                          <a:solidFill>
                            <a:srgbClr val="333333"/>
                          </a:solidFill>
                          <a:latin typeface="Fira Code"/>
                        </a:rPr>
                        <a:t>    Vector2p posNE;</a:t>
                      </a:r>
                    </a:p>
                    <a:p>
                      <a:pPr algn="l">
                        <a:lnSpc>
                          <a:spcPct val="106000"/>
                        </a:lnSpc>
                        <a:spcAft>
                          <a:spcPts val="0"/>
                        </a:spcAft>
                      </a:pPr>
                      <a:r>
                        <a:rPr sz="1100" b="0">
                          <a:solidFill>
                            <a:srgbClr val="333333"/>
                          </a:solidFill>
                          <a:latin typeface="Fira Code"/>
                        </a:rPr>
                        <a:t>    postype_t posD;</a:t>
                      </a:r>
                    </a:p>
                    <a:p>
                      <a:pPr algn="l">
                        <a:lnSpc>
                          <a:spcPct val="106000"/>
                        </a:lnSpc>
                        <a:spcAft>
                          <a:spcPts val="0"/>
                        </a:spcAft>
                      </a:pPr>
                      <a:r>
                        <a:rPr sz="1100" b="0">
                          <a:solidFill>
                            <a:srgbClr val="333333"/>
                          </a:solidFill>
                          <a:latin typeface="Fira Code"/>
                        </a:rPr>
                        <a:t>    Vector3f velNED;</a:t>
                      </a:r>
                    </a:p>
                    <a:p>
                      <a:pPr algn="l">
                        <a:lnSpc>
                          <a:spcPct val="106000"/>
                        </a:lnSpc>
                        <a:spcAft>
                          <a:spcPts val="0"/>
                        </a:spcAft>
                      </a:pPr>
                      <a:r>
                        <a:rPr sz="1100" b="0">
                          <a:solidFill>
                            <a:srgbClr val="333333"/>
                          </a:solidFill>
                          <a:latin typeface="Fira Code"/>
                        </a:rPr>
                        <a:t>    Vector3f gyroBias;</a:t>
                      </a:r>
                    </a:p>
                    <a:p>
                      <a:pPr algn="l">
                        <a:lnSpc>
                          <a:spcPct val="106000"/>
                        </a:lnSpc>
                        <a:spcAft>
                          <a:spcPts val="0"/>
                        </a:spcAft>
                      </a:pPr>
                      <a:r>
                        <a:rPr sz="1100" b="0">
                          <a:solidFill>
                            <a:srgbClr val="333333"/>
                          </a:solidFill>
                          <a:latin typeface="Fira Code"/>
                        </a:rPr>
                        <a:t>    float posDownDeriv;</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17–18</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103073"/>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libraries/AP_NavEKF3/AP_NavEKF3.cpp</a:t>
                      </a:r>
                      <a:r>
                        <a:rPr sz="1100" b="0">
                          <a:solidFill>
                            <a:srgbClr val="999999"/>
                          </a:solidFill>
                          <a:latin typeface="Fira Code"/>
                        </a:rPr>
                        <a:t>  ·  </a:t>
                      </a:r>
                      <a:r>
                        <a:rPr sz="1100" b="0">
                          <a:solidFill>
                            <a:srgbClr val="999999"/>
                          </a:solidFill>
                          <a:latin typeface="Fira Code"/>
                        </a:rPr>
                        <a:t>1846-1854</a:t>
                      </a:r>
                      <a:r>
                        <a:rPr sz="1100" b="0">
                          <a:solidFill>
                            <a:srgbClr val="999999"/>
                          </a:solidFill>
                          <a:latin typeface="Fira Code"/>
                        </a:rPr>
                        <a:t>  ·  </a:t>
                      </a:r>
                      <a:r>
                        <a:rPr sz="1100" b="0">
                          <a:solidFill>
                            <a:srgbClr val="999999"/>
                          </a:solidFill>
                          <a:latin typeface="Fira Code"/>
                        </a:rPr>
                        <a:t>NavEKF3::getFilterStatus()</a:t>
                      </a:r>
                    </a:p>
                    <a:p>
                      <a:pPr algn="l">
                        <a:lnSpc>
                          <a:spcPct val="106000"/>
                        </a:lnSpc>
                        <a:spcAft>
                          <a:spcPts val="0"/>
                        </a:spcAft>
                      </a:pPr>
                      <a:r>
                        <a:rPr sz="1100" b="0">
                          <a:solidFill>
                            <a:srgbClr val="333333"/>
                          </a:solidFill>
                          <a:latin typeface="Fira Code"/>
                        </a:rPr>
                        <a:t>void NavEKF3::getFilterStatus(nav_filter_status &amp;status)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if (core) {</a:t>
                      </a:r>
                    </a:p>
                    <a:p>
                      <a:pPr algn="l">
                        <a:lnSpc>
                          <a:spcPct val="106000"/>
                        </a:lnSpc>
                        <a:spcAft>
                          <a:spcPts val="0"/>
                        </a:spcAft>
                      </a:pPr>
                      <a:r>
                        <a:rPr sz="1100" b="0">
                          <a:solidFill>
                            <a:srgbClr val="333333"/>
                          </a:solidFill>
                          <a:latin typeface="Fira Code"/>
                        </a:rPr>
                        <a:t>        core[primary].getFilterStatus(status);</a:t>
                      </a:r>
                    </a:p>
                    <a:p>
                      <a:pPr algn="l">
                        <a:lnSpc>
                          <a:spcPct val="106000"/>
                        </a:lnSpc>
                        <a:spcAft>
                          <a:spcPts val="0"/>
                        </a:spcAft>
                      </a:pPr>
                      <a:r>
                        <a:rPr sz="1100" b="0">
                          <a:solidFill>
                            <a:srgbClr val="333333"/>
                          </a:solidFill>
                          <a:latin typeface="Fira Code"/>
                        </a:rPr>
                        <a:t>    } else {</a:t>
                      </a:r>
                    </a:p>
                    <a:p>
                      <a:pPr algn="l">
                        <a:lnSpc>
                          <a:spcPct val="106000"/>
                        </a:lnSpc>
                        <a:spcAft>
                          <a:spcPts val="0"/>
                        </a:spcAft>
                      </a:pPr>
                      <a:r>
                        <a:rPr sz="1100" b="0">
                          <a:solidFill>
                            <a:srgbClr val="333333"/>
                          </a:solidFill>
                          <a:latin typeface="Fira Code"/>
                        </a:rPr>
                        <a:t>        memset(&amp;status, 0, sizeof(status));</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a:t>
                      </a:r>
                    </a:p>
                    <a:p>
                      <a:pPr algn="l">
                        <a:lnSpc>
                          <a:spcPct val="106000"/>
                        </a:lnSpc>
                        <a:spcAft>
                          <a:spcPts val="0"/>
                        </a:spcAft>
                        <a:defRPr sz="1100">
                          <a:latin typeface="Fira Code"/>
                        </a:defRPr>
                      </a:pPr>
                      <a:r>
                        <a:rPr sz="1100" b="0">
                          <a:solidFill>
                            <a:srgbClr val="333333"/>
                          </a:solidFill>
                          <a:latin typeface="Fira Code"/>
                        </a:rPr>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libraries/AP_NavEKF2/AP_NavEKF2_core.cpp</a:t>
                      </a:r>
                      <a:r>
                        <a:rPr sz="1100" b="0">
                          <a:solidFill>
                            <a:srgbClr val="999999"/>
                          </a:solidFill>
                          <a:latin typeface="Fira Code"/>
                        </a:rPr>
                        <a:t>  ·  </a:t>
                      </a:r>
                      <a:r>
                        <a:rPr sz="1100" b="0">
                          <a:solidFill>
                            <a:srgbClr val="999999"/>
                          </a:solidFill>
                          <a:latin typeface="Fira Code"/>
                        </a:rPr>
                        <a:t>528-536</a:t>
                      </a:r>
                      <a:r>
                        <a:rPr sz="1100" b="0">
                          <a:solidFill>
                            <a:srgbClr val="999999"/>
                          </a:solidFill>
                          <a:latin typeface="Fira Code"/>
                        </a:rPr>
                        <a:t>  ·  </a:t>
                      </a:r>
                      <a:r>
                        <a:rPr sz="1100" b="0">
                          <a:solidFill>
                            <a:srgbClr val="999999"/>
                          </a:solidFill>
                          <a:latin typeface="Fira Code"/>
                        </a:rPr>
                        <a:t>NavEKF2_core::UpdateFilter()</a:t>
                      </a:r>
                    </a:p>
                    <a:p>
                      <a:pPr algn="l">
                        <a:lnSpc>
                          <a:spcPct val="106000"/>
                        </a:lnSpc>
                        <a:spcAft>
                          <a:spcPts val="0"/>
                        </a:spcAft>
                      </a:pPr>
                      <a:r>
                        <a:rPr sz="1100" b="0">
                          <a:solidFill>
                            <a:srgbClr val="333333"/>
                          </a:solidFill>
                          <a:latin typeface="Fira Code"/>
                        </a:rPr>
                        <a:t>void NavEKF2_core::UpdateFilter(bool predict)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Set the flag to indicate to the filter that the front-end has given permission for a new state prediction cycle to be started</a:t>
                      </a:r>
                    </a:p>
                    <a:p>
                      <a:pPr algn="l">
                        <a:lnSpc>
                          <a:spcPct val="106000"/>
                        </a:lnSpc>
                        <a:spcAft>
                          <a:spcPts val="0"/>
                        </a:spcAft>
                      </a:pPr>
                      <a:r>
                        <a:rPr sz="1100" b="0">
                          <a:solidFill>
                            <a:srgbClr val="333333"/>
                          </a:solidFill>
                          <a:latin typeface="Fira Code"/>
                        </a:rPr>
                        <a:t>    startPredictEnabled = predict;</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don't run filter updates if states have not been initialised</a:t>
                      </a:r>
                    </a:p>
                    <a:p>
                      <a:pPr algn="l">
                        <a:lnSpc>
                          <a:spcPct val="106000"/>
                        </a:lnSpc>
                        <a:spcAft>
                          <a:spcPts val="0"/>
                        </a:spcAft>
                      </a:pPr>
                      <a:r>
                        <a:rPr sz="1100" b="0">
                          <a:solidFill>
                            <a:srgbClr val="333333"/>
                          </a:solidFill>
                          <a:latin typeface="Fira Code"/>
                        </a:rPr>
                        <a:t>    if (!statesInitialised) {</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19–20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458470"/>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375673">
                <a:tc>
                  <a:txBody>
                    <a:bodyPr wrap="square">
                      <a:noAutofit/>
                    </a:bodyPr>
                    <a:lstStyle/>
                    <a:p>
                      <a:pPr algn="r">
                        <a:lnSpc>
                          <a:spcPct val="106000"/>
                        </a:lnSpc>
                        <a:spcAft>
                          <a:spcPts val="0"/>
                        </a:spcAft>
                      </a:pPr>
                      <a:r>
                        <a:rPr sz="1100" b="1">
                          <a:solidFill>
                            <a:srgbClr val="333333"/>
                          </a:solidFill>
                          <a:latin typeface="Fira Code"/>
                        </a:rPr>
                        <a:t>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libraries/AP_NavEKF2/AP_NavEKF2_PosVelFusion.cpp</a:t>
                      </a:r>
                      <a:r>
                        <a:rPr sz="1100" b="0">
                          <a:solidFill>
                            <a:srgbClr val="999999"/>
                          </a:solidFill>
                          <a:latin typeface="Fira Code"/>
                        </a:rPr>
                        <a:t>  ·  </a:t>
                      </a:r>
                      <a:r>
                        <a:rPr sz="1100" b="0">
                          <a:solidFill>
                            <a:srgbClr val="999999"/>
                          </a:solidFill>
                          <a:latin typeface="Fira Code"/>
                        </a:rPr>
                        <a:t>560-568</a:t>
                      </a:r>
                      <a:r>
                        <a:rPr sz="1100" b="0">
                          <a:solidFill>
                            <a:srgbClr val="999999"/>
                          </a:solidFill>
                          <a:latin typeface="Fira Code"/>
                        </a:rPr>
                        <a:t>  ·  </a:t>
                      </a:r>
                      <a:r>
                        <a:rPr sz="1100" b="0">
                          <a:solidFill>
                            <a:srgbClr val="999999"/>
                          </a:solidFill>
                          <a:latin typeface="Fira Code"/>
                        </a:rPr>
                        <a:t>NavEKF2_core::FuseVelPosNED()</a:t>
                      </a:r>
                    </a:p>
                    <a:p>
                      <a:pPr algn="l">
                        <a:lnSpc>
                          <a:spcPct val="106000"/>
                        </a:lnSpc>
                        <a:spcAft>
                          <a:spcPts val="0"/>
                        </a:spcAft>
                      </a:pPr>
                      <a:r>
                        <a:rPr sz="1100" b="0">
                          <a:solidFill>
                            <a:srgbClr val="333333"/>
                          </a:solidFill>
                          <a:latin typeface="Fira Code"/>
                        </a:rPr>
                        <a:t>void NavEKF2_core::FuseVelPosNED()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health is set bad until test passed</a:t>
                      </a:r>
                    </a:p>
                    <a:p>
                      <a:pPr algn="l">
                        <a:lnSpc>
                          <a:spcPct val="106000"/>
                        </a:lnSpc>
                        <a:spcAft>
                          <a:spcPts val="0"/>
                        </a:spcAft>
                      </a:pPr>
                      <a:r>
                        <a:rPr sz="1100" b="0">
                          <a:solidFill>
                            <a:srgbClr val="333333"/>
                          </a:solidFill>
                          <a:latin typeface="Fira Code"/>
                        </a:rPr>
                        <a:t>    bool velHealth = false;                 // boolean true if velocity measurements have passed innovation consistency check</a:t>
                      </a:r>
                    </a:p>
                    <a:p>
                      <a:pPr algn="l">
                        <a:lnSpc>
                          <a:spcPct val="106000"/>
                        </a:lnSpc>
                        <a:spcAft>
                          <a:spcPts val="0"/>
                        </a:spcAft>
                      </a:pPr>
                      <a:r>
                        <a:rPr sz="1100" b="0">
                          <a:solidFill>
                            <a:srgbClr val="333333"/>
                          </a:solidFill>
                          <a:latin typeface="Fira Code"/>
                        </a:rPr>
                        <a:t>    bool posHealth = false;                 // boolean true if position measurements have passed innovation consistency check</a:t>
                      </a:r>
                    </a:p>
                    <a:p>
                      <a:pPr algn="l">
                        <a:lnSpc>
                          <a:spcPct val="106000"/>
                        </a:lnSpc>
                        <a:spcAft>
                          <a:spcPts val="0"/>
                        </a:spcAft>
                      </a:pPr>
                      <a:r>
                        <a:rPr sz="1100" b="0">
                          <a:solidFill>
                            <a:srgbClr val="333333"/>
                          </a:solidFill>
                          <a:latin typeface="Fira Code"/>
                        </a:rPr>
                        <a:t>    bool hgtHealth = false;                 // boolean true if height measurements have passed innovation consistency check</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declare variables used to check measurement errors</a:t>
                      </a:r>
                    </a:p>
                    <a:p>
                      <a:pPr algn="l">
                        <a:lnSpc>
                          <a:spcPct val="106000"/>
                        </a:lnSpc>
                        <a:spcAft>
                          <a:spcPts val="0"/>
                        </a:spcAft>
                      </a:pPr>
                      <a:r>
                        <a:rPr sz="1100" b="0">
                          <a:solidFill>
                            <a:srgbClr val="333333"/>
                          </a:solidFill>
                          <a:latin typeface="Fira Code"/>
                        </a:rPr>
                        <a:t>    Vector3F velInnov;</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22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libraries/AP_NavEKF/EKFGSF_yaw.cpp</a:t>
                      </a:r>
                      <a:r>
                        <a:rPr sz="1100" b="0">
                          <a:solidFill>
                            <a:srgbClr val="999999"/>
                          </a:solidFill>
                          <a:latin typeface="Fira Code"/>
                        </a:rPr>
                        <a:t>  ·  </a:t>
                      </a:r>
                      <a:r>
                        <a:rPr sz="1100" b="0">
                          <a:solidFill>
                            <a:srgbClr val="999999"/>
                          </a:solidFill>
                          <a:latin typeface="Fira Code"/>
                        </a:rPr>
                        <a:t>30-38</a:t>
                      </a:r>
                      <a:r>
                        <a:rPr sz="1100" b="0">
                          <a:solidFill>
                            <a:srgbClr val="999999"/>
                          </a:solidFill>
                          <a:latin typeface="Fira Code"/>
                        </a:rPr>
                        <a:t>  ·  </a:t>
                      </a:r>
                      <a:r>
                        <a:rPr sz="1100" b="0">
                          <a:solidFill>
                            <a:srgbClr val="999999"/>
                          </a:solidFill>
                          <a:latin typeface="Fira Code"/>
                        </a:rPr>
                        <a:t>EKFGSF_yaw::update()</a:t>
                      </a:r>
                    </a:p>
                    <a:p>
                      <a:pPr algn="l">
                        <a:lnSpc>
                          <a:spcPct val="106000"/>
                        </a:lnSpc>
                        <a:spcAft>
                          <a:spcPts val="0"/>
                        </a:spcAft>
                      </a:pPr>
                      <a:r>
                        <a:rPr sz="1100" b="0">
                          <a:solidFill>
                            <a:srgbClr val="333333"/>
                          </a:solidFill>
                          <a:latin typeface="Fira Code"/>
                        </a:rPr>
                        <a:t>void EKFGSF_yaw::update(const Vector3F &amp;delAng,</a:t>
                      </a:r>
                    </a:p>
                    <a:p>
                      <a:pPr algn="l">
                        <a:lnSpc>
                          <a:spcPct val="106000"/>
                        </a:lnSpc>
                        <a:spcAft>
                          <a:spcPts val="0"/>
                        </a:spcAft>
                      </a:pPr>
                      <a:r>
                        <a:rPr sz="1100" b="0">
                          <a:solidFill>
                            <a:srgbClr val="333333"/>
                          </a:solidFill>
                          <a:latin typeface="Fira Code"/>
                        </a:rPr>
                        <a:t>                        const Vector3F &amp;delVel,</a:t>
                      </a:r>
                    </a:p>
                    <a:p>
                      <a:pPr algn="l">
                        <a:lnSpc>
                          <a:spcPct val="106000"/>
                        </a:lnSpc>
                        <a:spcAft>
                          <a:spcPts val="0"/>
                        </a:spcAft>
                      </a:pPr>
                      <a:r>
                        <a:rPr sz="1100" b="0">
                          <a:solidFill>
                            <a:srgbClr val="333333"/>
                          </a:solidFill>
                          <a:latin typeface="Fira Code"/>
                        </a:rPr>
                        <a:t>                        const ftype delAngDT,</a:t>
                      </a:r>
                    </a:p>
                    <a:p>
                      <a:pPr algn="l">
                        <a:lnSpc>
                          <a:spcPct val="106000"/>
                        </a:lnSpc>
                        <a:spcAft>
                          <a:spcPts val="0"/>
                        </a:spcAft>
                      </a:pPr>
                      <a:r>
                        <a:rPr sz="1100" b="0">
                          <a:solidFill>
                            <a:srgbClr val="333333"/>
                          </a:solidFill>
                          <a:latin typeface="Fira Code"/>
                        </a:rPr>
                        <a:t>                        const ftype delVelDT,</a:t>
                      </a:r>
                    </a:p>
                    <a:p>
                      <a:pPr algn="l">
                        <a:lnSpc>
                          <a:spcPct val="106000"/>
                        </a:lnSpc>
                        <a:spcAft>
                          <a:spcPts val="0"/>
                        </a:spcAft>
                      </a:pPr>
                      <a:r>
                        <a:rPr sz="1100" b="0">
                          <a:solidFill>
                            <a:srgbClr val="333333"/>
                          </a:solidFill>
                          <a:latin typeface="Fira Code"/>
                        </a:rPr>
                        <a:t>                        bool runEKF,</a:t>
                      </a:r>
                    </a:p>
                    <a:p>
                      <a:pPr algn="l">
                        <a:lnSpc>
                          <a:spcPct val="106000"/>
                        </a:lnSpc>
                        <a:spcAft>
                          <a:spcPts val="0"/>
                        </a:spcAft>
                      </a:pPr>
                      <a:r>
                        <a:rPr sz="1100" b="0">
                          <a:solidFill>
                            <a:srgbClr val="333333"/>
                          </a:solidFill>
                          <a:latin typeface="Fira Code"/>
                        </a:rPr>
                        <a:t>                        ftype TAS)</a:t>
                      </a:r>
                    </a:p>
                    <a:p>
                      <a:pPr algn="l">
                        <a:lnSpc>
                          <a:spcPct val="106000"/>
                        </a:lnSpc>
                        <a:spcAft>
                          <a:spcPts val="0"/>
                        </a:spcAft>
                      </a:pPr>
                      <a:r>
                        <a:rPr sz="1100" b="0">
                          <a:solidFill>
                            <a:srgbClr val="333333"/>
                          </a:solidFill>
                          <a:latin typeface="Fira Code"/>
                        </a:rPr>
                        <a:t>{</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copy to class variables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21–22</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280771"/>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020276">
                <a:tc>
                  <a:txBody>
                    <a:bodyPr wrap="square">
                      <a:noAutofit/>
                    </a:bodyPr>
                    <a:lstStyle/>
                    <a:p>
                      <a:pPr algn="r">
                        <a:lnSpc>
                          <a:spcPct val="106000"/>
                        </a:lnSpc>
                        <a:spcAft>
                          <a:spcPts val="0"/>
                        </a:spcAft>
                      </a:pPr>
                      <a:r>
                        <a:rPr sz="1100" b="1">
                          <a:solidFill>
                            <a:srgbClr val="333333"/>
                          </a:solidFill>
                          <a:latin typeface="Fira Code"/>
                        </a:rPr>
                        <a:t>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libraries/AC_WPNav/AC_WPNav.cpp</a:t>
                      </a:r>
                      <a:r>
                        <a:rPr sz="1100" b="0">
                          <a:solidFill>
                            <a:srgbClr val="999999"/>
                          </a:solidFill>
                          <a:latin typeface="Fira Code"/>
                        </a:rPr>
                        <a:t>  ·  </a:t>
                      </a:r>
                      <a:r>
                        <a:rPr sz="1100" b="0">
                          <a:solidFill>
                            <a:srgbClr val="999999"/>
                          </a:solidFill>
                          <a:latin typeface="Fira Code"/>
                        </a:rPr>
                        <a:t>245-254</a:t>
                      </a:r>
                      <a:r>
                        <a:rPr sz="1100" b="0">
                          <a:solidFill>
                            <a:srgbClr val="999999"/>
                          </a:solidFill>
                          <a:latin typeface="Fira Code"/>
                        </a:rPr>
                        <a:t>  ·  </a:t>
                      </a:r>
                      <a:r>
                        <a:rPr sz="1100" b="0">
                          <a:solidFill>
                            <a:srgbClr val="999999"/>
                          </a:solidFill>
                          <a:latin typeface="Fira Code"/>
                        </a:rPr>
                        <a:t>AC_WPNav::set_wp_destination_loc()</a:t>
                      </a:r>
                    </a:p>
                    <a:p>
                      <a:pPr algn="l">
                        <a:lnSpc>
                          <a:spcPct val="106000"/>
                        </a:lnSpc>
                        <a:spcAft>
                          <a:spcPts val="0"/>
                        </a:spcAft>
                      </a:pPr>
                      <a:r>
                        <a:rPr sz="1100" b="0">
                          <a:solidFill>
                            <a:srgbClr val="333333"/>
                          </a:solidFill>
                          <a:latin typeface="Fira Code"/>
                        </a:rPr>
                        <a:t>bool AC_WPNav::set_wp_destination_loc(const Location&amp; destination)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bool is_terrain_alt;</a:t>
                      </a:r>
                    </a:p>
                    <a:p>
                      <a:pPr algn="l">
                        <a:lnSpc>
                          <a:spcPct val="106000"/>
                        </a:lnSpc>
                        <a:spcAft>
                          <a:spcPts val="0"/>
                        </a:spcAft>
                      </a:pPr>
                      <a:r>
                        <a:rPr sz="1100" b="0">
                          <a:solidFill>
                            <a:srgbClr val="333333"/>
                          </a:solidFill>
                          <a:latin typeface="Fira Code"/>
                        </a:rPr>
                        <a:t>    Vector3f dest_neu_cm;</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convert destination location to vector</a:t>
                      </a:r>
                    </a:p>
                    <a:p>
                      <a:pPr algn="l">
                        <a:lnSpc>
                          <a:spcPct val="106000"/>
                        </a:lnSpc>
                        <a:spcAft>
                          <a:spcPts val="0"/>
                        </a:spcAft>
                      </a:pPr>
                      <a:r>
                        <a:rPr sz="1100" b="0">
                          <a:solidFill>
                            <a:srgbClr val="333333"/>
                          </a:solidFill>
                          <a:latin typeface="Fira Code"/>
                        </a:rPr>
                        <a:t>    if (!get_vector_NEU_cm(destination, dest_neu_cm, is_terrain_alt)) {</a:t>
                      </a:r>
                    </a:p>
                    <a:p>
                      <a:pPr algn="l">
                        <a:lnSpc>
                          <a:spcPct val="106000"/>
                        </a:lnSpc>
                        <a:spcAft>
                          <a:spcPts val="0"/>
                        </a:spcAft>
                      </a:pPr>
                      <a:r>
                        <a:rPr sz="1100" b="0">
                          <a:solidFill>
                            <a:srgbClr val="333333"/>
                          </a:solidFill>
                          <a:latin typeface="Fira Code"/>
                        </a:rPr>
                        <a:t>        return false;</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libraries/AP_Mission/AP_Mission.cpp</a:t>
                      </a:r>
                      <a:r>
                        <a:rPr sz="1100" b="0">
                          <a:solidFill>
                            <a:srgbClr val="999999"/>
                          </a:solidFill>
                          <a:latin typeface="Fira Code"/>
                        </a:rPr>
                        <a:t>  ·  </a:t>
                      </a:r>
                      <a:r>
                        <a:rPr sz="1100" b="0">
                          <a:solidFill>
                            <a:srgbClr val="999999"/>
                          </a:solidFill>
                          <a:latin typeface="Fira Code"/>
                        </a:rPr>
                        <a:t>552-561</a:t>
                      </a:r>
                      <a:r>
                        <a:rPr sz="1100" b="0">
                          <a:solidFill>
                            <a:srgbClr val="999999"/>
                          </a:solidFill>
                          <a:latin typeface="Fira Code"/>
                        </a:rPr>
                        <a:t>  ·  </a:t>
                      </a:r>
                      <a:r>
                        <a:rPr sz="1100" b="0">
                          <a:solidFill>
                            <a:srgbClr val="999999"/>
                          </a:solidFill>
                          <a:latin typeface="Fira Code"/>
                        </a:rPr>
                        <a:t>AP_Mission::get_next_nav_cmd()</a:t>
                      </a:r>
                    </a:p>
                    <a:p>
                      <a:pPr algn="l">
                        <a:lnSpc>
                          <a:spcPct val="106000"/>
                        </a:lnSpc>
                        <a:spcAft>
                          <a:spcPts val="0"/>
                        </a:spcAft>
                      </a:pPr>
                      <a:r>
                        <a:rPr sz="1100" b="0">
                          <a:solidFill>
                            <a:srgbClr val="333333"/>
                          </a:solidFill>
                          <a:latin typeface="Fira Code"/>
                        </a:rPr>
                        <a:t>bool AP_Mission::get_next_nav_cmd(uint16_t start_index, Mission_Command&amp; cmd)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search until the end of the mission command list</a:t>
                      </a:r>
                    </a:p>
                    <a:p>
                      <a:pPr algn="l">
                        <a:lnSpc>
                          <a:spcPct val="106000"/>
                        </a:lnSpc>
                        <a:spcAft>
                          <a:spcPts val="0"/>
                        </a:spcAft>
                      </a:pPr>
                      <a:r>
                        <a:rPr sz="1100" b="0">
                          <a:solidFill>
                            <a:srgbClr val="333333"/>
                          </a:solidFill>
                          <a:latin typeface="Fira Code"/>
                        </a:rPr>
                        <a:t>    for (uint16_t cmd_index = start_index; cmd_index &lt; (unsigned)_cmd_total; cmd_index++) {</a:t>
                      </a:r>
                    </a:p>
                    <a:p>
                      <a:pPr algn="l">
                        <a:lnSpc>
                          <a:spcPct val="106000"/>
                        </a:lnSpc>
                        <a:spcAft>
                          <a:spcPts val="0"/>
                        </a:spcAft>
                      </a:pPr>
                      <a:r>
                        <a:rPr sz="1100" b="0">
                          <a:solidFill>
                            <a:srgbClr val="333333"/>
                          </a:solidFill>
                          <a:latin typeface="Fira Code"/>
                        </a:rPr>
                        <a:t>        // get next command</a:t>
                      </a:r>
                    </a:p>
                    <a:p>
                      <a:pPr algn="l">
                        <a:lnSpc>
                          <a:spcPct val="106000"/>
                        </a:lnSpc>
                        <a:spcAft>
                          <a:spcPts val="0"/>
                        </a:spcAft>
                      </a:pPr>
                      <a:r>
                        <a:rPr sz="1100" b="0">
                          <a:solidFill>
                            <a:srgbClr val="333333"/>
                          </a:solidFill>
                          <a:latin typeface="Fira Code"/>
                        </a:rPr>
                        <a:t>        if (!get_next_cmd(cmd_index, cmd, false)) {</a:t>
                      </a:r>
                    </a:p>
                    <a:p>
                      <a:pPr algn="l">
                        <a:lnSpc>
                          <a:spcPct val="106000"/>
                        </a:lnSpc>
                        <a:spcAft>
                          <a:spcPts val="0"/>
                        </a:spcAft>
                      </a:pPr>
                      <a:r>
                        <a:rPr sz="1100" b="0">
                          <a:solidFill>
                            <a:srgbClr val="333333"/>
                          </a:solidFill>
                          <a:latin typeface="Fira Code"/>
                        </a:rPr>
                        <a:t>            // no more commands so return failure</a:t>
                      </a:r>
                    </a:p>
                    <a:p>
                      <a:pPr algn="l">
                        <a:lnSpc>
                          <a:spcPct val="106000"/>
                        </a:lnSpc>
                        <a:spcAft>
                          <a:spcPts val="0"/>
                        </a:spcAft>
                      </a:pPr>
                      <a:r>
                        <a:rPr sz="1100" b="0">
                          <a:solidFill>
                            <a:srgbClr val="333333"/>
                          </a:solidFill>
                          <a:latin typeface="Fira Code"/>
                        </a:rPr>
                        <a:t>            return false;</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 if found a "navigation" command then return 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23–24</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458470"/>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libraries/AP_L1_Control/AP_L1_Control.cpp</a:t>
                      </a:r>
                      <a:r>
                        <a:rPr sz="1100" b="0">
                          <a:solidFill>
                            <a:srgbClr val="999999"/>
                          </a:solidFill>
                          <a:latin typeface="Fira Code"/>
                        </a:rPr>
                        <a:t>  ·  </a:t>
                      </a:r>
                      <a:r>
                        <a:rPr sz="1100" b="0">
                          <a:solidFill>
                            <a:srgbClr val="999999"/>
                          </a:solidFill>
                          <a:latin typeface="Fira Code"/>
                        </a:rPr>
                        <a:t>226-234</a:t>
                      </a:r>
                      <a:r>
                        <a:rPr sz="1100" b="0">
                          <a:solidFill>
                            <a:srgbClr val="999999"/>
                          </a:solidFill>
                          <a:latin typeface="Fira Code"/>
                        </a:rPr>
                        <a:t>  ·  </a:t>
                      </a:r>
                      <a:r>
                        <a:rPr sz="1100" b="0">
                          <a:solidFill>
                            <a:srgbClr val="999999"/>
                          </a:solidFill>
                          <a:latin typeface="Fira Code"/>
                        </a:rPr>
                        <a:t>AP_L1_Control::update_waypoint()</a:t>
                      </a:r>
                    </a:p>
                    <a:p>
                      <a:pPr algn="l">
                        <a:lnSpc>
                          <a:spcPct val="106000"/>
                        </a:lnSpc>
                        <a:spcAft>
                          <a:spcPts val="0"/>
                        </a:spcAft>
                      </a:pPr>
                      <a:r>
                        <a:rPr sz="1100" b="0">
                          <a:solidFill>
                            <a:srgbClr val="333333"/>
                          </a:solidFill>
                          <a:latin typeface="Fira Code"/>
                        </a:rPr>
                        <a:t>    // Calculate L1 gain required for specified damping</a:t>
                      </a:r>
                    </a:p>
                    <a:p>
                      <a:pPr algn="l">
                        <a:lnSpc>
                          <a:spcPct val="106000"/>
                        </a:lnSpc>
                        <a:spcAft>
                          <a:spcPts val="0"/>
                        </a:spcAft>
                      </a:pPr>
                      <a:r>
                        <a:rPr sz="1100" b="0">
                          <a:solidFill>
                            <a:srgbClr val="333333"/>
                          </a:solidFill>
                          <a:latin typeface="Fira Code"/>
                        </a:rPr>
                        <a:t>    float K_L1 = 4.0f * _L1_damping * _L1_damping;</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Get current position and velocity</a:t>
                      </a:r>
                    </a:p>
                    <a:p>
                      <a:pPr algn="l">
                        <a:lnSpc>
                          <a:spcPct val="106000"/>
                        </a:lnSpc>
                        <a:spcAft>
                          <a:spcPts val="0"/>
                        </a:spcAft>
                      </a:pPr>
                      <a:r>
                        <a:rPr sz="1100" b="0">
                          <a:solidFill>
                            <a:srgbClr val="333333"/>
                          </a:solidFill>
                          <a:latin typeface="Fira Code"/>
                        </a:rPr>
                        <a:t>    if (_ahrs.get_location(_current_loc) == false) {</a:t>
                      </a:r>
                    </a:p>
                    <a:p>
                      <a:pPr algn="l">
                        <a:lnSpc>
                          <a:spcPct val="106000"/>
                        </a:lnSpc>
                        <a:spcAft>
                          <a:spcPts val="0"/>
                        </a:spcAft>
                      </a:pPr>
                      <a:r>
                        <a:rPr sz="1100" b="0">
                          <a:solidFill>
                            <a:srgbClr val="333333"/>
                          </a:solidFill>
                          <a:latin typeface="Fira Code"/>
                        </a:rPr>
                        <a:t>        // if no GPS loc available, maintain last nav/target_bearing</a:t>
                      </a:r>
                    </a:p>
                    <a:p>
                      <a:pPr algn="l">
                        <a:lnSpc>
                          <a:spcPct val="106000"/>
                        </a:lnSpc>
                        <a:spcAft>
                          <a:spcPts val="0"/>
                        </a:spcAft>
                      </a:pPr>
                      <a:r>
                        <a:rPr sz="1100" b="0">
                          <a:solidFill>
                            <a:srgbClr val="333333"/>
                          </a:solidFill>
                          <a:latin typeface="Fira Code"/>
                        </a:rPr>
                        <a:t>        _data_is_stale = true;</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375673">
                <a:tc>
                  <a:txBody>
                    <a:bodyPr wrap="square">
                      <a:noAutofit/>
                    </a:bodyPr>
                    <a:lstStyle/>
                    <a:p>
                      <a:pPr algn="r">
                        <a:lnSpc>
                          <a:spcPct val="106000"/>
                        </a:lnSpc>
                        <a:spcAft>
                          <a:spcPts val="0"/>
                        </a:spcAft>
                      </a:pPr>
                      <a:r>
                        <a:rPr sz="1100" b="1">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libraries/AP_L1_Control/AP_L1_Control.cpp</a:t>
                      </a:r>
                      <a:r>
                        <a:rPr sz="1100" b="0">
                          <a:solidFill>
                            <a:srgbClr val="999999"/>
                          </a:solidFill>
                          <a:latin typeface="Fira Code"/>
                        </a:rPr>
                        <a:t>  ·  </a:t>
                      </a:r>
                      <a:r>
                        <a:rPr sz="1100" b="0">
                          <a:solidFill>
                            <a:srgbClr val="999999"/>
                          </a:solidFill>
                          <a:latin typeface="Fira Code"/>
                        </a:rPr>
                        <a:t>79-88</a:t>
                      </a:r>
                      <a:r>
                        <a:rPr sz="1100" b="0">
                          <a:solidFill>
                            <a:srgbClr val="999999"/>
                          </a:solidFill>
                          <a:latin typeface="Fira Code"/>
                        </a:rPr>
                        <a:t>  ·  </a:t>
                      </a:r>
                      <a:r>
                        <a:rPr sz="1100" b="0">
                          <a:solidFill>
                            <a:srgbClr val="999999"/>
                          </a:solidFill>
                          <a:latin typeface="Fira Code"/>
                        </a:rPr>
                        <a:t>AP_L1_Control::nav_roll_cd()</a:t>
                      </a:r>
                    </a:p>
                    <a:p>
                      <a:pPr algn="l">
                        <a:lnSpc>
                          <a:spcPct val="106000"/>
                        </a:lnSpc>
                        <a:spcAft>
                          <a:spcPts val="0"/>
                        </a:spcAft>
                      </a:pPr>
                      <a:r>
                        <a:rPr sz="1100" b="0">
                          <a:solidFill>
                            <a:srgbClr val="333333"/>
                          </a:solidFill>
                          <a:latin typeface="Fira Code"/>
                        </a:rPr>
                        <a:t>int32_t AP_L1_Control::nav_roll_cd(void)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float ret;</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formula can be obtained through equations of balanced spiral:</a:t>
                      </a:r>
                    </a:p>
                    <a:p>
                      <a:pPr algn="l">
                        <a:lnSpc>
                          <a:spcPct val="106000"/>
                        </a:lnSpc>
                        <a:spcAft>
                          <a:spcPts val="0"/>
                        </a:spcAft>
                      </a:pPr>
                      <a:r>
                        <a:rPr sz="1100" b="0">
                          <a:solidFill>
                            <a:srgbClr val="333333"/>
                          </a:solidFill>
                          <a:latin typeface="Fira Code"/>
                        </a:rPr>
                        <a:t>		liftForce * cos(roll) = gravityForce * cos(pitch);</a:t>
                      </a:r>
                    </a:p>
                    <a:p>
                      <a:pPr algn="l">
                        <a:lnSpc>
                          <a:spcPct val="106000"/>
                        </a:lnSpc>
                        <a:spcAft>
                          <a:spcPts val="0"/>
                        </a:spcAft>
                      </a:pPr>
                      <a:r>
                        <a:rPr sz="1100" b="0">
                          <a:solidFill>
                            <a:srgbClr val="333333"/>
                          </a:solidFill>
                          <a:latin typeface="Fira Code"/>
                        </a:rPr>
                        <a:t>		liftForce * sin(roll) = gravityForce * lateralAcceleration / gravityAcceleration; // as mass = gravityForce/gravityAcceleration</a:t>
                      </a:r>
                    </a:p>
                    <a:p>
                      <a:pPr algn="l">
                        <a:lnSpc>
                          <a:spcPct val="106000"/>
                        </a:lnSpc>
                        <a:spcAft>
                          <a:spcPts val="0"/>
                        </a:spcAft>
                      </a:pPr>
                      <a:r>
                        <a:rPr sz="1100" b="0">
                          <a:solidFill>
                            <a:srgbClr val="333333"/>
                          </a:solidFill>
                          <a:latin typeface="Fira Code"/>
                        </a:rPr>
                        <a:t>		see issue 24319 [https://github.com/ArduPilot/ardupilot/issues/24319]</a:t>
                      </a:r>
                    </a:p>
                    <a:p>
                      <a:pPr algn="l">
                        <a:lnSpc>
                          <a:spcPct val="106000"/>
                        </a:lnSpc>
                        <a:spcAft>
                          <a:spcPts val="0"/>
                        </a:spcAft>
                      </a:pPr>
                      <a:r>
                        <a:rPr sz="1100" b="0">
                          <a:solidFill>
                            <a:srgbClr val="333333"/>
                          </a:solidFill>
                          <a:latin typeface="Fira Code"/>
                        </a:rPr>
                        <a:t>		Multiplier 100.0f is for converting degrees to centidegrees</a:t>
                      </a:r>
                    </a:p>
                    <a:p>
                      <a:pPr algn="l">
                        <a:lnSpc>
                          <a:spcPct val="106000"/>
                        </a:lnSpc>
                        <a:spcAft>
                          <a:spcPts val="0"/>
                        </a:spcAft>
                      </a:pPr>
                      <a:r>
                        <a:rPr sz="1100" b="0">
                          <a:solidFill>
                            <a:srgbClr val="333333"/>
                          </a:solidFill>
                          <a:latin typeface="Fira Code"/>
                        </a:rPr>
                        <a:t>		Made changes to avoid zero division as proposed by Andrew Tridgell: https://github.com/ArduPilot/ardupilot/pull/24331#discussion_r1267798397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25–26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458470"/>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020276">
                <a:tc>
                  <a:txBody>
                    <a:bodyPr wrap="square">
                      <a:noAutofit/>
                    </a:bodyPr>
                    <a:lstStyle/>
                    <a:p>
                      <a:pPr algn="r">
                        <a:lnSpc>
                          <a:spcPct val="106000"/>
                        </a:lnSpc>
                        <a:spcAft>
                          <a:spcPts val="0"/>
                        </a:spcAft>
                      </a:pPr>
                      <a:r>
                        <a:rPr sz="1100" b="1">
                          <a:solidFill>
                            <a:srgbClr val="333333"/>
                          </a:solidFill>
                          <a:latin typeface="Fira Code"/>
                        </a:rPr>
                        <a:t>27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libraries/AP_TECS/AP_TECS.cpp</a:t>
                      </a:r>
                      <a:r>
                        <a:rPr sz="1100" b="0">
                          <a:solidFill>
                            <a:srgbClr val="999999"/>
                          </a:solidFill>
                          <a:latin typeface="Fira Code"/>
                        </a:rPr>
                        <a:t>  ·  </a:t>
                      </a:r>
                      <a:r>
                        <a:rPr sz="1100" b="0">
                          <a:solidFill>
                            <a:srgbClr val="999999"/>
                          </a:solidFill>
                          <a:latin typeface="Fira Code"/>
                        </a:rPr>
                        <a:t>1259-1268</a:t>
                      </a:r>
                      <a:r>
                        <a:rPr sz="1100" b="0">
                          <a:solidFill>
                            <a:srgbClr val="999999"/>
                          </a:solidFill>
                          <a:latin typeface="Fira Code"/>
                        </a:rPr>
                        <a:t>  ·  </a:t>
                      </a:r>
                      <a:r>
                        <a:rPr sz="1100" b="0">
                          <a:solidFill>
                            <a:srgbClr val="999999"/>
                          </a:solidFill>
                          <a:latin typeface="Fira Code"/>
                        </a:rPr>
                        <a:t>AP_TECS::update_pitch_throttle()</a:t>
                      </a:r>
                    </a:p>
                    <a:p>
                      <a:pPr algn="l">
                        <a:lnSpc>
                          <a:spcPct val="106000"/>
                        </a:lnSpc>
                        <a:spcAft>
                          <a:spcPts val="0"/>
                        </a:spcAft>
                      </a:pPr>
                      <a:r>
                        <a:rPr sz="1100" b="0">
                          <a:solidFill>
                            <a:srgbClr val="333333"/>
                          </a:solidFill>
                          <a:latin typeface="Fira Code"/>
                        </a:rPr>
                        <a:t>void AP_TECS::update_pitch_throttle(int32_t hgt_dem_cm,</a:t>
                      </a:r>
                    </a:p>
                    <a:p>
                      <a:pPr algn="l">
                        <a:lnSpc>
                          <a:spcPct val="106000"/>
                        </a:lnSpc>
                        <a:spcAft>
                          <a:spcPts val="0"/>
                        </a:spcAft>
                      </a:pPr>
                      <a:r>
                        <a:rPr sz="1100" b="0">
                          <a:solidFill>
                            <a:srgbClr val="333333"/>
                          </a:solidFill>
                          <a:latin typeface="Fira Code"/>
                        </a:rPr>
                        <a:t>                                    int32_t EAS_dem_cm,</a:t>
                      </a:r>
                    </a:p>
                    <a:p>
                      <a:pPr algn="l">
                        <a:lnSpc>
                          <a:spcPct val="106000"/>
                        </a:lnSpc>
                        <a:spcAft>
                          <a:spcPts val="0"/>
                        </a:spcAft>
                      </a:pPr>
                      <a:r>
                        <a:rPr sz="1100" b="0">
                          <a:solidFill>
                            <a:srgbClr val="333333"/>
                          </a:solidFill>
                          <a:latin typeface="Fira Code"/>
                        </a:rPr>
                        <a:t>                                    enum AP_FixedWing::FlightStage flight_stage,</a:t>
                      </a:r>
                    </a:p>
                    <a:p>
                      <a:pPr algn="l">
                        <a:lnSpc>
                          <a:spcPct val="106000"/>
                        </a:lnSpc>
                        <a:spcAft>
                          <a:spcPts val="0"/>
                        </a:spcAft>
                      </a:pPr>
                      <a:r>
                        <a:rPr sz="1100" b="0">
                          <a:solidFill>
                            <a:srgbClr val="333333"/>
                          </a:solidFill>
                          <a:latin typeface="Fira Code"/>
                        </a:rPr>
                        <a:t>                                    float distance_beyond_land_wp,</a:t>
                      </a:r>
                    </a:p>
                    <a:p>
                      <a:pPr algn="l">
                        <a:lnSpc>
                          <a:spcPct val="106000"/>
                        </a:lnSpc>
                        <a:spcAft>
                          <a:spcPts val="0"/>
                        </a:spcAft>
                      </a:pPr>
                      <a:r>
                        <a:rPr sz="1100" b="0">
                          <a:solidFill>
                            <a:srgbClr val="333333"/>
                          </a:solidFill>
                          <a:latin typeface="Fira Code"/>
                        </a:rPr>
                        <a:t>                                    int32_t ptchMinCO_cd,</a:t>
                      </a:r>
                    </a:p>
                    <a:p>
                      <a:pPr algn="l">
                        <a:lnSpc>
                          <a:spcPct val="106000"/>
                        </a:lnSpc>
                        <a:spcAft>
                          <a:spcPts val="0"/>
                        </a:spcAft>
                      </a:pPr>
                      <a:r>
                        <a:rPr sz="1100" b="0">
                          <a:solidFill>
                            <a:srgbClr val="333333"/>
                          </a:solidFill>
                          <a:latin typeface="Fira Code"/>
                        </a:rPr>
                        <a:t>                                    int16_t throttle_nudge,</a:t>
                      </a:r>
                    </a:p>
                    <a:p>
                      <a:pPr algn="l">
                        <a:lnSpc>
                          <a:spcPct val="106000"/>
                        </a:lnSpc>
                        <a:spcAft>
                          <a:spcPts val="0"/>
                        </a:spcAft>
                      </a:pPr>
                      <a:r>
                        <a:rPr sz="1100" b="0">
                          <a:solidFill>
                            <a:srgbClr val="333333"/>
                          </a:solidFill>
                          <a:latin typeface="Fira Code"/>
                        </a:rPr>
                        <a:t>                                    float hgt_afe,</a:t>
                      </a:r>
                    </a:p>
                    <a:p>
                      <a:pPr algn="l">
                        <a:lnSpc>
                          <a:spcPct val="106000"/>
                        </a:lnSpc>
                        <a:spcAft>
                          <a:spcPts val="0"/>
                        </a:spcAft>
                      </a:pPr>
                      <a:r>
                        <a:rPr sz="1100" b="0">
                          <a:solidFill>
                            <a:srgbClr val="333333"/>
                          </a:solidFill>
                          <a:latin typeface="Fira Code"/>
                        </a:rPr>
                        <a:t>                                    float load_factor,</a:t>
                      </a:r>
                    </a:p>
                    <a:p>
                      <a:pPr algn="l">
                        <a:lnSpc>
                          <a:spcPct val="106000"/>
                        </a:lnSpc>
                        <a:spcAft>
                          <a:spcPts val="0"/>
                        </a:spcAft>
                      </a:pPr>
                      <a:r>
                        <a:rPr sz="1100" b="0">
                          <a:solidFill>
                            <a:srgbClr val="333333"/>
                          </a:solidFill>
                          <a:latin typeface="Fira Code"/>
                        </a:rPr>
                        <a:t>                                    float pitch_trim_deg)</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197975">
                <a:tc>
                  <a:txBody>
                    <a:bodyPr wrap="square">
                      <a:noAutofit/>
                    </a:bodyPr>
                    <a:lstStyle/>
                    <a:p>
                      <a:pPr algn="r">
                        <a:lnSpc>
                          <a:spcPct val="106000"/>
                        </a:lnSpc>
                        <a:spcAft>
                          <a:spcPts val="0"/>
                        </a:spcAft>
                      </a:pPr>
                      <a:r>
                        <a:rPr sz="1100" b="1">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libraries/AC_AttitudeControl/AC_AttitudeControl.cpp</a:t>
                      </a:r>
                      <a:r>
                        <a:rPr sz="1100" b="0">
                          <a:solidFill>
                            <a:srgbClr val="999999"/>
                          </a:solidFill>
                          <a:latin typeface="Fira Code"/>
                        </a:rPr>
                        <a:t>  ·  </a:t>
                      </a:r>
                      <a:r>
                        <a:rPr sz="1100" b="0">
                          <a:solidFill>
                            <a:srgbClr val="999999"/>
                          </a:solidFill>
                          <a:latin typeface="Fira Code"/>
                        </a:rPr>
                        <a:t>411-419</a:t>
                      </a:r>
                      <a:r>
                        <a:rPr sz="1100" b="0">
                          <a:solidFill>
                            <a:srgbClr val="999999"/>
                          </a:solidFill>
                          <a:latin typeface="Fira Code"/>
                        </a:rPr>
                        <a:t>  ·  </a:t>
                      </a:r>
                      <a:r>
                        <a:rPr sz="1100" b="0">
                          <a:solidFill>
                            <a:srgbClr val="999999"/>
                          </a:solidFill>
                          <a:latin typeface="Fira Code"/>
                        </a:rPr>
                        <a:t>AC_AttitudeControl::input_euler_angle_roll_pitch_yaw_cd()</a:t>
                      </a:r>
                    </a:p>
                    <a:p>
                      <a:pPr algn="l">
                        <a:lnSpc>
                          <a:spcPct val="106000"/>
                        </a:lnSpc>
                        <a:spcAft>
                          <a:spcPts val="0"/>
                        </a:spcAft>
                      </a:pPr>
                      <a:r>
                        <a:rPr sz="1100" b="0">
                          <a:solidFill>
                            <a:srgbClr val="333333"/>
                          </a:solidFill>
                          <a:latin typeface="Fira Code"/>
                        </a:rPr>
                        <a:t>void AC_AttitudeControl::input_euler_angle_roll_pitch_yaw_cd(float euler_roll_angle_cd, float euler_pitch_angle_cd, float euler_yaw_angle_cd, bool slew_yaw)</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Convert from centidegrees on public interface to radians</a:t>
                      </a:r>
                    </a:p>
                    <a:p>
                      <a:pPr algn="l">
                        <a:lnSpc>
                          <a:spcPct val="106000"/>
                        </a:lnSpc>
                        <a:spcAft>
                          <a:spcPts val="0"/>
                        </a:spcAft>
                      </a:pPr>
                      <a:r>
                        <a:rPr sz="1100" b="0">
                          <a:solidFill>
                            <a:srgbClr val="333333"/>
                          </a:solidFill>
                          <a:latin typeface="Fira Code"/>
                        </a:rPr>
                        <a:t>    const float euler_roll_angle_rad = cd_to_rad(euler_roll_angle_cd);</a:t>
                      </a:r>
                    </a:p>
                    <a:p>
                      <a:pPr algn="l">
                        <a:lnSpc>
                          <a:spcPct val="106000"/>
                        </a:lnSpc>
                        <a:spcAft>
                          <a:spcPts val="0"/>
                        </a:spcAft>
                      </a:pPr>
                      <a:r>
                        <a:rPr sz="1100" b="0">
                          <a:solidFill>
                            <a:srgbClr val="333333"/>
                          </a:solidFill>
                          <a:latin typeface="Fira Code"/>
                        </a:rPr>
                        <a:t>    const float euler_pitch_angle_rad = cd_to_rad(euler_pitch_angle_cd);</a:t>
                      </a:r>
                    </a:p>
                    <a:p>
                      <a:pPr algn="l">
                        <a:lnSpc>
                          <a:spcPct val="106000"/>
                        </a:lnSpc>
                        <a:spcAft>
                          <a:spcPts val="0"/>
                        </a:spcAft>
                      </a:pPr>
                      <a:r>
                        <a:rPr sz="1100" b="0">
                          <a:solidFill>
                            <a:srgbClr val="333333"/>
                          </a:solidFill>
                          <a:latin typeface="Fira Code"/>
                        </a:rPr>
                        <a:t>    const float euler_yaw_angle_rad = cd_to_rad(euler_yaw_angle_cd);</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input_euler_angle_roll_pitch_yaw_rad(euler_roll_angle_rad, euler_pitch_angle_rad, euler_yaw_angle_rad, slew_yaw);</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27–28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DIRECT EDGES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dependency map</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Table 2a: Layer 1 — direct callers / callees with typed dependency</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3761255"/>
        </p:xfrm>
        <a:graphic>
          <a:graphicData uri="http://schemas.openxmlformats.org/drawingml/2006/table">
            <a:tbl>
              <a:tblPr>
                <a:tableStyleId>{5C22544A-7EE6-4342-B048-85BDC9FD1C3A}</a:tableStyleId>
              </a:tblPr>
              <a:tblGrid>
                <a:gridCol w="685422"/>
                <a:gridCol w="2376130"/>
                <a:gridCol w="3061552"/>
                <a:gridCol w="3061552"/>
                <a:gridCol w="1873488"/>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Component/Function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Called By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Dependency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AP_AHRS::get_location()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returns state.location (fused by active EKF)</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 inertia.cpp; commands.cpp; GCS_MAVLink_Copter.cpp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AP_AHRS::groundspeed()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returns state.ground_speed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 speed control; GCS reporting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Data dependency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AP_AHRS::have_inertial_nav()/get_origin()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active_EKF_type(); EKF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Copter::ekf_has_absolute_position (system.cpp); ekf_check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AP_AHRS::get_relative_position_NED_origin()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dcm/EKF2/EKF3 get_relative_position_NED_origin()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AR_PosControl::update; AP_InertialNav::update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AP_AHRS::get_velocity_NED()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returns state.velocity_NED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Copter::crash_check; AR_PosControl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Data dependency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fill_scratch_variables(); Select*Fusion(); CovariancePrediction()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NavEKF3::UpdateFilter() (frontend, per core)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NavEKF3_core::SelectVelPosFusion()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readGpsData();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Kalman gain on NED pos/vel innovations; correct stateStruct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NavEKF3_core::SelectVelPosFusion()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1–8</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DIRECT EDGES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dependency map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597088"/>
        </p:xfrm>
        <a:graphic>
          <a:graphicData uri="http://schemas.openxmlformats.org/drawingml/2006/table">
            <a:tbl>
              <a:tblPr>
                <a:tableStyleId>{5C22544A-7EE6-4342-B048-85BDC9FD1C3A}</a:tableStyleId>
              </a:tblPr>
              <a:tblGrid>
                <a:gridCol w="685422"/>
                <a:gridCol w="2376130"/>
                <a:gridCol w="3061552"/>
                <a:gridCol w="3061552"/>
                <a:gridCol w="1873488"/>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Component/Function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Called By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Dependency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NavEKF3_core::readGpsData()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gps.location(); gps.velocity(); gps.status() (via AP_DAL); storedGPS.push()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NavEKF3_core::SelectVelPosFusion()/UpdateFilter()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NavEKF3_core::setAidingMode()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checks gpsGoodToAlign, posTimeout; sets PV_AidingMode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NavEKF3_core::controlFilterModes()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NavEKF3_core::SelectMagFusion()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FuseMagnetometer(); FuseEulerYaw()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NavEKF3_core::SelectTasFusion()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FuseAirspeed()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NavEKF3_core::SelectFlowFusion()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EstimateTerrainOffset(); FuseOptFlow()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NavEKF3_core::getLLH()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outputDataNew / EKF_origin; builds 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NavEKF3::getLLH() (frontend) -&gt; 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15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NavEKF3_core::calcGpsGoodToAlign()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reads gps metrics; sets gpsGoodToAlign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NavEKF3_core::readGpsData()/setAidingMode()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NavEKF3_core::resetGyroBias()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zeroes stateStruct.gyro_bias; resets 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NavEKF3_core::InitialiseFilterBootstrap()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17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NavEKF3_core::FuseRngBcn()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range innovations; correct NED position states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NavEKF3_core::SelectRngBcnFusion()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NavEKF3_core::Log_Write_XKF1()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getEulerAngles(); getVelNED(); getLLH(); AP::logger().Write*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NavEKF3_core::Log_Write()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9–18</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DIRECT EDGES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dependency map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419390"/>
        </p:xfrm>
        <a:graphic>
          <a:graphicData uri="http://schemas.openxmlformats.org/drawingml/2006/table">
            <a:tbl>
              <a:tblPr>
                <a:tableStyleId>{5C22544A-7EE6-4342-B048-85BDC9FD1C3A}</a:tableStyleId>
              </a:tblPr>
              <a:tblGrid>
                <a:gridCol w="685422"/>
                <a:gridCol w="2376130"/>
                <a:gridCol w="3061552"/>
                <a:gridCol w="3061552"/>
                <a:gridCol w="1873488"/>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Component/Function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Called By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Dependency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40219">
                <a:tc>
                  <a:txBody>
                    <a:bodyPr wrap="square">
                      <a:noAutofit/>
                    </a:bodyPr>
                    <a:lstStyle/>
                    <a:p>
                      <a:pPr algn="r">
                        <a:lnSpc>
                          <a:spcPct val="106000"/>
                        </a:lnSpc>
                        <a:spcAft>
                          <a:spcPts val="0"/>
                        </a:spcAft>
                      </a:pPr>
                      <a:r>
                        <a:rPr sz="1100" b="1">
                          <a:solidFill>
                            <a:srgbClr val="333333"/>
                          </a:solidFill>
                          <a:latin typeface="Fira Code"/>
                        </a:rPr>
                        <a:t>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NavEKF3::getFilterStatus()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core[].getFilterStatus()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Copter::position_ok(); ekf_check()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NavEKF2_core::UpdateFilter()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Select*Fusion(); CovariancePrediction()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NavEKF2::UpdateFilter() (frontend)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NavEKF2_core::FuseVelPosNED()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Kalman gain on NED pos/vel innovations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NavEKF2_core::SelectVelPosFusion()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EKFGSF_yaw::update()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predict()/correct() per model; AHRS complementary 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NavEKF3_core::runYawEstimatorPrediction()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AC_WPNav::set_wp_destination_loc()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get_vector_NEU_cm(); set_wp_destination_NEU_cm()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 mode_auto / mode_guided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AP_Mission::get_next_nav_cmd()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get_next_cmd(); read_cmd_from_storage()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ArduCopter/Plane mission sequencing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AP_L1_Control::update_waypoint()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_ahrs.get_location(_current_loc)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ArduPlane navigation.cpp update loop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AP_L1_Control::nav_roll_cd()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_ahrs.get_pitch_rad(); _latAccDem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Plane::calc_nav_roll() (Attitude.cpp L608)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27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AP_TECS::update_pitch_throttle()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_update_pitch(); _update_throttle_with_airspeed()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ArduPlane stabilize/auto pitch loop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AC_AttitudeControl::input_euler_angle_roll_pitch_yaw_cd()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input_euler_angle_roll_pitch_yaw_rad()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ArduCopter/ArduPlane flight-mode run()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19–28</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Code Snippet</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582282"/>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Every row’s Code Snippet, reproduced verbatim from the cited path:line range: one paragraph per source line, in the audit’s own order, with its indentation and its blank lines intact and nothing abbreviated.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228202"/>
          <a:ext cx="11058144" cy="2859184"/>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131784">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AP_AHRS::get_location()</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bool AP_AHRS::get_location(Location &amp;loc)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loc = state.location;</a:t>
                      </a:r>
                    </a:p>
                    <a:p>
                      <a:pPr algn="l">
                        <a:lnSpc>
                          <a:spcPct val="106000"/>
                        </a:lnSpc>
                        <a:spcAft>
                          <a:spcPts val="0"/>
                        </a:spcAft>
                      </a:pPr>
                      <a:r>
                        <a:rPr sz="1100" b="0">
                          <a:solidFill>
                            <a:srgbClr val="333333"/>
                          </a:solidFill>
                          <a:latin typeface="Fira Code"/>
                        </a:rPr>
                        <a:t>return state.location_ok;</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7181">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AP_AHRS::groundspeed()</a:t>
                      </a:r>
                      <a:r>
                        <a:rPr sz="1100" b="0">
                          <a:solidFill>
                            <a:srgbClr val="999999"/>
                          </a:solidFill>
                          <a:latin typeface="Fira Code"/>
                        </a:rPr>
                        <a:t>  ·  </a:t>
                      </a:r>
                      <a:r>
                        <a:rPr sz="1100" b="0">
                          <a:solidFill>
                            <a:srgbClr val="999999"/>
                          </a:solidFill>
                          <a:latin typeface="Fira Code"/>
                        </a:rPr>
                        <a:t>Data dependency</a:t>
                      </a:r>
                    </a:p>
                    <a:p>
                      <a:pPr algn="l">
                        <a:lnSpc>
                          <a:spcPct val="106000"/>
                        </a:lnSpc>
                        <a:spcAft>
                          <a:spcPts val="0"/>
                        </a:spcAft>
                      </a:pPr>
                      <a:r>
                        <a:rPr sz="1100" b="0">
                          <a:solidFill>
                            <a:srgbClr val="333333"/>
                          </a:solidFill>
                          <a:latin typeface="Fira Code"/>
                        </a:rPr>
                        <a:t>// EKF has a better ground speed vector estimate</a:t>
                      </a:r>
                    </a:p>
                    <a:p>
                      <a:pPr algn="l">
                        <a:lnSpc>
                          <a:spcPct val="106000"/>
                        </a:lnSpc>
                        <a:spcAft>
                          <a:spcPts val="0"/>
                        </a:spcAft>
                      </a:pPr>
                      <a:r>
                        <a:rPr sz="1100" b="0">
                          <a:solidFill>
                            <a:srgbClr val="333333"/>
                          </a:solidFill>
                          <a:latin typeface="Fira Code"/>
                        </a:rPr>
                        <a:t>const Vector2f &amp;groundspeed_vector() const { return state.ground_speed_vec; }</a:t>
                      </a:r>
                    </a:p>
                    <a:p>
                      <a:pPr algn="l">
                        <a:lnSpc>
                          <a:spcPct val="106000"/>
                        </a:lnSpc>
                        <a:spcAft>
                          <a:spcPts val="0"/>
                        </a:spcAft>
                      </a:pPr>
                      <a:r>
                        <a:rPr sz="1100" b="0">
                          <a:solidFill>
                            <a:srgbClr val="333333"/>
                          </a:solidFill>
                          <a:latin typeface="Fira Code"/>
                        </a:rPr>
                        <a:t>// return ground speed estimate in meters/second. Used by ground vehicles.</a:t>
                      </a:r>
                    </a:p>
                    <a:p>
                      <a:pPr algn="l">
                        <a:lnSpc>
                          <a:spcPct val="106000"/>
                        </a:lnSpc>
                        <a:spcAft>
                          <a:spcPts val="0"/>
                        </a:spcAft>
                      </a:pPr>
                      <a:r>
                        <a:rPr sz="1100" b="0">
                          <a:solidFill>
                            <a:srgbClr val="333333"/>
                          </a:solidFill>
                          <a:latin typeface="Fira Code"/>
                        </a:rPr>
                        <a:t>float groundspeed(void) const { return state.ground_speed; }</a:t>
                      </a:r>
                    </a:p>
                    <a:p>
                      <a:pPr algn="l">
                        <a:lnSpc>
                          <a:spcPct val="106000"/>
                        </a:lnSpc>
                        <a:spcAft>
                          <a:spcPts val="0"/>
                        </a:spcAft>
                      </a:pPr>
                      <a:r>
                        <a:rPr sz="1100" b="0">
                          <a:solidFill>
                            <a:srgbClr val="333333"/>
                          </a:solidFill>
                          <a:latin typeface="Fira Code"/>
                        </a:rPr>
                        <a:t>const Vector3f &amp;get_accel_ef() const {</a:t>
                      </a:r>
                    </a:p>
                    <a:p>
                      <a:pPr algn="l">
                        <a:lnSpc>
                          <a:spcPct val="106000"/>
                        </a:lnSpc>
                        <a:spcAft>
                          <a:spcPts val="0"/>
                        </a:spcAft>
                      </a:pPr>
                      <a:r>
                        <a:rPr sz="1100" b="0">
                          <a:solidFill>
                            <a:srgbClr val="333333"/>
                          </a:solidFill>
                          <a:latin typeface="Fira Code"/>
                        </a:rPr>
                        <a:t>return state.accel_ef;</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69978"/>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309483">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AP_AHRS::have_inertial_nav()/get_origin()</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 returns the inertial navigation origin in lat/lon/alt</a:t>
                      </a:r>
                    </a:p>
                    <a:p>
                      <a:pPr algn="l">
                        <a:lnSpc>
                          <a:spcPct val="106000"/>
                        </a:lnSpc>
                        <a:spcAft>
                          <a:spcPts val="0"/>
                        </a:spcAft>
                      </a:pPr>
                      <a:r>
                        <a:rPr sz="1100" b="0">
                          <a:solidFill>
                            <a:srgbClr val="333333"/>
                          </a:solidFill>
                          <a:latin typeface="Fira Code"/>
                        </a:rPr>
                        <a:t>bool get_origin(Location &amp;ret) const WARN_IF_UNUSED;</a:t>
                      </a:r>
                    </a:p>
                    <a:p>
                      <a:pPr algn="l">
                        <a:lnSpc>
                          <a:spcPct val="106000"/>
                        </a:lnSpc>
                        <a:spcAft>
                          <a:spcPts val="0"/>
                        </a:spcAft>
                      </a:pPr>
                      <a:r>
                        <a:rPr sz="1100" b="0">
                          <a:solidFill>
                            <a:srgbClr val="333333"/>
                          </a:solidFill>
                          <a:latin typeface="Fira Code"/>
                        </a:rPr>
                        <a:t>bool have_inertial_nav() const;</a:t>
                      </a:r>
                    </a:p>
                    <a:p>
                      <a:pPr algn="l">
                        <a:lnSpc>
                          <a:spcPct val="106000"/>
                        </a:lnSpc>
                        <a:spcAft>
                          <a:spcPts val="0"/>
                        </a:spcAft>
                      </a:pPr>
                      <a:r>
                        <a:rPr sz="1100" b="0">
                          <a:solidFill>
                            <a:srgbClr val="333333"/>
                          </a:solidFill>
                          <a:latin typeface="Fira Code"/>
                        </a:rPr>
                        <a:t>// return a ground velocity in meters/second, North/East/Down</a:t>
                      </a:r>
                    </a:p>
                    <a:p>
                      <a:pPr algn="l">
                        <a:lnSpc>
                          <a:spcPct val="106000"/>
                        </a:lnSpc>
                        <a:spcAft>
                          <a:spcPts val="0"/>
                        </a:spcAft>
                      </a:pPr>
                      <a:r>
                        <a:rPr sz="1100" b="0">
                          <a:solidFill>
                            <a:srgbClr val="333333"/>
                          </a:solidFill>
                          <a:latin typeface="Fira Code"/>
                        </a:rPr>
                        <a:t>// order. Must only be called if have_inertial_nav() is true</a:t>
                      </a:r>
                    </a:p>
                    <a:p>
                      <a:pPr algn="l">
                        <a:lnSpc>
                          <a:spcPct val="106000"/>
                        </a:lnSpc>
                        <a:spcAft>
                          <a:spcPts val="0"/>
                        </a:spcAft>
                      </a:pPr>
                      <a:r>
                        <a:rPr sz="1100" b="0">
                          <a:solidFill>
                            <a:srgbClr val="333333"/>
                          </a:solidFill>
                          <a:latin typeface="Fira Code"/>
                        </a:rPr>
                        <a:t>bool get_velocity_NED(Vector3f &amp;vec) const WARN_IF_UNUSED;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AP_AHRS::get_relative_position_NED_origin()</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bool AP_AHRS::get_relative_position_NED_origin(Vector3p &amp;vec)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switch (active_EKF_type()) {</a:t>
                      </a:r>
                    </a:p>
                    <a:p>
                      <a:pPr algn="l">
                        <a:lnSpc>
                          <a:spcPct val="106000"/>
                        </a:lnSpc>
                        <a:spcAft>
                          <a:spcPts val="0"/>
                        </a:spcAft>
                      </a:pPr>
                      <a:r>
                        <a:rPr sz="1100" b="0">
                          <a:solidFill>
                            <a:srgbClr val="333333"/>
                          </a:solidFill>
                          <a:latin typeface="Fira Code"/>
                        </a:rPr>
                        <a:t>#if AP_AHRS_DCM_ENABLED</a:t>
                      </a:r>
                    </a:p>
                    <a:p>
                      <a:pPr algn="l">
                        <a:lnSpc>
                          <a:spcPct val="106000"/>
                        </a:lnSpc>
                        <a:spcAft>
                          <a:spcPts val="0"/>
                        </a:spcAft>
                      </a:pPr>
                      <a:r>
                        <a:rPr sz="1100" b="0">
                          <a:solidFill>
                            <a:srgbClr val="333333"/>
                          </a:solidFill>
                          <a:latin typeface="Fira Code"/>
                        </a:rPr>
                        <a:t>case EKFType::DCM:</a:t>
                      </a:r>
                    </a:p>
                    <a:p>
                      <a:pPr algn="l">
                        <a:lnSpc>
                          <a:spcPct val="106000"/>
                        </a:lnSpc>
                        <a:spcAft>
                          <a:spcPts val="0"/>
                        </a:spcAft>
                      </a:pPr>
                      <a:r>
                        <a:rPr sz="1100" b="0">
                          <a:solidFill>
                            <a:srgbClr val="333333"/>
                          </a:solidFill>
                          <a:latin typeface="Fira Code"/>
                        </a:rPr>
                        <a:t>return dcm.get_relative_position_NED_origin(vec);</a:t>
                      </a:r>
                    </a:p>
                    <a:p>
                      <a:pPr algn="l">
                        <a:lnSpc>
                          <a:spcPct val="106000"/>
                        </a:lnSpc>
                        <a:spcAft>
                          <a:spcPts val="0"/>
                        </a:spcAft>
                      </a:pPr>
                      <a:r>
                        <a:rPr sz="1100" b="0">
                          <a:solidFill>
                            <a:srgbClr val="333333"/>
                          </a:solidFill>
                          <a:latin typeface="Fira Code"/>
                        </a:rPr>
                        <a:t>#endif</a:t>
                      </a:r>
                    </a:p>
                    <a:p>
                      <a:pPr algn="l">
                        <a:lnSpc>
                          <a:spcPct val="106000"/>
                        </a:lnSpc>
                        <a:spcAft>
                          <a:spcPts val="0"/>
                        </a:spcAft>
                      </a:pPr>
                      <a:r>
                        <a:rPr sz="1100" b="0">
                          <a:solidFill>
                            <a:srgbClr val="333333"/>
                          </a:solidFill>
                          <a:latin typeface="Fira Code"/>
                        </a:rPr>
                        <a:t>#if HAL_NAVEKF2_AVAILABLE</a:t>
                      </a:r>
                    </a:p>
                    <a:p>
                      <a:pPr algn="l">
                        <a:lnSpc>
                          <a:spcPct val="106000"/>
                        </a:lnSpc>
                        <a:spcAft>
                          <a:spcPts val="0"/>
                        </a:spcAft>
                      </a:pPr>
                      <a:r>
                        <a:rPr sz="1100" b="0">
                          <a:solidFill>
                            <a:srgbClr val="333333"/>
                          </a:solidFill>
                          <a:latin typeface="Fira Code"/>
                        </a:rPr>
                        <a:t>case EKFType::TWO: {</a:t>
                      </a:r>
                    </a:p>
                    <a:p>
                      <a:pPr algn="l">
                        <a:lnSpc>
                          <a:spcPct val="106000"/>
                        </a:lnSpc>
                        <a:spcAft>
                          <a:spcPts val="0"/>
                        </a:spcAft>
                      </a:pPr>
                      <a:r>
                        <a:rPr sz="1100" b="0">
                          <a:solidFill>
                            <a:srgbClr val="333333"/>
                          </a:solidFill>
                          <a:latin typeface="Fira Code"/>
                        </a:rPr>
                        <a:t>Vector2p posNE;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3–4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036882"/>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131784">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AP_AHRS::get_velocity_NED()</a:t>
                      </a:r>
                      <a:r>
                        <a:rPr sz="1100" b="0">
                          <a:solidFill>
                            <a:srgbClr val="999999"/>
                          </a:solidFill>
                          <a:latin typeface="Fira Code"/>
                        </a:rPr>
                        <a:t>  ·  </a:t>
                      </a:r>
                      <a:r>
                        <a:rPr sz="1100" b="0">
                          <a:solidFill>
                            <a:srgbClr val="999999"/>
                          </a:solidFill>
                          <a:latin typeface="Fira Code"/>
                        </a:rPr>
                        <a:t>Data dependency</a:t>
                      </a:r>
                    </a:p>
                    <a:p>
                      <a:pPr algn="l">
                        <a:lnSpc>
                          <a:spcPct val="106000"/>
                        </a:lnSpc>
                        <a:spcAft>
                          <a:spcPts val="0"/>
                        </a:spcAft>
                      </a:pPr>
                      <a:r>
                        <a:rPr sz="1100" b="0">
                          <a:solidFill>
                            <a:srgbClr val="333333"/>
                          </a:solidFill>
                          <a:latin typeface="Fira Code"/>
                        </a:rPr>
                        <a:t>bool AP_AHRS::get_velocity_NED(Vector3f &amp;vec)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vec = state.velocity_NED;</a:t>
                      </a:r>
                    </a:p>
                    <a:p>
                      <a:pPr algn="l">
                        <a:lnSpc>
                          <a:spcPct val="106000"/>
                        </a:lnSpc>
                        <a:spcAft>
                          <a:spcPts val="0"/>
                        </a:spcAft>
                      </a:pPr>
                      <a:r>
                        <a:rPr sz="1100" b="0">
                          <a:solidFill>
                            <a:srgbClr val="333333"/>
                          </a:solidFill>
                          <a:latin typeface="Fira Code"/>
                        </a:rPr>
                        <a:t>return state.velocity_NED_ok;</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NavEKF3_core::UpdateFilter()</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NavEKF3_core::UpdateFilter(bool predict)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don't run filter updates if states have not been initialised</a:t>
                      </a:r>
                    </a:p>
                    <a:p>
                      <a:pPr algn="l">
                        <a:lnSpc>
                          <a:spcPct val="106000"/>
                        </a:lnSpc>
                        <a:spcAft>
                          <a:spcPts val="0"/>
                        </a:spcAft>
                      </a:pPr>
                      <a:r>
                        <a:rPr sz="1100" b="0">
                          <a:solidFill>
                            <a:srgbClr val="333333"/>
                          </a:solidFill>
                          <a:latin typeface="Fira Code"/>
                        </a:rPr>
                        <a:t>if (!statesInitialised) {</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fill_scratch_variables();</a:t>
                      </a:r>
                    </a:p>
                    <a:p>
                      <a:pPr algn="l">
                        <a:lnSpc>
                          <a:spcPct val="106000"/>
                        </a:lnSpc>
                        <a:spcAft>
                          <a:spcPts val="0"/>
                        </a:spcAft>
                      </a:pPr>
                      <a:r>
                        <a:rPr sz="1100" b="0">
                          <a:solidFill>
                            <a:srgbClr val="333333"/>
                          </a:solidFill>
                          <a:latin typeface="Fira Code"/>
                        </a:rPr>
                        <a:t>// update sensor selection (for affinity)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5–6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458469"/>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553371">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NavEKF3_core::SelectVelPosFusion()</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NavEKF3_core::SelectVelPosFusion()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Check if the magnetometer has been fused on that time step</a:t>
                      </a:r>
                    </a:p>
                    <a:p>
                      <a:pPr algn="l">
                        <a:lnSpc>
                          <a:spcPct val="106000"/>
                        </a:lnSpc>
                        <a:spcAft>
                          <a:spcPts val="0"/>
                        </a:spcAft>
                      </a:pPr>
                      <a:r>
                        <a:rPr sz="1100" b="0">
                          <a:solidFill>
                            <a:srgbClr val="333333"/>
                          </a:solidFill>
                          <a:latin typeface="Fira Code"/>
                        </a:rPr>
                        <a:t>and the filter is running at faster than 200 Hz</a:t>
                      </a:r>
                    </a:p>
                    <a:p>
                      <a:pPr algn="l">
                        <a:lnSpc>
                          <a:spcPct val="106000"/>
                        </a:lnSpc>
                        <a:spcAft>
                          <a:spcPts val="0"/>
                        </a:spcAft>
                      </a:pPr>
                      <a:r>
                        <a:rPr sz="1100" b="0">
                          <a:solidFill>
                            <a:srgbClr val="333333"/>
                          </a:solidFill>
                          <a:latin typeface="Fira Code"/>
                        </a:rPr>
                        <a:t>// If so, don't fuse measurements on this time step to reduce</a:t>
                      </a:r>
                    </a:p>
                    <a:p>
                      <a:pPr algn="l">
                        <a:lnSpc>
                          <a:spcPct val="106000"/>
                        </a:lnSpc>
                        <a:spcAft>
                          <a:spcPts val="0"/>
                        </a:spcAft>
                      </a:pPr>
                      <a:r>
                        <a:rPr sz="1100" b="0">
                          <a:solidFill>
                            <a:srgbClr val="333333"/>
                          </a:solidFill>
                          <a:latin typeface="Fira Code"/>
                        </a:rPr>
                        <a:t>frame over-runs</a:t>
                      </a:r>
                    </a:p>
                    <a:p>
                      <a:pPr algn="l">
                        <a:lnSpc>
                          <a:spcPct val="106000"/>
                        </a:lnSpc>
                        <a:spcAft>
                          <a:spcPts val="0"/>
                        </a:spcAft>
                      </a:pPr>
                      <a:r>
                        <a:rPr sz="1100" b="0">
                          <a:solidFill>
                            <a:srgbClr val="333333"/>
                          </a:solidFill>
                          <a:latin typeface="Fira Code"/>
                        </a:rPr>
                        <a:t>// Only allow one time slip to prevent high rate magnetometer</a:t>
                      </a:r>
                    </a:p>
                    <a:p>
                      <a:pPr algn="l">
                        <a:lnSpc>
                          <a:spcPct val="106000"/>
                        </a:lnSpc>
                        <a:spcAft>
                          <a:spcPts val="0"/>
                        </a:spcAft>
                      </a:pPr>
                      <a:r>
                        <a:rPr sz="1100" b="0">
                          <a:solidFill>
                            <a:srgbClr val="333333"/>
                          </a:solidFill>
                          <a:latin typeface="Fira Code"/>
                        </a:rPr>
                        <a:t>data preventing fusion of other measurements</a:t>
                      </a:r>
                    </a:p>
                    <a:p>
                      <a:pPr algn="l">
                        <a:lnSpc>
                          <a:spcPct val="106000"/>
                        </a:lnSpc>
                        <a:spcAft>
                          <a:spcPts val="0"/>
                        </a:spcAft>
                      </a:pPr>
                      <a:r>
                        <a:rPr sz="1100" b="0">
                          <a:solidFill>
                            <a:srgbClr val="333333"/>
                          </a:solidFill>
                          <a:latin typeface="Fira Code"/>
                        </a:rPr>
                        <a:t>if (magFusePerformed &amp;&amp; dtIMUavg &lt; 0.005f &amp;&amp; !posVelFusionDelayed) {</a:t>
                      </a:r>
                    </a:p>
                    <a:p>
                      <a:pPr algn="l">
                        <a:lnSpc>
                          <a:spcPct val="106000"/>
                        </a:lnSpc>
                        <a:spcAft>
                          <a:spcPts val="0"/>
                        </a:spcAft>
                      </a:pPr>
                      <a:r>
                        <a:rPr sz="1100" b="0">
                          <a:solidFill>
                            <a:srgbClr val="333333"/>
                          </a:solidFill>
                          <a:latin typeface="Fira Code"/>
                        </a:rPr>
                        <a:t>posVelFusionDelayed = true;</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 else {</a:t>
                      </a:r>
                    </a:p>
                    <a:p>
                      <a:pPr algn="l">
                        <a:lnSpc>
                          <a:spcPct val="106000"/>
                        </a:lnSpc>
                        <a:spcAft>
                          <a:spcPts val="0"/>
                        </a:spcAft>
                      </a:pPr>
                      <a:r>
                        <a:rPr sz="1100" b="0">
                          <a:solidFill>
                            <a:srgbClr val="333333"/>
                          </a:solidFill>
                          <a:latin typeface="Fira Code"/>
                        </a:rPr>
                        <a:t>posVelFusionDelayed = 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NavEKF3_core::FuseVelPosNED()</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NavEKF3_core::FuseVelPosNED()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declare variables used to control access to arrays</a:t>
                      </a:r>
                    </a:p>
                    <a:p>
                      <a:pPr algn="l">
                        <a:lnSpc>
                          <a:spcPct val="106000"/>
                        </a:lnSpc>
                        <a:spcAft>
                          <a:spcPts val="0"/>
                        </a:spcAft>
                      </a:pPr>
                      <a:r>
                        <a:rPr sz="1100" b="0">
                          <a:solidFill>
                            <a:srgbClr val="333333"/>
                          </a:solidFill>
                          <a:latin typeface="Fira Code"/>
                        </a:rPr>
                        <a:t>bool fuseData[6] {};</a:t>
                      </a:r>
                    </a:p>
                    <a:p>
                      <a:pPr algn="l">
                        <a:lnSpc>
                          <a:spcPct val="106000"/>
                        </a:lnSpc>
                        <a:spcAft>
                          <a:spcPts val="0"/>
                        </a:spcAft>
                      </a:pPr>
                      <a:r>
                        <a:rPr sz="1100" b="0">
                          <a:solidFill>
                            <a:srgbClr val="333333"/>
                          </a:solidFill>
                          <a:latin typeface="Fira Code"/>
                        </a:rPr>
                        <a:t>uint8_t stateIndex;</a:t>
                      </a:r>
                    </a:p>
                    <a:p>
                      <a:pPr algn="l">
                        <a:lnSpc>
                          <a:spcPct val="106000"/>
                        </a:lnSpc>
                        <a:spcAft>
                          <a:spcPts val="0"/>
                        </a:spcAft>
                      </a:pPr>
                      <a:r>
                        <a:rPr sz="1100" b="0">
                          <a:solidFill>
                            <a:srgbClr val="333333"/>
                          </a:solidFill>
                          <a:latin typeface="Fira Code"/>
                        </a:rPr>
                        <a:t>uint8_t obsIndex;</a:t>
                      </a:r>
                    </a:p>
                    <a:p>
                      <a:pPr algn="l">
                        <a:lnSpc>
                          <a:spcPct val="106000"/>
                        </a:lnSpc>
                        <a:spcAft>
                          <a:spcPts val="0"/>
                        </a:spcAft>
                      </a:pPr>
                      <a:r>
                        <a:rPr sz="1100" b="0">
                          <a:solidFill>
                            <a:srgbClr val="333333"/>
                          </a:solidFill>
                          <a:latin typeface="Fira Code"/>
                        </a:rPr>
                        <a:t>// declare variables used by state and covariance update calculations</a:t>
                      </a:r>
                    </a:p>
                    <a:p>
                      <a:pPr algn="l">
                        <a:lnSpc>
                          <a:spcPct val="106000"/>
                        </a:lnSpc>
                        <a:spcAft>
                          <a:spcPts val="0"/>
                        </a:spcAft>
                      </a:pPr>
                      <a:r>
                        <a:rPr sz="1100" b="0">
                          <a:solidFill>
                            <a:srgbClr val="333333"/>
                          </a:solidFill>
                          <a:latin typeface="Fira Code"/>
                        </a:rPr>
                        <a:t>Vector6 R_OBS; // Measurement variances used for 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7–8</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392279"/>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NavEKF3_core::readGpsData()</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NavEKF3_core::readGpsData()</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check for new GPS data</a:t>
                      </a:r>
                    </a:p>
                    <a:p>
                      <a:pPr algn="l">
                        <a:lnSpc>
                          <a:spcPct val="106000"/>
                        </a:lnSpc>
                        <a:spcAft>
                          <a:spcPts val="0"/>
                        </a:spcAft>
                      </a:pPr>
                      <a:r>
                        <a:rPr sz="1100" b="0">
                          <a:solidFill>
                            <a:srgbClr val="333333"/>
                          </a:solidFill>
                          <a:latin typeface="Fira Code"/>
                        </a:rPr>
                        <a:t>const auto &amp;gps = dal.gps();</a:t>
                      </a:r>
                    </a:p>
                    <a:p>
                      <a:pPr algn="l">
                        <a:lnSpc>
                          <a:spcPct val="106000"/>
                        </a:lnSpc>
                        <a:spcAft>
                          <a:spcPts val="0"/>
                        </a:spcAft>
                      </a:pPr>
                      <a:r>
                        <a:rPr sz="1100" b="0">
                          <a:solidFill>
                            <a:srgbClr val="333333"/>
                          </a:solidFill>
                          <a:latin typeface="Fira Code"/>
                        </a:rPr>
                        <a:t>// limit update rate to avoid overflowing the FIFO buffer</a:t>
                      </a:r>
                    </a:p>
                    <a:p>
                      <a:pPr algn="l">
                        <a:lnSpc>
                          <a:spcPct val="106000"/>
                        </a:lnSpc>
                        <a:spcAft>
                          <a:spcPts val="0"/>
                        </a:spcAft>
                      </a:pPr>
                      <a:r>
                        <a:rPr sz="1100" b="0">
                          <a:solidFill>
                            <a:srgbClr val="333333"/>
                          </a:solidFill>
                          <a:latin typeface="Fira Code"/>
                        </a:rPr>
                        <a:t>if (gps.last_message_time_ms(selected_gps) - lastTimeGpsReceived_ms &lt;= frontend-&gt;sensorIntervalMin_ms) {</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7181">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NavEKF3_core::setAidingMode()</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NavEKF3_core::setAidingMode()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resetDataSource posResetSource = resetDataSource::DEFAULT;</a:t>
                      </a:r>
                    </a:p>
                    <a:p>
                      <a:pPr algn="l">
                        <a:lnSpc>
                          <a:spcPct val="106000"/>
                        </a:lnSpc>
                        <a:spcAft>
                          <a:spcPts val="0"/>
                        </a:spcAft>
                      </a:pPr>
                      <a:r>
                        <a:rPr sz="1100" b="0">
                          <a:solidFill>
                            <a:srgbClr val="333333"/>
                          </a:solidFill>
                          <a:latin typeface="Fira Code"/>
                        </a:rPr>
                        <a:t>resetDataSource velResetSource = resetDataSource::DEFAULT;</a:t>
                      </a:r>
                    </a:p>
                    <a:p>
                      <a:pPr algn="l">
                        <a:lnSpc>
                          <a:spcPct val="106000"/>
                        </a:lnSpc>
                        <a:spcAft>
                          <a:spcPts val="0"/>
                        </a:spcAft>
                      </a:pPr>
                      <a:r>
                        <a:rPr sz="1100" b="0">
                          <a:solidFill>
                            <a:srgbClr val="333333"/>
                          </a:solidFill>
                          <a:latin typeface="Fira Code"/>
                        </a:rPr>
                        <a:t>// Save the previous status so we can detect when it has changed</a:t>
                      </a:r>
                    </a:p>
                    <a:p>
                      <a:pPr algn="l">
                        <a:lnSpc>
                          <a:spcPct val="106000"/>
                        </a:lnSpc>
                        <a:spcAft>
                          <a:spcPts val="0"/>
                        </a:spcAft>
                      </a:pPr>
                      <a:r>
                        <a:rPr sz="1100" b="0">
                          <a:solidFill>
                            <a:srgbClr val="333333"/>
                          </a:solidFill>
                          <a:latin typeface="Fira Code"/>
                        </a:rPr>
                        <a:t>PV_AidingModePrev = PV_AidingMode;</a:t>
                      </a:r>
                    </a:p>
                    <a:p>
                      <a:pPr algn="l">
                        <a:lnSpc>
                          <a:spcPct val="106000"/>
                        </a:lnSpc>
                        <a:spcAft>
                          <a:spcPts val="0"/>
                        </a:spcAft>
                      </a:pPr>
                      <a:r>
                        <a:rPr sz="1100" b="0">
                          <a:solidFill>
                            <a:srgbClr val="333333"/>
                          </a:solidFill>
                          <a:latin typeface="Fira Code"/>
                        </a:rPr>
                        <a:t>setYawSource();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9–10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458470"/>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NavEKF3_core::SelectMagFusion()</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NavEKF3_core::SelectMagFusion()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clear the flag that lets other processes know that the expensive magnetometer fusion operation has been performed on that time step</a:t>
                      </a:r>
                    </a:p>
                    <a:p>
                      <a:pPr algn="l">
                        <a:lnSpc>
                          <a:spcPct val="106000"/>
                        </a:lnSpc>
                        <a:spcAft>
                          <a:spcPts val="0"/>
                        </a:spcAft>
                      </a:pPr>
                      <a:r>
                        <a:rPr sz="1100" b="0">
                          <a:solidFill>
                            <a:srgbClr val="333333"/>
                          </a:solidFill>
                          <a:latin typeface="Fira Code"/>
                        </a:rPr>
                        <a:t>// used for load levelling</a:t>
                      </a:r>
                    </a:p>
                    <a:p>
                      <a:pPr algn="l">
                        <a:lnSpc>
                          <a:spcPct val="106000"/>
                        </a:lnSpc>
                        <a:spcAft>
                          <a:spcPts val="0"/>
                        </a:spcAft>
                      </a:pPr>
                      <a:r>
                        <a:rPr sz="1100" b="0">
                          <a:solidFill>
                            <a:srgbClr val="333333"/>
                          </a:solidFill>
                          <a:latin typeface="Fira Code"/>
                        </a:rPr>
                        <a:t>magFusePerformed = false;</a:t>
                      </a:r>
                    </a:p>
                    <a:p>
                      <a:pPr algn="l">
                        <a:lnSpc>
                          <a:spcPct val="106000"/>
                        </a:lnSpc>
                        <a:spcAft>
                          <a:spcPts val="0"/>
                        </a:spcAft>
                      </a:pPr>
                      <a:r>
                        <a:rPr sz="1100" b="0">
                          <a:solidFill>
                            <a:srgbClr val="333333"/>
                          </a:solidFill>
                          <a:latin typeface="Fira Code"/>
                        </a:rPr>
                        <a:t>// Store yaw angle when moving for use as a static reference when not moving</a:t>
                      </a:r>
                    </a:p>
                    <a:p>
                      <a:pPr algn="l">
                        <a:lnSpc>
                          <a:spcPct val="106000"/>
                        </a:lnSpc>
                        <a:spcAft>
                          <a:spcPts val="0"/>
                        </a:spcAft>
                      </a:pPr>
                      <a:r>
                        <a:rPr sz="1100" b="0">
                          <a:solidFill>
                            <a:srgbClr val="333333"/>
                          </a:solidFill>
                          <a:latin typeface="Fira Code"/>
                        </a:rPr>
                        <a:t>if (!onGroundNotMoving) {</a:t>
                      </a:r>
                    </a:p>
                    <a:p>
                      <a:pPr algn="l">
                        <a:lnSpc>
                          <a:spcPct val="106000"/>
                        </a:lnSpc>
                        <a:spcAft>
                          <a:spcPts val="0"/>
                        </a:spcAft>
                      </a:pPr>
                      <a:r>
                        <a:rPr sz="1100" b="0">
                          <a:solidFill>
                            <a:srgbClr val="333333"/>
                          </a:solidFill>
                          <a:latin typeface="Fira Code"/>
                        </a:rPr>
                        <a:t>if (fabsF(prevTnb[0][2]) &lt; fabsF(prevTnb[1][2]))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375673">
                <a:tc>
                  <a:txBody>
                    <a:bodyPr wrap="square">
                      <a:noAutofit/>
                    </a:bodyPr>
                    <a:lstStyle/>
                    <a:p>
                      <a:pPr algn="r">
                        <a:lnSpc>
                          <a:spcPct val="106000"/>
                        </a:lnSpc>
                        <a:spcAft>
                          <a:spcPts val="0"/>
                        </a:spcAft>
                      </a:pPr>
                      <a:r>
                        <a:rPr sz="1100" b="1">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NavEKF3_core::SelectTasFusion()</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NavEKF3_core::SelectTasFusion()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Check if the magnetometer has been fused on that time step</a:t>
                      </a:r>
                    </a:p>
                    <a:p>
                      <a:pPr algn="l">
                        <a:lnSpc>
                          <a:spcPct val="106000"/>
                        </a:lnSpc>
                        <a:spcAft>
                          <a:spcPts val="0"/>
                        </a:spcAft>
                      </a:pPr>
                      <a:r>
                        <a:rPr sz="1100" b="0">
                          <a:solidFill>
                            <a:srgbClr val="333333"/>
                          </a:solidFill>
                          <a:latin typeface="Fira Code"/>
                        </a:rPr>
                        <a:t>and the filter is running at faster than 200 Hz</a:t>
                      </a:r>
                    </a:p>
                    <a:p>
                      <a:pPr algn="l">
                        <a:lnSpc>
                          <a:spcPct val="106000"/>
                        </a:lnSpc>
                        <a:spcAft>
                          <a:spcPts val="0"/>
                        </a:spcAft>
                      </a:pPr>
                      <a:r>
                        <a:rPr sz="1100" b="0">
                          <a:solidFill>
                            <a:srgbClr val="333333"/>
                          </a:solidFill>
                          <a:latin typeface="Fira Code"/>
                        </a:rPr>
                        <a:t>// If so, don't fuse measurements on this time step to reduce</a:t>
                      </a:r>
                    </a:p>
                    <a:p>
                      <a:pPr algn="l">
                        <a:lnSpc>
                          <a:spcPct val="106000"/>
                        </a:lnSpc>
                        <a:spcAft>
                          <a:spcPts val="0"/>
                        </a:spcAft>
                      </a:pPr>
                      <a:r>
                        <a:rPr sz="1100" b="0">
                          <a:solidFill>
                            <a:srgbClr val="333333"/>
                          </a:solidFill>
                          <a:latin typeface="Fira Code"/>
                        </a:rPr>
                        <a:t>frame over-runs</a:t>
                      </a:r>
                    </a:p>
                    <a:p>
                      <a:pPr algn="l">
                        <a:lnSpc>
                          <a:spcPct val="106000"/>
                        </a:lnSpc>
                        <a:spcAft>
                          <a:spcPts val="0"/>
                        </a:spcAft>
                      </a:pPr>
                      <a:r>
                        <a:rPr sz="1100" b="0">
                          <a:solidFill>
                            <a:srgbClr val="333333"/>
                          </a:solidFill>
                          <a:latin typeface="Fira Code"/>
                        </a:rPr>
                        <a:t>// Only allow one time slip to prevent high rate magnetometer</a:t>
                      </a:r>
                    </a:p>
                    <a:p>
                      <a:pPr algn="l">
                        <a:lnSpc>
                          <a:spcPct val="106000"/>
                        </a:lnSpc>
                        <a:spcAft>
                          <a:spcPts val="0"/>
                        </a:spcAft>
                      </a:pPr>
                      <a:r>
                        <a:rPr sz="1100" b="0">
                          <a:solidFill>
                            <a:srgbClr val="333333"/>
                          </a:solidFill>
                          <a:latin typeface="Fira Code"/>
                        </a:rPr>
                        <a:t>data locking out fusion of other measurements</a:t>
                      </a:r>
                    </a:p>
                    <a:p>
                      <a:pPr algn="l">
                        <a:lnSpc>
                          <a:spcPct val="106000"/>
                        </a:lnSpc>
                        <a:spcAft>
                          <a:spcPts val="0"/>
                        </a:spcAft>
                      </a:pPr>
                      <a:r>
                        <a:rPr sz="1100" b="0">
                          <a:solidFill>
                            <a:srgbClr val="333333"/>
                          </a:solidFill>
                          <a:latin typeface="Fira Code"/>
                        </a:rPr>
                        <a:t>if (magFusePerformed &amp;&amp; dtIMUavg &lt; 0.005f &amp;&amp; !airSpdFusionDelayed) {</a:t>
                      </a:r>
                    </a:p>
                    <a:p>
                      <a:pPr algn="l">
                        <a:lnSpc>
                          <a:spcPct val="106000"/>
                        </a:lnSpc>
                        <a:spcAft>
                          <a:spcPts val="0"/>
                        </a:spcAft>
                      </a:pPr>
                      <a:r>
                        <a:rPr sz="1100" b="0">
                          <a:solidFill>
                            <a:srgbClr val="333333"/>
                          </a:solidFill>
                          <a:latin typeface="Fira Code"/>
                        </a:rPr>
                        <a:t>airSpdFusionDelayed = true;</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 else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11–12</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636168"/>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375673">
                <a:tc>
                  <a:txBody>
                    <a:bodyPr wrap="square">
                      <a:noAutofit/>
                    </a:bodyPr>
                    <a:lstStyle/>
                    <a:p>
                      <a:pPr algn="r">
                        <a:lnSpc>
                          <a:spcPct val="106000"/>
                        </a:lnSpc>
                        <a:spcAft>
                          <a:spcPts val="0"/>
                        </a:spcAft>
                      </a:pPr>
                      <a:r>
                        <a:rPr sz="1100" b="1">
                          <a:solidFill>
                            <a:srgbClr val="333333"/>
                          </a:solidFill>
                          <a:latin typeface="Fira Code"/>
                        </a:rPr>
                        <a:t>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NavEKF3_core::SelectFlowFusion()</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NavEKF3_core::SelectFlowFusion()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Check if the magnetometer has been fused on that time step</a:t>
                      </a:r>
                    </a:p>
                    <a:p>
                      <a:pPr algn="l">
                        <a:lnSpc>
                          <a:spcPct val="106000"/>
                        </a:lnSpc>
                        <a:spcAft>
                          <a:spcPts val="0"/>
                        </a:spcAft>
                      </a:pPr>
                      <a:r>
                        <a:rPr sz="1100" b="0">
                          <a:solidFill>
                            <a:srgbClr val="333333"/>
                          </a:solidFill>
                          <a:latin typeface="Fira Code"/>
                        </a:rPr>
                        <a:t>and the filter is running at faster than 200 Hz</a:t>
                      </a:r>
                    </a:p>
                    <a:p>
                      <a:pPr algn="l">
                        <a:lnSpc>
                          <a:spcPct val="106000"/>
                        </a:lnSpc>
                        <a:spcAft>
                          <a:spcPts val="0"/>
                        </a:spcAft>
                      </a:pPr>
                      <a:r>
                        <a:rPr sz="1100" b="0">
                          <a:solidFill>
                            <a:srgbClr val="333333"/>
                          </a:solidFill>
                          <a:latin typeface="Fira Code"/>
                        </a:rPr>
                        <a:t>// If so, don't fuse measurements on this time step to reduce</a:t>
                      </a:r>
                    </a:p>
                    <a:p>
                      <a:pPr algn="l">
                        <a:lnSpc>
                          <a:spcPct val="106000"/>
                        </a:lnSpc>
                        <a:spcAft>
                          <a:spcPts val="0"/>
                        </a:spcAft>
                      </a:pPr>
                      <a:r>
                        <a:rPr sz="1100" b="0">
                          <a:solidFill>
                            <a:srgbClr val="333333"/>
                          </a:solidFill>
                          <a:latin typeface="Fira Code"/>
                        </a:rPr>
                        <a:t>frame over-runs</a:t>
                      </a:r>
                    </a:p>
                    <a:p>
                      <a:pPr algn="l">
                        <a:lnSpc>
                          <a:spcPct val="106000"/>
                        </a:lnSpc>
                        <a:spcAft>
                          <a:spcPts val="0"/>
                        </a:spcAft>
                      </a:pPr>
                      <a:r>
                        <a:rPr sz="1100" b="0">
                          <a:solidFill>
                            <a:srgbClr val="333333"/>
                          </a:solidFill>
                          <a:latin typeface="Fira Code"/>
                        </a:rPr>
                        <a:t>// Only allow one time slip to prevent high rate magnetometer</a:t>
                      </a:r>
                    </a:p>
                    <a:p>
                      <a:pPr algn="l">
                        <a:lnSpc>
                          <a:spcPct val="106000"/>
                        </a:lnSpc>
                        <a:spcAft>
                          <a:spcPts val="0"/>
                        </a:spcAft>
                      </a:pPr>
                      <a:r>
                        <a:rPr sz="1100" b="0">
                          <a:solidFill>
                            <a:srgbClr val="333333"/>
                          </a:solidFill>
                          <a:latin typeface="Fira Code"/>
                        </a:rPr>
                        <a:t>data preventing fusion of other measurements</a:t>
                      </a:r>
                    </a:p>
                    <a:p>
                      <a:pPr algn="l">
                        <a:lnSpc>
                          <a:spcPct val="106000"/>
                        </a:lnSpc>
                        <a:spcAft>
                          <a:spcPts val="0"/>
                        </a:spcAft>
                      </a:pPr>
                      <a:r>
                        <a:rPr sz="1100" b="0">
                          <a:solidFill>
                            <a:srgbClr val="333333"/>
                          </a:solidFill>
                          <a:latin typeface="Fira Code"/>
                        </a:rPr>
                        <a:t>if (magFusePerformed &amp;&amp; dtIMUavg &lt; 0.005f &amp;&amp; !optFlowFusionDelayed) {</a:t>
                      </a:r>
                    </a:p>
                    <a:p>
                      <a:pPr algn="l">
                        <a:lnSpc>
                          <a:spcPct val="106000"/>
                        </a:lnSpc>
                        <a:spcAft>
                          <a:spcPts val="0"/>
                        </a:spcAft>
                      </a:pPr>
                      <a:r>
                        <a:rPr sz="1100" b="0">
                          <a:solidFill>
                            <a:srgbClr val="333333"/>
                          </a:solidFill>
                          <a:latin typeface="Fira Code"/>
                        </a:rPr>
                        <a:t>optFlowFusionDelayed = true;</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 else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NavEKF3_core::getLLH()</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bool NavEKF3_core::getLLH(Location &amp;loc)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Location origin;</a:t>
                      </a:r>
                    </a:p>
                    <a:p>
                      <a:pPr algn="l">
                        <a:lnSpc>
                          <a:spcPct val="106000"/>
                        </a:lnSpc>
                        <a:spcAft>
                          <a:spcPts val="0"/>
                        </a:spcAft>
                      </a:pPr>
                      <a:r>
                        <a:rPr sz="1100" b="0">
                          <a:solidFill>
                            <a:srgbClr val="333333"/>
                          </a:solidFill>
                          <a:latin typeface="Fira Code"/>
                        </a:rPr>
                        <a:t>if (getOriginLLH(origin)) {</a:t>
                      </a:r>
                    </a:p>
                    <a:p>
                      <a:pPr algn="l">
                        <a:lnSpc>
                          <a:spcPct val="106000"/>
                        </a:lnSpc>
                        <a:spcAft>
                          <a:spcPts val="0"/>
                        </a:spcAft>
                      </a:pPr>
                      <a:r>
                        <a:rPr sz="1100" b="0">
                          <a:solidFill>
                            <a:srgbClr val="333333"/>
                          </a:solidFill>
                          <a:latin typeface="Fira Code"/>
                        </a:rPr>
                        <a:t>postype_t posD;</a:t>
                      </a:r>
                    </a:p>
                    <a:p>
                      <a:pPr algn="l">
                        <a:lnSpc>
                          <a:spcPct val="106000"/>
                        </a:lnSpc>
                        <a:spcAft>
                          <a:spcPts val="0"/>
                        </a:spcAft>
                      </a:pPr>
                      <a:r>
                        <a:rPr sz="1100" b="0">
                          <a:solidFill>
                            <a:srgbClr val="333333"/>
                          </a:solidFill>
                          <a:latin typeface="Fira Code"/>
                        </a:rPr>
                        <a:t>if (getPosD_local(posD) &amp;&amp; PV_AidingMode != AID_NONE) {</a:t>
                      </a:r>
                    </a:p>
                    <a:p>
                      <a:pPr algn="l">
                        <a:lnSpc>
                          <a:spcPct val="106000"/>
                        </a:lnSpc>
                        <a:spcAft>
                          <a:spcPts val="0"/>
                        </a:spcAft>
                      </a:pPr>
                      <a:r>
                        <a:rPr sz="1100" b="0">
                          <a:solidFill>
                            <a:srgbClr val="333333"/>
                          </a:solidFill>
                          <a:latin typeface="Fira Code"/>
                        </a:rPr>
                        <a:t>// Altitude returned is an absolute altitude relative</a:t>
                      </a:r>
                    </a:p>
                    <a:p>
                      <a:pPr algn="l">
                        <a:lnSpc>
                          <a:spcPct val="106000"/>
                        </a:lnSpc>
                        <a:spcAft>
                          <a:spcPts val="0"/>
                        </a:spcAft>
                      </a:pPr>
                      <a:r>
                        <a:rPr sz="1100" b="0">
                          <a:solidFill>
                            <a:srgbClr val="333333"/>
                          </a:solidFill>
                          <a:latin typeface="Fira Code"/>
                        </a:rPr>
                        <a:t>to the WGS-84 spherioid</a:t>
                      </a:r>
                    </a:p>
                    <a:p>
                      <a:pPr algn="l">
                        <a:lnSpc>
                          <a:spcPct val="106000"/>
                        </a:lnSpc>
                        <a:spcAft>
                          <a:spcPts val="0"/>
                        </a:spcAft>
                      </a:pPr>
                      <a:r>
                        <a:rPr sz="1100" b="0">
                          <a:solidFill>
                            <a:srgbClr val="333333"/>
                          </a:solidFill>
                          <a:latin typeface="Fira Code"/>
                        </a:rPr>
                        <a:t>loc.set_alt_cm(origin.alt - posD*100.0, Location::AltFrame::ABSOLUTE);</a:t>
                      </a:r>
                    </a:p>
                    <a:p>
                      <a:pPr algn="l">
                        <a:lnSpc>
                          <a:spcPct val="106000"/>
                        </a:lnSpc>
                        <a:spcAft>
                          <a:spcPts val="0"/>
                        </a:spcAft>
                      </a:pPr>
                      <a:r>
                        <a:rPr sz="1100" b="0">
                          <a:solidFill>
                            <a:srgbClr val="333333"/>
                          </a:solidFill>
                          <a:latin typeface="Fira Code"/>
                        </a:rPr>
                        <a:t>if (filterStatus.flags.horiz_pos_abs || filterStatus.flags.horiz_pos_rel)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13–14</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4767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020276">
                <a:tc>
                  <a:txBody>
                    <a:bodyPr wrap="square">
                      <a:noAutofit/>
                    </a:bodyPr>
                    <a:lstStyle/>
                    <a:p>
                      <a:pPr algn="r">
                        <a:lnSpc>
                          <a:spcPct val="106000"/>
                        </a:lnSpc>
                        <a:spcAft>
                          <a:spcPts val="0"/>
                        </a:spcAft>
                      </a:pPr>
                      <a:r>
                        <a:rPr sz="1100" b="1">
                          <a:solidFill>
                            <a:srgbClr val="333333"/>
                          </a:solidFill>
                          <a:latin typeface="Fira Code"/>
                        </a:rPr>
                        <a:t>15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NavEKF3_core::calcGpsGoodToAlign()</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NavEKF3_core::calcGpsGoodToAlign(void)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if (inFlight &amp;&amp; !finalInflightYawInit &amp;&amp; assume_zero_sideslip(</a:t>
                      </a:r>
                    </a:p>
                    <a:p>
                      <a:pPr algn="l">
                        <a:lnSpc>
                          <a:spcPct val="106000"/>
                        </a:lnSpc>
                        <a:spcAft>
                          <a:spcPts val="0"/>
                        </a:spcAft>
                      </a:pPr>
                      <a:r>
                        <a:rPr sz="1100" b="0">
                          <a:solidFill>
                            <a:srgbClr val="333333"/>
                          </a:solidFill>
                          <a:latin typeface="Fira Code"/>
                        </a:rPr>
                        <a:t>) &amp;&amp; !use_compass()) {</a:t>
                      </a:r>
                    </a:p>
                    <a:p>
                      <a:pPr algn="l">
                        <a:lnSpc>
                          <a:spcPct val="106000"/>
                        </a:lnSpc>
                        <a:spcAft>
                          <a:spcPts val="0"/>
                        </a:spcAft>
                      </a:pPr>
                      <a:r>
                        <a:rPr sz="1100" b="0">
                          <a:solidFill>
                            <a:srgbClr val="333333"/>
                          </a:solidFill>
                          <a:latin typeface="Fira Code"/>
                        </a:rPr>
                        <a:t>// this is a special case where a plane has launched without magnetometer</a:t>
                      </a:r>
                    </a:p>
                    <a:p>
                      <a:pPr algn="l">
                        <a:lnSpc>
                          <a:spcPct val="106000"/>
                        </a:lnSpc>
                        <a:spcAft>
                          <a:spcPts val="0"/>
                        </a:spcAft>
                      </a:pPr>
                      <a:r>
                        <a:rPr sz="1100" b="0">
                          <a:solidFill>
                            <a:srgbClr val="333333"/>
                          </a:solidFill>
                          <a:latin typeface="Fira Code"/>
                        </a:rPr>
                        <a:t>// is now in the air and needs to align yaw to the GPS and</a:t>
                      </a:r>
                    </a:p>
                    <a:p>
                      <a:pPr algn="l">
                        <a:lnSpc>
                          <a:spcPct val="106000"/>
                        </a:lnSpc>
                        <a:spcAft>
                          <a:spcPts val="0"/>
                        </a:spcAft>
                      </a:pPr>
                      <a:r>
                        <a:rPr sz="1100" b="0">
                          <a:solidFill>
                            <a:srgbClr val="333333"/>
                          </a:solidFill>
                          <a:latin typeface="Fira Code"/>
                        </a:rPr>
                        <a:t>start navigating as soon as possible</a:t>
                      </a:r>
                    </a:p>
                    <a:p>
                      <a:pPr algn="l">
                        <a:lnSpc>
                          <a:spcPct val="106000"/>
                        </a:lnSpc>
                        <a:spcAft>
                          <a:spcPts val="0"/>
                        </a:spcAft>
                      </a:pPr>
                      <a:r>
                        <a:rPr sz="1100" b="0">
                          <a:solidFill>
                            <a:srgbClr val="333333"/>
                          </a:solidFill>
                          <a:latin typeface="Fira Code"/>
                        </a:rPr>
                        <a:t>gpsGoodToAlign = true;</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7181">
                <a:tc>
                  <a:txBody>
                    <a:bodyPr wrap="square">
                      <a:noAutofit/>
                    </a:bodyPr>
                    <a:lstStyle/>
                    <a:p>
                      <a:pPr algn="r">
                        <a:lnSpc>
                          <a:spcPct val="106000"/>
                        </a:lnSpc>
                        <a:spcAft>
                          <a:spcPts val="0"/>
                        </a:spcAft>
                      </a:pPr>
                      <a:r>
                        <a:rPr sz="1100" b="1">
                          <a:solidFill>
                            <a:srgbClr val="333333"/>
                          </a:solidFill>
                          <a:latin typeface="Fira Code"/>
                        </a:rPr>
                        <a:t>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NavEKF3_core::resetGyroBias()</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NavEKF3_core::resetGyroBias(void)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stateStruct.gyro_bias.zero();</a:t>
                      </a:r>
                    </a:p>
                    <a:p>
                      <a:pPr algn="l">
                        <a:lnSpc>
                          <a:spcPct val="106000"/>
                        </a:lnSpc>
                        <a:spcAft>
                          <a:spcPts val="0"/>
                        </a:spcAft>
                      </a:pPr>
                      <a:r>
                        <a:rPr sz="1100" b="0">
                          <a:solidFill>
                            <a:srgbClr val="333333"/>
                          </a:solidFill>
                          <a:latin typeface="Fira Code"/>
                        </a:rPr>
                        <a:t>zeroRows(P,10,12);</a:t>
                      </a:r>
                    </a:p>
                    <a:p>
                      <a:pPr algn="l">
                        <a:lnSpc>
                          <a:spcPct val="106000"/>
                        </a:lnSpc>
                        <a:spcAft>
                          <a:spcPts val="0"/>
                        </a:spcAft>
                      </a:pPr>
                      <a:r>
                        <a:rPr sz="1100" b="0">
                          <a:solidFill>
                            <a:srgbClr val="333333"/>
                          </a:solidFill>
                          <a:latin typeface="Fira Code"/>
                        </a:rPr>
                        <a:t>zeroCols(P,10,12);</a:t>
                      </a:r>
                    </a:p>
                    <a:p>
                      <a:pPr algn="l">
                        <a:lnSpc>
                          <a:spcPct val="106000"/>
                        </a:lnSpc>
                        <a:spcAft>
                          <a:spcPts val="0"/>
                        </a:spcAft>
                      </a:pPr>
                      <a:r>
                        <a:rPr sz="1100" b="0">
                          <a:solidFill>
                            <a:srgbClr val="333333"/>
                          </a:solidFill>
                          <a:latin typeface="Fira Code"/>
                        </a:rPr>
                        <a:t>P[10][10] = sq(radians(0.5f * dtIMUavg));</a:t>
                      </a:r>
                    </a:p>
                    <a:p>
                      <a:pPr algn="l">
                        <a:lnSpc>
                          <a:spcPct val="106000"/>
                        </a:lnSpc>
                        <a:spcAft>
                          <a:spcPts val="0"/>
                        </a:spcAft>
                      </a:pPr>
                      <a:r>
                        <a:rPr sz="1100" b="0">
                          <a:solidFill>
                            <a:srgbClr val="333333"/>
                          </a:solidFill>
                          <a:latin typeface="Fira Code"/>
                        </a:rPr>
                        <a:t>P[11][11] = P[10][10];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15–16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25375"/>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17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NavEKF3_core::FuseRngBcn()</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NavEKF3_core::FuseRngBcn()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declarations</a:t>
                      </a:r>
                    </a:p>
                    <a:p>
                      <a:pPr algn="l">
                        <a:lnSpc>
                          <a:spcPct val="106000"/>
                        </a:lnSpc>
                        <a:spcAft>
                          <a:spcPts val="0"/>
                        </a:spcAft>
                      </a:pPr>
                      <a:r>
                        <a:rPr sz="1100" b="0">
                          <a:solidFill>
                            <a:srgbClr val="333333"/>
                          </a:solidFill>
                          <a:latin typeface="Fira Code"/>
                        </a:rPr>
                        <a:t>ftype pn;</a:t>
                      </a:r>
                    </a:p>
                    <a:p>
                      <a:pPr algn="l">
                        <a:lnSpc>
                          <a:spcPct val="106000"/>
                        </a:lnSpc>
                        <a:spcAft>
                          <a:spcPts val="0"/>
                        </a:spcAft>
                      </a:pPr>
                      <a:r>
                        <a:rPr sz="1100" b="0">
                          <a:solidFill>
                            <a:srgbClr val="333333"/>
                          </a:solidFill>
                          <a:latin typeface="Fira Code"/>
                        </a:rPr>
                        <a:t>ftype pe;</a:t>
                      </a:r>
                    </a:p>
                    <a:p>
                      <a:pPr algn="l">
                        <a:lnSpc>
                          <a:spcPct val="106000"/>
                        </a:lnSpc>
                        <a:spcAft>
                          <a:spcPts val="0"/>
                        </a:spcAft>
                      </a:pPr>
                      <a:r>
                        <a:rPr sz="1100" b="0">
                          <a:solidFill>
                            <a:srgbClr val="333333"/>
                          </a:solidFill>
                          <a:latin typeface="Fira Code"/>
                        </a:rPr>
                        <a:t>ftype pd;</a:t>
                      </a:r>
                    </a:p>
                    <a:p>
                      <a:pPr algn="l">
                        <a:lnSpc>
                          <a:spcPct val="106000"/>
                        </a:lnSpc>
                        <a:spcAft>
                          <a:spcPts val="0"/>
                        </a:spcAft>
                      </a:pPr>
                      <a:r>
                        <a:rPr sz="1100" b="0">
                          <a:solidFill>
                            <a:srgbClr val="333333"/>
                          </a:solidFill>
                          <a:latin typeface="Fira Code"/>
                        </a:rPr>
                        <a:t>ftype bcn_pn;</a:t>
                      </a:r>
                    </a:p>
                    <a:p>
                      <a:pPr algn="l">
                        <a:lnSpc>
                          <a:spcPct val="106000"/>
                        </a:lnSpc>
                        <a:spcAft>
                          <a:spcPts val="0"/>
                        </a:spcAft>
                      </a:pPr>
                      <a:r>
                        <a:rPr sz="1100" b="0">
                          <a:solidFill>
                            <a:srgbClr val="333333"/>
                          </a:solidFill>
                          <a:latin typeface="Fira Code"/>
                        </a:rPr>
                        <a:t>ftype bcn_pe;</a:t>
                      </a:r>
                    </a:p>
                    <a:p>
                      <a:pPr algn="l">
                        <a:lnSpc>
                          <a:spcPct val="106000"/>
                        </a:lnSpc>
                        <a:spcAft>
                          <a:spcPts val="0"/>
                        </a:spcAft>
                      </a:pPr>
                      <a:r>
                        <a:rPr sz="1100" b="0">
                          <a:solidFill>
                            <a:srgbClr val="333333"/>
                          </a:solidFill>
                          <a:latin typeface="Fira Code"/>
                        </a:rPr>
                        <a:t>ftype bcn_pd;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NavEKF3_core::Log_Write_XKF1()</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NavEKF3_core::Log_Write_XKF1(uint64_t time_us)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Write first EKF packet</a:t>
                      </a:r>
                    </a:p>
                    <a:p>
                      <a:pPr algn="l">
                        <a:lnSpc>
                          <a:spcPct val="106000"/>
                        </a:lnSpc>
                        <a:spcAft>
                          <a:spcPts val="0"/>
                        </a:spcAft>
                      </a:pPr>
                      <a:r>
                        <a:rPr sz="1100" b="0">
                          <a:solidFill>
                            <a:srgbClr val="333333"/>
                          </a:solidFill>
                          <a:latin typeface="Fira Code"/>
                        </a:rPr>
                        <a:t>Vector3f euler;</a:t>
                      </a:r>
                    </a:p>
                    <a:p>
                      <a:pPr algn="l">
                        <a:lnSpc>
                          <a:spcPct val="106000"/>
                        </a:lnSpc>
                        <a:spcAft>
                          <a:spcPts val="0"/>
                        </a:spcAft>
                      </a:pPr>
                      <a:r>
                        <a:rPr sz="1100" b="0">
                          <a:solidFill>
                            <a:srgbClr val="333333"/>
                          </a:solidFill>
                          <a:latin typeface="Fira Code"/>
                        </a:rPr>
                        <a:t>Vector2p posNE;</a:t>
                      </a:r>
                    </a:p>
                    <a:p>
                      <a:pPr algn="l">
                        <a:lnSpc>
                          <a:spcPct val="106000"/>
                        </a:lnSpc>
                        <a:spcAft>
                          <a:spcPts val="0"/>
                        </a:spcAft>
                      </a:pPr>
                      <a:r>
                        <a:rPr sz="1100" b="0">
                          <a:solidFill>
                            <a:srgbClr val="333333"/>
                          </a:solidFill>
                          <a:latin typeface="Fira Code"/>
                        </a:rPr>
                        <a:t>postype_t posD;</a:t>
                      </a:r>
                    </a:p>
                    <a:p>
                      <a:pPr algn="l">
                        <a:lnSpc>
                          <a:spcPct val="106000"/>
                        </a:lnSpc>
                        <a:spcAft>
                          <a:spcPts val="0"/>
                        </a:spcAft>
                      </a:pPr>
                      <a:r>
                        <a:rPr sz="1100" b="0">
                          <a:solidFill>
                            <a:srgbClr val="333333"/>
                          </a:solidFill>
                          <a:latin typeface="Fira Code"/>
                        </a:rPr>
                        <a:t>Vector3f velNED;</a:t>
                      </a:r>
                    </a:p>
                    <a:p>
                      <a:pPr algn="l">
                        <a:lnSpc>
                          <a:spcPct val="106000"/>
                        </a:lnSpc>
                        <a:spcAft>
                          <a:spcPts val="0"/>
                        </a:spcAft>
                      </a:pPr>
                      <a:r>
                        <a:rPr sz="1100" b="0">
                          <a:solidFill>
                            <a:srgbClr val="333333"/>
                          </a:solidFill>
                          <a:latin typeface="Fira Code"/>
                        </a:rPr>
                        <a:t>Vector3f gyroBias;</a:t>
                      </a:r>
                    </a:p>
                    <a:p>
                      <a:pPr algn="l">
                        <a:lnSpc>
                          <a:spcPct val="106000"/>
                        </a:lnSpc>
                        <a:spcAft>
                          <a:spcPts val="0"/>
                        </a:spcAft>
                      </a:pPr>
                      <a:r>
                        <a:rPr sz="1100" b="0">
                          <a:solidFill>
                            <a:srgbClr val="333333"/>
                          </a:solidFill>
                          <a:latin typeface="Fira Code"/>
                        </a:rPr>
                        <a:t>float posDownDeriv;</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17–18</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4767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NavEKF3::getFilterStatus()</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NavEKF3::getFilterStatus(nav_filter_status &amp;status)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if (core) {</a:t>
                      </a:r>
                    </a:p>
                    <a:p>
                      <a:pPr algn="l">
                        <a:lnSpc>
                          <a:spcPct val="106000"/>
                        </a:lnSpc>
                        <a:spcAft>
                          <a:spcPts val="0"/>
                        </a:spcAft>
                      </a:pPr>
                      <a:r>
                        <a:rPr sz="1100" b="0">
                          <a:solidFill>
                            <a:srgbClr val="333333"/>
                          </a:solidFill>
                          <a:latin typeface="Fira Code"/>
                        </a:rPr>
                        <a:t>core[primary].getFilterStatus(status);</a:t>
                      </a:r>
                    </a:p>
                    <a:p>
                      <a:pPr algn="l">
                        <a:lnSpc>
                          <a:spcPct val="106000"/>
                        </a:lnSpc>
                        <a:spcAft>
                          <a:spcPts val="0"/>
                        </a:spcAft>
                      </a:pPr>
                      <a:r>
                        <a:rPr sz="1100" b="0">
                          <a:solidFill>
                            <a:srgbClr val="333333"/>
                          </a:solidFill>
                          <a:latin typeface="Fira Code"/>
                        </a:rPr>
                        <a:t>} else {</a:t>
                      </a:r>
                    </a:p>
                    <a:p>
                      <a:pPr algn="l">
                        <a:lnSpc>
                          <a:spcPct val="106000"/>
                        </a:lnSpc>
                        <a:spcAft>
                          <a:spcPts val="0"/>
                        </a:spcAft>
                      </a:pPr>
                      <a:r>
                        <a:rPr sz="1100" b="0">
                          <a:solidFill>
                            <a:srgbClr val="333333"/>
                          </a:solidFill>
                          <a:latin typeface="Fira Code"/>
                        </a:rPr>
                        <a:t>memset(&amp;status, 0, sizeof(status));</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NavEKF2_core::UpdateFilter()</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NavEKF2_core::UpdateFilter(bool predict)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Set the flag to indicate to the filter that the front-end has given permission for a new state prediction cycle to be started</a:t>
                      </a:r>
                    </a:p>
                    <a:p>
                      <a:pPr algn="l">
                        <a:lnSpc>
                          <a:spcPct val="106000"/>
                        </a:lnSpc>
                        <a:spcAft>
                          <a:spcPts val="0"/>
                        </a:spcAft>
                      </a:pPr>
                      <a:r>
                        <a:rPr sz="1100" b="0">
                          <a:solidFill>
                            <a:srgbClr val="333333"/>
                          </a:solidFill>
                          <a:latin typeface="Fira Code"/>
                        </a:rPr>
                        <a:t>startPredictEnabled = predict;</a:t>
                      </a:r>
                    </a:p>
                    <a:p>
                      <a:pPr algn="l">
                        <a:lnSpc>
                          <a:spcPct val="106000"/>
                        </a:lnSpc>
                        <a:spcAft>
                          <a:spcPts val="0"/>
                        </a:spcAft>
                      </a:pPr>
                      <a:r>
                        <a:rPr sz="1100" b="0">
                          <a:solidFill>
                            <a:srgbClr val="333333"/>
                          </a:solidFill>
                          <a:latin typeface="Fira Code"/>
                        </a:rPr>
                        <a:t>// don't run filter updates if states have not been initialised</a:t>
                      </a:r>
                    </a:p>
                    <a:p>
                      <a:pPr algn="l">
                        <a:lnSpc>
                          <a:spcPct val="106000"/>
                        </a:lnSpc>
                        <a:spcAft>
                          <a:spcPts val="0"/>
                        </a:spcAft>
                      </a:pPr>
                      <a:r>
                        <a:rPr sz="1100" b="0">
                          <a:solidFill>
                            <a:srgbClr val="333333"/>
                          </a:solidFill>
                          <a:latin typeface="Fira Code"/>
                        </a:rPr>
                        <a:t>if (!statesInitialised) {</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19–20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6997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NavEKF2_core::FuseVelPosNED()</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NavEKF2_core::FuseVelPosNED()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health is set bad until test passed</a:t>
                      </a:r>
                    </a:p>
                    <a:p>
                      <a:pPr algn="l">
                        <a:lnSpc>
                          <a:spcPct val="106000"/>
                        </a:lnSpc>
                        <a:spcAft>
                          <a:spcPts val="0"/>
                        </a:spcAft>
                      </a:pPr>
                      <a:r>
                        <a:rPr sz="1100" b="0">
                          <a:solidFill>
                            <a:srgbClr val="333333"/>
                          </a:solidFill>
                          <a:latin typeface="Fira Code"/>
                        </a:rPr>
                        <a:t>bool velHealth = false; // boolean true if velocity measurements have passed innovation consistency check</a:t>
                      </a:r>
                    </a:p>
                    <a:p>
                      <a:pPr algn="l">
                        <a:lnSpc>
                          <a:spcPct val="106000"/>
                        </a:lnSpc>
                        <a:spcAft>
                          <a:spcPts val="0"/>
                        </a:spcAft>
                      </a:pPr>
                      <a:r>
                        <a:rPr sz="1100" b="0">
                          <a:solidFill>
                            <a:srgbClr val="333333"/>
                          </a:solidFill>
                          <a:latin typeface="Fira Code"/>
                        </a:rPr>
                        <a:t>bool posHealth = false; // boolean true if position measurements have passed innovation consistency check</a:t>
                      </a:r>
                    </a:p>
                    <a:p>
                      <a:pPr algn="l">
                        <a:lnSpc>
                          <a:spcPct val="106000"/>
                        </a:lnSpc>
                        <a:spcAft>
                          <a:spcPts val="0"/>
                        </a:spcAft>
                      </a:pPr>
                      <a:r>
                        <a:rPr sz="1100" b="0">
                          <a:solidFill>
                            <a:srgbClr val="333333"/>
                          </a:solidFill>
                          <a:latin typeface="Fira Code"/>
                        </a:rPr>
                        <a:t>bool hgtHealth = false; // boolean true if height measurements have passed innovation consistency check</a:t>
                      </a:r>
                    </a:p>
                    <a:p>
                      <a:pPr algn="l">
                        <a:lnSpc>
                          <a:spcPct val="106000"/>
                        </a:lnSpc>
                        <a:spcAft>
                          <a:spcPts val="0"/>
                        </a:spcAft>
                      </a:pPr>
                      <a:r>
                        <a:rPr sz="1100" b="0">
                          <a:solidFill>
                            <a:srgbClr val="333333"/>
                          </a:solidFill>
                          <a:latin typeface="Fira Code"/>
                        </a:rPr>
                        <a:t>// declare variables used to check measurement errors</a:t>
                      </a:r>
                    </a:p>
                    <a:p>
                      <a:pPr algn="l">
                        <a:lnSpc>
                          <a:spcPct val="106000"/>
                        </a:lnSpc>
                        <a:spcAft>
                          <a:spcPts val="0"/>
                        </a:spcAft>
                      </a:pPr>
                      <a:r>
                        <a:rPr sz="1100" b="0">
                          <a:solidFill>
                            <a:srgbClr val="333333"/>
                          </a:solidFill>
                          <a:latin typeface="Fira Code"/>
                        </a:rPr>
                        <a:t>Vector3F velInnov;</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22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EKFGSF_yaw::update()</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EKFGSF_yaw::update(const Vector3F &amp;delAng,</a:t>
                      </a:r>
                    </a:p>
                    <a:p>
                      <a:pPr algn="l">
                        <a:lnSpc>
                          <a:spcPct val="106000"/>
                        </a:lnSpc>
                        <a:spcAft>
                          <a:spcPts val="0"/>
                        </a:spcAft>
                      </a:pPr>
                      <a:r>
                        <a:rPr sz="1100" b="0">
                          <a:solidFill>
                            <a:srgbClr val="333333"/>
                          </a:solidFill>
                          <a:latin typeface="Fira Code"/>
                        </a:rPr>
                        <a:t>const Vector3F &amp;delVel,</a:t>
                      </a:r>
                    </a:p>
                    <a:p>
                      <a:pPr algn="l">
                        <a:lnSpc>
                          <a:spcPct val="106000"/>
                        </a:lnSpc>
                        <a:spcAft>
                          <a:spcPts val="0"/>
                        </a:spcAft>
                      </a:pPr>
                      <a:r>
                        <a:rPr sz="1100" b="0">
                          <a:solidFill>
                            <a:srgbClr val="333333"/>
                          </a:solidFill>
                          <a:latin typeface="Fira Code"/>
                        </a:rPr>
                        <a:t>const ftype delAngDT,</a:t>
                      </a:r>
                    </a:p>
                    <a:p>
                      <a:pPr algn="l">
                        <a:lnSpc>
                          <a:spcPct val="106000"/>
                        </a:lnSpc>
                        <a:spcAft>
                          <a:spcPts val="0"/>
                        </a:spcAft>
                      </a:pPr>
                      <a:r>
                        <a:rPr sz="1100" b="0">
                          <a:solidFill>
                            <a:srgbClr val="333333"/>
                          </a:solidFill>
                          <a:latin typeface="Fira Code"/>
                        </a:rPr>
                        <a:t>const ftype delVelDT,</a:t>
                      </a:r>
                    </a:p>
                    <a:p>
                      <a:pPr algn="l">
                        <a:lnSpc>
                          <a:spcPct val="106000"/>
                        </a:lnSpc>
                        <a:spcAft>
                          <a:spcPts val="0"/>
                        </a:spcAft>
                      </a:pPr>
                      <a:r>
                        <a:rPr sz="1100" b="0">
                          <a:solidFill>
                            <a:srgbClr val="333333"/>
                          </a:solidFill>
                          <a:latin typeface="Fira Code"/>
                        </a:rPr>
                        <a:t>bool runEKF,</a:t>
                      </a:r>
                    </a:p>
                    <a:p>
                      <a:pPr algn="l">
                        <a:lnSpc>
                          <a:spcPct val="106000"/>
                        </a:lnSpc>
                        <a:spcAft>
                          <a:spcPts val="0"/>
                        </a:spcAft>
                      </a:pPr>
                      <a:r>
                        <a:rPr sz="1100" b="0">
                          <a:solidFill>
                            <a:srgbClr val="333333"/>
                          </a:solidFill>
                          <a:latin typeface="Fira Code"/>
                        </a:rPr>
                        <a:t>ftype TAS)</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copy to class variables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21–22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25374"/>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AC_WPNav::set_wp_destination_loc()</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bool AC_WPNav::set_wp_destination_loc(const Location&amp; destination)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bool is_terrain_alt;</a:t>
                      </a:r>
                    </a:p>
                    <a:p>
                      <a:pPr algn="l">
                        <a:lnSpc>
                          <a:spcPct val="106000"/>
                        </a:lnSpc>
                        <a:spcAft>
                          <a:spcPts val="0"/>
                        </a:spcAft>
                      </a:pPr>
                      <a:r>
                        <a:rPr sz="1100" b="0">
                          <a:solidFill>
                            <a:srgbClr val="333333"/>
                          </a:solidFill>
                          <a:latin typeface="Fira Code"/>
                        </a:rPr>
                        <a:t>Vector3f dest_neu_cm;</a:t>
                      </a:r>
                    </a:p>
                    <a:p>
                      <a:pPr algn="l">
                        <a:lnSpc>
                          <a:spcPct val="106000"/>
                        </a:lnSpc>
                        <a:spcAft>
                          <a:spcPts val="0"/>
                        </a:spcAft>
                      </a:pPr>
                      <a:r>
                        <a:rPr sz="1100" b="0">
                          <a:solidFill>
                            <a:srgbClr val="333333"/>
                          </a:solidFill>
                          <a:latin typeface="Fira Code"/>
                        </a:rPr>
                        <a:t>// convert destination location to vector</a:t>
                      </a:r>
                    </a:p>
                    <a:p>
                      <a:pPr algn="l">
                        <a:lnSpc>
                          <a:spcPct val="106000"/>
                        </a:lnSpc>
                        <a:spcAft>
                          <a:spcPts val="0"/>
                        </a:spcAft>
                      </a:pPr>
                      <a:r>
                        <a:rPr sz="1100" b="0">
                          <a:solidFill>
                            <a:srgbClr val="333333"/>
                          </a:solidFill>
                          <a:latin typeface="Fira Code"/>
                        </a:rPr>
                        <a:t>if (!get_vector_NEU_cm(destination, dest_neu_cm, is_terrain_alt)) {</a:t>
                      </a:r>
                    </a:p>
                    <a:p>
                      <a:pPr algn="l">
                        <a:lnSpc>
                          <a:spcPct val="106000"/>
                        </a:lnSpc>
                        <a:spcAft>
                          <a:spcPts val="0"/>
                        </a:spcAft>
                      </a:pPr>
                      <a:r>
                        <a:rPr sz="1100" b="0">
                          <a:solidFill>
                            <a:srgbClr val="333333"/>
                          </a:solidFill>
                          <a:latin typeface="Fira Code"/>
                        </a:rPr>
                        <a:t>return false;</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AP_Mission::get_next_nav_cmd()</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bool AP_Mission::get_next_nav_cmd(uint16_t start_index, Mission_Command&amp; cmd)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search until the end of the mission command list</a:t>
                      </a:r>
                    </a:p>
                    <a:p>
                      <a:pPr algn="l">
                        <a:lnSpc>
                          <a:spcPct val="106000"/>
                        </a:lnSpc>
                        <a:spcAft>
                          <a:spcPts val="0"/>
                        </a:spcAft>
                      </a:pPr>
                      <a:r>
                        <a:rPr sz="1100" b="0">
                          <a:solidFill>
                            <a:srgbClr val="333333"/>
                          </a:solidFill>
                          <a:latin typeface="Fira Code"/>
                        </a:rPr>
                        <a:t>for (uint16_t cmd_index = start_index; cmd_index &lt; (unsigned)_cmd_total; cmd_index++) {</a:t>
                      </a:r>
                    </a:p>
                    <a:p>
                      <a:pPr algn="l">
                        <a:lnSpc>
                          <a:spcPct val="106000"/>
                        </a:lnSpc>
                        <a:spcAft>
                          <a:spcPts val="0"/>
                        </a:spcAft>
                      </a:pPr>
                      <a:r>
                        <a:rPr sz="1100" b="0">
                          <a:solidFill>
                            <a:srgbClr val="333333"/>
                          </a:solidFill>
                          <a:latin typeface="Fira Code"/>
                        </a:rPr>
                        <a:t>// get next command</a:t>
                      </a:r>
                    </a:p>
                    <a:p>
                      <a:pPr algn="l">
                        <a:lnSpc>
                          <a:spcPct val="106000"/>
                        </a:lnSpc>
                        <a:spcAft>
                          <a:spcPts val="0"/>
                        </a:spcAft>
                      </a:pPr>
                      <a:r>
                        <a:rPr sz="1100" b="0">
                          <a:solidFill>
                            <a:srgbClr val="333333"/>
                          </a:solidFill>
                          <a:latin typeface="Fira Code"/>
                        </a:rPr>
                        <a:t>if (!get_next_cmd(cmd_index, cmd, false)) {</a:t>
                      </a:r>
                    </a:p>
                    <a:p>
                      <a:pPr algn="l">
                        <a:lnSpc>
                          <a:spcPct val="106000"/>
                        </a:lnSpc>
                        <a:spcAft>
                          <a:spcPts val="0"/>
                        </a:spcAft>
                      </a:pPr>
                      <a:r>
                        <a:rPr sz="1100" b="0">
                          <a:solidFill>
                            <a:srgbClr val="333333"/>
                          </a:solidFill>
                          <a:latin typeface="Fira Code"/>
                        </a:rPr>
                        <a:t>// no more commands so return failure</a:t>
                      </a:r>
                    </a:p>
                    <a:p>
                      <a:pPr algn="l">
                        <a:lnSpc>
                          <a:spcPct val="106000"/>
                        </a:lnSpc>
                        <a:spcAft>
                          <a:spcPts val="0"/>
                        </a:spcAft>
                      </a:pPr>
                      <a:r>
                        <a:rPr sz="1100" b="0">
                          <a:solidFill>
                            <a:srgbClr val="333333"/>
                          </a:solidFill>
                          <a:latin typeface="Fira Code"/>
                        </a:rPr>
                        <a:t>return false;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if found a "navigation" command then return 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23–24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280771"/>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AP_L1_Control::update_waypoint()</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 Calculate L1 gain required for specified damping</a:t>
                      </a:r>
                    </a:p>
                    <a:p>
                      <a:pPr algn="l">
                        <a:lnSpc>
                          <a:spcPct val="106000"/>
                        </a:lnSpc>
                        <a:spcAft>
                          <a:spcPts val="0"/>
                        </a:spcAft>
                      </a:pPr>
                      <a:r>
                        <a:rPr sz="1100" b="0">
                          <a:solidFill>
                            <a:srgbClr val="333333"/>
                          </a:solidFill>
                          <a:latin typeface="Fira Code"/>
                        </a:rPr>
                        <a:t>float K_L1 = 4.0f * _L1_damping * _L1_damping;</a:t>
                      </a:r>
                    </a:p>
                    <a:p>
                      <a:pPr algn="l">
                        <a:lnSpc>
                          <a:spcPct val="106000"/>
                        </a:lnSpc>
                        <a:spcAft>
                          <a:spcPts val="0"/>
                        </a:spcAft>
                      </a:pPr>
                      <a:r>
                        <a:rPr sz="1100" b="0">
                          <a:solidFill>
                            <a:srgbClr val="333333"/>
                          </a:solidFill>
                          <a:latin typeface="Fira Code"/>
                        </a:rPr>
                        <a:t>// Get current position and velocity</a:t>
                      </a:r>
                    </a:p>
                    <a:p>
                      <a:pPr algn="l">
                        <a:lnSpc>
                          <a:spcPct val="106000"/>
                        </a:lnSpc>
                        <a:spcAft>
                          <a:spcPts val="0"/>
                        </a:spcAft>
                      </a:pPr>
                      <a:r>
                        <a:rPr sz="1100" b="0">
                          <a:solidFill>
                            <a:srgbClr val="333333"/>
                          </a:solidFill>
                          <a:latin typeface="Fira Code"/>
                        </a:rPr>
                        <a:t>if (_ahrs.get_location(_current_loc) == false) {</a:t>
                      </a:r>
                    </a:p>
                    <a:p>
                      <a:pPr algn="l">
                        <a:lnSpc>
                          <a:spcPct val="106000"/>
                        </a:lnSpc>
                        <a:spcAft>
                          <a:spcPts val="0"/>
                        </a:spcAft>
                      </a:pPr>
                      <a:r>
                        <a:rPr sz="1100" b="0">
                          <a:solidFill>
                            <a:srgbClr val="333333"/>
                          </a:solidFill>
                          <a:latin typeface="Fira Code"/>
                        </a:rPr>
                        <a:t>// if no GPS loc available, maintain last nav/target_bearing</a:t>
                      </a:r>
                    </a:p>
                    <a:p>
                      <a:pPr algn="l">
                        <a:lnSpc>
                          <a:spcPct val="106000"/>
                        </a:lnSpc>
                        <a:spcAft>
                          <a:spcPts val="0"/>
                        </a:spcAft>
                      </a:pPr>
                      <a:r>
                        <a:rPr sz="1100" b="0">
                          <a:solidFill>
                            <a:srgbClr val="333333"/>
                          </a:solidFill>
                          <a:latin typeface="Fira Code"/>
                        </a:rPr>
                        <a:t>_data_is_stale = true;</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375673">
                <a:tc>
                  <a:txBody>
                    <a:bodyPr wrap="square">
                      <a:noAutofit/>
                    </a:bodyPr>
                    <a:lstStyle/>
                    <a:p>
                      <a:pPr algn="r">
                        <a:lnSpc>
                          <a:spcPct val="106000"/>
                        </a:lnSpc>
                        <a:spcAft>
                          <a:spcPts val="0"/>
                        </a:spcAft>
                      </a:pPr>
                      <a:r>
                        <a:rPr sz="1100" b="1">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AP_L1_Control::nav_roll_cd()</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int32_t AP_L1_Control::nav_roll_cd(void)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float ret;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formula can be obtained through equations of balanced spiral:</a:t>
                      </a:r>
                    </a:p>
                    <a:p>
                      <a:pPr algn="l">
                        <a:lnSpc>
                          <a:spcPct val="106000"/>
                        </a:lnSpc>
                        <a:spcAft>
                          <a:spcPts val="0"/>
                        </a:spcAft>
                      </a:pPr>
                      <a:r>
                        <a:rPr sz="1100" b="0">
                          <a:solidFill>
                            <a:srgbClr val="333333"/>
                          </a:solidFill>
                          <a:latin typeface="Fira Code"/>
                        </a:rPr>
                        <a:t>liftForce * cos(roll) = gravityForce * cos(pitch);</a:t>
                      </a:r>
                    </a:p>
                    <a:p>
                      <a:pPr algn="l">
                        <a:lnSpc>
                          <a:spcPct val="106000"/>
                        </a:lnSpc>
                        <a:spcAft>
                          <a:spcPts val="0"/>
                        </a:spcAft>
                      </a:pPr>
                      <a:r>
                        <a:rPr sz="1100" b="0">
                          <a:solidFill>
                            <a:srgbClr val="333333"/>
                          </a:solidFill>
                          <a:latin typeface="Fira Code"/>
                        </a:rPr>
                        <a:t>liftForce * sin(roll) = gravityForce * lateralAcceleration</a:t>
                      </a:r>
                    </a:p>
                    <a:p>
                      <a:pPr algn="l">
                        <a:lnSpc>
                          <a:spcPct val="106000"/>
                        </a:lnSpc>
                        <a:spcAft>
                          <a:spcPts val="0"/>
                        </a:spcAft>
                      </a:pPr>
                      <a:r>
                        <a:rPr sz="1100" b="0">
                          <a:solidFill>
                            <a:srgbClr val="333333"/>
                          </a:solidFill>
                          <a:latin typeface="Fira Code"/>
                        </a:rPr>
                        <a:t>/ gravityAcceleration; // as mass = gravityForce/gravityAcceleration</a:t>
                      </a:r>
                    </a:p>
                    <a:p>
                      <a:pPr algn="l">
                        <a:lnSpc>
                          <a:spcPct val="106000"/>
                        </a:lnSpc>
                        <a:spcAft>
                          <a:spcPts val="0"/>
                        </a:spcAft>
                      </a:pPr>
                      <a:r>
                        <a:rPr sz="1100" b="0">
                          <a:solidFill>
                            <a:srgbClr val="333333"/>
                          </a:solidFill>
                          <a:latin typeface="Fira Code"/>
                        </a:rPr>
                        <a:t>see issue 24319 [https://github.com/ArduPilot/ardupilot/issues/24319]</a:t>
                      </a:r>
                    </a:p>
                    <a:p>
                      <a:pPr algn="l">
                        <a:lnSpc>
                          <a:spcPct val="106000"/>
                        </a:lnSpc>
                        <a:spcAft>
                          <a:spcPts val="0"/>
                        </a:spcAft>
                      </a:pPr>
                      <a:r>
                        <a:rPr sz="1100" b="0">
                          <a:solidFill>
                            <a:srgbClr val="333333"/>
                          </a:solidFill>
                          <a:latin typeface="Fira Code"/>
                        </a:rPr>
                        <a:t>Multiplier 100.0f is for converting degrees to centidegrees</a:t>
                      </a:r>
                    </a:p>
                    <a:p>
                      <a:pPr algn="l">
                        <a:lnSpc>
                          <a:spcPct val="106000"/>
                        </a:lnSpc>
                        <a:spcAft>
                          <a:spcPts val="0"/>
                        </a:spcAft>
                      </a:pPr>
                      <a:r>
                        <a:rPr sz="1100" b="0">
                          <a:solidFill>
                            <a:srgbClr val="333333"/>
                          </a:solidFill>
                          <a:latin typeface="Fira Code"/>
                        </a:rPr>
                        <a:t>Made changes to avoid zero division as proposed by Andrew</a:t>
                      </a:r>
                    </a:p>
                    <a:p>
                      <a:pPr algn="l">
                        <a:lnSpc>
                          <a:spcPct val="106000"/>
                        </a:lnSpc>
                        <a:spcAft>
                          <a:spcPts val="0"/>
                        </a:spcAft>
                      </a:pPr>
                      <a:r>
                        <a:rPr sz="1100" b="0">
                          <a:solidFill>
                            <a:srgbClr val="333333"/>
                          </a:solidFill>
                          <a:latin typeface="Fira Code"/>
                        </a:rPr>
                        <a:t>Tridgell: https://github.com/ArduPilot/ardupilot/pull/24331#discussion_r1267798397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25–26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458470"/>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197975">
                <a:tc>
                  <a:txBody>
                    <a:bodyPr wrap="square">
                      <a:noAutofit/>
                    </a:bodyPr>
                    <a:lstStyle/>
                    <a:p>
                      <a:pPr algn="r">
                        <a:lnSpc>
                          <a:spcPct val="106000"/>
                        </a:lnSpc>
                        <a:spcAft>
                          <a:spcPts val="0"/>
                        </a:spcAft>
                      </a:pPr>
                      <a:r>
                        <a:rPr sz="1100" b="1">
                          <a:solidFill>
                            <a:srgbClr val="333333"/>
                          </a:solidFill>
                          <a:latin typeface="Fira Code"/>
                        </a:rPr>
                        <a:t>27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AP_TECS::update_pitch_throttle()</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AP_TECS::update_pitch_throttle(int32_t hgt_dem_cm,</a:t>
                      </a:r>
                    </a:p>
                    <a:p>
                      <a:pPr algn="l">
                        <a:lnSpc>
                          <a:spcPct val="106000"/>
                        </a:lnSpc>
                        <a:spcAft>
                          <a:spcPts val="0"/>
                        </a:spcAft>
                      </a:pPr>
                      <a:r>
                        <a:rPr sz="1100" b="0">
                          <a:solidFill>
                            <a:srgbClr val="333333"/>
                          </a:solidFill>
                          <a:latin typeface="Fira Code"/>
                        </a:rPr>
                        <a:t>int32_t EAS_dem_cm,</a:t>
                      </a:r>
                    </a:p>
                    <a:p>
                      <a:pPr algn="l">
                        <a:lnSpc>
                          <a:spcPct val="106000"/>
                        </a:lnSpc>
                        <a:spcAft>
                          <a:spcPts val="0"/>
                        </a:spcAft>
                      </a:pPr>
                      <a:r>
                        <a:rPr sz="1100" b="0">
                          <a:solidFill>
                            <a:srgbClr val="333333"/>
                          </a:solidFill>
                          <a:latin typeface="Fira Code"/>
                        </a:rPr>
                        <a:t>enum AP_FixedWing::FlightStage</a:t>
                      </a:r>
                    </a:p>
                    <a:p>
                      <a:pPr algn="l">
                        <a:lnSpc>
                          <a:spcPct val="106000"/>
                        </a:lnSpc>
                        <a:spcAft>
                          <a:spcPts val="0"/>
                        </a:spcAft>
                      </a:pPr>
                      <a:r>
                        <a:rPr sz="1100" b="0">
                          <a:solidFill>
                            <a:srgbClr val="333333"/>
                          </a:solidFill>
                          <a:latin typeface="Fira Code"/>
                        </a:rPr>
                        <a:t>flight_stage,</a:t>
                      </a:r>
                    </a:p>
                    <a:p>
                      <a:pPr algn="l">
                        <a:lnSpc>
                          <a:spcPct val="106000"/>
                        </a:lnSpc>
                        <a:spcAft>
                          <a:spcPts val="0"/>
                        </a:spcAft>
                      </a:pPr>
                      <a:r>
                        <a:rPr sz="1100" b="0">
                          <a:solidFill>
                            <a:srgbClr val="333333"/>
                          </a:solidFill>
                          <a:latin typeface="Fira Code"/>
                        </a:rPr>
                        <a:t>float distance_beyond_land_wp,</a:t>
                      </a:r>
                    </a:p>
                    <a:p>
                      <a:pPr algn="l">
                        <a:lnSpc>
                          <a:spcPct val="106000"/>
                        </a:lnSpc>
                        <a:spcAft>
                          <a:spcPts val="0"/>
                        </a:spcAft>
                      </a:pPr>
                      <a:r>
                        <a:rPr sz="1100" b="0">
                          <a:solidFill>
                            <a:srgbClr val="333333"/>
                          </a:solidFill>
                          <a:latin typeface="Fira Code"/>
                        </a:rPr>
                        <a:t>int32_t ptchMinCO_cd,</a:t>
                      </a:r>
                    </a:p>
                    <a:p>
                      <a:pPr algn="l">
                        <a:lnSpc>
                          <a:spcPct val="106000"/>
                        </a:lnSpc>
                        <a:spcAft>
                          <a:spcPts val="0"/>
                        </a:spcAft>
                      </a:pPr>
                      <a:r>
                        <a:rPr sz="1100" b="0">
                          <a:solidFill>
                            <a:srgbClr val="333333"/>
                          </a:solidFill>
                          <a:latin typeface="Fira Code"/>
                        </a:rPr>
                        <a:t>int16_t throttle_nudge,</a:t>
                      </a:r>
                    </a:p>
                    <a:p>
                      <a:pPr algn="l">
                        <a:lnSpc>
                          <a:spcPct val="106000"/>
                        </a:lnSpc>
                        <a:spcAft>
                          <a:spcPts val="0"/>
                        </a:spcAft>
                      </a:pPr>
                      <a:r>
                        <a:rPr sz="1100" b="0">
                          <a:solidFill>
                            <a:srgbClr val="333333"/>
                          </a:solidFill>
                          <a:latin typeface="Fira Code"/>
                        </a:rPr>
                        <a:t>float hgt_afe,</a:t>
                      </a:r>
                    </a:p>
                    <a:p>
                      <a:pPr algn="l">
                        <a:lnSpc>
                          <a:spcPct val="106000"/>
                        </a:lnSpc>
                        <a:spcAft>
                          <a:spcPts val="0"/>
                        </a:spcAft>
                      </a:pPr>
                      <a:r>
                        <a:rPr sz="1100" b="0">
                          <a:solidFill>
                            <a:srgbClr val="333333"/>
                          </a:solidFill>
                          <a:latin typeface="Fira Code"/>
                        </a:rPr>
                        <a:t>float load_factor,</a:t>
                      </a:r>
                    </a:p>
                    <a:p>
                      <a:pPr algn="l">
                        <a:lnSpc>
                          <a:spcPct val="106000"/>
                        </a:lnSpc>
                        <a:spcAft>
                          <a:spcPts val="0"/>
                        </a:spcAft>
                      </a:pPr>
                      <a:r>
                        <a:rPr sz="1100" b="0">
                          <a:solidFill>
                            <a:srgbClr val="333333"/>
                          </a:solidFill>
                          <a:latin typeface="Fira Code"/>
                        </a:rPr>
                        <a:t>float pitch_trim_deg)</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AC_AttitudeControl::input_euler_angle_roll_pitch_yaw_cd()</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AC_AttitudeControl::input_euler_angle_roll_pitch_yaw_cd(float</a:t>
                      </a:r>
                    </a:p>
                    <a:p>
                      <a:pPr algn="l">
                        <a:lnSpc>
                          <a:spcPct val="106000"/>
                        </a:lnSpc>
                        <a:spcAft>
                          <a:spcPts val="0"/>
                        </a:spcAft>
                      </a:pPr>
                      <a:r>
                        <a:rPr sz="1100" b="0">
                          <a:solidFill>
                            <a:srgbClr val="333333"/>
                          </a:solidFill>
                          <a:latin typeface="Fira Code"/>
                        </a:rPr>
                        <a:t>euler_roll_angle_cd, float euler_pitch_angle_cd, float euler_yaw_angle_cd, bool slew_yaw)</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Convert from centidegrees on public interface to radians</a:t>
                      </a:r>
                    </a:p>
                    <a:p>
                      <a:pPr algn="l">
                        <a:lnSpc>
                          <a:spcPct val="106000"/>
                        </a:lnSpc>
                        <a:spcAft>
                          <a:spcPts val="0"/>
                        </a:spcAft>
                      </a:pPr>
                      <a:r>
                        <a:rPr sz="1100" b="0">
                          <a:solidFill>
                            <a:srgbClr val="333333"/>
                          </a:solidFill>
                          <a:latin typeface="Fira Code"/>
                        </a:rPr>
                        <a:t>const float euler_roll_angle_rad = cd_to_rad(euler_roll_angle_cd);</a:t>
                      </a:r>
                    </a:p>
                    <a:p>
                      <a:pPr algn="l">
                        <a:lnSpc>
                          <a:spcPct val="106000"/>
                        </a:lnSpc>
                        <a:spcAft>
                          <a:spcPts val="0"/>
                        </a:spcAft>
                      </a:pPr>
                      <a:r>
                        <a:rPr sz="1100" b="0">
                          <a:solidFill>
                            <a:srgbClr val="333333"/>
                          </a:solidFill>
                          <a:latin typeface="Fira Code"/>
                        </a:rPr>
                        <a:t>const float euler_pitch_angle_rad = cd_to_rad(euler_pitch_angle_cd);</a:t>
                      </a:r>
                    </a:p>
                    <a:p>
                      <a:pPr algn="l">
                        <a:lnSpc>
                          <a:spcPct val="106000"/>
                        </a:lnSpc>
                        <a:spcAft>
                          <a:spcPts val="0"/>
                        </a:spcAft>
                      </a:pPr>
                      <a:r>
                        <a:rPr sz="1100" b="0">
                          <a:solidFill>
                            <a:srgbClr val="333333"/>
                          </a:solidFill>
                          <a:latin typeface="Fira Code"/>
                        </a:rPr>
                        <a:t>const float euler_yaw_angle_rad = cd_to_rad(euler_yaw_angle_cd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input_euler_angle_roll_pitch_yaw_rad(euler_roll_angle_rad, euler_pitch_angle_rad, euler_yaw_angle_rad, slew_yaw);</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27–28</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2 transitive chains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Table 2a: Layer 2 — full transitive chain, final consumer &amp; hop depth</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3448653"/>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39504">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 (via AP_AHRS) — user example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 → AP_AHRS::get_location() → Plane::navigate() [ArduPlane/navigation.cpp:86] → ModeAuto::navigate() [ArduPlane/mode_auto.cpp:124]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ModeAuto::navigate() [ArduPlane/mode_auto.cpp:124]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USER-SUPPLIED example (AAP 0.1.3/0.5.4). The literal example named 'ArduPlane::flight_mode_auto()', which does NOT exist in this snapshot; normalized to the real symbols Plane::navigate() and ModeAuto::navigate(). navigate() is gated on have_position (Table 5 #5).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AP_AHRS::groundspeed()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 velocity → NavEKF3 fusion → AP_AHRS::groundspeed() → Rover speed control → SRV_Channels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SRV_Channels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Ground-vehicle speed branch.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AP_AHRS::have_inertial_nav()</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health → AP_AHRS::have_inertial_nav() → Copter::ekf_has_absolute_position → position_ok() → set_mode 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mode transition (allow/deny)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Also observed in Group 2 (Table 5 #7).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566928" y="5483612"/>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9" name="TextBox 8"/>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1–3</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231831"/>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AP_AHRS::get_relative_position_NED_origin()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 AHRS NED dispatch → {AR_PosControl | AP_InertialNav} → actuators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SRV_Channels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Geodetic↔NED transform branch.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AP_AHRS::get_velocity_NED()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 AHRS → Copter::crash_check / controllers → disarm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 / disarm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Velocity consumers.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 AP_InertialSensor, AP_Baro} → NavEKF3::UpdateFilter → AP_AHRS estimate → all consumers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[CIRCULAR] AHRS↔EKF; EKF reads AP_DAL.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 PosVel fusion (Select)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readGpsData buffer → SelectVelPosFusion → FuseVelPosNED → EKF states → 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Core fusion scheduling.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GPS NED innovations → FuseVelPosNED → stateStruct correction → getLLH → AP_AHRS::get_location()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Position/velocity measurement-update.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NavEKF3_core::readGpsData()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AP_GPS::location()/velocity() → readGpsData → storedGPS buffer → SelectVelPosFusion → 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state correction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Explicit GPS→EKF ingestion hop (cf. Table 1a chains).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NavEKF3_core::setAidingMode()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GPS health → setAidingMode → PV_AidingMode → SelectVelPosFusion → EKF states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aiding 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Nav aiding-mode control.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566928" y="5950903"/>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4–10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231831"/>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r">
                        <a:lnSpc>
                          <a:spcPct val="106000"/>
                        </a:lnSpc>
                        <a:spcAft>
                          <a:spcPts val="0"/>
                        </a:spcAft>
                      </a:pPr>
                      <a:r>
                        <a:rPr sz="1100" b="1">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NavEKF3_core::SelectMagFusion()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magnetometer → SelectMagFusion → FuseMagnetometer → yaw state → AP_AHRS heading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Heading component.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NavEKF3_core::SelectTasFusion()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airspeed → SelectTasFusion → FuseAirspeed → wind/vel states → AP_AHRS::wind_estimate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Wind/velocity.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NavEKF3_core::SelectFlowFusion()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optical flow → SelectFlowFusion → FuseOptFlow → vel/pos states → 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GPS-denied aiding.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NavEKF3_core::getLLH()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state → getLLH → NavEKF3::getLLH (frontend) → AP_AHRS::get_location() → nav consumers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 / consumers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EKF position output edge.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15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NavEKF3_core::calcGpsGoodToAlign()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 metrics → calcGpsGoodToAlign → gpsGoodToAlign → setAidingMode → EKF origin set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origin / aiding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GPS quality 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NavEKF3_core::resetGyroBias()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InitialiseFilterBootstrap → resetGyroBias → stateStruct.gyro_bias → state prediction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prediction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Bias init.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17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NavEKF3_core::FuseRngBcn()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AP_Beacon ranges → FuseRngBcn → EKF NED position correction → 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Non-GPS position 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566928" y="5950903"/>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11–17</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054132"/>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r">
                        <a:lnSpc>
                          <a:spcPct val="106000"/>
                        </a:lnSpc>
                        <a:spcAft>
                          <a:spcPts val="0"/>
                        </a:spcAft>
                      </a:pPr>
                      <a:r>
                        <a:rPr sz="1100" b="1">
                          <a:solidFill>
                            <a:srgbClr val="333333"/>
                          </a:solidFill>
                          <a:latin typeface="Fira Code"/>
                        </a:rPr>
                        <a:t>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NavEKF3_core::Log_Write_XKF1()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states → Log_Write_XKF1 → AP_Logger → dataflash/SD log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dataflash log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Logging Sink branch.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NavEKF3::getFilterStatus()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core status bits → NavEKF3::getFilterStatus → AP_AHRS → Copter::position_ok()/ekf_check()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vehicle health logic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Status output feeds 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NavEKF2_core::UpdateFilter()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 INS, Baro} → NavEKF2::UpdateFilter → AP_AHRS (when EKF2 active) → consumers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[CIRCULAR] [DUPLICATED] parallel EKF to EKF3.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NavEKF2_core::FuseVelPosNED()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GPS NED → NavEKF2 FuseVelPosNED → EKF2 states → 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[DUPLICATED] mirrors EKF3 #8.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22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EKFGSF_yaw::update()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 velocity + IMU → EKFGSF_yaw::update → emergency yaw → EKF yaw reset → 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Yaw-recovery branch.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AC_WPNav</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 pos → AC_WPNav target → AC_PosControl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Multirotor waypoint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AP_Mission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mission storage → get_next_nav_cmd → mode_auto → AC_WPNav → controllers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Mission sequencing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566928" y="5773204"/>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18–24</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2a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444983"/>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r">
                        <a:lnSpc>
                          <a:spcPct val="106000"/>
                        </a:lnSpc>
                        <a:spcAft>
                          <a:spcPts val="0"/>
                        </a:spcAft>
                      </a:pPr>
                      <a:r>
                        <a:rPr sz="1100" b="1">
                          <a:solidFill>
                            <a:srgbClr val="333333"/>
                          </a:solidFill>
                          <a:latin typeface="Fira Code"/>
                        </a:rPr>
                        <a:t>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AP_L1_Control::update_waypoint()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 pos → L1 guidance → nav_roll_cd() → Plane::calc_nav_roll → SRV_Channels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SRV_Channels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Fixed-wing lateral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AP_L1_Control::nav_roll_cd()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L1 latAccDem → nav_roll_cd() → Plane::calc_nav_roll → SRV_Channels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SRV_Channels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Roll-demand branch.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27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AP_TECS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airspeed/alt demand → TECS update_pitch_throttle → pitch/throttle → SRV_Channels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SRV_Channels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Energy/altitude branch.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AC_AttitudeControl (Sink)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 demand → input_euler_* → attitude_controller_run_quat → rate_controller_run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Inbound chain to attitude Sink.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566928" y="4164055"/>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25–28</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0"/>
            <a:ext cx="11058144" cy="1188720"/>
          </a:xfrm>
          <a:prstGeom prst="rect">
            <a:avLst/>
          </a:prstGeom>
          <a:noFill/>
        </p:spPr>
        <p:txBody>
          <a:bodyPr wrap="square" lIns="0" rIns="0" tIns="0" bIns="0" anchor="t">
            <a:noAutofit/>
          </a:bodyPr>
          <a:lstStyle/>
          <a:p>
            <a:pPr algn="ctr">
              <a:lnSpc>
                <a:spcPct val="110000"/>
              </a:lnSpc>
              <a:spcAft>
                <a:spcPts val="0"/>
              </a:spcAft>
            </a:pPr>
            <a:r>
              <a:rPr sz="3800" b="1">
                <a:solidFill>
                  <a:srgbClr val="FFFFFF"/>
                </a:solidFill>
                <a:latin typeface="Space Grotesk"/>
              </a:rPr>
              <a:t>Table 3 — Core Timing</a:t>
            </a:r>
          </a:p>
        </p:txBody>
      </p:sp>
      <p:sp>
        <p:nvSpPr>
          <p:cNvPr id="3" name="TextBox 2"/>
          <p:cNvSpPr txBox="1"/>
          <p:nvPr/>
        </p:nvSpPr>
        <p:spPr>
          <a:xfrm>
            <a:off x="566928" y="3840480"/>
            <a:ext cx="11058144" cy="365760"/>
          </a:xfrm>
          <a:prstGeom prst="rect">
            <a:avLst/>
          </a:prstGeom>
          <a:noFill/>
        </p:spPr>
        <p:txBody>
          <a:bodyPr wrap="square" lIns="0" rIns="0" tIns="0" bIns="0" anchor="t">
            <a:noAutofit/>
          </a:bodyPr>
          <a:lstStyle/>
          <a:p>
            <a:pPr algn="ctr">
              <a:lnSpc>
                <a:spcPct val="100000"/>
              </a:lnSpc>
              <a:spcAft>
                <a:spcPts val="0"/>
              </a:spcAft>
            </a:pPr>
            <a:r>
              <a:rPr sz="1300" b="0">
                <a:solidFill>
                  <a:srgbClr val="94FAD5"/>
                </a:solidFill>
                <a:latin typeface="Fira Code"/>
              </a:rPr>
              <a:t>The monotonic clock, the real-time clock and the scheduler cadence every PNT task is stamped against.</a:t>
            </a:r>
          </a:p>
        </p:txBody>
      </p:sp>
      <p:sp>
        <p:nvSpPr>
          <p:cNvPr id="4" name="Rectangle 3"/>
          <p:cNvSpPr/>
          <p:nvPr/>
        </p:nvSpPr>
        <p:spPr>
          <a:xfrm>
            <a:off x="4724400" y="4389120"/>
            <a:ext cx="2743200" cy="91440"/>
          </a:xfrm>
          <a:prstGeom prst="rect">
            <a:avLst/>
          </a:prstGeom>
          <a:gradFill rotWithShape="1">
            <a:gsLst>
              <a:gs pos="0">
                <a:srgbClr val="5B39F3"/>
              </a:gs>
              <a:gs pos="100000">
                <a:srgbClr val="94FAD5"/>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CORE TIMING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 — Core Timing</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All 9 catalogued rows, with every Notes annotation, flag token and cited path:line range exactly as printed.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4054133"/>
        </p:xfrm>
        <a:graphic>
          <a:graphicData uri="http://schemas.openxmlformats.org/drawingml/2006/table">
            <a:tbl>
              <a:tblPr>
                <a:tableStyleId>{5C22544A-7EE6-4342-B048-85BDC9FD1C3A}</a:tableStyleId>
              </a:tblPr>
              <a:tblGrid>
                <a:gridCol w="411253"/>
                <a:gridCol w="2330435"/>
                <a:gridCol w="685422"/>
                <a:gridCol w="1964876"/>
                <a:gridCol w="868201"/>
                <a:gridCol w="479795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Role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libraries/AP_HAL/system.h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15-20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AP_HAL::micros()/millis()/micros64()/millis64()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Monotonic time backbone (user-cited micros()/millis()). Free functions in the AP_HAL namespace backed by the board RTOS timer; the time primitive every PNT subsystem stamps against.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libraries/AP_RTC/AP_RTC.h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32-40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AP_RTC::get_utc_usec()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UTC wall-clock time in microseconds (returns false if unavailable). The absolute-time API consumed for logging and GPS-time conversion.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libraries/AP_RTC/AP_RTC.cpp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56-65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AP_RTC::set_utc_usec()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Time-SOURCE ARBITRATION: accepts a new UTC time only if its source_type out-ranks the current rtc_source_type (GPS &gt; GCS &gt; HW). Selects the best clock 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libraries/AP_RTC/JitterCorrection.cpp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50-58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JitterCorrection::correct_offboard_timestamp_usec()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Time synchronization: maps an offboard (remote-system) timestamp onto the local clock by tracking the minimum observed link offset — rejects 'from the future' samples.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libraries/AP_Scheduler/AP_Scheduler.cpp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354-363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AP_Scheduler::loop()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Main-loop timing core: stamps each loop with AP_HAL::micros64() and derives the measured loop time. Drives the cadence of every periodic PNT task (EKF predict/fuse, AHRS, control).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libraries/AP_Scheduler/AP_Scheduler.cpp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168-176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AP_Scheduler::tick()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Increments the loop tick counters (_tick_counter / _tick_counter32) that index task scheduling intervals.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libraries/AP_Scheduler/AP_Scheduler.h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149-155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AP_Scheduler::get_loop_period_us()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Loop-rate→period derivation: _loop_period_us = 1000000UL / _loop_rate_hz. Couples the configured loop rate to the per-loop time budget and to controller/EKF dt.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1–7</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CORE TIMING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 — Core Timing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142244"/>
        </p:xfrm>
        <a:graphic>
          <a:graphicData uri="http://schemas.openxmlformats.org/drawingml/2006/table">
            <a:tbl>
              <a:tblPr>
                <a:tableStyleId>{5C22544A-7EE6-4342-B048-85BDC9FD1C3A}</a:tableStyleId>
              </a:tblPr>
              <a:tblGrid>
                <a:gridCol w="411253"/>
                <a:gridCol w="2330435"/>
                <a:gridCol w="685422"/>
                <a:gridCol w="1964876"/>
                <a:gridCol w="868201"/>
                <a:gridCol w="479795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File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Role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libraries/AP_GPS/AP_GPS.h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409-418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AP_GPS::time_week_ms()/time_week()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[MULTI-CATEGORY] GPS time-of-week (ms-of-week + week number) — the TIMING facet of the GPS_State that also carries Positioning (Table 1 #4/#17). Emitted separately here per the multi-category rule.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306409">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libraries/AP_HAL/Scheduler.h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13-21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AP_HAL::Scheduler::delay()/delay_microseconds()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Abstract HAL timing-service interface (pure virtual; implemented by the board backend — ChibiOS / Linux / SITL). Supplies the time-blocking primitives delay() / delay_microseconds() and the periodic-task registration register_timer_process() / register_io_process() (lines 60-64) on which the main loop is built. Distinct from the AP_Scheduler library (#5-#7) and the AP_HAL::micros()/millis() clock primitives in system.h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8–9</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 — Code Snippet (5-10 lines)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903541"/>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Every row’s Code Snippet (5-10 lines), reproduced verbatim from the cited path:line range: one paragraph per source line, in the audit’s own order, with its indentation and its blank lines intact and nothing abbreviated.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549461"/>
          <a:ext cx="11058144" cy="3392280"/>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309483">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libraries/AP_HAL/system.h</a:t>
                      </a:r>
                      <a:r>
                        <a:rPr sz="1100" b="0">
                          <a:solidFill>
                            <a:srgbClr val="999999"/>
                          </a:solidFill>
                          <a:latin typeface="Fira Code"/>
                        </a:rPr>
                        <a:t>  ·  </a:t>
                      </a:r>
                      <a:r>
                        <a:rPr sz="1100" b="0">
                          <a:solidFill>
                            <a:srgbClr val="999999"/>
                          </a:solidFill>
                          <a:latin typeface="Fira Code"/>
                        </a:rPr>
                        <a:t>15-20</a:t>
                      </a:r>
                      <a:r>
                        <a:rPr sz="1100" b="0">
                          <a:solidFill>
                            <a:srgbClr val="999999"/>
                          </a:solidFill>
                          <a:latin typeface="Fira Code"/>
                        </a:rPr>
                        <a:t>  ·  </a:t>
                      </a:r>
                      <a:r>
                        <a:rPr sz="1100" b="0">
                          <a:solidFill>
                            <a:srgbClr val="999999"/>
                          </a:solidFill>
                          <a:latin typeface="Fira Code"/>
                        </a:rPr>
                        <a:t>AP_HAL::micros()/millis()/micros64()/millis64()</a:t>
                      </a:r>
                    </a:p>
                    <a:p>
                      <a:pPr algn="l">
                        <a:lnSpc>
                          <a:spcPct val="106000"/>
                        </a:lnSpc>
                        <a:spcAft>
                          <a:spcPts val="0"/>
                        </a:spcAft>
                      </a:pPr>
                      <a:r>
                        <a:rPr sz="1100" b="0">
                          <a:solidFill>
                            <a:srgbClr val="333333"/>
                          </a:solidFill>
                          <a:latin typeface="Fira Code"/>
                        </a:rPr>
                        <a:t>uint16_t micros16();</a:t>
                      </a:r>
                    </a:p>
                    <a:p>
                      <a:pPr algn="l">
                        <a:lnSpc>
                          <a:spcPct val="106000"/>
                        </a:lnSpc>
                        <a:spcAft>
                          <a:spcPts val="0"/>
                        </a:spcAft>
                      </a:pPr>
                      <a:r>
                        <a:rPr sz="1100" b="0">
                          <a:solidFill>
                            <a:srgbClr val="333333"/>
                          </a:solidFill>
                          <a:latin typeface="Fira Code"/>
                        </a:rPr>
                        <a:t>uint32_t micros();</a:t>
                      </a:r>
                    </a:p>
                    <a:p>
                      <a:pPr algn="l">
                        <a:lnSpc>
                          <a:spcPct val="106000"/>
                        </a:lnSpc>
                        <a:spcAft>
                          <a:spcPts val="0"/>
                        </a:spcAft>
                      </a:pPr>
                      <a:r>
                        <a:rPr sz="1100" b="0">
                          <a:solidFill>
                            <a:srgbClr val="333333"/>
                          </a:solidFill>
                          <a:latin typeface="Fira Code"/>
                        </a:rPr>
                        <a:t>uint32_t millis();</a:t>
                      </a:r>
                    </a:p>
                    <a:p>
                      <a:pPr algn="l">
                        <a:lnSpc>
                          <a:spcPct val="106000"/>
                        </a:lnSpc>
                        <a:spcAft>
                          <a:spcPts val="0"/>
                        </a:spcAft>
                      </a:pPr>
                      <a:r>
                        <a:rPr sz="1100" b="0">
                          <a:solidFill>
                            <a:srgbClr val="333333"/>
                          </a:solidFill>
                          <a:latin typeface="Fira Code"/>
                        </a:rPr>
                        <a:t>uint16_t millis16();</a:t>
                      </a:r>
                    </a:p>
                    <a:p>
                      <a:pPr algn="l">
                        <a:lnSpc>
                          <a:spcPct val="106000"/>
                        </a:lnSpc>
                        <a:spcAft>
                          <a:spcPts val="0"/>
                        </a:spcAft>
                      </a:pPr>
                      <a:r>
                        <a:rPr sz="1100" b="0">
                          <a:solidFill>
                            <a:srgbClr val="333333"/>
                          </a:solidFill>
                          <a:latin typeface="Fira Code"/>
                        </a:rPr>
                        <a:t>uint64_t micros64();</a:t>
                      </a:r>
                    </a:p>
                    <a:p>
                      <a:pPr algn="l">
                        <a:lnSpc>
                          <a:spcPct val="106000"/>
                        </a:lnSpc>
                        <a:spcAft>
                          <a:spcPts val="0"/>
                        </a:spcAft>
                      </a:pPr>
                      <a:r>
                        <a:rPr sz="1100" b="0">
                          <a:solidFill>
                            <a:srgbClr val="333333"/>
                          </a:solidFill>
                          <a:latin typeface="Fira Code"/>
                        </a:rPr>
                        <a:t>uint64_t millis64();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libraries/AP_RTC/AP_RTC.h</a:t>
                      </a:r>
                      <a:r>
                        <a:rPr sz="1100" b="0">
                          <a:solidFill>
                            <a:srgbClr val="999999"/>
                          </a:solidFill>
                          <a:latin typeface="Fira Code"/>
                        </a:rPr>
                        <a:t>  ·  </a:t>
                      </a:r>
                      <a:r>
                        <a:rPr sz="1100" b="0">
                          <a:solidFill>
                            <a:srgbClr val="999999"/>
                          </a:solidFill>
                          <a:latin typeface="Fira Code"/>
                        </a:rPr>
                        <a:t>32-40</a:t>
                      </a:r>
                      <a:r>
                        <a:rPr sz="1100" b="0">
                          <a:solidFill>
                            <a:srgbClr val="999999"/>
                          </a:solidFill>
                          <a:latin typeface="Fira Code"/>
                        </a:rPr>
                        <a:t>  ·  </a:t>
                      </a:r>
                      <a:r>
                        <a:rPr sz="1100" b="0">
                          <a:solidFill>
                            <a:srgbClr val="999999"/>
                          </a:solidFill>
                          <a:latin typeface="Fira Code"/>
                        </a:rPr>
                        <a:t>AP_RTC::get_utc_usec()</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get clock in UTC microseconds.  Returns false if it is not available.</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bool get_utc_usec(uint64_t &amp;usec) const;</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set the system time.  If the time has already been set by</a:t>
                      </a:r>
                    </a:p>
                    <a:p>
                      <a:pPr algn="l">
                        <a:lnSpc>
                          <a:spcPct val="106000"/>
                        </a:lnSpc>
                        <a:spcAft>
                          <a:spcPts val="0"/>
                        </a:spcAft>
                      </a:pPr>
                      <a:r>
                        <a:rPr sz="1100" b="0">
                          <a:solidFill>
                            <a:srgbClr val="333333"/>
                          </a:solidFill>
                          <a:latin typeface="Fira Code"/>
                        </a:rPr>
                        <a:t>    // something better (according to source_type), this set will be</a:t>
                      </a:r>
                    </a:p>
                    <a:p>
                      <a:pPr algn="l">
                        <a:lnSpc>
                          <a:spcPct val="106000"/>
                        </a:lnSpc>
                        <a:spcAft>
                          <a:spcPts val="0"/>
                        </a:spcAft>
                      </a:pPr>
                      <a:r>
                        <a:rPr sz="1100" b="0">
                          <a:solidFill>
                            <a:srgbClr val="333333"/>
                          </a:solidFill>
                          <a:latin typeface="Fira Code"/>
                        </a:rPr>
                        <a:t>    // ignored.</a:t>
                      </a:r>
                    </a:p>
                    <a:p>
                      <a:pPr algn="l">
                        <a:lnSpc>
                          <a:spcPct val="106000"/>
                        </a:lnSpc>
                        <a:spcAft>
                          <a:spcPts val="0"/>
                        </a:spcAft>
                      </a:pPr>
                      <a:r>
                        <a:rPr sz="1100" b="0">
                          <a:solidFill>
                            <a:srgbClr val="333333"/>
                          </a:solidFill>
                          <a:latin typeface="Fira Code"/>
                        </a:rPr>
                        <a:t>    void set_utc_usec(uint64_t time_utc_usec, source_type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1–2</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103073"/>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020276">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libraries/AP_RTC/AP_RTC.cpp</a:t>
                      </a:r>
                      <a:r>
                        <a:rPr sz="1100" b="0">
                          <a:solidFill>
                            <a:srgbClr val="999999"/>
                          </a:solidFill>
                          <a:latin typeface="Fira Code"/>
                        </a:rPr>
                        <a:t>  ·  </a:t>
                      </a:r>
                      <a:r>
                        <a:rPr sz="1100" b="0">
                          <a:solidFill>
                            <a:srgbClr val="999999"/>
                          </a:solidFill>
                          <a:latin typeface="Fira Code"/>
                        </a:rPr>
                        <a:t>56-65</a:t>
                      </a:r>
                      <a:r>
                        <a:rPr sz="1100" b="0">
                          <a:solidFill>
                            <a:srgbClr val="999999"/>
                          </a:solidFill>
                          <a:latin typeface="Fira Code"/>
                        </a:rPr>
                        <a:t>  ·  </a:t>
                      </a:r>
                      <a:r>
                        <a:rPr sz="1100" b="0">
                          <a:solidFill>
                            <a:srgbClr val="999999"/>
                          </a:solidFill>
                          <a:latin typeface="Fira Code"/>
                        </a:rPr>
                        <a:t>AP_RTC::set_utc_usec()</a:t>
                      </a:r>
                    </a:p>
                    <a:p>
                      <a:pPr algn="l">
                        <a:lnSpc>
                          <a:spcPct val="106000"/>
                        </a:lnSpc>
                        <a:spcAft>
                          <a:spcPts val="0"/>
                        </a:spcAft>
                      </a:pPr>
                      <a:r>
                        <a:rPr sz="1100" b="0">
                          <a:solidFill>
                            <a:srgbClr val="333333"/>
                          </a:solidFill>
                          <a:latin typeface="Fira Code"/>
                        </a:rPr>
                        <a:t>    // only allow time to be moved forward from the same sourcetype</a:t>
                      </a:r>
                    </a:p>
                    <a:p>
                      <a:pPr algn="l">
                        <a:lnSpc>
                          <a:spcPct val="106000"/>
                        </a:lnSpc>
                        <a:spcAft>
                          <a:spcPts val="0"/>
                        </a:spcAft>
                      </a:pPr>
                      <a:r>
                        <a:rPr sz="1100" b="0">
                          <a:solidFill>
                            <a:srgbClr val="333333"/>
                          </a:solidFill>
                          <a:latin typeface="Fira Code"/>
                        </a:rPr>
                        <a:t>    // while the vehicle is disarmed:</a:t>
                      </a:r>
                    </a:p>
                    <a:p>
                      <a:pPr algn="l">
                        <a:lnSpc>
                          <a:spcPct val="106000"/>
                        </a:lnSpc>
                        <a:spcAft>
                          <a:spcPts val="0"/>
                        </a:spcAft>
                      </a:pPr>
                      <a:r>
                        <a:rPr sz="1100" b="0">
                          <a:solidFill>
                            <a:srgbClr val="333333"/>
                          </a:solidFill>
                          <a:latin typeface="Fira Code"/>
                        </a:rPr>
                        <a:t>    if (hal.util-&gt;get_soft_armed()) {</a:t>
                      </a:r>
                    </a:p>
                    <a:p>
                      <a:pPr algn="l">
                        <a:lnSpc>
                          <a:spcPct val="106000"/>
                        </a:lnSpc>
                        <a:spcAft>
                          <a:spcPts val="0"/>
                        </a:spcAft>
                      </a:pPr>
                      <a:r>
                        <a:rPr sz="1100" b="0">
                          <a:solidFill>
                            <a:srgbClr val="333333"/>
                          </a:solidFill>
                          <a:latin typeface="Fira Code"/>
                        </a:rPr>
                        <a:t>        if (type &gt;= rtc_source_type) {</a:t>
                      </a:r>
                    </a:p>
                    <a:p>
                      <a:pPr algn="l">
                        <a:lnSpc>
                          <a:spcPct val="106000"/>
                        </a:lnSpc>
                        <a:spcAft>
                          <a:spcPts val="0"/>
                        </a:spcAft>
                      </a:pPr>
                      <a:r>
                        <a:rPr sz="1100" b="0">
                          <a:solidFill>
                            <a:srgbClr val="333333"/>
                          </a:solidFill>
                          <a:latin typeface="Fira Code"/>
                        </a:rPr>
                        <a:t>            // e.g. system-time message when we've been set by the GPS</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 else {</a:t>
                      </a:r>
                    </a:p>
                    <a:p>
                      <a:pPr algn="l">
                        <a:lnSpc>
                          <a:spcPct val="106000"/>
                        </a:lnSpc>
                        <a:spcAft>
                          <a:spcPts val="0"/>
                        </a:spcAft>
                      </a:pPr>
                      <a:r>
                        <a:rPr sz="1100" b="0">
                          <a:solidFill>
                            <a:srgbClr val="333333"/>
                          </a:solidFill>
                          <a:latin typeface="Fira Code"/>
                        </a:rPr>
                        <a:t>        // vehicle is disarmed; accept (e.g.) GPS time source updates</a:t>
                      </a:r>
                    </a:p>
                    <a:p>
                      <a:pPr algn="l">
                        <a:lnSpc>
                          <a:spcPct val="106000"/>
                        </a:lnSpc>
                        <a:spcAft>
                          <a:spcPts val="0"/>
                        </a:spcAft>
                      </a:pPr>
                      <a:r>
                        <a:rPr sz="1100" b="0">
                          <a:solidFill>
                            <a:srgbClr val="333333"/>
                          </a:solidFill>
                          <a:latin typeface="Fira Code"/>
                        </a:rPr>
                        <a:t>        if (type &gt; rtc_source_type)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libraries/AP_RTC/JitterCorrection.cpp</a:t>
                      </a:r>
                      <a:r>
                        <a:rPr sz="1100" b="0">
                          <a:solidFill>
                            <a:srgbClr val="999999"/>
                          </a:solidFill>
                          <a:latin typeface="Fira Code"/>
                        </a:rPr>
                        <a:t>  ·  </a:t>
                      </a:r>
                      <a:r>
                        <a:rPr sz="1100" b="0">
                          <a:solidFill>
                            <a:srgbClr val="999999"/>
                          </a:solidFill>
                          <a:latin typeface="Fira Code"/>
                        </a:rPr>
                        <a:t>50-58</a:t>
                      </a:r>
                      <a:r>
                        <a:rPr sz="1100" b="0">
                          <a:solidFill>
                            <a:srgbClr val="999999"/>
                          </a:solidFill>
                          <a:latin typeface="Fira Code"/>
                        </a:rPr>
                        <a:t>  ·  </a:t>
                      </a:r>
                      <a:r>
                        <a:rPr sz="1100" b="0">
                          <a:solidFill>
                            <a:srgbClr val="999999"/>
                          </a:solidFill>
                          <a:latin typeface="Fira Code"/>
                        </a:rPr>
                        <a:t>JitterCorrection::correct_offboard_timestamp_usec()</a:t>
                      </a:r>
                    </a:p>
                    <a:p>
                      <a:pPr algn="l">
                        <a:lnSpc>
                          <a:spcPct val="106000"/>
                        </a:lnSpc>
                        <a:spcAft>
                          <a:spcPts val="0"/>
                        </a:spcAft>
                      </a:pPr>
                      <a:r>
                        <a:rPr sz="1100" b="0">
                          <a:solidFill>
                            <a:srgbClr val="333333"/>
                          </a:solidFill>
                          <a:latin typeface="Fira Code"/>
                        </a:rPr>
                        <a:t>uint64_t JitterCorrection::correct_offboard_timestamp_usec(uint64_t offboard_usec, uint64_t local_usec)</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int64_t diff_us = int64_t(local_usec) - int64_t(offboard_usec);</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if (!initialised ||</a:t>
                      </a:r>
                    </a:p>
                    <a:p>
                      <a:pPr algn="l">
                        <a:lnSpc>
                          <a:spcPct val="106000"/>
                        </a:lnSpc>
                        <a:spcAft>
                          <a:spcPts val="0"/>
                        </a:spcAft>
                      </a:pPr>
                      <a:r>
                        <a:rPr sz="1100" b="0">
                          <a:solidFill>
                            <a:srgbClr val="333333"/>
                          </a:solidFill>
                          <a:latin typeface="Fira Code"/>
                        </a:rPr>
                        <a:t>        diff_us &lt; link_offset_usec) {</a:t>
                      </a:r>
                    </a:p>
                    <a:p>
                      <a:pPr algn="l">
                        <a:lnSpc>
                          <a:spcPct val="106000"/>
                        </a:lnSpc>
                        <a:spcAft>
                          <a:spcPts val="0"/>
                        </a:spcAft>
                      </a:pPr>
                      <a:r>
                        <a:rPr sz="1100" b="0">
                          <a:solidFill>
                            <a:srgbClr val="333333"/>
                          </a:solidFill>
                          <a:latin typeface="Fira Code"/>
                        </a:rPr>
                        <a:t>        // this message arrived from the remote system with a</a:t>
                      </a:r>
                    </a:p>
                    <a:p>
                      <a:pPr algn="l">
                        <a:lnSpc>
                          <a:spcPct val="106000"/>
                        </a:lnSpc>
                        <a:spcAft>
                          <a:spcPts val="0"/>
                        </a:spcAft>
                      </a:pPr>
                      <a:r>
                        <a:rPr sz="1100" b="0">
                          <a:solidFill>
                            <a:srgbClr val="333333"/>
                          </a:solidFill>
                          <a:latin typeface="Fira Code"/>
                        </a:rPr>
                        <a:t>        // timestamp that would imply the message was from the</a:t>
                      </a:r>
                    </a:p>
                    <a:p>
                      <a:pPr algn="l">
                        <a:lnSpc>
                          <a:spcPct val="106000"/>
                        </a:lnSpc>
                        <a:spcAft>
                          <a:spcPts val="0"/>
                        </a:spcAft>
                      </a:pPr>
                      <a:r>
                        <a:rPr sz="1100" b="0">
                          <a:solidFill>
                            <a:srgbClr val="333333"/>
                          </a:solidFill>
                          <a:latin typeface="Fira Code"/>
                        </a:rPr>
                        <a:t>        // future. We know that isn't possible, so we adjust down the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3–4</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103073"/>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020276">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libraries/AP_Scheduler/AP_Scheduler.cpp</a:t>
                      </a:r>
                      <a:r>
                        <a:rPr sz="1100" b="0">
                          <a:solidFill>
                            <a:srgbClr val="999999"/>
                          </a:solidFill>
                          <a:latin typeface="Fira Code"/>
                        </a:rPr>
                        <a:t>  ·  </a:t>
                      </a:r>
                      <a:r>
                        <a:rPr sz="1100" b="0">
                          <a:solidFill>
                            <a:srgbClr val="999999"/>
                          </a:solidFill>
                          <a:latin typeface="Fira Code"/>
                        </a:rPr>
                        <a:t>354-363</a:t>
                      </a:r>
                      <a:r>
                        <a:rPr sz="1100" b="0">
                          <a:solidFill>
                            <a:srgbClr val="999999"/>
                          </a:solidFill>
                          <a:latin typeface="Fira Code"/>
                        </a:rPr>
                        <a:t>  ·  </a:t>
                      </a:r>
                      <a:r>
                        <a:rPr sz="1100" b="0">
                          <a:solidFill>
                            <a:srgbClr val="999999"/>
                          </a:solidFill>
                          <a:latin typeface="Fira Code"/>
                        </a:rPr>
                        <a:t>AP_Scheduler::loop()</a:t>
                      </a:r>
                    </a:p>
                    <a:p>
                      <a:pPr algn="l">
                        <a:lnSpc>
                          <a:spcPct val="106000"/>
                        </a:lnSpc>
                        <a:spcAft>
                          <a:spcPts val="0"/>
                        </a:spcAft>
                      </a:pPr>
                      <a:r>
                        <a:rPr sz="1100" b="0">
                          <a:solidFill>
                            <a:srgbClr val="333333"/>
                          </a:solidFill>
                          <a:latin typeface="Fira Code"/>
                        </a:rPr>
                        <a:t>    hal.util-&gt;persistent_data.scheduler_task = -1;</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_loop_sample_time_us = AP_HAL::micros64();</a:t>
                      </a:r>
                    </a:p>
                    <a:p>
                      <a:pPr algn="l">
                        <a:lnSpc>
                          <a:spcPct val="106000"/>
                        </a:lnSpc>
                        <a:spcAft>
                          <a:spcPts val="0"/>
                        </a:spcAft>
                      </a:pPr>
                      <a:r>
                        <a:rPr sz="1100" b="0">
                          <a:solidFill>
                            <a:srgbClr val="333333"/>
                          </a:solidFill>
                          <a:latin typeface="Fira Code"/>
                        </a:rPr>
                        <a:t>    const uint32_t sample_time_us = uint32_t(_loop_sample_time_us);</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if (_loop_timer_start_us == 0) {</a:t>
                      </a:r>
                    </a:p>
                    <a:p>
                      <a:pPr algn="l">
                        <a:lnSpc>
                          <a:spcPct val="106000"/>
                        </a:lnSpc>
                        <a:spcAft>
                          <a:spcPts val="0"/>
                        </a:spcAft>
                      </a:pPr>
                      <a:r>
                        <a:rPr sz="1100" b="0">
                          <a:solidFill>
                            <a:srgbClr val="333333"/>
                          </a:solidFill>
                          <a:latin typeface="Fira Code"/>
                        </a:rPr>
                        <a:t>        _loop_timer_start_us = sample_time_us;</a:t>
                      </a:r>
                    </a:p>
                    <a:p>
                      <a:pPr algn="l">
                        <a:lnSpc>
                          <a:spcPct val="106000"/>
                        </a:lnSpc>
                        <a:spcAft>
                          <a:spcPts val="0"/>
                        </a:spcAft>
                      </a:pPr>
                      <a:r>
                        <a:rPr sz="1100" b="0">
                          <a:solidFill>
                            <a:srgbClr val="333333"/>
                          </a:solidFill>
                          <a:latin typeface="Fira Code"/>
                        </a:rPr>
                        <a:t>        _last_loop_time_s = get_loop_period_s();</a:t>
                      </a:r>
                    </a:p>
                    <a:p>
                      <a:pPr algn="l">
                        <a:lnSpc>
                          <a:spcPct val="106000"/>
                        </a:lnSpc>
                        <a:spcAft>
                          <a:spcPts val="0"/>
                        </a:spcAft>
                      </a:pPr>
                      <a:r>
                        <a:rPr sz="1100" b="0">
                          <a:solidFill>
                            <a:srgbClr val="333333"/>
                          </a:solidFill>
                          <a:latin typeface="Fira Code"/>
                        </a:rPr>
                        <a:t>    } else {</a:t>
                      </a:r>
                    </a:p>
                    <a:p>
                      <a:pPr algn="l">
                        <a:lnSpc>
                          <a:spcPct val="106000"/>
                        </a:lnSpc>
                        <a:spcAft>
                          <a:spcPts val="0"/>
                        </a:spcAft>
                      </a:pPr>
                      <a:r>
                        <a:rPr sz="1100" b="0">
                          <a:solidFill>
                            <a:srgbClr val="333333"/>
                          </a:solidFill>
                          <a:latin typeface="Fira Code"/>
                        </a:rPr>
                        <a:t>        _last_loop_time_s = (sample_time_us - _loop_timer_start_us) * 1.0e-6;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libraries/AP_Scheduler/AP_Scheduler.cpp</a:t>
                      </a:r>
                      <a:r>
                        <a:rPr sz="1100" b="0">
                          <a:solidFill>
                            <a:srgbClr val="999999"/>
                          </a:solidFill>
                          <a:latin typeface="Fira Code"/>
                        </a:rPr>
                        <a:t>  ·  </a:t>
                      </a:r>
                      <a:r>
                        <a:rPr sz="1100" b="0">
                          <a:solidFill>
                            <a:srgbClr val="999999"/>
                          </a:solidFill>
                          <a:latin typeface="Fira Code"/>
                        </a:rPr>
                        <a:t>168-176</a:t>
                      </a:r>
                      <a:r>
                        <a:rPr sz="1100" b="0">
                          <a:solidFill>
                            <a:srgbClr val="999999"/>
                          </a:solidFill>
                          <a:latin typeface="Fira Code"/>
                        </a:rPr>
                        <a:t>  ·  </a:t>
                      </a:r>
                      <a:r>
                        <a:rPr sz="1100" b="0">
                          <a:solidFill>
                            <a:srgbClr val="999999"/>
                          </a:solidFill>
                          <a:latin typeface="Fira Code"/>
                        </a:rPr>
                        <a:t>AP_Scheduler::tick()</a:t>
                      </a:r>
                    </a:p>
                    <a:p>
                      <a:pPr algn="l">
                        <a:lnSpc>
                          <a:spcPct val="106000"/>
                        </a:lnSpc>
                        <a:spcAft>
                          <a:spcPts val="0"/>
                        </a:spcAft>
                      </a:pPr>
                      <a:r>
                        <a:rPr sz="1100" b="0">
                          <a:solidFill>
                            <a:srgbClr val="333333"/>
                          </a:solidFill>
                          <a:latin typeface="Fira Code"/>
                        </a:rPr>
                        <a:t>void AP_Scheduler::tick(void)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_tick_counter++;</a:t>
                      </a:r>
                    </a:p>
                    <a:p>
                      <a:pPr algn="l">
                        <a:lnSpc>
                          <a:spcPct val="106000"/>
                        </a:lnSpc>
                        <a:spcAft>
                          <a:spcPts val="0"/>
                        </a:spcAft>
                      </a:pPr>
                      <a:r>
                        <a:rPr sz="1100" b="0">
                          <a:solidFill>
                            <a:srgbClr val="333333"/>
                          </a:solidFill>
                          <a:latin typeface="Fira Code"/>
                        </a:rPr>
                        <a:t>    _tick_counter32++;</a:t>
                      </a:r>
                    </a:p>
                    <a:p>
                      <a:pPr algn="l">
                        <a:lnSpc>
                          <a:spcPct val="106000"/>
                        </a:lnSpc>
                        <a:spcAft>
                          <a:spcPts val="0"/>
                        </a:spcAft>
                      </a:pPr>
                      <a:r>
                        <a:rPr sz="1100" b="0">
                          <a:solidFill>
                            <a:srgbClr val="333333"/>
                          </a:solidFill>
                          <a:latin typeface="Fira Code"/>
                        </a:rPr>
                        <a:t>}</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#if CONFIG_HAL_BOARD == HAL_BOARD_SITL</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fill stack with NaN so we can catch use of uninitialised stack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5–6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4767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7181">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libraries/AP_Scheduler/AP_Scheduler.h</a:t>
                      </a:r>
                      <a:r>
                        <a:rPr sz="1100" b="0">
                          <a:solidFill>
                            <a:srgbClr val="999999"/>
                          </a:solidFill>
                          <a:latin typeface="Fira Code"/>
                        </a:rPr>
                        <a:t>  ·  </a:t>
                      </a:r>
                      <a:r>
                        <a:rPr sz="1100" b="0">
                          <a:solidFill>
                            <a:srgbClr val="999999"/>
                          </a:solidFill>
                          <a:latin typeface="Fira Code"/>
                        </a:rPr>
                        <a:t>149-155</a:t>
                      </a:r>
                      <a:r>
                        <a:rPr sz="1100" b="0">
                          <a:solidFill>
                            <a:srgbClr val="999999"/>
                          </a:solidFill>
                          <a:latin typeface="Fira Code"/>
                        </a:rPr>
                        <a:t>  ·  </a:t>
                      </a:r>
                      <a:r>
                        <a:rPr sz="1100" b="0">
                          <a:solidFill>
                            <a:srgbClr val="999999"/>
                          </a:solidFill>
                          <a:latin typeface="Fira Code"/>
                        </a:rPr>
                        <a:t>AP_Scheduler::get_loop_period_us()</a:t>
                      </a:r>
                    </a:p>
                    <a:p>
                      <a:pPr algn="l">
                        <a:lnSpc>
                          <a:spcPct val="106000"/>
                        </a:lnSpc>
                        <a:spcAft>
                          <a:spcPts val="0"/>
                        </a:spcAft>
                      </a:pPr>
                      <a:r>
                        <a:rPr sz="1100" b="0">
                          <a:solidFill>
                            <a:srgbClr val="333333"/>
                          </a:solidFill>
                          <a:latin typeface="Fira Code"/>
                        </a:rPr>
                        <a:t>    // get the time-allowed-per-loop in microseconds</a:t>
                      </a:r>
                    </a:p>
                    <a:p>
                      <a:pPr algn="l">
                        <a:lnSpc>
                          <a:spcPct val="106000"/>
                        </a:lnSpc>
                        <a:spcAft>
                          <a:spcPts val="0"/>
                        </a:spcAft>
                      </a:pPr>
                      <a:r>
                        <a:rPr sz="1100" b="0">
                          <a:solidFill>
                            <a:srgbClr val="333333"/>
                          </a:solidFill>
                          <a:latin typeface="Fira Code"/>
                        </a:rPr>
                        <a:t>    uint32_t get_loop_period_us() {</a:t>
                      </a:r>
                    </a:p>
                    <a:p>
                      <a:pPr algn="l">
                        <a:lnSpc>
                          <a:spcPct val="106000"/>
                        </a:lnSpc>
                        <a:spcAft>
                          <a:spcPts val="0"/>
                        </a:spcAft>
                      </a:pPr>
                      <a:r>
                        <a:rPr sz="1100" b="0">
                          <a:solidFill>
                            <a:srgbClr val="333333"/>
                          </a:solidFill>
                          <a:latin typeface="Fira Code"/>
                        </a:rPr>
                        <a:t>        if (_loop_period_us == 0) {</a:t>
                      </a:r>
                    </a:p>
                    <a:p>
                      <a:pPr algn="l">
                        <a:lnSpc>
                          <a:spcPct val="106000"/>
                        </a:lnSpc>
                        <a:spcAft>
                          <a:spcPts val="0"/>
                        </a:spcAft>
                      </a:pPr>
                      <a:r>
                        <a:rPr sz="1100" b="0">
                          <a:solidFill>
                            <a:srgbClr val="333333"/>
                          </a:solidFill>
                          <a:latin typeface="Fira Code"/>
                        </a:rPr>
                        <a:t>            _loop_period_us = 1000000UL / _loop_rate_hz;</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return _loop_period_us;</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libraries/AP_GPS/AP_GPS.h</a:t>
                      </a:r>
                      <a:r>
                        <a:rPr sz="1100" b="0">
                          <a:solidFill>
                            <a:srgbClr val="999999"/>
                          </a:solidFill>
                          <a:latin typeface="Fira Code"/>
                        </a:rPr>
                        <a:t>  ·  </a:t>
                      </a:r>
                      <a:r>
                        <a:rPr sz="1100" b="0">
                          <a:solidFill>
                            <a:srgbClr val="999999"/>
                          </a:solidFill>
                          <a:latin typeface="Fira Code"/>
                        </a:rPr>
                        <a:t>409-418</a:t>
                      </a:r>
                      <a:r>
                        <a:rPr sz="1100" b="0">
                          <a:solidFill>
                            <a:srgbClr val="999999"/>
                          </a:solidFill>
                          <a:latin typeface="Fira Code"/>
                        </a:rPr>
                        <a:t>  ·  </a:t>
                      </a:r>
                      <a:r>
                        <a:rPr sz="1100" b="0">
                          <a:solidFill>
                            <a:srgbClr val="999999"/>
                          </a:solidFill>
                          <a:latin typeface="Fira Code"/>
                        </a:rPr>
                        <a:t>AP_GPS::time_week_ms()/time_week()</a:t>
                      </a:r>
                    </a:p>
                    <a:p>
                      <a:pPr algn="l">
                        <a:lnSpc>
                          <a:spcPct val="106000"/>
                        </a:lnSpc>
                        <a:spcAft>
                          <a:spcPts val="0"/>
                        </a:spcAft>
                      </a:pPr>
                      <a:r>
                        <a:rPr sz="1100" b="0">
                          <a:solidFill>
                            <a:srgbClr val="333333"/>
                          </a:solidFill>
                          <a:latin typeface="Fira Code"/>
                        </a:rPr>
                        <a:t>    // GPS time of week in milliseconds</a:t>
                      </a:r>
                    </a:p>
                    <a:p>
                      <a:pPr algn="l">
                        <a:lnSpc>
                          <a:spcPct val="106000"/>
                        </a:lnSpc>
                        <a:spcAft>
                          <a:spcPts val="0"/>
                        </a:spcAft>
                      </a:pPr>
                      <a:r>
                        <a:rPr sz="1100" b="0">
                          <a:solidFill>
                            <a:srgbClr val="333333"/>
                          </a:solidFill>
                          <a:latin typeface="Fira Code"/>
                        </a:rPr>
                        <a:t>    uint32_t time_week_ms(uint8_t instance) const {</a:t>
                      </a:r>
                    </a:p>
                    <a:p>
                      <a:pPr algn="l">
                        <a:lnSpc>
                          <a:spcPct val="106000"/>
                        </a:lnSpc>
                        <a:spcAft>
                          <a:spcPts val="0"/>
                        </a:spcAft>
                      </a:pPr>
                      <a:r>
                        <a:rPr sz="1100" b="0">
                          <a:solidFill>
                            <a:srgbClr val="333333"/>
                          </a:solidFill>
                          <a:latin typeface="Fira Code"/>
                        </a:rPr>
                        <a:t>        return state[instance].time_week_ms;</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uint32_t time_week_ms() const {</a:t>
                      </a:r>
                    </a:p>
                    <a:p>
                      <a:pPr algn="l">
                        <a:lnSpc>
                          <a:spcPct val="106000"/>
                        </a:lnSpc>
                        <a:spcAft>
                          <a:spcPts val="0"/>
                        </a:spcAft>
                      </a:pPr>
                      <a:r>
                        <a:rPr sz="1100" b="0">
                          <a:solidFill>
                            <a:srgbClr val="333333"/>
                          </a:solidFill>
                          <a:latin typeface="Fira Code"/>
                        </a:rPr>
                        <a:t>        return time_week_ms(primary_instance);</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GPS week</a:t>
                      </a:r>
                    </a:p>
                    <a:p>
                      <a:pPr algn="l">
                        <a:lnSpc>
                          <a:spcPct val="106000"/>
                        </a:lnSpc>
                        <a:spcAft>
                          <a:spcPts val="0"/>
                        </a:spcAft>
                      </a:pPr>
                      <a:r>
                        <a:rPr sz="1100" b="0">
                          <a:solidFill>
                            <a:srgbClr val="333333"/>
                          </a:solidFill>
                          <a:latin typeface="Fira Code"/>
                        </a:rPr>
                        <a:t>    uint16_t time_week(uint8_t instance) const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7–8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1 — CORE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08279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libraries/AP_HAL/Scheduler.h</a:t>
                      </a:r>
                      <a:r>
                        <a:rPr sz="1100" b="0">
                          <a:solidFill>
                            <a:srgbClr val="999999"/>
                          </a:solidFill>
                          <a:latin typeface="Fira Code"/>
                        </a:rPr>
                        <a:t>  ·  </a:t>
                      </a:r>
                      <a:r>
                        <a:rPr sz="1100" b="0">
                          <a:solidFill>
                            <a:srgbClr val="999999"/>
                          </a:solidFill>
                          <a:latin typeface="Fira Code"/>
                        </a:rPr>
                        <a:t>13-21</a:t>
                      </a:r>
                      <a:r>
                        <a:rPr sz="1100" b="0">
                          <a:solidFill>
                            <a:srgbClr val="999999"/>
                          </a:solidFill>
                          <a:latin typeface="Fira Code"/>
                        </a:rPr>
                        <a:t>  ·  </a:t>
                      </a:r>
                      <a:r>
                        <a:rPr sz="1100" b="0">
                          <a:solidFill>
                            <a:srgbClr val="999999"/>
                          </a:solidFill>
                          <a:latin typeface="Fira Code"/>
                        </a:rPr>
                        <a:t>AP_HAL::Scheduler::delay()/delay_microseconds()</a:t>
                      </a:r>
                    </a:p>
                    <a:p>
                      <a:pPr algn="l">
                        <a:lnSpc>
                          <a:spcPct val="106000"/>
                        </a:lnSpc>
                        <a:spcAft>
                          <a:spcPts val="0"/>
                        </a:spcAft>
                      </a:pPr>
                      <a:r>
                        <a:rPr sz="1100" b="0">
                          <a:solidFill>
                            <a:srgbClr val="333333"/>
                          </a:solidFill>
                          <a:latin typeface="Fira Code"/>
                        </a:rPr>
                        <a:t>    Scheduler() {}</a:t>
                      </a:r>
                    </a:p>
                    <a:p>
                      <a:pPr algn="l">
                        <a:lnSpc>
                          <a:spcPct val="106000"/>
                        </a:lnSpc>
                        <a:spcAft>
                          <a:spcPts val="0"/>
                        </a:spcAft>
                      </a:pPr>
                      <a:r>
                        <a:rPr sz="1100" b="0">
                          <a:solidFill>
                            <a:srgbClr val="333333"/>
                          </a:solidFill>
                          <a:latin typeface="Fira Code"/>
                        </a:rPr>
                        <a:t>    virtual void     init() = 0;</a:t>
                      </a:r>
                    </a:p>
                    <a:p>
                      <a:pPr algn="l">
                        <a:lnSpc>
                          <a:spcPct val="106000"/>
                        </a:lnSpc>
                        <a:spcAft>
                          <a:spcPts val="0"/>
                        </a:spcAft>
                      </a:pPr>
                      <a:r>
                        <a:rPr sz="1100" b="0">
                          <a:solidFill>
                            <a:srgbClr val="333333"/>
                          </a:solidFill>
                          <a:latin typeface="Fira Code"/>
                        </a:rPr>
                        <a:t>    virtual void     delay(uint16_t ms) = 0;</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delay for the given number of microseconds. This needs to be as</a:t>
                      </a:r>
                    </a:p>
                    <a:p>
                      <a:pPr algn="l">
                        <a:lnSpc>
                          <a:spcPct val="106000"/>
                        </a:lnSpc>
                        <a:spcAft>
                          <a:spcPts val="0"/>
                        </a:spcAft>
                      </a:pPr>
                      <a:r>
                        <a:rPr sz="1100" b="0">
                          <a:solidFill>
                            <a:srgbClr val="333333"/>
                          </a:solidFill>
                          <a:latin typeface="Fira Code"/>
                        </a:rPr>
                        <a:t>      accurate as possible - preferably within 100 microseconds.</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    virtual void     delay_microseconds(uint16_t us) = 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307211" y="384048"/>
            <a:ext cx="317861"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DIRECT EDGES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3a — Layer 1 dependency map</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Table 3a: Layer 1 — direct callers / callees with typed dependency</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4294351"/>
        </p:xfrm>
        <a:graphic>
          <a:graphicData uri="http://schemas.openxmlformats.org/drawingml/2006/table">
            <a:tbl>
              <a:tblPr>
                <a:tableStyleId>{5C22544A-7EE6-4342-B048-85BDC9FD1C3A}</a:tableStyleId>
              </a:tblPr>
              <a:tblGrid>
                <a:gridCol w="685422"/>
                <a:gridCol w="2376130"/>
                <a:gridCol w="3061552"/>
                <a:gridCol w="3061552"/>
                <a:gridCol w="1873488"/>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Component/Function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Called By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Dependency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 / millis()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board RTOS/HAL timer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AP_Scheduler, AP_GPS, all failsafes (ubiquitous)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AP_RTC::get_utc_usec() — via AP::rtc()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AP::rtc().get_utc_usec(rtc)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AP_Scheduler::Log_Write_Performance ; AP_Logger; AP_Stats; AP_NMEA_Output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Shared global/singleton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AP_RTC::set_utc_usec() (source arbitration)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reads hal.util-&gt;get_soft_armed(); compares &amp; writes rtc_source_type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 (GPS time); GCS SYSTEM_TIME; AP_BoardConfig (HW RTC)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Data dependency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JitterCorrection::correct_offboard_timestamp_usec()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computes diff_us; updates link_offset_usec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AP_RTC; DroneCAN/MAVLink timestamp consumers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AP_Scheduler::loop()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AP_HAL::micros64(); get_loop_period_s(); dispatches run-table tasks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AP_Vehicle::loop() via scheduler.loop() (AP_Vehicle.cpp:545)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AP_Scheduler::tick()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increments _tick_counter / _tick_counter32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AP_Scheduler::loop(); fast-loop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AP_Scheduler::get_loop_period_us()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derives _loop_period_us from _loop_rate_hz</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task budgeting; controller dt (G_Dt)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Data dependency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AP_GPS::time_week_ms() / time_week()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returns state[instance].time_week_ms / time_week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NavEKF3 readGpsData (GPS time); time_epoch conversion; logging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Data dependency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1–8</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DIRECT EDGES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3a — Layer 1 dependency map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1191231"/>
        </p:xfrm>
        <a:graphic>
          <a:graphicData uri="http://schemas.openxmlformats.org/drawingml/2006/table">
            <a:tbl>
              <a:tblPr>
                <a:tableStyleId>{5C22544A-7EE6-4342-B048-85BDC9FD1C3A}</a:tableStyleId>
              </a:tblPr>
              <a:tblGrid>
                <a:gridCol w="685422"/>
                <a:gridCol w="2376130"/>
                <a:gridCol w="3061552"/>
                <a:gridCol w="3061552"/>
                <a:gridCol w="1873488"/>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Component/Function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Called By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Dependency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951012">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AP_HAL::Scheduler (abstract HAL timing / scheduling 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pure virtual — implemented by the board backend (ChibiOS / Linux / SITL HAL Scheduler)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AP_Scheduler via hal.scheduler-&gt;delay_microseconds (AP_Scheduler.cpp:373); register_io_process; AP_Vehicle init; all subsystems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307211" y="384048"/>
            <a:ext cx="317861"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9</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3a — Layer 1 Code Snippet</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582282"/>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Every row’s Code Snippet, reproduced verbatim from the cited path:line range: one paragraph per source line, in the audit’s own order, with its indentation and its blank lines intact and nothing abbreviated.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228202"/>
          <a:ext cx="11058144" cy="3214581"/>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309483">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AP_HAL::micros() / millis()</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uint16_t micros16();</a:t>
                      </a:r>
                    </a:p>
                    <a:p>
                      <a:pPr algn="l">
                        <a:lnSpc>
                          <a:spcPct val="106000"/>
                        </a:lnSpc>
                        <a:spcAft>
                          <a:spcPts val="0"/>
                        </a:spcAft>
                      </a:pPr>
                      <a:r>
                        <a:rPr sz="1100" b="0">
                          <a:solidFill>
                            <a:srgbClr val="333333"/>
                          </a:solidFill>
                          <a:latin typeface="Fira Code"/>
                        </a:rPr>
                        <a:t>uint32_t micros();</a:t>
                      </a:r>
                    </a:p>
                    <a:p>
                      <a:pPr algn="l">
                        <a:lnSpc>
                          <a:spcPct val="106000"/>
                        </a:lnSpc>
                        <a:spcAft>
                          <a:spcPts val="0"/>
                        </a:spcAft>
                      </a:pPr>
                      <a:r>
                        <a:rPr sz="1100" b="0">
                          <a:solidFill>
                            <a:srgbClr val="333333"/>
                          </a:solidFill>
                          <a:latin typeface="Fira Code"/>
                        </a:rPr>
                        <a:t>uint32_t millis();</a:t>
                      </a:r>
                    </a:p>
                    <a:p>
                      <a:pPr algn="l">
                        <a:lnSpc>
                          <a:spcPct val="106000"/>
                        </a:lnSpc>
                        <a:spcAft>
                          <a:spcPts val="0"/>
                        </a:spcAft>
                      </a:pPr>
                      <a:r>
                        <a:rPr sz="1100" b="0">
                          <a:solidFill>
                            <a:srgbClr val="333333"/>
                          </a:solidFill>
                          <a:latin typeface="Fira Code"/>
                        </a:rPr>
                        <a:t>uint16_t millis16();</a:t>
                      </a:r>
                    </a:p>
                    <a:p>
                      <a:pPr algn="l">
                        <a:lnSpc>
                          <a:spcPct val="106000"/>
                        </a:lnSpc>
                        <a:spcAft>
                          <a:spcPts val="0"/>
                        </a:spcAft>
                      </a:pPr>
                      <a:r>
                        <a:rPr sz="1100" b="0">
                          <a:solidFill>
                            <a:srgbClr val="333333"/>
                          </a:solidFill>
                          <a:latin typeface="Fira Code"/>
                        </a:rPr>
                        <a:t>uint64_t micros64();</a:t>
                      </a:r>
                    </a:p>
                    <a:p>
                      <a:pPr algn="l">
                        <a:lnSpc>
                          <a:spcPct val="106000"/>
                        </a:lnSpc>
                        <a:spcAft>
                          <a:spcPts val="0"/>
                        </a:spcAft>
                      </a:pPr>
                      <a:r>
                        <a:rPr sz="1100" b="0">
                          <a:solidFill>
                            <a:srgbClr val="333333"/>
                          </a:solidFill>
                          <a:latin typeface="Fira Code"/>
                        </a:rPr>
                        <a:t>uint64_t millis64();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AP_RTC::get_utc_usec() — via AP::rtc()</a:t>
                      </a:r>
                      <a:r>
                        <a:rPr sz="1100" b="0">
                          <a:solidFill>
                            <a:srgbClr val="999999"/>
                          </a:solidFill>
                          <a:latin typeface="Fira Code"/>
                        </a:rPr>
                        <a:t>  ·  </a:t>
                      </a:r>
                      <a:r>
                        <a:rPr sz="1100" b="0">
                          <a:solidFill>
                            <a:srgbClr val="999999"/>
                          </a:solidFill>
                          <a:latin typeface="Fira Code"/>
                        </a:rPr>
                        <a:t>Shared global/singleton</a:t>
                      </a:r>
                    </a:p>
                    <a:p>
                      <a:pPr algn="l">
                        <a:lnSpc>
                          <a:spcPct val="106000"/>
                        </a:lnSpc>
                        <a:spcAft>
                          <a:spcPts val="0"/>
                        </a:spcAft>
                      </a:pPr>
                      <a:r>
                        <a:rPr sz="1100" b="0">
                          <a:solidFill>
                            <a:srgbClr val="333333"/>
                          </a:solidFill>
                          <a:latin typeface="Fira Code"/>
                        </a:rPr>
                        <a:t>void AP_Scheduler::Log_Write_Performance()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uint64_t rtc = 0;</a:t>
                      </a:r>
                    </a:p>
                    <a:p>
                      <a:pPr algn="l">
                        <a:lnSpc>
                          <a:spcPct val="106000"/>
                        </a:lnSpc>
                        <a:spcAft>
                          <a:spcPts val="0"/>
                        </a:spcAft>
                      </a:pPr>
                      <a:r>
                        <a:rPr sz="1100" b="0">
                          <a:solidFill>
                            <a:srgbClr val="333333"/>
                          </a:solidFill>
                          <a:latin typeface="Fira Code"/>
                        </a:rPr>
                        <a:t>#if AP_RTC_ENABLED</a:t>
                      </a:r>
                    </a:p>
                    <a:p>
                      <a:pPr algn="l">
                        <a:lnSpc>
                          <a:spcPct val="106000"/>
                        </a:lnSpc>
                        <a:spcAft>
                          <a:spcPts val="0"/>
                        </a:spcAft>
                      </a:pPr>
                      <a:r>
                        <a:rPr sz="1100" b="0">
                          <a:solidFill>
                            <a:srgbClr val="333333"/>
                          </a:solidFill>
                          <a:latin typeface="Fira Code"/>
                        </a:rPr>
                        <a:t>UNUSED_RESULT(AP::rtc().get_utc_usec(rtc));</a:t>
                      </a:r>
                    </a:p>
                    <a:p>
                      <a:pPr algn="l">
                        <a:lnSpc>
                          <a:spcPct val="106000"/>
                        </a:lnSpc>
                        <a:spcAft>
                          <a:spcPts val="0"/>
                        </a:spcAft>
                      </a:pPr>
                      <a:r>
                        <a:rPr sz="1100" b="0">
                          <a:solidFill>
                            <a:srgbClr val="333333"/>
                          </a:solidFill>
                          <a:latin typeface="Fira Code"/>
                        </a:rPr>
                        <a:t>#endif</a:t>
                      </a:r>
                    </a:p>
                    <a:p>
                      <a:pPr algn="l">
                        <a:lnSpc>
                          <a:spcPct val="106000"/>
                        </a:lnSpc>
                        <a:spcAft>
                          <a:spcPts val="0"/>
                        </a:spcAft>
                      </a:pPr>
                      <a:r>
                        <a:rPr sz="1100" b="0">
                          <a:solidFill>
                            <a:srgbClr val="333333"/>
                          </a:solidFill>
                          <a:latin typeface="Fira Code"/>
                        </a:rPr>
                        <a:t>const AP_HAL::Util::PersistentData &amp;pd = hal.util-&gt;persistent_data;</a:t>
                      </a:r>
                    </a:p>
                    <a:p>
                      <a:pPr algn="l">
                        <a:lnSpc>
                          <a:spcPct val="106000"/>
                        </a:lnSpc>
                        <a:spcAft>
                          <a:spcPts val="0"/>
                        </a:spcAft>
                      </a:pPr>
                      <a:r>
                        <a:rPr sz="1100" b="0">
                          <a:solidFill>
                            <a:srgbClr val="333333"/>
                          </a:solidFill>
                          <a:latin typeface="Fira Code"/>
                        </a:rPr>
                        <a:t>struct log_Performance pkt =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458470"/>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197975">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AP_RTC::set_utc_usec() (source arbitration)</a:t>
                      </a:r>
                      <a:r>
                        <a:rPr sz="1100" b="0">
                          <a:solidFill>
                            <a:srgbClr val="999999"/>
                          </a:solidFill>
                          <a:latin typeface="Fira Code"/>
                        </a:rPr>
                        <a:t>  ·  </a:t>
                      </a:r>
                      <a:r>
                        <a:rPr sz="1100" b="0">
                          <a:solidFill>
                            <a:srgbClr val="999999"/>
                          </a:solidFill>
                          <a:latin typeface="Fira Code"/>
                        </a:rPr>
                        <a:t>Data dependency</a:t>
                      </a:r>
                    </a:p>
                    <a:p>
                      <a:pPr algn="l">
                        <a:lnSpc>
                          <a:spcPct val="106000"/>
                        </a:lnSpc>
                        <a:spcAft>
                          <a:spcPts val="0"/>
                        </a:spcAft>
                      </a:pPr>
                      <a:r>
                        <a:rPr sz="1100" b="0">
                          <a:solidFill>
                            <a:srgbClr val="333333"/>
                          </a:solidFill>
                          <a:latin typeface="Fira Code"/>
                        </a:rPr>
                        <a:t>// only allow time to be moved forward from the same sourcetype</a:t>
                      </a:r>
                    </a:p>
                    <a:p>
                      <a:pPr algn="l">
                        <a:lnSpc>
                          <a:spcPct val="106000"/>
                        </a:lnSpc>
                        <a:spcAft>
                          <a:spcPts val="0"/>
                        </a:spcAft>
                      </a:pPr>
                      <a:r>
                        <a:rPr sz="1100" b="0">
                          <a:solidFill>
                            <a:srgbClr val="333333"/>
                          </a:solidFill>
                          <a:latin typeface="Fira Code"/>
                        </a:rPr>
                        <a:t>// while the vehicle is disarmed:</a:t>
                      </a:r>
                    </a:p>
                    <a:p>
                      <a:pPr algn="l">
                        <a:lnSpc>
                          <a:spcPct val="106000"/>
                        </a:lnSpc>
                        <a:spcAft>
                          <a:spcPts val="0"/>
                        </a:spcAft>
                      </a:pPr>
                      <a:r>
                        <a:rPr sz="1100" b="0">
                          <a:solidFill>
                            <a:srgbClr val="333333"/>
                          </a:solidFill>
                          <a:latin typeface="Fira Code"/>
                        </a:rPr>
                        <a:t>if (hal.util-&gt;get_soft_armed()) {</a:t>
                      </a:r>
                    </a:p>
                    <a:p>
                      <a:pPr algn="l">
                        <a:lnSpc>
                          <a:spcPct val="106000"/>
                        </a:lnSpc>
                        <a:spcAft>
                          <a:spcPts val="0"/>
                        </a:spcAft>
                      </a:pPr>
                      <a:r>
                        <a:rPr sz="1100" b="0">
                          <a:solidFill>
                            <a:srgbClr val="333333"/>
                          </a:solidFill>
                          <a:latin typeface="Fira Code"/>
                        </a:rPr>
                        <a:t>if (type &gt;= rtc_source_type) {</a:t>
                      </a:r>
                    </a:p>
                    <a:p>
                      <a:pPr algn="l">
                        <a:lnSpc>
                          <a:spcPct val="106000"/>
                        </a:lnSpc>
                        <a:spcAft>
                          <a:spcPts val="0"/>
                        </a:spcAft>
                      </a:pPr>
                      <a:r>
                        <a:rPr sz="1100" b="0">
                          <a:solidFill>
                            <a:srgbClr val="333333"/>
                          </a:solidFill>
                          <a:latin typeface="Fira Code"/>
                        </a:rPr>
                        <a:t>// e.g. system-time message when we've been set by the</a:t>
                      </a:r>
                    </a:p>
                    <a:p>
                      <a:pPr algn="l">
                        <a:lnSpc>
                          <a:spcPct val="106000"/>
                        </a:lnSpc>
                        <a:spcAft>
                          <a:spcPts val="0"/>
                        </a:spcAft>
                      </a:pPr>
                      <a:r>
                        <a:rPr sz="1100" b="0">
                          <a:solidFill>
                            <a:srgbClr val="333333"/>
                          </a:solidFill>
                          <a:latin typeface="Fira Code"/>
                        </a:rPr>
                        <a:t>GPS</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else {</a:t>
                      </a:r>
                    </a:p>
                    <a:p>
                      <a:pPr algn="l">
                        <a:lnSpc>
                          <a:spcPct val="106000"/>
                        </a:lnSpc>
                        <a:spcAft>
                          <a:spcPts val="0"/>
                        </a:spcAft>
                      </a:pPr>
                      <a:r>
                        <a:rPr sz="1100" b="0">
                          <a:solidFill>
                            <a:srgbClr val="333333"/>
                          </a:solidFill>
                          <a:latin typeface="Fira Code"/>
                        </a:rPr>
                        <a:t>// vehicle is disarmed; accept (e.g.) GPS time source updates</a:t>
                      </a:r>
                    </a:p>
                    <a:p>
                      <a:pPr algn="l">
                        <a:lnSpc>
                          <a:spcPct val="106000"/>
                        </a:lnSpc>
                        <a:spcAft>
                          <a:spcPts val="0"/>
                        </a:spcAft>
                      </a:pPr>
                      <a:r>
                        <a:rPr sz="1100" b="0">
                          <a:solidFill>
                            <a:srgbClr val="333333"/>
                          </a:solidFill>
                          <a:latin typeface="Fira Code"/>
                        </a:rPr>
                        <a:t>if (type &gt; rtc_source_type)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JitterCorrection::correct_offboard_timestamp_usec()</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uint64_t JitterCorrection::correct_offboard_timestamp_usec(uint64_t offboard_usec, uint64_t local_usec)</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int64_t diff_us = int64_t(local_usec) - int64_t(offboard_usec)</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if (!initialised ||</a:t>
                      </a:r>
                    </a:p>
                    <a:p>
                      <a:pPr algn="l">
                        <a:lnSpc>
                          <a:spcPct val="106000"/>
                        </a:lnSpc>
                        <a:spcAft>
                          <a:spcPts val="0"/>
                        </a:spcAft>
                      </a:pPr>
                      <a:r>
                        <a:rPr sz="1100" b="0">
                          <a:solidFill>
                            <a:srgbClr val="333333"/>
                          </a:solidFill>
                          <a:latin typeface="Fira Code"/>
                        </a:rPr>
                        <a:t>diff_us &lt; link_offset_usec) {</a:t>
                      </a:r>
                    </a:p>
                    <a:p>
                      <a:pPr algn="l">
                        <a:lnSpc>
                          <a:spcPct val="106000"/>
                        </a:lnSpc>
                        <a:spcAft>
                          <a:spcPts val="0"/>
                        </a:spcAft>
                      </a:pPr>
                      <a:r>
                        <a:rPr sz="1100" b="0">
                          <a:solidFill>
                            <a:srgbClr val="333333"/>
                          </a:solidFill>
                          <a:latin typeface="Fira Code"/>
                        </a:rPr>
                        <a:t>// this message arrived from the remote system with a</a:t>
                      </a:r>
                    </a:p>
                    <a:p>
                      <a:pPr algn="l">
                        <a:lnSpc>
                          <a:spcPct val="106000"/>
                        </a:lnSpc>
                        <a:spcAft>
                          <a:spcPts val="0"/>
                        </a:spcAft>
                      </a:pPr>
                      <a:r>
                        <a:rPr sz="1100" b="0">
                          <a:solidFill>
                            <a:srgbClr val="333333"/>
                          </a:solidFill>
                          <a:latin typeface="Fira Code"/>
                        </a:rPr>
                        <a:t>// timestamp that would imply the message was from the</a:t>
                      </a:r>
                    </a:p>
                    <a:p>
                      <a:pPr algn="l">
                        <a:lnSpc>
                          <a:spcPct val="106000"/>
                        </a:lnSpc>
                        <a:spcAft>
                          <a:spcPts val="0"/>
                        </a:spcAft>
                      </a:pPr>
                      <a:r>
                        <a:rPr sz="1100" b="0">
                          <a:solidFill>
                            <a:srgbClr val="333333"/>
                          </a:solidFill>
                          <a:latin typeface="Fira Code"/>
                        </a:rPr>
                        <a:t>// future. We know that isn't possible, so we adjust down</a:t>
                      </a:r>
                    </a:p>
                    <a:p>
                      <a:pPr algn="l">
                        <a:lnSpc>
                          <a:spcPct val="106000"/>
                        </a:lnSpc>
                        <a:spcAft>
                          <a:spcPts val="0"/>
                        </a:spcAft>
                      </a:pPr>
                      <a:r>
                        <a:rPr sz="1100" b="0">
                          <a:solidFill>
                            <a:srgbClr val="333333"/>
                          </a:solidFill>
                          <a:latin typeface="Fira Code"/>
                        </a:rPr>
                        <a:t>the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3–4</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25374"/>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020276">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AP_Scheduler::loop()</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hal.util-&gt;persistent_data.scheduler_task = -1;</a:t>
                      </a:r>
                    </a:p>
                    <a:p>
                      <a:pPr algn="l">
                        <a:lnSpc>
                          <a:spcPct val="106000"/>
                        </a:lnSpc>
                        <a:spcAft>
                          <a:spcPts val="0"/>
                        </a:spcAft>
                      </a:pPr>
                      <a:r>
                        <a:rPr sz="1100" b="0">
                          <a:solidFill>
                            <a:srgbClr val="333333"/>
                          </a:solidFill>
                          <a:latin typeface="Fira Code"/>
                        </a:rPr>
                        <a:t>_loop_sample_time_us = AP_HAL::micros64();</a:t>
                      </a:r>
                    </a:p>
                    <a:p>
                      <a:pPr algn="l">
                        <a:lnSpc>
                          <a:spcPct val="106000"/>
                        </a:lnSpc>
                        <a:spcAft>
                          <a:spcPts val="0"/>
                        </a:spcAft>
                      </a:pPr>
                      <a:r>
                        <a:rPr sz="1100" b="0">
                          <a:solidFill>
                            <a:srgbClr val="333333"/>
                          </a:solidFill>
                          <a:latin typeface="Fira Code"/>
                        </a:rPr>
                        <a:t>const uint32_t sample_time_us = uint32_t(_loop_sample_time_us)</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if (_loop_timer_start_us == 0) {</a:t>
                      </a:r>
                    </a:p>
                    <a:p>
                      <a:pPr algn="l">
                        <a:lnSpc>
                          <a:spcPct val="106000"/>
                        </a:lnSpc>
                        <a:spcAft>
                          <a:spcPts val="0"/>
                        </a:spcAft>
                      </a:pPr>
                      <a:r>
                        <a:rPr sz="1100" b="0">
                          <a:solidFill>
                            <a:srgbClr val="333333"/>
                          </a:solidFill>
                          <a:latin typeface="Fira Code"/>
                        </a:rPr>
                        <a:t>_loop_timer_start_us = sample_time_us;</a:t>
                      </a:r>
                    </a:p>
                    <a:p>
                      <a:pPr algn="l">
                        <a:lnSpc>
                          <a:spcPct val="106000"/>
                        </a:lnSpc>
                        <a:spcAft>
                          <a:spcPts val="0"/>
                        </a:spcAft>
                      </a:pPr>
                      <a:r>
                        <a:rPr sz="1100" b="0">
                          <a:solidFill>
                            <a:srgbClr val="333333"/>
                          </a:solidFill>
                          <a:latin typeface="Fira Code"/>
                        </a:rPr>
                        <a:t>_last_loop_time_s = get_loop_period_s();</a:t>
                      </a:r>
                    </a:p>
                    <a:p>
                      <a:pPr algn="l">
                        <a:lnSpc>
                          <a:spcPct val="106000"/>
                        </a:lnSpc>
                        <a:spcAft>
                          <a:spcPts val="0"/>
                        </a:spcAft>
                      </a:pPr>
                      <a:r>
                        <a:rPr sz="1100" b="0">
                          <a:solidFill>
                            <a:srgbClr val="333333"/>
                          </a:solidFill>
                          <a:latin typeface="Fira Code"/>
                        </a:rPr>
                        <a:t>} else {</a:t>
                      </a:r>
                    </a:p>
                    <a:p>
                      <a:pPr algn="l">
                        <a:lnSpc>
                          <a:spcPct val="106000"/>
                        </a:lnSpc>
                        <a:spcAft>
                          <a:spcPts val="0"/>
                        </a:spcAft>
                      </a:pPr>
                      <a:r>
                        <a:rPr sz="1100" b="0">
                          <a:solidFill>
                            <a:srgbClr val="333333"/>
                          </a:solidFill>
                          <a:latin typeface="Fira Code"/>
                        </a:rPr>
                        <a:t>_last_loop_time_s = (sample_time_us - _loop_timer_start_us</a:t>
                      </a:r>
                    </a:p>
                    <a:p>
                      <a:pPr algn="l">
                        <a:lnSpc>
                          <a:spcPct val="106000"/>
                        </a:lnSpc>
                        <a:spcAft>
                          <a:spcPts val="0"/>
                        </a:spcAft>
                      </a:pPr>
                      <a:r>
                        <a:rPr sz="1100" b="0">
                          <a:solidFill>
                            <a:srgbClr val="333333"/>
                          </a:solidFill>
                          <a:latin typeface="Fira Code"/>
                        </a:rPr>
                        <a:t>) * 1.0e-6;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AP_Scheduler::tick()</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AP_Scheduler::tick(void)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_tick_counter++;</a:t>
                      </a:r>
                    </a:p>
                    <a:p>
                      <a:pPr algn="l">
                        <a:lnSpc>
                          <a:spcPct val="106000"/>
                        </a:lnSpc>
                        <a:spcAft>
                          <a:spcPts val="0"/>
                        </a:spcAft>
                      </a:pPr>
                      <a:r>
                        <a:rPr sz="1100" b="0">
                          <a:solidFill>
                            <a:srgbClr val="333333"/>
                          </a:solidFill>
                          <a:latin typeface="Fira Code"/>
                        </a:rPr>
                        <a:t>_tick_counter32++;</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#if CONFIG_HAL_BOARD == HAL_BOARD_SITL</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fill stack with NaN so we can catch use of uninitialised stack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5–6</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69978"/>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7181">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AP_Scheduler::get_loop_period_us()</a:t>
                      </a:r>
                      <a:r>
                        <a:rPr sz="1100" b="0">
                          <a:solidFill>
                            <a:srgbClr val="999999"/>
                          </a:solidFill>
                          <a:latin typeface="Fira Code"/>
                        </a:rPr>
                        <a:t>  ·  </a:t>
                      </a:r>
                      <a:r>
                        <a:rPr sz="1100" b="0">
                          <a:solidFill>
                            <a:srgbClr val="999999"/>
                          </a:solidFill>
                          <a:latin typeface="Fira Code"/>
                        </a:rPr>
                        <a:t>Data dependency</a:t>
                      </a:r>
                    </a:p>
                    <a:p>
                      <a:pPr algn="l">
                        <a:lnSpc>
                          <a:spcPct val="106000"/>
                        </a:lnSpc>
                        <a:spcAft>
                          <a:spcPts val="0"/>
                        </a:spcAft>
                      </a:pPr>
                      <a:r>
                        <a:rPr sz="1100" b="0">
                          <a:solidFill>
                            <a:srgbClr val="333333"/>
                          </a:solidFill>
                          <a:latin typeface="Fira Code"/>
                        </a:rPr>
                        <a:t>// get the time-allowed-per-loop in microseconds</a:t>
                      </a:r>
                    </a:p>
                    <a:p>
                      <a:pPr algn="l">
                        <a:lnSpc>
                          <a:spcPct val="106000"/>
                        </a:lnSpc>
                        <a:spcAft>
                          <a:spcPts val="0"/>
                        </a:spcAft>
                      </a:pPr>
                      <a:r>
                        <a:rPr sz="1100" b="0">
                          <a:solidFill>
                            <a:srgbClr val="333333"/>
                          </a:solidFill>
                          <a:latin typeface="Fira Code"/>
                        </a:rPr>
                        <a:t>uint32_t get_loop_period_us() {</a:t>
                      </a:r>
                    </a:p>
                    <a:p>
                      <a:pPr algn="l">
                        <a:lnSpc>
                          <a:spcPct val="106000"/>
                        </a:lnSpc>
                        <a:spcAft>
                          <a:spcPts val="0"/>
                        </a:spcAft>
                      </a:pPr>
                      <a:r>
                        <a:rPr sz="1100" b="0">
                          <a:solidFill>
                            <a:srgbClr val="333333"/>
                          </a:solidFill>
                          <a:latin typeface="Fira Code"/>
                        </a:rPr>
                        <a:t>if (_loop_period_us == 0) {</a:t>
                      </a:r>
                    </a:p>
                    <a:p>
                      <a:pPr algn="l">
                        <a:lnSpc>
                          <a:spcPct val="106000"/>
                        </a:lnSpc>
                        <a:spcAft>
                          <a:spcPts val="0"/>
                        </a:spcAft>
                      </a:pPr>
                      <a:r>
                        <a:rPr sz="1100" b="0">
                          <a:solidFill>
                            <a:srgbClr val="333333"/>
                          </a:solidFill>
                          <a:latin typeface="Fira Code"/>
                        </a:rPr>
                        <a:t>_loop_period_us = 1000000UL / _loop_rate_hz;</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return _loop_period_us;</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AP_GPS::time_week_ms() / time_week()</a:t>
                      </a:r>
                      <a:r>
                        <a:rPr sz="1100" b="0">
                          <a:solidFill>
                            <a:srgbClr val="999999"/>
                          </a:solidFill>
                          <a:latin typeface="Fira Code"/>
                        </a:rPr>
                        <a:t>  ·  </a:t>
                      </a:r>
                      <a:r>
                        <a:rPr sz="1100" b="0">
                          <a:solidFill>
                            <a:srgbClr val="999999"/>
                          </a:solidFill>
                          <a:latin typeface="Fira Code"/>
                        </a:rPr>
                        <a:t>Data dependency</a:t>
                      </a:r>
                    </a:p>
                    <a:p>
                      <a:pPr algn="l">
                        <a:lnSpc>
                          <a:spcPct val="106000"/>
                        </a:lnSpc>
                        <a:spcAft>
                          <a:spcPts val="0"/>
                        </a:spcAft>
                      </a:pPr>
                      <a:r>
                        <a:rPr sz="1100" b="0">
                          <a:solidFill>
                            <a:srgbClr val="333333"/>
                          </a:solidFill>
                          <a:latin typeface="Fira Code"/>
                        </a:rPr>
                        <a:t>// GPS time of week in milliseconds</a:t>
                      </a:r>
                    </a:p>
                    <a:p>
                      <a:pPr algn="l">
                        <a:lnSpc>
                          <a:spcPct val="106000"/>
                        </a:lnSpc>
                        <a:spcAft>
                          <a:spcPts val="0"/>
                        </a:spcAft>
                      </a:pPr>
                      <a:r>
                        <a:rPr sz="1100" b="0">
                          <a:solidFill>
                            <a:srgbClr val="333333"/>
                          </a:solidFill>
                          <a:latin typeface="Fira Code"/>
                        </a:rPr>
                        <a:t>uint32_t time_week_ms(uint8_t instance) const {</a:t>
                      </a:r>
                    </a:p>
                    <a:p>
                      <a:pPr algn="l">
                        <a:lnSpc>
                          <a:spcPct val="106000"/>
                        </a:lnSpc>
                        <a:spcAft>
                          <a:spcPts val="0"/>
                        </a:spcAft>
                      </a:pPr>
                      <a:r>
                        <a:rPr sz="1100" b="0">
                          <a:solidFill>
                            <a:srgbClr val="333333"/>
                          </a:solidFill>
                          <a:latin typeface="Fira Code"/>
                        </a:rPr>
                        <a:t>return state[instance].time_week_ms;</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uint32_t time_week_ms() const {</a:t>
                      </a:r>
                    </a:p>
                    <a:p>
                      <a:pPr algn="l">
                        <a:lnSpc>
                          <a:spcPct val="106000"/>
                        </a:lnSpc>
                        <a:spcAft>
                          <a:spcPts val="0"/>
                        </a:spcAft>
                      </a:pPr>
                      <a:r>
                        <a:rPr sz="1100" b="0">
                          <a:solidFill>
                            <a:srgbClr val="333333"/>
                          </a:solidFill>
                          <a:latin typeface="Fira Code"/>
                        </a:rPr>
                        <a:t>return time_week_ms(primary_instance);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GPS week</a:t>
                      </a:r>
                    </a:p>
                    <a:p>
                      <a:pPr algn="l">
                        <a:lnSpc>
                          <a:spcPct val="106000"/>
                        </a:lnSpc>
                        <a:spcAft>
                          <a:spcPts val="0"/>
                        </a:spcAft>
                      </a:pPr>
                      <a:r>
                        <a:rPr sz="1100" b="0">
                          <a:solidFill>
                            <a:srgbClr val="333333"/>
                          </a:solidFill>
                          <a:latin typeface="Fira Code"/>
                        </a:rPr>
                        <a:t>uint16_t time_week(uint8_t instance) const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7–8</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1372003"/>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131784">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AP_HAL::Scheduler (abstract HAL timing / scheduling interface)</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 register a high priority timer task</a:t>
                      </a:r>
                    </a:p>
                    <a:p>
                      <a:pPr algn="l">
                        <a:lnSpc>
                          <a:spcPct val="106000"/>
                        </a:lnSpc>
                        <a:spcAft>
                          <a:spcPts val="0"/>
                        </a:spcAft>
                      </a:pPr>
                      <a:r>
                        <a:rPr sz="1100" b="0">
                          <a:solidFill>
                            <a:srgbClr val="333333"/>
                          </a:solidFill>
                          <a:latin typeface="Fira Code"/>
                        </a:rPr>
                        <a:t>virtual void register_timer_process(AP_HAL::MemberProc) =</a:t>
                      </a:r>
                    </a:p>
                    <a:p>
                      <a:pPr algn="l">
                        <a:lnSpc>
                          <a:spcPct val="106000"/>
                        </a:lnSpc>
                        <a:spcAft>
                          <a:spcPts val="0"/>
                        </a:spcAft>
                      </a:pPr>
                      <a:r>
                        <a:rPr sz="1100" b="0">
                          <a:solidFill>
                            <a:srgbClr val="333333"/>
                          </a:solidFill>
                          <a:latin typeface="Fira Code"/>
                        </a:rPr>
                        <a:t>0;</a:t>
                      </a:r>
                    </a:p>
                    <a:p>
                      <a:pPr algn="l">
                        <a:lnSpc>
                          <a:spcPct val="106000"/>
                        </a:lnSpc>
                        <a:spcAft>
                          <a:spcPts val="0"/>
                        </a:spcAft>
                      </a:pPr>
                      <a:r>
                        <a:rPr sz="1100" b="0">
                          <a:solidFill>
                            <a:srgbClr val="333333"/>
                          </a:solidFill>
                          <a:latin typeface="Fira Code"/>
                        </a:rPr>
                        <a:t>// register a low priority IO task</a:t>
                      </a:r>
                    </a:p>
                    <a:p>
                      <a:pPr algn="l">
                        <a:lnSpc>
                          <a:spcPct val="106000"/>
                        </a:lnSpc>
                        <a:spcAft>
                          <a:spcPts val="0"/>
                        </a:spcAft>
                      </a:pPr>
                      <a:r>
                        <a:rPr sz="1100" b="0">
                          <a:solidFill>
                            <a:srgbClr val="333333"/>
                          </a:solidFill>
                          <a:latin typeface="Fira Code"/>
                        </a:rPr>
                        <a:t>virtual void register_io_process(AP_HAL::MemberProc) = 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307211" y="384048"/>
            <a:ext cx="317861"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9</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3a — Layer 2 transitive chains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Table 3a: Layer 2 — full transitive chain, final consumer &amp; hop depth</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3991612"/>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RTOS/board hardware timer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board timer → AP_HAL::micros()/millis() → AP_Scheduler / EKF / AP_GPS timestamps → every periodic loop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all periodic PNT subsystems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Monotonic-time backbone.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GPS/GCS UTC time source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time source → AP_RTC → AP::rtc().get_utc_usec() → AP_Logger / AP_Stats → log timestamps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dataflash log timestamps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Singleton consumption edge (AP::rtc()).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 time / GCS SYSTEM_TIME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time source → set_utc_usec source arbitration → rtc_source_type → system UTC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RTC system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Best-source selection.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Offboard (remote) timestamp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MAVLink/DroneCAN timestamp → correct_offboard_timestamp_usec → corrected local time → EKF / sensor fusion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fused-sensor timing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Time-sync transform.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AP_HAL::micros64() (loop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AP_HAL::micros64() → AP_Scheduler::loop() → run-table tasks (EKF/AHRS/controllers)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 (all tasks)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Loop drives every PNT task.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AP_Scheduler::loop()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loop() → tick() counters → task-table interval check → periodic task dispatch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periodic task dispatch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Cadence counter.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566928" y="6026571"/>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9" name="TextBox 8"/>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3a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560161"/>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SCHED_LOOP_RATE parameter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_loop_rate_hz → get_loop_period_us (1e6/rate) → task budget + G_Dt → AC_AttitudeControl / EKF dt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controller / EKF dt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Rate→period coupling.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GPS receiver (time-of-week)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GPS receiver → GPS_State.time_week → AP_GPS::time_week() → NavEKF3 readGpsData / time_epoch_usec → UTC/log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GPS-time / UTC conversion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[MULTI-CATEGORY] timing facet of GPS.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951012">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board RTOS scheduler (HAL 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board HAL Scheduler backend → AP_HAL::Scheduler interface (delay / register_timer_process) → AP_Scheduler::loop → periodic PNT tasks (EKF / AHRS / control)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periodic PNT task execution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HAL timing interface beneath the AP_Scheduler library (#5-#7); the board backend implements the pure-virtual 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566928" y="4279233"/>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7–9</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0"/>
            <a:ext cx="11058144" cy="1188720"/>
          </a:xfrm>
          <a:prstGeom prst="rect">
            <a:avLst/>
          </a:prstGeom>
          <a:noFill/>
        </p:spPr>
        <p:txBody>
          <a:bodyPr wrap="square" lIns="0" rIns="0" tIns="0" bIns="0" anchor="t">
            <a:noAutofit/>
          </a:bodyPr>
          <a:lstStyle/>
          <a:p>
            <a:pPr algn="ctr">
              <a:lnSpc>
                <a:spcPct val="110000"/>
              </a:lnSpc>
              <a:spcAft>
                <a:spcPts val="0"/>
              </a:spcAft>
            </a:pPr>
            <a:r>
              <a:rPr sz="3800" b="1">
                <a:solidFill>
                  <a:srgbClr val="FFFFFF"/>
                </a:solidFill>
                <a:latin typeface="Space Grotesk"/>
              </a:rPr>
              <a:t>Table 4 — Indirect Positioning</a:t>
            </a:r>
          </a:p>
        </p:txBody>
      </p:sp>
      <p:sp>
        <p:nvSpPr>
          <p:cNvPr id="3" name="TextBox 2"/>
          <p:cNvSpPr txBox="1"/>
          <p:nvPr/>
        </p:nvSpPr>
        <p:spPr>
          <a:xfrm>
            <a:off x="566928" y="3840480"/>
            <a:ext cx="11058144" cy="365760"/>
          </a:xfrm>
          <a:prstGeom prst="rect">
            <a:avLst/>
          </a:prstGeom>
          <a:noFill/>
        </p:spPr>
        <p:txBody>
          <a:bodyPr wrap="square" lIns="0" rIns="0" tIns="0" bIns="0" anchor="t">
            <a:noAutofit/>
          </a:bodyPr>
          <a:lstStyle/>
          <a:p>
            <a:pPr algn="ctr">
              <a:lnSpc>
                <a:spcPct val="100000"/>
              </a:lnSpc>
              <a:spcAft>
                <a:spcPts val="0"/>
              </a:spcAft>
            </a:pPr>
            <a:r>
              <a:rPr sz="1300" b="0">
                <a:solidFill>
                  <a:srgbClr val="94FAD5"/>
                </a:solidFill>
                <a:latin typeface="Fira Code"/>
              </a:rPr>
              <a:t>Positioning read as a permission: health checks, fence evaluations and mode gates.</a:t>
            </a:r>
          </a:p>
        </p:txBody>
      </p:sp>
      <p:sp>
        <p:nvSpPr>
          <p:cNvPr id="4" name="Rectangle 3"/>
          <p:cNvSpPr/>
          <p:nvPr/>
        </p:nvSpPr>
        <p:spPr>
          <a:xfrm>
            <a:off x="4724400" y="4389120"/>
            <a:ext cx="2743200" cy="91440"/>
          </a:xfrm>
          <a:prstGeom prst="rect">
            <a:avLst/>
          </a:prstGeom>
          <a:gradFill rotWithShape="1">
            <a:gsLst>
              <a:gs pos="0">
                <a:srgbClr val="5B39F3"/>
              </a:gs>
              <a:gs pos="100000">
                <a:srgbClr val="94FAD5"/>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POSITIONING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 — Indirect Positioning</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All 10 catalogued rows, with every Notes annotation, flag token and cited path:line range exactly as printed.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4159446"/>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951012">
                <a:tc>
                  <a:txBody>
                    <a:bodyPr wrap="square">
                      <a:noAutofit/>
                    </a:bodyPr>
                    <a:lstStyle/>
                    <a:p>
                      <a:pPr algn="l">
                        <a:lnSpc>
                          <a:spcPct val="106000"/>
                        </a:lnSpc>
                        <a:spcAft>
                          <a:spcPts val="0"/>
                        </a:spcAft>
                      </a:pPr>
                      <a:r>
                        <a:rPr sz="1100" b="1">
                          <a:solidFill>
                            <a:srgbClr val="333333"/>
                          </a:solidFill>
                          <a:latin typeface="Fira Code"/>
                        </a:rPr>
                        <a:t>1</a:t>
                      </a:r>
                    </a:p>
                    <a:p>
                      <a:pPr algn="l">
                        <a:lnSpc>
                          <a:spcPct val="106000"/>
                        </a:lnSpc>
                        <a:spcAft>
                          <a:spcPts val="0"/>
                        </a:spcAft>
                      </a:pPr>
                      <a:r>
                        <a:rPr sz="1100" b="0">
                          <a:solidFill>
                            <a:srgbClr val="333333"/>
                          </a:solidFill>
                          <a:latin typeface="Fira Code"/>
                        </a:rPr>
                        <a:t>ArduCopter/system.cpp</a:t>
                      </a:r>
                    </a:p>
                    <a:p>
                      <a:pPr algn="l">
                        <a:lnSpc>
                          <a:spcPct val="106000"/>
                        </a:lnSpc>
                        <a:spcAft>
                          <a:spcPts val="0"/>
                        </a:spcAft>
                      </a:pPr>
                      <a:r>
                        <a:rPr sz="1100" b="0">
                          <a:solidFill>
                            <a:srgbClr val="333333"/>
                          </a:solidFill>
                          <a:latin typeface="Fira Code"/>
                        </a:rPr>
                        <a:t>226-234</a:t>
                      </a:r>
                    </a:p>
                    <a:p>
                      <a:pPr algn="l">
                        <a:lnSpc>
                          <a:spcPct val="106000"/>
                        </a:lnSpc>
                        <a:spcAft>
                          <a:spcPts val="0"/>
                        </a:spcAft>
                      </a:pPr>
                      <a:r>
                        <a:rPr sz="1100" b="0">
                          <a:solidFill>
                            <a:srgbClr val="333333"/>
                          </a:solidFill>
                          <a:latin typeface="Fira Code"/>
                        </a:rPr>
                        <a:t>Copter::position_ok()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Evaluated on position-mode entry and by position-dependent failsafes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failsafe.ekf flag; ekf_has_absolute_position() / ekf_has_relative_position() (EKF position validity)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Returns false when EKF failsafe is set or no EKF position estimate exists, causing callers to deny position-requiring behavior.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INDIRECT/RELATIONAL (positioning). Pure observer of EKF position health — reads no raw PNT, but gates downstream behavior.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128711">
                <a:tc>
                  <a:txBody>
                    <a:bodyPr wrap="square">
                      <a:noAutofit/>
                    </a:bodyPr>
                    <a:lstStyle/>
                    <a:p>
                      <a:pPr algn="l">
                        <a:lnSpc>
                          <a:spcPct val="106000"/>
                        </a:lnSpc>
                        <a:spcAft>
                          <a:spcPts val="0"/>
                        </a:spcAft>
                      </a:pPr>
                      <a:r>
                        <a:rPr sz="1100" b="1">
                          <a:solidFill>
                            <a:srgbClr val="333333"/>
                          </a:solidFill>
                          <a:latin typeface="Fira Code"/>
                        </a:rPr>
                        <a:t>2</a:t>
                      </a:r>
                    </a:p>
                    <a:p>
                      <a:pPr algn="l">
                        <a:lnSpc>
                          <a:spcPct val="106000"/>
                        </a:lnSpc>
                        <a:spcAft>
                          <a:spcPts val="0"/>
                        </a:spcAft>
                      </a:pPr>
                      <a:r>
                        <a:rPr sz="1100" b="0">
                          <a:solidFill>
                            <a:srgbClr val="333333"/>
                          </a:solidFill>
                          <a:latin typeface="Fira Code"/>
                        </a:rPr>
                        <a:t>ArduCopter/mode.cpp</a:t>
                      </a:r>
                    </a:p>
                    <a:p>
                      <a:pPr algn="l">
                        <a:lnSpc>
                          <a:spcPct val="106000"/>
                        </a:lnSpc>
                        <a:spcAft>
                          <a:spcPts val="0"/>
                        </a:spcAft>
                      </a:pPr>
                      <a:r>
                        <a:rPr sz="1100" b="0">
                          <a:solidFill>
                            <a:srgbClr val="333333"/>
                          </a:solidFill>
                          <a:latin typeface="Fira Code"/>
                        </a:rPr>
                        <a:t>303-310</a:t>
                      </a:r>
                    </a:p>
                    <a:p>
                      <a:pPr algn="l">
                        <a:lnSpc>
                          <a:spcPct val="106000"/>
                        </a:lnSpc>
                        <a:spcAft>
                          <a:spcPts val="0"/>
                        </a:spcAft>
                      </a:pPr>
                      <a:r>
                        <a:rPr sz="1100" b="0">
                          <a:solidFill>
                            <a:srgbClr val="333333"/>
                          </a:solidFill>
                          <a:latin typeface="Fira Code"/>
                        </a:rPr>
                        <a:t>Copter::set_mode() — requires_GPS 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Pilot/GCS/auto requests a flight-mode change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new_flightmode-&gt;requires_GPS() &amp;&amp; copter.position_ok()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Rejects the mode change with “requires position” when the target mode needs GPS and position_ok() is 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INDIRECT/RELATIONAL (positioning). Central position-gate for ALL position-requiring Copter modes (per-mode requires_GPS() enumerated in the coverage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1661806">
                <a:tc>
                  <a:txBody>
                    <a:bodyPr wrap="square">
                      <a:noAutofit/>
                    </a:bodyPr>
                    <a:lstStyle/>
                    <a:p>
                      <a:pPr algn="l">
                        <a:lnSpc>
                          <a:spcPct val="106000"/>
                        </a:lnSpc>
                        <a:spcAft>
                          <a:spcPts val="0"/>
                        </a:spcAft>
                      </a:pPr>
                      <a:r>
                        <a:rPr sz="1100" b="1">
                          <a:solidFill>
                            <a:srgbClr val="333333"/>
                          </a:solidFill>
                          <a:latin typeface="Fira Code"/>
                        </a:rPr>
                        <a:t>3</a:t>
                      </a:r>
                    </a:p>
                    <a:p>
                      <a:pPr algn="l">
                        <a:lnSpc>
                          <a:spcPct val="106000"/>
                        </a:lnSpc>
                        <a:spcAft>
                          <a:spcPts val="0"/>
                        </a:spcAft>
                      </a:pPr>
                      <a:r>
                        <a:rPr sz="1100" b="0">
                          <a:solidFill>
                            <a:srgbClr val="333333"/>
                          </a:solidFill>
                          <a:latin typeface="Fira Code"/>
                        </a:rPr>
                        <a:t>ArduCopter/fence.cpp</a:t>
                      </a:r>
                    </a:p>
                    <a:p>
                      <a:pPr algn="l">
                        <a:lnSpc>
                          <a:spcPct val="106000"/>
                        </a:lnSpc>
                        <a:spcAft>
                          <a:spcPts val="0"/>
                        </a:spcAft>
                      </a:pPr>
                      <a:r>
                        <a:rPr sz="1100" b="0">
                          <a:solidFill>
                            <a:srgbClr val="333333"/>
                          </a:solidFill>
                          <a:latin typeface="Fira Code"/>
                        </a:rPr>
                        <a:t>20-28</a:t>
                      </a:r>
                    </a:p>
                    <a:p>
                      <a:pPr algn="l">
                        <a:lnSpc>
                          <a:spcPct val="106000"/>
                        </a:lnSpc>
                        <a:spcAft>
                          <a:spcPts val="0"/>
                        </a:spcAft>
                      </a:pPr>
                      <a:r>
                        <a:rPr sz="1100" b="0">
                          <a:solidFill>
                            <a:srgbClr val="333333"/>
                          </a:solidFill>
                          <a:latin typeface="Fira Code"/>
                        </a:rPr>
                        <a:t>Copter::fence_checks_async()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25 Hz fence rate-gate elapsed and no breach latched awaiting the main loop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fence.get_breaches() (current breach bitmask, L21); fence.check() (re-evaluates vehicle position vs fences, L25)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Latches new_breaches bitmask for the main loop and logs a breach-cleared event when the vehicle returns inside the fence.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[FIX F1] Cited window centers on get_breaches() (L21) and check() (L25) — the actual geofence observation — not the L8-17 async/timing entry. mirrors Rover::fence_checks_async (#9). Timing rate-gate documented in Table 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1–3</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POSITIONING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 — Indirect Positioning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804050"/>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128711">
                <a:tc>
                  <a:txBody>
                    <a:bodyPr wrap="square">
                      <a:noAutofit/>
                    </a:bodyPr>
                    <a:lstStyle/>
                    <a:p>
                      <a:pPr algn="l">
                        <a:lnSpc>
                          <a:spcPct val="106000"/>
                        </a:lnSpc>
                        <a:spcAft>
                          <a:spcPts val="0"/>
                        </a:spcAft>
                      </a:pPr>
                      <a:r>
                        <a:rPr sz="1100" b="1">
                          <a:solidFill>
                            <a:srgbClr val="333333"/>
                          </a:solidFill>
                          <a:latin typeface="Fira Code"/>
                        </a:rPr>
                        <a:t>4</a:t>
                      </a:r>
                    </a:p>
                    <a:p>
                      <a:pPr algn="l">
                        <a:lnSpc>
                          <a:spcPct val="106000"/>
                        </a:lnSpc>
                        <a:spcAft>
                          <a:spcPts val="0"/>
                        </a:spcAft>
                      </a:pPr>
                      <a:r>
                        <a:rPr sz="1100" b="0">
                          <a:solidFill>
                            <a:srgbClr val="333333"/>
                          </a:solidFill>
                          <a:latin typeface="Fira Code"/>
                        </a:rPr>
                        <a:t>libraries/AC_Fence/AC_Fence.cpp</a:t>
                      </a:r>
                    </a:p>
                    <a:p>
                      <a:pPr algn="l">
                        <a:lnSpc>
                          <a:spcPct val="106000"/>
                        </a:lnSpc>
                        <a:spcAft>
                          <a:spcPts val="0"/>
                        </a:spcAft>
                      </a:pPr>
                      <a:r>
                        <a:rPr sz="1100" b="0">
                          <a:solidFill>
                            <a:srgbClr val="333333"/>
                          </a:solidFill>
                          <a:latin typeface="Fira Code"/>
                        </a:rPr>
                        <a:t>677-685</a:t>
                      </a:r>
                    </a:p>
                    <a:p>
                      <a:pPr algn="l">
                        <a:lnSpc>
                          <a:spcPct val="106000"/>
                        </a:lnSpc>
                        <a:spcAft>
                          <a:spcPts val="0"/>
                        </a:spcAft>
                      </a:pPr>
                      <a:r>
                        <a:rPr sz="1100" b="0">
                          <a:solidFill>
                            <a:srgbClr val="333333"/>
                          </a:solidFill>
                          <a:latin typeface="Fira Code"/>
                        </a:rPr>
                        <a:t>AC_Fence::check_fence_polygon()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Polygon (inclusion/exclusion) fence enabled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AP::ahrs().get_location(loc) — current vehicle Location tested against the polygon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record_breach(POLYGON) when _poly_loader.breached(loc) is true → sets the polygon breach bit.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[FIX F2] Real position-observing path (was mis-cited to L753-762 mask init). Snippet centers on the AP::ahrs().get_location() read (L680).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128711">
                <a:tc>
                  <a:txBody>
                    <a:bodyPr wrap="square">
                      <a:noAutofit/>
                    </a:bodyPr>
                    <a:lstStyle/>
                    <a:p>
                      <a:pPr algn="l">
                        <a:lnSpc>
                          <a:spcPct val="106000"/>
                        </a:lnSpc>
                        <a:spcAft>
                          <a:spcPts val="0"/>
                        </a:spcAft>
                      </a:pPr>
                      <a:r>
                        <a:rPr sz="1100" b="1">
                          <a:solidFill>
                            <a:srgbClr val="333333"/>
                          </a:solidFill>
                          <a:latin typeface="Fira Code"/>
                        </a:rPr>
                        <a:t>5</a:t>
                      </a:r>
                    </a:p>
                    <a:p>
                      <a:pPr algn="l">
                        <a:lnSpc>
                          <a:spcPct val="106000"/>
                        </a:lnSpc>
                        <a:spcAft>
                          <a:spcPts val="0"/>
                        </a:spcAft>
                      </a:pPr>
                      <a:r>
                        <a:rPr sz="1100" b="0">
                          <a:solidFill>
                            <a:srgbClr val="333333"/>
                          </a:solidFill>
                          <a:latin typeface="Fira Code"/>
                        </a:rPr>
                        <a:t>libraries/AC_Fence/AC_Fence.cpp</a:t>
                      </a:r>
                    </a:p>
                    <a:p>
                      <a:pPr algn="l">
                        <a:lnSpc>
                          <a:spcPct val="106000"/>
                        </a:lnSpc>
                        <a:spcAft>
                          <a:spcPts val="0"/>
                        </a:spcAft>
                      </a:pPr>
                      <a:r>
                        <a:rPr sz="1100" b="0">
                          <a:solidFill>
                            <a:srgbClr val="333333"/>
                          </a:solidFill>
                          <a:latin typeface="Fira Code"/>
                        </a:rPr>
                        <a:t>707-715</a:t>
                      </a:r>
                    </a:p>
                    <a:p>
                      <a:pPr algn="l">
                        <a:lnSpc>
                          <a:spcPct val="106000"/>
                        </a:lnSpc>
                        <a:spcAft>
                          <a:spcPts val="0"/>
                        </a:spcAft>
                      </a:pPr>
                      <a:r>
                        <a:rPr sz="1100" b="0">
                          <a:solidFill>
                            <a:srgbClr val="333333"/>
                          </a:solidFill>
                          <a:latin typeface="Fira Code"/>
                        </a:rPr>
                        <a:t>AC_Fence::check_fence_circle()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Circle fence enabled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AP::ahrs().get_relative_position_NE_home(home) — NE distance from home (L713)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Records a circle breach when the home distance exceeds the configured radius.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[FIX F2] Real position-observing path; snippet centers on the NE-home position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1128711">
                <a:tc>
                  <a:txBody>
                    <a:bodyPr wrap="square">
                      <a:noAutofit/>
                    </a:bodyPr>
                    <a:lstStyle/>
                    <a:p>
                      <a:pPr algn="l">
                        <a:lnSpc>
                          <a:spcPct val="106000"/>
                        </a:lnSpc>
                        <a:spcAft>
                          <a:spcPts val="0"/>
                        </a:spcAft>
                      </a:pPr>
                      <a:r>
                        <a:rPr sz="1100" b="1">
                          <a:solidFill>
                            <a:srgbClr val="333333"/>
                          </a:solidFill>
                          <a:latin typeface="Fira Code"/>
                        </a:rPr>
                        <a:t>6</a:t>
                      </a:r>
                    </a:p>
                    <a:p>
                      <a:pPr algn="l">
                        <a:lnSpc>
                          <a:spcPct val="106000"/>
                        </a:lnSpc>
                        <a:spcAft>
                          <a:spcPts val="0"/>
                        </a:spcAft>
                      </a:pPr>
                      <a:r>
                        <a:rPr sz="1100" b="0">
                          <a:solidFill>
                            <a:srgbClr val="333333"/>
                          </a:solidFill>
                          <a:latin typeface="Fira Code"/>
                        </a:rPr>
                        <a:t>libraries/AC_Fence/AC_Fence.cpp</a:t>
                      </a:r>
                    </a:p>
                    <a:p>
                      <a:pPr algn="l">
                        <a:lnSpc>
                          <a:spcPct val="106000"/>
                        </a:lnSpc>
                        <a:spcAft>
                          <a:spcPts val="0"/>
                        </a:spcAft>
                      </a:pPr>
                      <a:r>
                        <a:rPr sz="1100" b="0">
                          <a:solidFill>
                            <a:srgbClr val="333333"/>
                          </a:solidFill>
                          <a:latin typeface="Fira Code"/>
                        </a:rPr>
                        <a:t>540-548</a:t>
                      </a:r>
                    </a:p>
                    <a:p>
                      <a:pPr algn="l">
                        <a:lnSpc>
                          <a:spcPct val="106000"/>
                        </a:lnSpc>
                        <a:spcAft>
                          <a:spcPts val="0"/>
                        </a:spcAft>
                      </a:pPr>
                      <a:r>
                        <a:rPr sz="1100" b="0">
                          <a:solidFill>
                            <a:srgbClr val="333333"/>
                          </a:solidFill>
                          <a:latin typeface="Fira Code"/>
                        </a:rPr>
                        <a:t>AC_Fence::check_fence_alt_max()</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Maximum-altitude fence enabled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AP::ahrs().get_relative_position_D_home(alt) — altitude relative to home (L546)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Records an altitude breach when alt exceeds _alt_max.</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[FIX F2] Real altitude-observing path; snippet centers on the D-home altitude 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4–6</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POSITIONING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 — Indirect Positioning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626350"/>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951012">
                <a:tc>
                  <a:txBody>
                    <a:bodyPr wrap="square">
                      <a:noAutofit/>
                    </a:bodyPr>
                    <a:lstStyle/>
                    <a:p>
                      <a:pPr algn="l">
                        <a:lnSpc>
                          <a:spcPct val="106000"/>
                        </a:lnSpc>
                        <a:spcAft>
                          <a:spcPts val="0"/>
                        </a:spcAft>
                      </a:pPr>
                      <a:r>
                        <a:rPr sz="1100" b="1">
                          <a:solidFill>
                            <a:srgbClr val="333333"/>
                          </a:solidFill>
                          <a:latin typeface="Fira Code"/>
                        </a:rPr>
                        <a:t>7</a:t>
                      </a:r>
                    </a:p>
                    <a:p>
                      <a:pPr algn="l">
                        <a:lnSpc>
                          <a:spcPct val="106000"/>
                        </a:lnSpc>
                        <a:spcAft>
                          <a:spcPts val="0"/>
                        </a:spcAft>
                      </a:pPr>
                      <a:r>
                        <a:rPr sz="1100" b="0">
                          <a:solidFill>
                            <a:srgbClr val="333333"/>
                          </a:solidFill>
                          <a:latin typeface="Fira Code"/>
                        </a:rPr>
                        <a:t>libraries/AC_Fence/AC_Fence.cpp</a:t>
                      </a:r>
                    </a:p>
                    <a:p>
                      <a:pPr algn="l">
                        <a:lnSpc>
                          <a:spcPct val="106000"/>
                        </a:lnSpc>
                        <a:spcAft>
                          <a:spcPts val="0"/>
                        </a:spcAft>
                      </a:pPr>
                      <a:r>
                        <a:rPr sz="1100" b="0">
                          <a:solidFill>
                            <a:srgbClr val="333333"/>
                          </a:solidFill>
                          <a:latin typeface="Fira Code"/>
                        </a:rPr>
                        <a:t>837-845</a:t>
                      </a:r>
                    </a:p>
                    <a:p>
                      <a:pPr algn="l">
                        <a:lnSpc>
                          <a:spcPct val="106000"/>
                        </a:lnSpc>
                        <a:spcAft>
                          <a:spcPts val="0"/>
                        </a:spcAft>
                      </a:pPr>
                      <a:r>
                        <a:rPr sz="1100" b="0">
                          <a:solidFill>
                            <a:srgbClr val="333333"/>
                          </a:solidFill>
                          <a:latin typeface="Fira Code"/>
                        </a:rPr>
                        <a:t>AC_Fence::check()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Periodic fence check invoked from the vehicle 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(aggregator) results of check_fence_alt_max() / check_fence_circle() / check_fence_polygon() position checks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Returns the bitmask of breached fence types that drives the vehicle fence failsafe action.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[FIX F2] Orchestrator dispatch (L837 circle, L842 polygon). The position reads themselves are in the dispatched checks (#4-#6).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306409">
                <a:tc>
                  <a:txBody>
                    <a:bodyPr wrap="square">
                      <a:noAutofit/>
                    </a:bodyPr>
                    <a:lstStyle/>
                    <a:p>
                      <a:pPr algn="l">
                        <a:lnSpc>
                          <a:spcPct val="106000"/>
                        </a:lnSpc>
                        <a:spcAft>
                          <a:spcPts val="0"/>
                        </a:spcAft>
                      </a:pPr>
                      <a:r>
                        <a:rPr sz="1100" b="1">
                          <a:solidFill>
                            <a:srgbClr val="333333"/>
                          </a:solidFill>
                          <a:latin typeface="Fira Code"/>
                        </a:rPr>
                        <a:t>8</a:t>
                      </a:r>
                    </a:p>
                    <a:p>
                      <a:pPr algn="l">
                        <a:lnSpc>
                          <a:spcPct val="106000"/>
                        </a:lnSpc>
                        <a:spcAft>
                          <a:spcPts val="0"/>
                        </a:spcAft>
                      </a:pPr>
                      <a:r>
                        <a:rPr sz="1100" b="0">
                          <a:solidFill>
                            <a:srgbClr val="333333"/>
                          </a:solidFill>
                          <a:latin typeface="Fira Code"/>
                        </a:rPr>
                        <a:t>ArduCopter/mode_guided_nogps.cpp</a:t>
                      </a:r>
                    </a:p>
                    <a:p>
                      <a:pPr algn="l">
                        <a:lnSpc>
                          <a:spcPct val="106000"/>
                        </a:lnSpc>
                        <a:spcAft>
                          <a:spcPts val="0"/>
                        </a:spcAft>
                      </a:pPr>
                      <a:r>
                        <a:rPr sz="1100" b="0">
                          <a:solidFill>
                            <a:srgbClr val="333333"/>
                          </a:solidFill>
                          <a:latin typeface="Fira Code"/>
                        </a:rPr>
                        <a:t>9-15</a:t>
                      </a:r>
                    </a:p>
                    <a:p>
                      <a:pPr algn="l">
                        <a:lnSpc>
                          <a:spcPct val="106000"/>
                        </a:lnSpc>
                        <a:spcAft>
                          <a:spcPts val="0"/>
                        </a:spcAft>
                      </a:pPr>
                      <a:r>
                        <a:rPr sz="1100" b="0">
                          <a:solidFill>
                            <a:srgbClr val="333333"/>
                          </a:solidFill>
                          <a:latin typeface="Fira Code"/>
                        </a:rPr>
                        <a:t>ModeGuidedNoGPS::init()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GUIDED_NOGPS entry (companion-computer angle control without GPS)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[ABSENT — by design] no position state observed; requires_GPS() returns false (ArduCopter/mode.h)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Starts angle control only and remains available when position_ok() is false — the GPS-denied fallback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INDIRECT/RELATIONAL (positioning). Contrast row: intentionally PNT-position-INDEPENDENT mode (documents an explicit absence of positioning dependency).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951012">
                <a:tc>
                  <a:txBody>
                    <a:bodyPr wrap="square">
                      <a:noAutofit/>
                    </a:bodyPr>
                    <a:lstStyle/>
                    <a:p>
                      <a:pPr algn="l">
                        <a:lnSpc>
                          <a:spcPct val="106000"/>
                        </a:lnSpc>
                        <a:spcAft>
                          <a:spcPts val="0"/>
                        </a:spcAft>
                      </a:pPr>
                      <a:r>
                        <a:rPr sz="1100" b="1">
                          <a:solidFill>
                            <a:srgbClr val="333333"/>
                          </a:solidFill>
                          <a:latin typeface="Fira Code"/>
                        </a:rPr>
                        <a:t>9</a:t>
                      </a:r>
                    </a:p>
                    <a:p>
                      <a:pPr algn="l">
                        <a:lnSpc>
                          <a:spcPct val="106000"/>
                        </a:lnSpc>
                        <a:spcAft>
                          <a:spcPts val="0"/>
                        </a:spcAft>
                      </a:pPr>
                      <a:r>
                        <a:rPr sz="1100" b="0">
                          <a:solidFill>
                            <a:srgbClr val="333333"/>
                          </a:solidFill>
                          <a:latin typeface="Fira Code"/>
                        </a:rPr>
                        <a:t>Rover/fence.cpp</a:t>
                      </a:r>
                    </a:p>
                    <a:p>
                      <a:pPr algn="l">
                        <a:lnSpc>
                          <a:spcPct val="106000"/>
                        </a:lnSpc>
                        <a:spcAft>
                          <a:spcPts val="0"/>
                        </a:spcAft>
                      </a:pPr>
                      <a:r>
                        <a:rPr sz="1100" b="0">
                          <a:solidFill>
                            <a:srgbClr val="333333"/>
                          </a:solidFill>
                          <a:latin typeface="Fira Code"/>
                        </a:rPr>
                        <a:t>17-25</a:t>
                      </a:r>
                    </a:p>
                    <a:p>
                      <a:pPr algn="l">
                        <a:lnSpc>
                          <a:spcPct val="106000"/>
                        </a:lnSpc>
                        <a:spcAft>
                          <a:spcPts val="0"/>
                        </a:spcAft>
                      </a:pPr>
                      <a:r>
                        <a:rPr sz="1100" b="0">
                          <a:solidFill>
                            <a:srgbClr val="333333"/>
                          </a:solidFill>
                          <a:latin typeface="Fira Code"/>
                        </a:rPr>
                        <a:t>Rover::fence_checks_async()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Rover fence rate-gate elapsed and no breach latched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fence.get_breaches() (L19); fence.check() (vehicle position vs fence, L21)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Latches new_breaches for the main loop; clears on return inside the fence.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structurally identical to ArduCopter::fence_checks_async (#3) — copy-paste across vehicles (extraction risk).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7–9</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POSITIONING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 — Indirect Positioning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435120"/>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017203">
                <a:tc>
                  <a:txBody>
                    <a:bodyPr wrap="square">
                      <a:noAutofit/>
                    </a:bodyPr>
                    <a:lstStyle/>
                    <a:p>
                      <a:pPr algn="l">
                        <a:lnSpc>
                          <a:spcPct val="106000"/>
                        </a:lnSpc>
                        <a:spcAft>
                          <a:spcPts val="0"/>
                        </a:spcAft>
                      </a:pPr>
                      <a:r>
                        <a:rPr sz="1100" b="1">
                          <a:solidFill>
                            <a:srgbClr val="333333"/>
                          </a:solidFill>
                          <a:latin typeface="Fira Code"/>
                        </a:rPr>
                        <a:t>10</a:t>
                      </a:r>
                    </a:p>
                    <a:p>
                      <a:pPr algn="l">
                        <a:lnSpc>
                          <a:spcPct val="106000"/>
                        </a:lnSpc>
                        <a:spcAft>
                          <a:spcPts val="0"/>
                        </a:spcAft>
                      </a:pPr>
                      <a:r>
                        <a:rPr sz="1100" b="0">
                          <a:solidFill>
                            <a:srgbClr val="333333"/>
                          </a:solidFill>
                          <a:latin typeface="Fira Code"/>
                        </a:rPr>
                        <a:t>ArduPlane/takeoff.cpp</a:t>
                      </a:r>
                    </a:p>
                    <a:p>
                      <a:pPr algn="l">
                        <a:lnSpc>
                          <a:spcPct val="106000"/>
                        </a:lnSpc>
                        <a:spcAft>
                          <a:spcPts val="0"/>
                        </a:spcAft>
                      </a:pPr>
                      <a:r>
                        <a:rPr sz="1100" b="0">
                          <a:solidFill>
                            <a:srgbClr val="333333"/>
                          </a:solidFill>
                          <a:latin typeface="Fira Code"/>
                        </a:rPr>
                        <a:t>58-62</a:t>
                      </a:r>
                    </a:p>
                    <a:p>
                      <a:pPr algn="l">
                        <a:lnSpc>
                          <a:spcPct val="106000"/>
                        </a:lnSpc>
                        <a:spcAft>
                          <a:spcPts val="0"/>
                        </a:spcAft>
                      </a:pPr>
                      <a:r>
                        <a:rPr sz="1100" b="0">
                          <a:solidFill>
                            <a:srgbClr val="333333"/>
                          </a:solidFill>
                          <a:latin typeface="Fira Code"/>
                        </a:rPr>
                        <a:t>Plane::auto_takeoff_check()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Auto/TAKEOFF launch readiness re-evaluated each loop from Plane::set_servos() (Ardu Plane/servos.cpp:125)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gps.status() &lt; AP_GPS:: GPS_OK_FIX_3D (GPS fix quality; gps.status() = AP_GPS::status())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Returns false — auto-takeoff is blocked (throttle stays suppressed) until a 3D GPS fix is acquired.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INDIRECT/RELATIONAL (positioning). User-example PNT-State-Observed accessor gps.status() (= AP_GPS::status(), libraries/AP_GPS/AP_GPS.h:293). the same gps.status() &lt; GPS_OK_FIX_3D fix-gate recurs in ArduPlane/Plane.cpp (L420/485) and ArduPlane/is_flying.cpp (extraction risk).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213450" y="384048"/>
            <a:ext cx="411622"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 — Code Snippet (5-10 lines)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903541"/>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Every row’s Code Snippet (5-10 lines), reproduced verbatim from the cited path:line range: one paragraph per source line, in the audit’s own order, with its indentation and its blank lines intact and nothing abbreviated.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549461"/>
          <a:ext cx="11058144" cy="208279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ArduCopter/system.cpp</a:t>
                      </a:r>
                      <a:r>
                        <a:rPr sz="1100" b="0">
                          <a:solidFill>
                            <a:srgbClr val="999999"/>
                          </a:solidFill>
                          <a:latin typeface="Fira Code"/>
                        </a:rPr>
                        <a:t>  ·  </a:t>
                      </a:r>
                      <a:r>
                        <a:rPr sz="1100" b="0">
                          <a:solidFill>
                            <a:srgbClr val="999999"/>
                          </a:solidFill>
                          <a:latin typeface="Fira Code"/>
                        </a:rPr>
                        <a:t>226-234</a:t>
                      </a:r>
                      <a:r>
                        <a:rPr sz="1100" b="0">
                          <a:solidFill>
                            <a:srgbClr val="999999"/>
                          </a:solidFill>
                          <a:latin typeface="Fira Code"/>
                        </a:rPr>
                        <a:t>  ·  </a:t>
                      </a:r>
                      <a:r>
                        <a:rPr sz="1100" b="0">
                          <a:solidFill>
                            <a:srgbClr val="999999"/>
                          </a:solidFill>
                          <a:latin typeface="Fira Code"/>
                        </a:rPr>
                        <a:t>Copter::position_ok()</a:t>
                      </a:r>
                    </a:p>
                    <a:p>
                      <a:pPr algn="l">
                        <a:lnSpc>
                          <a:spcPct val="106000"/>
                        </a:lnSpc>
                        <a:spcAft>
                          <a:spcPts val="0"/>
                        </a:spcAft>
                      </a:pPr>
                      <a:r>
                        <a:rPr sz="1100" b="0">
                          <a:solidFill>
                            <a:srgbClr val="333333"/>
                          </a:solidFill>
                          <a:latin typeface="Fira Code"/>
                        </a:rPr>
                        <a:t>bool Copter::position_ok()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return false if ekf failsafe has triggered</a:t>
                      </a:r>
                    </a:p>
                    <a:p>
                      <a:pPr algn="l">
                        <a:lnSpc>
                          <a:spcPct val="106000"/>
                        </a:lnSpc>
                        <a:spcAft>
                          <a:spcPts val="0"/>
                        </a:spcAft>
                      </a:pPr>
                      <a:r>
                        <a:rPr sz="1100" b="0">
                          <a:solidFill>
                            <a:srgbClr val="333333"/>
                          </a:solidFill>
                          <a:latin typeface="Fira Code"/>
                        </a:rPr>
                        <a:t>    if (failsafe.ekf) {</a:t>
                      </a:r>
                    </a:p>
                    <a:p>
                      <a:pPr algn="l">
                        <a:lnSpc>
                          <a:spcPct val="106000"/>
                        </a:lnSpc>
                        <a:spcAft>
                          <a:spcPts val="0"/>
                        </a:spcAft>
                      </a:pPr>
                      <a:r>
                        <a:rPr sz="1100" b="0">
                          <a:solidFill>
                            <a:srgbClr val="333333"/>
                          </a:solidFill>
                          <a:latin typeface="Fira Code"/>
                        </a:rPr>
                        <a:t>        return false;</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check ekf position estimate</a:t>
                      </a:r>
                    </a:p>
                    <a:p>
                      <a:pPr algn="l">
                        <a:lnSpc>
                          <a:spcPct val="106000"/>
                        </a:lnSpc>
                        <a:spcAft>
                          <a:spcPts val="0"/>
                        </a:spcAft>
                      </a:pPr>
                      <a:r>
                        <a:rPr sz="1100" b="0">
                          <a:solidFill>
                            <a:srgbClr val="333333"/>
                          </a:solidFill>
                          <a:latin typeface="Fira Code"/>
                        </a:rPr>
                        <a:t>    return (ekf_has_absolute_position() || ekf_has_relative_position());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11307211" y="384048"/>
            <a:ext cx="317861"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4767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ArduCopter/mode.cpp</a:t>
                      </a:r>
                      <a:r>
                        <a:rPr sz="1100" b="0">
                          <a:solidFill>
                            <a:srgbClr val="999999"/>
                          </a:solidFill>
                          <a:latin typeface="Fira Code"/>
                        </a:rPr>
                        <a:t>  ·  </a:t>
                      </a:r>
                      <a:r>
                        <a:rPr sz="1100" b="0">
                          <a:solidFill>
                            <a:srgbClr val="999999"/>
                          </a:solidFill>
                          <a:latin typeface="Fira Code"/>
                        </a:rPr>
                        <a:t>303-310</a:t>
                      </a:r>
                      <a:r>
                        <a:rPr sz="1100" b="0">
                          <a:solidFill>
                            <a:srgbClr val="999999"/>
                          </a:solidFill>
                          <a:latin typeface="Fira Code"/>
                        </a:rPr>
                        <a:t>  ·  </a:t>
                      </a:r>
                      <a:r>
                        <a:rPr sz="1100" b="0">
                          <a:solidFill>
                            <a:srgbClr val="999999"/>
                          </a:solidFill>
                          <a:latin typeface="Fira Code"/>
                        </a:rPr>
                        <a:t>Copter::set_mode() — requires_GPS gate</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if (!ignore_checks &amp;&amp;</a:t>
                      </a:r>
                    </a:p>
                    <a:p>
                      <a:pPr algn="l">
                        <a:lnSpc>
                          <a:spcPct val="106000"/>
                        </a:lnSpc>
                        <a:spcAft>
                          <a:spcPts val="0"/>
                        </a:spcAft>
                      </a:pPr>
                      <a:r>
                        <a:rPr sz="1100" b="0">
                          <a:solidFill>
                            <a:srgbClr val="333333"/>
                          </a:solidFill>
                          <a:latin typeface="Fira Code"/>
                        </a:rPr>
                        <a:t>        new_flightmode-&gt;requires_GPS() &amp;&amp;</a:t>
                      </a:r>
                    </a:p>
                    <a:p>
                      <a:pPr algn="l">
                        <a:lnSpc>
                          <a:spcPct val="106000"/>
                        </a:lnSpc>
                        <a:spcAft>
                          <a:spcPts val="0"/>
                        </a:spcAft>
                      </a:pPr>
                      <a:r>
                        <a:rPr sz="1100" b="0">
                          <a:solidFill>
                            <a:srgbClr val="333333"/>
                          </a:solidFill>
                          <a:latin typeface="Fira Code"/>
                        </a:rPr>
                        <a:t>        !copter.position_ok()) {</a:t>
                      </a:r>
                    </a:p>
                    <a:p>
                      <a:pPr algn="l">
                        <a:lnSpc>
                          <a:spcPct val="106000"/>
                        </a:lnSpc>
                        <a:spcAft>
                          <a:spcPts val="0"/>
                        </a:spcAft>
                      </a:pPr>
                      <a:r>
                        <a:rPr sz="1100" b="0">
                          <a:solidFill>
                            <a:srgbClr val="333333"/>
                          </a:solidFill>
                          <a:latin typeface="Fira Code"/>
                        </a:rPr>
                        <a:t>        mode_change_failed(new_flightmode, "requires position");</a:t>
                      </a:r>
                    </a:p>
                    <a:p>
                      <a:pPr algn="l">
                        <a:lnSpc>
                          <a:spcPct val="106000"/>
                        </a:lnSpc>
                        <a:spcAft>
                          <a:spcPts val="0"/>
                        </a:spcAft>
                      </a:pPr>
                      <a:r>
                        <a:rPr sz="1100" b="0">
                          <a:solidFill>
                            <a:srgbClr val="333333"/>
                          </a:solidFill>
                          <a:latin typeface="Fira Code"/>
                        </a:rPr>
                        <a:t>        return false;</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ArduCopter/fence.cpp</a:t>
                      </a:r>
                      <a:r>
                        <a:rPr sz="1100" b="0">
                          <a:solidFill>
                            <a:srgbClr val="999999"/>
                          </a:solidFill>
                          <a:latin typeface="Fira Code"/>
                        </a:rPr>
                        <a:t>  ·  </a:t>
                      </a:r>
                      <a:r>
                        <a:rPr sz="1100" b="0">
                          <a:solidFill>
                            <a:srgbClr val="999999"/>
                          </a:solidFill>
                          <a:latin typeface="Fira Code"/>
                        </a:rPr>
                        <a:t>20-28</a:t>
                      </a:r>
                      <a:r>
                        <a:rPr sz="1100" b="0">
                          <a:solidFill>
                            <a:srgbClr val="999999"/>
                          </a:solidFill>
                          <a:latin typeface="Fira Code"/>
                        </a:rPr>
                        <a:t>  ·  </a:t>
                      </a:r>
                      <a:r>
                        <a:rPr sz="1100" b="0">
                          <a:solidFill>
                            <a:srgbClr val="999999"/>
                          </a:solidFill>
                          <a:latin typeface="Fira Code"/>
                        </a:rPr>
                        <a:t>Copter::fence_checks_async()</a:t>
                      </a:r>
                    </a:p>
                    <a:p>
                      <a:pPr algn="l">
                        <a:lnSpc>
                          <a:spcPct val="106000"/>
                        </a:lnSpc>
                        <a:spcAft>
                          <a:spcPts val="0"/>
                        </a:spcAft>
                      </a:pPr>
                      <a:r>
                        <a:rPr sz="1100" b="0">
                          <a:solidFill>
                            <a:srgbClr val="333333"/>
                          </a:solidFill>
                          <a:latin typeface="Fira Code"/>
                        </a:rPr>
                        <a:t>    fence_breaches.last_check_ms = now;</a:t>
                      </a:r>
                    </a:p>
                    <a:p>
                      <a:pPr algn="l">
                        <a:lnSpc>
                          <a:spcPct val="106000"/>
                        </a:lnSpc>
                        <a:spcAft>
                          <a:spcPts val="0"/>
                        </a:spcAft>
                      </a:pPr>
                      <a:r>
                        <a:rPr sz="1100" b="0">
                          <a:solidFill>
                            <a:srgbClr val="333333"/>
                          </a:solidFill>
                          <a:latin typeface="Fira Code"/>
                        </a:rPr>
                        <a:t>    const uint8_t orig_breaches = fence.get_breaches();</a:t>
                      </a:r>
                    </a:p>
                    <a:p>
                      <a:pPr algn="l">
                        <a:lnSpc>
                          <a:spcPct val="106000"/>
                        </a:lnSpc>
                        <a:spcAft>
                          <a:spcPts val="0"/>
                        </a:spcAft>
                      </a:pPr>
                      <a:r>
                        <a:rPr sz="1100" b="0">
                          <a:solidFill>
                            <a:srgbClr val="333333"/>
                          </a:solidFill>
                          <a:latin typeface="Fira Code"/>
                        </a:rPr>
                        <a:t>    bool is_landing_or_landed = flightmode-&gt;is_landing() || ap.land_complete  || !motors-&gt;armed();</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check for new breaches; new_breaches is bitmask of fence types breached</a:t>
                      </a:r>
                    </a:p>
                    <a:p>
                      <a:pPr algn="l">
                        <a:lnSpc>
                          <a:spcPct val="106000"/>
                        </a:lnSpc>
                        <a:spcAft>
                          <a:spcPts val="0"/>
                        </a:spcAft>
                      </a:pPr>
                      <a:r>
                        <a:rPr sz="1100" b="0">
                          <a:solidFill>
                            <a:srgbClr val="333333"/>
                          </a:solidFill>
                          <a:latin typeface="Fira Code"/>
                        </a:rPr>
                        <a:t>    fence_breaches.new_breaches = fence.check(is_landing_or_landed);</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if (!fence_breaches.new_breaches &amp;&amp; orig_breaches &amp;&amp; fence.get_breaches() == 0) {</a:t>
                      </a:r>
                    </a:p>
                    <a:p>
                      <a:pPr algn="l">
                        <a:lnSpc>
                          <a:spcPct val="106000"/>
                        </a:lnSpc>
                        <a:spcAft>
                          <a:spcPts val="0"/>
                        </a:spcAft>
                      </a:pPr>
                      <a:r>
                        <a:rPr sz="1100" b="0">
                          <a:solidFill>
                            <a:srgbClr val="333333"/>
                          </a:solidFill>
                          <a:latin typeface="Fira Code"/>
                        </a:rPr>
                        <a:t>        if (!copter.ap.land_complete)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2–3</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25375"/>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libraries/AC_Fence/AC_Fence.cpp</a:t>
                      </a:r>
                      <a:r>
                        <a:rPr sz="1100" b="0">
                          <a:solidFill>
                            <a:srgbClr val="999999"/>
                          </a:solidFill>
                          <a:latin typeface="Fira Code"/>
                        </a:rPr>
                        <a:t>  ·  </a:t>
                      </a:r>
                      <a:r>
                        <a:rPr sz="1100" b="0">
                          <a:solidFill>
                            <a:srgbClr val="999999"/>
                          </a:solidFill>
                          <a:latin typeface="Fira Code"/>
                        </a:rPr>
                        <a:t>677-685</a:t>
                      </a:r>
                      <a:r>
                        <a:rPr sz="1100" b="0">
                          <a:solidFill>
                            <a:srgbClr val="999999"/>
                          </a:solidFill>
                          <a:latin typeface="Fira Code"/>
                        </a:rPr>
                        <a:t>  ·  </a:t>
                      </a:r>
                      <a:r>
                        <a:rPr sz="1100" b="0">
                          <a:solidFill>
                            <a:srgbClr val="999999"/>
                          </a:solidFill>
                          <a:latin typeface="Fira Code"/>
                        </a:rPr>
                        <a:t>AC_Fence::check_fence_polygon()</a:t>
                      </a:r>
                    </a:p>
                    <a:p>
                      <a:pPr algn="l">
                        <a:lnSpc>
                          <a:spcPct val="106000"/>
                        </a:lnSpc>
                        <a:spcAft>
                          <a:spcPts val="0"/>
                        </a:spcAft>
                      </a:pPr>
                      <a:r>
                        <a:rPr sz="1100" b="0">
                          <a:solidFill>
                            <a:srgbClr val="333333"/>
                          </a:solidFill>
                          <a:latin typeface="Fira Code"/>
                        </a:rPr>
                        <a:t>    const bool was_breached = _breached_fences &amp; AC_FENCE_TYPE_POLYGON;</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Location loc;</a:t>
                      </a:r>
                    </a:p>
                    <a:p>
                      <a:pPr algn="l">
                        <a:lnSpc>
                          <a:spcPct val="106000"/>
                        </a:lnSpc>
                        <a:spcAft>
                          <a:spcPts val="0"/>
                        </a:spcAft>
                      </a:pPr>
                      <a:r>
                        <a:rPr sz="1100" b="0">
                          <a:solidFill>
                            <a:srgbClr val="333333"/>
                          </a:solidFill>
                          <a:latin typeface="Fira Code"/>
                        </a:rPr>
                        <a:t>    const bool have_location = AP::ahrs().get_location(loc);</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if (have_location &amp;&amp; _poly_loader.breached(loc, _polygon_breach_distance)) {</a:t>
                      </a:r>
                    </a:p>
                    <a:p>
                      <a:pPr algn="l">
                        <a:lnSpc>
                          <a:spcPct val="106000"/>
                        </a:lnSpc>
                        <a:spcAft>
                          <a:spcPts val="0"/>
                        </a:spcAft>
                      </a:pPr>
                      <a:r>
                        <a:rPr sz="1100" b="0">
                          <a:solidFill>
                            <a:srgbClr val="333333"/>
                          </a:solidFill>
                          <a:latin typeface="Fira Code"/>
                        </a:rPr>
                        <a:t>        if (!was_breached) {</a:t>
                      </a:r>
                    </a:p>
                    <a:p>
                      <a:pPr algn="l">
                        <a:lnSpc>
                          <a:spcPct val="106000"/>
                        </a:lnSpc>
                        <a:spcAft>
                          <a:spcPts val="0"/>
                        </a:spcAft>
                      </a:pPr>
                      <a:r>
                        <a:rPr sz="1100" b="0">
                          <a:solidFill>
                            <a:srgbClr val="333333"/>
                          </a:solidFill>
                          <a:latin typeface="Fira Code"/>
                        </a:rPr>
                        <a:t>            record_breach(AC_FENCE_TYPE_POLYGON);</a:t>
                      </a:r>
                    </a:p>
                    <a:p>
                      <a:pPr algn="l">
                        <a:lnSpc>
                          <a:spcPct val="106000"/>
                        </a:lnSpc>
                        <a:spcAft>
                          <a:spcPts val="0"/>
                        </a:spcAft>
                      </a:pPr>
                      <a:r>
                        <a:rPr sz="1100" b="0">
                          <a:solidFill>
                            <a:srgbClr val="333333"/>
                          </a:solidFill>
                          <a:latin typeface="Fira Code"/>
                        </a:rPr>
                        <a:t>            return true;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libraries/AC_Fence/AC_Fence.cpp</a:t>
                      </a:r>
                      <a:r>
                        <a:rPr sz="1100" b="0">
                          <a:solidFill>
                            <a:srgbClr val="999999"/>
                          </a:solidFill>
                          <a:latin typeface="Fira Code"/>
                        </a:rPr>
                        <a:t>  ·  </a:t>
                      </a:r>
                      <a:r>
                        <a:rPr sz="1100" b="0">
                          <a:solidFill>
                            <a:srgbClr val="999999"/>
                          </a:solidFill>
                          <a:latin typeface="Fira Code"/>
                        </a:rPr>
                        <a:t>707-715</a:t>
                      </a:r>
                      <a:r>
                        <a:rPr sz="1100" b="0">
                          <a:solidFill>
                            <a:srgbClr val="999999"/>
                          </a:solidFill>
                          <a:latin typeface="Fira Code"/>
                        </a:rPr>
                        <a:t>  ·  </a:t>
                      </a:r>
                      <a:r>
                        <a:rPr sz="1100" b="0">
                          <a:solidFill>
                            <a:srgbClr val="999999"/>
                          </a:solidFill>
                          <a:latin typeface="Fira Code"/>
                        </a:rPr>
                        <a:t>AC_Fence::check_fence_circle()</a:t>
                      </a:r>
                    </a:p>
                    <a:p>
                      <a:pPr algn="l">
                        <a:lnSpc>
                          <a:spcPct val="106000"/>
                        </a:lnSpc>
                        <a:spcAft>
                          <a:spcPts val="0"/>
                        </a:spcAft>
                      </a:pPr>
                      <a:r>
                        <a:rPr sz="1100" b="0">
                          <a:solidFill>
                            <a:srgbClr val="333333"/>
                          </a:solidFill>
                          <a:latin typeface="Fira Code"/>
                        </a:rPr>
                        <a:t>    if (!(get_enabled_fences() &amp; AC_FENCE_TYPE_CIRCLE)) {</a:t>
                      </a:r>
                    </a:p>
                    <a:p>
                      <a:pPr algn="l">
                        <a:lnSpc>
                          <a:spcPct val="106000"/>
                        </a:lnSpc>
                        <a:spcAft>
                          <a:spcPts val="0"/>
                        </a:spcAft>
                      </a:pPr>
                      <a:r>
                        <a:rPr sz="1100" b="0">
                          <a:solidFill>
                            <a:srgbClr val="333333"/>
                          </a:solidFill>
                          <a:latin typeface="Fira Code"/>
                        </a:rPr>
                        <a:t>        // not enabled; no breach</a:t>
                      </a:r>
                    </a:p>
                    <a:p>
                      <a:pPr algn="l">
                        <a:lnSpc>
                          <a:spcPct val="106000"/>
                        </a:lnSpc>
                        <a:spcAft>
                          <a:spcPts val="0"/>
                        </a:spcAft>
                      </a:pPr>
                      <a:r>
                        <a:rPr sz="1100" b="0">
                          <a:solidFill>
                            <a:srgbClr val="333333"/>
                          </a:solidFill>
                          <a:latin typeface="Fira Code"/>
                        </a:rPr>
                        <a:t>        return false;</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Vector2f home;</a:t>
                      </a:r>
                    </a:p>
                    <a:p>
                      <a:pPr algn="l">
                        <a:lnSpc>
                          <a:spcPct val="106000"/>
                        </a:lnSpc>
                        <a:spcAft>
                          <a:spcPts val="0"/>
                        </a:spcAft>
                      </a:pPr>
                      <a:r>
                        <a:rPr sz="1100" b="0">
                          <a:solidFill>
                            <a:srgbClr val="333333"/>
                          </a:solidFill>
                          <a:latin typeface="Fira Code"/>
                        </a:rPr>
                        <a:t>    if (AP::ahrs().get_relative_position_NE_home(home)) {</a:t>
                      </a:r>
                    </a:p>
                    <a:p>
                      <a:pPr algn="l">
                        <a:lnSpc>
                          <a:spcPct val="106000"/>
                        </a:lnSpc>
                        <a:spcAft>
                          <a:spcPts val="0"/>
                        </a:spcAft>
                      </a:pPr>
                      <a:r>
                        <a:rPr sz="1100" b="0">
                          <a:solidFill>
                            <a:srgbClr val="333333"/>
                          </a:solidFill>
                          <a:latin typeface="Fira Code"/>
                        </a:rPr>
                        <a:t>        // we (may) remain breached if we can't update home</a:t>
                      </a:r>
                    </a:p>
                    <a:p>
                      <a:pPr algn="l">
                        <a:lnSpc>
                          <a:spcPct val="106000"/>
                        </a:lnSpc>
                        <a:spcAft>
                          <a:spcPts val="0"/>
                        </a:spcAft>
                      </a:pPr>
                      <a:r>
                        <a:rPr sz="1100" b="0">
                          <a:solidFill>
                            <a:srgbClr val="333333"/>
                          </a:solidFill>
                          <a:latin typeface="Fira Code"/>
                        </a:rPr>
                        <a:t>        _home_distance = home.length();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25375"/>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libraries/AC_Fence/AC_Fence.cpp</a:t>
                      </a:r>
                      <a:r>
                        <a:rPr sz="1100" b="0">
                          <a:solidFill>
                            <a:srgbClr val="999999"/>
                          </a:solidFill>
                          <a:latin typeface="Fira Code"/>
                        </a:rPr>
                        <a:t>  ·  </a:t>
                      </a:r>
                      <a:r>
                        <a:rPr sz="1100" b="0">
                          <a:solidFill>
                            <a:srgbClr val="999999"/>
                          </a:solidFill>
                          <a:latin typeface="Fira Code"/>
                        </a:rPr>
                        <a:t>540-548</a:t>
                      </a:r>
                      <a:r>
                        <a:rPr sz="1100" b="0">
                          <a:solidFill>
                            <a:srgbClr val="999999"/>
                          </a:solidFill>
                          <a:latin typeface="Fira Code"/>
                        </a:rPr>
                        <a:t>  ·  </a:t>
                      </a:r>
                      <a:r>
                        <a:rPr sz="1100" b="0">
                          <a:solidFill>
                            <a:srgbClr val="999999"/>
                          </a:solidFill>
                          <a:latin typeface="Fira Code"/>
                        </a:rPr>
                        <a:t>AC_Fence::check_fence_alt_max()</a:t>
                      </a:r>
                    </a:p>
                    <a:p>
                      <a:pPr algn="l">
                        <a:lnSpc>
                          <a:spcPct val="106000"/>
                        </a:lnSpc>
                        <a:spcAft>
                          <a:spcPts val="0"/>
                        </a:spcAft>
                      </a:pPr>
                      <a:r>
                        <a:rPr sz="1100" b="0">
                          <a:solidFill>
                            <a:srgbClr val="333333"/>
                          </a:solidFill>
                          <a:latin typeface="Fira Code"/>
                        </a:rPr>
                        <a:t>    if (!(get_enabled_fences() &amp; AC_FENCE_TYPE_ALT_MAX)) {</a:t>
                      </a:r>
                    </a:p>
                    <a:p>
                      <a:pPr algn="l">
                        <a:lnSpc>
                          <a:spcPct val="106000"/>
                        </a:lnSpc>
                        <a:spcAft>
                          <a:spcPts val="0"/>
                        </a:spcAft>
                      </a:pPr>
                      <a:r>
                        <a:rPr sz="1100" b="0">
                          <a:solidFill>
                            <a:srgbClr val="333333"/>
                          </a:solidFill>
                          <a:latin typeface="Fira Code"/>
                        </a:rPr>
                        <a:t>        // not enabled; no breach</a:t>
                      </a:r>
                    </a:p>
                    <a:p>
                      <a:pPr algn="l">
                        <a:lnSpc>
                          <a:spcPct val="106000"/>
                        </a:lnSpc>
                        <a:spcAft>
                          <a:spcPts val="0"/>
                        </a:spcAft>
                      </a:pPr>
                      <a:r>
                        <a:rPr sz="1100" b="0">
                          <a:solidFill>
                            <a:srgbClr val="333333"/>
                          </a:solidFill>
                          <a:latin typeface="Fira Code"/>
                        </a:rPr>
                        <a:t>        return false;</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float alt;</a:t>
                      </a:r>
                    </a:p>
                    <a:p>
                      <a:pPr algn="l">
                        <a:lnSpc>
                          <a:spcPct val="106000"/>
                        </a:lnSpc>
                        <a:spcAft>
                          <a:spcPts val="0"/>
                        </a:spcAft>
                      </a:pPr>
                      <a:r>
                        <a:rPr sz="1100" b="0">
                          <a:solidFill>
                            <a:srgbClr val="333333"/>
                          </a:solidFill>
                          <a:latin typeface="Fira Code"/>
                        </a:rPr>
                        <a:t>    AP::ahrs().get_relative_position_D_home(alt);</a:t>
                      </a:r>
                    </a:p>
                    <a:p>
                      <a:pPr algn="l">
                        <a:lnSpc>
                          <a:spcPct val="106000"/>
                        </a:lnSpc>
                        <a:spcAft>
                          <a:spcPts val="0"/>
                        </a:spcAft>
                      </a:pPr>
                      <a:r>
                        <a:rPr sz="1100" b="0">
                          <a:solidFill>
                            <a:srgbClr val="333333"/>
                          </a:solidFill>
                          <a:latin typeface="Fira Code"/>
                        </a:rPr>
                        <a:t>    const float _curr_alt = -alt; // translate Down to Up</a:t>
                      </a:r>
                    </a:p>
                    <a:p>
                      <a:pPr algn="l">
                        <a:lnSpc>
                          <a:spcPct val="106000"/>
                        </a:lnSpc>
                        <a:spcAft>
                          <a:spcPts val="0"/>
                        </a:spcAft>
                        <a:defRPr sz="1100">
                          <a:latin typeface="Fira Code"/>
                        </a:defRPr>
                      </a:pPr>
                      <a:r>
                        <a:rPr sz="1100" b="0">
                          <a:solidFill>
                            <a:srgbClr val="333333"/>
                          </a:solidFill>
                          <a:latin typeface="Fira Code"/>
                        </a:rPr>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libraries/AC_Fence/AC_Fence.cpp</a:t>
                      </a:r>
                      <a:r>
                        <a:rPr sz="1100" b="0">
                          <a:solidFill>
                            <a:srgbClr val="999999"/>
                          </a:solidFill>
                          <a:latin typeface="Fira Code"/>
                        </a:rPr>
                        <a:t>  ·  </a:t>
                      </a:r>
                      <a:r>
                        <a:rPr sz="1100" b="0">
                          <a:solidFill>
                            <a:srgbClr val="999999"/>
                          </a:solidFill>
                          <a:latin typeface="Fira Code"/>
                        </a:rPr>
                        <a:t>837-845</a:t>
                      </a:r>
                      <a:r>
                        <a:rPr sz="1100" b="0">
                          <a:solidFill>
                            <a:srgbClr val="999999"/>
                          </a:solidFill>
                          <a:latin typeface="Fira Code"/>
                        </a:rPr>
                        <a:t>  ·  </a:t>
                      </a:r>
                      <a:r>
                        <a:rPr sz="1100" b="0">
                          <a:solidFill>
                            <a:srgbClr val="999999"/>
                          </a:solidFill>
                          <a:latin typeface="Fira Code"/>
                        </a:rPr>
                        <a:t>AC_Fence::check()</a:t>
                      </a:r>
                    </a:p>
                    <a:p>
                      <a:pPr algn="l">
                        <a:lnSpc>
                          <a:spcPct val="106000"/>
                        </a:lnSpc>
                        <a:spcAft>
                          <a:spcPts val="0"/>
                        </a:spcAft>
                      </a:pPr>
                      <a:r>
                        <a:rPr sz="1100" b="0">
                          <a:solidFill>
                            <a:srgbClr val="333333"/>
                          </a:solidFill>
                          <a:latin typeface="Fira Code"/>
                        </a:rPr>
                        <a:t>    if (!(disabled_fences &amp; AC_FENCE_TYPE_CIRCLE) &amp;&amp; check_fence_circle()) {</a:t>
                      </a:r>
                    </a:p>
                    <a:p>
                      <a:pPr algn="l">
                        <a:lnSpc>
                          <a:spcPct val="106000"/>
                        </a:lnSpc>
                        <a:spcAft>
                          <a:spcPts val="0"/>
                        </a:spcAft>
                      </a:pPr>
                      <a:r>
                        <a:rPr sz="1100" b="0">
                          <a:solidFill>
                            <a:srgbClr val="333333"/>
                          </a:solidFill>
                          <a:latin typeface="Fira Code"/>
                        </a:rPr>
                        <a:t>        ret |= AC_FENCE_TYPE_CIRCLE;</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polygon fence check</a:t>
                      </a:r>
                    </a:p>
                    <a:p>
                      <a:pPr algn="l">
                        <a:lnSpc>
                          <a:spcPct val="106000"/>
                        </a:lnSpc>
                        <a:spcAft>
                          <a:spcPts val="0"/>
                        </a:spcAft>
                      </a:pPr>
                      <a:r>
                        <a:rPr sz="1100" b="0">
                          <a:solidFill>
                            <a:srgbClr val="333333"/>
                          </a:solidFill>
                          <a:latin typeface="Fira Code"/>
                        </a:rPr>
                        <a:t>    if (!(disabled_fences &amp; AC_FENCE_TYPE_POLYGON) &amp;&amp; check_fence_polygon()) {</a:t>
                      </a:r>
                    </a:p>
                    <a:p>
                      <a:pPr algn="l">
                        <a:lnSpc>
                          <a:spcPct val="106000"/>
                        </a:lnSpc>
                        <a:spcAft>
                          <a:spcPts val="0"/>
                        </a:spcAft>
                      </a:pPr>
                      <a:r>
                        <a:rPr sz="1100" b="0">
                          <a:solidFill>
                            <a:srgbClr val="333333"/>
                          </a:solidFill>
                          <a:latin typeface="Fira Code"/>
                        </a:rPr>
                        <a:t>        ret |= AC_FENCE_TYPE_POLYGON;</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6–7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69978"/>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7181">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ArduCopter/mode_guided_nogps.cpp</a:t>
                      </a:r>
                      <a:r>
                        <a:rPr sz="1100" b="0">
                          <a:solidFill>
                            <a:srgbClr val="999999"/>
                          </a:solidFill>
                          <a:latin typeface="Fira Code"/>
                        </a:rPr>
                        <a:t>  ·  </a:t>
                      </a:r>
                      <a:r>
                        <a:rPr sz="1100" b="0">
                          <a:solidFill>
                            <a:srgbClr val="999999"/>
                          </a:solidFill>
                          <a:latin typeface="Fira Code"/>
                        </a:rPr>
                        <a:t>9-15</a:t>
                      </a:r>
                      <a:r>
                        <a:rPr sz="1100" b="0">
                          <a:solidFill>
                            <a:srgbClr val="999999"/>
                          </a:solidFill>
                          <a:latin typeface="Fira Code"/>
                        </a:rPr>
                        <a:t>  ·  </a:t>
                      </a:r>
                      <a:r>
                        <a:rPr sz="1100" b="0">
                          <a:solidFill>
                            <a:srgbClr val="999999"/>
                          </a:solidFill>
                          <a:latin typeface="Fira Code"/>
                        </a:rPr>
                        <a:t>ModeGuidedNoGPS::init()</a:t>
                      </a:r>
                    </a:p>
                    <a:p>
                      <a:pPr algn="l">
                        <a:lnSpc>
                          <a:spcPct val="106000"/>
                        </a:lnSpc>
                        <a:spcAft>
                          <a:spcPts val="0"/>
                        </a:spcAft>
                      </a:pPr>
                      <a:r>
                        <a:rPr sz="1100" b="0">
                          <a:solidFill>
                            <a:srgbClr val="333333"/>
                          </a:solidFill>
                          <a:latin typeface="Fira Code"/>
                        </a:rPr>
                        <a:t>// initialise guided_nogps controller</a:t>
                      </a:r>
                    </a:p>
                    <a:p>
                      <a:pPr algn="l">
                        <a:lnSpc>
                          <a:spcPct val="106000"/>
                        </a:lnSpc>
                        <a:spcAft>
                          <a:spcPts val="0"/>
                        </a:spcAft>
                      </a:pPr>
                      <a:r>
                        <a:rPr sz="1100" b="0">
                          <a:solidFill>
                            <a:srgbClr val="333333"/>
                          </a:solidFill>
                          <a:latin typeface="Fira Code"/>
                        </a:rPr>
                        <a:t>bool ModeGuidedNoGPS::init(bool ignore_checks)</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start in angle control mode</a:t>
                      </a:r>
                    </a:p>
                    <a:p>
                      <a:pPr algn="l">
                        <a:lnSpc>
                          <a:spcPct val="106000"/>
                        </a:lnSpc>
                        <a:spcAft>
                          <a:spcPts val="0"/>
                        </a:spcAft>
                      </a:pPr>
                      <a:r>
                        <a:rPr sz="1100" b="0">
                          <a:solidFill>
                            <a:srgbClr val="333333"/>
                          </a:solidFill>
                          <a:latin typeface="Fira Code"/>
                        </a:rPr>
                        <a:t>    ModeGuided::angle_control_start();</a:t>
                      </a:r>
                    </a:p>
                    <a:p>
                      <a:pPr algn="l">
                        <a:lnSpc>
                          <a:spcPct val="106000"/>
                        </a:lnSpc>
                        <a:spcAft>
                          <a:spcPts val="0"/>
                        </a:spcAft>
                      </a:pPr>
                      <a:r>
                        <a:rPr sz="1100" b="0">
                          <a:solidFill>
                            <a:srgbClr val="333333"/>
                          </a:solidFill>
                          <a:latin typeface="Fira Code"/>
                        </a:rPr>
                        <a:t>    return true;</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Rover/fence.cpp</a:t>
                      </a:r>
                      <a:r>
                        <a:rPr sz="1100" b="0">
                          <a:solidFill>
                            <a:srgbClr val="999999"/>
                          </a:solidFill>
                          <a:latin typeface="Fira Code"/>
                        </a:rPr>
                        <a:t>  ·  </a:t>
                      </a:r>
                      <a:r>
                        <a:rPr sz="1100" b="0">
                          <a:solidFill>
                            <a:srgbClr val="999999"/>
                          </a:solidFill>
                          <a:latin typeface="Fira Code"/>
                        </a:rPr>
                        <a:t>17-25</a:t>
                      </a:r>
                      <a:r>
                        <a:rPr sz="1100" b="0">
                          <a:solidFill>
                            <a:srgbClr val="999999"/>
                          </a:solidFill>
                          <a:latin typeface="Fira Code"/>
                        </a:rPr>
                        <a:t>  ·  </a:t>
                      </a:r>
                      <a:r>
                        <a:rPr sz="1100" b="0">
                          <a:solidFill>
                            <a:srgbClr val="999999"/>
                          </a:solidFill>
                          <a:latin typeface="Fira Code"/>
                        </a:rPr>
                        <a:t>Rover::fence_checks_async()</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fence_breaches.last_check_ms = now;</a:t>
                      </a:r>
                    </a:p>
                    <a:p>
                      <a:pPr algn="l">
                        <a:lnSpc>
                          <a:spcPct val="106000"/>
                        </a:lnSpc>
                        <a:spcAft>
                          <a:spcPts val="0"/>
                        </a:spcAft>
                      </a:pPr>
                      <a:r>
                        <a:rPr sz="1100" b="0">
                          <a:solidFill>
                            <a:srgbClr val="333333"/>
                          </a:solidFill>
                          <a:latin typeface="Fira Code"/>
                        </a:rPr>
                        <a:t>    const uint8_t orig_breaches = fence.get_breaches();</a:t>
                      </a:r>
                    </a:p>
                    <a:p>
                      <a:pPr algn="l">
                        <a:lnSpc>
                          <a:spcPct val="106000"/>
                        </a:lnSpc>
                        <a:spcAft>
                          <a:spcPts val="0"/>
                        </a:spcAft>
                      </a:pPr>
                      <a:r>
                        <a:rPr sz="1100" b="0">
                          <a:solidFill>
                            <a:srgbClr val="333333"/>
                          </a:solidFill>
                          <a:latin typeface="Fira Code"/>
                        </a:rPr>
                        <a:t>    // check for new breaches; new_breaches is bitmask of fence types breached</a:t>
                      </a:r>
                    </a:p>
                    <a:p>
                      <a:pPr algn="l">
                        <a:lnSpc>
                          <a:spcPct val="106000"/>
                        </a:lnSpc>
                        <a:spcAft>
                          <a:spcPts val="0"/>
                        </a:spcAft>
                      </a:pPr>
                      <a:r>
                        <a:rPr sz="1100" b="0">
                          <a:solidFill>
                            <a:srgbClr val="333333"/>
                          </a:solidFill>
                          <a:latin typeface="Fira Code"/>
                        </a:rPr>
                        <a:t>    fence_breaches.new_breaches = fence.check();</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if (!fence_breaches.new_breaches &amp;&amp; orig_breaches &amp;&amp; fence.get_breaches() == 0) {</a:t>
                      </a:r>
                    </a:p>
                    <a:p>
                      <a:pPr algn="l">
                        <a:lnSpc>
                          <a:spcPct val="106000"/>
                        </a:lnSpc>
                        <a:spcAft>
                          <a:spcPts val="0"/>
                        </a:spcAft>
                      </a:pPr>
                      <a:r>
                        <a:rPr sz="1100" b="0">
                          <a:solidFill>
                            <a:srgbClr val="333333"/>
                          </a:solidFill>
                          <a:latin typeface="Fira Code"/>
                        </a:rPr>
                        <a:t>        // record clearing of breach</a:t>
                      </a:r>
                    </a:p>
                    <a:p>
                      <a:pPr algn="l">
                        <a:lnSpc>
                          <a:spcPct val="106000"/>
                        </a:lnSpc>
                        <a:spcAft>
                          <a:spcPts val="0"/>
                        </a:spcAft>
                      </a:pPr>
                      <a:r>
                        <a:rPr sz="1100" b="0">
                          <a:solidFill>
                            <a:srgbClr val="333333"/>
                          </a:solidFill>
                          <a:latin typeface="Fira Code"/>
                        </a:rPr>
                        <a:t>        LOGGER_WRITE_ERROR(LogErrorSubsystem::FAILSAFE_FENCE, LogErrorCode::ERROR_RESOLVED);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8–9</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1372003"/>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131784">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ArduPlane/takeoff.cpp</a:t>
                      </a:r>
                      <a:r>
                        <a:rPr sz="1100" b="0">
                          <a:solidFill>
                            <a:srgbClr val="999999"/>
                          </a:solidFill>
                          <a:latin typeface="Fira Code"/>
                        </a:rPr>
                        <a:t>  ·  </a:t>
                      </a:r>
                      <a:r>
                        <a:rPr sz="1100" b="0">
                          <a:solidFill>
                            <a:srgbClr val="999999"/>
                          </a:solidFill>
                          <a:latin typeface="Fira Code"/>
                        </a:rPr>
                        <a:t>58-62</a:t>
                      </a:r>
                      <a:r>
                        <a:rPr sz="1100" b="0">
                          <a:solidFill>
                            <a:srgbClr val="999999"/>
                          </a:solidFill>
                          <a:latin typeface="Fira Code"/>
                        </a:rPr>
                        <a:t>  ·  </a:t>
                      </a:r>
                      <a:r>
                        <a:rPr sz="1100" b="0">
                          <a:solidFill>
                            <a:srgbClr val="999999"/>
                          </a:solidFill>
                          <a:latin typeface="Fira Code"/>
                        </a:rPr>
                        <a:t>Plane::auto_takeoff_check()</a:t>
                      </a:r>
                    </a:p>
                    <a:p>
                      <a:pPr algn="l">
                        <a:lnSpc>
                          <a:spcPct val="106000"/>
                        </a:lnSpc>
                        <a:spcAft>
                          <a:spcPts val="0"/>
                        </a:spcAft>
                      </a:pPr>
                      <a:r>
                        <a:rPr sz="1100" b="0">
                          <a:solidFill>
                            <a:srgbClr val="333333"/>
                          </a:solidFill>
                          <a:latin typeface="Fira Code"/>
                        </a:rPr>
                        <a:t>    // Check for bad GPS</a:t>
                      </a:r>
                    </a:p>
                    <a:p>
                      <a:pPr algn="l">
                        <a:lnSpc>
                          <a:spcPct val="106000"/>
                        </a:lnSpc>
                        <a:spcAft>
                          <a:spcPts val="0"/>
                        </a:spcAft>
                      </a:pPr>
                      <a:r>
                        <a:rPr sz="1100" b="0">
                          <a:solidFill>
                            <a:srgbClr val="333333"/>
                          </a:solidFill>
                          <a:latin typeface="Fira Code"/>
                        </a:rPr>
                        <a:t>    if (gps.status() &lt; AP_GPS::GPS_OK_FIX_3D) {</a:t>
                      </a:r>
                    </a:p>
                    <a:p>
                      <a:pPr algn="l">
                        <a:lnSpc>
                          <a:spcPct val="106000"/>
                        </a:lnSpc>
                        <a:spcAft>
                          <a:spcPts val="0"/>
                        </a:spcAft>
                      </a:pPr>
                      <a:r>
                        <a:rPr sz="1100" b="0">
                          <a:solidFill>
                            <a:srgbClr val="333333"/>
                          </a:solidFill>
                          <a:latin typeface="Fira Code"/>
                        </a:rPr>
                        <a:t>        // no auto takeoff without GPS lock</a:t>
                      </a:r>
                    </a:p>
                    <a:p>
                      <a:pPr algn="l">
                        <a:lnSpc>
                          <a:spcPct val="106000"/>
                        </a:lnSpc>
                        <a:spcAft>
                          <a:spcPts val="0"/>
                        </a:spcAft>
                      </a:pPr>
                      <a:r>
                        <a:rPr sz="1100" b="0">
                          <a:solidFill>
                            <a:srgbClr val="333333"/>
                          </a:solidFill>
                          <a:latin typeface="Fira Code"/>
                        </a:rPr>
                        <a:t>        return false;</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213450" y="384048"/>
            <a:ext cx="411622"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DIRECT EDGES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4a — Layer 1 dependency map</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Table 4a: Layer 1 — direct callers / callees with typed dependency</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4179172"/>
        </p:xfrm>
        <a:graphic>
          <a:graphicData uri="http://schemas.openxmlformats.org/drawingml/2006/table">
            <a:tbl>
              <a:tblPr>
                <a:tableStyleId>{5C22544A-7EE6-4342-B048-85BDC9FD1C3A}</a:tableStyleId>
              </a:tblPr>
              <a:tblGrid>
                <a:gridCol w="685422"/>
                <a:gridCol w="2376130"/>
                <a:gridCol w="3061552"/>
                <a:gridCol w="3061552"/>
                <a:gridCol w="1873488"/>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Component/Function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Called By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Dependency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Copter::position_ok()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ekf_has_absolute_position(); ekf_has_relative_position(); reads failsafe.ekf</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Copter::set_mode (mode.cpp:306); position-dependent failsafes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Copter::set_mode() requires_GPS 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new_flightmode-&gt;requires_GPS(); copter.position_ok()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GCS/RC/auto mode-change entry points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fence.get_breaches(); fence.check()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 IO thread (1 kHz async, 25 Hz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AC_Fence::check_fence_polygon()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AP::ahrs().get_location(); _poly_loader.breached()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AC_Fence::check() (L842)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Shared global/singleton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AC_Fence::check_fence_circle()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AP::ahrs().get_relative_position_NE_home()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AC_Fence::check() (L837)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Shared global/singleton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AC_Fence::check_fence_alt_max()</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AP::ahrs().get_relative_position_D_home()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AC_Fence::check() (L821)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Shared global/singleton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AC_Fence::check()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check_fence_alt_max(); check_fence_circle(); check_fence_polygon()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Copter::fence_checks_async(); Rover::fence_checks_async()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ModeGuidedNoGPS::init()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ModeGuided::angle_control_start()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Copter::set_mode()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Rover::fence_checks_async()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fence.get_breaches(); fence.check()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Rover IO thread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DIRECT EDGES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4a — Layer 1 dependency map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658136"/>
        </p:xfrm>
        <a:graphic>
          <a:graphicData uri="http://schemas.openxmlformats.org/drawingml/2006/table">
            <a:tbl>
              <a:tblPr>
                <a:tableStyleId>{5C22544A-7EE6-4342-B048-85BDC9FD1C3A}</a:tableStyleId>
              </a:tblPr>
              <a:tblGrid>
                <a:gridCol w="685422"/>
                <a:gridCol w="2376130"/>
                <a:gridCol w="3061552"/>
                <a:gridCol w="3061552"/>
                <a:gridCol w="1873488"/>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Component/Function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Called By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Dependency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Plane::auto_takeoff_check()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AP_GPS::status() (gps.status()); compares vs AP_GPS::GPS_OK_FIX_3D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Plane::set_servos() (ArduPlane/servos.cpp:125)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213450" y="384048"/>
            <a:ext cx="411622"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4a — Layer 1 Code Snippet</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582282"/>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Every row’s Code Snippet, reproduced verbatim from the cited path:line range: one paragraph per source line, in the audit’s own order, with its indentation and its blank lines intact and nothing abbreviated.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228202"/>
          <a:ext cx="11058144" cy="3214581"/>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Copter::position_ok()</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bool Copter::position_ok()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return false if ekf failsafe has triggered</a:t>
                      </a:r>
                    </a:p>
                    <a:p>
                      <a:pPr algn="l">
                        <a:lnSpc>
                          <a:spcPct val="106000"/>
                        </a:lnSpc>
                        <a:spcAft>
                          <a:spcPts val="0"/>
                        </a:spcAft>
                      </a:pPr>
                      <a:r>
                        <a:rPr sz="1100" b="0">
                          <a:solidFill>
                            <a:srgbClr val="333333"/>
                          </a:solidFill>
                          <a:latin typeface="Fira Code"/>
                        </a:rPr>
                        <a:t>if (failsafe.ekf) {</a:t>
                      </a:r>
                    </a:p>
                    <a:p>
                      <a:pPr algn="l">
                        <a:lnSpc>
                          <a:spcPct val="106000"/>
                        </a:lnSpc>
                        <a:spcAft>
                          <a:spcPts val="0"/>
                        </a:spcAft>
                      </a:pPr>
                      <a:r>
                        <a:rPr sz="1100" b="0">
                          <a:solidFill>
                            <a:srgbClr val="333333"/>
                          </a:solidFill>
                          <a:latin typeface="Fira Code"/>
                        </a:rPr>
                        <a:t>return false;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check ekf position estimate</a:t>
                      </a:r>
                    </a:p>
                    <a:p>
                      <a:pPr algn="l">
                        <a:lnSpc>
                          <a:spcPct val="106000"/>
                        </a:lnSpc>
                        <a:spcAft>
                          <a:spcPts val="0"/>
                        </a:spcAft>
                      </a:pPr>
                      <a:r>
                        <a:rPr sz="1100" b="0">
                          <a:solidFill>
                            <a:srgbClr val="333333"/>
                          </a:solidFill>
                          <a:latin typeface="Fira Code"/>
                        </a:rPr>
                        <a:t>return (ekf_has_absolute_position() || ekf_has_relative_position());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309483">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Copter::set_mode() requires_GPS gate</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if (!ignore_checks &amp;&amp;</a:t>
                      </a:r>
                    </a:p>
                    <a:p>
                      <a:pPr algn="l">
                        <a:lnSpc>
                          <a:spcPct val="106000"/>
                        </a:lnSpc>
                        <a:spcAft>
                          <a:spcPts val="0"/>
                        </a:spcAft>
                      </a:pPr>
                      <a:r>
                        <a:rPr sz="1100" b="0">
                          <a:solidFill>
                            <a:srgbClr val="333333"/>
                          </a:solidFill>
                          <a:latin typeface="Fira Code"/>
                        </a:rPr>
                        <a:t>new_flightmode-&gt;requires_GPS() &amp;&amp;</a:t>
                      </a:r>
                    </a:p>
                    <a:p>
                      <a:pPr algn="l">
                        <a:lnSpc>
                          <a:spcPct val="106000"/>
                        </a:lnSpc>
                        <a:spcAft>
                          <a:spcPts val="0"/>
                        </a:spcAft>
                      </a:pPr>
                      <a:r>
                        <a:rPr sz="1100" b="0">
                          <a:solidFill>
                            <a:srgbClr val="333333"/>
                          </a:solidFill>
                          <a:latin typeface="Fira Code"/>
                        </a:rPr>
                        <a:t>!copter.position_ok()) {</a:t>
                      </a:r>
                    </a:p>
                    <a:p>
                      <a:pPr algn="l">
                        <a:lnSpc>
                          <a:spcPct val="106000"/>
                        </a:lnSpc>
                        <a:spcAft>
                          <a:spcPts val="0"/>
                        </a:spcAft>
                      </a:pPr>
                      <a:r>
                        <a:rPr sz="1100" b="0">
                          <a:solidFill>
                            <a:srgbClr val="333333"/>
                          </a:solidFill>
                          <a:latin typeface="Fira Code"/>
                        </a:rPr>
                        <a:t>mode_change_failed(new_flightmode, "requires position");</a:t>
                      </a:r>
                    </a:p>
                    <a:p>
                      <a:pPr algn="l">
                        <a:lnSpc>
                          <a:spcPct val="106000"/>
                        </a:lnSpc>
                        <a:spcAft>
                          <a:spcPts val="0"/>
                        </a:spcAft>
                      </a:pPr>
                      <a:r>
                        <a:rPr sz="1100" b="0">
                          <a:solidFill>
                            <a:srgbClr val="333333"/>
                          </a:solidFill>
                          <a:latin typeface="Fira Code"/>
                        </a:rPr>
                        <a:t>return false;</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392279"/>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Copter::fence_checks_async()</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fence_breaches.last_check_ms = now;</a:t>
                      </a:r>
                    </a:p>
                    <a:p>
                      <a:pPr algn="l">
                        <a:lnSpc>
                          <a:spcPct val="106000"/>
                        </a:lnSpc>
                        <a:spcAft>
                          <a:spcPts val="0"/>
                        </a:spcAft>
                      </a:pPr>
                      <a:r>
                        <a:rPr sz="1100" b="0">
                          <a:solidFill>
                            <a:srgbClr val="333333"/>
                          </a:solidFill>
                          <a:latin typeface="Fira Code"/>
                        </a:rPr>
                        <a:t>const uint8_t orig_breaches = fence.get_breaches();</a:t>
                      </a:r>
                    </a:p>
                    <a:p>
                      <a:pPr algn="l">
                        <a:lnSpc>
                          <a:spcPct val="106000"/>
                        </a:lnSpc>
                        <a:spcAft>
                          <a:spcPts val="0"/>
                        </a:spcAft>
                      </a:pPr>
                      <a:r>
                        <a:rPr sz="1100" b="0">
                          <a:solidFill>
                            <a:srgbClr val="333333"/>
                          </a:solidFill>
                          <a:latin typeface="Fira Code"/>
                        </a:rPr>
                        <a:t>bool is_landing_or_landed = flightmode-&gt;is_landing() || ap.land_complete || !motors-&gt;armed();</a:t>
                      </a:r>
                    </a:p>
                    <a:p>
                      <a:pPr algn="l">
                        <a:lnSpc>
                          <a:spcPct val="106000"/>
                        </a:lnSpc>
                        <a:spcAft>
                          <a:spcPts val="0"/>
                        </a:spcAft>
                      </a:pPr>
                      <a:r>
                        <a:rPr sz="1100" b="0">
                          <a:solidFill>
                            <a:srgbClr val="333333"/>
                          </a:solidFill>
                          <a:latin typeface="Fira Code"/>
                        </a:rPr>
                        <a:t>// check for new breaches; new_breaches is bitmask of fence types breached</a:t>
                      </a:r>
                    </a:p>
                    <a:p>
                      <a:pPr algn="l">
                        <a:lnSpc>
                          <a:spcPct val="106000"/>
                        </a:lnSpc>
                        <a:spcAft>
                          <a:spcPts val="0"/>
                        </a:spcAft>
                      </a:pPr>
                      <a:r>
                        <a:rPr sz="1100" b="0">
                          <a:solidFill>
                            <a:srgbClr val="333333"/>
                          </a:solidFill>
                          <a:latin typeface="Fira Code"/>
                        </a:rPr>
                        <a:t>fence_breaches.new_breaches = fence.check(is_landing_or_landed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if (!fence_breaches.new_breaches &amp;&amp; orig_breaches &amp;&amp; fence.get_breaches() == 0) {</a:t>
                      </a:r>
                    </a:p>
                    <a:p>
                      <a:pPr algn="l">
                        <a:lnSpc>
                          <a:spcPct val="106000"/>
                        </a:lnSpc>
                        <a:spcAft>
                          <a:spcPts val="0"/>
                        </a:spcAft>
                      </a:pPr>
                      <a:r>
                        <a:rPr sz="1100" b="0">
                          <a:solidFill>
                            <a:srgbClr val="333333"/>
                          </a:solidFill>
                          <a:latin typeface="Fira Code"/>
                        </a:rPr>
                        <a:t>if (!copter.ap.land_complete)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7181">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AC_Fence::check_fence_polygon()</a:t>
                      </a:r>
                      <a:r>
                        <a:rPr sz="1100" b="0">
                          <a:solidFill>
                            <a:srgbClr val="999999"/>
                          </a:solidFill>
                          <a:latin typeface="Fira Code"/>
                        </a:rPr>
                        <a:t>  ·  </a:t>
                      </a:r>
                      <a:r>
                        <a:rPr sz="1100" b="0">
                          <a:solidFill>
                            <a:srgbClr val="999999"/>
                          </a:solidFill>
                          <a:latin typeface="Fira Code"/>
                        </a:rPr>
                        <a:t>Shared global/singleton</a:t>
                      </a:r>
                    </a:p>
                    <a:p>
                      <a:pPr algn="l">
                        <a:lnSpc>
                          <a:spcPct val="106000"/>
                        </a:lnSpc>
                        <a:spcAft>
                          <a:spcPts val="0"/>
                        </a:spcAft>
                      </a:pPr>
                      <a:r>
                        <a:rPr sz="1100" b="0">
                          <a:solidFill>
                            <a:srgbClr val="333333"/>
                          </a:solidFill>
                          <a:latin typeface="Fira Code"/>
                        </a:rPr>
                        <a:t>const bool was_breached = _breached_fences &amp; AC_FENCE_TYPE_POLYGON;</a:t>
                      </a:r>
                    </a:p>
                    <a:p>
                      <a:pPr algn="l">
                        <a:lnSpc>
                          <a:spcPct val="106000"/>
                        </a:lnSpc>
                        <a:spcAft>
                          <a:spcPts val="0"/>
                        </a:spcAft>
                      </a:pPr>
                      <a:r>
                        <a:rPr sz="1100" b="0">
                          <a:solidFill>
                            <a:srgbClr val="333333"/>
                          </a:solidFill>
                          <a:latin typeface="Fira Code"/>
                        </a:rPr>
                        <a:t>Location loc;</a:t>
                      </a:r>
                    </a:p>
                    <a:p>
                      <a:pPr algn="l">
                        <a:lnSpc>
                          <a:spcPct val="106000"/>
                        </a:lnSpc>
                        <a:spcAft>
                          <a:spcPts val="0"/>
                        </a:spcAft>
                      </a:pPr>
                      <a:r>
                        <a:rPr sz="1100" b="0">
                          <a:solidFill>
                            <a:srgbClr val="333333"/>
                          </a:solidFill>
                          <a:latin typeface="Fira Code"/>
                        </a:rPr>
                        <a:t>const bool have_location = AP::ahrs().get_location(loc);</a:t>
                      </a:r>
                    </a:p>
                    <a:p>
                      <a:pPr algn="l">
                        <a:lnSpc>
                          <a:spcPct val="106000"/>
                        </a:lnSpc>
                        <a:spcAft>
                          <a:spcPts val="0"/>
                        </a:spcAft>
                      </a:pPr>
                      <a:r>
                        <a:rPr sz="1100" b="0">
                          <a:solidFill>
                            <a:srgbClr val="333333"/>
                          </a:solidFill>
                          <a:latin typeface="Fira Code"/>
                        </a:rPr>
                        <a:t>if (have_location &amp;&amp; _poly_loader.breached(loc, _polygon_breach_distance)) {</a:t>
                      </a:r>
                    </a:p>
                    <a:p>
                      <a:pPr algn="l">
                        <a:lnSpc>
                          <a:spcPct val="106000"/>
                        </a:lnSpc>
                        <a:spcAft>
                          <a:spcPts val="0"/>
                        </a:spcAft>
                      </a:pPr>
                      <a:r>
                        <a:rPr sz="1100" b="0">
                          <a:solidFill>
                            <a:srgbClr val="333333"/>
                          </a:solidFill>
                          <a:latin typeface="Fira Code"/>
                        </a:rPr>
                        <a:t>if (!was_breached) {</a:t>
                      </a:r>
                    </a:p>
                    <a:p>
                      <a:pPr algn="l">
                        <a:lnSpc>
                          <a:spcPct val="106000"/>
                        </a:lnSpc>
                        <a:spcAft>
                          <a:spcPts val="0"/>
                        </a:spcAft>
                      </a:pPr>
                      <a:r>
                        <a:rPr sz="1100" b="0">
                          <a:solidFill>
                            <a:srgbClr val="333333"/>
                          </a:solidFill>
                          <a:latin typeface="Fira Code"/>
                        </a:rPr>
                        <a:t>record_breach(AC_FENCE_TYPE_POLYGON);</a:t>
                      </a:r>
                    </a:p>
                    <a:p>
                      <a:pPr algn="l">
                        <a:lnSpc>
                          <a:spcPct val="106000"/>
                        </a:lnSpc>
                        <a:spcAft>
                          <a:spcPts val="0"/>
                        </a:spcAft>
                      </a:pPr>
                      <a:r>
                        <a:rPr sz="1100" b="0">
                          <a:solidFill>
                            <a:srgbClr val="333333"/>
                          </a:solidFill>
                          <a:latin typeface="Fira Code"/>
                        </a:rPr>
                        <a:t>return true;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3–4</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392279"/>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AC_Fence::check_fence_circle()</a:t>
                      </a:r>
                      <a:r>
                        <a:rPr sz="1100" b="0">
                          <a:solidFill>
                            <a:srgbClr val="999999"/>
                          </a:solidFill>
                          <a:latin typeface="Fira Code"/>
                        </a:rPr>
                        <a:t>  ·  </a:t>
                      </a:r>
                      <a:r>
                        <a:rPr sz="1100" b="0">
                          <a:solidFill>
                            <a:srgbClr val="999999"/>
                          </a:solidFill>
                          <a:latin typeface="Fira Code"/>
                        </a:rPr>
                        <a:t>Shared global/singleton</a:t>
                      </a:r>
                    </a:p>
                    <a:p>
                      <a:pPr algn="l">
                        <a:lnSpc>
                          <a:spcPct val="106000"/>
                        </a:lnSpc>
                        <a:spcAft>
                          <a:spcPts val="0"/>
                        </a:spcAft>
                      </a:pPr>
                      <a:r>
                        <a:rPr sz="1100" b="0">
                          <a:solidFill>
                            <a:srgbClr val="333333"/>
                          </a:solidFill>
                          <a:latin typeface="Fira Code"/>
                        </a:rPr>
                        <a:t>if (!(get_enabled_fences() &amp; AC_FENCE_TYPE_CIRCLE)) {</a:t>
                      </a:r>
                    </a:p>
                    <a:p>
                      <a:pPr algn="l">
                        <a:lnSpc>
                          <a:spcPct val="106000"/>
                        </a:lnSpc>
                        <a:spcAft>
                          <a:spcPts val="0"/>
                        </a:spcAft>
                      </a:pPr>
                      <a:r>
                        <a:rPr sz="1100" b="0">
                          <a:solidFill>
                            <a:srgbClr val="333333"/>
                          </a:solidFill>
                          <a:latin typeface="Fira Code"/>
                        </a:rPr>
                        <a:t>// not enabled; no breach</a:t>
                      </a:r>
                    </a:p>
                    <a:p>
                      <a:pPr algn="l">
                        <a:lnSpc>
                          <a:spcPct val="106000"/>
                        </a:lnSpc>
                        <a:spcAft>
                          <a:spcPts val="0"/>
                        </a:spcAft>
                      </a:pPr>
                      <a:r>
                        <a:rPr sz="1100" b="0">
                          <a:solidFill>
                            <a:srgbClr val="333333"/>
                          </a:solidFill>
                          <a:latin typeface="Fira Code"/>
                        </a:rPr>
                        <a:t>return false;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Vector2f home;</a:t>
                      </a:r>
                    </a:p>
                    <a:p>
                      <a:pPr algn="l">
                        <a:lnSpc>
                          <a:spcPct val="106000"/>
                        </a:lnSpc>
                        <a:spcAft>
                          <a:spcPts val="0"/>
                        </a:spcAft>
                      </a:pPr>
                      <a:r>
                        <a:rPr sz="1100" b="0">
                          <a:solidFill>
                            <a:srgbClr val="333333"/>
                          </a:solidFill>
                          <a:latin typeface="Fira Code"/>
                        </a:rPr>
                        <a:t>if (AP::ahrs().get_relative_position_NE_home(home)) {</a:t>
                      </a:r>
                    </a:p>
                    <a:p>
                      <a:pPr algn="l">
                        <a:lnSpc>
                          <a:spcPct val="106000"/>
                        </a:lnSpc>
                        <a:spcAft>
                          <a:spcPts val="0"/>
                        </a:spcAft>
                      </a:pPr>
                      <a:r>
                        <a:rPr sz="1100" b="0">
                          <a:solidFill>
                            <a:srgbClr val="333333"/>
                          </a:solidFill>
                          <a:latin typeface="Fira Code"/>
                        </a:rPr>
                        <a:t>// we (may) remain breached if we can't update home</a:t>
                      </a:r>
                    </a:p>
                    <a:p>
                      <a:pPr algn="l">
                        <a:lnSpc>
                          <a:spcPct val="106000"/>
                        </a:lnSpc>
                        <a:spcAft>
                          <a:spcPts val="0"/>
                        </a:spcAft>
                      </a:pPr>
                      <a:r>
                        <a:rPr sz="1100" b="0">
                          <a:solidFill>
                            <a:srgbClr val="333333"/>
                          </a:solidFill>
                          <a:latin typeface="Fira Code"/>
                        </a:rPr>
                        <a:t>_home_distance = home.length();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7181">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AC_Fence::check_fence_alt_max()</a:t>
                      </a:r>
                      <a:r>
                        <a:rPr sz="1100" b="0">
                          <a:solidFill>
                            <a:srgbClr val="999999"/>
                          </a:solidFill>
                          <a:latin typeface="Fira Code"/>
                        </a:rPr>
                        <a:t>  ·  </a:t>
                      </a:r>
                      <a:r>
                        <a:rPr sz="1100" b="0">
                          <a:solidFill>
                            <a:srgbClr val="999999"/>
                          </a:solidFill>
                          <a:latin typeface="Fira Code"/>
                        </a:rPr>
                        <a:t>Shared global/singleton</a:t>
                      </a:r>
                    </a:p>
                    <a:p>
                      <a:pPr algn="l">
                        <a:lnSpc>
                          <a:spcPct val="106000"/>
                        </a:lnSpc>
                        <a:spcAft>
                          <a:spcPts val="0"/>
                        </a:spcAft>
                      </a:pPr>
                      <a:r>
                        <a:rPr sz="1100" b="0">
                          <a:solidFill>
                            <a:srgbClr val="333333"/>
                          </a:solidFill>
                          <a:latin typeface="Fira Code"/>
                        </a:rPr>
                        <a:t>if (!(get_enabled_fences() &amp; AC_FENCE_TYPE_ALT_MAX)) {</a:t>
                      </a:r>
                    </a:p>
                    <a:p>
                      <a:pPr algn="l">
                        <a:lnSpc>
                          <a:spcPct val="106000"/>
                        </a:lnSpc>
                        <a:spcAft>
                          <a:spcPts val="0"/>
                        </a:spcAft>
                      </a:pPr>
                      <a:r>
                        <a:rPr sz="1100" b="0">
                          <a:solidFill>
                            <a:srgbClr val="333333"/>
                          </a:solidFill>
                          <a:latin typeface="Fira Code"/>
                        </a:rPr>
                        <a:t>// not enabled; no breach</a:t>
                      </a:r>
                    </a:p>
                    <a:p>
                      <a:pPr algn="l">
                        <a:lnSpc>
                          <a:spcPct val="106000"/>
                        </a:lnSpc>
                        <a:spcAft>
                          <a:spcPts val="0"/>
                        </a:spcAft>
                      </a:pPr>
                      <a:r>
                        <a:rPr sz="1100" b="0">
                          <a:solidFill>
                            <a:srgbClr val="333333"/>
                          </a:solidFill>
                          <a:latin typeface="Fira Code"/>
                        </a:rPr>
                        <a:t>return false;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float alt;</a:t>
                      </a:r>
                    </a:p>
                    <a:p>
                      <a:pPr algn="l">
                        <a:lnSpc>
                          <a:spcPct val="106000"/>
                        </a:lnSpc>
                        <a:spcAft>
                          <a:spcPts val="0"/>
                        </a:spcAft>
                      </a:pPr>
                      <a:r>
                        <a:rPr sz="1100" b="0">
                          <a:solidFill>
                            <a:srgbClr val="333333"/>
                          </a:solidFill>
                          <a:latin typeface="Fira Code"/>
                        </a:rPr>
                        <a:t>AP::ahrs().get_relative_position_D_home(alt);</a:t>
                      </a:r>
                    </a:p>
                    <a:p>
                      <a:pPr algn="l">
                        <a:lnSpc>
                          <a:spcPct val="106000"/>
                        </a:lnSpc>
                        <a:spcAft>
                          <a:spcPts val="0"/>
                        </a:spcAft>
                      </a:pPr>
                      <a:r>
                        <a:rPr sz="1100" b="0">
                          <a:solidFill>
                            <a:srgbClr val="333333"/>
                          </a:solidFill>
                          <a:latin typeface="Fira Code"/>
                        </a:rPr>
                        <a:t>const float _curr_alt = -alt; // translate Down to Up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5–6</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214581"/>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7181">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AC_Fence::check()</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if (!(disabled_fences &amp; AC_FENCE_TYPE_CIRCLE) &amp;&amp; check_fence_circle()) {</a:t>
                      </a:r>
                    </a:p>
                    <a:p>
                      <a:pPr algn="l">
                        <a:lnSpc>
                          <a:spcPct val="106000"/>
                        </a:lnSpc>
                        <a:spcAft>
                          <a:spcPts val="0"/>
                        </a:spcAft>
                      </a:pPr>
                      <a:r>
                        <a:rPr sz="1100" b="0">
                          <a:solidFill>
                            <a:srgbClr val="333333"/>
                          </a:solidFill>
                          <a:latin typeface="Fira Code"/>
                        </a:rPr>
                        <a:t>ret |= AC_FENCE_TYPE_CIRCLE;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polygon fence check</a:t>
                      </a:r>
                    </a:p>
                    <a:p>
                      <a:pPr algn="l">
                        <a:lnSpc>
                          <a:spcPct val="106000"/>
                        </a:lnSpc>
                        <a:spcAft>
                          <a:spcPts val="0"/>
                        </a:spcAft>
                      </a:pPr>
                      <a:r>
                        <a:rPr sz="1100" b="0">
                          <a:solidFill>
                            <a:srgbClr val="333333"/>
                          </a:solidFill>
                          <a:latin typeface="Fira Code"/>
                        </a:rPr>
                        <a:t>if (!(disabled_fences &amp; AC_FENCE_TYPE_POLYGON) &amp;&amp; check_fence_polygon()) {</a:t>
                      </a:r>
                    </a:p>
                    <a:p>
                      <a:pPr algn="l">
                        <a:lnSpc>
                          <a:spcPct val="106000"/>
                        </a:lnSpc>
                        <a:spcAft>
                          <a:spcPts val="0"/>
                        </a:spcAft>
                      </a:pPr>
                      <a:r>
                        <a:rPr sz="1100" b="0">
                          <a:solidFill>
                            <a:srgbClr val="333333"/>
                          </a:solidFill>
                          <a:latin typeface="Fira Code"/>
                        </a:rPr>
                        <a:t>ret |= AC_FENCE_TYPE_POLYGON;</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7181">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ModeGuidedNoGPS::init()</a:t>
                      </a:r>
                      <a:r>
                        <a:rPr sz="1100" b="0">
                          <a:solidFill>
                            <a:srgbClr val="999999"/>
                          </a:solidFill>
                          <a:latin typeface="Fira Code"/>
                        </a:rPr>
                        <a:t>  ·  </a:t>
                      </a:r>
                      <a:r>
                        <a:rPr sz="1100" b="0">
                          <a:solidFill>
                            <a:srgbClr val="999999"/>
                          </a:solidFill>
                          <a:latin typeface="Fira Code"/>
                        </a:rPr>
                        <a:t>Inheritance/Interface</a:t>
                      </a:r>
                    </a:p>
                    <a:p>
                      <a:pPr algn="l">
                        <a:lnSpc>
                          <a:spcPct val="106000"/>
                        </a:lnSpc>
                        <a:spcAft>
                          <a:spcPts val="0"/>
                        </a:spcAft>
                      </a:pPr>
                      <a:r>
                        <a:rPr sz="1100" b="0">
                          <a:solidFill>
                            <a:srgbClr val="333333"/>
                          </a:solidFill>
                          <a:latin typeface="Fira Code"/>
                        </a:rPr>
                        <a:t>// initialise guided_nogps controller</a:t>
                      </a:r>
                    </a:p>
                    <a:p>
                      <a:pPr algn="l">
                        <a:lnSpc>
                          <a:spcPct val="106000"/>
                        </a:lnSpc>
                        <a:spcAft>
                          <a:spcPts val="0"/>
                        </a:spcAft>
                      </a:pPr>
                      <a:r>
                        <a:rPr sz="1100" b="0">
                          <a:solidFill>
                            <a:srgbClr val="333333"/>
                          </a:solidFill>
                          <a:latin typeface="Fira Code"/>
                        </a:rPr>
                        <a:t>bool ModeGuidedNoGPS::init(bool ignore_checks)</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start in angle control mode</a:t>
                      </a:r>
                    </a:p>
                    <a:p>
                      <a:pPr algn="l">
                        <a:lnSpc>
                          <a:spcPct val="106000"/>
                        </a:lnSpc>
                        <a:spcAft>
                          <a:spcPts val="0"/>
                        </a:spcAft>
                      </a:pPr>
                      <a:r>
                        <a:rPr sz="1100" b="0">
                          <a:solidFill>
                            <a:srgbClr val="333333"/>
                          </a:solidFill>
                          <a:latin typeface="Fira Code"/>
                        </a:rPr>
                        <a:t>ModeGuided::angle_control_start();</a:t>
                      </a:r>
                    </a:p>
                    <a:p>
                      <a:pPr algn="l">
                        <a:lnSpc>
                          <a:spcPct val="106000"/>
                        </a:lnSpc>
                        <a:spcAft>
                          <a:spcPts val="0"/>
                        </a:spcAft>
                      </a:pPr>
                      <a:r>
                        <a:rPr sz="1100" b="0">
                          <a:solidFill>
                            <a:srgbClr val="333333"/>
                          </a:solidFill>
                          <a:latin typeface="Fira Code"/>
                        </a:rPr>
                        <a:t>return true;</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7–8</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859184"/>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7181">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Rover::fence_checks_async()</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fence_breaches.last_check_ms = now;</a:t>
                      </a:r>
                    </a:p>
                    <a:p>
                      <a:pPr algn="l">
                        <a:lnSpc>
                          <a:spcPct val="106000"/>
                        </a:lnSpc>
                        <a:spcAft>
                          <a:spcPts val="0"/>
                        </a:spcAft>
                      </a:pPr>
                      <a:r>
                        <a:rPr sz="1100" b="0">
                          <a:solidFill>
                            <a:srgbClr val="333333"/>
                          </a:solidFill>
                          <a:latin typeface="Fira Code"/>
                        </a:rPr>
                        <a:t>const uint8_t orig_breaches = fence.get_breaches();</a:t>
                      </a:r>
                    </a:p>
                    <a:p>
                      <a:pPr algn="l">
                        <a:lnSpc>
                          <a:spcPct val="106000"/>
                        </a:lnSpc>
                        <a:spcAft>
                          <a:spcPts val="0"/>
                        </a:spcAft>
                      </a:pPr>
                      <a:r>
                        <a:rPr sz="1100" b="0">
                          <a:solidFill>
                            <a:srgbClr val="333333"/>
                          </a:solidFill>
                          <a:latin typeface="Fira Code"/>
                        </a:rPr>
                        <a:t>// check for new breaches; new_breaches is bitmask of fence types breached</a:t>
                      </a:r>
                    </a:p>
                    <a:p>
                      <a:pPr algn="l">
                        <a:lnSpc>
                          <a:spcPct val="106000"/>
                        </a:lnSpc>
                        <a:spcAft>
                          <a:spcPts val="0"/>
                        </a:spcAft>
                      </a:pPr>
                      <a:r>
                        <a:rPr sz="1100" b="0">
                          <a:solidFill>
                            <a:srgbClr val="333333"/>
                          </a:solidFill>
                          <a:latin typeface="Fira Code"/>
                        </a:rPr>
                        <a:t>fence_breaches.new_breaches = fence.check();</a:t>
                      </a:r>
                    </a:p>
                    <a:p>
                      <a:pPr algn="l">
                        <a:lnSpc>
                          <a:spcPct val="106000"/>
                        </a:lnSpc>
                        <a:spcAft>
                          <a:spcPts val="0"/>
                        </a:spcAft>
                      </a:pPr>
                      <a:r>
                        <a:rPr sz="1100" b="0">
                          <a:solidFill>
                            <a:srgbClr val="333333"/>
                          </a:solidFill>
                          <a:latin typeface="Fira Code"/>
                        </a:rPr>
                        <a:t>if (!fence_breaches.new_breaches &amp;&amp; orig_breaches &amp;&amp; fence.get_breaches() == 0) {</a:t>
                      </a:r>
                    </a:p>
                    <a:p>
                      <a:pPr algn="l">
                        <a:lnSpc>
                          <a:spcPct val="106000"/>
                        </a:lnSpc>
                        <a:spcAft>
                          <a:spcPts val="0"/>
                        </a:spcAft>
                      </a:pPr>
                      <a:r>
                        <a:rPr sz="1100" b="0">
                          <a:solidFill>
                            <a:srgbClr val="333333"/>
                          </a:solidFill>
                          <a:latin typeface="Fira Code"/>
                        </a:rPr>
                        <a:t>// record clearing of breach</a:t>
                      </a:r>
                    </a:p>
                    <a:p>
                      <a:pPr algn="l">
                        <a:lnSpc>
                          <a:spcPct val="106000"/>
                        </a:lnSpc>
                        <a:spcAft>
                          <a:spcPts val="0"/>
                        </a:spcAft>
                      </a:pPr>
                      <a:r>
                        <a:rPr sz="1100" b="0">
                          <a:solidFill>
                            <a:srgbClr val="333333"/>
                          </a:solidFill>
                          <a:latin typeface="Fira Code"/>
                        </a:rPr>
                        <a:t>LOGGER_WRITE_ERROR(LogErrorSubsystem::FAILSAFE_FENCE, LogErrorCode::ERROR_RESOLVED);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131784">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Plane::auto_takeoff_check()</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 Check for bad GPS</a:t>
                      </a:r>
                    </a:p>
                    <a:p>
                      <a:pPr algn="l">
                        <a:lnSpc>
                          <a:spcPct val="106000"/>
                        </a:lnSpc>
                        <a:spcAft>
                          <a:spcPts val="0"/>
                        </a:spcAft>
                      </a:pPr>
                      <a:r>
                        <a:rPr sz="1100" b="0">
                          <a:solidFill>
                            <a:srgbClr val="333333"/>
                          </a:solidFill>
                          <a:latin typeface="Fira Code"/>
                        </a:rPr>
                        <a:t>if (gps.status() &lt; AP_GPS::GPS_OK_FIX_3D) {</a:t>
                      </a:r>
                    </a:p>
                    <a:p>
                      <a:pPr algn="l">
                        <a:lnSpc>
                          <a:spcPct val="106000"/>
                        </a:lnSpc>
                        <a:spcAft>
                          <a:spcPts val="0"/>
                        </a:spcAft>
                      </a:pPr>
                      <a:r>
                        <a:rPr sz="1100" b="0">
                          <a:solidFill>
                            <a:srgbClr val="333333"/>
                          </a:solidFill>
                          <a:latin typeface="Fira Code"/>
                        </a:rPr>
                        <a:t>// no auto takeoff without GPS lock</a:t>
                      </a:r>
                    </a:p>
                    <a:p>
                      <a:pPr algn="l">
                        <a:lnSpc>
                          <a:spcPct val="106000"/>
                        </a:lnSpc>
                        <a:spcAft>
                          <a:spcPts val="0"/>
                        </a:spcAft>
                      </a:pPr>
                      <a:r>
                        <a:rPr sz="1100" b="0">
                          <a:solidFill>
                            <a:srgbClr val="333333"/>
                          </a:solidFill>
                          <a:latin typeface="Fira Code"/>
                        </a:rPr>
                        <a:t>return false;</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9–10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2, 3, 4, 5</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4a — Layer 2 transitive chains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Table 4a: Layer 2 — full transitive chain, final consumer &amp; hop depth</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3929091"/>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position health (via 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 → NavEKF3 → AP_AHRS::have_inertial_nav() → Copter::ekf_has_absolute_position() → Copter::position_ok() → set_mode 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flight-mode entry allow/deny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Core positioning-health 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Copter::position_ok()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position_ok() → set_mode requires_GPS gate → mode_change_failed() → mode unchanged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rejected mode change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Gate decision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 vehicle position (via AC_Fence)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AP::ahrs() position → AC_Fence::check (polygon/circle/alt) → get_breaches bitmask → fence_checks_async latch → Copter::fence_check() action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 fence failsafe (RTL/LAND)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mirrors Rover chain #9.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AP_AHRS::get_location()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AP_AHRS::get_location() → check_fence_polygon → _poly_loader.breached() → record_breach() → _breached_fences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polygon breach bit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Polygon position test.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 NE-home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AP::ahrs().get_relative_position_NE_home() → check_fence_circle → distance&gt;radius → record_breach()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circle breach bit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Circle position test.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566928" y="5964050"/>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9" name="TextBox 8"/>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1–5</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2, 3, 4, 5</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4a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51393"/>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 D-home altitude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AP::ahrs().get_relative_position_D_home() → check_fence_alt_max → alt&gt;_alt_max → record_breach()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altitude breach bit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Altitude position test.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AC_Fence position checks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position checks → AC_Fence::check() aggregate → breach bitmask → vehicle fence_check() → failsafe action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vehicle fence 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Aggregator path.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(no PNT — GPS-independent)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ModeGuidedNoGPS::init() → angle_control_start() → AC_AttitudeControl → 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no positioning hop — fallback by design.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AP_AHRS vehicle position (via AC_Fence)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AP::ahrs() position → AC_Fence::check → get_breaches → Rover::fence_checks_async latch → Rover::fence_check() action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 fence 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[DUPLICATED] structurally identical to Copter chain #3.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951012">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AP_GPS::status() (GPS fix-status accessor)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AP_GPS::status() → Plane::auto_takeoff_check() [ArduPlane/takeoff.cpp:59] → Plane::set_servos() [ArduPlane/servos.cpp:125]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Plane::set_servos() (throttle suppression / launch 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User-example gps.status() observation gating auto-takeoff.</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566928" y="5470465"/>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6–10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0"/>
            <a:ext cx="11058144" cy="1188720"/>
          </a:xfrm>
          <a:prstGeom prst="rect">
            <a:avLst/>
          </a:prstGeom>
          <a:noFill/>
        </p:spPr>
        <p:txBody>
          <a:bodyPr wrap="square" lIns="0" rIns="0" tIns="0" bIns="0" anchor="t">
            <a:noAutofit/>
          </a:bodyPr>
          <a:lstStyle/>
          <a:p>
            <a:pPr algn="ctr">
              <a:lnSpc>
                <a:spcPct val="110000"/>
              </a:lnSpc>
              <a:spcAft>
                <a:spcPts val="0"/>
              </a:spcAft>
            </a:pPr>
            <a:r>
              <a:rPr sz="3800" b="1">
                <a:solidFill>
                  <a:srgbClr val="FFFFFF"/>
                </a:solidFill>
                <a:latin typeface="Space Grotesk"/>
              </a:rPr>
              <a:t>Table 5 — Indirect Navigation</a:t>
            </a:r>
          </a:p>
        </p:txBody>
      </p:sp>
      <p:sp>
        <p:nvSpPr>
          <p:cNvPr id="3" name="TextBox 2"/>
          <p:cNvSpPr txBox="1"/>
          <p:nvPr/>
        </p:nvSpPr>
        <p:spPr>
          <a:xfrm>
            <a:off x="566928" y="3840480"/>
            <a:ext cx="11058144" cy="365760"/>
          </a:xfrm>
          <a:prstGeom prst="rect">
            <a:avLst/>
          </a:prstGeom>
          <a:noFill/>
        </p:spPr>
        <p:txBody>
          <a:bodyPr wrap="square" lIns="0" rIns="0" tIns="0" bIns="0" anchor="t">
            <a:noAutofit/>
          </a:bodyPr>
          <a:lstStyle/>
          <a:p>
            <a:pPr algn="ctr">
              <a:lnSpc>
                <a:spcPct val="100000"/>
              </a:lnSpc>
              <a:spcAft>
                <a:spcPts val="0"/>
              </a:spcAft>
            </a:pPr>
            <a:r>
              <a:rPr sz="1300" b="0">
                <a:solidFill>
                  <a:srgbClr val="94FAD5"/>
                </a:solidFill>
                <a:latin typeface="Fira Code"/>
              </a:rPr>
              <a:t>Navigation read as a permission: estimator-variance watchdogs across the vehicle firmwares.</a:t>
            </a:r>
          </a:p>
        </p:txBody>
      </p:sp>
      <p:sp>
        <p:nvSpPr>
          <p:cNvPr id="4" name="Rectangle 3"/>
          <p:cNvSpPr/>
          <p:nvPr/>
        </p:nvSpPr>
        <p:spPr>
          <a:xfrm>
            <a:off x="4724400" y="4389120"/>
            <a:ext cx="2743200" cy="91440"/>
          </a:xfrm>
          <a:prstGeom prst="rect">
            <a:avLst/>
          </a:prstGeom>
          <a:gradFill rotWithShape="1">
            <a:gsLst>
              <a:gs pos="0">
                <a:srgbClr val="5B39F3"/>
              </a:gs>
              <a:gs pos="100000">
                <a:srgbClr val="94FAD5"/>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NAVIGATION</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 — Indirect Navigation</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All 10 catalogued rows, with every Notes annotation, flag token and cited path:line range exactly as printed.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3741529"/>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1806">
                <a:tc>
                  <a:txBody>
                    <a:bodyPr wrap="square">
                      <a:noAutofit/>
                    </a:bodyPr>
                    <a:lstStyle/>
                    <a:p>
                      <a:pPr algn="l">
                        <a:lnSpc>
                          <a:spcPct val="106000"/>
                        </a:lnSpc>
                        <a:spcAft>
                          <a:spcPts val="0"/>
                        </a:spcAft>
                      </a:pPr>
                      <a:r>
                        <a:rPr sz="1100" b="1">
                          <a:solidFill>
                            <a:srgbClr val="333333"/>
                          </a:solidFill>
                          <a:latin typeface="Fira Code"/>
                        </a:rPr>
                        <a:t>1</a:t>
                      </a:r>
                    </a:p>
                    <a:p>
                      <a:pPr algn="l">
                        <a:lnSpc>
                          <a:spcPct val="106000"/>
                        </a:lnSpc>
                        <a:spcAft>
                          <a:spcPts val="0"/>
                        </a:spcAft>
                      </a:pPr>
                      <a:r>
                        <a:rPr sz="1100" b="0">
                          <a:solidFill>
                            <a:srgbClr val="333333"/>
                          </a:solidFill>
                          <a:latin typeface="Fira Code"/>
                        </a:rPr>
                        <a:t>ArduCopter/ekf_check.cpp</a:t>
                      </a:r>
                    </a:p>
                    <a:p>
                      <a:pPr algn="l">
                        <a:lnSpc>
                          <a:spcPct val="106000"/>
                        </a:lnSpc>
                        <a:spcAft>
                          <a:spcPts val="0"/>
                        </a:spcAft>
                      </a:pPr>
                      <a:r>
                        <a:rPr sz="1100" b="0">
                          <a:solidFill>
                            <a:srgbClr val="333333"/>
                          </a:solidFill>
                          <a:latin typeface="Fira Code"/>
                        </a:rPr>
                        <a:t>117-125</a:t>
                      </a:r>
                    </a:p>
                    <a:p>
                      <a:pPr algn="l">
                        <a:lnSpc>
                          <a:spcPct val="106000"/>
                        </a:lnSpc>
                        <a:spcAft>
                          <a:spcPts val="0"/>
                        </a:spcAft>
                      </a:pPr>
                      <a:r>
                        <a:rPr sz="1100" b="0">
                          <a:solidFill>
                            <a:srgbClr val="333333"/>
                          </a:solidFill>
                          <a:latin typeface="Fira Code"/>
                        </a:rPr>
                        <a:t>Copter::ekf_over_threshold()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10 Hz EKF health check while the EKF has an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ahrs.get_variances() → velocity / position / height / magnetometer variances vs g.fs_ekf_thresh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Counts bad iterations; after EKF_CHECK_ITERATIONS_MAX (≈10) trips the EKF failsafe (LAND / AltHold).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INDIRECT/RELATIONAL (navigation). EKF-variance watchdog replicated across ArduCopter/ekf_check.cpp, ArduPlane/ekf_check.cpp, Rover/ekf_check.cpp and ArduSub/failsafe.cpp — a 4-way copy-paste (extraction risk).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1806">
                <a:tc>
                  <a:txBody>
                    <a:bodyPr wrap="square">
                      <a:noAutofit/>
                    </a:bodyPr>
                    <a:lstStyle/>
                    <a:p>
                      <a:pPr algn="l">
                        <a:lnSpc>
                          <a:spcPct val="106000"/>
                        </a:lnSpc>
                        <a:spcAft>
                          <a:spcPts val="0"/>
                        </a:spcAft>
                      </a:pPr>
                      <a:r>
                        <a:rPr sz="1100" b="1">
                          <a:solidFill>
                            <a:srgbClr val="333333"/>
                          </a:solidFill>
                          <a:latin typeface="Fira Code"/>
                        </a:rPr>
                        <a:t>2</a:t>
                      </a:r>
                    </a:p>
                    <a:p>
                      <a:pPr algn="l">
                        <a:lnSpc>
                          <a:spcPct val="106000"/>
                        </a:lnSpc>
                        <a:spcAft>
                          <a:spcPts val="0"/>
                        </a:spcAft>
                      </a:pPr>
                      <a:r>
                        <a:rPr sz="1100" b="0">
                          <a:solidFill>
                            <a:srgbClr val="333333"/>
                          </a:solidFill>
                          <a:latin typeface="Fira Code"/>
                        </a:rPr>
                        <a:t>ArduPlane/ekf_check.cpp</a:t>
                      </a:r>
                    </a:p>
                    <a:p>
                      <a:pPr algn="l">
                        <a:lnSpc>
                          <a:spcPct val="106000"/>
                        </a:lnSpc>
                        <a:spcAft>
                          <a:spcPts val="0"/>
                        </a:spcAft>
                      </a:pPr>
                      <a:r>
                        <a:rPr sz="1100" b="0">
                          <a:solidFill>
                            <a:srgbClr val="333333"/>
                          </a:solidFill>
                          <a:latin typeface="Fira Code"/>
                        </a:rPr>
                        <a:t>56-65</a:t>
                      </a:r>
                    </a:p>
                    <a:p>
                      <a:pPr algn="l">
                        <a:lnSpc>
                          <a:spcPct val="106000"/>
                        </a:lnSpc>
                        <a:spcAft>
                          <a:spcPts val="0"/>
                        </a:spcAft>
                      </a:pPr>
                      <a:r>
                        <a:rPr sz="1100" b="0">
                          <a:solidFill>
                            <a:srgbClr val="333333"/>
                          </a:solidFill>
                          <a:latin typeface="Fira Code"/>
                        </a:rPr>
                        <a:t>Plane::ekf_check()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10 Hz EKF health check (fixed-wing)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ekf_over_threshold() (compass &amp; velocity variance vs fs_ekf_thresh)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Increments fail_count; two iterations before failsafe asks the EKF to reset yaw (ahrs.request_yaw_reset()); trips EKF failsafe at MAX.</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[DUPLICATED] INDIRECT/RELATIONAL (navigation). EKF-variance watchdog replicated across ArduCopter/ekf_check.cpp, ArduPlane/ekf_check.cpp, Rover/ekf_check.cpp and ArduSub/failsafe.cpp — a 4-way copy-paste (extraction risk).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1–2</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NAVIGATION</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 — Indirect Navigation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41529"/>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1806">
                <a:tc>
                  <a:txBody>
                    <a:bodyPr wrap="square">
                      <a:noAutofit/>
                    </a:bodyPr>
                    <a:lstStyle/>
                    <a:p>
                      <a:pPr algn="l">
                        <a:lnSpc>
                          <a:spcPct val="106000"/>
                        </a:lnSpc>
                        <a:spcAft>
                          <a:spcPts val="0"/>
                        </a:spcAft>
                      </a:pPr>
                      <a:r>
                        <a:rPr sz="1100" b="1">
                          <a:solidFill>
                            <a:srgbClr val="333333"/>
                          </a:solidFill>
                          <a:latin typeface="Fira Code"/>
                        </a:rPr>
                        <a:t>3</a:t>
                      </a:r>
                    </a:p>
                    <a:p>
                      <a:pPr algn="l">
                        <a:lnSpc>
                          <a:spcPct val="106000"/>
                        </a:lnSpc>
                        <a:spcAft>
                          <a:spcPts val="0"/>
                        </a:spcAft>
                      </a:pPr>
                      <a:r>
                        <a:rPr sz="1100" b="0">
                          <a:solidFill>
                            <a:srgbClr val="333333"/>
                          </a:solidFill>
                          <a:latin typeface="Fira Code"/>
                        </a:rPr>
                        <a:t>Rover/ekf_check.cpp</a:t>
                      </a:r>
                    </a:p>
                    <a:p>
                      <a:pPr algn="l">
                        <a:lnSpc>
                          <a:spcPct val="106000"/>
                        </a:lnSpc>
                        <a:spcAft>
                          <a:spcPts val="0"/>
                        </a:spcAft>
                      </a:pPr>
                      <a:r>
                        <a:rPr sz="1100" b="0">
                          <a:solidFill>
                            <a:srgbClr val="333333"/>
                          </a:solidFill>
                          <a:latin typeface="Fira Code"/>
                        </a:rPr>
                        <a:t>93-102</a:t>
                      </a:r>
                    </a:p>
                    <a:p>
                      <a:pPr algn="l">
                        <a:lnSpc>
                          <a:spcPct val="106000"/>
                        </a:lnSpc>
                        <a:spcAft>
                          <a:spcPts val="0"/>
                        </a:spcAft>
                      </a:pPr>
                      <a:r>
                        <a:rPr sz="1100" b="0">
                          <a:solidFill>
                            <a:srgbClr val="333333"/>
                          </a:solidFill>
                          <a:latin typeface="Fira Code"/>
                        </a:rPr>
                        <a:t>Rover::ekf_over_threshold()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10 Hz EKF health check (ground vehicle)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ahrs.get_variances() → compass / velocity / position variance; ≥2 over threshold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Sets bad_variance → Rover EKF failsafe action.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INDIRECT/RELATIONAL (navigation). EKF-variance watchdog replicated across ArduCopter/ekf_check.cpp, ArduPlane/ekf_check.cpp, Rover/ekf_check.cpp and ArduSub/failsafe.cpp — a 4-way copy-paste (extraction risk).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1806">
                <a:tc>
                  <a:txBody>
                    <a:bodyPr wrap="square">
                      <a:noAutofit/>
                    </a:bodyPr>
                    <a:lstStyle/>
                    <a:p>
                      <a:pPr algn="l">
                        <a:lnSpc>
                          <a:spcPct val="106000"/>
                        </a:lnSpc>
                        <a:spcAft>
                          <a:spcPts val="0"/>
                        </a:spcAft>
                      </a:pPr>
                      <a:r>
                        <a:rPr sz="1100" b="1">
                          <a:solidFill>
                            <a:srgbClr val="333333"/>
                          </a:solidFill>
                          <a:latin typeface="Fira Code"/>
                        </a:rPr>
                        <a:t>4</a:t>
                      </a:r>
                    </a:p>
                    <a:p>
                      <a:pPr algn="l">
                        <a:lnSpc>
                          <a:spcPct val="106000"/>
                        </a:lnSpc>
                        <a:spcAft>
                          <a:spcPts val="0"/>
                        </a:spcAft>
                      </a:pPr>
                      <a:r>
                        <a:rPr sz="1100" b="0">
                          <a:solidFill>
                            <a:srgbClr val="333333"/>
                          </a:solidFill>
                          <a:latin typeface="Fira Code"/>
                        </a:rPr>
                        <a:t>ArduSub/failsafe.cpp</a:t>
                      </a:r>
                    </a:p>
                    <a:p>
                      <a:pPr algn="l">
                        <a:lnSpc>
                          <a:spcPct val="106000"/>
                        </a:lnSpc>
                        <a:spcAft>
                          <a:spcPts val="0"/>
                        </a:spcAft>
                      </a:pPr>
                      <a:r>
                        <a:rPr sz="1100" b="0">
                          <a:solidFill>
                            <a:srgbClr val="333333"/>
                          </a:solidFill>
                          <a:latin typeface="Fira Code"/>
                        </a:rPr>
                        <a:t>112-121</a:t>
                      </a:r>
                    </a:p>
                    <a:p>
                      <a:pPr algn="l">
                        <a:lnSpc>
                          <a:spcPct val="106000"/>
                        </a:lnSpc>
                        <a:spcAft>
                          <a:spcPts val="0"/>
                        </a:spcAft>
                      </a:pPr>
                      <a:r>
                        <a:rPr sz="1100" b="0">
                          <a:solidFill>
                            <a:srgbClr val="333333"/>
                          </a:solidFill>
                          <a:latin typeface="Fira Code"/>
                        </a:rPr>
                        <a:t>Sub::failsafe_ekf_check()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Periodic EKF health check (submarine)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ahrs.get_variances() → compass_variance &amp; vel_variance vs g.fs_ekf_thresh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Clears/sets failsafe.ekf and AP_Notify ekf_bad based on variance vs threshold; GCS warns “EKF bad”.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[DUPLICATED] INDIRECT/RELATIONAL (navigation). [FIX F13 dep-type] EKF-variance watchdog replicated across ArduCopter/ekf_check.cpp, ArduPlane/ekf_check.cpp, Rover/ekf_check.cpp and ArduSub/failsafe.cpp — a 4-way copy-paste (extraction risk).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3–4</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NAVIGATION</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 — Indirect Navigation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81748"/>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128711">
                <a:tc>
                  <a:txBody>
                    <a:bodyPr wrap="square">
                      <a:noAutofit/>
                    </a:bodyPr>
                    <a:lstStyle/>
                    <a:p>
                      <a:pPr algn="l">
                        <a:lnSpc>
                          <a:spcPct val="106000"/>
                        </a:lnSpc>
                        <a:spcAft>
                          <a:spcPts val="0"/>
                        </a:spcAft>
                      </a:pPr>
                      <a:r>
                        <a:rPr sz="1100" b="1">
                          <a:solidFill>
                            <a:srgbClr val="333333"/>
                          </a:solidFill>
                          <a:latin typeface="Fira Code"/>
                        </a:rPr>
                        <a:t>5</a:t>
                      </a:r>
                    </a:p>
                    <a:p>
                      <a:pPr algn="l">
                        <a:lnSpc>
                          <a:spcPct val="106000"/>
                        </a:lnSpc>
                        <a:spcAft>
                          <a:spcPts val="0"/>
                        </a:spcAft>
                      </a:pPr>
                      <a:r>
                        <a:rPr sz="1100" b="0">
                          <a:solidFill>
                            <a:srgbClr val="333333"/>
                          </a:solidFill>
                          <a:latin typeface="Fira Code"/>
                        </a:rPr>
                        <a:t>ArduCopter/crash_check.cpp</a:t>
                      </a:r>
                    </a:p>
                    <a:p>
                      <a:pPr algn="l">
                        <a:lnSpc>
                          <a:spcPct val="106000"/>
                        </a:lnSpc>
                        <a:spcAft>
                          <a:spcPts val="0"/>
                        </a:spcAft>
                      </a:pPr>
                      <a:r>
                        <a:rPr sz="1100" b="0">
                          <a:solidFill>
                            <a:srgbClr val="333333"/>
                          </a:solidFill>
                          <a:latin typeface="Fira Code"/>
                        </a:rPr>
                        <a:t>65-74</a:t>
                      </a:r>
                    </a:p>
                    <a:p>
                      <a:pPr algn="l">
                        <a:lnSpc>
                          <a:spcPct val="106000"/>
                        </a:lnSpc>
                        <a:spcAft>
                          <a:spcPts val="0"/>
                        </a:spcAft>
                      </a:pPr>
                      <a:r>
                        <a:rPr sz="1100" b="0">
                          <a:solidFill>
                            <a:srgbClr val="333333"/>
                          </a:solidFill>
                          <a:latin typeface="Fira Code"/>
                        </a:rPr>
                        <a:t>Copter::crash_check() — attitude test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Disarm/crash monitor running while armed and not landed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ahrs.cos_roll() / ahrs.cos_pitch() (lean angle); attitude_control-&gt; get_att_error_angle_deg()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Resets crash_counter (declares not-crashing) when lean angle ≤ 15° or attitude error ≤ 30°.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[FIX F3] Split row: attitude-only observation (lean L66, angle-error L73). Velocity observation is the separate row #6 (was wrongly bundled into the L64-73 citation).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128711">
                <a:tc>
                  <a:txBody>
                    <a:bodyPr wrap="square">
                      <a:noAutofit/>
                    </a:bodyPr>
                    <a:lstStyle/>
                    <a:p>
                      <a:pPr algn="l">
                        <a:lnSpc>
                          <a:spcPct val="106000"/>
                        </a:lnSpc>
                        <a:spcAft>
                          <a:spcPts val="0"/>
                        </a:spcAft>
                      </a:pPr>
                      <a:r>
                        <a:rPr sz="1100" b="1">
                          <a:solidFill>
                            <a:srgbClr val="333333"/>
                          </a:solidFill>
                          <a:latin typeface="Fira Code"/>
                        </a:rPr>
                        <a:t>6</a:t>
                      </a:r>
                    </a:p>
                    <a:p>
                      <a:pPr algn="l">
                        <a:lnSpc>
                          <a:spcPct val="106000"/>
                        </a:lnSpc>
                        <a:spcAft>
                          <a:spcPts val="0"/>
                        </a:spcAft>
                      </a:pPr>
                      <a:r>
                        <a:rPr sz="1100" b="0">
                          <a:solidFill>
                            <a:srgbClr val="333333"/>
                          </a:solidFill>
                          <a:latin typeface="Fira Code"/>
                        </a:rPr>
                        <a:t>ArduCopter/crash_check.cpp</a:t>
                      </a:r>
                    </a:p>
                    <a:p>
                      <a:pPr algn="l">
                        <a:lnSpc>
                          <a:spcPct val="106000"/>
                        </a:lnSpc>
                        <a:spcAft>
                          <a:spcPts val="0"/>
                        </a:spcAft>
                      </a:pPr>
                      <a:r>
                        <a:rPr sz="1100" b="0">
                          <a:solidFill>
                            <a:srgbClr val="333333"/>
                          </a:solidFill>
                          <a:latin typeface="Fira Code"/>
                        </a:rPr>
                        <a:t>78-84</a:t>
                      </a:r>
                    </a:p>
                    <a:p>
                      <a:pPr algn="l">
                        <a:lnSpc>
                          <a:spcPct val="106000"/>
                        </a:lnSpc>
                        <a:spcAft>
                          <a:spcPts val="0"/>
                        </a:spcAft>
                      </a:pPr>
                      <a:r>
                        <a:rPr sz="1100" b="0">
                          <a:solidFill>
                            <a:srgbClr val="333333"/>
                          </a:solidFill>
                          <a:latin typeface="Fira Code"/>
                        </a:rPr>
                        <a:t>Copter::crash_check() — velocity test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Continues after the attitude test indicates a possible crash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ahrs.get_velocity_NED(vel_ned) → NED speed magnitude (L80-81)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Resets crash_counter when speed ≥ CRASH_CHECK_SPEED_MAX (10 m/s); otherwise increments toward the 2-second crash trigger → disarm.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[FIX F3] Split row: the velocity observation cited at L78-84 (ahrs.get_velocity_NED L80-81), now accurately centered — not the L64-73 attitude range.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1306409">
                <a:tc>
                  <a:txBody>
                    <a:bodyPr wrap="square">
                      <a:noAutofit/>
                    </a:bodyPr>
                    <a:lstStyle/>
                    <a:p>
                      <a:pPr algn="l">
                        <a:lnSpc>
                          <a:spcPct val="106000"/>
                        </a:lnSpc>
                        <a:spcAft>
                          <a:spcPts val="0"/>
                        </a:spcAft>
                      </a:pPr>
                      <a:r>
                        <a:rPr sz="1100" b="1">
                          <a:solidFill>
                            <a:srgbClr val="333333"/>
                          </a:solidFill>
                          <a:latin typeface="Fira Code"/>
                        </a:rPr>
                        <a:t>7</a:t>
                      </a:r>
                    </a:p>
                    <a:p>
                      <a:pPr algn="l">
                        <a:lnSpc>
                          <a:spcPct val="106000"/>
                        </a:lnSpc>
                        <a:spcAft>
                          <a:spcPts val="0"/>
                        </a:spcAft>
                      </a:pPr>
                      <a:r>
                        <a:rPr sz="1100" b="0">
                          <a:solidFill>
                            <a:srgbClr val="333333"/>
                          </a:solidFill>
                          <a:latin typeface="Fira Code"/>
                        </a:rPr>
                        <a:t>ArduPlane/GCS_MAVLink_Plane.cpp</a:t>
                      </a:r>
                    </a:p>
                    <a:p>
                      <a:pPr algn="l">
                        <a:lnSpc>
                          <a:spcPct val="106000"/>
                        </a:lnSpc>
                        <a:spcAft>
                          <a:spcPts val="0"/>
                        </a:spcAft>
                      </a:pPr>
                      <a:r>
                        <a:rPr sz="1100" b="0">
                          <a:solidFill>
                            <a:srgbClr val="333333"/>
                          </a:solidFill>
                          <a:latin typeface="Fira Code"/>
                        </a:rPr>
                        <a:t>204-212</a:t>
                      </a:r>
                    </a:p>
                    <a:p>
                      <a:pPr algn="l">
                        <a:lnSpc>
                          <a:spcPct val="106000"/>
                        </a:lnSpc>
                        <a:spcAft>
                          <a:spcPts val="0"/>
                        </a:spcAft>
                      </a:pPr>
                      <a:r>
                        <a:rPr sz="1100" b="0">
                          <a:solidFill>
                            <a:srgbClr val="333333"/>
                          </a:solidFill>
                          <a:latin typeface="Fira Code"/>
                        </a:rPr>
                        <a:t>GCS_MAVLINK_Plane::send_nav_controller_output()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GCS telemetry stream requests NAV_CONTROLLER_OUTPUT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nav_controller navigation state (target bearing, xtrack error, wp distance) — unless in MANUAL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Emits the NAV_CONTROLLER_OUTPUT MAVLink message (navigation-health reporting to the GCS).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INDIRECT/RELATIONAL (navigation). Reporting Sink for navigation 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5–7</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NAVIGATION</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 — Indirect Navigation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626351"/>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l">
                        <a:lnSpc>
                          <a:spcPct val="106000"/>
                        </a:lnSpc>
                        <a:spcAft>
                          <a:spcPts val="0"/>
                        </a:spcAft>
                      </a:pPr>
                      <a:r>
                        <a:rPr sz="1100" b="1">
                          <a:solidFill>
                            <a:srgbClr val="333333"/>
                          </a:solidFill>
                          <a:latin typeface="Fira Code"/>
                        </a:rPr>
                        <a:t>8</a:t>
                      </a:r>
                    </a:p>
                    <a:p>
                      <a:pPr algn="l">
                        <a:lnSpc>
                          <a:spcPct val="106000"/>
                        </a:lnSpc>
                        <a:spcAft>
                          <a:spcPts val="0"/>
                        </a:spcAft>
                      </a:pPr>
                      <a:r>
                        <a:rPr sz="1100" b="0">
                          <a:solidFill>
                            <a:srgbClr val="333333"/>
                          </a:solidFill>
                          <a:latin typeface="Fira Code"/>
                        </a:rPr>
                        <a:t>ArduPlane/Attitude.cpp</a:t>
                      </a:r>
                    </a:p>
                    <a:p>
                      <a:pPr algn="l">
                        <a:lnSpc>
                          <a:spcPct val="106000"/>
                        </a:lnSpc>
                        <a:spcAft>
                          <a:spcPts val="0"/>
                        </a:spcAft>
                      </a:pPr>
                      <a:r>
                        <a:rPr sz="1100" b="0">
                          <a:solidFill>
                            <a:srgbClr val="333333"/>
                          </a:solidFill>
                          <a:latin typeface="Fira Code"/>
                        </a:rPr>
                        <a:t>604-611</a:t>
                      </a:r>
                    </a:p>
                    <a:p>
                      <a:pPr algn="l">
                        <a:lnSpc>
                          <a:spcPct val="106000"/>
                        </a:lnSpc>
                        <a:spcAft>
                          <a:spcPts val="0"/>
                        </a:spcAft>
                      </a:pPr>
                      <a:r>
                        <a:rPr sz="1100" b="0">
                          <a:solidFill>
                            <a:srgbClr val="333333"/>
                          </a:solidFill>
                          <a:latin typeface="Fira Code"/>
                        </a:rPr>
                        <a:t>Plane::calc_nav_roll()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Fixed-wing attitude loop computing the roll demand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nav_controller-&gt;nav_roll_cd() (L1/navigation lateral roll demand)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Sets nav_roll_cd from the navigation controller, constrained to ±roll_limit_cd.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INDIRECT/RELATIONAL (navigation). Consumes navigation-controller output (user-cited calc_nav_roll).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128711">
                <a:tc>
                  <a:txBody>
                    <a:bodyPr wrap="square">
                      <a:noAutofit/>
                    </a:bodyPr>
                    <a:lstStyle/>
                    <a:p>
                      <a:pPr algn="l">
                        <a:lnSpc>
                          <a:spcPct val="106000"/>
                        </a:lnSpc>
                        <a:spcAft>
                          <a:spcPts val="0"/>
                        </a:spcAft>
                      </a:pPr>
                      <a:r>
                        <a:rPr sz="1100" b="1">
                          <a:solidFill>
                            <a:srgbClr val="333333"/>
                          </a:solidFill>
                          <a:latin typeface="Fira Code"/>
                        </a:rPr>
                        <a:t>9</a:t>
                      </a:r>
                    </a:p>
                    <a:p>
                      <a:pPr algn="l">
                        <a:lnSpc>
                          <a:spcPct val="106000"/>
                        </a:lnSpc>
                        <a:spcAft>
                          <a:spcPts val="0"/>
                        </a:spcAft>
                      </a:pPr>
                      <a:r>
                        <a:rPr sz="1100" b="0">
                          <a:solidFill>
                            <a:srgbClr val="333333"/>
                          </a:solidFill>
                          <a:latin typeface="Fira Code"/>
                        </a:rPr>
                        <a:t>ArduPlane/navigation.cpp</a:t>
                      </a:r>
                    </a:p>
                    <a:p>
                      <a:pPr algn="l">
                        <a:lnSpc>
                          <a:spcPct val="106000"/>
                        </a:lnSpc>
                        <a:spcAft>
                          <a:spcPts val="0"/>
                        </a:spcAft>
                      </a:pPr>
                      <a:r>
                        <a:rPr sz="1100" b="0">
                          <a:solidFill>
                            <a:srgbClr val="333333"/>
                          </a:solidFill>
                          <a:latin typeface="Fira Code"/>
                        </a:rPr>
                        <a:t>86-94</a:t>
                      </a:r>
                    </a:p>
                    <a:p>
                      <a:pPr algn="l">
                        <a:lnSpc>
                          <a:spcPct val="106000"/>
                        </a:lnSpc>
                        <a:spcAft>
                          <a:spcPts val="0"/>
                        </a:spcAft>
                      </a:pPr>
                      <a:r>
                        <a:rPr sz="1100" b="0">
                          <a:solidFill>
                            <a:srgbClr val="333333"/>
                          </a:solidFill>
                          <a:latin typeface="Fira Code"/>
                        </a:rPr>
                        <a:t>Plane::navigate()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10 Hz fixed-wing navigation 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have_position flag (EKF/GPS position validity); next_WP_loc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Returns early (skips navigation) when have_position is false; otherwise computes the desired direction and distance to the next waypoint.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INDIRECT/RELATIONAL (navigation). This is the real symbol behind the user-example 'flight_mode_auto' chain (Table 2a L2 #1); gated on PNT position validity.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1306409">
                <a:tc>
                  <a:txBody>
                    <a:bodyPr wrap="square">
                      <a:noAutofit/>
                    </a:bodyPr>
                    <a:lstStyle/>
                    <a:p>
                      <a:pPr algn="l">
                        <a:lnSpc>
                          <a:spcPct val="106000"/>
                        </a:lnSpc>
                        <a:spcAft>
                          <a:spcPts val="0"/>
                        </a:spcAft>
                      </a:pPr>
                      <a:r>
                        <a:rPr sz="1100" b="1">
                          <a:solidFill>
                            <a:srgbClr val="333333"/>
                          </a:solidFill>
                          <a:latin typeface="Fira Code"/>
                        </a:rPr>
                        <a:t>10</a:t>
                      </a:r>
                    </a:p>
                    <a:p>
                      <a:pPr algn="l">
                        <a:lnSpc>
                          <a:spcPct val="106000"/>
                        </a:lnSpc>
                        <a:spcAft>
                          <a:spcPts val="0"/>
                        </a:spcAft>
                      </a:pPr>
                      <a:r>
                        <a:rPr sz="1100" b="0">
                          <a:solidFill>
                            <a:srgbClr val="333333"/>
                          </a:solidFill>
                          <a:latin typeface="Fira Code"/>
                        </a:rPr>
                        <a:t>ArduPlane/navigation.cpp</a:t>
                      </a:r>
                    </a:p>
                    <a:p>
                      <a:pPr algn="l">
                        <a:lnSpc>
                          <a:spcPct val="106000"/>
                        </a:lnSpc>
                        <a:spcAft>
                          <a:spcPts val="0"/>
                        </a:spcAft>
                      </a:pPr>
                      <a:r>
                        <a:rPr sz="1100" b="0">
                          <a:solidFill>
                            <a:srgbClr val="333333"/>
                          </a:solidFill>
                          <a:latin typeface="Fira Code"/>
                        </a:rPr>
                        <a:t>304-311</a:t>
                      </a:r>
                    </a:p>
                    <a:p>
                      <a:pPr algn="l">
                        <a:lnSpc>
                          <a:spcPct val="106000"/>
                        </a:lnSpc>
                        <a:spcAft>
                          <a:spcPts val="0"/>
                        </a:spcAft>
                      </a:pPr>
                      <a:r>
                        <a:rPr sz="1100" b="0">
                          <a:solidFill>
                            <a:srgbClr val="333333"/>
                          </a:solidFill>
                          <a:latin typeface="Fira Code"/>
                        </a:rPr>
                        <a:t>Plane::calc_gndspeed_undershoot()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10 Hz GPS/navigation update (Plane::update_GPS_10Hz, ArduPlane/Plane.cpp:490)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ahrs.have_inertial_nav() (inertial-navigation solution availability)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Ground-speed-undershoot (min-groundspeed wind/flyaway compensation) is computed only when inertial nav is available; otherwise it is skipped and left stale/zero.</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INDIRECT/RELATIONAL (navigation). User-example PNT-State-Observed accessor ahrs.have_inertial_nav() (libraries/AP_AHRS/AP_AHRS.h:273); the accessor itself is catalogued in Table 2 #3.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8–10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 — Code Snippet (5-10 lines)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903541"/>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Every row’s Code Snippet (5-10 lines), reproduced verbatim from the cited path:line range: one paragraph per source line, in the audit’s own order, with its indentation and its blank lines intact and nothing abbreviated.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549461"/>
          <a:ext cx="11058144" cy="208279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ArduCopter/ekf_check.cpp</a:t>
                      </a:r>
                      <a:r>
                        <a:rPr sz="1100" b="0">
                          <a:solidFill>
                            <a:srgbClr val="999999"/>
                          </a:solidFill>
                          <a:latin typeface="Fira Code"/>
                        </a:rPr>
                        <a:t>  ·  </a:t>
                      </a:r>
                      <a:r>
                        <a:rPr sz="1100" b="0">
                          <a:solidFill>
                            <a:srgbClr val="999999"/>
                          </a:solidFill>
                          <a:latin typeface="Fira Code"/>
                        </a:rPr>
                        <a:t>117-125</a:t>
                      </a:r>
                      <a:r>
                        <a:rPr sz="1100" b="0">
                          <a:solidFill>
                            <a:srgbClr val="999999"/>
                          </a:solidFill>
                          <a:latin typeface="Fira Code"/>
                        </a:rPr>
                        <a:t>  ·  </a:t>
                      </a:r>
                      <a:r>
                        <a:rPr sz="1100" b="0">
                          <a:solidFill>
                            <a:srgbClr val="999999"/>
                          </a:solidFill>
                          <a:latin typeface="Fira Code"/>
                        </a:rPr>
                        <a:t>Copter::ekf_over_threshold()</a:t>
                      </a:r>
                    </a:p>
                    <a:p>
                      <a:pPr algn="l">
                        <a:lnSpc>
                          <a:spcPct val="106000"/>
                        </a:lnSpc>
                        <a:spcAft>
                          <a:spcPts val="0"/>
                        </a:spcAft>
                      </a:pPr>
                      <a:r>
                        <a:rPr sz="1100" b="0">
                          <a:solidFill>
                            <a:srgbClr val="333333"/>
                          </a:solidFill>
                          <a:latin typeface="Fira Code"/>
                        </a:rPr>
                        <a:t>    float position_var, vel_var, height_var, tas_variance;</a:t>
                      </a:r>
                    </a:p>
                    <a:p>
                      <a:pPr algn="l">
                        <a:lnSpc>
                          <a:spcPct val="106000"/>
                        </a:lnSpc>
                        <a:spcAft>
                          <a:spcPts val="0"/>
                        </a:spcAft>
                      </a:pPr>
                      <a:r>
                        <a:rPr sz="1100" b="0">
                          <a:solidFill>
                            <a:srgbClr val="333333"/>
                          </a:solidFill>
                          <a:latin typeface="Fira Code"/>
                        </a:rPr>
                        <a:t>    Vector3f mag_variance;</a:t>
                      </a:r>
                    </a:p>
                    <a:p>
                      <a:pPr algn="l">
                        <a:lnSpc>
                          <a:spcPct val="106000"/>
                        </a:lnSpc>
                        <a:spcAft>
                          <a:spcPts val="0"/>
                        </a:spcAft>
                      </a:pPr>
                      <a:r>
                        <a:rPr sz="1100" b="0">
                          <a:solidFill>
                            <a:srgbClr val="333333"/>
                          </a:solidFill>
                          <a:latin typeface="Fira Code"/>
                        </a:rPr>
                        <a:t>    variances_valid = ahrs.get_variances(vel_var, position_var, height_var, mag_variance, tas_variance);</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if (!variances_valid) {</a:t>
                      </a:r>
                    </a:p>
                    <a:p>
                      <a:pPr algn="l">
                        <a:lnSpc>
                          <a:spcPct val="106000"/>
                        </a:lnSpc>
                        <a:spcAft>
                          <a:spcPts val="0"/>
                        </a:spcAft>
                      </a:pPr>
                      <a:r>
                        <a:rPr sz="1100" b="0">
                          <a:solidFill>
                            <a:srgbClr val="333333"/>
                          </a:solidFill>
                          <a:latin typeface="Fira Code"/>
                        </a:rPr>
                        <a:t>        return false;</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uint32_t now_us = AP_HAL::micros();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11307211" y="384048"/>
            <a:ext cx="317861"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280771"/>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020276">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ArduPlane/ekf_check.cpp</a:t>
                      </a:r>
                      <a:r>
                        <a:rPr sz="1100" b="0">
                          <a:solidFill>
                            <a:srgbClr val="999999"/>
                          </a:solidFill>
                          <a:latin typeface="Fira Code"/>
                        </a:rPr>
                        <a:t>  ·  </a:t>
                      </a:r>
                      <a:r>
                        <a:rPr sz="1100" b="0">
                          <a:solidFill>
                            <a:srgbClr val="999999"/>
                          </a:solidFill>
                          <a:latin typeface="Fira Code"/>
                        </a:rPr>
                        <a:t>56-65</a:t>
                      </a:r>
                      <a:r>
                        <a:rPr sz="1100" b="0">
                          <a:solidFill>
                            <a:srgbClr val="999999"/>
                          </a:solidFill>
                          <a:latin typeface="Fira Code"/>
                        </a:rPr>
                        <a:t>  ·  </a:t>
                      </a:r>
                      <a:r>
                        <a:rPr sz="1100" b="0">
                          <a:solidFill>
                            <a:srgbClr val="999999"/>
                          </a:solidFill>
                          <a:latin typeface="Fira Code"/>
                        </a:rPr>
                        <a:t>Plane::ekf_check()</a:t>
                      </a:r>
                    </a:p>
                    <a:p>
                      <a:pPr algn="l">
                        <a:lnSpc>
                          <a:spcPct val="106000"/>
                        </a:lnSpc>
                        <a:spcAft>
                          <a:spcPts val="0"/>
                        </a:spcAft>
                      </a:pPr>
                      <a:r>
                        <a:rPr sz="1100" b="0">
                          <a:solidFill>
                            <a:srgbClr val="333333"/>
                          </a:solidFill>
                          <a:latin typeface="Fira Code"/>
                        </a:rPr>
                        <a:t>    // compare compass and velocity variance vs threshold</a:t>
                      </a:r>
                    </a:p>
                    <a:p>
                      <a:pPr algn="l">
                        <a:lnSpc>
                          <a:spcPct val="106000"/>
                        </a:lnSpc>
                        <a:spcAft>
                          <a:spcPts val="0"/>
                        </a:spcAft>
                      </a:pPr>
                      <a:r>
                        <a:rPr sz="1100" b="0">
                          <a:solidFill>
                            <a:srgbClr val="333333"/>
                          </a:solidFill>
                          <a:latin typeface="Fira Code"/>
                        </a:rPr>
                        <a:t>    if (ekf_over_threshold()) {</a:t>
                      </a:r>
                    </a:p>
                    <a:p>
                      <a:pPr algn="l">
                        <a:lnSpc>
                          <a:spcPct val="106000"/>
                        </a:lnSpc>
                        <a:spcAft>
                          <a:spcPts val="0"/>
                        </a:spcAft>
                      </a:pPr>
                      <a:r>
                        <a:rPr sz="1100" b="0">
                          <a:solidFill>
                            <a:srgbClr val="333333"/>
                          </a:solidFill>
                          <a:latin typeface="Fira Code"/>
                        </a:rPr>
                        <a:t>        // if compass is not yet flagged as bad</a:t>
                      </a:r>
                    </a:p>
                    <a:p>
                      <a:pPr algn="l">
                        <a:lnSpc>
                          <a:spcPct val="106000"/>
                        </a:lnSpc>
                        <a:spcAft>
                          <a:spcPts val="0"/>
                        </a:spcAft>
                      </a:pPr>
                      <a:r>
                        <a:rPr sz="1100" b="0">
                          <a:solidFill>
                            <a:srgbClr val="333333"/>
                          </a:solidFill>
                          <a:latin typeface="Fira Code"/>
                        </a:rPr>
                        <a:t>        if (!ekf_check_state.bad_variance) {</a:t>
                      </a:r>
                    </a:p>
                    <a:p>
                      <a:pPr algn="l">
                        <a:lnSpc>
                          <a:spcPct val="106000"/>
                        </a:lnSpc>
                        <a:spcAft>
                          <a:spcPts val="0"/>
                        </a:spcAft>
                      </a:pPr>
                      <a:r>
                        <a:rPr sz="1100" b="0">
                          <a:solidFill>
                            <a:srgbClr val="333333"/>
                          </a:solidFill>
                          <a:latin typeface="Fira Code"/>
                        </a:rPr>
                        <a:t>            // increase counter</a:t>
                      </a:r>
                    </a:p>
                    <a:p>
                      <a:pPr algn="l">
                        <a:lnSpc>
                          <a:spcPct val="106000"/>
                        </a:lnSpc>
                        <a:spcAft>
                          <a:spcPts val="0"/>
                        </a:spcAft>
                      </a:pPr>
                      <a:r>
                        <a:rPr sz="1100" b="0">
                          <a:solidFill>
                            <a:srgbClr val="333333"/>
                          </a:solidFill>
                          <a:latin typeface="Fira Code"/>
                        </a:rPr>
                        <a:t>            ekf_check_state.fail_count++;</a:t>
                      </a:r>
                    </a:p>
                    <a:p>
                      <a:pPr algn="l">
                        <a:lnSpc>
                          <a:spcPct val="106000"/>
                        </a:lnSpc>
                        <a:spcAft>
                          <a:spcPts val="0"/>
                        </a:spcAft>
                      </a:pPr>
                      <a:r>
                        <a:rPr sz="1100" b="0">
                          <a:solidFill>
                            <a:srgbClr val="333333"/>
                          </a:solidFill>
                          <a:latin typeface="Fira Code"/>
                        </a:rPr>
                        <a:t>            if (ekf_check_state.fail_count == (EKF_CHECK_ITERATIONS_MAX-2)) {</a:t>
                      </a:r>
                    </a:p>
                    <a:p>
                      <a:pPr algn="l">
                        <a:lnSpc>
                          <a:spcPct val="106000"/>
                        </a:lnSpc>
                        <a:spcAft>
                          <a:spcPts val="0"/>
                        </a:spcAft>
                      </a:pPr>
                      <a:r>
                        <a:rPr sz="1100" b="0">
                          <a:solidFill>
                            <a:srgbClr val="333333"/>
                          </a:solidFill>
                          <a:latin typeface="Fira Code"/>
                        </a:rPr>
                        <a:t>                // we are two iterations away from declaring an EKF failsafe, ask the EKF if we can reset</a:t>
                      </a:r>
                    </a:p>
                    <a:p>
                      <a:pPr algn="l">
                        <a:lnSpc>
                          <a:spcPct val="106000"/>
                        </a:lnSpc>
                        <a:spcAft>
                          <a:spcPts val="0"/>
                        </a:spcAft>
                      </a:pPr>
                      <a:r>
                        <a:rPr sz="1100" b="0">
                          <a:solidFill>
                            <a:srgbClr val="333333"/>
                          </a:solidFill>
                          <a:latin typeface="Fira Code"/>
                        </a:rPr>
                        <a:t>                // yaw to resolve the issue</a:t>
                      </a:r>
                    </a:p>
                    <a:p>
                      <a:pPr algn="l">
                        <a:lnSpc>
                          <a:spcPct val="106000"/>
                        </a:lnSpc>
                        <a:spcAft>
                          <a:spcPts val="0"/>
                        </a:spcAft>
                      </a:pPr>
                      <a:r>
                        <a:rPr sz="1100" b="0">
                          <a:solidFill>
                            <a:srgbClr val="333333"/>
                          </a:solidFill>
                          <a:latin typeface="Fira Code"/>
                        </a:rPr>
                        <a:t>                ahrs.request_yaw_reset();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Rover/ekf_check.cpp</a:t>
                      </a:r>
                      <a:r>
                        <a:rPr sz="1100" b="0">
                          <a:solidFill>
                            <a:srgbClr val="999999"/>
                          </a:solidFill>
                          <a:latin typeface="Fira Code"/>
                        </a:rPr>
                        <a:t>  ·  </a:t>
                      </a:r>
                      <a:r>
                        <a:rPr sz="1100" b="0">
                          <a:solidFill>
                            <a:srgbClr val="999999"/>
                          </a:solidFill>
                          <a:latin typeface="Fira Code"/>
                        </a:rPr>
                        <a:t>93-102</a:t>
                      </a:r>
                      <a:r>
                        <a:rPr sz="1100" b="0">
                          <a:solidFill>
                            <a:srgbClr val="999999"/>
                          </a:solidFill>
                          <a:latin typeface="Fira Code"/>
                        </a:rPr>
                        <a:t>  ·  </a:t>
                      </a:r>
                      <a:r>
                        <a:rPr sz="1100" b="0">
                          <a:solidFill>
                            <a:srgbClr val="999999"/>
                          </a:solidFill>
                          <a:latin typeface="Fira Code"/>
                        </a:rPr>
                        <a:t>Rover::ekf_over_threshold()</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use EKF to get variance</a:t>
                      </a:r>
                    </a:p>
                    <a:p>
                      <a:pPr algn="l">
                        <a:lnSpc>
                          <a:spcPct val="106000"/>
                        </a:lnSpc>
                        <a:spcAft>
                          <a:spcPts val="0"/>
                        </a:spcAft>
                      </a:pPr>
                      <a:r>
                        <a:rPr sz="1100" b="0">
                          <a:solidFill>
                            <a:srgbClr val="333333"/>
                          </a:solidFill>
                          <a:latin typeface="Fira Code"/>
                        </a:rPr>
                        <a:t>    float position_variance, vel_variance, height_variance, tas_variance;</a:t>
                      </a:r>
                    </a:p>
                    <a:p>
                      <a:pPr algn="l">
                        <a:lnSpc>
                          <a:spcPct val="106000"/>
                        </a:lnSpc>
                        <a:spcAft>
                          <a:spcPts val="0"/>
                        </a:spcAft>
                      </a:pPr>
                      <a:r>
                        <a:rPr sz="1100" b="0">
                          <a:solidFill>
                            <a:srgbClr val="333333"/>
                          </a:solidFill>
                          <a:latin typeface="Fira Code"/>
                        </a:rPr>
                        <a:t>    Vector3f mag_variance;</a:t>
                      </a:r>
                    </a:p>
                    <a:p>
                      <a:pPr algn="l">
                        <a:lnSpc>
                          <a:spcPct val="106000"/>
                        </a:lnSpc>
                        <a:spcAft>
                          <a:spcPts val="0"/>
                        </a:spcAft>
                      </a:pPr>
                      <a:r>
                        <a:rPr sz="1100" b="0">
                          <a:solidFill>
                            <a:srgbClr val="333333"/>
                          </a:solidFill>
                          <a:latin typeface="Fira Code"/>
                        </a:rPr>
                        <a:t>    ahrs.get_variances(vel_variance, position_variance, height_variance, mag_variance, tas_variance);</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return true if two of compass, velocity and position variances are over the threshold</a:t>
                      </a:r>
                    </a:p>
                    <a:p>
                      <a:pPr algn="l">
                        <a:lnSpc>
                          <a:spcPct val="106000"/>
                        </a:lnSpc>
                        <a:spcAft>
                          <a:spcPts val="0"/>
                        </a:spcAft>
                      </a:pPr>
                      <a:r>
                        <a:rPr sz="1100" b="0">
                          <a:solidFill>
                            <a:srgbClr val="333333"/>
                          </a:solidFill>
                          <a:latin typeface="Fira Code"/>
                        </a:rPr>
                        <a:t>    uint8_t over_thresh_count = 0;</a:t>
                      </a:r>
                    </a:p>
                    <a:p>
                      <a:pPr algn="l">
                        <a:lnSpc>
                          <a:spcPct val="106000"/>
                        </a:lnSpc>
                        <a:spcAft>
                          <a:spcPts val="0"/>
                        </a:spcAft>
                      </a:pPr>
                      <a:r>
                        <a:rPr sz="1100" b="0">
                          <a:solidFill>
                            <a:srgbClr val="333333"/>
                          </a:solidFill>
                          <a:latin typeface="Fira Code"/>
                        </a:rPr>
                        <a:t>    if (mag_variance.length() &gt;= g.fs_ekf_thresh) {</a:t>
                      </a:r>
                    </a:p>
                    <a:p>
                      <a:pPr algn="l">
                        <a:lnSpc>
                          <a:spcPct val="106000"/>
                        </a:lnSpc>
                        <a:spcAft>
                          <a:spcPts val="0"/>
                        </a:spcAft>
                      </a:pPr>
                      <a:r>
                        <a:rPr sz="1100" b="0">
                          <a:solidFill>
                            <a:srgbClr val="333333"/>
                          </a:solidFill>
                          <a:latin typeface="Fira Code"/>
                        </a:rPr>
                        <a:t>        over_thresh_count++;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2–3</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280771"/>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020276">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ArduSub/failsafe.cpp</a:t>
                      </a:r>
                      <a:r>
                        <a:rPr sz="1100" b="0">
                          <a:solidFill>
                            <a:srgbClr val="999999"/>
                          </a:solidFill>
                          <a:latin typeface="Fira Code"/>
                        </a:rPr>
                        <a:t>  ·  </a:t>
                      </a:r>
                      <a:r>
                        <a:rPr sz="1100" b="0">
                          <a:solidFill>
                            <a:srgbClr val="999999"/>
                          </a:solidFill>
                          <a:latin typeface="Fira Code"/>
                        </a:rPr>
                        <a:t>112-121</a:t>
                      </a:r>
                      <a:r>
                        <a:rPr sz="1100" b="0">
                          <a:solidFill>
                            <a:srgbClr val="999999"/>
                          </a:solidFill>
                          <a:latin typeface="Fira Code"/>
                        </a:rPr>
                        <a:t>  ·  </a:t>
                      </a:r>
                      <a:r>
                        <a:rPr sz="1100" b="0">
                          <a:solidFill>
                            <a:srgbClr val="999999"/>
                          </a:solidFill>
                          <a:latin typeface="Fira Code"/>
                        </a:rPr>
                        <a:t>Sub::failsafe_ekf_check()</a:t>
                      </a:r>
                    </a:p>
                    <a:p>
                      <a:pPr algn="l">
                        <a:lnSpc>
                          <a:spcPct val="106000"/>
                        </a:lnSpc>
                        <a:spcAft>
                          <a:spcPts val="0"/>
                        </a:spcAft>
                      </a:pPr>
                      <a:r>
                        <a:rPr sz="1100" b="0">
                          <a:solidFill>
                            <a:srgbClr val="333333"/>
                          </a:solidFill>
                          <a:latin typeface="Fira Code"/>
                        </a:rPr>
                        <a:t>    Vector3f magVar;</a:t>
                      </a:r>
                    </a:p>
                    <a:p>
                      <a:pPr algn="l">
                        <a:lnSpc>
                          <a:spcPct val="106000"/>
                        </a:lnSpc>
                        <a:spcAft>
                          <a:spcPts val="0"/>
                        </a:spcAft>
                      </a:pPr>
                      <a:r>
                        <a:rPr sz="1100" b="0">
                          <a:solidFill>
                            <a:srgbClr val="333333"/>
                          </a:solidFill>
                          <a:latin typeface="Fira Code"/>
                        </a:rPr>
                        <a:t>    float compass_variance;</a:t>
                      </a:r>
                    </a:p>
                    <a:p>
                      <a:pPr algn="l">
                        <a:lnSpc>
                          <a:spcPct val="106000"/>
                        </a:lnSpc>
                        <a:spcAft>
                          <a:spcPts val="0"/>
                        </a:spcAft>
                      </a:pPr>
                      <a:r>
                        <a:rPr sz="1100" b="0">
                          <a:solidFill>
                            <a:srgbClr val="333333"/>
                          </a:solidFill>
                          <a:latin typeface="Fira Code"/>
                        </a:rPr>
                        <a:t>    float vel_variance;</a:t>
                      </a:r>
                    </a:p>
                    <a:p>
                      <a:pPr algn="l">
                        <a:lnSpc>
                          <a:spcPct val="106000"/>
                        </a:lnSpc>
                        <a:spcAft>
                          <a:spcPts val="0"/>
                        </a:spcAft>
                      </a:pPr>
                      <a:r>
                        <a:rPr sz="1100" b="0">
                          <a:solidFill>
                            <a:srgbClr val="333333"/>
                          </a:solidFill>
                          <a:latin typeface="Fira Code"/>
                        </a:rPr>
                        <a:t>    ahrs.get_variances(vel_variance, posVar, hgtVar, magVar, tasVar);</a:t>
                      </a:r>
                    </a:p>
                    <a:p>
                      <a:pPr algn="l">
                        <a:lnSpc>
                          <a:spcPct val="106000"/>
                        </a:lnSpc>
                        <a:spcAft>
                          <a:spcPts val="0"/>
                        </a:spcAft>
                      </a:pPr>
                      <a:r>
                        <a:rPr sz="1100" b="0">
                          <a:solidFill>
                            <a:srgbClr val="333333"/>
                          </a:solidFill>
                          <a:latin typeface="Fira Code"/>
                        </a:rPr>
                        <a:t>    compass_variance = magVar.length();</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if (compass_variance &lt; g.fs_ekf_thresh &amp;&amp; vel_variance &lt; g.fs_ekf_thresh) {</a:t>
                      </a:r>
                    </a:p>
                    <a:p>
                      <a:pPr algn="l">
                        <a:lnSpc>
                          <a:spcPct val="106000"/>
                        </a:lnSpc>
                        <a:spcAft>
                          <a:spcPts val="0"/>
                        </a:spcAft>
                      </a:pPr>
                      <a:r>
                        <a:rPr sz="1100" b="0">
                          <a:solidFill>
                            <a:srgbClr val="333333"/>
                          </a:solidFill>
                          <a:latin typeface="Fira Code"/>
                        </a:rPr>
                        <a:t>        last_ekf_good_ms = AP_HAL::millis();</a:t>
                      </a:r>
                    </a:p>
                    <a:p>
                      <a:pPr algn="l">
                        <a:lnSpc>
                          <a:spcPct val="106000"/>
                        </a:lnSpc>
                        <a:spcAft>
                          <a:spcPts val="0"/>
                        </a:spcAft>
                      </a:pPr>
                      <a:r>
                        <a:rPr sz="1100" b="0">
                          <a:solidFill>
                            <a:srgbClr val="333333"/>
                          </a:solidFill>
                          <a:latin typeface="Fira Code"/>
                        </a:rPr>
                        <a:t>        failsafe.ekf = false;</a:t>
                      </a:r>
                    </a:p>
                    <a:p>
                      <a:pPr algn="l">
                        <a:lnSpc>
                          <a:spcPct val="106000"/>
                        </a:lnSpc>
                        <a:spcAft>
                          <a:spcPts val="0"/>
                        </a:spcAft>
                      </a:pPr>
                      <a:r>
                        <a:rPr sz="1100" b="0">
                          <a:solidFill>
                            <a:srgbClr val="333333"/>
                          </a:solidFill>
                          <a:latin typeface="Fira Code"/>
                        </a:rPr>
                        <a:t>        AP_Notify::flags.ekf_bad = 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ArduCopter/crash_check.cpp</a:t>
                      </a:r>
                      <a:r>
                        <a:rPr sz="1100" b="0">
                          <a:solidFill>
                            <a:srgbClr val="999999"/>
                          </a:solidFill>
                          <a:latin typeface="Fira Code"/>
                        </a:rPr>
                        <a:t>  ·  </a:t>
                      </a:r>
                      <a:r>
                        <a:rPr sz="1100" b="0">
                          <a:solidFill>
                            <a:srgbClr val="999999"/>
                          </a:solidFill>
                          <a:latin typeface="Fira Code"/>
                        </a:rPr>
                        <a:t>65-74</a:t>
                      </a:r>
                      <a:r>
                        <a:rPr sz="1100" b="0">
                          <a:solidFill>
                            <a:srgbClr val="999999"/>
                          </a:solidFill>
                          <a:latin typeface="Fira Code"/>
                        </a:rPr>
                        <a:t>  ·  </a:t>
                      </a:r>
                      <a:r>
                        <a:rPr sz="1100" b="0">
                          <a:solidFill>
                            <a:srgbClr val="999999"/>
                          </a:solidFill>
                          <a:latin typeface="Fira Code"/>
                        </a:rPr>
                        <a:t>Copter::crash_check() — attitude test</a:t>
                      </a:r>
                    </a:p>
                    <a:p>
                      <a:pPr algn="l">
                        <a:lnSpc>
                          <a:spcPct val="106000"/>
                        </a:lnSpc>
                        <a:spcAft>
                          <a:spcPts val="0"/>
                        </a:spcAft>
                      </a:pPr>
                      <a:r>
                        <a:rPr sz="1100" b="0">
                          <a:solidFill>
                            <a:srgbClr val="333333"/>
                          </a:solidFill>
                          <a:latin typeface="Fira Code"/>
                        </a:rPr>
                        <a:t>    // check for lean angle over 15 degrees</a:t>
                      </a:r>
                    </a:p>
                    <a:p>
                      <a:pPr algn="l">
                        <a:lnSpc>
                          <a:spcPct val="106000"/>
                        </a:lnSpc>
                        <a:spcAft>
                          <a:spcPts val="0"/>
                        </a:spcAft>
                      </a:pPr>
                      <a:r>
                        <a:rPr sz="1100" b="0">
                          <a:solidFill>
                            <a:srgbClr val="333333"/>
                          </a:solidFill>
                          <a:latin typeface="Fira Code"/>
                        </a:rPr>
                        <a:t>    const float lean_angle_deg = degrees(acosf(ahrs.cos_roll()*ahrs.cos_pitch()));</a:t>
                      </a:r>
                    </a:p>
                    <a:p>
                      <a:pPr algn="l">
                        <a:lnSpc>
                          <a:spcPct val="106000"/>
                        </a:lnSpc>
                        <a:spcAft>
                          <a:spcPts val="0"/>
                        </a:spcAft>
                      </a:pPr>
                      <a:r>
                        <a:rPr sz="1100" b="0">
                          <a:solidFill>
                            <a:srgbClr val="333333"/>
                          </a:solidFill>
                          <a:latin typeface="Fira Code"/>
                        </a:rPr>
                        <a:t>    if (lean_angle_deg &lt;= CRASH_CHECK_ANGLE_MIN_DEG) {</a:t>
                      </a:r>
                    </a:p>
                    <a:p>
                      <a:pPr algn="l">
                        <a:lnSpc>
                          <a:spcPct val="106000"/>
                        </a:lnSpc>
                        <a:spcAft>
                          <a:spcPts val="0"/>
                        </a:spcAft>
                      </a:pPr>
                      <a:r>
                        <a:rPr sz="1100" b="0">
                          <a:solidFill>
                            <a:srgbClr val="333333"/>
                          </a:solidFill>
                          <a:latin typeface="Fira Code"/>
                        </a:rPr>
                        <a:t>        crash_counter = 0;</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check for angle error over 30 degrees</a:t>
                      </a:r>
                    </a:p>
                    <a:p>
                      <a:pPr algn="l">
                        <a:lnSpc>
                          <a:spcPct val="106000"/>
                        </a:lnSpc>
                        <a:spcAft>
                          <a:spcPts val="0"/>
                        </a:spcAft>
                      </a:pPr>
                      <a:r>
                        <a:rPr sz="1100" b="0">
                          <a:solidFill>
                            <a:srgbClr val="333333"/>
                          </a:solidFill>
                          <a:latin typeface="Fira Code"/>
                        </a:rPr>
                        <a:t>    const float angle_error = attitude_control-&gt;get_att_error_angle_deg();</a:t>
                      </a:r>
                    </a:p>
                    <a:p>
                      <a:pPr algn="l">
                        <a:lnSpc>
                          <a:spcPct val="106000"/>
                        </a:lnSpc>
                        <a:spcAft>
                          <a:spcPts val="0"/>
                        </a:spcAft>
                      </a:pPr>
                      <a:r>
                        <a:rPr sz="1100" b="0">
                          <a:solidFill>
                            <a:srgbClr val="333333"/>
                          </a:solidFill>
                          <a:latin typeface="Fira Code"/>
                        </a:rPr>
                        <a:t>    if (angle_error &lt;= CRASH_CHECK_ANGLE_DEVIATION_DEG)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4–5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69978"/>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7181">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ArduCopter/crash_check.cpp</a:t>
                      </a:r>
                      <a:r>
                        <a:rPr sz="1100" b="0">
                          <a:solidFill>
                            <a:srgbClr val="999999"/>
                          </a:solidFill>
                          <a:latin typeface="Fira Code"/>
                        </a:rPr>
                        <a:t>  ·  </a:t>
                      </a:r>
                      <a:r>
                        <a:rPr sz="1100" b="0">
                          <a:solidFill>
                            <a:srgbClr val="999999"/>
                          </a:solidFill>
                          <a:latin typeface="Fira Code"/>
                        </a:rPr>
                        <a:t>78-84</a:t>
                      </a:r>
                      <a:r>
                        <a:rPr sz="1100" b="0">
                          <a:solidFill>
                            <a:srgbClr val="999999"/>
                          </a:solidFill>
                          <a:latin typeface="Fira Code"/>
                        </a:rPr>
                        <a:t>  ·  </a:t>
                      </a:r>
                      <a:r>
                        <a:rPr sz="1100" b="0">
                          <a:solidFill>
                            <a:srgbClr val="999999"/>
                          </a:solidFill>
                          <a:latin typeface="Fira Code"/>
                        </a:rPr>
                        <a:t>Copter::crash_check() — velocity test</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check for speed under 10m/s (if available)</a:t>
                      </a:r>
                    </a:p>
                    <a:p>
                      <a:pPr algn="l">
                        <a:lnSpc>
                          <a:spcPct val="106000"/>
                        </a:lnSpc>
                        <a:spcAft>
                          <a:spcPts val="0"/>
                        </a:spcAft>
                      </a:pPr>
                      <a:r>
                        <a:rPr sz="1100" b="0">
                          <a:solidFill>
                            <a:srgbClr val="333333"/>
                          </a:solidFill>
                          <a:latin typeface="Fira Code"/>
                        </a:rPr>
                        <a:t>    Vector3f vel_ned;</a:t>
                      </a:r>
                    </a:p>
                    <a:p>
                      <a:pPr algn="l">
                        <a:lnSpc>
                          <a:spcPct val="106000"/>
                        </a:lnSpc>
                        <a:spcAft>
                          <a:spcPts val="0"/>
                        </a:spcAft>
                      </a:pPr>
                      <a:r>
                        <a:rPr sz="1100" b="0">
                          <a:solidFill>
                            <a:srgbClr val="333333"/>
                          </a:solidFill>
                          <a:latin typeface="Fira Code"/>
                        </a:rPr>
                        <a:t>    if (ahrs.get_velocity_NED(vel_ned) &amp;&amp; (vel_ned.length() &gt;= CRASH_CHECK_SPEED_MAX)) {</a:t>
                      </a:r>
                    </a:p>
                    <a:p>
                      <a:pPr algn="l">
                        <a:lnSpc>
                          <a:spcPct val="106000"/>
                        </a:lnSpc>
                        <a:spcAft>
                          <a:spcPts val="0"/>
                        </a:spcAft>
                      </a:pPr>
                      <a:r>
                        <a:rPr sz="1100" b="0">
                          <a:solidFill>
                            <a:srgbClr val="333333"/>
                          </a:solidFill>
                          <a:latin typeface="Fira Code"/>
                        </a:rPr>
                        <a:t>        crash_counter = 0;</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ArduPlane/GCS_MAVLink_Plane.cpp</a:t>
                      </a:r>
                      <a:r>
                        <a:rPr sz="1100" b="0">
                          <a:solidFill>
                            <a:srgbClr val="999999"/>
                          </a:solidFill>
                          <a:latin typeface="Fira Code"/>
                        </a:rPr>
                        <a:t>  ·  </a:t>
                      </a:r>
                      <a:r>
                        <a:rPr sz="1100" b="0">
                          <a:solidFill>
                            <a:srgbClr val="999999"/>
                          </a:solidFill>
                          <a:latin typeface="Fira Code"/>
                        </a:rPr>
                        <a:t>204-212</a:t>
                      </a:r>
                      <a:r>
                        <a:rPr sz="1100" b="0">
                          <a:solidFill>
                            <a:srgbClr val="999999"/>
                          </a:solidFill>
                          <a:latin typeface="Fira Code"/>
                        </a:rPr>
                        <a:t>  ·  </a:t>
                      </a:r>
                      <a:r>
                        <a:rPr sz="1100" b="0">
                          <a:solidFill>
                            <a:srgbClr val="999999"/>
                          </a:solidFill>
                          <a:latin typeface="Fira Code"/>
                        </a:rPr>
                        <a:t>GCS_MAVLINK_Plane::send_nav_controller_output()</a:t>
                      </a:r>
                    </a:p>
                    <a:p>
                      <a:pPr algn="l">
                        <a:lnSpc>
                          <a:spcPct val="106000"/>
                        </a:lnSpc>
                        <a:spcAft>
                          <a:spcPts val="0"/>
                        </a:spcAft>
                      </a:pPr>
                      <a:r>
                        <a:rPr sz="1100" b="0">
                          <a:solidFill>
                            <a:srgbClr val="333333"/>
                          </a:solidFill>
                          <a:latin typeface="Fira Code"/>
                        </a:rPr>
                        <a:t>void GCS_MAVLINK_Plane::send_nav_controller_output()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if (plane.control_mode == &amp;plane.mode_manual) {</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#if HAL_QUADPLANE_ENABLED</a:t>
                      </a:r>
                    </a:p>
                    <a:p>
                      <a:pPr algn="l">
                        <a:lnSpc>
                          <a:spcPct val="106000"/>
                        </a:lnSpc>
                        <a:spcAft>
                          <a:spcPts val="0"/>
                        </a:spcAft>
                      </a:pPr>
                      <a:r>
                        <a:rPr sz="1100" b="0">
                          <a:solidFill>
                            <a:srgbClr val="333333"/>
                          </a:solidFill>
                          <a:latin typeface="Fira Code"/>
                        </a:rPr>
                        <a:t>    const QuadPlane &amp;quadplane = plane.quadplane;</a:t>
                      </a:r>
                    </a:p>
                    <a:p>
                      <a:pPr algn="l">
                        <a:lnSpc>
                          <a:spcPct val="106000"/>
                        </a:lnSpc>
                        <a:spcAft>
                          <a:spcPts val="0"/>
                        </a:spcAft>
                      </a:pPr>
                      <a:r>
                        <a:rPr sz="1100" b="0">
                          <a:solidFill>
                            <a:srgbClr val="333333"/>
                          </a:solidFill>
                          <a:latin typeface="Fira Code"/>
                        </a:rPr>
                        <a:t>    if (quadplane.show_vtol_view() &amp;&amp; quadplane.using_wp_nav()) {</a:t>
                      </a:r>
                    </a:p>
                    <a:p>
                      <a:pPr algn="l">
                        <a:lnSpc>
                          <a:spcPct val="106000"/>
                        </a:lnSpc>
                        <a:spcAft>
                          <a:spcPts val="0"/>
                        </a:spcAft>
                      </a:pPr>
                      <a:r>
                        <a:rPr sz="1100" b="0">
                          <a:solidFill>
                            <a:srgbClr val="333333"/>
                          </a:solidFill>
                          <a:latin typeface="Fira Code"/>
                        </a:rPr>
                        <a:t>        const Vector3f &amp;targets = quadplane.attitude_control-&gt;get_att_target_euler_cd();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4767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ArduPlane/Attitude.cpp</a:t>
                      </a:r>
                      <a:r>
                        <a:rPr sz="1100" b="0">
                          <a:solidFill>
                            <a:srgbClr val="999999"/>
                          </a:solidFill>
                          <a:latin typeface="Fira Code"/>
                        </a:rPr>
                        <a:t>  ·  </a:t>
                      </a:r>
                      <a:r>
                        <a:rPr sz="1100" b="0">
                          <a:solidFill>
                            <a:srgbClr val="999999"/>
                          </a:solidFill>
                          <a:latin typeface="Fira Code"/>
                        </a:rPr>
                        <a:t>604-611</a:t>
                      </a:r>
                      <a:r>
                        <a:rPr sz="1100" b="0">
                          <a:solidFill>
                            <a:srgbClr val="999999"/>
                          </a:solidFill>
                          <a:latin typeface="Fira Code"/>
                        </a:rPr>
                        <a:t>  ·  </a:t>
                      </a:r>
                      <a:r>
                        <a:rPr sz="1100" b="0">
                          <a:solidFill>
                            <a:srgbClr val="999999"/>
                          </a:solidFill>
                          <a:latin typeface="Fira Code"/>
                        </a:rPr>
                        <a:t>Plane::calc_nav_roll()</a:t>
                      </a:r>
                    </a:p>
                    <a:p>
                      <a:pPr algn="l">
                        <a:lnSpc>
                          <a:spcPct val="106000"/>
                        </a:lnSpc>
                        <a:spcAft>
                          <a:spcPts val="0"/>
                        </a:spcAft>
                      </a:pPr>
                      <a:r>
                        <a:rPr sz="1100" b="0">
                          <a:solidFill>
                            <a:srgbClr val="333333"/>
                          </a:solidFill>
                          <a:latin typeface="Fira Code"/>
                        </a:rPr>
                        <a:t>  calculate a new nav_roll_cd from the navigation controller</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void Plane::calc_nav_roll()</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int32_t commanded_roll = nav_controller-&gt;nav_roll_cd();</a:t>
                      </a:r>
                    </a:p>
                    <a:p>
                      <a:pPr algn="l">
                        <a:lnSpc>
                          <a:spcPct val="106000"/>
                        </a:lnSpc>
                        <a:spcAft>
                          <a:spcPts val="0"/>
                        </a:spcAft>
                      </a:pPr>
                      <a:r>
                        <a:rPr sz="1100" b="0">
                          <a:solidFill>
                            <a:srgbClr val="333333"/>
                          </a:solidFill>
                          <a:latin typeface="Fira Code"/>
                        </a:rPr>
                        <a:t>    nav_roll_cd = constrain_int32(commanded_roll, -roll_limit_cd, roll_limit_cd);</a:t>
                      </a:r>
                    </a:p>
                    <a:p>
                      <a:pPr algn="l">
                        <a:lnSpc>
                          <a:spcPct val="106000"/>
                        </a:lnSpc>
                        <a:spcAft>
                          <a:spcPts val="0"/>
                        </a:spcAft>
                      </a:pPr>
                      <a:r>
                        <a:rPr sz="1100" b="0">
                          <a:solidFill>
                            <a:srgbClr val="333333"/>
                          </a:solidFill>
                          <a:latin typeface="Fira Code"/>
                        </a:rPr>
                        <a:t>    update_load_factor();</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ArduPlane/navigation.cpp</a:t>
                      </a:r>
                      <a:r>
                        <a:rPr sz="1100" b="0">
                          <a:solidFill>
                            <a:srgbClr val="999999"/>
                          </a:solidFill>
                          <a:latin typeface="Fira Code"/>
                        </a:rPr>
                        <a:t>  ·  </a:t>
                      </a:r>
                      <a:r>
                        <a:rPr sz="1100" b="0">
                          <a:solidFill>
                            <a:srgbClr val="999999"/>
                          </a:solidFill>
                          <a:latin typeface="Fira Code"/>
                        </a:rPr>
                        <a:t>86-94</a:t>
                      </a:r>
                      <a:r>
                        <a:rPr sz="1100" b="0">
                          <a:solidFill>
                            <a:srgbClr val="999999"/>
                          </a:solidFill>
                          <a:latin typeface="Fira Code"/>
                        </a:rPr>
                        <a:t>  ·  </a:t>
                      </a:r>
                      <a:r>
                        <a:rPr sz="1100" b="0">
                          <a:solidFill>
                            <a:srgbClr val="999999"/>
                          </a:solidFill>
                          <a:latin typeface="Fira Code"/>
                        </a:rPr>
                        <a:t>Plane::navigate()</a:t>
                      </a:r>
                    </a:p>
                    <a:p>
                      <a:pPr algn="l">
                        <a:lnSpc>
                          <a:spcPct val="106000"/>
                        </a:lnSpc>
                        <a:spcAft>
                          <a:spcPts val="0"/>
                        </a:spcAft>
                      </a:pPr>
                      <a:r>
                        <a:rPr sz="1100" b="0">
                          <a:solidFill>
                            <a:srgbClr val="333333"/>
                          </a:solidFill>
                          <a:latin typeface="Fira Code"/>
                        </a:rPr>
                        <a:t>void Plane::navigate()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 do not navigate with corrupt data</a:t>
                      </a:r>
                    </a:p>
                    <a:p>
                      <a:pPr algn="l">
                        <a:lnSpc>
                          <a:spcPct val="106000"/>
                        </a:lnSpc>
                        <a:spcAft>
                          <a:spcPts val="0"/>
                        </a:spcAft>
                      </a:pPr>
                      <a:r>
                        <a:rPr sz="1100" b="0">
                          <a:solidFill>
                            <a:srgbClr val="333333"/>
                          </a:solidFill>
                          <a:latin typeface="Fira Code"/>
                        </a:rPr>
                        <a:t>    // ---------------------------------</a:t>
                      </a:r>
                    </a:p>
                    <a:p>
                      <a:pPr algn="l">
                        <a:lnSpc>
                          <a:spcPct val="106000"/>
                        </a:lnSpc>
                        <a:spcAft>
                          <a:spcPts val="0"/>
                        </a:spcAft>
                      </a:pPr>
                      <a:r>
                        <a:rPr sz="1100" b="0">
                          <a:solidFill>
                            <a:srgbClr val="333333"/>
                          </a:solidFill>
                          <a:latin typeface="Fira Code"/>
                        </a:rPr>
                        <a:t>    if (!have_position) {</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if (next_WP_loc.lat == 0 &amp;&amp; next_WP_loc.lng == 0)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8–9</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1905098"/>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ArduPlane/navigation.cpp</a:t>
                      </a:r>
                      <a:r>
                        <a:rPr sz="1100" b="0">
                          <a:solidFill>
                            <a:srgbClr val="999999"/>
                          </a:solidFill>
                          <a:latin typeface="Fira Code"/>
                        </a:rPr>
                        <a:t>  ·  </a:t>
                      </a:r>
                      <a:r>
                        <a:rPr sz="1100" b="0">
                          <a:solidFill>
                            <a:srgbClr val="999999"/>
                          </a:solidFill>
                          <a:latin typeface="Fira Code"/>
                        </a:rPr>
                        <a:t>304-311</a:t>
                      </a:r>
                      <a:r>
                        <a:rPr sz="1100" b="0">
                          <a:solidFill>
                            <a:srgbClr val="999999"/>
                          </a:solidFill>
                          <a:latin typeface="Fira Code"/>
                        </a:rPr>
                        <a:t>  ·  </a:t>
                      </a:r>
                      <a:r>
                        <a:rPr sz="1100" b="0">
                          <a:solidFill>
                            <a:srgbClr val="999999"/>
                          </a:solidFill>
                          <a:latin typeface="Fira Code"/>
                        </a:rPr>
                        <a:t>Plane::calc_gndspeed_undershoot()</a:t>
                      </a:r>
                    </a:p>
                    <a:p>
                      <a:pPr algn="l">
                        <a:lnSpc>
                          <a:spcPct val="106000"/>
                        </a:lnSpc>
                        <a:spcAft>
                          <a:spcPts val="0"/>
                        </a:spcAft>
                      </a:pPr>
                      <a:r>
                        <a:rPr sz="1100" b="0">
                          <a:solidFill>
                            <a:srgbClr val="333333"/>
                          </a:solidFill>
                          <a:latin typeface="Fira Code"/>
                        </a:rPr>
                        <a:t>    Vector3f velNED;</a:t>
                      </a:r>
                    </a:p>
                    <a:p>
                      <a:pPr algn="l">
                        <a:lnSpc>
                          <a:spcPct val="106000"/>
                        </a:lnSpc>
                        <a:spcAft>
                          <a:spcPts val="0"/>
                        </a:spcAft>
                      </a:pPr>
                      <a:r>
                        <a:rPr sz="1100" b="0">
                          <a:solidFill>
                            <a:srgbClr val="333333"/>
                          </a:solidFill>
                          <a:latin typeface="Fira Code"/>
                        </a:rPr>
                        <a:t>    if (ahrs.have_inertial_nav() &amp;&amp; ahrs.get_velocity_NED(velNED)) {</a:t>
                      </a:r>
                    </a:p>
                    <a:p>
                      <a:pPr algn="l">
                        <a:lnSpc>
                          <a:spcPct val="106000"/>
                        </a:lnSpc>
                        <a:spcAft>
                          <a:spcPts val="0"/>
                        </a:spcAft>
                      </a:pPr>
                      <a:r>
                        <a:rPr sz="1100" b="0">
                          <a:solidFill>
                            <a:srgbClr val="333333"/>
                          </a:solidFill>
                          <a:latin typeface="Fira Code"/>
                        </a:rPr>
                        <a:t>        const Matrix3f &amp;rotMat = ahrs.get_rotation_body_to_ned();</a:t>
                      </a:r>
                    </a:p>
                    <a:p>
                      <a:pPr algn="l">
                        <a:lnSpc>
                          <a:spcPct val="106000"/>
                        </a:lnSpc>
                        <a:spcAft>
                          <a:spcPts val="0"/>
                        </a:spcAft>
                      </a:pPr>
                      <a:r>
                        <a:rPr sz="1100" b="0">
                          <a:solidFill>
                            <a:srgbClr val="333333"/>
                          </a:solidFill>
                          <a:latin typeface="Fira Code"/>
                        </a:rPr>
                        <a:t>        Vector2f yawVect = Vector2f(rotMat.a.x,rotMat.b.x);</a:t>
                      </a:r>
                    </a:p>
                    <a:p>
                      <a:pPr algn="l">
                        <a:lnSpc>
                          <a:spcPct val="106000"/>
                        </a:lnSpc>
                        <a:spcAft>
                          <a:spcPts val="0"/>
                        </a:spcAft>
                      </a:pPr>
                      <a:r>
                        <a:rPr sz="1100" b="0">
                          <a:solidFill>
                            <a:srgbClr val="333333"/>
                          </a:solidFill>
                          <a:latin typeface="Fira Code"/>
                        </a:rPr>
                        <a:t>        if (!yawVect.is_zero()) {</a:t>
                      </a:r>
                    </a:p>
                    <a:p>
                      <a:pPr algn="l">
                        <a:lnSpc>
                          <a:spcPct val="106000"/>
                        </a:lnSpc>
                        <a:spcAft>
                          <a:spcPts val="0"/>
                        </a:spcAft>
                      </a:pPr>
                      <a:r>
                        <a:rPr sz="1100" b="0">
                          <a:solidFill>
                            <a:srgbClr val="333333"/>
                          </a:solidFill>
                          <a:latin typeface="Fira Code"/>
                        </a:rPr>
                        <a:t>            yawVect.normalize();</a:t>
                      </a:r>
                    </a:p>
                    <a:p>
                      <a:pPr algn="l">
                        <a:lnSpc>
                          <a:spcPct val="106000"/>
                        </a:lnSpc>
                        <a:spcAft>
                          <a:spcPts val="0"/>
                        </a:spcAft>
                      </a:pPr>
                      <a:r>
                        <a:rPr sz="1100" b="0">
                          <a:solidFill>
                            <a:srgbClr val="333333"/>
                          </a:solidFill>
                          <a:latin typeface="Fira Code"/>
                        </a:rPr>
                        <a:t>            float gndSpdFwd = yawVect * velNED.xy();</a:t>
                      </a:r>
                    </a:p>
                    <a:p>
                      <a:pPr algn="l">
                        <a:lnSpc>
                          <a:spcPct val="106000"/>
                        </a:lnSpc>
                        <a:spcAft>
                          <a:spcPts val="0"/>
                        </a:spcAft>
                      </a:pPr>
                      <a:r>
                        <a:rPr sz="1100" b="0">
                          <a:solidFill>
                            <a:srgbClr val="333333"/>
                          </a:solidFill>
                          <a:latin typeface="Fira Code"/>
                        </a:rPr>
                        <a:t>            groundspeed_undershoot_is_valid = aparm.min_groundspeed &gt; 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213450" y="384048"/>
            <a:ext cx="411622"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DIRECT EDGES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5a — Layer 1 dependency map</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Table 5a: Layer 1 — direct callers / callees with typed dependency</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3938953"/>
        </p:xfrm>
        <a:graphic>
          <a:graphicData uri="http://schemas.openxmlformats.org/drawingml/2006/table">
            <a:tbl>
              <a:tblPr>
                <a:tableStyleId>{5C22544A-7EE6-4342-B048-85BDC9FD1C3A}</a:tableStyleId>
              </a:tblPr>
              <a:tblGrid>
                <a:gridCol w="685422"/>
                <a:gridCol w="2376130"/>
                <a:gridCol w="3061552"/>
                <a:gridCol w="3061552"/>
                <a:gridCol w="1873488"/>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Component/Function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Called By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Dependency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Copter::ekf_over_threshold()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ahrs.get_variances(); variance filters; compare g.fs_ekf_thresh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Copter::ekf_check()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Plane::ekf_check()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ekf_over_threshold(); ahrs.request_yaw_reset()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Plane 10 Hz scheduler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Rover::ekf_over_threshold()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ahrs.get_variances(); compare g.fs_ekf_thresh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Rover::ekf_check()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Sub::failsafe_ekf_check()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ahrs.get_variances(); AP_HAL::millis(); gcs().send_text()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Sub periodic scheduler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Copter::crash_check() (attitude)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ahrs.cos_roll(); ahrs.cos_pitch(); attitude_control-&gt;get_att_error_angle_deg()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Copter::crash_check()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Copter::crash_check() (velocity)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ahrs.get_velocity_NED(vel_ned)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Copter::crash_check()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GCS_MAVLINK_Plane::send_nav_controller_output()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reads plane.control_mode; nav_controller 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GCS telemetry scheduler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Plane::calc_nav_roll()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nav_controller-&gt;nav_roll_cd(); update_load_factor()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Plane fast attitude loop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1–8</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DIRECT EDGES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5a — Layer 1 dependency map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1076053"/>
        </p:xfrm>
        <a:graphic>
          <a:graphicData uri="http://schemas.openxmlformats.org/drawingml/2006/table">
            <a:tbl>
              <a:tblPr>
                <a:tableStyleId>{5C22544A-7EE6-4342-B048-85BDC9FD1C3A}</a:tableStyleId>
              </a:tblPr>
              <a:tblGrid>
                <a:gridCol w="685422"/>
                <a:gridCol w="2376130"/>
                <a:gridCol w="3061552"/>
                <a:gridCol w="3061552"/>
                <a:gridCol w="1873488"/>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Component/Function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Called By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Dependency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Plane::navigate()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reads have_position; next_WP_loc; nav_controller update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Plane 10 Hz nav loop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Data dependency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Plane::calc_gndspeed_undershoot()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ahrs.have_inertial_nav(); ahrs.get_velocity_NED()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Plane::update_GPS_10Hz() (ArduPlane/Plane.cpp:490)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9–10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5a — Layer 1 Code Snippet</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582282"/>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Every row’s Code Snippet, reproduced verbatim from the cited path:line range: one paragraph per source line, in the audit’s own order, with its indentation and its blank lines intact and nothing abbreviated.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228202"/>
          <a:ext cx="11058144" cy="374767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7181">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Copter::ekf_over_threshold()</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float position_var, vel_var, height_var, tas_variance;</a:t>
                      </a:r>
                    </a:p>
                    <a:p>
                      <a:pPr algn="l">
                        <a:lnSpc>
                          <a:spcPct val="106000"/>
                        </a:lnSpc>
                        <a:spcAft>
                          <a:spcPts val="0"/>
                        </a:spcAft>
                      </a:pPr>
                      <a:r>
                        <a:rPr sz="1100" b="0">
                          <a:solidFill>
                            <a:srgbClr val="333333"/>
                          </a:solidFill>
                          <a:latin typeface="Fira Code"/>
                        </a:rPr>
                        <a:t>Vector3f mag_variance;</a:t>
                      </a:r>
                    </a:p>
                    <a:p>
                      <a:pPr algn="l">
                        <a:lnSpc>
                          <a:spcPct val="106000"/>
                        </a:lnSpc>
                        <a:spcAft>
                          <a:spcPts val="0"/>
                        </a:spcAft>
                      </a:pPr>
                      <a:r>
                        <a:rPr sz="1100" b="0">
                          <a:solidFill>
                            <a:srgbClr val="333333"/>
                          </a:solidFill>
                          <a:latin typeface="Fira Code"/>
                        </a:rPr>
                        <a:t>variances_valid = ahrs.get_variances(vel_var, position_var, height_var, mag_variance, tas_variance);</a:t>
                      </a:r>
                    </a:p>
                    <a:p>
                      <a:pPr algn="l">
                        <a:lnSpc>
                          <a:spcPct val="106000"/>
                        </a:lnSpc>
                        <a:spcAft>
                          <a:spcPts val="0"/>
                        </a:spcAft>
                      </a:pPr>
                      <a:r>
                        <a:rPr sz="1100" b="0">
                          <a:solidFill>
                            <a:srgbClr val="333333"/>
                          </a:solidFill>
                          <a:latin typeface="Fira Code"/>
                        </a:rPr>
                        <a:t>if (!variances_valid) {</a:t>
                      </a:r>
                    </a:p>
                    <a:p>
                      <a:pPr algn="l">
                        <a:lnSpc>
                          <a:spcPct val="106000"/>
                        </a:lnSpc>
                        <a:spcAft>
                          <a:spcPts val="0"/>
                        </a:spcAft>
                      </a:pPr>
                      <a:r>
                        <a:rPr sz="1100" b="0">
                          <a:solidFill>
                            <a:srgbClr val="333333"/>
                          </a:solidFill>
                          <a:latin typeface="Fira Code"/>
                        </a:rPr>
                        <a:t>return false;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uint32_t now_us = AP_HAL::micros();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020276">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Plane::ekf_check()</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 compare compass and velocity variance vs threshold</a:t>
                      </a:r>
                    </a:p>
                    <a:p>
                      <a:pPr algn="l">
                        <a:lnSpc>
                          <a:spcPct val="106000"/>
                        </a:lnSpc>
                        <a:spcAft>
                          <a:spcPts val="0"/>
                        </a:spcAft>
                      </a:pPr>
                      <a:r>
                        <a:rPr sz="1100" b="0">
                          <a:solidFill>
                            <a:srgbClr val="333333"/>
                          </a:solidFill>
                          <a:latin typeface="Fira Code"/>
                        </a:rPr>
                        <a:t>if (ekf_over_threshold()) {</a:t>
                      </a:r>
                    </a:p>
                    <a:p>
                      <a:pPr algn="l">
                        <a:lnSpc>
                          <a:spcPct val="106000"/>
                        </a:lnSpc>
                        <a:spcAft>
                          <a:spcPts val="0"/>
                        </a:spcAft>
                      </a:pPr>
                      <a:r>
                        <a:rPr sz="1100" b="0">
                          <a:solidFill>
                            <a:srgbClr val="333333"/>
                          </a:solidFill>
                          <a:latin typeface="Fira Code"/>
                        </a:rPr>
                        <a:t>// if compass is not yet flagged as bad</a:t>
                      </a:r>
                    </a:p>
                    <a:p>
                      <a:pPr algn="l">
                        <a:lnSpc>
                          <a:spcPct val="106000"/>
                        </a:lnSpc>
                        <a:spcAft>
                          <a:spcPts val="0"/>
                        </a:spcAft>
                      </a:pPr>
                      <a:r>
                        <a:rPr sz="1100" b="0">
                          <a:solidFill>
                            <a:srgbClr val="333333"/>
                          </a:solidFill>
                          <a:latin typeface="Fira Code"/>
                        </a:rPr>
                        <a:t>if (!ekf_check_state.bad_variance) {</a:t>
                      </a:r>
                    </a:p>
                    <a:p>
                      <a:pPr algn="l">
                        <a:lnSpc>
                          <a:spcPct val="106000"/>
                        </a:lnSpc>
                        <a:spcAft>
                          <a:spcPts val="0"/>
                        </a:spcAft>
                      </a:pPr>
                      <a:r>
                        <a:rPr sz="1100" b="0">
                          <a:solidFill>
                            <a:srgbClr val="333333"/>
                          </a:solidFill>
                          <a:latin typeface="Fira Code"/>
                        </a:rPr>
                        <a:t>// increase counter</a:t>
                      </a:r>
                    </a:p>
                    <a:p>
                      <a:pPr algn="l">
                        <a:lnSpc>
                          <a:spcPct val="106000"/>
                        </a:lnSpc>
                        <a:spcAft>
                          <a:spcPts val="0"/>
                        </a:spcAft>
                      </a:pPr>
                      <a:r>
                        <a:rPr sz="1100" b="0">
                          <a:solidFill>
                            <a:srgbClr val="333333"/>
                          </a:solidFill>
                          <a:latin typeface="Fira Code"/>
                        </a:rPr>
                        <a:t>ekf_check_state.fail_count++;</a:t>
                      </a:r>
                    </a:p>
                    <a:p>
                      <a:pPr algn="l">
                        <a:lnSpc>
                          <a:spcPct val="106000"/>
                        </a:lnSpc>
                        <a:spcAft>
                          <a:spcPts val="0"/>
                        </a:spcAft>
                      </a:pPr>
                      <a:r>
                        <a:rPr sz="1100" b="0">
                          <a:solidFill>
                            <a:srgbClr val="333333"/>
                          </a:solidFill>
                          <a:latin typeface="Fira Code"/>
                        </a:rPr>
                        <a:t>if (ekf_check_state.fail_count == (EKF_CHECK_ITERATIONS_MAX-2)) {</a:t>
                      </a:r>
                    </a:p>
                    <a:p>
                      <a:pPr algn="l">
                        <a:lnSpc>
                          <a:spcPct val="106000"/>
                        </a:lnSpc>
                        <a:spcAft>
                          <a:spcPts val="0"/>
                        </a:spcAft>
                      </a:pPr>
                      <a:r>
                        <a:rPr sz="1100" b="0">
                          <a:solidFill>
                            <a:srgbClr val="333333"/>
                          </a:solidFill>
                          <a:latin typeface="Fira Code"/>
                        </a:rPr>
                        <a:t>// we are two iterations away from declaring an EKF failsafe, ask the EKF if we can reset</a:t>
                      </a:r>
                    </a:p>
                    <a:p>
                      <a:pPr algn="l">
                        <a:lnSpc>
                          <a:spcPct val="106000"/>
                        </a:lnSpc>
                        <a:spcAft>
                          <a:spcPts val="0"/>
                        </a:spcAft>
                      </a:pPr>
                      <a:r>
                        <a:rPr sz="1100" b="0">
                          <a:solidFill>
                            <a:srgbClr val="333333"/>
                          </a:solidFill>
                          <a:latin typeface="Fira Code"/>
                        </a:rPr>
                        <a:t>// yaw to resolve the issue</a:t>
                      </a:r>
                    </a:p>
                    <a:p>
                      <a:pPr algn="l">
                        <a:lnSpc>
                          <a:spcPct val="106000"/>
                        </a:lnSpc>
                        <a:spcAft>
                          <a:spcPts val="0"/>
                        </a:spcAft>
                      </a:pPr>
                      <a:r>
                        <a:rPr sz="1100" b="0">
                          <a:solidFill>
                            <a:srgbClr val="333333"/>
                          </a:solidFill>
                          <a:latin typeface="Fira Code"/>
                        </a:rPr>
                        <a:t>ahrs.request_yaw_reset();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4767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Rover::ekf_over_threshold()</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 use EKF to get variance</a:t>
                      </a:r>
                    </a:p>
                    <a:p>
                      <a:pPr algn="l">
                        <a:lnSpc>
                          <a:spcPct val="106000"/>
                        </a:lnSpc>
                        <a:spcAft>
                          <a:spcPts val="0"/>
                        </a:spcAft>
                      </a:pPr>
                      <a:r>
                        <a:rPr sz="1100" b="0">
                          <a:solidFill>
                            <a:srgbClr val="333333"/>
                          </a:solidFill>
                          <a:latin typeface="Fira Code"/>
                        </a:rPr>
                        <a:t>float position_variance, vel_variance, height_variance, tas_variance;</a:t>
                      </a:r>
                    </a:p>
                    <a:p>
                      <a:pPr algn="l">
                        <a:lnSpc>
                          <a:spcPct val="106000"/>
                        </a:lnSpc>
                        <a:spcAft>
                          <a:spcPts val="0"/>
                        </a:spcAft>
                      </a:pPr>
                      <a:r>
                        <a:rPr sz="1100" b="0">
                          <a:solidFill>
                            <a:srgbClr val="333333"/>
                          </a:solidFill>
                          <a:latin typeface="Fira Code"/>
                        </a:rPr>
                        <a:t>Vector3f mag_variance;</a:t>
                      </a:r>
                    </a:p>
                    <a:p>
                      <a:pPr algn="l">
                        <a:lnSpc>
                          <a:spcPct val="106000"/>
                        </a:lnSpc>
                        <a:spcAft>
                          <a:spcPts val="0"/>
                        </a:spcAft>
                      </a:pPr>
                      <a:r>
                        <a:rPr sz="1100" b="0">
                          <a:solidFill>
                            <a:srgbClr val="333333"/>
                          </a:solidFill>
                          <a:latin typeface="Fira Code"/>
                        </a:rPr>
                        <a:t>ahrs.get_variances(vel_variance, position_variance, height_variance, mag_variance, tas_variance);</a:t>
                      </a:r>
                    </a:p>
                    <a:p>
                      <a:pPr algn="l">
                        <a:lnSpc>
                          <a:spcPct val="106000"/>
                        </a:lnSpc>
                        <a:spcAft>
                          <a:spcPts val="0"/>
                        </a:spcAft>
                      </a:pPr>
                      <a:r>
                        <a:rPr sz="1100" b="0">
                          <a:solidFill>
                            <a:srgbClr val="333333"/>
                          </a:solidFill>
                          <a:latin typeface="Fira Code"/>
                        </a:rPr>
                        <a:t>// return true if two of compass, velocity and position variances are over the threshold</a:t>
                      </a:r>
                    </a:p>
                    <a:p>
                      <a:pPr algn="l">
                        <a:lnSpc>
                          <a:spcPct val="106000"/>
                        </a:lnSpc>
                        <a:spcAft>
                          <a:spcPts val="0"/>
                        </a:spcAft>
                      </a:pPr>
                      <a:r>
                        <a:rPr sz="1100" b="0">
                          <a:solidFill>
                            <a:srgbClr val="333333"/>
                          </a:solidFill>
                          <a:latin typeface="Fira Code"/>
                        </a:rPr>
                        <a:t>uint8_t over_thresh_count = 0;</a:t>
                      </a:r>
                    </a:p>
                    <a:p>
                      <a:pPr algn="l">
                        <a:lnSpc>
                          <a:spcPct val="106000"/>
                        </a:lnSpc>
                        <a:spcAft>
                          <a:spcPts val="0"/>
                        </a:spcAft>
                      </a:pPr>
                      <a:r>
                        <a:rPr sz="1100" b="0">
                          <a:solidFill>
                            <a:srgbClr val="333333"/>
                          </a:solidFill>
                          <a:latin typeface="Fira Code"/>
                        </a:rPr>
                        <a:t>if (mag_variance.length() &gt;= g.fs_ekf_thresh) {</a:t>
                      </a:r>
                    </a:p>
                    <a:p>
                      <a:pPr algn="l">
                        <a:lnSpc>
                          <a:spcPct val="106000"/>
                        </a:lnSpc>
                        <a:spcAft>
                          <a:spcPts val="0"/>
                        </a:spcAft>
                      </a:pPr>
                      <a:r>
                        <a:rPr sz="1100" b="0">
                          <a:solidFill>
                            <a:srgbClr val="333333"/>
                          </a:solidFill>
                          <a:latin typeface="Fira Code"/>
                        </a:rPr>
                        <a:t>over_thresh_count++;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Sub::failsafe_ekf_check()</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Vector3f magVar;</a:t>
                      </a:r>
                    </a:p>
                    <a:p>
                      <a:pPr algn="l">
                        <a:lnSpc>
                          <a:spcPct val="106000"/>
                        </a:lnSpc>
                        <a:spcAft>
                          <a:spcPts val="0"/>
                        </a:spcAft>
                      </a:pPr>
                      <a:r>
                        <a:rPr sz="1100" b="0">
                          <a:solidFill>
                            <a:srgbClr val="333333"/>
                          </a:solidFill>
                          <a:latin typeface="Fira Code"/>
                        </a:rPr>
                        <a:t>float compass_variance;</a:t>
                      </a:r>
                    </a:p>
                    <a:p>
                      <a:pPr algn="l">
                        <a:lnSpc>
                          <a:spcPct val="106000"/>
                        </a:lnSpc>
                        <a:spcAft>
                          <a:spcPts val="0"/>
                        </a:spcAft>
                      </a:pPr>
                      <a:r>
                        <a:rPr sz="1100" b="0">
                          <a:solidFill>
                            <a:srgbClr val="333333"/>
                          </a:solidFill>
                          <a:latin typeface="Fira Code"/>
                        </a:rPr>
                        <a:t>float vel_variance;</a:t>
                      </a:r>
                    </a:p>
                    <a:p>
                      <a:pPr algn="l">
                        <a:lnSpc>
                          <a:spcPct val="106000"/>
                        </a:lnSpc>
                        <a:spcAft>
                          <a:spcPts val="0"/>
                        </a:spcAft>
                      </a:pPr>
                      <a:r>
                        <a:rPr sz="1100" b="0">
                          <a:solidFill>
                            <a:srgbClr val="333333"/>
                          </a:solidFill>
                          <a:latin typeface="Fira Code"/>
                        </a:rPr>
                        <a:t>ahrs.get_variances(vel_variance, posVar, hgtVar, magVar, tasVar);</a:t>
                      </a:r>
                    </a:p>
                    <a:p>
                      <a:pPr algn="l">
                        <a:lnSpc>
                          <a:spcPct val="106000"/>
                        </a:lnSpc>
                        <a:spcAft>
                          <a:spcPts val="0"/>
                        </a:spcAft>
                      </a:pPr>
                      <a:r>
                        <a:rPr sz="1100" b="0">
                          <a:solidFill>
                            <a:srgbClr val="333333"/>
                          </a:solidFill>
                          <a:latin typeface="Fira Code"/>
                        </a:rPr>
                        <a:t>compass_variance = magVar.length();</a:t>
                      </a:r>
                    </a:p>
                    <a:p>
                      <a:pPr algn="l">
                        <a:lnSpc>
                          <a:spcPct val="106000"/>
                        </a:lnSpc>
                        <a:spcAft>
                          <a:spcPts val="0"/>
                        </a:spcAft>
                      </a:pPr>
                      <a:r>
                        <a:rPr sz="1100" b="0">
                          <a:solidFill>
                            <a:srgbClr val="333333"/>
                          </a:solidFill>
                          <a:latin typeface="Fira Code"/>
                        </a:rPr>
                        <a:t>if (compass_variance &lt; g.fs_ekf_thresh &amp;&amp; vel_variance &lt; g.fs_ekf_thresh) {</a:t>
                      </a:r>
                    </a:p>
                    <a:p>
                      <a:pPr algn="l">
                        <a:lnSpc>
                          <a:spcPct val="106000"/>
                        </a:lnSpc>
                        <a:spcAft>
                          <a:spcPts val="0"/>
                        </a:spcAft>
                      </a:pPr>
                      <a:r>
                        <a:rPr sz="1100" b="0">
                          <a:solidFill>
                            <a:srgbClr val="333333"/>
                          </a:solidFill>
                          <a:latin typeface="Fira Code"/>
                        </a:rPr>
                        <a:t>last_ekf_good_ms = AP_HAL::millis();</a:t>
                      </a:r>
                    </a:p>
                    <a:p>
                      <a:pPr algn="l">
                        <a:lnSpc>
                          <a:spcPct val="106000"/>
                        </a:lnSpc>
                        <a:spcAft>
                          <a:spcPts val="0"/>
                        </a:spcAft>
                      </a:pPr>
                      <a:r>
                        <a:rPr sz="1100" b="0">
                          <a:solidFill>
                            <a:srgbClr val="333333"/>
                          </a:solidFill>
                          <a:latin typeface="Fira Code"/>
                        </a:rPr>
                        <a:t>failsafe.ekf = false;</a:t>
                      </a:r>
                    </a:p>
                    <a:p>
                      <a:pPr algn="l">
                        <a:lnSpc>
                          <a:spcPct val="106000"/>
                        </a:lnSpc>
                        <a:spcAft>
                          <a:spcPts val="0"/>
                        </a:spcAft>
                      </a:pPr>
                      <a:r>
                        <a:rPr sz="1100" b="0">
                          <a:solidFill>
                            <a:srgbClr val="333333"/>
                          </a:solidFill>
                          <a:latin typeface="Fira Code"/>
                        </a:rPr>
                        <a:t>AP_Notify::flags.ekf_bad = 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3–4</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392280"/>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Copter::crash_check() (attitude)</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 check for lean angle over 15 degrees</a:t>
                      </a:r>
                    </a:p>
                    <a:p>
                      <a:pPr algn="l">
                        <a:lnSpc>
                          <a:spcPct val="106000"/>
                        </a:lnSpc>
                        <a:spcAft>
                          <a:spcPts val="0"/>
                        </a:spcAft>
                      </a:pPr>
                      <a:r>
                        <a:rPr sz="1100" b="0">
                          <a:solidFill>
                            <a:srgbClr val="333333"/>
                          </a:solidFill>
                          <a:latin typeface="Fira Code"/>
                        </a:rPr>
                        <a:t>const float lean_angle_deg = degrees(acosf(ahrs.cos_roll()*ahrs.cos_pitch()));</a:t>
                      </a:r>
                    </a:p>
                    <a:p>
                      <a:pPr algn="l">
                        <a:lnSpc>
                          <a:spcPct val="106000"/>
                        </a:lnSpc>
                        <a:spcAft>
                          <a:spcPts val="0"/>
                        </a:spcAft>
                      </a:pPr>
                      <a:r>
                        <a:rPr sz="1100" b="0">
                          <a:solidFill>
                            <a:srgbClr val="333333"/>
                          </a:solidFill>
                          <a:latin typeface="Fira Code"/>
                        </a:rPr>
                        <a:t>if (lean_angle_deg &lt;= CRASH_CHECK_ANGLE_MIN_DEG) {</a:t>
                      </a:r>
                    </a:p>
                    <a:p>
                      <a:pPr algn="l">
                        <a:lnSpc>
                          <a:spcPct val="106000"/>
                        </a:lnSpc>
                        <a:spcAft>
                          <a:spcPts val="0"/>
                        </a:spcAft>
                      </a:pPr>
                      <a:r>
                        <a:rPr sz="1100" b="0">
                          <a:solidFill>
                            <a:srgbClr val="333333"/>
                          </a:solidFill>
                          <a:latin typeface="Fira Code"/>
                        </a:rPr>
                        <a:t>crash_counter = 0;</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check for angle error over 30 degrees</a:t>
                      </a:r>
                    </a:p>
                    <a:p>
                      <a:pPr algn="l">
                        <a:lnSpc>
                          <a:spcPct val="106000"/>
                        </a:lnSpc>
                        <a:spcAft>
                          <a:spcPts val="0"/>
                        </a:spcAft>
                      </a:pPr>
                      <a:r>
                        <a:rPr sz="1100" b="0">
                          <a:solidFill>
                            <a:srgbClr val="333333"/>
                          </a:solidFill>
                          <a:latin typeface="Fira Code"/>
                        </a:rPr>
                        <a:t>const float angle_error = attitude_control-&gt;get_att_error_angle_deg();</a:t>
                      </a:r>
                    </a:p>
                    <a:p>
                      <a:pPr algn="l">
                        <a:lnSpc>
                          <a:spcPct val="106000"/>
                        </a:lnSpc>
                        <a:spcAft>
                          <a:spcPts val="0"/>
                        </a:spcAft>
                      </a:pPr>
                      <a:r>
                        <a:rPr sz="1100" b="0">
                          <a:solidFill>
                            <a:srgbClr val="333333"/>
                          </a:solidFill>
                          <a:latin typeface="Fira Code"/>
                        </a:rPr>
                        <a:t>if (angle_error &lt;= CRASH_CHECK_ANGLE_DEVIATION_DEG)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309483">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Copter::crash_check() (velocity)</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 check for speed under 10m/s (if available)</a:t>
                      </a:r>
                    </a:p>
                    <a:p>
                      <a:pPr algn="l">
                        <a:lnSpc>
                          <a:spcPct val="106000"/>
                        </a:lnSpc>
                        <a:spcAft>
                          <a:spcPts val="0"/>
                        </a:spcAft>
                      </a:pPr>
                      <a:r>
                        <a:rPr sz="1100" b="0">
                          <a:solidFill>
                            <a:srgbClr val="333333"/>
                          </a:solidFill>
                          <a:latin typeface="Fira Code"/>
                        </a:rPr>
                        <a:t>Vector3f vel_ned;</a:t>
                      </a:r>
                    </a:p>
                    <a:p>
                      <a:pPr algn="l">
                        <a:lnSpc>
                          <a:spcPct val="106000"/>
                        </a:lnSpc>
                        <a:spcAft>
                          <a:spcPts val="0"/>
                        </a:spcAft>
                      </a:pPr>
                      <a:r>
                        <a:rPr sz="1100" b="0">
                          <a:solidFill>
                            <a:srgbClr val="333333"/>
                          </a:solidFill>
                          <a:latin typeface="Fira Code"/>
                        </a:rPr>
                        <a:t>if (ahrs.get_velocity_NED(vel_ned) &amp;&amp; (vel_ned.length() &gt;= CRASH_CHECK_SPEED_MAX)) {</a:t>
                      </a:r>
                    </a:p>
                    <a:p>
                      <a:pPr algn="l">
                        <a:lnSpc>
                          <a:spcPct val="106000"/>
                        </a:lnSpc>
                        <a:spcAft>
                          <a:spcPts val="0"/>
                        </a:spcAft>
                      </a:pPr>
                      <a:r>
                        <a:rPr sz="1100" b="0">
                          <a:solidFill>
                            <a:srgbClr val="333333"/>
                          </a:solidFill>
                          <a:latin typeface="Fira Code"/>
                        </a:rPr>
                        <a:t>crash_counter = 0;</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5–6</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25375"/>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GCS_MAVLINK_Plane::send_nav_controller_output()</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GCS_MAVLINK_Plane::send_nav_controller_output() const</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if (plane.control_mode == &amp;plane.mode_manual) {</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#if HAL_QUADPLANE_ENABLED</a:t>
                      </a:r>
                    </a:p>
                    <a:p>
                      <a:pPr algn="l">
                        <a:lnSpc>
                          <a:spcPct val="106000"/>
                        </a:lnSpc>
                        <a:spcAft>
                          <a:spcPts val="0"/>
                        </a:spcAft>
                      </a:pPr>
                      <a:r>
                        <a:rPr sz="1100" b="0">
                          <a:solidFill>
                            <a:srgbClr val="333333"/>
                          </a:solidFill>
                          <a:latin typeface="Fira Code"/>
                        </a:rPr>
                        <a:t>const QuadPlane &amp;quadplane = plane.quadplane;</a:t>
                      </a:r>
                    </a:p>
                    <a:p>
                      <a:pPr algn="l">
                        <a:lnSpc>
                          <a:spcPct val="106000"/>
                        </a:lnSpc>
                        <a:spcAft>
                          <a:spcPts val="0"/>
                        </a:spcAft>
                      </a:pPr>
                      <a:r>
                        <a:rPr sz="1100" b="0">
                          <a:solidFill>
                            <a:srgbClr val="333333"/>
                          </a:solidFill>
                          <a:latin typeface="Fira Code"/>
                        </a:rPr>
                        <a:t>if (quadplane.show_vtol_view() &amp;&amp; quadplane.using_wp_nav()) {</a:t>
                      </a:r>
                    </a:p>
                    <a:p>
                      <a:pPr algn="l">
                        <a:lnSpc>
                          <a:spcPct val="106000"/>
                        </a:lnSpc>
                        <a:spcAft>
                          <a:spcPts val="0"/>
                        </a:spcAft>
                      </a:pPr>
                      <a:r>
                        <a:rPr sz="1100" b="0">
                          <a:solidFill>
                            <a:srgbClr val="333333"/>
                          </a:solidFill>
                          <a:latin typeface="Fira Code"/>
                        </a:rPr>
                        <a:t>const Vector3f &amp;targets = quadplane.attitude_control-&gt;get_att_target_euler_cd();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Plane::calc_nav_roll()</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calculate a new nav_roll_cd from the navigation controller</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void Plane::calc_nav_roll()</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int32_t commanded_roll = nav_controller-&gt;nav_roll_cd();</a:t>
                      </a:r>
                    </a:p>
                    <a:p>
                      <a:pPr algn="l">
                        <a:lnSpc>
                          <a:spcPct val="106000"/>
                        </a:lnSpc>
                        <a:spcAft>
                          <a:spcPts val="0"/>
                        </a:spcAft>
                      </a:pPr>
                      <a:r>
                        <a:rPr sz="1100" b="0">
                          <a:solidFill>
                            <a:srgbClr val="333333"/>
                          </a:solidFill>
                          <a:latin typeface="Fira Code"/>
                        </a:rPr>
                        <a:t>nav_roll_cd = constrain_int32(commanded_roll, -roll_limit_cd,</a:t>
                      </a:r>
                    </a:p>
                    <a:p>
                      <a:pPr algn="l">
                        <a:lnSpc>
                          <a:spcPct val="106000"/>
                        </a:lnSpc>
                        <a:spcAft>
                          <a:spcPts val="0"/>
                        </a:spcAft>
                      </a:pPr>
                      <a:r>
                        <a:rPr sz="1100" b="0">
                          <a:solidFill>
                            <a:srgbClr val="333333"/>
                          </a:solidFill>
                          <a:latin typeface="Fira Code"/>
                        </a:rPr>
                        <a:t>roll_limit_cd);</a:t>
                      </a:r>
                    </a:p>
                    <a:p>
                      <a:pPr algn="l">
                        <a:lnSpc>
                          <a:spcPct val="106000"/>
                        </a:lnSpc>
                        <a:spcAft>
                          <a:spcPts val="0"/>
                        </a:spcAft>
                      </a:pPr>
                      <a:r>
                        <a:rPr sz="1100" b="0">
                          <a:solidFill>
                            <a:srgbClr val="333333"/>
                          </a:solidFill>
                          <a:latin typeface="Fira Code"/>
                        </a:rPr>
                        <a:t>update_load_factor();</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7–8</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4767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Plane::navigate()</a:t>
                      </a:r>
                      <a:r>
                        <a:rPr sz="1100" b="0">
                          <a:solidFill>
                            <a:srgbClr val="999999"/>
                          </a:solidFill>
                          <a:latin typeface="Fira Code"/>
                        </a:rPr>
                        <a:t>  ·  </a:t>
                      </a:r>
                      <a:r>
                        <a:rPr sz="1100" b="0">
                          <a:solidFill>
                            <a:srgbClr val="999999"/>
                          </a:solidFill>
                          <a:latin typeface="Fira Code"/>
                        </a:rPr>
                        <a:t>Data dependency</a:t>
                      </a:r>
                    </a:p>
                    <a:p>
                      <a:pPr algn="l">
                        <a:lnSpc>
                          <a:spcPct val="106000"/>
                        </a:lnSpc>
                        <a:spcAft>
                          <a:spcPts val="0"/>
                        </a:spcAft>
                      </a:pPr>
                      <a:r>
                        <a:rPr sz="1100" b="0">
                          <a:solidFill>
                            <a:srgbClr val="333333"/>
                          </a:solidFill>
                          <a:latin typeface="Fira Code"/>
                        </a:rPr>
                        <a:t>void Plane::navigate()</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do not navigate with corrupt data</a:t>
                      </a:r>
                    </a:p>
                    <a:p>
                      <a:pPr algn="l">
                        <a:lnSpc>
                          <a:spcPct val="106000"/>
                        </a:lnSpc>
                        <a:spcAft>
                          <a:spcPts val="0"/>
                        </a:spcAft>
                      </a:pPr>
                      <a:r>
                        <a:rPr sz="1100" b="0">
                          <a:solidFill>
                            <a:srgbClr val="333333"/>
                          </a:solidFill>
                          <a:latin typeface="Fira Code"/>
                        </a:rPr>
                        <a:t>// ---------------------------------</a:t>
                      </a:r>
                    </a:p>
                    <a:p>
                      <a:pPr algn="l">
                        <a:lnSpc>
                          <a:spcPct val="106000"/>
                        </a:lnSpc>
                        <a:spcAft>
                          <a:spcPts val="0"/>
                        </a:spcAft>
                      </a:pPr>
                      <a:r>
                        <a:rPr sz="1100" b="0">
                          <a:solidFill>
                            <a:srgbClr val="333333"/>
                          </a:solidFill>
                          <a:latin typeface="Fira Code"/>
                        </a:rPr>
                        <a:t>if (!have_position) {</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if (next_WP_loc.lat == 0 &amp;&amp; next_WP_loc.lng == 0)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Plane::calc_gndspeed_undershoot()</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Vector3f velNED;</a:t>
                      </a:r>
                    </a:p>
                    <a:p>
                      <a:pPr algn="l">
                        <a:lnSpc>
                          <a:spcPct val="106000"/>
                        </a:lnSpc>
                        <a:spcAft>
                          <a:spcPts val="0"/>
                        </a:spcAft>
                      </a:pPr>
                      <a:r>
                        <a:rPr sz="1100" b="0">
                          <a:solidFill>
                            <a:srgbClr val="333333"/>
                          </a:solidFill>
                          <a:latin typeface="Fira Code"/>
                        </a:rPr>
                        <a:t>if (ahrs.have_inertial_nav() &amp;&amp; ahrs.get_velocity_NED(velNED))</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const Matrix3f &amp;rotMat = ahrs.get_rotation_body_to_ned();</a:t>
                      </a:r>
                    </a:p>
                    <a:p>
                      <a:pPr algn="l">
                        <a:lnSpc>
                          <a:spcPct val="106000"/>
                        </a:lnSpc>
                        <a:spcAft>
                          <a:spcPts val="0"/>
                        </a:spcAft>
                      </a:pPr>
                      <a:r>
                        <a:rPr sz="1100" b="0">
                          <a:solidFill>
                            <a:srgbClr val="333333"/>
                          </a:solidFill>
                          <a:latin typeface="Fira Code"/>
                        </a:rPr>
                        <a:t>Vector2f yawVect = Vector2f(rotMat.a.x,rotMat.b.x);</a:t>
                      </a:r>
                    </a:p>
                    <a:p>
                      <a:pPr algn="l">
                        <a:lnSpc>
                          <a:spcPct val="106000"/>
                        </a:lnSpc>
                        <a:spcAft>
                          <a:spcPts val="0"/>
                        </a:spcAft>
                      </a:pPr>
                      <a:r>
                        <a:rPr sz="1100" b="0">
                          <a:solidFill>
                            <a:srgbClr val="333333"/>
                          </a:solidFill>
                          <a:latin typeface="Fira Code"/>
                        </a:rPr>
                        <a:t>if (!yawVect.is_zero()) {</a:t>
                      </a:r>
                    </a:p>
                    <a:p>
                      <a:pPr algn="l">
                        <a:lnSpc>
                          <a:spcPct val="106000"/>
                        </a:lnSpc>
                        <a:spcAft>
                          <a:spcPts val="0"/>
                        </a:spcAft>
                      </a:pPr>
                      <a:r>
                        <a:rPr sz="1100" b="0">
                          <a:solidFill>
                            <a:srgbClr val="333333"/>
                          </a:solidFill>
                          <a:latin typeface="Fira Code"/>
                        </a:rPr>
                        <a:t>yawVect.normalize();</a:t>
                      </a:r>
                    </a:p>
                    <a:p>
                      <a:pPr algn="l">
                        <a:lnSpc>
                          <a:spcPct val="106000"/>
                        </a:lnSpc>
                        <a:spcAft>
                          <a:spcPts val="0"/>
                        </a:spcAft>
                      </a:pPr>
                      <a:r>
                        <a:rPr sz="1100" b="0">
                          <a:solidFill>
                            <a:srgbClr val="333333"/>
                          </a:solidFill>
                          <a:latin typeface="Fira Code"/>
                        </a:rPr>
                        <a:t>float gndSpdFwd = yawVect * velNED.xy();</a:t>
                      </a:r>
                    </a:p>
                    <a:p>
                      <a:pPr algn="l">
                        <a:lnSpc>
                          <a:spcPct val="106000"/>
                        </a:lnSpc>
                        <a:spcAft>
                          <a:spcPts val="0"/>
                        </a:spcAft>
                      </a:pPr>
                      <a:r>
                        <a:rPr sz="1100" b="0">
                          <a:solidFill>
                            <a:srgbClr val="333333"/>
                          </a:solidFill>
                          <a:latin typeface="Fira Code"/>
                        </a:rPr>
                        <a:t>groundspeed_undershoot_is_valid = aparm.min_groundspeed &gt; 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9–10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2, 3, 4, 5</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5a — Layer 2 transitive chains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Table 5a: Layer 2 — full transitive chain, final consumer &amp; hop depth</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3751392"/>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4108">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variances (via AP_AHRS)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AP_GPS/EKF → ahrs.get_variances() → ekf_over_threshold() → Copter::ekf_check fail_count → failsafe_ekf_event() → LAND/AltHold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failsafe action (LAND)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EKF-variance watchdog replicated across ArduCopter/ekf_check.cpp, ArduPlane/ekf_check.cpp, Rover/ekf_check.cpp and ArduSub/failsafe.cpp — a 4-way copy-paste (extraction risk).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variances (Plane)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variances → Plane::ekf_check → bad_variance → EKF failsafe → mode change (RTL/FBWA)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Plane EKF 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[DUPLICATED] mirrors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variances (Rover)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variances → Rover::ekf_over_threshold → Rover::ekf_check → EKF failsafe action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Rover EKF 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mirrors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variances (Sub)</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variances → Sub::failsafe_ekf_check → failsafe.ekf flag → GCS warn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Sub EKF failsafe flag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[DUPLICATED] mirrors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 attitude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AHRS attitude → crash_check attitude test → crash_counter → arming.disarm()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motor disarm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Attitude branch.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566928" y="5786351"/>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9" name="TextBox 8"/>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1–5</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2, 3, 4, 5</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5a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29091"/>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 NED 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EKF velocity → ahrs.get_velocity_NED() → crash_check speed test → crash_counter → arming.disarm()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motor disarm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Velocity branch (F3 split).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Navigation controller 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EKF/nav state → nav_controller → send_nav_controller_output → MAVLink → GCS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GCS NAV_CONTROLLER_OUTPUT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Reporting branch.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Navigation controller roll demand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nav_controller (L1/EKF) → nav_roll_cd() → calc_nav_roll → nav_roll_cd → attitude controller → SRV_Channels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SRV_Channels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Roll-demand consumption.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position validity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EKF position → have_position → Plane::navigate → nav_controller-&gt;update_waypoint → calc_nav_roll → SRV_Channels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SRV_Channels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Real symbol behind user-example chain (Table 2a L2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951012">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AP_AHRS::have_inertial_nav() (inertial-nav availability)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AP_AHRS::have_inertial_nav() → Plane::calc_gndspeed_undershoot() [ArduPlane/navigation.cpp:305] → Plane::update_GPS_10Hz() [ArduPlane/Plane.cpp:490]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Plane::update_GPS_10Hz() (groundspeed-undershoot nav compensation)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User-example ahrs.have_inertial_nav() observation gating nav groundspeed compensation.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566928" y="5648163"/>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6–10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0"/>
            <a:ext cx="11058144" cy="1188720"/>
          </a:xfrm>
          <a:prstGeom prst="rect">
            <a:avLst/>
          </a:prstGeom>
          <a:noFill/>
        </p:spPr>
        <p:txBody>
          <a:bodyPr wrap="square" lIns="0" rIns="0" tIns="0" bIns="0" anchor="t">
            <a:noAutofit/>
          </a:bodyPr>
          <a:lstStyle/>
          <a:p>
            <a:pPr algn="ctr">
              <a:lnSpc>
                <a:spcPct val="110000"/>
              </a:lnSpc>
              <a:spcAft>
                <a:spcPts val="0"/>
              </a:spcAft>
            </a:pPr>
            <a:r>
              <a:rPr sz="3800" b="1">
                <a:solidFill>
                  <a:srgbClr val="FFFFFF"/>
                </a:solidFill>
                <a:latin typeface="Space Grotesk"/>
              </a:rPr>
              <a:t>Table 6 — Indirect Timing</a:t>
            </a:r>
          </a:p>
        </p:txBody>
      </p:sp>
      <p:sp>
        <p:nvSpPr>
          <p:cNvPr id="3" name="TextBox 2"/>
          <p:cNvSpPr txBox="1"/>
          <p:nvPr/>
        </p:nvSpPr>
        <p:spPr>
          <a:xfrm>
            <a:off x="566928" y="3840480"/>
            <a:ext cx="11058144" cy="365760"/>
          </a:xfrm>
          <a:prstGeom prst="rect">
            <a:avLst/>
          </a:prstGeom>
          <a:noFill/>
        </p:spPr>
        <p:txBody>
          <a:bodyPr wrap="square" lIns="0" rIns="0" tIns="0" bIns="0" anchor="t">
            <a:noAutofit/>
          </a:bodyPr>
          <a:lstStyle/>
          <a:p>
            <a:pPr algn="ctr">
              <a:lnSpc>
                <a:spcPct val="100000"/>
              </a:lnSpc>
              <a:spcAft>
                <a:spcPts val="0"/>
              </a:spcAft>
            </a:pPr>
            <a:r>
              <a:rPr sz="1300" b="0">
                <a:solidFill>
                  <a:srgbClr val="94FAD5"/>
                </a:solidFill>
                <a:latin typeface="Fira Code"/>
              </a:rPr>
              <a:t>Timing read as a permission: main-loop lockup watchdogs and the rate gates around them.</a:t>
            </a:r>
          </a:p>
        </p:txBody>
      </p:sp>
      <p:sp>
        <p:nvSpPr>
          <p:cNvPr id="4" name="Rectangle 3"/>
          <p:cNvSpPr/>
          <p:nvPr/>
        </p:nvSpPr>
        <p:spPr>
          <a:xfrm>
            <a:off x="4724400" y="4389120"/>
            <a:ext cx="2743200" cy="91440"/>
          </a:xfrm>
          <a:prstGeom prst="rect">
            <a:avLst/>
          </a:prstGeom>
          <a:gradFill rotWithShape="1">
            <a:gsLst>
              <a:gs pos="0">
                <a:srgbClr val="5B39F3"/>
              </a:gs>
              <a:gs pos="100000">
                <a:srgbClr val="94FAD5"/>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TIMING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 — Indirect Timing</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All 11 catalogued rows, with every Notes annotation, flag token and cited path:line range exactly as printed.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2968215"/>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550298">
                <a:tc>
                  <a:txBody>
                    <a:bodyPr wrap="square">
                      <a:noAutofit/>
                    </a:bodyPr>
                    <a:lstStyle/>
                    <a:p>
                      <a:pPr algn="l">
                        <a:lnSpc>
                          <a:spcPct val="106000"/>
                        </a:lnSpc>
                        <a:spcAft>
                          <a:spcPts val="0"/>
                        </a:spcAft>
                      </a:pPr>
                      <a:r>
                        <a:rPr sz="1100" b="1">
                          <a:solidFill>
                            <a:srgbClr val="333333"/>
                          </a:solidFill>
                          <a:latin typeface="Fira Code"/>
                        </a:rPr>
                        <a:t>1</a:t>
                      </a:r>
                    </a:p>
                    <a:p>
                      <a:pPr algn="l">
                        <a:lnSpc>
                          <a:spcPct val="106000"/>
                        </a:lnSpc>
                        <a:spcAft>
                          <a:spcPts val="0"/>
                        </a:spcAft>
                      </a:pPr>
                      <a:r>
                        <a:rPr sz="1100" b="0">
                          <a:solidFill>
                            <a:srgbClr val="333333"/>
                          </a:solidFill>
                          <a:latin typeface="Fira Code"/>
                        </a:rPr>
                        <a:t>ArduCopter/failsafe.cpp</a:t>
                      </a:r>
                    </a:p>
                    <a:p>
                      <a:pPr algn="l">
                        <a:lnSpc>
                          <a:spcPct val="106000"/>
                        </a:lnSpc>
                        <a:spcAft>
                          <a:spcPts val="0"/>
                        </a:spcAft>
                      </a:pPr>
                      <a:r>
                        <a:rPr sz="1100" b="0">
                          <a:solidFill>
                            <a:srgbClr val="333333"/>
                          </a:solidFill>
                          <a:latin typeface="Fira Code"/>
                        </a:rPr>
                        <a:t>37-45</a:t>
                      </a:r>
                    </a:p>
                    <a:p>
                      <a:pPr algn="l">
                        <a:lnSpc>
                          <a:spcPct val="106000"/>
                        </a:lnSpc>
                        <a:spcAft>
                          <a:spcPts val="0"/>
                        </a:spcAft>
                      </a:pPr>
                      <a:r>
                        <a:rPr sz="1100" b="0">
                          <a:solidFill>
                            <a:srgbClr val="333333"/>
                          </a:solidFill>
                          <a:latin typeface="Fira Code"/>
                        </a:rPr>
                        <a:t>Copter::failsafe_check()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1 kHz timer-failsafe ISR; scheduler tick counter has not advanced since the last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AP_HAL::micros() (tnow) and AP_Scheduler::ticks() loop counter (timing / loop-cadence 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When ticks stall and tnow-failsafe_last_timestamp &gt; 2,000,000 us (2 s) sets in_failsafe, drives motors-&gt;output_min(), then disarms every 1 s (CPU 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INDIRECT/RELATIONAL (timing). Main-loop-lockup watchdog replicated 5 ways — ArduCopter/failsafe.cpp, ArduPlane/failsafe.cpp, Rover/failsafe.cpp, ArduSub/failsafe.cpp (mainloop_failsafe_check) and Blimp/failsafe.cpp — each reads AP_Scheduler::ticks() + AP_HAL::micros(); divergent thresholds/actions (extraction risk).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11307211" y="384048"/>
            <a:ext cx="317861"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TIMING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 — Indirect Timing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323612"/>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905695">
                <a:tc>
                  <a:txBody>
                    <a:bodyPr wrap="square">
                      <a:noAutofit/>
                    </a:bodyPr>
                    <a:lstStyle/>
                    <a:p>
                      <a:pPr algn="l">
                        <a:lnSpc>
                          <a:spcPct val="106000"/>
                        </a:lnSpc>
                        <a:spcAft>
                          <a:spcPts val="0"/>
                        </a:spcAft>
                      </a:pPr>
                      <a:r>
                        <a:rPr sz="1100" b="1">
                          <a:solidFill>
                            <a:srgbClr val="333333"/>
                          </a:solidFill>
                          <a:latin typeface="Fira Code"/>
                        </a:rPr>
                        <a:t>2</a:t>
                      </a:r>
                    </a:p>
                    <a:p>
                      <a:pPr algn="l">
                        <a:lnSpc>
                          <a:spcPct val="106000"/>
                        </a:lnSpc>
                        <a:spcAft>
                          <a:spcPts val="0"/>
                        </a:spcAft>
                      </a:pPr>
                      <a:r>
                        <a:rPr sz="1100" b="0">
                          <a:solidFill>
                            <a:srgbClr val="333333"/>
                          </a:solidFill>
                          <a:latin typeface="Fira Code"/>
                        </a:rPr>
                        <a:t>ArduPlane/failsafe.cpp</a:t>
                      </a:r>
                    </a:p>
                    <a:p>
                      <a:pPr algn="l">
                        <a:lnSpc>
                          <a:spcPct val="106000"/>
                        </a:lnSpc>
                        <a:spcAft>
                          <a:spcPts val="0"/>
                        </a:spcAft>
                      </a:pPr>
                      <a:r>
                        <a:rPr sz="1100" b="0">
                          <a:solidFill>
                            <a:srgbClr val="333333"/>
                          </a:solidFill>
                          <a:latin typeface="Fira Code"/>
                        </a:rPr>
                        <a:t>22-30</a:t>
                      </a:r>
                    </a:p>
                    <a:p>
                      <a:pPr algn="l">
                        <a:lnSpc>
                          <a:spcPct val="106000"/>
                        </a:lnSpc>
                        <a:spcAft>
                          <a:spcPts val="0"/>
                        </a:spcAft>
                      </a:pPr>
                      <a:r>
                        <a:rPr sz="1100" b="0">
                          <a:solidFill>
                            <a:srgbClr val="333333"/>
                          </a:solidFill>
                          <a:latin typeface="Fira Code"/>
                        </a:rPr>
                        <a:t>Plane::failsafe_check()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1 kHz timer-failsafe ISR; scheduler tick counter unchanged (main loop stalled)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micros() (tnow) and AP_Scheduler::ticks() (ticks vs last_ticks)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After &gt; 200,000 us (0.2 s) stall sets in_failsafe and passes RC inputs straight to servo outputs (SRV_Channels) every 20 ms instead of disarming.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INDIRECT/RELATIONAL (timing). Main-loop-lockup watchdog replicated 5 ways — ArduCopter/failsafe.cpp, ArduPlane/failsafe.cpp, Rover/failsafe.cpp, ArduSub/failsafe.cpp (mainloop_failsafe_check) and Blimp/failsafe.cpp — each reads AP_Scheduler::ticks() + AP_HAL::micros(); divergent thresholds/actions (extraction risk). Divergent: 0.2 s trip + RC-passthrough (vs Copter 2 s + disarm).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307211" y="384048"/>
            <a:ext cx="317861"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TIMING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 — Indirect Timing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968215"/>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550298">
                <a:tc>
                  <a:txBody>
                    <a:bodyPr wrap="square">
                      <a:noAutofit/>
                    </a:bodyPr>
                    <a:lstStyle/>
                    <a:p>
                      <a:pPr algn="l">
                        <a:lnSpc>
                          <a:spcPct val="106000"/>
                        </a:lnSpc>
                        <a:spcAft>
                          <a:spcPts val="0"/>
                        </a:spcAft>
                      </a:pPr>
                      <a:r>
                        <a:rPr sz="1100" b="1">
                          <a:solidFill>
                            <a:srgbClr val="333333"/>
                          </a:solidFill>
                          <a:latin typeface="Fira Code"/>
                        </a:rPr>
                        <a:t>3</a:t>
                      </a:r>
                    </a:p>
                    <a:p>
                      <a:pPr algn="l">
                        <a:lnSpc>
                          <a:spcPct val="106000"/>
                        </a:lnSpc>
                        <a:spcAft>
                          <a:spcPts val="0"/>
                        </a:spcAft>
                      </a:pPr>
                      <a:r>
                        <a:rPr sz="1100" b="0">
                          <a:solidFill>
                            <a:srgbClr val="333333"/>
                          </a:solidFill>
                          <a:latin typeface="Fira Code"/>
                        </a:rPr>
                        <a:t>Rover/failsafe.cpp</a:t>
                      </a:r>
                    </a:p>
                    <a:p>
                      <a:pPr algn="l">
                        <a:lnSpc>
                          <a:spcPct val="106000"/>
                        </a:lnSpc>
                        <a:spcAft>
                          <a:spcPts val="0"/>
                        </a:spcAft>
                      </a:pPr>
                      <a:r>
                        <a:rPr sz="1100" b="0">
                          <a:solidFill>
                            <a:srgbClr val="333333"/>
                          </a:solidFill>
                          <a:latin typeface="Fira Code"/>
                        </a:rPr>
                        <a:t>22-30</a:t>
                      </a:r>
                    </a:p>
                    <a:p>
                      <a:pPr algn="l">
                        <a:lnSpc>
                          <a:spcPct val="106000"/>
                        </a:lnSpc>
                        <a:spcAft>
                          <a:spcPts val="0"/>
                        </a:spcAft>
                      </a:pPr>
                      <a:r>
                        <a:rPr sz="1100" b="0">
                          <a:solidFill>
                            <a:srgbClr val="333333"/>
                          </a:solidFill>
                          <a:latin typeface="Fira Code"/>
                        </a:rPr>
                        <a:t>Rover::failsafe_check()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1 kHz timer-failsafe ISR; scheduler tick counter unchanged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AP_HAL::micros() (tnow) and AP_Scheduler::ticks() (ticks vs last_ticks)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After &gt; 200,000 us (0.2 s) stall calls arming.disarm(AP_Arming:: Method::CPUFAILSAFE).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INDIRECT/RELATIONAL (timing). Main-loop-lockup watchdog replicated 5 ways — ArduCopter/failsafe.cpp, ArduPlane/failsafe.cpp, Rover/failsafe.cpp, ArduSub/failsafe.cpp (mainloop_failsafe_check) and Blimp/failsafe.cpp — each reads AP_Scheduler::ticks() + AP_HAL::micros(); divergent thresholds/actions (extraction risk).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307211" y="384048"/>
            <a:ext cx="317861"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3</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TIMING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 — Indirect Timing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968215"/>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550298">
                <a:tc>
                  <a:txBody>
                    <a:bodyPr wrap="square">
                      <a:noAutofit/>
                    </a:bodyPr>
                    <a:lstStyle/>
                    <a:p>
                      <a:pPr algn="l">
                        <a:lnSpc>
                          <a:spcPct val="106000"/>
                        </a:lnSpc>
                        <a:spcAft>
                          <a:spcPts val="0"/>
                        </a:spcAft>
                      </a:pPr>
                      <a:r>
                        <a:rPr sz="1100" b="1">
                          <a:solidFill>
                            <a:srgbClr val="333333"/>
                          </a:solidFill>
                          <a:latin typeface="Fira Code"/>
                        </a:rPr>
                        <a:t>4</a:t>
                      </a:r>
                    </a:p>
                    <a:p>
                      <a:pPr algn="l">
                        <a:lnSpc>
                          <a:spcPct val="106000"/>
                        </a:lnSpc>
                        <a:spcAft>
                          <a:spcPts val="0"/>
                        </a:spcAft>
                      </a:pPr>
                      <a:r>
                        <a:rPr sz="1100" b="0">
                          <a:solidFill>
                            <a:srgbClr val="333333"/>
                          </a:solidFill>
                          <a:latin typeface="Fira Code"/>
                        </a:rPr>
                        <a:t>ArduSub/failsafe.cpp</a:t>
                      </a:r>
                    </a:p>
                    <a:p>
                      <a:pPr algn="l">
                        <a:lnSpc>
                          <a:spcPct val="106000"/>
                        </a:lnSpc>
                        <a:spcAft>
                          <a:spcPts val="0"/>
                        </a:spcAft>
                      </a:pPr>
                      <a:r>
                        <a:rPr sz="1100" b="0">
                          <a:solidFill>
                            <a:srgbClr val="333333"/>
                          </a:solidFill>
                          <a:latin typeface="Fira Code"/>
                        </a:rPr>
                        <a:t>31-39</a:t>
                      </a:r>
                    </a:p>
                    <a:p>
                      <a:pPr algn="l">
                        <a:lnSpc>
                          <a:spcPct val="106000"/>
                        </a:lnSpc>
                        <a:spcAft>
                          <a:spcPts val="0"/>
                        </a:spcAft>
                      </a:pPr>
                      <a:r>
                        <a:rPr sz="1100" b="0">
                          <a:solidFill>
                            <a:srgbClr val="333333"/>
                          </a:solidFill>
                          <a:latin typeface="Fira Code"/>
                        </a:rPr>
                        <a:t>Sub::mainloop_failsafe_check()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1 kHz timer-failsafe ISR; scheduler tick counter unchanged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AP_HAL::micros() (tnow) and AP_Scheduler::ticks() loop counter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After &gt; 2,000,000 us (2 s) stall sets in_failsafe and drives motors.output_min().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INDIRECT/RELATIONAL (timing). Main-loop-lockup watchdog replicated 5 ways — ArduCopter/failsafe.cpp, ArduPlane/failsafe.cpp, Rover/failsafe.cpp, ArduSub/failsafe.cpp (mainloop_failsafe_check) and Blimp/failsafe.cpp — each reads AP_Scheduler::ticks() + AP_HAL::micros(); divergent thresholds/actions (extraction risk).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307211" y="384048"/>
            <a:ext cx="317861"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4</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TIMING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 — Indirect Timing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452323"/>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905695">
                <a:tc>
                  <a:txBody>
                    <a:bodyPr wrap="square">
                      <a:noAutofit/>
                    </a:bodyPr>
                    <a:lstStyle/>
                    <a:p>
                      <a:pPr algn="l">
                        <a:lnSpc>
                          <a:spcPct val="106000"/>
                        </a:lnSpc>
                        <a:spcAft>
                          <a:spcPts val="0"/>
                        </a:spcAft>
                      </a:pPr>
                      <a:r>
                        <a:rPr sz="1100" b="1">
                          <a:solidFill>
                            <a:srgbClr val="333333"/>
                          </a:solidFill>
                          <a:latin typeface="Fira Code"/>
                        </a:rPr>
                        <a:t>5</a:t>
                      </a:r>
                    </a:p>
                    <a:p>
                      <a:pPr algn="l">
                        <a:lnSpc>
                          <a:spcPct val="106000"/>
                        </a:lnSpc>
                        <a:spcAft>
                          <a:spcPts val="0"/>
                        </a:spcAft>
                      </a:pPr>
                      <a:r>
                        <a:rPr sz="1100" b="0">
                          <a:solidFill>
                            <a:srgbClr val="333333"/>
                          </a:solidFill>
                          <a:latin typeface="Fira Code"/>
                        </a:rPr>
                        <a:t>Blimp/failsafe.cpp</a:t>
                      </a:r>
                    </a:p>
                    <a:p>
                      <a:pPr algn="l">
                        <a:lnSpc>
                          <a:spcPct val="106000"/>
                        </a:lnSpc>
                        <a:spcAft>
                          <a:spcPts val="0"/>
                        </a:spcAft>
                      </a:pPr>
                      <a:r>
                        <a:rPr sz="1100" b="0">
                          <a:solidFill>
                            <a:srgbClr val="333333"/>
                          </a:solidFill>
                          <a:latin typeface="Fira Code"/>
                        </a:rPr>
                        <a:t>37-45</a:t>
                      </a:r>
                    </a:p>
                    <a:p>
                      <a:pPr algn="l">
                        <a:lnSpc>
                          <a:spcPct val="106000"/>
                        </a:lnSpc>
                        <a:spcAft>
                          <a:spcPts val="0"/>
                        </a:spcAft>
                      </a:pPr>
                      <a:r>
                        <a:rPr sz="1100" b="0">
                          <a:solidFill>
                            <a:srgbClr val="333333"/>
                          </a:solidFill>
                          <a:latin typeface="Fira Code"/>
                        </a:rPr>
                        <a:t>Blimp::failsafe_check()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1 kHz timer-failsafe ISR; scheduler tick counter unchanged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AP_HAL::micros() (tnow) and AP_Scheduler::ticks() loop counter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After &gt; 2,000,000 us (2 s) stall sets in_failsafe and drives motors-&gt;output_min().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INDIRECT/RELATIONAL (timing). Main-loop-lockup watchdog replicated 5 ways — ArduCopter/failsafe.cpp, ArduPlane/failsafe.cpp, Rover/failsafe.cpp, ArduSub/failsafe.cpp (mainloop_failsafe_check) and Blimp/failsafe.cpp — each reads AP_Scheduler::ticks() + AP_HAL::micros(); divergent thresholds/actions (extraction risk). Blimp included only because it observes scheduler timing state (AAP 0.3.2).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128711">
                <a:tc>
                  <a:txBody>
                    <a:bodyPr wrap="square">
                      <a:noAutofit/>
                    </a:bodyPr>
                    <a:lstStyle/>
                    <a:p>
                      <a:pPr algn="l">
                        <a:lnSpc>
                          <a:spcPct val="106000"/>
                        </a:lnSpc>
                        <a:spcAft>
                          <a:spcPts val="0"/>
                        </a:spcAft>
                      </a:pPr>
                      <a:r>
                        <a:rPr sz="1100" b="1">
                          <a:solidFill>
                            <a:srgbClr val="333333"/>
                          </a:solidFill>
                          <a:latin typeface="Fira Code"/>
                        </a:rPr>
                        <a:t>6</a:t>
                      </a:r>
                    </a:p>
                    <a:p>
                      <a:pPr algn="l">
                        <a:lnSpc>
                          <a:spcPct val="106000"/>
                        </a:lnSpc>
                        <a:spcAft>
                          <a:spcPts val="0"/>
                        </a:spcAft>
                      </a:pPr>
                      <a:r>
                        <a:rPr sz="1100" b="0">
                          <a:solidFill>
                            <a:srgbClr val="333333"/>
                          </a:solidFill>
                          <a:latin typeface="Fira Code"/>
                        </a:rPr>
                        <a:t>ArduCopter/ekf_check.cpp</a:t>
                      </a:r>
                    </a:p>
                    <a:p>
                      <a:pPr algn="l">
                        <a:lnSpc>
                          <a:spcPct val="106000"/>
                        </a:lnSpc>
                        <a:spcAft>
                          <a:spcPts val="0"/>
                        </a:spcAft>
                      </a:pPr>
                      <a:r>
                        <a:rPr sz="1100" b="0">
                          <a:solidFill>
                            <a:srgbClr val="333333"/>
                          </a:solidFill>
                          <a:latin typeface="Fira Code"/>
                        </a:rPr>
                        <a:t>84-88</a:t>
                      </a:r>
                    </a:p>
                    <a:p>
                      <a:pPr algn="l">
                        <a:lnSpc>
                          <a:spcPct val="106000"/>
                        </a:lnSpc>
                        <a:spcAft>
                          <a:spcPts val="0"/>
                        </a:spcAft>
                      </a:pPr>
                      <a:r>
                        <a:rPr sz="1100" b="0">
                          <a:solidFill>
                            <a:srgbClr val="333333"/>
                          </a:solidFill>
                          <a:latin typeface="Fira Code"/>
                        </a:rPr>
                        <a:t>Copter::ekf_check() — GCS warn throttle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EKF variance already flagged bad AND ≥ 30 s elapsed since the last warning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AP_HAL::millis() - ekf_check_state.last_warn_time vs EKF_CHECK_WARNING_TIME (30 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Rate-limits the “EKF variance” GCS_SEVERITY_CRITICAL text to at most once per 30 s; stamps last_warn_time = millis().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[DUPLICATED] INDIRECT/RELATIONAL (timing). [MULTI-CATEGORY w/ Table 5 #1 ekf_check]. 30 s warn-throttle copied in ArduPlane/ekf_check.cpp.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5–6</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TIMING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 — Indirect Timing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159446"/>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951012">
                <a:tc>
                  <a:txBody>
                    <a:bodyPr wrap="square">
                      <a:noAutofit/>
                    </a:bodyPr>
                    <a:lstStyle/>
                    <a:p>
                      <a:pPr algn="l">
                        <a:lnSpc>
                          <a:spcPct val="106000"/>
                        </a:lnSpc>
                        <a:spcAft>
                          <a:spcPts val="0"/>
                        </a:spcAft>
                      </a:pPr>
                      <a:r>
                        <a:rPr sz="1100" b="1">
                          <a:solidFill>
                            <a:srgbClr val="333333"/>
                          </a:solidFill>
                          <a:latin typeface="Fira Code"/>
                        </a:rPr>
                        <a:t>7</a:t>
                      </a:r>
                    </a:p>
                    <a:p>
                      <a:pPr algn="l">
                        <a:lnSpc>
                          <a:spcPct val="106000"/>
                        </a:lnSpc>
                        <a:spcAft>
                          <a:spcPts val="0"/>
                        </a:spcAft>
                      </a:pPr>
                      <a:r>
                        <a:rPr sz="1100" b="0">
                          <a:solidFill>
                            <a:srgbClr val="333333"/>
                          </a:solidFill>
                          <a:latin typeface="Fira Code"/>
                        </a:rPr>
                        <a:t>ArduPlane/ekf_check.cpp</a:t>
                      </a:r>
                    </a:p>
                    <a:p>
                      <a:pPr algn="l">
                        <a:lnSpc>
                          <a:spcPct val="106000"/>
                        </a:lnSpc>
                        <a:spcAft>
                          <a:spcPts val="0"/>
                        </a:spcAft>
                      </a:pPr>
                      <a:r>
                        <a:rPr sz="1100" b="0">
                          <a:solidFill>
                            <a:srgbClr val="333333"/>
                          </a:solidFill>
                          <a:latin typeface="Fira Code"/>
                        </a:rPr>
                        <a:t>78-82</a:t>
                      </a:r>
                    </a:p>
                    <a:p>
                      <a:pPr algn="l">
                        <a:lnSpc>
                          <a:spcPct val="106000"/>
                        </a:lnSpc>
                        <a:spcAft>
                          <a:spcPts val="0"/>
                        </a:spcAft>
                      </a:pPr>
                      <a:r>
                        <a:rPr sz="1100" b="0">
                          <a:solidFill>
                            <a:srgbClr val="333333"/>
                          </a:solidFill>
                          <a:latin typeface="Fira Code"/>
                        </a:rPr>
                        <a:t>Plane::ekf_check() — GCS warn throttle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EKF variance already flagged bad AND ≥ 30 s elapsed since the last warning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AP_HAL::millis() - ekf_check_state.last_warn_time vs EKF_CHECK_WARNING_TIME (30 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Rate-limits the “EKF variance” GCS text to at most once per 30 s; stamps last_warn_time = millis().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INDIRECT/RELATIONAL (timing). mirrors ArduCopter/ekf_check.cpp:84-88.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1806">
                <a:tc>
                  <a:txBody>
                    <a:bodyPr wrap="square">
                      <a:noAutofit/>
                    </a:bodyPr>
                    <a:lstStyle/>
                    <a:p>
                      <a:pPr algn="l">
                        <a:lnSpc>
                          <a:spcPct val="106000"/>
                        </a:lnSpc>
                        <a:spcAft>
                          <a:spcPts val="0"/>
                        </a:spcAft>
                      </a:pPr>
                      <a:r>
                        <a:rPr sz="1100" b="1">
                          <a:solidFill>
                            <a:srgbClr val="333333"/>
                          </a:solidFill>
                          <a:latin typeface="Fira Code"/>
                        </a:rPr>
                        <a:t>8</a:t>
                      </a:r>
                    </a:p>
                    <a:p>
                      <a:pPr algn="l">
                        <a:lnSpc>
                          <a:spcPct val="106000"/>
                        </a:lnSpc>
                        <a:spcAft>
                          <a:spcPts val="0"/>
                        </a:spcAft>
                      </a:pPr>
                      <a:r>
                        <a:rPr sz="1100" b="0">
                          <a:solidFill>
                            <a:srgbClr val="333333"/>
                          </a:solidFill>
                          <a:latin typeface="Fira Code"/>
                        </a:rPr>
                        <a:t>ArduSub/failsafe.cpp</a:t>
                      </a:r>
                    </a:p>
                    <a:p>
                      <a:pPr algn="l">
                        <a:lnSpc>
                          <a:spcPct val="106000"/>
                        </a:lnSpc>
                        <a:spcAft>
                          <a:spcPts val="0"/>
                        </a:spcAft>
                      </a:pPr>
                      <a:r>
                        <a:rPr sz="1100" b="0">
                          <a:solidFill>
                            <a:srgbClr val="333333"/>
                          </a:solidFill>
                          <a:latin typeface="Fira Code"/>
                        </a:rPr>
                        <a:t>125-130</a:t>
                      </a:r>
                    </a:p>
                    <a:p>
                      <a:pPr algn="l">
                        <a:lnSpc>
                          <a:spcPct val="106000"/>
                        </a:lnSpc>
                        <a:spcAft>
                          <a:spcPts val="0"/>
                        </a:spcAft>
                      </a:pPr>
                      <a:r>
                        <a:rPr sz="1100" b="0">
                          <a:solidFill>
                            <a:srgbClr val="333333"/>
                          </a:solidFill>
                          <a:latin typeface="Fira Code"/>
                        </a:rPr>
                        <a:t>Sub::failsafe_ekf_check() — 2 s confirm hysteresis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EKF variance bad but not yet bad for a full 2 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AP_HAL::millis() vs last_ekf_good_ms + 2000 (2 s clock-based confirmation window)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Suppresses the EKF failsafe (clears failsafe.ekf / ekf_bad and returns) until the EKF has been bad for 2 solid seconds, then trips → arming.disarm(EKFFAILSAFE).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INDIRECT/RELATIONAL (timing). [MULTI-CATEGORY w/ Table 5 #4]. Divergent hysteresis: Sub uses a clock-based 2 s window + 20 s GCS warn-throttle (L141), whereas Copter/Plane use a count-based EKF_CHECK_ITERATIONS_MAX (≈1 s) + 30 s warn-throttle.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1128711">
                <a:tc>
                  <a:txBody>
                    <a:bodyPr wrap="square">
                      <a:noAutofit/>
                    </a:bodyPr>
                    <a:lstStyle/>
                    <a:p>
                      <a:pPr algn="l">
                        <a:lnSpc>
                          <a:spcPct val="106000"/>
                        </a:lnSpc>
                        <a:spcAft>
                          <a:spcPts val="0"/>
                        </a:spcAft>
                      </a:pPr>
                      <a:r>
                        <a:rPr sz="1100" b="1">
                          <a:solidFill>
                            <a:srgbClr val="333333"/>
                          </a:solidFill>
                          <a:latin typeface="Fira Code"/>
                        </a:rPr>
                        <a:t>9</a:t>
                      </a:r>
                    </a:p>
                    <a:p>
                      <a:pPr algn="l">
                        <a:lnSpc>
                          <a:spcPct val="106000"/>
                        </a:lnSpc>
                        <a:spcAft>
                          <a:spcPts val="0"/>
                        </a:spcAft>
                      </a:pPr>
                      <a:r>
                        <a:rPr sz="1100" b="0">
                          <a:solidFill>
                            <a:srgbClr val="333333"/>
                          </a:solidFill>
                          <a:latin typeface="Fira Code"/>
                        </a:rPr>
                        <a:t>ArduCopter/ekf_check.cpp</a:t>
                      </a:r>
                    </a:p>
                    <a:p>
                      <a:pPr algn="l">
                        <a:lnSpc>
                          <a:spcPct val="106000"/>
                        </a:lnSpc>
                        <a:spcAft>
                          <a:spcPts val="0"/>
                        </a:spcAft>
                      </a:pPr>
                      <a:r>
                        <a:rPr sz="1100" b="0">
                          <a:solidFill>
                            <a:srgbClr val="333333"/>
                          </a:solidFill>
                          <a:latin typeface="Fira Code"/>
                        </a:rPr>
                        <a:t>125-132</a:t>
                      </a:r>
                    </a:p>
                    <a:p>
                      <a:pPr algn="l">
                        <a:lnSpc>
                          <a:spcPct val="106000"/>
                        </a:lnSpc>
                        <a:spcAft>
                          <a:spcPts val="0"/>
                        </a:spcAft>
                      </a:pPr>
                      <a:r>
                        <a:rPr sz="1100" b="0">
                          <a:solidFill>
                            <a:srgbClr val="333333"/>
                          </a:solidFill>
                          <a:latin typeface="Fira Code"/>
                        </a:rPr>
                        <a:t>Copter::ekf_over_threshold() — dt filtering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Each ekf_over_threshold() evaluation (nominally the 10 Hz ekf_check cadence)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AP_HAL::micros() delta → dt = (now_us - last_ekf_check_us) * 1e-6 (actual inter-call interval)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Applies the measured dt to the position/velocity variance low-pass filters (pos_variance_filt / vel_variance_filt); the effective filter cutoff tracks the real scheduler call interval rather than a fixed rate.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INDIRECT/RELATIONAL (timing). [MULTI-CATEGORY w/ Table 5 #1]. EKF check-rate &lt;-&gt; scheduler coupling (AAP 0.5.5): filter behaviour depends on scheduler timing.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7–9</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INDIRECT TIMING</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 — Indirect Timing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675339"/>
        </p:xfrm>
        <a:graphic>
          <a:graphicData uri="http://schemas.openxmlformats.org/drawingml/2006/table">
            <a:tbl>
              <a:tblPr>
                <a:tableStyleId>{5C22544A-7EE6-4342-B048-85BDC9FD1C3A}</a:tableStyleId>
              </a:tblPr>
              <a:tblGrid>
                <a:gridCol w="2147656"/>
                <a:gridCol w="2056266"/>
                <a:gridCol w="1919182"/>
                <a:gridCol w="2513214"/>
                <a:gridCol w="2421826"/>
              </a:tblGrid>
              <a:tr h="417917">
                <a:tc>
                  <a:txBody>
                    <a:bodyPr wrap="square">
                      <a:noAutofit/>
                    </a:bodyPr>
                    <a:lstStyle/>
                    <a:p>
                      <a:pPr algn="l">
                        <a:lnSpc>
                          <a:spcPct val="106000"/>
                        </a:lnSpc>
                        <a:spcAft>
                          <a:spcPts val="0"/>
                        </a:spcAft>
                      </a:pPr>
                      <a:r>
                        <a:rPr sz="1100" b="1">
                          <a:solidFill>
                            <a:srgbClr val="333333"/>
                          </a:solidFill>
                          <a:latin typeface="Inter"/>
                        </a:rPr>
                        <a:t>#  ·  File Path  ·  Line(s)  ·  Function/Class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Trigger Condition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State Observed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 Change Description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128711">
                <a:tc>
                  <a:txBody>
                    <a:bodyPr wrap="square">
                      <a:noAutofit/>
                    </a:bodyPr>
                    <a:lstStyle/>
                    <a:p>
                      <a:pPr algn="l">
                        <a:lnSpc>
                          <a:spcPct val="106000"/>
                        </a:lnSpc>
                        <a:spcAft>
                          <a:spcPts val="0"/>
                        </a:spcAft>
                      </a:pPr>
                      <a:r>
                        <a:rPr sz="1100" b="1">
                          <a:solidFill>
                            <a:srgbClr val="333333"/>
                          </a:solidFill>
                          <a:latin typeface="Fira Code"/>
                        </a:rPr>
                        <a:t>10</a:t>
                      </a:r>
                    </a:p>
                    <a:p>
                      <a:pPr algn="l">
                        <a:lnSpc>
                          <a:spcPct val="106000"/>
                        </a:lnSpc>
                        <a:spcAft>
                          <a:spcPts val="0"/>
                        </a:spcAft>
                      </a:pPr>
                      <a:r>
                        <a:rPr sz="1100" b="0">
                          <a:solidFill>
                            <a:srgbClr val="333333"/>
                          </a:solidFill>
                          <a:latin typeface="Fira Code"/>
                        </a:rPr>
                        <a:t>ArduCopter/fence.cpp</a:t>
                      </a:r>
                    </a:p>
                    <a:p>
                      <a:pPr algn="l">
                        <a:lnSpc>
                          <a:spcPct val="106000"/>
                        </a:lnSpc>
                        <a:spcAft>
                          <a:spcPts val="0"/>
                        </a:spcAft>
                      </a:pPr>
                      <a:r>
                        <a:rPr sz="1100" b="0">
                          <a:solidFill>
                            <a:srgbClr val="333333"/>
                          </a:solidFill>
                          <a:latin typeface="Fira Code"/>
                        </a:rPr>
                        <a:t>8-16</a:t>
                      </a:r>
                    </a:p>
                    <a:p>
                      <a:pPr algn="l">
                        <a:lnSpc>
                          <a:spcPct val="106000"/>
                        </a:lnSpc>
                        <a:spcAft>
                          <a:spcPts val="0"/>
                        </a:spcAft>
                      </a:pPr>
                      <a:r>
                        <a:rPr sz="1100" b="0">
                          <a:solidFill>
                            <a:srgbClr val="333333"/>
                          </a:solidFill>
                          <a:latin typeface="Fira Code"/>
                        </a:rPr>
                        <a:t>Copter::fence_checks_async()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1 kHz async fence IO callback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AP_HAL::millis() (now) and AP_HAL::timeout_expired(fence_breaches.last_check_ms, now, 40U) (40 ms / 25 Hz 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Returns early until 40 ms have elapsed, throttling the geofence breach check to 25 Hz; the position-vs-fence observation itself is Table 4 #3.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INDIRECT/RELATIONAL (timing). [MULTI-CATEGORY w/ Table 4 #3] — timing side of the same function (F1). vs Rover/fence.cpp (divergent rate).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128711">
                <a:tc>
                  <a:txBody>
                    <a:bodyPr wrap="square">
                      <a:noAutofit/>
                    </a:bodyPr>
                    <a:lstStyle/>
                    <a:p>
                      <a:pPr algn="l">
                        <a:lnSpc>
                          <a:spcPct val="106000"/>
                        </a:lnSpc>
                        <a:spcAft>
                          <a:spcPts val="0"/>
                        </a:spcAft>
                      </a:pPr>
                      <a:r>
                        <a:rPr sz="1100" b="1">
                          <a:solidFill>
                            <a:srgbClr val="333333"/>
                          </a:solidFill>
                          <a:latin typeface="Fira Code"/>
                        </a:rPr>
                        <a:t>11</a:t>
                      </a:r>
                    </a:p>
                    <a:p>
                      <a:pPr algn="l">
                        <a:lnSpc>
                          <a:spcPct val="106000"/>
                        </a:lnSpc>
                        <a:spcAft>
                          <a:spcPts val="0"/>
                        </a:spcAft>
                      </a:pPr>
                      <a:r>
                        <a:rPr sz="1100" b="0">
                          <a:solidFill>
                            <a:srgbClr val="333333"/>
                          </a:solidFill>
                          <a:latin typeface="Fira Code"/>
                        </a:rPr>
                        <a:t>Rover/fence.cpp</a:t>
                      </a:r>
                    </a:p>
                    <a:p>
                      <a:pPr algn="l">
                        <a:lnSpc>
                          <a:spcPct val="106000"/>
                        </a:lnSpc>
                        <a:spcAft>
                          <a:spcPts val="0"/>
                        </a:spcAft>
                      </a:pPr>
                      <a:r>
                        <a:rPr sz="1100" b="0">
                          <a:solidFill>
                            <a:srgbClr val="333333"/>
                          </a:solidFill>
                          <a:latin typeface="Fira Code"/>
                        </a:rPr>
                        <a:t>6-14</a:t>
                      </a:r>
                    </a:p>
                    <a:p>
                      <a:pPr algn="l">
                        <a:lnSpc>
                          <a:spcPct val="106000"/>
                        </a:lnSpc>
                        <a:spcAft>
                          <a:spcPts val="0"/>
                        </a:spcAft>
                      </a:pPr>
                      <a:r>
                        <a:rPr sz="1100" b="0">
                          <a:solidFill>
                            <a:srgbClr val="333333"/>
                          </a:solidFill>
                          <a:latin typeface="Fira Code"/>
                        </a:rPr>
                        <a:t>Rover::fence_checks_async()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1 kHz async fence IO callback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AP_HAL::millis() (now) and AP_HAL::timeout_expired(fence_breaches.last_check_ms, now, 100U) (100 ms / 10 Hz 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Returns early until 100 ms have elapsed, throttling the geofence breach check to 10 Hz.</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[DUPLICATED] INDIRECT/RELATIONAL (timing). [MULTI-CATEGORY w/ Table 4 #9]. vs ArduCopter/fence.cpp:8-16 — divergent rate (40U/25 Hz vs 100U/10 Hz).</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10–11</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 — Code Snippet (5-10 lines)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903541"/>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Every row’s Code Snippet (5-10 lines), reproduced verbatim from the cited path:line range: one paragraph per source line, in the audit’s own order, with its indentation and its blank lines intact and nothing abbreviated.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549461"/>
          <a:ext cx="11058144" cy="208279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ArduCopter/failsafe.cpp</a:t>
                      </a:r>
                      <a:r>
                        <a:rPr sz="1100" b="0">
                          <a:solidFill>
                            <a:srgbClr val="999999"/>
                          </a:solidFill>
                          <a:latin typeface="Fira Code"/>
                        </a:rPr>
                        <a:t>  ·  </a:t>
                      </a:r>
                      <a:r>
                        <a:rPr sz="1100" b="0">
                          <a:solidFill>
                            <a:srgbClr val="999999"/>
                          </a:solidFill>
                          <a:latin typeface="Fira Code"/>
                        </a:rPr>
                        <a:t>37-45</a:t>
                      </a:r>
                      <a:r>
                        <a:rPr sz="1100" b="0">
                          <a:solidFill>
                            <a:srgbClr val="999999"/>
                          </a:solidFill>
                          <a:latin typeface="Fira Code"/>
                        </a:rPr>
                        <a:t>  ·  </a:t>
                      </a:r>
                      <a:r>
                        <a:rPr sz="1100" b="0">
                          <a:solidFill>
                            <a:srgbClr val="999999"/>
                          </a:solidFill>
                          <a:latin typeface="Fira Code"/>
                        </a:rPr>
                        <a:t>Copter::failsafe_check()</a:t>
                      </a:r>
                    </a:p>
                    <a:p>
                      <a:pPr algn="l">
                        <a:lnSpc>
                          <a:spcPct val="106000"/>
                        </a:lnSpc>
                        <a:spcAft>
                          <a:spcPts val="0"/>
                        </a:spcAft>
                      </a:pPr>
                      <a:r>
                        <a:rPr sz="1100" b="0">
                          <a:solidFill>
                            <a:srgbClr val="333333"/>
                          </a:solidFill>
                          <a:latin typeface="Fira Code"/>
                        </a:rPr>
                        <a:t>    uint32_t tnow = AP_HAL::micros();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const uint16_t ticks = scheduler.ticks();</a:t>
                      </a:r>
                    </a:p>
                    <a:p>
                      <a:pPr algn="l">
                        <a:lnSpc>
                          <a:spcPct val="106000"/>
                        </a:lnSpc>
                        <a:spcAft>
                          <a:spcPts val="0"/>
                        </a:spcAft>
                      </a:pPr>
                      <a:r>
                        <a:rPr sz="1100" b="0">
                          <a:solidFill>
                            <a:srgbClr val="333333"/>
                          </a:solidFill>
                          <a:latin typeface="Fira Code"/>
                        </a:rPr>
                        <a:t>    if (ticks != failsafe_last_ticks) {</a:t>
                      </a:r>
                    </a:p>
                    <a:p>
                      <a:pPr algn="l">
                        <a:lnSpc>
                          <a:spcPct val="106000"/>
                        </a:lnSpc>
                        <a:spcAft>
                          <a:spcPts val="0"/>
                        </a:spcAft>
                      </a:pPr>
                      <a:r>
                        <a:rPr sz="1100" b="0">
                          <a:solidFill>
                            <a:srgbClr val="333333"/>
                          </a:solidFill>
                          <a:latin typeface="Fira Code"/>
                        </a:rPr>
                        <a:t>        // the main loop is running, all is OK</a:t>
                      </a:r>
                    </a:p>
                    <a:p>
                      <a:pPr algn="l">
                        <a:lnSpc>
                          <a:spcPct val="106000"/>
                        </a:lnSpc>
                        <a:spcAft>
                          <a:spcPts val="0"/>
                        </a:spcAft>
                      </a:pPr>
                      <a:r>
                        <a:rPr sz="1100" b="0">
                          <a:solidFill>
                            <a:srgbClr val="333333"/>
                          </a:solidFill>
                          <a:latin typeface="Fira Code"/>
                        </a:rPr>
                        <a:t>        failsafe_last_ticks = ticks;</a:t>
                      </a:r>
                    </a:p>
                    <a:p>
                      <a:pPr algn="l">
                        <a:lnSpc>
                          <a:spcPct val="106000"/>
                        </a:lnSpc>
                        <a:spcAft>
                          <a:spcPts val="0"/>
                        </a:spcAft>
                      </a:pPr>
                      <a:r>
                        <a:rPr sz="1100" b="0">
                          <a:solidFill>
                            <a:srgbClr val="333333"/>
                          </a:solidFill>
                          <a:latin typeface="Fira Code"/>
                        </a:rPr>
                        <a:t>        failsafe_last_timestamp = tnow;</a:t>
                      </a:r>
                    </a:p>
                    <a:p>
                      <a:pPr algn="l">
                        <a:lnSpc>
                          <a:spcPct val="106000"/>
                        </a:lnSpc>
                        <a:spcAft>
                          <a:spcPts val="0"/>
                        </a:spcAft>
                      </a:pPr>
                      <a:r>
                        <a:rPr sz="1100" b="0">
                          <a:solidFill>
                            <a:srgbClr val="333333"/>
                          </a:solidFill>
                          <a:latin typeface="Fira Code"/>
                        </a:rPr>
                        <a:t>        if (in_failsafe) {</a:t>
                      </a:r>
                    </a:p>
                    <a:p>
                      <a:pPr algn="l">
                        <a:lnSpc>
                          <a:spcPct val="106000"/>
                        </a:lnSpc>
                        <a:spcAft>
                          <a:spcPts val="0"/>
                        </a:spcAft>
                      </a:pPr>
                      <a:r>
                        <a:rPr sz="1100" b="0">
                          <a:solidFill>
                            <a:srgbClr val="333333"/>
                          </a:solidFill>
                          <a:latin typeface="Fira Code"/>
                        </a:rPr>
                        <a:t>            in_failsafe = 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11307211" y="384048"/>
            <a:ext cx="317861"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25375"/>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ArduPlane/failsafe.cpp</a:t>
                      </a:r>
                      <a:r>
                        <a:rPr sz="1100" b="0">
                          <a:solidFill>
                            <a:srgbClr val="999999"/>
                          </a:solidFill>
                          <a:latin typeface="Fira Code"/>
                        </a:rPr>
                        <a:t>  ·  </a:t>
                      </a:r>
                      <a:r>
                        <a:rPr sz="1100" b="0">
                          <a:solidFill>
                            <a:srgbClr val="999999"/>
                          </a:solidFill>
                          <a:latin typeface="Fira Code"/>
                        </a:rPr>
                        <a:t>22-30</a:t>
                      </a:r>
                      <a:r>
                        <a:rPr sz="1100" b="0">
                          <a:solidFill>
                            <a:srgbClr val="999999"/>
                          </a:solidFill>
                          <a:latin typeface="Fira Code"/>
                        </a:rPr>
                        <a:t>  ·  </a:t>
                      </a:r>
                      <a:r>
                        <a:rPr sz="1100" b="0">
                          <a:solidFill>
                            <a:srgbClr val="999999"/>
                          </a:solidFill>
                          <a:latin typeface="Fira Code"/>
                        </a:rPr>
                        <a:t>Plane::failsafe_check()</a:t>
                      </a:r>
                    </a:p>
                    <a:p>
                      <a:pPr algn="l">
                        <a:lnSpc>
                          <a:spcPct val="106000"/>
                        </a:lnSpc>
                        <a:spcAft>
                          <a:spcPts val="0"/>
                        </a:spcAft>
                      </a:pPr>
                      <a:r>
                        <a:rPr sz="1100" b="0">
                          <a:solidFill>
                            <a:srgbClr val="333333"/>
                          </a:solidFill>
                          <a:latin typeface="Fira Code"/>
                        </a:rPr>
                        <a:t>    uint32_t tnow = micros();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const uint16_t ticks = scheduler.ticks();</a:t>
                      </a:r>
                    </a:p>
                    <a:p>
                      <a:pPr algn="l">
                        <a:lnSpc>
                          <a:spcPct val="106000"/>
                        </a:lnSpc>
                        <a:spcAft>
                          <a:spcPts val="0"/>
                        </a:spcAft>
                      </a:pPr>
                      <a:r>
                        <a:rPr sz="1100" b="0">
                          <a:solidFill>
                            <a:srgbClr val="333333"/>
                          </a:solidFill>
                          <a:latin typeface="Fira Code"/>
                        </a:rPr>
                        <a:t>    if (ticks != last_ticks) {</a:t>
                      </a:r>
                    </a:p>
                    <a:p>
                      <a:pPr algn="l">
                        <a:lnSpc>
                          <a:spcPct val="106000"/>
                        </a:lnSpc>
                        <a:spcAft>
                          <a:spcPts val="0"/>
                        </a:spcAft>
                      </a:pPr>
                      <a:r>
                        <a:rPr sz="1100" b="0">
                          <a:solidFill>
                            <a:srgbClr val="333333"/>
                          </a:solidFill>
                          <a:latin typeface="Fira Code"/>
                        </a:rPr>
                        <a:t>        // the main loop is running, all is OK</a:t>
                      </a:r>
                    </a:p>
                    <a:p>
                      <a:pPr algn="l">
                        <a:lnSpc>
                          <a:spcPct val="106000"/>
                        </a:lnSpc>
                        <a:spcAft>
                          <a:spcPts val="0"/>
                        </a:spcAft>
                      </a:pPr>
                      <a:r>
                        <a:rPr sz="1100" b="0">
                          <a:solidFill>
                            <a:srgbClr val="333333"/>
                          </a:solidFill>
                          <a:latin typeface="Fira Code"/>
                        </a:rPr>
                        <a:t>        last_ticks = ticks;</a:t>
                      </a:r>
                    </a:p>
                    <a:p>
                      <a:pPr algn="l">
                        <a:lnSpc>
                          <a:spcPct val="106000"/>
                        </a:lnSpc>
                        <a:spcAft>
                          <a:spcPts val="0"/>
                        </a:spcAft>
                      </a:pPr>
                      <a:r>
                        <a:rPr sz="1100" b="0">
                          <a:solidFill>
                            <a:srgbClr val="333333"/>
                          </a:solidFill>
                          <a:latin typeface="Fira Code"/>
                        </a:rPr>
                        <a:t>        last_timestamp = tnow;</a:t>
                      </a:r>
                    </a:p>
                    <a:p>
                      <a:pPr algn="l">
                        <a:lnSpc>
                          <a:spcPct val="106000"/>
                        </a:lnSpc>
                        <a:spcAft>
                          <a:spcPts val="0"/>
                        </a:spcAft>
                      </a:pPr>
                      <a:r>
                        <a:rPr sz="1100" b="0">
                          <a:solidFill>
                            <a:srgbClr val="333333"/>
                          </a:solidFill>
                          <a:latin typeface="Fira Code"/>
                        </a:rPr>
                        <a:t>        in_failsafe = false;</a:t>
                      </a:r>
                    </a:p>
                    <a:p>
                      <a:pPr algn="l">
                        <a:lnSpc>
                          <a:spcPct val="106000"/>
                        </a:lnSpc>
                        <a:spcAft>
                          <a:spcPts val="0"/>
                        </a:spcAft>
                      </a:pPr>
                      <a:r>
                        <a:rPr sz="1100" b="0">
                          <a:solidFill>
                            <a:srgbClr val="333333"/>
                          </a:solidFill>
                          <a:latin typeface="Fira Code"/>
                        </a:rPr>
                        <a:t>        return;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Rover/failsafe.cpp</a:t>
                      </a:r>
                      <a:r>
                        <a:rPr sz="1100" b="0">
                          <a:solidFill>
                            <a:srgbClr val="999999"/>
                          </a:solidFill>
                          <a:latin typeface="Fira Code"/>
                        </a:rPr>
                        <a:t>  ·  </a:t>
                      </a:r>
                      <a:r>
                        <a:rPr sz="1100" b="0">
                          <a:solidFill>
                            <a:srgbClr val="999999"/>
                          </a:solidFill>
                          <a:latin typeface="Fira Code"/>
                        </a:rPr>
                        <a:t>22-30</a:t>
                      </a:r>
                      <a:r>
                        <a:rPr sz="1100" b="0">
                          <a:solidFill>
                            <a:srgbClr val="999999"/>
                          </a:solidFill>
                          <a:latin typeface="Fira Code"/>
                        </a:rPr>
                        <a:t>  ·  </a:t>
                      </a:r>
                      <a:r>
                        <a:rPr sz="1100" b="0">
                          <a:solidFill>
                            <a:srgbClr val="999999"/>
                          </a:solidFill>
                          <a:latin typeface="Fira Code"/>
                        </a:rPr>
                        <a:t>Rover::failsafe_check()</a:t>
                      </a:r>
                    </a:p>
                    <a:p>
                      <a:pPr algn="l">
                        <a:lnSpc>
                          <a:spcPct val="106000"/>
                        </a:lnSpc>
                        <a:spcAft>
                          <a:spcPts val="0"/>
                        </a:spcAft>
                      </a:pPr>
                      <a:r>
                        <a:rPr sz="1100" b="0">
                          <a:solidFill>
                            <a:srgbClr val="333333"/>
                          </a:solidFill>
                          <a:latin typeface="Fira Code"/>
                        </a:rPr>
                        <a:t>    const uint32_t tnow = AP_HAL::micros();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const uint16_t ticks = scheduler.ticks();</a:t>
                      </a:r>
                    </a:p>
                    <a:p>
                      <a:pPr algn="l">
                        <a:lnSpc>
                          <a:spcPct val="106000"/>
                        </a:lnSpc>
                        <a:spcAft>
                          <a:spcPts val="0"/>
                        </a:spcAft>
                      </a:pPr>
                      <a:r>
                        <a:rPr sz="1100" b="0">
                          <a:solidFill>
                            <a:srgbClr val="333333"/>
                          </a:solidFill>
                          <a:latin typeface="Fira Code"/>
                        </a:rPr>
                        <a:t>    if (ticks != last_ticks) {</a:t>
                      </a:r>
                    </a:p>
                    <a:p>
                      <a:pPr algn="l">
                        <a:lnSpc>
                          <a:spcPct val="106000"/>
                        </a:lnSpc>
                        <a:spcAft>
                          <a:spcPts val="0"/>
                        </a:spcAft>
                      </a:pPr>
                      <a:r>
                        <a:rPr sz="1100" b="0">
                          <a:solidFill>
                            <a:srgbClr val="333333"/>
                          </a:solidFill>
                          <a:latin typeface="Fira Code"/>
                        </a:rPr>
                        <a:t>        // the main loop is running, all is OK</a:t>
                      </a:r>
                    </a:p>
                    <a:p>
                      <a:pPr algn="l">
                        <a:lnSpc>
                          <a:spcPct val="106000"/>
                        </a:lnSpc>
                        <a:spcAft>
                          <a:spcPts val="0"/>
                        </a:spcAft>
                      </a:pPr>
                      <a:r>
                        <a:rPr sz="1100" b="0">
                          <a:solidFill>
                            <a:srgbClr val="333333"/>
                          </a:solidFill>
                          <a:latin typeface="Fira Code"/>
                        </a:rPr>
                        <a:t>        last_ticks = ticks;</a:t>
                      </a:r>
                    </a:p>
                    <a:p>
                      <a:pPr algn="l">
                        <a:lnSpc>
                          <a:spcPct val="106000"/>
                        </a:lnSpc>
                        <a:spcAft>
                          <a:spcPts val="0"/>
                        </a:spcAft>
                      </a:pPr>
                      <a:r>
                        <a:rPr sz="1100" b="0">
                          <a:solidFill>
                            <a:srgbClr val="333333"/>
                          </a:solidFill>
                          <a:latin typeface="Fira Code"/>
                        </a:rPr>
                        <a:t>        last_timestamp = tnow;</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2–3</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925375"/>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ArduSub/failsafe.cpp</a:t>
                      </a:r>
                      <a:r>
                        <a:rPr sz="1100" b="0">
                          <a:solidFill>
                            <a:srgbClr val="999999"/>
                          </a:solidFill>
                          <a:latin typeface="Fira Code"/>
                        </a:rPr>
                        <a:t>  ·  </a:t>
                      </a:r>
                      <a:r>
                        <a:rPr sz="1100" b="0">
                          <a:solidFill>
                            <a:srgbClr val="999999"/>
                          </a:solidFill>
                          <a:latin typeface="Fira Code"/>
                        </a:rPr>
                        <a:t>31-39</a:t>
                      </a:r>
                      <a:r>
                        <a:rPr sz="1100" b="0">
                          <a:solidFill>
                            <a:srgbClr val="999999"/>
                          </a:solidFill>
                          <a:latin typeface="Fira Code"/>
                        </a:rPr>
                        <a:t>  ·  </a:t>
                      </a:r>
                      <a:r>
                        <a:rPr sz="1100" b="0">
                          <a:solidFill>
                            <a:srgbClr val="999999"/>
                          </a:solidFill>
                          <a:latin typeface="Fira Code"/>
                        </a:rPr>
                        <a:t>Sub::mainloop_failsafe_check()</a:t>
                      </a:r>
                    </a:p>
                    <a:p>
                      <a:pPr algn="l">
                        <a:lnSpc>
                          <a:spcPct val="106000"/>
                        </a:lnSpc>
                        <a:spcAft>
                          <a:spcPts val="0"/>
                        </a:spcAft>
                      </a:pPr>
                      <a:r>
                        <a:rPr sz="1100" b="0">
                          <a:solidFill>
                            <a:srgbClr val="333333"/>
                          </a:solidFill>
                          <a:latin typeface="Fira Code"/>
                        </a:rPr>
                        <a:t>    uint32_t tnow = AP_HAL::micros();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const uint16_t ticks = scheduler.ticks();</a:t>
                      </a:r>
                    </a:p>
                    <a:p>
                      <a:pPr algn="l">
                        <a:lnSpc>
                          <a:spcPct val="106000"/>
                        </a:lnSpc>
                        <a:spcAft>
                          <a:spcPts val="0"/>
                        </a:spcAft>
                      </a:pPr>
                      <a:r>
                        <a:rPr sz="1100" b="0">
                          <a:solidFill>
                            <a:srgbClr val="333333"/>
                          </a:solidFill>
                          <a:latin typeface="Fira Code"/>
                        </a:rPr>
                        <a:t>    if (ticks != failsafe_last_ticks) {</a:t>
                      </a:r>
                    </a:p>
                    <a:p>
                      <a:pPr algn="l">
                        <a:lnSpc>
                          <a:spcPct val="106000"/>
                        </a:lnSpc>
                        <a:spcAft>
                          <a:spcPts val="0"/>
                        </a:spcAft>
                      </a:pPr>
                      <a:r>
                        <a:rPr sz="1100" b="0">
                          <a:solidFill>
                            <a:srgbClr val="333333"/>
                          </a:solidFill>
                          <a:latin typeface="Fira Code"/>
                        </a:rPr>
                        <a:t>        // the main loop is running, all is OK</a:t>
                      </a:r>
                    </a:p>
                    <a:p>
                      <a:pPr algn="l">
                        <a:lnSpc>
                          <a:spcPct val="106000"/>
                        </a:lnSpc>
                        <a:spcAft>
                          <a:spcPts val="0"/>
                        </a:spcAft>
                      </a:pPr>
                      <a:r>
                        <a:rPr sz="1100" b="0">
                          <a:solidFill>
                            <a:srgbClr val="333333"/>
                          </a:solidFill>
                          <a:latin typeface="Fira Code"/>
                        </a:rPr>
                        <a:t>        failsafe_last_ticks = ticks;</a:t>
                      </a:r>
                    </a:p>
                    <a:p>
                      <a:pPr algn="l">
                        <a:lnSpc>
                          <a:spcPct val="106000"/>
                        </a:lnSpc>
                        <a:spcAft>
                          <a:spcPts val="0"/>
                        </a:spcAft>
                      </a:pPr>
                      <a:r>
                        <a:rPr sz="1100" b="0">
                          <a:solidFill>
                            <a:srgbClr val="333333"/>
                          </a:solidFill>
                          <a:latin typeface="Fira Code"/>
                        </a:rPr>
                        <a:t>        failsafe_last_timestamp = tnow;</a:t>
                      </a:r>
                    </a:p>
                    <a:p>
                      <a:pPr algn="l">
                        <a:lnSpc>
                          <a:spcPct val="106000"/>
                        </a:lnSpc>
                        <a:spcAft>
                          <a:spcPts val="0"/>
                        </a:spcAft>
                      </a:pPr>
                      <a:r>
                        <a:rPr sz="1100" b="0">
                          <a:solidFill>
                            <a:srgbClr val="333333"/>
                          </a:solidFill>
                          <a:latin typeface="Fira Code"/>
                        </a:rPr>
                        <a:t>        if (in_failsafe) {</a:t>
                      </a:r>
                    </a:p>
                    <a:p>
                      <a:pPr algn="l">
                        <a:lnSpc>
                          <a:spcPct val="106000"/>
                        </a:lnSpc>
                        <a:spcAft>
                          <a:spcPts val="0"/>
                        </a:spcAft>
                      </a:pPr>
                      <a:r>
                        <a:rPr sz="1100" b="0">
                          <a:solidFill>
                            <a:srgbClr val="333333"/>
                          </a:solidFill>
                          <a:latin typeface="Fira Code"/>
                        </a:rPr>
                        <a:t>            in_failsafe = 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Blimp/failsafe.cpp</a:t>
                      </a:r>
                      <a:r>
                        <a:rPr sz="1100" b="0">
                          <a:solidFill>
                            <a:srgbClr val="999999"/>
                          </a:solidFill>
                          <a:latin typeface="Fira Code"/>
                        </a:rPr>
                        <a:t>  ·  </a:t>
                      </a:r>
                      <a:r>
                        <a:rPr sz="1100" b="0">
                          <a:solidFill>
                            <a:srgbClr val="999999"/>
                          </a:solidFill>
                          <a:latin typeface="Fira Code"/>
                        </a:rPr>
                        <a:t>37-45</a:t>
                      </a:r>
                      <a:r>
                        <a:rPr sz="1100" b="0">
                          <a:solidFill>
                            <a:srgbClr val="999999"/>
                          </a:solidFill>
                          <a:latin typeface="Fira Code"/>
                        </a:rPr>
                        <a:t>  ·  </a:t>
                      </a:r>
                      <a:r>
                        <a:rPr sz="1100" b="0">
                          <a:solidFill>
                            <a:srgbClr val="999999"/>
                          </a:solidFill>
                          <a:latin typeface="Fira Code"/>
                        </a:rPr>
                        <a:t>Blimp::failsafe_check()</a:t>
                      </a:r>
                    </a:p>
                    <a:p>
                      <a:pPr algn="l">
                        <a:lnSpc>
                          <a:spcPct val="106000"/>
                        </a:lnSpc>
                        <a:spcAft>
                          <a:spcPts val="0"/>
                        </a:spcAft>
                      </a:pPr>
                      <a:r>
                        <a:rPr sz="1100" b="0">
                          <a:solidFill>
                            <a:srgbClr val="333333"/>
                          </a:solidFill>
                          <a:latin typeface="Fira Code"/>
                        </a:rPr>
                        <a:t>    uint32_t tnow = AP_HAL::micros();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const uint16_t ticks = scheduler.ticks();</a:t>
                      </a:r>
                    </a:p>
                    <a:p>
                      <a:pPr algn="l">
                        <a:lnSpc>
                          <a:spcPct val="106000"/>
                        </a:lnSpc>
                        <a:spcAft>
                          <a:spcPts val="0"/>
                        </a:spcAft>
                      </a:pPr>
                      <a:r>
                        <a:rPr sz="1100" b="0">
                          <a:solidFill>
                            <a:srgbClr val="333333"/>
                          </a:solidFill>
                          <a:latin typeface="Fira Code"/>
                        </a:rPr>
                        <a:t>    if (ticks != failsafe_last_ticks) {</a:t>
                      </a:r>
                    </a:p>
                    <a:p>
                      <a:pPr algn="l">
                        <a:lnSpc>
                          <a:spcPct val="106000"/>
                        </a:lnSpc>
                        <a:spcAft>
                          <a:spcPts val="0"/>
                        </a:spcAft>
                      </a:pPr>
                      <a:r>
                        <a:rPr sz="1100" b="0">
                          <a:solidFill>
                            <a:srgbClr val="333333"/>
                          </a:solidFill>
                          <a:latin typeface="Fira Code"/>
                        </a:rPr>
                        <a:t>        // the main loop is running, all is OK</a:t>
                      </a:r>
                    </a:p>
                    <a:p>
                      <a:pPr algn="l">
                        <a:lnSpc>
                          <a:spcPct val="106000"/>
                        </a:lnSpc>
                        <a:spcAft>
                          <a:spcPts val="0"/>
                        </a:spcAft>
                      </a:pPr>
                      <a:r>
                        <a:rPr sz="1100" b="0">
                          <a:solidFill>
                            <a:srgbClr val="333333"/>
                          </a:solidFill>
                          <a:latin typeface="Fira Code"/>
                        </a:rPr>
                        <a:t>        failsafe_last_ticks = ticks;</a:t>
                      </a:r>
                    </a:p>
                    <a:p>
                      <a:pPr algn="l">
                        <a:lnSpc>
                          <a:spcPct val="106000"/>
                        </a:lnSpc>
                        <a:spcAft>
                          <a:spcPts val="0"/>
                        </a:spcAft>
                      </a:pPr>
                      <a:r>
                        <a:rPr sz="1100" b="0">
                          <a:solidFill>
                            <a:srgbClr val="333333"/>
                          </a:solidFill>
                          <a:latin typeface="Fira Code"/>
                        </a:rPr>
                        <a:t>        failsafe_last_timestamp = tnow;</a:t>
                      </a:r>
                    </a:p>
                    <a:p>
                      <a:pPr algn="l">
                        <a:lnSpc>
                          <a:spcPct val="106000"/>
                        </a:lnSpc>
                        <a:spcAft>
                          <a:spcPts val="0"/>
                        </a:spcAft>
                      </a:pPr>
                      <a:r>
                        <a:rPr sz="1100" b="0">
                          <a:solidFill>
                            <a:srgbClr val="333333"/>
                          </a:solidFill>
                          <a:latin typeface="Fira Code"/>
                        </a:rPr>
                        <a:t>        if (in_failsafe) {</a:t>
                      </a:r>
                    </a:p>
                    <a:p>
                      <a:pPr algn="l">
                        <a:lnSpc>
                          <a:spcPct val="106000"/>
                        </a:lnSpc>
                        <a:spcAft>
                          <a:spcPts val="0"/>
                        </a:spcAft>
                      </a:pPr>
                      <a:r>
                        <a:rPr sz="1100" b="0">
                          <a:solidFill>
                            <a:srgbClr val="333333"/>
                          </a:solidFill>
                          <a:latin typeface="Fira Code"/>
                        </a:rPr>
                        <a:t>            in_failsafe = 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4–5</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813270"/>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131784">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ArduCopter/ekf_check.cpp</a:t>
                      </a:r>
                      <a:r>
                        <a:rPr sz="1100" b="0">
                          <a:solidFill>
                            <a:srgbClr val="999999"/>
                          </a:solidFill>
                          <a:latin typeface="Fira Code"/>
                        </a:rPr>
                        <a:t>  ·  </a:t>
                      </a:r>
                      <a:r>
                        <a:rPr sz="1100" b="0">
                          <a:solidFill>
                            <a:srgbClr val="999999"/>
                          </a:solidFill>
                          <a:latin typeface="Fira Code"/>
                        </a:rPr>
                        <a:t>84-88</a:t>
                      </a:r>
                      <a:r>
                        <a:rPr sz="1100" b="0">
                          <a:solidFill>
                            <a:srgbClr val="999999"/>
                          </a:solidFill>
                          <a:latin typeface="Fira Code"/>
                        </a:rPr>
                        <a:t>  ·  </a:t>
                      </a:r>
                      <a:r>
                        <a:rPr sz="1100" b="0">
                          <a:solidFill>
                            <a:srgbClr val="999999"/>
                          </a:solidFill>
                          <a:latin typeface="Fira Code"/>
                        </a:rPr>
                        <a:t>Copter::ekf_check() — GCS warn throttle</a:t>
                      </a:r>
                    </a:p>
                    <a:p>
                      <a:pPr algn="l">
                        <a:lnSpc>
                          <a:spcPct val="106000"/>
                        </a:lnSpc>
                        <a:spcAft>
                          <a:spcPts val="0"/>
                        </a:spcAft>
                      </a:pPr>
                      <a:r>
                        <a:rPr sz="1100" b="0">
                          <a:solidFill>
                            <a:srgbClr val="333333"/>
                          </a:solidFill>
                          <a:latin typeface="Fira Code"/>
                        </a:rPr>
                        <a:t>                // send message to gcs</a:t>
                      </a:r>
                    </a:p>
                    <a:p>
                      <a:pPr algn="l">
                        <a:lnSpc>
                          <a:spcPct val="106000"/>
                        </a:lnSpc>
                        <a:spcAft>
                          <a:spcPts val="0"/>
                        </a:spcAft>
                      </a:pPr>
                      <a:r>
                        <a:rPr sz="1100" b="0">
                          <a:solidFill>
                            <a:srgbClr val="333333"/>
                          </a:solidFill>
                          <a:latin typeface="Fira Code"/>
                        </a:rPr>
                        <a:t>                if ((AP_HAL::millis() - ekf_check_state.last_warn_time) &gt; EKF_CHECK_WARNING_TIME) {</a:t>
                      </a:r>
                    </a:p>
                    <a:p>
                      <a:pPr algn="l">
                        <a:lnSpc>
                          <a:spcPct val="106000"/>
                        </a:lnSpc>
                        <a:spcAft>
                          <a:spcPts val="0"/>
                        </a:spcAft>
                      </a:pPr>
                      <a:r>
                        <a:rPr sz="1100" b="0">
                          <a:solidFill>
                            <a:srgbClr val="333333"/>
                          </a:solidFill>
                          <a:latin typeface="Fira Code"/>
                        </a:rPr>
                        <a:t>                    gcs().send_text(MAV_SEVERITY_CRITICAL,"EKF variance");</a:t>
                      </a:r>
                    </a:p>
                    <a:p>
                      <a:pPr algn="l">
                        <a:lnSpc>
                          <a:spcPct val="106000"/>
                        </a:lnSpc>
                        <a:spcAft>
                          <a:spcPts val="0"/>
                        </a:spcAft>
                      </a:pPr>
                      <a:r>
                        <a:rPr sz="1100" b="0">
                          <a:solidFill>
                            <a:srgbClr val="333333"/>
                          </a:solidFill>
                          <a:latin typeface="Fira Code"/>
                        </a:rPr>
                        <a:t>                    ekf_check_state.last_warn_time = AP_HAL::millis();</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131784">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ArduPlane/ekf_check.cpp</a:t>
                      </a:r>
                      <a:r>
                        <a:rPr sz="1100" b="0">
                          <a:solidFill>
                            <a:srgbClr val="999999"/>
                          </a:solidFill>
                          <a:latin typeface="Fira Code"/>
                        </a:rPr>
                        <a:t>  ·  </a:t>
                      </a:r>
                      <a:r>
                        <a:rPr sz="1100" b="0">
                          <a:solidFill>
                            <a:srgbClr val="999999"/>
                          </a:solidFill>
                          <a:latin typeface="Fira Code"/>
                        </a:rPr>
                        <a:t>78-82</a:t>
                      </a:r>
                      <a:r>
                        <a:rPr sz="1100" b="0">
                          <a:solidFill>
                            <a:srgbClr val="999999"/>
                          </a:solidFill>
                          <a:latin typeface="Fira Code"/>
                        </a:rPr>
                        <a:t>  ·  </a:t>
                      </a:r>
                      <a:r>
                        <a:rPr sz="1100" b="0">
                          <a:solidFill>
                            <a:srgbClr val="999999"/>
                          </a:solidFill>
                          <a:latin typeface="Fira Code"/>
                        </a:rPr>
                        <a:t>Plane::ekf_check() — GCS warn throttle</a:t>
                      </a:r>
                    </a:p>
                    <a:p>
                      <a:pPr algn="l">
                        <a:lnSpc>
                          <a:spcPct val="106000"/>
                        </a:lnSpc>
                        <a:spcAft>
                          <a:spcPts val="0"/>
                        </a:spcAft>
                      </a:pPr>
                      <a:r>
                        <a:rPr sz="1100" b="0">
                          <a:solidFill>
                            <a:srgbClr val="333333"/>
                          </a:solidFill>
                          <a:latin typeface="Fira Code"/>
                        </a:rPr>
                        <a:t>                // send message to gcs</a:t>
                      </a:r>
                    </a:p>
                    <a:p>
                      <a:pPr algn="l">
                        <a:lnSpc>
                          <a:spcPct val="106000"/>
                        </a:lnSpc>
                        <a:spcAft>
                          <a:spcPts val="0"/>
                        </a:spcAft>
                      </a:pPr>
                      <a:r>
                        <a:rPr sz="1100" b="0">
                          <a:solidFill>
                            <a:srgbClr val="333333"/>
                          </a:solidFill>
                          <a:latin typeface="Fira Code"/>
                        </a:rPr>
                        <a:t>                if ((AP_HAL::millis() - ekf_check_state.last_warn_time) &gt; EKF_CHECK_WARNING_TIME) {</a:t>
                      </a:r>
                    </a:p>
                    <a:p>
                      <a:pPr algn="l">
                        <a:lnSpc>
                          <a:spcPct val="106000"/>
                        </a:lnSpc>
                        <a:spcAft>
                          <a:spcPts val="0"/>
                        </a:spcAft>
                      </a:pPr>
                      <a:r>
                        <a:rPr sz="1100" b="0">
                          <a:solidFill>
                            <a:srgbClr val="333333"/>
                          </a:solidFill>
                          <a:latin typeface="Fira Code"/>
                        </a:rPr>
                        <a:t>                    gcs().send_text(MAV_SEVERITY_CRITICAL,"EKF variance");</a:t>
                      </a:r>
                    </a:p>
                    <a:p>
                      <a:pPr algn="l">
                        <a:lnSpc>
                          <a:spcPct val="106000"/>
                        </a:lnSpc>
                        <a:spcAft>
                          <a:spcPts val="0"/>
                        </a:spcAft>
                      </a:pPr>
                      <a:r>
                        <a:rPr sz="1100" b="0">
                          <a:solidFill>
                            <a:srgbClr val="333333"/>
                          </a:solidFill>
                          <a:latin typeface="Fira Code"/>
                        </a:rPr>
                        <a:t>                    ekf_check_state.last_warn_time = AP_HAL::millis();</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1309483">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ArduSub/failsafe.cpp</a:t>
                      </a:r>
                      <a:r>
                        <a:rPr sz="1100" b="0">
                          <a:solidFill>
                            <a:srgbClr val="999999"/>
                          </a:solidFill>
                          <a:latin typeface="Fira Code"/>
                        </a:rPr>
                        <a:t>  ·  </a:t>
                      </a:r>
                      <a:r>
                        <a:rPr sz="1100" b="0">
                          <a:solidFill>
                            <a:srgbClr val="999999"/>
                          </a:solidFill>
                          <a:latin typeface="Fira Code"/>
                        </a:rPr>
                        <a:t>125-130</a:t>
                      </a:r>
                      <a:r>
                        <a:rPr sz="1100" b="0">
                          <a:solidFill>
                            <a:srgbClr val="999999"/>
                          </a:solidFill>
                          <a:latin typeface="Fira Code"/>
                        </a:rPr>
                        <a:t>  ·  </a:t>
                      </a:r>
                      <a:r>
                        <a:rPr sz="1100" b="0">
                          <a:solidFill>
                            <a:srgbClr val="999999"/>
                          </a:solidFill>
                          <a:latin typeface="Fira Code"/>
                        </a:rPr>
                        <a:t>Sub::failsafe_ekf_check() — 2 s confirm hysteresis</a:t>
                      </a:r>
                    </a:p>
                    <a:p>
                      <a:pPr algn="l">
                        <a:lnSpc>
                          <a:spcPct val="106000"/>
                        </a:lnSpc>
                        <a:spcAft>
                          <a:spcPts val="0"/>
                        </a:spcAft>
                      </a:pPr>
                      <a:r>
                        <a:rPr sz="1100" b="0">
                          <a:solidFill>
                            <a:srgbClr val="333333"/>
                          </a:solidFill>
                          <a:latin typeface="Fira Code"/>
                        </a:rPr>
                        <a:t>    // Bad EKF for 2 solid seconds triggers failsafe</a:t>
                      </a:r>
                    </a:p>
                    <a:p>
                      <a:pPr algn="l">
                        <a:lnSpc>
                          <a:spcPct val="106000"/>
                        </a:lnSpc>
                        <a:spcAft>
                          <a:spcPts val="0"/>
                        </a:spcAft>
                      </a:pPr>
                      <a:r>
                        <a:rPr sz="1100" b="0">
                          <a:solidFill>
                            <a:srgbClr val="333333"/>
                          </a:solidFill>
                          <a:latin typeface="Fira Code"/>
                        </a:rPr>
                        <a:t>    if (AP_HAL::millis() &lt; last_ekf_good_ms + 2000) {</a:t>
                      </a:r>
                    </a:p>
                    <a:p>
                      <a:pPr algn="l">
                        <a:lnSpc>
                          <a:spcPct val="106000"/>
                        </a:lnSpc>
                        <a:spcAft>
                          <a:spcPts val="0"/>
                        </a:spcAft>
                      </a:pPr>
                      <a:r>
                        <a:rPr sz="1100" b="0">
                          <a:solidFill>
                            <a:srgbClr val="333333"/>
                          </a:solidFill>
                          <a:latin typeface="Fira Code"/>
                        </a:rPr>
                        <a:t>        failsafe.ekf = false;</a:t>
                      </a:r>
                    </a:p>
                    <a:p>
                      <a:pPr algn="l">
                        <a:lnSpc>
                          <a:spcPct val="106000"/>
                        </a:lnSpc>
                        <a:spcAft>
                          <a:spcPts val="0"/>
                        </a:spcAft>
                      </a:pPr>
                      <a:r>
                        <a:rPr sz="1100" b="0">
                          <a:solidFill>
                            <a:srgbClr val="333333"/>
                          </a:solidFill>
                          <a:latin typeface="Fira Code"/>
                        </a:rPr>
                        <a:t>        AP_Notify::flags.ekf_bad = false;</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6–8</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74767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ArduCopter/ekf_check.cpp</a:t>
                      </a:r>
                      <a:r>
                        <a:rPr sz="1100" b="0">
                          <a:solidFill>
                            <a:srgbClr val="999999"/>
                          </a:solidFill>
                          <a:latin typeface="Fira Code"/>
                        </a:rPr>
                        <a:t>  ·  </a:t>
                      </a:r>
                      <a:r>
                        <a:rPr sz="1100" b="0">
                          <a:solidFill>
                            <a:srgbClr val="999999"/>
                          </a:solidFill>
                          <a:latin typeface="Fira Code"/>
                        </a:rPr>
                        <a:t>125-132</a:t>
                      </a:r>
                      <a:r>
                        <a:rPr sz="1100" b="0">
                          <a:solidFill>
                            <a:srgbClr val="999999"/>
                          </a:solidFill>
                          <a:latin typeface="Fira Code"/>
                        </a:rPr>
                        <a:t>  ·  </a:t>
                      </a:r>
                      <a:r>
                        <a:rPr sz="1100" b="0">
                          <a:solidFill>
                            <a:srgbClr val="999999"/>
                          </a:solidFill>
                          <a:latin typeface="Fira Code"/>
                        </a:rPr>
                        <a:t>Copter::ekf_over_threshold() — dt filtering</a:t>
                      </a:r>
                    </a:p>
                    <a:p>
                      <a:pPr algn="l">
                        <a:lnSpc>
                          <a:spcPct val="106000"/>
                        </a:lnSpc>
                        <a:spcAft>
                          <a:spcPts val="0"/>
                        </a:spcAft>
                      </a:pPr>
                      <a:r>
                        <a:rPr sz="1100" b="0">
                          <a:solidFill>
                            <a:srgbClr val="333333"/>
                          </a:solidFill>
                          <a:latin typeface="Fira Code"/>
                        </a:rPr>
                        <a:t>    uint32_t now_us = AP_HAL::micros();</a:t>
                      </a:r>
                    </a:p>
                    <a:p>
                      <a:pPr algn="l">
                        <a:lnSpc>
                          <a:spcPct val="106000"/>
                        </a:lnSpc>
                        <a:spcAft>
                          <a:spcPts val="0"/>
                        </a:spcAft>
                      </a:pPr>
                      <a:r>
                        <a:rPr sz="1100" b="0">
                          <a:solidFill>
                            <a:srgbClr val="333333"/>
                          </a:solidFill>
                          <a:latin typeface="Fira Code"/>
                        </a:rPr>
                        <a:t>    float dt = (now_us - last_ekf_check_us) * 1e-6f;</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 always update filtered values as this serves the vibration check as well</a:t>
                      </a:r>
                    </a:p>
                    <a:p>
                      <a:pPr algn="l">
                        <a:lnSpc>
                          <a:spcPct val="106000"/>
                        </a:lnSpc>
                        <a:spcAft>
                          <a:spcPts val="0"/>
                        </a:spcAft>
                      </a:pPr>
                      <a:r>
                        <a:rPr sz="1100" b="0">
                          <a:solidFill>
                            <a:srgbClr val="333333"/>
                          </a:solidFill>
                          <a:latin typeface="Fira Code"/>
                        </a:rPr>
                        <a:t>    position_var = pos_variance_filt.apply(position_var, dt);</a:t>
                      </a:r>
                    </a:p>
                    <a:p>
                      <a:pPr algn="l">
                        <a:lnSpc>
                          <a:spcPct val="106000"/>
                        </a:lnSpc>
                        <a:spcAft>
                          <a:spcPts val="0"/>
                        </a:spcAft>
                      </a:pPr>
                      <a:r>
                        <a:rPr sz="1100" b="0">
                          <a:solidFill>
                            <a:srgbClr val="333333"/>
                          </a:solidFill>
                          <a:latin typeface="Fira Code"/>
                        </a:rPr>
                        <a:t>    vel_var = vel_variance_filt.apply(vel_var, dt);</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last_ekf_check_us = now_us;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842578">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ArduCopter/fence.cpp</a:t>
                      </a:r>
                      <a:r>
                        <a:rPr sz="1100" b="0">
                          <a:solidFill>
                            <a:srgbClr val="999999"/>
                          </a:solidFill>
                          <a:latin typeface="Fira Code"/>
                        </a:rPr>
                        <a:t>  ·  </a:t>
                      </a:r>
                      <a:r>
                        <a:rPr sz="1100" b="0">
                          <a:solidFill>
                            <a:srgbClr val="999999"/>
                          </a:solidFill>
                          <a:latin typeface="Fira Code"/>
                        </a:rPr>
                        <a:t>8-16</a:t>
                      </a:r>
                      <a:r>
                        <a:rPr sz="1100" b="0">
                          <a:solidFill>
                            <a:srgbClr val="999999"/>
                          </a:solidFill>
                          <a:latin typeface="Fira Code"/>
                        </a:rPr>
                        <a:t>  ·  </a:t>
                      </a:r>
                      <a:r>
                        <a:rPr sz="1100" b="0">
                          <a:solidFill>
                            <a:srgbClr val="999999"/>
                          </a:solidFill>
                          <a:latin typeface="Fira Code"/>
                        </a:rPr>
                        <a:t>Copter::fence_checks_async()</a:t>
                      </a:r>
                    </a:p>
                    <a:p>
                      <a:pPr algn="l">
                        <a:lnSpc>
                          <a:spcPct val="106000"/>
                        </a:lnSpc>
                        <a:spcAft>
                          <a:spcPts val="0"/>
                        </a:spcAft>
                      </a:pPr>
                      <a:r>
                        <a:rPr sz="1100" b="0">
                          <a:solidFill>
                            <a:srgbClr val="333333"/>
                          </a:solidFill>
                          <a:latin typeface="Fira Code"/>
                        </a:rPr>
                        <a:t>void Copter::fence_checks_async()</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const uint32_t now = AP_HAL::millis();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if (!AP_HAL::timeout_expired(fence_breaches.last_check_ms, now, 40U)) { // 25Hz update rate</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if (fence_breaches.have_updates)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9–10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GROUP 2 — INDIRECT / RELATIONAL PNT REFERENCES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 — Code Snippet (5-10 lines)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08279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 (5-10 lines)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842578">
                <a:tc>
                  <a:txBody>
                    <a:bodyPr wrap="square">
                      <a:noAutofit/>
                    </a:bodyPr>
                    <a:lstStyle/>
                    <a:p>
                      <a:pPr algn="r">
                        <a:lnSpc>
                          <a:spcPct val="106000"/>
                        </a:lnSpc>
                        <a:spcAft>
                          <a:spcPts val="0"/>
                        </a:spcAft>
                      </a:pPr>
                      <a:r>
                        <a:rPr sz="1100" b="1">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Rover/fence.cpp</a:t>
                      </a:r>
                      <a:r>
                        <a:rPr sz="1100" b="0">
                          <a:solidFill>
                            <a:srgbClr val="999999"/>
                          </a:solidFill>
                          <a:latin typeface="Fira Code"/>
                        </a:rPr>
                        <a:t>  ·  </a:t>
                      </a:r>
                      <a:r>
                        <a:rPr sz="1100" b="0">
                          <a:solidFill>
                            <a:srgbClr val="999999"/>
                          </a:solidFill>
                          <a:latin typeface="Fira Code"/>
                        </a:rPr>
                        <a:t>6-14</a:t>
                      </a:r>
                      <a:r>
                        <a:rPr sz="1100" b="0">
                          <a:solidFill>
                            <a:srgbClr val="999999"/>
                          </a:solidFill>
                          <a:latin typeface="Fira Code"/>
                        </a:rPr>
                        <a:t>  ·  </a:t>
                      </a:r>
                      <a:r>
                        <a:rPr sz="1100" b="0">
                          <a:solidFill>
                            <a:srgbClr val="999999"/>
                          </a:solidFill>
                          <a:latin typeface="Fira Code"/>
                        </a:rPr>
                        <a:t>Rover::fence_checks_async()</a:t>
                      </a:r>
                    </a:p>
                    <a:p>
                      <a:pPr algn="l">
                        <a:lnSpc>
                          <a:spcPct val="106000"/>
                        </a:lnSpc>
                        <a:spcAft>
                          <a:spcPts val="0"/>
                        </a:spcAft>
                      </a:pPr>
                      <a:r>
                        <a:rPr sz="1100" b="0">
                          <a:solidFill>
                            <a:srgbClr val="333333"/>
                          </a:solidFill>
                          <a:latin typeface="Fira Code"/>
                        </a:rPr>
                        <a:t>void Rover::fence_checks_async()</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    const uint32_t now = AP_HAL::millis();</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if (!AP_HAL::timeout_expired(fence_breaches.last_check_ms, now, 100U)) { // 10Hz update rate</a:t>
                      </a:r>
                    </a:p>
                    <a:p>
                      <a:pPr algn="l">
                        <a:lnSpc>
                          <a:spcPct val="106000"/>
                        </a:lnSpc>
                        <a:spcAft>
                          <a:spcPts val="0"/>
                        </a:spcAft>
                      </a:pPr>
                      <a:r>
                        <a:rPr sz="1100" b="0">
                          <a:solidFill>
                            <a:srgbClr val="333333"/>
                          </a:solidFill>
                          <a:latin typeface="Fira Code"/>
                        </a:rPr>
                        <a:t>        return;</a:t>
                      </a:r>
                    </a:p>
                    <a:p>
                      <a:pPr algn="l">
                        <a:lnSpc>
                          <a:spcPct val="106000"/>
                        </a:lnSpc>
                        <a:spcAft>
                          <a:spcPts val="0"/>
                        </a:spcAft>
                      </a:pPr>
                      <a:r>
                        <a:rPr sz="1100" b="0">
                          <a:solidFill>
                            <a:srgbClr val="333333"/>
                          </a:solidFill>
                          <a:latin typeface="Fira Code"/>
                        </a:rPr>
                        <a:t>    }</a:t>
                      </a:r>
                    </a:p>
                    <a:p>
                      <a:pPr algn="l">
                        <a:lnSpc>
                          <a:spcPct val="106000"/>
                        </a:lnSpc>
                        <a:spcAft>
                          <a:spcPts val="0"/>
                        </a:spcAft>
                        <a:defRPr sz="1100">
                          <a:latin typeface="Fira Code"/>
                        </a:defRPr>
                      </a:pPr>
                      <a:r>
                        <a:rPr sz="1100" b="0">
                          <a:solidFill>
                            <a:srgbClr val="333333"/>
                          </a:solidFill>
                          <a:latin typeface="Fira Code"/>
                        </a:rPr>
                        <a:t/>
                      </a:r>
                    </a:p>
                    <a:p>
                      <a:pPr algn="l">
                        <a:lnSpc>
                          <a:spcPct val="106000"/>
                        </a:lnSpc>
                        <a:spcAft>
                          <a:spcPts val="0"/>
                        </a:spcAft>
                      </a:pPr>
                      <a:r>
                        <a:rPr sz="1100" b="0">
                          <a:solidFill>
                            <a:srgbClr val="333333"/>
                          </a:solidFill>
                          <a:latin typeface="Fira Code"/>
                        </a:rPr>
                        <a:t>    if (fence_breaches.have_updates)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213450" y="384048"/>
            <a:ext cx="411622"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DIRECT EDGES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6a — Layer 1 dependency map</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Table 6a: Layer 1 — direct callers / callees with typed dependency</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4106789"/>
        </p:xfrm>
        <a:graphic>
          <a:graphicData uri="http://schemas.openxmlformats.org/drawingml/2006/table">
            <a:tbl>
              <a:tblPr>
                <a:tableStyleId>{5C22544A-7EE6-4342-B048-85BDC9FD1C3A}</a:tableStyleId>
              </a:tblPr>
              <a:tblGrid>
                <a:gridCol w="685422"/>
                <a:gridCol w="2376130"/>
                <a:gridCol w="3061552"/>
                <a:gridCol w="3061552"/>
                <a:gridCol w="1873488"/>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Component/Function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Called By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Dependency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 AP_Scheduler::ticks(); motors-&gt;output_min(); motors-&gt;armed(false)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failsafe_check_static() &lt;- hal.scheduler-&gt;register_timer_failsafe (1 kHz, system.cpp:87)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Plane::failsafe_check()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micros(); AP_Scheduler::ticks(); rc().read_input(); SRV_Channels::set_output_scaled()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failsafe_check_static() &lt;- hal.scheduler-&gt;register_timer_failsafe (1 kHz, system.cpp:103)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Rover::failsafe_check()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 AP_Scheduler::ticks(); arming.disarm(CPUFAILSAFE)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failsafe_check_static() &lt;- hal.scheduler-&gt;register_timer_failsafe (1 kHz, system.cpp:111)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Sub::mainloop_failsafe_check()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AP_HAL::micros(); AP_Scheduler::ticks(); motors.output_min()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failsafe_check_static() &lt;- hal.scheduler-&gt;register_timer_failsafe (1 kHz, system.cpp:71)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Blimp::failsafe_check()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 AP_Scheduler::ticks(); motors-&gt;output_min()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failsafe_check_static() &lt;- hal.scheduler-&gt;register_timer_failsafe (1 kHz, system.cpp:59)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1–5</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DIRECT EDGES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6a — Layer 1 dependency map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280818"/>
        </p:xfrm>
        <a:graphic>
          <a:graphicData uri="http://schemas.openxmlformats.org/drawingml/2006/table">
            <a:tbl>
              <a:tblPr>
                <a:tableStyleId>{5C22544A-7EE6-4342-B048-85BDC9FD1C3A}</a:tableStyleId>
              </a:tblPr>
              <a:tblGrid>
                <a:gridCol w="685422"/>
                <a:gridCol w="2376130"/>
                <a:gridCol w="3061552"/>
                <a:gridCol w="3061552"/>
                <a:gridCol w="1873488"/>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Component/Function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Directly Called By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Dependency Type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Copter::ekf_check() (warn throttle)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AP_HAL::millis(); gcs().send_text()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Copter::ekf_check() bad-variance branch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Plane::ekf_check() (warn throttle)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AP_HAL::millis(); gcs().send_text()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Plane::ekf_check() bad-variance branch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Sub::failsafe_ekf_check() (2 s hysteresis)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AP_HAL::millis(); compares last_ekf_good_ms + 2000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Sub periodic scheduler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Copter::ekf_over_threshold() (dt)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AP_HAL::micros(); pos_variance_filt.apply(); vel_variance_filt.apply()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Copter::ekf_check()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Copter::fence_checks_async()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AP_HAL::millis(); AP_HAL::timeout_expired(.,.,40U)</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1 kHz async IO process (hal.scheduler register_io_process)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r">
                        <a:lnSpc>
                          <a:spcPct val="106000"/>
                        </a:lnSpc>
                        <a:spcAft>
                          <a:spcPts val="0"/>
                        </a:spcAft>
                      </a:pPr>
                      <a:r>
                        <a:rPr sz="1100" b="1">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AP_HAL::millis(); AP_HAL::timeout_expired(.,.,100U)</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1 kHz async IO process (hal.scheduler register_io_process)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6–11</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6a — Layer 1 Code Snippet</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582282"/>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Every row’s Code Snippet, reproduced verbatim from the cited path:line range: one paragraph per source line, in the audit’s own order, with its indentation and its blank lines intact and nothing abbreviated.</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228202"/>
          <a:ext cx="11058144" cy="356997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Copter::failsafe_check()</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uint32_t tnow = AP_HAL::micros();</a:t>
                      </a:r>
                    </a:p>
                    <a:p>
                      <a:pPr algn="l">
                        <a:lnSpc>
                          <a:spcPct val="106000"/>
                        </a:lnSpc>
                        <a:spcAft>
                          <a:spcPts val="0"/>
                        </a:spcAft>
                      </a:pPr>
                      <a:r>
                        <a:rPr sz="1100" b="0">
                          <a:solidFill>
                            <a:srgbClr val="333333"/>
                          </a:solidFill>
                          <a:latin typeface="Fira Code"/>
                        </a:rPr>
                        <a:t>const uint16_t ticks = scheduler.ticks();</a:t>
                      </a:r>
                    </a:p>
                    <a:p>
                      <a:pPr algn="l">
                        <a:lnSpc>
                          <a:spcPct val="106000"/>
                        </a:lnSpc>
                        <a:spcAft>
                          <a:spcPts val="0"/>
                        </a:spcAft>
                      </a:pPr>
                      <a:r>
                        <a:rPr sz="1100" b="0">
                          <a:solidFill>
                            <a:srgbClr val="333333"/>
                          </a:solidFill>
                          <a:latin typeface="Fira Code"/>
                        </a:rPr>
                        <a:t>if (ticks != failsafe_last_ticks) {</a:t>
                      </a:r>
                    </a:p>
                    <a:p>
                      <a:pPr algn="l">
                        <a:lnSpc>
                          <a:spcPct val="106000"/>
                        </a:lnSpc>
                        <a:spcAft>
                          <a:spcPts val="0"/>
                        </a:spcAft>
                      </a:pPr>
                      <a:r>
                        <a:rPr sz="1100" b="0">
                          <a:solidFill>
                            <a:srgbClr val="333333"/>
                          </a:solidFill>
                          <a:latin typeface="Fira Code"/>
                        </a:rPr>
                        <a:t>// the main loop is running, all is OK</a:t>
                      </a:r>
                    </a:p>
                    <a:p>
                      <a:pPr algn="l">
                        <a:lnSpc>
                          <a:spcPct val="106000"/>
                        </a:lnSpc>
                        <a:spcAft>
                          <a:spcPts val="0"/>
                        </a:spcAft>
                      </a:pPr>
                      <a:r>
                        <a:rPr sz="1100" b="0">
                          <a:solidFill>
                            <a:srgbClr val="333333"/>
                          </a:solidFill>
                          <a:latin typeface="Fira Code"/>
                        </a:rPr>
                        <a:t>failsafe_last_ticks = ticks;</a:t>
                      </a:r>
                    </a:p>
                    <a:p>
                      <a:pPr algn="l">
                        <a:lnSpc>
                          <a:spcPct val="106000"/>
                        </a:lnSpc>
                        <a:spcAft>
                          <a:spcPts val="0"/>
                        </a:spcAft>
                      </a:pPr>
                      <a:r>
                        <a:rPr sz="1100" b="0">
                          <a:solidFill>
                            <a:srgbClr val="333333"/>
                          </a:solidFill>
                          <a:latin typeface="Fira Code"/>
                        </a:rPr>
                        <a:t>failsafe_last_timestamp = tnow;</a:t>
                      </a:r>
                    </a:p>
                    <a:p>
                      <a:pPr algn="l">
                        <a:lnSpc>
                          <a:spcPct val="106000"/>
                        </a:lnSpc>
                        <a:spcAft>
                          <a:spcPts val="0"/>
                        </a:spcAft>
                      </a:pPr>
                      <a:r>
                        <a:rPr sz="1100" b="0">
                          <a:solidFill>
                            <a:srgbClr val="333333"/>
                          </a:solidFill>
                          <a:latin typeface="Fira Code"/>
                        </a:rPr>
                        <a:t>if (in_failsafe) {</a:t>
                      </a:r>
                    </a:p>
                    <a:p>
                      <a:pPr algn="l">
                        <a:lnSpc>
                          <a:spcPct val="106000"/>
                        </a:lnSpc>
                        <a:spcAft>
                          <a:spcPts val="0"/>
                        </a:spcAft>
                      </a:pPr>
                      <a:r>
                        <a:rPr sz="1100" b="0">
                          <a:solidFill>
                            <a:srgbClr val="333333"/>
                          </a:solidFill>
                          <a:latin typeface="Fira Code"/>
                        </a:rPr>
                        <a:t>in_failsafe = 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Plane::failsafe_check()</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uint32_t tnow = micros();</a:t>
                      </a:r>
                    </a:p>
                    <a:p>
                      <a:pPr algn="l">
                        <a:lnSpc>
                          <a:spcPct val="106000"/>
                        </a:lnSpc>
                        <a:spcAft>
                          <a:spcPts val="0"/>
                        </a:spcAft>
                      </a:pPr>
                      <a:r>
                        <a:rPr sz="1100" b="0">
                          <a:solidFill>
                            <a:srgbClr val="333333"/>
                          </a:solidFill>
                          <a:latin typeface="Fira Code"/>
                        </a:rPr>
                        <a:t>const uint16_t ticks = scheduler.ticks();</a:t>
                      </a:r>
                    </a:p>
                    <a:p>
                      <a:pPr algn="l">
                        <a:lnSpc>
                          <a:spcPct val="106000"/>
                        </a:lnSpc>
                        <a:spcAft>
                          <a:spcPts val="0"/>
                        </a:spcAft>
                      </a:pPr>
                      <a:r>
                        <a:rPr sz="1100" b="0">
                          <a:solidFill>
                            <a:srgbClr val="333333"/>
                          </a:solidFill>
                          <a:latin typeface="Fira Code"/>
                        </a:rPr>
                        <a:t>if (ticks != last_ticks) {</a:t>
                      </a:r>
                    </a:p>
                    <a:p>
                      <a:pPr algn="l">
                        <a:lnSpc>
                          <a:spcPct val="106000"/>
                        </a:lnSpc>
                        <a:spcAft>
                          <a:spcPts val="0"/>
                        </a:spcAft>
                      </a:pPr>
                      <a:r>
                        <a:rPr sz="1100" b="0">
                          <a:solidFill>
                            <a:srgbClr val="333333"/>
                          </a:solidFill>
                          <a:latin typeface="Fira Code"/>
                        </a:rPr>
                        <a:t>// the main loop is running, all is OK</a:t>
                      </a:r>
                    </a:p>
                    <a:p>
                      <a:pPr algn="l">
                        <a:lnSpc>
                          <a:spcPct val="106000"/>
                        </a:lnSpc>
                        <a:spcAft>
                          <a:spcPts val="0"/>
                        </a:spcAft>
                      </a:pPr>
                      <a:r>
                        <a:rPr sz="1100" b="0">
                          <a:solidFill>
                            <a:srgbClr val="333333"/>
                          </a:solidFill>
                          <a:latin typeface="Fira Code"/>
                        </a:rPr>
                        <a:t>last_ticks = ticks;</a:t>
                      </a:r>
                    </a:p>
                    <a:p>
                      <a:pPr algn="l">
                        <a:lnSpc>
                          <a:spcPct val="106000"/>
                        </a:lnSpc>
                        <a:spcAft>
                          <a:spcPts val="0"/>
                        </a:spcAft>
                      </a:pPr>
                      <a:r>
                        <a:rPr sz="1100" b="0">
                          <a:solidFill>
                            <a:srgbClr val="333333"/>
                          </a:solidFill>
                          <a:latin typeface="Fira Code"/>
                        </a:rPr>
                        <a:t>last_timestamp = tnow;</a:t>
                      </a:r>
                    </a:p>
                    <a:p>
                      <a:pPr algn="l">
                        <a:lnSpc>
                          <a:spcPct val="106000"/>
                        </a:lnSpc>
                        <a:spcAft>
                          <a:spcPts val="0"/>
                        </a:spcAft>
                      </a:pPr>
                      <a:r>
                        <a:rPr sz="1100" b="0">
                          <a:solidFill>
                            <a:srgbClr val="333333"/>
                          </a:solidFill>
                          <a:latin typeface="Fira Code"/>
                        </a:rPr>
                        <a:t>in_failsafe = false;</a:t>
                      </a:r>
                    </a:p>
                    <a:p>
                      <a:pPr algn="l">
                        <a:lnSpc>
                          <a:spcPct val="106000"/>
                        </a:lnSpc>
                        <a:spcAft>
                          <a:spcPts val="0"/>
                        </a:spcAft>
                      </a:pPr>
                      <a:r>
                        <a:rPr sz="1100" b="0">
                          <a:solidFill>
                            <a:srgbClr val="333333"/>
                          </a:solidFill>
                          <a:latin typeface="Fira Code"/>
                        </a:rPr>
                        <a:t>return;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1–2</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6997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Rover::failsafe_check()</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const uint32_t tnow = AP_HAL::micros();</a:t>
                      </a:r>
                    </a:p>
                    <a:p>
                      <a:pPr algn="l">
                        <a:lnSpc>
                          <a:spcPct val="106000"/>
                        </a:lnSpc>
                        <a:spcAft>
                          <a:spcPts val="0"/>
                        </a:spcAft>
                      </a:pPr>
                      <a:r>
                        <a:rPr sz="1100" b="0">
                          <a:solidFill>
                            <a:srgbClr val="333333"/>
                          </a:solidFill>
                          <a:latin typeface="Fira Code"/>
                        </a:rPr>
                        <a:t>const uint16_t ticks = scheduler.ticks();</a:t>
                      </a:r>
                    </a:p>
                    <a:p>
                      <a:pPr algn="l">
                        <a:lnSpc>
                          <a:spcPct val="106000"/>
                        </a:lnSpc>
                        <a:spcAft>
                          <a:spcPts val="0"/>
                        </a:spcAft>
                      </a:pPr>
                      <a:r>
                        <a:rPr sz="1100" b="0">
                          <a:solidFill>
                            <a:srgbClr val="333333"/>
                          </a:solidFill>
                          <a:latin typeface="Fira Code"/>
                        </a:rPr>
                        <a:t>if (ticks != last_ticks) {</a:t>
                      </a:r>
                    </a:p>
                    <a:p>
                      <a:pPr algn="l">
                        <a:lnSpc>
                          <a:spcPct val="106000"/>
                        </a:lnSpc>
                        <a:spcAft>
                          <a:spcPts val="0"/>
                        </a:spcAft>
                      </a:pPr>
                      <a:r>
                        <a:rPr sz="1100" b="0">
                          <a:solidFill>
                            <a:srgbClr val="333333"/>
                          </a:solidFill>
                          <a:latin typeface="Fira Code"/>
                        </a:rPr>
                        <a:t>// the main loop is running, all is OK</a:t>
                      </a:r>
                    </a:p>
                    <a:p>
                      <a:pPr algn="l">
                        <a:lnSpc>
                          <a:spcPct val="106000"/>
                        </a:lnSpc>
                        <a:spcAft>
                          <a:spcPts val="0"/>
                        </a:spcAft>
                      </a:pPr>
                      <a:r>
                        <a:rPr sz="1100" b="0">
                          <a:solidFill>
                            <a:srgbClr val="333333"/>
                          </a:solidFill>
                          <a:latin typeface="Fira Code"/>
                        </a:rPr>
                        <a:t>last_ticks = ticks;</a:t>
                      </a:r>
                    </a:p>
                    <a:p>
                      <a:pPr algn="l">
                        <a:lnSpc>
                          <a:spcPct val="106000"/>
                        </a:lnSpc>
                        <a:spcAft>
                          <a:spcPts val="0"/>
                        </a:spcAft>
                      </a:pPr>
                      <a:r>
                        <a:rPr sz="1100" b="0">
                          <a:solidFill>
                            <a:srgbClr val="333333"/>
                          </a:solidFill>
                          <a:latin typeface="Fira Code"/>
                        </a:rPr>
                        <a:t>last_timestamp = tnow;</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Sub::mainloop_failsafe_check()</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uint32_t tnow = AP_HAL::micros();</a:t>
                      </a:r>
                    </a:p>
                    <a:p>
                      <a:pPr algn="l">
                        <a:lnSpc>
                          <a:spcPct val="106000"/>
                        </a:lnSpc>
                        <a:spcAft>
                          <a:spcPts val="0"/>
                        </a:spcAft>
                      </a:pPr>
                      <a:r>
                        <a:rPr sz="1100" b="0">
                          <a:solidFill>
                            <a:srgbClr val="333333"/>
                          </a:solidFill>
                          <a:latin typeface="Fira Code"/>
                        </a:rPr>
                        <a:t>const uint16_t ticks = scheduler.ticks();</a:t>
                      </a:r>
                    </a:p>
                    <a:p>
                      <a:pPr algn="l">
                        <a:lnSpc>
                          <a:spcPct val="106000"/>
                        </a:lnSpc>
                        <a:spcAft>
                          <a:spcPts val="0"/>
                        </a:spcAft>
                      </a:pPr>
                      <a:r>
                        <a:rPr sz="1100" b="0">
                          <a:solidFill>
                            <a:srgbClr val="333333"/>
                          </a:solidFill>
                          <a:latin typeface="Fira Code"/>
                        </a:rPr>
                        <a:t>if (ticks != failsafe_last_ticks) {</a:t>
                      </a:r>
                    </a:p>
                    <a:p>
                      <a:pPr algn="l">
                        <a:lnSpc>
                          <a:spcPct val="106000"/>
                        </a:lnSpc>
                        <a:spcAft>
                          <a:spcPts val="0"/>
                        </a:spcAft>
                      </a:pPr>
                      <a:r>
                        <a:rPr sz="1100" b="0">
                          <a:solidFill>
                            <a:srgbClr val="333333"/>
                          </a:solidFill>
                          <a:latin typeface="Fira Code"/>
                        </a:rPr>
                        <a:t>// the main loop is running, all is OK</a:t>
                      </a:r>
                    </a:p>
                    <a:p>
                      <a:pPr algn="l">
                        <a:lnSpc>
                          <a:spcPct val="106000"/>
                        </a:lnSpc>
                        <a:spcAft>
                          <a:spcPts val="0"/>
                        </a:spcAft>
                      </a:pPr>
                      <a:r>
                        <a:rPr sz="1100" b="0">
                          <a:solidFill>
                            <a:srgbClr val="333333"/>
                          </a:solidFill>
                          <a:latin typeface="Fira Code"/>
                        </a:rPr>
                        <a:t>failsafe_last_ticks = ticks;</a:t>
                      </a:r>
                    </a:p>
                    <a:p>
                      <a:pPr algn="l">
                        <a:lnSpc>
                          <a:spcPct val="106000"/>
                        </a:lnSpc>
                        <a:spcAft>
                          <a:spcPts val="0"/>
                        </a:spcAft>
                      </a:pPr>
                      <a:r>
                        <a:rPr sz="1100" b="0">
                          <a:solidFill>
                            <a:srgbClr val="333333"/>
                          </a:solidFill>
                          <a:latin typeface="Fira Code"/>
                        </a:rPr>
                        <a:t>failsafe_last_timestamp = tnow;</a:t>
                      </a:r>
                    </a:p>
                    <a:p>
                      <a:pPr algn="l">
                        <a:lnSpc>
                          <a:spcPct val="106000"/>
                        </a:lnSpc>
                        <a:spcAft>
                          <a:spcPts val="0"/>
                        </a:spcAft>
                      </a:pPr>
                      <a:r>
                        <a:rPr sz="1100" b="0">
                          <a:solidFill>
                            <a:srgbClr val="333333"/>
                          </a:solidFill>
                          <a:latin typeface="Fira Code"/>
                        </a:rPr>
                        <a:t>if (in_failsafe) {</a:t>
                      </a:r>
                    </a:p>
                    <a:p>
                      <a:pPr algn="l">
                        <a:lnSpc>
                          <a:spcPct val="106000"/>
                        </a:lnSpc>
                        <a:spcAft>
                          <a:spcPts val="0"/>
                        </a:spcAft>
                      </a:pPr>
                      <a:r>
                        <a:rPr sz="1100" b="0">
                          <a:solidFill>
                            <a:srgbClr val="333333"/>
                          </a:solidFill>
                          <a:latin typeface="Fira Code"/>
                        </a:rPr>
                        <a:t>in_failsafe = 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3–4</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168666"/>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Blimp::failsafe_check()</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uint32_t tnow = AP_HAL::micros();</a:t>
                      </a:r>
                    </a:p>
                    <a:p>
                      <a:pPr algn="l">
                        <a:lnSpc>
                          <a:spcPct val="106000"/>
                        </a:lnSpc>
                        <a:spcAft>
                          <a:spcPts val="0"/>
                        </a:spcAft>
                      </a:pPr>
                      <a:r>
                        <a:rPr sz="1100" b="0">
                          <a:solidFill>
                            <a:srgbClr val="333333"/>
                          </a:solidFill>
                          <a:latin typeface="Fira Code"/>
                        </a:rPr>
                        <a:t>const uint16_t ticks = scheduler.ticks();</a:t>
                      </a:r>
                    </a:p>
                    <a:p>
                      <a:pPr algn="l">
                        <a:lnSpc>
                          <a:spcPct val="106000"/>
                        </a:lnSpc>
                        <a:spcAft>
                          <a:spcPts val="0"/>
                        </a:spcAft>
                      </a:pPr>
                      <a:r>
                        <a:rPr sz="1100" b="0">
                          <a:solidFill>
                            <a:srgbClr val="333333"/>
                          </a:solidFill>
                          <a:latin typeface="Fira Code"/>
                        </a:rPr>
                        <a:t>if (ticks != failsafe_last_ticks) {</a:t>
                      </a:r>
                    </a:p>
                    <a:p>
                      <a:pPr algn="l">
                        <a:lnSpc>
                          <a:spcPct val="106000"/>
                        </a:lnSpc>
                        <a:spcAft>
                          <a:spcPts val="0"/>
                        </a:spcAft>
                      </a:pPr>
                      <a:r>
                        <a:rPr sz="1100" b="0">
                          <a:solidFill>
                            <a:srgbClr val="333333"/>
                          </a:solidFill>
                          <a:latin typeface="Fira Code"/>
                        </a:rPr>
                        <a:t>// the main loop is running, all is OK</a:t>
                      </a:r>
                    </a:p>
                    <a:p>
                      <a:pPr algn="l">
                        <a:lnSpc>
                          <a:spcPct val="106000"/>
                        </a:lnSpc>
                        <a:spcAft>
                          <a:spcPts val="0"/>
                        </a:spcAft>
                      </a:pPr>
                      <a:r>
                        <a:rPr sz="1100" b="0">
                          <a:solidFill>
                            <a:srgbClr val="333333"/>
                          </a:solidFill>
                          <a:latin typeface="Fira Code"/>
                        </a:rPr>
                        <a:t>failsafe_last_ticks = ticks;</a:t>
                      </a:r>
                    </a:p>
                    <a:p>
                      <a:pPr algn="l">
                        <a:lnSpc>
                          <a:spcPct val="106000"/>
                        </a:lnSpc>
                        <a:spcAft>
                          <a:spcPts val="0"/>
                        </a:spcAft>
                      </a:pPr>
                      <a:r>
                        <a:rPr sz="1100" b="0">
                          <a:solidFill>
                            <a:srgbClr val="333333"/>
                          </a:solidFill>
                          <a:latin typeface="Fira Code"/>
                        </a:rPr>
                        <a:t>failsafe_last_timestamp = tnow;</a:t>
                      </a:r>
                    </a:p>
                    <a:p>
                      <a:pPr algn="l">
                        <a:lnSpc>
                          <a:spcPct val="106000"/>
                        </a:lnSpc>
                        <a:spcAft>
                          <a:spcPts val="0"/>
                        </a:spcAft>
                      </a:pPr>
                      <a:r>
                        <a:rPr sz="1100" b="0">
                          <a:solidFill>
                            <a:srgbClr val="333333"/>
                          </a:solidFill>
                          <a:latin typeface="Fira Code"/>
                        </a:rPr>
                        <a:t>if (in_failsafe) {</a:t>
                      </a:r>
                    </a:p>
                    <a:p>
                      <a:pPr algn="l">
                        <a:lnSpc>
                          <a:spcPct val="106000"/>
                        </a:lnSpc>
                        <a:spcAft>
                          <a:spcPts val="0"/>
                        </a:spcAft>
                      </a:pPr>
                      <a:r>
                        <a:rPr sz="1100" b="0">
                          <a:solidFill>
                            <a:srgbClr val="333333"/>
                          </a:solidFill>
                          <a:latin typeface="Fira Code"/>
                        </a:rPr>
                        <a:t>in_failsafe = 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131784">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Copter::ekf_check() (warn throttle)</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 send message to gcs</a:t>
                      </a:r>
                    </a:p>
                    <a:p>
                      <a:pPr algn="l">
                        <a:lnSpc>
                          <a:spcPct val="106000"/>
                        </a:lnSpc>
                        <a:spcAft>
                          <a:spcPts val="0"/>
                        </a:spcAft>
                      </a:pPr>
                      <a:r>
                        <a:rPr sz="1100" b="0">
                          <a:solidFill>
                            <a:srgbClr val="333333"/>
                          </a:solidFill>
                          <a:latin typeface="Fira Code"/>
                        </a:rPr>
                        <a:t>if ((AP_HAL::millis() - ekf_check_state.last_warn_time) &gt; EKF_CHECK_WARNING_TIME) {</a:t>
                      </a:r>
                    </a:p>
                    <a:p>
                      <a:pPr algn="l">
                        <a:lnSpc>
                          <a:spcPct val="106000"/>
                        </a:lnSpc>
                        <a:spcAft>
                          <a:spcPts val="0"/>
                        </a:spcAft>
                      </a:pPr>
                      <a:r>
                        <a:rPr sz="1100" b="0">
                          <a:solidFill>
                            <a:srgbClr val="333333"/>
                          </a:solidFill>
                          <a:latin typeface="Fira Code"/>
                        </a:rPr>
                        <a:t>gcs().send_text(MAV_SEVERITY_CRITICAL,"EKF variance");</a:t>
                      </a:r>
                    </a:p>
                    <a:p>
                      <a:pPr algn="l">
                        <a:lnSpc>
                          <a:spcPct val="106000"/>
                        </a:lnSpc>
                        <a:spcAft>
                          <a:spcPts val="0"/>
                        </a:spcAft>
                      </a:pPr>
                      <a:r>
                        <a:rPr sz="1100" b="0">
                          <a:solidFill>
                            <a:srgbClr val="333333"/>
                          </a:solidFill>
                          <a:latin typeface="Fira Code"/>
                        </a:rPr>
                        <a:t>ekf_check_state.last_warn_time = AP_HAL::millis();</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1131784">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Plane::ekf_check() (warn throttle)</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 send message to gcs</a:t>
                      </a:r>
                    </a:p>
                    <a:p>
                      <a:pPr algn="l">
                        <a:lnSpc>
                          <a:spcPct val="106000"/>
                        </a:lnSpc>
                        <a:spcAft>
                          <a:spcPts val="0"/>
                        </a:spcAft>
                      </a:pPr>
                      <a:r>
                        <a:rPr sz="1100" b="0">
                          <a:solidFill>
                            <a:srgbClr val="333333"/>
                          </a:solidFill>
                          <a:latin typeface="Fira Code"/>
                        </a:rPr>
                        <a:t>if ((AP_HAL::millis() - ekf_check_state.last_warn_time) &gt; EKF_CHECK_WARNING_TIME) {</a:t>
                      </a:r>
                    </a:p>
                    <a:p>
                      <a:pPr algn="l">
                        <a:lnSpc>
                          <a:spcPct val="106000"/>
                        </a:lnSpc>
                        <a:spcAft>
                          <a:spcPts val="0"/>
                        </a:spcAft>
                      </a:pPr>
                      <a:r>
                        <a:rPr sz="1100" b="0">
                          <a:solidFill>
                            <a:srgbClr val="333333"/>
                          </a:solidFill>
                          <a:latin typeface="Fira Code"/>
                        </a:rPr>
                        <a:t>gcs().send_text(MAV_SEVERITY_CRITICAL,"EKF variance");</a:t>
                      </a:r>
                    </a:p>
                    <a:p>
                      <a:pPr algn="l">
                        <a:lnSpc>
                          <a:spcPct val="106000"/>
                        </a:lnSpc>
                        <a:spcAft>
                          <a:spcPts val="0"/>
                        </a:spcAft>
                      </a:pPr>
                      <a:r>
                        <a:rPr sz="1100" b="0">
                          <a:solidFill>
                            <a:srgbClr val="333333"/>
                          </a:solidFill>
                          <a:latin typeface="Fira Code"/>
                        </a:rPr>
                        <a:t>ekf_check_state.last_warn_time = AP_HAL::millis();</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5–7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036883"/>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309483">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Sub::failsafe_ekf_check() (2 s hysteresis)</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 Bad EKF for 2 solid seconds triggers failsafe</a:t>
                      </a:r>
                    </a:p>
                    <a:p>
                      <a:pPr algn="l">
                        <a:lnSpc>
                          <a:spcPct val="106000"/>
                        </a:lnSpc>
                        <a:spcAft>
                          <a:spcPts val="0"/>
                        </a:spcAft>
                      </a:pPr>
                      <a:r>
                        <a:rPr sz="1100" b="0">
                          <a:solidFill>
                            <a:srgbClr val="333333"/>
                          </a:solidFill>
                          <a:latin typeface="Fira Code"/>
                        </a:rPr>
                        <a:t>if (AP_HAL::millis() &lt; last_ekf_good_ms + 2000) {</a:t>
                      </a:r>
                    </a:p>
                    <a:p>
                      <a:pPr algn="l">
                        <a:lnSpc>
                          <a:spcPct val="106000"/>
                        </a:lnSpc>
                        <a:spcAft>
                          <a:spcPts val="0"/>
                        </a:spcAft>
                      </a:pPr>
                      <a:r>
                        <a:rPr sz="1100" b="0">
                          <a:solidFill>
                            <a:srgbClr val="333333"/>
                          </a:solidFill>
                          <a:latin typeface="Fira Code"/>
                        </a:rPr>
                        <a:t>failsafe.ekf = false;</a:t>
                      </a:r>
                    </a:p>
                    <a:p>
                      <a:pPr algn="l">
                        <a:lnSpc>
                          <a:spcPct val="106000"/>
                        </a:lnSpc>
                        <a:spcAft>
                          <a:spcPts val="0"/>
                        </a:spcAft>
                      </a:pPr>
                      <a:r>
                        <a:rPr sz="1100" b="0">
                          <a:solidFill>
                            <a:srgbClr val="333333"/>
                          </a:solidFill>
                          <a:latin typeface="Fira Code"/>
                        </a:rPr>
                        <a:t>AP_Notify::flags.ekf_bad = false;</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487181">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Copter::ekf_over_threshold() (dt)</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uint32_t now_us = AP_HAL::micros();</a:t>
                      </a:r>
                    </a:p>
                    <a:p>
                      <a:pPr algn="l">
                        <a:lnSpc>
                          <a:spcPct val="106000"/>
                        </a:lnSpc>
                        <a:spcAft>
                          <a:spcPts val="0"/>
                        </a:spcAft>
                      </a:pPr>
                      <a:r>
                        <a:rPr sz="1100" b="0">
                          <a:solidFill>
                            <a:srgbClr val="333333"/>
                          </a:solidFill>
                          <a:latin typeface="Fira Code"/>
                        </a:rPr>
                        <a:t>float dt = (now_us - last_ekf_check_us) * 1e-6f;</a:t>
                      </a:r>
                    </a:p>
                    <a:p>
                      <a:pPr algn="l">
                        <a:lnSpc>
                          <a:spcPct val="106000"/>
                        </a:lnSpc>
                        <a:spcAft>
                          <a:spcPts val="0"/>
                        </a:spcAft>
                      </a:pPr>
                      <a:r>
                        <a:rPr sz="1100" b="0">
                          <a:solidFill>
                            <a:srgbClr val="333333"/>
                          </a:solidFill>
                          <a:latin typeface="Fira Code"/>
                        </a:rPr>
                        <a:t>// always update filtered values as this serves the vibration</a:t>
                      </a:r>
                    </a:p>
                    <a:p>
                      <a:pPr algn="l">
                        <a:lnSpc>
                          <a:spcPct val="106000"/>
                        </a:lnSpc>
                        <a:spcAft>
                          <a:spcPts val="0"/>
                        </a:spcAft>
                      </a:pPr>
                      <a:r>
                        <a:rPr sz="1100" b="0">
                          <a:solidFill>
                            <a:srgbClr val="333333"/>
                          </a:solidFill>
                          <a:latin typeface="Fira Code"/>
                        </a:rPr>
                        <a:t>check as well</a:t>
                      </a:r>
                    </a:p>
                    <a:p>
                      <a:pPr algn="l">
                        <a:lnSpc>
                          <a:spcPct val="106000"/>
                        </a:lnSpc>
                        <a:spcAft>
                          <a:spcPts val="0"/>
                        </a:spcAft>
                      </a:pPr>
                      <a:r>
                        <a:rPr sz="1100" b="0">
                          <a:solidFill>
                            <a:srgbClr val="333333"/>
                          </a:solidFill>
                          <a:latin typeface="Fira Code"/>
                        </a:rPr>
                        <a:t>position_var = pos_variance_filt.apply(position_var, dt);</a:t>
                      </a:r>
                    </a:p>
                    <a:p>
                      <a:pPr algn="l">
                        <a:lnSpc>
                          <a:spcPct val="106000"/>
                        </a:lnSpc>
                        <a:spcAft>
                          <a:spcPts val="0"/>
                        </a:spcAft>
                      </a:pPr>
                      <a:r>
                        <a:rPr sz="1100" b="0">
                          <a:solidFill>
                            <a:srgbClr val="333333"/>
                          </a:solidFill>
                          <a:latin typeface="Fira Code"/>
                        </a:rPr>
                        <a:t>vel_var = vel_variance_filt.apply(vel_var, dt);</a:t>
                      </a:r>
                    </a:p>
                    <a:p>
                      <a:pPr algn="l">
                        <a:lnSpc>
                          <a:spcPct val="106000"/>
                        </a:lnSpc>
                        <a:spcAft>
                          <a:spcPts val="0"/>
                        </a:spcAft>
                      </a:pPr>
                      <a:r>
                        <a:rPr sz="1100" b="0">
                          <a:solidFill>
                            <a:srgbClr val="333333"/>
                          </a:solidFill>
                          <a:latin typeface="Fira Code"/>
                        </a:rPr>
                        <a:t>last_ekf_check_us = now_us;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8–9</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1  ·  VERBATIM SOURCE LINES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6a — Layer 1 Code Snippet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569977"/>
        </p:xfrm>
        <a:graphic>
          <a:graphicData uri="http://schemas.openxmlformats.org/drawingml/2006/table">
            <a:tbl>
              <a:tblPr>
                <a:tableStyleId>{5C22544A-7EE6-4342-B048-85BDC9FD1C3A}</a:tableStyleId>
              </a:tblPr>
              <a:tblGrid>
                <a:gridCol w="571337"/>
                <a:gridCol w="10486807"/>
              </a:tblGrid>
              <a:tr h="240219">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Code Snippet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664879">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999999"/>
                          </a:solidFill>
                          <a:latin typeface="Fira Code"/>
                        </a:rPr>
                        <a:t>Copter::fence_checks_async()</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Copter::fence_checks_async()</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const uint32_t now = AP_HAL::millis();</a:t>
                      </a:r>
                    </a:p>
                    <a:p>
                      <a:pPr algn="l">
                        <a:lnSpc>
                          <a:spcPct val="106000"/>
                        </a:lnSpc>
                        <a:spcAft>
                          <a:spcPts val="0"/>
                        </a:spcAft>
                      </a:pPr>
                      <a:r>
                        <a:rPr sz="1100" b="0">
                          <a:solidFill>
                            <a:srgbClr val="333333"/>
                          </a:solidFill>
                          <a:latin typeface="Fira Code"/>
                        </a:rPr>
                        <a:t>if (!AP_HAL::timeout_expired(fence_breaches.last_check_ms, now</a:t>
                      </a:r>
                    </a:p>
                    <a:p>
                      <a:pPr algn="l">
                        <a:lnSpc>
                          <a:spcPct val="106000"/>
                        </a:lnSpc>
                        <a:spcAft>
                          <a:spcPts val="0"/>
                        </a:spcAft>
                      </a:pPr>
                      <a:r>
                        <a:rPr sz="1100" b="0">
                          <a:solidFill>
                            <a:srgbClr val="333333"/>
                          </a:solidFill>
                          <a:latin typeface="Fira Code"/>
                        </a:rPr>
                        <a:t>, 40U)) { // 25Hz update rate</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if (fence_breaches.have_updates)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664879">
                <a:tc>
                  <a:txBody>
                    <a:bodyPr wrap="square">
                      <a:noAutofit/>
                    </a:bodyPr>
                    <a:lstStyle/>
                    <a:p>
                      <a:pPr algn="r">
                        <a:lnSpc>
                          <a:spcPct val="106000"/>
                        </a:lnSpc>
                        <a:spcAft>
                          <a:spcPts val="0"/>
                        </a:spcAft>
                      </a:pPr>
                      <a:r>
                        <a:rPr sz="1100" b="1">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999999"/>
                          </a:solidFill>
                          <a:latin typeface="Fira Code"/>
                        </a:rPr>
                        <a:t>Rover::fence_checks_async()</a:t>
                      </a:r>
                      <a:r>
                        <a:rPr sz="1100" b="0">
                          <a:solidFill>
                            <a:srgbClr val="999999"/>
                          </a:solidFill>
                          <a:latin typeface="Fira Code"/>
                        </a:rPr>
                        <a:t>  ·  </a:t>
                      </a:r>
                      <a:r>
                        <a:rPr sz="1100" b="0">
                          <a:solidFill>
                            <a:srgbClr val="999999"/>
                          </a:solidFill>
                          <a:latin typeface="Fira Code"/>
                        </a:rPr>
                        <a:t>Function call</a:t>
                      </a:r>
                    </a:p>
                    <a:p>
                      <a:pPr algn="l">
                        <a:lnSpc>
                          <a:spcPct val="106000"/>
                        </a:lnSpc>
                        <a:spcAft>
                          <a:spcPts val="0"/>
                        </a:spcAft>
                      </a:pPr>
                      <a:r>
                        <a:rPr sz="1100" b="0">
                          <a:solidFill>
                            <a:srgbClr val="333333"/>
                          </a:solidFill>
                          <a:latin typeface="Fira Code"/>
                        </a:rPr>
                        <a:t>void Rover::fence_checks_async()</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const uint32_t now = AP_HAL::millis();</a:t>
                      </a:r>
                    </a:p>
                    <a:p>
                      <a:pPr algn="l">
                        <a:lnSpc>
                          <a:spcPct val="106000"/>
                        </a:lnSpc>
                        <a:spcAft>
                          <a:spcPts val="0"/>
                        </a:spcAft>
                      </a:pPr>
                      <a:r>
                        <a:rPr sz="1100" b="0">
                          <a:solidFill>
                            <a:srgbClr val="333333"/>
                          </a:solidFill>
                          <a:latin typeface="Fira Code"/>
                        </a:rPr>
                        <a:t>if (!AP_HAL::timeout_expired(fence_breaches.last_check_ms, now</a:t>
                      </a:r>
                    </a:p>
                    <a:p>
                      <a:pPr algn="l">
                        <a:lnSpc>
                          <a:spcPct val="106000"/>
                        </a:lnSpc>
                        <a:spcAft>
                          <a:spcPts val="0"/>
                        </a:spcAft>
                      </a:pPr>
                      <a:r>
                        <a:rPr sz="1100" b="0">
                          <a:solidFill>
                            <a:srgbClr val="333333"/>
                          </a:solidFill>
                          <a:latin typeface="Fira Code"/>
                        </a:rPr>
                        <a:t>, 100U)) { // 10Hz update rate</a:t>
                      </a:r>
                    </a:p>
                    <a:p>
                      <a:pPr algn="l">
                        <a:lnSpc>
                          <a:spcPct val="106000"/>
                        </a:lnSpc>
                        <a:spcAft>
                          <a:spcPts val="0"/>
                        </a:spcAft>
                      </a:pPr>
                      <a:r>
                        <a:rPr sz="1100" b="0">
                          <a:solidFill>
                            <a:srgbClr val="333333"/>
                          </a:solidFill>
                          <a:latin typeface="Fira Code"/>
                        </a:rPr>
                        <a:t>return;</a:t>
                      </a:r>
                    </a:p>
                    <a:p>
                      <a:pPr algn="l">
                        <a:lnSpc>
                          <a:spcPct val="106000"/>
                        </a:lnSpc>
                        <a:spcAft>
                          <a:spcPts val="0"/>
                        </a:spcAft>
                      </a:pPr>
                      <a:r>
                        <a:rPr sz="1100" b="0">
                          <a:solidFill>
                            <a:srgbClr val="333333"/>
                          </a:solidFill>
                          <a:latin typeface="Fira Code"/>
                        </a:rPr>
                        <a:t>}</a:t>
                      </a:r>
                    </a:p>
                    <a:p>
                      <a:pPr algn="l">
                        <a:lnSpc>
                          <a:spcPct val="106000"/>
                        </a:lnSpc>
                        <a:spcAft>
                          <a:spcPts val="0"/>
                        </a:spcAft>
                      </a:pPr>
                      <a:r>
                        <a:rPr sz="1100" b="0">
                          <a:solidFill>
                            <a:srgbClr val="333333"/>
                          </a:solidFill>
                          <a:latin typeface="Fira Code"/>
                        </a:rPr>
                        <a:t>if (fence_breaches.have_updates)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10932164" y="384048"/>
            <a:ext cx="692908"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10–11</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 5</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6a — Layer 2 transitive chains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Table 6a: Layer 2 — full transitive chain, final consumer &amp; hop depth</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906943"/>
          <a:ext cx="11058144" cy="3741529"/>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372600">
                <a:tc>
                  <a:txBody>
                    <a:bodyPr wrap="square">
                      <a:noAutofit/>
                    </a:bodyPr>
                    <a:lstStyle/>
                    <a:p>
                      <a:pPr algn="r">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 + AP_Scheduler tick counter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AP_Scheduler::ticks() / AP_HAL::micros() → failsafe_check_static() [1 kHz timer-failsafe] → Copter::failsafe_check() (&gt;2 s stall) → AP_Motors::output_min()/armed(false)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 (motor min / disarm)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Main-loop-lockup watchdog replicated 5 ways — ArduCopter/failsafe.cpp, ArduPlane/failsafe.cpp, Rover/failsafe.cpp, ArduSub/failsafe.cpp (mainloop_failsafe_check) and Blimp/failsafe.cpp — each reads AP_Scheduler::ticks() + AP_HAL::micros(); divergent thresholds/actions (extraction risk).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951012">
                <a:tc>
                  <a:txBody>
                    <a:bodyPr wrap="square">
                      <a:noAutofit/>
                    </a:bodyPr>
                    <a:lstStyle/>
                    <a:p>
                      <a:pPr algn="r">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AP_HAL::micros() + AP_Scheduler tick counter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AP_Scheduler::ticks() / micros() → failsafe_check_static() → Plane::failsafe_check() (&gt;0.2 s stall) → SRV_Channels::set_output_scaled() → servos_output()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SRV_Channels (RC passthrough)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[DUPLICATED] watchdog; divergent 0.2 s trip + RC-passthrough action.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566928" y="5776488"/>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9" name="TextBox 8"/>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1–2</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 5</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284487"/>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r">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 + AP_Scheduler tick counter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AP_Scheduler::ticks() / micros() → failsafe_check_static() → Rover::failsafe_check() (&gt;0.2 s stall) → AP_Arming::disarm(CPUFAILSAFE)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AP_Arming (disarm)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watchdog.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AP_HAL::micros() + AP_Scheduler tick counter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AP_Scheduler::ticks() / micros() → failsafe_check_static() → Sub::mainloop_failsafe_check() (&gt;2 s stall) → AP_Motors::output_min()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AP_Motors (motor min)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[DUPLICATED] watchdog.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 + AP_Scheduler tick counter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AP_Scheduler::ticks() / micros() → failsafe_check_static() → Blimp::failsafe_check() (&gt;2 s stall) → AP_Motors::output_min()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AP_Motors (motor min)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watchdog; Blimp observes scheduler timing state only (AAP 0.3.2).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AP_HAL::millis() wall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AP_HAL::millis() → Copter::ekf_check() (&gt;30 s since last_warn) → gcs().send_text(“EKF variance”) → GCS_MAVLINK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GCS_MAVLINK (telemetry text)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[DUPLICATED] 30 s warn-throttle (Copter/Plane). [MULTI-CATEGORY w/ Table 5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r">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AP_HAL::millis() wall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AP_HAL::millis() → Plane::ekf_check() (&gt;30 s since last_warn) → gcs().send_text(“EKF variance”) → GCS_MAVLINK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GCS_MAVLINK (telemetry text)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mirrors #6.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7" name="TextBox 6"/>
          <p:cNvSpPr txBox="1"/>
          <p:nvPr/>
        </p:nvSpPr>
        <p:spPr>
          <a:xfrm>
            <a:off x="566928" y="6003559"/>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1119688" y="384048"/>
            <a:ext cx="505384"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3–7</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MAP  ·  LAYER 2  ·  DEPTHS 3, 4, 5</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Table 6a — Layer 2 transitive chains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866569"/>
        </p:xfrm>
        <a:graphic>
          <a:graphicData uri="http://schemas.openxmlformats.org/drawingml/2006/table">
            <a:tbl>
              <a:tblPr>
                <a:tableStyleId>{5C22544A-7EE6-4342-B048-85BDC9FD1C3A}</a:tableStyleId>
              </a:tblPr>
              <a:tblGrid>
                <a:gridCol w="685422"/>
                <a:gridCol w="1964876"/>
                <a:gridCol w="3701279"/>
                <a:gridCol w="1782097"/>
                <a:gridCol w="776811"/>
                <a:gridCol w="2147659"/>
              </a:tblGrid>
              <a:tr h="417917">
                <a:tc>
                  <a:txBody>
                    <a:bodyPr wrap="square">
                      <a:noAutofit/>
                    </a:bodyPr>
                    <a:lstStyle/>
                    <a:p>
                      <a:pPr algn="l">
                        <a:lnSpc>
                          <a:spcPct val="106000"/>
                        </a:lnSpc>
                        <a:spcAft>
                          <a:spcPts val="0"/>
                        </a:spcAft>
                      </a:pPr>
                      <a:r>
                        <a:rPr sz="1100" b="1">
                          <a:solidFill>
                            <a:srgbClr val="333333"/>
                          </a:solidFill>
                          <a:latin typeface="Inter"/>
                        </a:rPr>
                        <a:t>Ref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Full Dependency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Final Consumer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Chain Depth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Notes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r">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AP_HAL::millis() wall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AP_HAL::millis() → Sub::failsafe_ekf_check() (EKF bad ≥ 2 s) → failsafe.ekf = true → arming.disarm(EKFFAILSAFE)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AP_Arming (EKF failsafe disarm)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[MULTI-CATEGORY w/ Table 5 #4]. 2 s confirm + 20 s warn-throttle.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r">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AP_HAL::micros() inter-call interval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AP_HAL::micros() → dt → pos/vel_variance_filt.apply(var, dt) → ekf_over_threshold() → Copter::ekf_check() failsafe decision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Copter::ekf_check() variance decision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EKF check-rate &lt;-&gt; scheduler coupling (AAP 0.5.5). [MULTI-CATEGORY w/ Table 5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951012">
                <a:tc>
                  <a:txBody>
                    <a:bodyPr wrap="square">
                      <a:noAutofit/>
                    </a:bodyPr>
                    <a:lstStyle/>
                    <a:p>
                      <a:pPr algn="r">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AP_HAL::millis() wall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AP_HAL::millis() → AP_HAL::timeout_expired(40U) gate → Copter::fence_checks_async() → AC_Fence::check() → fence_breaches latched → main-loop fence 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AC_Fence / fence 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ctr">
                        <a:lnSpc>
                          <a:spcPct val="106000"/>
                        </a:lnSpc>
                        <a:spcAft>
                          <a:spcPts val="0"/>
                        </a:spcAft>
                      </a:pPr>
                      <a:r>
                        <a:rPr sz="1100" b="0">
                          <a:solidFill>
                            <a:srgbClr val="333333"/>
                          </a:solidFill>
                          <a:latin typeface="Inter"/>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[DUPLICATED] [MULTI-CATEGORY w/ Table 4 #3]. vs Rover (40U/25 Hz).</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951012">
                <a:tc>
                  <a:txBody>
                    <a:bodyPr wrap="square">
                      <a:noAutofit/>
                    </a:bodyPr>
                    <a:lstStyle/>
                    <a:p>
                      <a:pPr algn="r">
                        <a:lnSpc>
                          <a:spcPct val="106000"/>
                        </a:lnSpc>
                        <a:spcAft>
                          <a:spcPts val="0"/>
                        </a:spcAft>
                      </a:pPr>
                      <a:r>
                        <a:rPr sz="1100" b="1">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AP_HAL::millis() wall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AP_HAL::millis() → AP_HAL::timeout_expired(100U) gate → Rover::fence_checks_async() → AC_Fence::check() → fence_breaches latched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AC_Fence / fence 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ctr">
                        <a:lnSpc>
                          <a:spcPct val="106000"/>
                        </a:lnSpc>
                        <a:spcAft>
                          <a:spcPts val="0"/>
                        </a:spcAft>
                      </a:pPr>
                      <a:r>
                        <a:rPr sz="1100" b="0">
                          <a:solidFill>
                            <a:srgbClr val="333333"/>
                          </a:solidFill>
                          <a:latin typeface="Inter"/>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[DUPLICATED] [MULTI-CATEGORY w/ Table 4 #9]. vs Copter (100U/10 Hz).</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7" name="TextBox 6"/>
          <p:cNvSpPr txBox="1"/>
          <p:nvPr/>
        </p:nvSpPr>
        <p:spPr>
          <a:xfrm>
            <a:off x="566928" y="5585641"/>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Chain Depth is the audit’s own convention: the number of → hops explicitly listed in that chain.</a:t>
            </a:r>
          </a:p>
        </p:txBody>
      </p:sp>
      <p:sp>
        <p:nvSpPr>
          <p:cNvPr id="8" name="TextBox 7"/>
          <p:cNvSpPr txBox="1"/>
          <p:nvPr/>
        </p:nvSpPr>
        <p:spPr>
          <a:xfrm>
            <a:off x="11025926" y="384048"/>
            <a:ext cx="599146" cy="219456"/>
          </a:xfrm>
          <a:prstGeom prst="rect">
            <a:avLst/>
          </a:prstGeom>
          <a:noFill/>
        </p:spPr>
        <p:txBody>
          <a:bodyPr wrap="square" lIns="0" rIns="0" tIns="0" bIns="0" anchor="t">
            <a:noAutofit/>
          </a:bodyPr>
          <a:lstStyle/>
          <a:p>
            <a:pPr algn="r">
              <a:lnSpc>
                <a:spcPct val="100000"/>
              </a:lnSpc>
              <a:spcAft>
                <a:spcPts val="0"/>
              </a:spcAft>
            </a:pPr>
            <a:r>
              <a:rPr sz="1200" b="0">
                <a:solidFill>
                  <a:srgbClr val="5B39F3"/>
                </a:solidFill>
                <a:latin typeface="Fira Code"/>
              </a:rPr>
              <a:t># 8–11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ROLL-UP  ·  LAYER 1</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Layer 1 dependency types across all 94 rows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582282"/>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A roll-up of the audit’s own Dependency Type column values, read cell by cell across the six Layer 1 blocks. It is not a new score, a new metric or a new finding.</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173338"/>
          <a:ext cx="11058144" cy="2255586"/>
        </p:xfrm>
        <a:graphic>
          <a:graphicData uri="http://schemas.openxmlformats.org/drawingml/2006/table">
            <a:tbl>
              <a:tblPr>
                <a:tableStyleId>{5C22544A-7EE6-4342-B048-85BDC9FD1C3A}</a:tableStyleId>
              </a:tblPr>
              <a:tblGrid>
                <a:gridCol w="2878773"/>
                <a:gridCol w="1370844"/>
                <a:gridCol w="6808527"/>
              </a:tblGrid>
              <a:tr h="270927">
                <a:tc>
                  <a:txBody>
                    <a:bodyPr wrap="square">
                      <a:noAutofit/>
                    </a:bodyPr>
                    <a:lstStyle/>
                    <a:p>
                      <a:pPr algn="l">
                        <a:lnSpc>
                          <a:spcPct val="106000"/>
                        </a:lnSpc>
                        <a:spcAft>
                          <a:spcPts val="0"/>
                        </a:spcAft>
                      </a:pPr>
                      <a:r>
                        <a:rPr sz="1300" b="1">
                          <a:solidFill>
                            <a:srgbClr val="333333"/>
                          </a:solidFill>
                          <a:latin typeface="Inter"/>
                        </a:rPr>
                        <a:t>Dependency Type (Layer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300" b="1">
                          <a:solidFill>
                            <a:srgbClr val="333333"/>
                          </a:solidFill>
                          <a:latin typeface="Inter"/>
                        </a:rPr>
                        <a:t>Rows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300" b="1">
                          <a:solidFill>
                            <a:srgbClr val="333333"/>
                          </a:solidFill>
                          <a:latin typeface="Inter"/>
                        </a:rPr>
                        <a:t>What the value records, per the audit’s Legend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80935">
                <a:tc>
                  <a:txBody>
                    <a:bodyPr wrap="square">
                      <a:noAutofit/>
                    </a:bodyPr>
                    <a:lstStyle/>
                    <a:p>
                      <a:pPr algn="l">
                        <a:lnSpc>
                          <a:spcPct val="106000"/>
                        </a:lnSpc>
                        <a:spcAft>
                          <a:spcPts val="0"/>
                        </a:spcAft>
                      </a:pPr>
                      <a:r>
                        <a:rPr sz="1300" b="1">
                          <a:solidFill>
                            <a:srgbClr val="333333"/>
                          </a:solidFill>
                          <a:latin typeface="Inter"/>
                        </a:rPr>
                        <a:t>Data dependency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3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300" b="0">
                          <a:solidFill>
                            <a:srgbClr val="333333"/>
                          </a:solidFill>
                          <a:latin typeface="Inter"/>
                        </a:rPr>
                        <a:t>The component reads or writes PNT fields of a shared structure rather than calling for them.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70927">
                <a:tc>
                  <a:txBody>
                    <a:bodyPr wrap="square">
                      <a:noAutofit/>
                    </a:bodyPr>
                    <a:lstStyle/>
                    <a:p>
                      <a:pPr algn="l">
                        <a:lnSpc>
                          <a:spcPct val="106000"/>
                        </a:lnSpc>
                        <a:spcAft>
                          <a:spcPts val="0"/>
                        </a:spcAft>
                      </a:pPr>
                      <a:r>
                        <a:rPr sz="1300" b="1">
                          <a:solidFill>
                            <a:srgbClr val="333333"/>
                          </a:solidFill>
                          <a:latin typeface="Inter"/>
                        </a:rPr>
                        <a:t>Function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300" b="0">
                          <a:solidFill>
                            <a:srgbClr val="333333"/>
                          </a:solidFill>
                          <a:latin typeface="Fira Code"/>
                        </a:rPr>
                        <a:t>61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300" b="0">
                          <a:solidFill>
                            <a:srgbClr val="333333"/>
                          </a:solidFill>
                          <a:latin typeface="Inter"/>
                        </a:rPr>
                        <a:t>The component obtains or hands on the PNT value through a direct call.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80935">
                <a:tc>
                  <a:txBody>
                    <a:bodyPr wrap="square">
                      <a:noAutofit/>
                    </a:bodyPr>
                    <a:lstStyle/>
                    <a:p>
                      <a:pPr algn="l">
                        <a:lnSpc>
                          <a:spcPct val="106000"/>
                        </a:lnSpc>
                        <a:spcAft>
                          <a:spcPts val="0"/>
                        </a:spcAft>
                      </a:pPr>
                      <a:r>
                        <a:rPr sz="1300" b="1">
                          <a:solidFill>
                            <a:srgbClr val="333333"/>
                          </a:solidFill>
                          <a:latin typeface="Inter"/>
                        </a:rPr>
                        <a:t>Inheritance/Interface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300" b="0">
                          <a:solidFill>
                            <a:srgbClr val="333333"/>
                          </a:solidFill>
                          <a:latin typeface="Fira Code"/>
                        </a:rPr>
                        <a:t>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300" b="0">
                          <a:solidFill>
                            <a:srgbClr val="333333"/>
                          </a:solidFill>
                          <a:latin typeface="Inter"/>
                        </a:rPr>
                        <a:t>The component sits behind a base class or interface that the PNT edge is declared 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70927">
                <a:tc>
                  <a:txBody>
                    <a:bodyPr wrap="square">
                      <a:noAutofit/>
                    </a:bodyPr>
                    <a:lstStyle/>
                    <a:p>
                      <a:pPr algn="l">
                        <a:lnSpc>
                          <a:spcPct val="106000"/>
                        </a:lnSpc>
                        <a:spcAft>
                          <a:spcPts val="0"/>
                        </a:spcAft>
                      </a:pPr>
                      <a:r>
                        <a:rPr sz="1300" b="1">
                          <a:solidFill>
                            <a:srgbClr val="333333"/>
                          </a:solidFill>
                          <a:latin typeface="Inter"/>
                        </a:rPr>
                        <a:t>Shared global/singleton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300" b="0">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300" b="0">
                          <a:solidFill>
                            <a:srgbClr val="333333"/>
                          </a:solidFill>
                          <a:latin typeface="Inter"/>
                        </a:rPr>
                        <a:t>The component reaches the PNT value through a process-wide singleton or global.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80935">
                <a:tc>
                  <a:txBody>
                    <a:bodyPr wrap="square">
                      <a:noAutofit/>
                    </a:bodyPr>
                    <a:lstStyle/>
                    <a:p>
                      <a:pPr algn="l">
                        <a:lnSpc>
                          <a:spcPct val="106000"/>
                        </a:lnSpc>
                        <a:spcAft>
                          <a:spcPts val="0"/>
                        </a:spcAft>
                      </a:pPr>
                      <a:r>
                        <a:rPr sz="1300" b="1">
                          <a:solidFill>
                            <a:srgbClr val="333333"/>
                          </a:solidFill>
                          <a:latin typeface="Inter"/>
                        </a:rPr>
                        <a:t>All Layer 1 rows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300" b="1">
                          <a:solidFill>
                            <a:srgbClr val="333333"/>
                          </a:solidFill>
                          <a:latin typeface="Fira Code"/>
                        </a:rPr>
                        <a:t>94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300" b="0">
                          <a:solidFill>
                            <a:srgbClr val="333333"/>
                          </a:solidFill>
                          <a:latin typeface="Inter"/>
                        </a:rPr>
                        <a:t>One Layer 1 row for every catalogued main-table row, which is what makes the distribution exhaustive.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566928" y="4611804"/>
            <a:ext cx="11003280" cy="411022"/>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Every Layer 1 row carries exactly one Dependency Type value drawn from the audit’s own four-value vocabulary, so the four figures above account for all 94 rows.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DEPENDENCY ROLL-UP  ·  LAYER 2</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Layer 2 chain depth, and the evidence-row reconciliation</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Chain Depth is the audit’s own convention: the number of → hops explicitly listed in that chain.</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852079"/>
          <a:ext cx="11058144" cy="2316505"/>
        </p:xfrm>
        <a:graphic>
          <a:graphicData uri="http://schemas.openxmlformats.org/drawingml/2006/table">
            <a:tbl>
              <a:tblPr>
                <a:tableStyleId>{5C22544A-7EE6-4342-B048-85BDC9FD1C3A}</a:tableStyleId>
              </a:tblPr>
              <a:tblGrid>
                <a:gridCol w="1370844"/>
                <a:gridCol w="2376130"/>
                <a:gridCol w="7311170"/>
              </a:tblGrid>
              <a:tr h="270927">
                <a:tc>
                  <a:txBody>
                    <a:bodyPr wrap="square">
                      <a:noAutofit/>
                    </a:bodyPr>
                    <a:lstStyle/>
                    <a:p>
                      <a:pPr algn="l">
                        <a:lnSpc>
                          <a:spcPct val="106000"/>
                        </a:lnSpc>
                        <a:spcAft>
                          <a:spcPts val="0"/>
                        </a:spcAft>
                      </a:pPr>
                      <a:r>
                        <a:rPr sz="1300" b="1">
                          <a:solidFill>
                            <a:srgbClr val="333333"/>
                          </a:solidFill>
                          <a:latin typeface="Inter"/>
                        </a:rPr>
                        <a:t>Sub-table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300" b="1">
                          <a:solidFill>
                            <a:srgbClr val="333333"/>
                          </a:solidFill>
                          <a:latin typeface="Inter"/>
                        </a:rPr>
                        <a:t>Chain Depth values present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300" b="1">
                          <a:solidFill>
                            <a:srgbClr val="333333"/>
                          </a:solidFill>
                          <a:latin typeface="Inter"/>
                        </a:rPr>
                        <a:t>What the chains run through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80935">
                <a:tc>
                  <a:txBody>
                    <a:bodyPr wrap="square">
                      <a:noAutofit/>
                    </a:bodyPr>
                    <a:lstStyle/>
                    <a:p>
                      <a:pPr algn="l">
                        <a:lnSpc>
                          <a:spcPct val="106000"/>
                        </a:lnSpc>
                        <a:spcAft>
                          <a:spcPts val="0"/>
                        </a:spcAft>
                      </a:pPr>
                      <a:r>
                        <a:rPr sz="1300" b="1">
                          <a:solidFill>
                            <a:srgbClr val="333333"/>
                          </a:solidFill>
                          <a:latin typeface="Fira Code"/>
                        </a:rPr>
                        <a:t>Table 1a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300" b="0">
                          <a:solidFill>
                            <a:srgbClr val="333333"/>
                          </a:solidFill>
                          <a:latin typeface="Fira Code"/>
                        </a:rPr>
                        <a:t>3  4  5  6  8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300" b="0">
                          <a:solidFill>
                            <a:srgbClr val="333333"/>
                          </a:solidFill>
                          <a:latin typeface="Inter"/>
                        </a:rPr>
                        <a:t>Receiver backends through the shared GPS state and the estimator to the motor and servo output, the catalog’s longest chains.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70927">
                <a:tc>
                  <a:txBody>
                    <a:bodyPr wrap="square">
                      <a:noAutofit/>
                    </a:bodyPr>
                    <a:lstStyle/>
                    <a:p>
                      <a:pPr algn="l">
                        <a:lnSpc>
                          <a:spcPct val="106000"/>
                        </a:lnSpc>
                        <a:spcAft>
                          <a:spcPts val="0"/>
                        </a:spcAft>
                      </a:pPr>
                      <a:r>
                        <a:rPr sz="1300" b="1">
                          <a:solidFill>
                            <a:srgbClr val="333333"/>
                          </a:solidFill>
                          <a:latin typeface="Fira Code"/>
                        </a:rPr>
                        <a:t>Table 2a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300" b="0">
                          <a:solidFill>
                            <a:srgbClr val="333333"/>
                          </a:solidFill>
                          <a:latin typeface="Fira Code"/>
                        </a:rPr>
                        <a:t>3  4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300" b="0">
                          <a:solidFill>
                            <a:srgbClr val="333333"/>
                          </a:solidFill>
                          <a:latin typeface="Inter"/>
                        </a:rPr>
                        <a:t>The navigation hub and the estimator stack through to the guidance and mission layer.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80935">
                <a:tc>
                  <a:txBody>
                    <a:bodyPr wrap="square">
                      <a:noAutofit/>
                    </a:bodyPr>
                    <a:lstStyle/>
                    <a:p>
                      <a:pPr algn="l">
                        <a:lnSpc>
                          <a:spcPct val="106000"/>
                        </a:lnSpc>
                        <a:spcAft>
                          <a:spcPts val="0"/>
                        </a:spcAft>
                      </a:pPr>
                      <a:r>
                        <a:rPr sz="1300" b="1">
                          <a:solidFill>
                            <a:srgbClr val="333333"/>
                          </a:solidFill>
                          <a:latin typeface="Fira Code"/>
                        </a:rPr>
                        <a:t>Table 3a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300" b="0">
                          <a:solidFill>
                            <a:srgbClr val="333333"/>
                          </a:solidFill>
                          <a:latin typeface="Fira Code"/>
                        </a:rPr>
                        <a:t>3  4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300" b="0">
                          <a:solidFill>
                            <a:srgbClr val="333333"/>
                          </a:solidFill>
                          <a:latin typeface="Inter"/>
                        </a:rPr>
                        <a:t>The board hardware timer through the hardware-abstraction clock to every periodic PNT task.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70927">
                <a:tc>
                  <a:txBody>
                    <a:bodyPr wrap="square">
                      <a:noAutofit/>
                    </a:bodyPr>
                    <a:lstStyle/>
                    <a:p>
                      <a:pPr algn="l">
                        <a:lnSpc>
                          <a:spcPct val="106000"/>
                        </a:lnSpc>
                        <a:spcAft>
                          <a:spcPts val="0"/>
                        </a:spcAft>
                      </a:pPr>
                      <a:r>
                        <a:rPr sz="1300" b="1">
                          <a:solidFill>
                            <a:srgbClr val="333333"/>
                          </a:solidFill>
                          <a:latin typeface="Fira Code"/>
                        </a:rPr>
                        <a:t>Table 4a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300" b="0">
                          <a:solidFill>
                            <a:srgbClr val="333333"/>
                          </a:solidFill>
                          <a:latin typeface="Fira Code"/>
                        </a:rPr>
                        <a:t>2  3  4  5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300" b="0">
                          <a:solidFill>
                            <a:srgbClr val="333333"/>
                          </a:solidFill>
                          <a:latin typeface="Inter"/>
                        </a:rPr>
                        <a:t>Position health and fence evaluation through to mode denial and failsafe action.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70927">
                <a:tc>
                  <a:txBody>
                    <a:bodyPr wrap="square">
                      <a:noAutofit/>
                    </a:bodyPr>
                    <a:lstStyle/>
                    <a:p>
                      <a:pPr algn="l">
                        <a:lnSpc>
                          <a:spcPct val="106000"/>
                        </a:lnSpc>
                        <a:spcAft>
                          <a:spcPts val="0"/>
                        </a:spcAft>
                      </a:pPr>
                      <a:r>
                        <a:rPr sz="1300" b="1">
                          <a:solidFill>
                            <a:srgbClr val="333333"/>
                          </a:solidFill>
                          <a:latin typeface="Fira Code"/>
                        </a:rPr>
                        <a:t>Table 5a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300" b="0">
                          <a:solidFill>
                            <a:srgbClr val="333333"/>
                          </a:solidFill>
                          <a:latin typeface="Fira Code"/>
                        </a:rPr>
                        <a:t>2  3  4  5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300" b="0">
                          <a:solidFill>
                            <a:srgbClr val="333333"/>
                          </a:solidFill>
                          <a:latin typeface="Inter"/>
                        </a:rPr>
                        <a:t>Estimator-variance watchdogs through to the vehicle’s failsafe response.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70927">
                <a:tc>
                  <a:txBody>
                    <a:bodyPr wrap="square">
                      <a:noAutofit/>
                    </a:bodyPr>
                    <a:lstStyle/>
                    <a:p>
                      <a:pPr algn="l">
                        <a:lnSpc>
                          <a:spcPct val="106000"/>
                        </a:lnSpc>
                        <a:spcAft>
                          <a:spcPts val="0"/>
                        </a:spcAft>
                      </a:pPr>
                      <a:r>
                        <a:rPr sz="1300" b="1">
                          <a:solidFill>
                            <a:srgbClr val="333333"/>
                          </a:solidFill>
                          <a:latin typeface="Fira Code"/>
                        </a:rPr>
                        <a:t>Table 6a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300" b="0">
                          <a:solidFill>
                            <a:srgbClr val="333333"/>
                          </a:solidFill>
                          <a:latin typeface="Fira Code"/>
                        </a:rPr>
                        <a:t>3  4  5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300" b="0">
                          <a:solidFill>
                            <a:srgbClr val="333333"/>
                          </a:solidFill>
                          <a:latin typeface="Inter"/>
                        </a:rPr>
                        <a:t>Main-loop lockup watchdogs and their rate gates through to motor output and disarm.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Rounded Rectangle 7"/>
          <p:cNvSpPr/>
          <p:nvPr/>
        </p:nvSpPr>
        <p:spPr>
          <a:xfrm>
            <a:off x="566928" y="4369752"/>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94</a:t>
            </a:r>
          </a:p>
          <a:p>
            <a:pPr algn="ctr">
              <a:lnSpc>
                <a:spcPct val="124000"/>
              </a:lnSpc>
            </a:pPr>
            <a:r>
              <a:rPr sz="1200">
                <a:solidFill>
                  <a:srgbClr val="999999"/>
                </a:solidFill>
                <a:latin typeface="Inter"/>
              </a:rPr>
              <a:t>main rows catalogued</a:t>
            </a:r>
          </a:p>
        </p:txBody>
      </p:sp>
      <p:sp>
        <p:nvSpPr>
          <p:cNvPr id="9" name="Rounded Rectangle 8"/>
          <p:cNvSpPr/>
          <p:nvPr/>
        </p:nvSpPr>
        <p:spPr>
          <a:xfrm>
            <a:off x="3381756" y="4369752"/>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3</a:t>
            </a:r>
          </a:p>
          <a:p>
            <a:pPr algn="ctr">
              <a:lnSpc>
                <a:spcPct val="124000"/>
              </a:lnSpc>
            </a:pPr>
            <a:r>
              <a:rPr sz="1200">
                <a:solidFill>
                  <a:srgbClr val="999999"/>
                </a:solidFill>
                <a:latin typeface="Inter"/>
              </a:rPr>
              <a:t>layers per row</a:t>
            </a:r>
          </a:p>
        </p:txBody>
      </p:sp>
      <p:sp>
        <p:nvSpPr>
          <p:cNvPr id="10" name="Rounded Rectangle 9"/>
          <p:cNvSpPr/>
          <p:nvPr/>
        </p:nvSpPr>
        <p:spPr>
          <a:xfrm>
            <a:off x="6196584" y="4369752"/>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282</a:t>
            </a:r>
          </a:p>
          <a:p>
            <a:pPr algn="ctr">
              <a:lnSpc>
                <a:spcPct val="124000"/>
              </a:lnSpc>
            </a:pPr>
            <a:r>
              <a:rPr sz="1200">
                <a:solidFill>
                  <a:srgbClr val="999999"/>
                </a:solidFill>
                <a:latin typeface="Inter"/>
              </a:rPr>
              <a:t>evidence rows in total</a:t>
            </a:r>
          </a:p>
        </p:txBody>
      </p:sp>
      <p:sp>
        <p:nvSpPr>
          <p:cNvPr id="11" name="Rounded Rectangle 10"/>
          <p:cNvSpPr/>
          <p:nvPr/>
        </p:nvSpPr>
        <p:spPr>
          <a:xfrm>
            <a:off x="9011412" y="4369752"/>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18</a:t>
            </a:r>
          </a:p>
          <a:p>
            <a:pPr algn="ctr">
              <a:lnSpc>
                <a:spcPct val="124000"/>
              </a:lnSpc>
            </a:pPr>
            <a:r>
              <a:rPr sz="1200">
                <a:solidFill>
                  <a:srgbClr val="999999"/>
                </a:solidFill>
                <a:latin typeface="Inter"/>
              </a:rPr>
              <a:t>data objects behind them</a:t>
            </a:r>
          </a:p>
        </p:txBody>
      </p:sp>
      <p:sp>
        <p:nvSpPr>
          <p:cNvPr id="12" name="TextBox 11"/>
          <p:cNvSpPr txBox="1"/>
          <p:nvPr/>
        </p:nvSpPr>
        <p:spPr>
          <a:xfrm>
            <a:off x="566928" y="5549328"/>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94 main rows × 3 layers = 282 evidence rows, exactly the total the audit states.</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0"/>
            <a:ext cx="11058144" cy="1188720"/>
          </a:xfrm>
          <a:prstGeom prst="rect">
            <a:avLst/>
          </a:prstGeom>
          <a:noFill/>
        </p:spPr>
        <p:txBody>
          <a:bodyPr wrap="square" lIns="0" rIns="0" tIns="0" bIns="0" anchor="t">
            <a:noAutofit/>
          </a:bodyPr>
          <a:lstStyle/>
          <a:p>
            <a:pPr algn="ctr">
              <a:lnSpc>
                <a:spcPct val="110000"/>
              </a:lnSpc>
              <a:spcAft>
                <a:spcPts val="0"/>
              </a:spcAft>
            </a:pPr>
            <a:r>
              <a:rPr sz="3800" b="1">
                <a:solidFill>
                  <a:srgbClr val="FFFFFF"/>
                </a:solidFill>
                <a:latin typeface="Space Grotesk"/>
              </a:rPr>
              <a:t>PNT Instance Audit</a:t>
            </a:r>
          </a:p>
        </p:txBody>
      </p:sp>
      <p:sp>
        <p:nvSpPr>
          <p:cNvPr id="3" name="TextBox 2"/>
          <p:cNvSpPr txBox="1"/>
          <p:nvPr/>
        </p:nvSpPr>
        <p:spPr>
          <a:xfrm>
            <a:off x="566928" y="3840480"/>
            <a:ext cx="11058144" cy="365760"/>
          </a:xfrm>
          <a:prstGeom prst="rect">
            <a:avLst/>
          </a:prstGeom>
          <a:noFill/>
        </p:spPr>
        <p:txBody>
          <a:bodyPr wrap="square" lIns="0" rIns="0" tIns="0" bIns="0" anchor="t">
            <a:noAutofit/>
          </a:bodyPr>
          <a:lstStyle/>
          <a:p>
            <a:pPr algn="ctr">
              <a:lnSpc>
                <a:spcPct val="100000"/>
              </a:lnSpc>
              <a:spcAft>
                <a:spcPts val="0"/>
              </a:spcAft>
            </a:pPr>
            <a:r>
              <a:rPr sz="1300" b="0">
                <a:solidFill>
                  <a:srgbClr val="94FAD5"/>
                </a:solidFill>
                <a:latin typeface="Fira Code"/>
              </a:rPr>
              <a:t>Current Location → New Service Location: the audit’s own wiring contract for the extracted service.</a:t>
            </a:r>
          </a:p>
        </p:txBody>
      </p:sp>
      <p:sp>
        <p:nvSpPr>
          <p:cNvPr id="4" name="Rectangle 3"/>
          <p:cNvSpPr/>
          <p:nvPr/>
        </p:nvSpPr>
        <p:spPr>
          <a:xfrm>
            <a:off x="4724400" y="4389120"/>
            <a:ext cx="2743200" cy="91440"/>
          </a:xfrm>
          <a:prstGeom prst="rect">
            <a:avLst/>
          </a:prstGeom>
          <a:gradFill rotWithShape="1">
            <a:gsLst>
              <a:gs pos="0">
                <a:srgbClr val="5B39F3"/>
              </a:gs>
              <a:gs pos="100000">
                <a:srgbClr val="94FAD5"/>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PNT INSTANCE AUDIT  ·  12 MAPPING ROWS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PNT Instance Audit</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582282"/>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Every Position, Navigation and Timing touch-point inside the wrapped controller, with the service member each one is refactored into.</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7" name="TextBox 6"/>
          <p:cNvSpPr txBox="1"/>
          <p:nvPr/>
        </p:nvSpPr>
        <p:spPr>
          <a:xfrm>
            <a:off x="566928" y="2228202"/>
            <a:ext cx="11003280" cy="381457"/>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Every Position / Navigation / Timing touch-point inside AP_L1_Control mapped onto the reusable AfsimL1Behavior service (the AHRS state shim, the injected-dt timing seam and the extern "C" command surface).</a:t>
            </a:r>
          </a:p>
        </p:txBody>
      </p:sp>
      <p:graphicFrame>
        <p:nvGraphicFramePr>
          <p:cNvPr id="8" name="Table 7"/>
          <p:cNvGraphicFramePr>
            <a:graphicFrameLocks noGrp="1"/>
          </p:cNvGraphicFramePr>
          <p:nvPr/>
        </p:nvGraphicFramePr>
        <p:xfrm>
          <a:off x="566928" y="2701099"/>
          <a:ext cx="11058144" cy="2747721"/>
        </p:xfrm>
        <a:graphic>
          <a:graphicData uri="http://schemas.openxmlformats.org/drawingml/2006/table">
            <a:tbl>
              <a:tblPr>
                <a:tableStyleId>{5C22544A-7EE6-4342-B048-85BDC9FD1C3A}</a:tableStyleId>
              </a:tblPr>
              <a:tblGrid>
                <a:gridCol w="1416539"/>
                <a:gridCol w="1827792"/>
                <a:gridCol w="2056266"/>
                <a:gridCol w="2376130"/>
                <a:gridCol w="3381417"/>
              </a:tblGrid>
              <a:tr h="240219">
                <a:tc>
                  <a:txBody>
                    <a:bodyPr wrap="square">
                      <a:noAutofit/>
                    </a:bodyPr>
                    <a:lstStyle/>
                    <a:p>
                      <a:pPr algn="l">
                        <a:lnSpc>
                          <a:spcPct val="106000"/>
                        </a:lnSpc>
                        <a:spcAft>
                          <a:spcPts val="0"/>
                        </a:spcAft>
                      </a:pPr>
                      <a:r>
                        <a:rPr sz="1100" b="1">
                          <a:solidFill>
                            <a:srgbClr val="333333"/>
                          </a:solidFill>
                          <a:latin typeface="Inter"/>
                        </a:rPr>
                        <a:t>PNT Pillar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Current Location(s)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Current Accessor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New Service 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l">
                        <a:lnSpc>
                          <a:spcPct val="106000"/>
                        </a:lnSpc>
                        <a:spcAft>
                          <a:spcPts val="0"/>
                        </a:spcAft>
                      </a:pPr>
                      <a:r>
                        <a:rPr sz="1100" b="1">
                          <a:solidFill>
                            <a:srgbClr val="333333"/>
                          </a:solidFill>
                          <a:latin typeface="Inter"/>
                        </a:rPr>
                        <a:t>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Read vehicle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AP_L1_Control.cpp:L230, L369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`_ahrs.get_location(_current_loc)`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AHRS shim `get_location()`, fed by `set_state_ne(n, 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Inter"/>
                        </a:rPr>
                        <a:t>Navigation (velocity)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Read ground velocity vector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AP_L1_Control.cpp:L236, L375, L507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`_ahrs.groundspeed_vector()`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AHRS shim `groundspeed_vector()`, fed by `set_velocity_EN(velE, velN)`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Inter"/>
                        </a:rPr>
                        <a:t>Navigation (attitude)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Read yaw (radians)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AP_L1_Control.cpp:L59, L61, L402, L536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`_ahrs.get_yaw_rad()`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AHRS shim `get_yaw_rad()`, fed by `set_yaw_cd(yaw_cd)`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Inter"/>
                        </a:rPr>
                        <a:t>Navigation (attitude)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Read yaw (centideg sensor)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AP_L1_Control.cpp:L70, L72, L503, L535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`_ahrs.yaw_sensor`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AHRS shim `yaw_sensor`, fed by `set_yaw_cd(yaw_cd)`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Inter"/>
                        </a:rPr>
                        <a:t>Navigation (attitude)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Read pitch (radians)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AP_L1_Control.cpp:L91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`_ahrs.get_pitch_rad()`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AHRS shim `get_pitch_rad()`, fed by `set_pitch_rad(pitch_rad)`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Inter"/>
                        </a:rPr>
                        <a:t>Navigation (airspeed)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Airspeed scaling factor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AP_L1_Control.cpp:L126, L159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`_ahrs.get_EAS2TAS()`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AHRS shim `get_EAS2TAS()` (injected or unit default)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PNT INSTANCE AUDIT  ·  12 MAPPING ROWS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PNT Instance Audit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524706"/>
        </p:xfrm>
        <a:graphic>
          <a:graphicData uri="http://schemas.openxmlformats.org/drawingml/2006/table">
            <a:tbl>
              <a:tblPr>
                <a:tableStyleId>{5C22544A-7EE6-4342-B048-85BDC9FD1C3A}</a:tableStyleId>
              </a:tblPr>
              <a:tblGrid>
                <a:gridCol w="1416539"/>
                <a:gridCol w="1827792"/>
                <a:gridCol w="2056266"/>
                <a:gridCol w="2376130"/>
                <a:gridCol w="3381417"/>
              </a:tblGrid>
              <a:tr h="240219">
                <a:tc>
                  <a:txBody>
                    <a:bodyPr wrap="square">
                      <a:noAutofit/>
                    </a:bodyPr>
                    <a:lstStyle/>
                    <a:p>
                      <a:pPr algn="l">
                        <a:lnSpc>
                          <a:spcPct val="106000"/>
                        </a:lnSpc>
                        <a:spcAft>
                          <a:spcPts val="0"/>
                        </a:spcAft>
                      </a:pPr>
                      <a:r>
                        <a:rPr sz="1100" b="1">
                          <a:solidFill>
                            <a:srgbClr val="333333"/>
                          </a:solidFill>
                          <a:latin typeface="Inter"/>
                        </a:rPr>
                        <a:t>PNT Pillar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Behavior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Current Location(s)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Current Accessor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New Service Location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128711">
                <a:tc>
                  <a:txBody>
                    <a:bodyPr wrap="square">
                      <a:noAutofit/>
                    </a:bodyPr>
                    <a:lstStyle/>
                    <a:p>
                      <a:pPr algn="l">
                        <a:lnSpc>
                          <a:spcPct val="106000"/>
                        </a:lnSpc>
                        <a:spcAft>
                          <a:spcPts val="0"/>
                        </a:spcAft>
                      </a:pPr>
                      <a:r>
                        <a:rPr sz="1100" b="1">
                          <a:solidFill>
                            <a:srgbClr val="333333"/>
                          </a:solidFill>
                          <a:latin typeface="Inter"/>
                        </a:rPr>
                        <a:t>Timing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Control-step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AP_L1_Control.cpp:L214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`AP_HAL::micros()`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`set_update_dt(dt)` injected timebase. Additive and default-off: when `set_update_dt` is never called the controller keeps its internal `AP_HAL::micros()` delta, so existing vehicle callers are unaffected.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951012">
                <a:tc>
                  <a:txBody>
                    <a:bodyPr wrap="square">
                      <a:noAutofit/>
                    </a:bodyPr>
                    <a:lstStyle/>
                    <a:p>
                      <a:pPr algn="l">
                        <a:lnSpc>
                          <a:spcPct val="106000"/>
                        </a:lnSpc>
                        <a:spcAft>
                          <a:spcPts val="0"/>
                        </a:spcAft>
                      </a:pPr>
                      <a:r>
                        <a:rPr sz="1100" b="1">
                          <a:solidFill>
                            <a:srgbClr val="333333"/>
                          </a:solidFill>
                          <a:latin typeface="Inter"/>
                        </a:rPr>
                        <a:t>Timing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Step delta + state store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AP_L1_Control.cpp:L215, L224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`_last_update_waypoint_us`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Injected-`dt` path (clamp semantics preserved). Additive and default-off: existing callers keep the `_last_update_waypoint_us` `micros()` delta until `set_update_dt` is called.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l">
                        <a:lnSpc>
                          <a:spcPct val="106000"/>
                        </a:lnSpc>
                        <a:spcAft>
                          <a:spcPts val="0"/>
                        </a:spcAft>
                      </a:pPr>
                      <a:r>
                        <a:rPr sz="1100" b="1">
                          <a:solidFill>
                            <a:srgbClr val="333333"/>
                          </a:solidFill>
                          <a:latin typeface="Inter"/>
                        </a:rPr>
                        <a:t>Timing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Loiter/heading clock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AP_L1_Control.cpp:L448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`AP_HAL::millis()`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Injected time for the loiter path. Additive and default-off: when unset the internal `AP_HAL::millis()` clock is used unchanged.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1">
                          <a:solidFill>
                            <a:srgbClr val="333333"/>
                          </a:solidFill>
                          <a:latin typeface="Inter"/>
                        </a:rPr>
                        <a:t>Navigation (math)</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Bearing / NE distance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AP_L1_Control.cpp:L239, L382 / L260, L266, L274, L295, L391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`Location::get_bearing_to` / `get_distance_NE`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Preserved unchanged inside `AP_L1_Control`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Inter"/>
                        </a:rPr>
                        <a:t>Navigation (output)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Roll command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AP_L1_Control.h:L36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`nav_roll_cd()`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`get_roll_deg()` = `nav_roll_cd()/100` → `L1_GetRollDeg`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Inter"/>
                        </a:rPr>
                        <a:t>Navigation (output)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Lateral acceleration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AP_L1_Control.h:L37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`lateral_acceleration()`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`get_lat_accel()` → `L1_GetLatAccel`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PNT INSTANCE AUDIT  ·  LINE-NUMBER BASIS, QUOTED</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The line-number basis, reproduced unchanged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36192"/>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THE AUDIT’S OWN NOTE BENEATH THE MAPPING TABLE</a:t>
            </a:r>
          </a:p>
        </p:txBody>
      </p:sp>
      <p:sp>
        <p:nvSpPr>
          <p:cNvPr id="7" name="Rectangle 6"/>
          <p:cNvSpPr/>
          <p:nvPr/>
        </p:nvSpPr>
        <p:spPr>
          <a:xfrm>
            <a:off x="566928" y="1761896"/>
            <a:ext cx="32004" cy="1150581"/>
          </a:xfrm>
          <a:prstGeom prst="rect">
            <a:avLst/>
          </a:prstGeom>
          <a:solidFill>
            <a:srgbClr val="5B39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1761896"/>
            <a:ext cx="10856976" cy="1150581"/>
          </a:xfrm>
          <a:prstGeom prst="rect">
            <a:avLst/>
          </a:prstGeom>
          <a:noFill/>
        </p:spPr>
        <p:txBody>
          <a:bodyPr wrap="square" lIns="0" rIns="0" tIns="0" bIns="0" anchor="t">
            <a:noAutofit/>
          </a:bodyPr>
          <a:lstStyle/>
          <a:p>
            <a:pPr algn="l">
              <a:lnSpc>
                <a:spcPct val="120000"/>
              </a:lnSpc>
              <a:spcAft>
                <a:spcPts val="0"/>
              </a:spcAft>
            </a:pPr>
            <a:r>
              <a:rPr sz="1300" b="0">
                <a:solidFill>
                  <a:srgbClr val="333333"/>
                </a:solidFill>
                <a:latin typeface="Inter"/>
              </a:rPr>
              <a:t>“Line-number basis. The Current Location(s) line numbers below are cited as of the audited HEAD 5b67e27b0a (the pre-refactor baseline), which preserves parity with the AAP 0.6.1 instance table; they are not post-seam current-source line numbers. The extraction's single additive, default-off set_update_dt timing seam was applied to AP_L1_Control.cpp / .h after that commit and shifts only those two files' line numbers (it relocates no behavior). Because the seam is default-off, when set_update_dt is never called the controller keeps its internal AP_HAL::micros() / millis() timing path unchanged, so existing vehicle callers are unaffected.”</a:t>
            </a:r>
          </a:p>
        </p:txBody>
      </p:sp>
      <p:sp>
        <p:nvSpPr>
          <p:cNvPr id="9" name="TextBox 8"/>
          <p:cNvSpPr txBox="1"/>
          <p:nvPr/>
        </p:nvSpPr>
        <p:spPr>
          <a:xfrm>
            <a:off x="566928" y="3113645"/>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THE SERVICE SURFACE THE MAPPING RESOLVES TO</a:t>
            </a:r>
          </a:p>
        </p:txBody>
      </p:sp>
      <p:sp>
        <p:nvSpPr>
          <p:cNvPr id="10" name="Rectangle 9"/>
          <p:cNvSpPr/>
          <p:nvPr/>
        </p:nvSpPr>
        <p:spPr>
          <a:xfrm>
            <a:off x="566928" y="3339349"/>
            <a:ext cx="32004" cy="675093"/>
          </a:xfrm>
          <a:prstGeom prst="rect">
            <a:avLst/>
          </a:prstGeom>
          <a:solidFill>
            <a:srgbClr val="5B39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13232" y="3339349"/>
            <a:ext cx="10856976" cy="675093"/>
          </a:xfrm>
          <a:prstGeom prst="rect">
            <a:avLst/>
          </a:prstGeom>
          <a:noFill/>
        </p:spPr>
        <p:txBody>
          <a:bodyPr wrap="square" lIns="0" rIns="0" tIns="0" bIns="0" anchor="t">
            <a:noAutofit/>
          </a:bodyPr>
          <a:lstStyle/>
          <a:p>
            <a:pPr algn="l">
              <a:lnSpc>
                <a:spcPct val="120000"/>
              </a:lnSpc>
              <a:spcAft>
                <a:spcPts val="0"/>
              </a:spcAft>
            </a:pPr>
            <a:r>
              <a:rPr sz="1300" b="0">
                <a:solidFill>
                  <a:srgbClr val="333333"/>
                </a:solidFill>
                <a:latin typeface="Inter"/>
              </a:rPr>
              <a:t>“For every PNT touch-point inside the wrapped L1 guidance controller it names the member of the reusable AfsimL1Behavior service that the behavior is refactored into: the AHRS state shim that supplies injected position, velocity and attitude, the injected-dt timing seam that replaces the internal hardware clock, and the extern "C" command surface that returns the roll and lateral-acceleration commands.”</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0"/>
            <a:ext cx="11058144" cy="1188720"/>
          </a:xfrm>
          <a:prstGeom prst="rect">
            <a:avLst/>
          </a:prstGeom>
          <a:noFill/>
        </p:spPr>
        <p:txBody>
          <a:bodyPr wrap="square" lIns="0" rIns="0" tIns="0" bIns="0" anchor="t">
            <a:noAutofit/>
          </a:bodyPr>
          <a:lstStyle/>
          <a:p>
            <a:pPr algn="ctr">
              <a:lnSpc>
                <a:spcPct val="110000"/>
              </a:lnSpc>
              <a:spcAft>
                <a:spcPts val="0"/>
              </a:spcAft>
            </a:pPr>
            <a:r>
              <a:rPr sz="3800" b="1">
                <a:solidFill>
                  <a:srgbClr val="FFFFFF"/>
                </a:solidFill>
                <a:latin typeface="Space Grotesk"/>
              </a:rPr>
              <a:t>Coverage &amp; Explicit-Absence Register</a:t>
            </a:r>
          </a:p>
        </p:txBody>
      </p:sp>
      <p:sp>
        <p:nvSpPr>
          <p:cNvPr id="3" name="TextBox 2"/>
          <p:cNvSpPr txBox="1"/>
          <p:nvPr/>
        </p:nvSpPr>
        <p:spPr>
          <a:xfrm>
            <a:off x="566928" y="3840480"/>
            <a:ext cx="11058144" cy="365760"/>
          </a:xfrm>
          <a:prstGeom prst="rect">
            <a:avLst/>
          </a:prstGeom>
          <a:noFill/>
        </p:spPr>
        <p:txBody>
          <a:bodyPr wrap="square" lIns="0" rIns="0" tIns="0" bIns="0" anchor="t">
            <a:noAutofit/>
          </a:bodyPr>
          <a:lstStyle/>
          <a:p>
            <a:pPr algn="ctr">
              <a:lnSpc>
                <a:spcPct val="100000"/>
              </a:lnSpc>
              <a:spcAft>
                <a:spcPts val="0"/>
              </a:spcAft>
            </a:pPr>
            <a:r>
              <a:rPr sz="1300" b="0">
                <a:solidFill>
                  <a:srgbClr val="94FAD5"/>
                </a:solidFill>
                <a:latin typeface="Fira Code"/>
              </a:rPr>
              <a:t>10 sub-registers  ·  109 entries  ·  27 checked absences</a:t>
            </a:r>
          </a:p>
        </p:txBody>
      </p:sp>
      <p:sp>
        <p:nvSpPr>
          <p:cNvPr id="4" name="Rectangle 3"/>
          <p:cNvSpPr/>
          <p:nvPr/>
        </p:nvSpPr>
        <p:spPr>
          <a:xfrm>
            <a:off x="4724400" y="4389120"/>
            <a:ext cx="2743200" cy="91440"/>
          </a:xfrm>
          <a:prstGeom prst="rect">
            <a:avLst/>
          </a:prstGeom>
          <a:gradFill rotWithShape="1">
            <a:gsLst>
              <a:gs pos="0">
                <a:srgbClr val="5B39F3"/>
              </a:gs>
              <a:gs pos="100000">
                <a:srgbClr val="94FAD5"/>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NON-INFERENCE DISCIPLINE</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What the register establishes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36192"/>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THE AUDIT’S OWN INTRODUCTION TO THE REGISTER</a:t>
            </a:r>
          </a:p>
        </p:txBody>
      </p:sp>
      <p:sp>
        <p:nvSpPr>
          <p:cNvPr id="7" name="Rectangle 6"/>
          <p:cNvSpPr/>
          <p:nvPr/>
        </p:nvSpPr>
        <p:spPr>
          <a:xfrm>
            <a:off x="566928" y="1761896"/>
            <a:ext cx="32004" cy="470992"/>
          </a:xfrm>
          <a:prstGeom prst="rect">
            <a:avLst/>
          </a:prstGeom>
          <a:solidFill>
            <a:srgbClr val="5B39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1761896"/>
            <a:ext cx="10856976" cy="470992"/>
          </a:xfrm>
          <a:prstGeom prst="rect">
            <a:avLst/>
          </a:prstGeom>
          <a:noFill/>
        </p:spPr>
        <p:txBody>
          <a:bodyPr wrap="square" lIns="0" rIns="0" tIns="0" bIns="0" anchor="t">
            <a:noAutofit/>
          </a:bodyPr>
          <a:lstStyle/>
          <a:p>
            <a:pPr algn="l">
              <a:lnSpc>
                <a:spcPct val="120000"/>
              </a:lnSpc>
              <a:spcAft>
                <a:spcPts val="0"/>
              </a:spcAft>
            </a:pPr>
            <a:r>
              <a:rPr sz="1400" b="0">
                <a:solidFill>
                  <a:srgbClr val="333333"/>
                </a:solidFill>
                <a:latin typeface="Inter"/>
              </a:rPr>
              <a:t>“Directory-wide token sweeps and explicit absence notations establishing exhaustiveness across libraries/, the four vehicle directories and the .gitmodules boundary edges (10 sub-registers, 109 entries, 27 checked absences).”</a:t>
            </a:r>
          </a:p>
        </p:txBody>
      </p:sp>
      <p:sp>
        <p:nvSpPr>
          <p:cNvPr id="9" name="Rounded Rectangle 8"/>
          <p:cNvSpPr/>
          <p:nvPr/>
        </p:nvSpPr>
        <p:spPr>
          <a:xfrm>
            <a:off x="566928" y="2452344"/>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10</a:t>
            </a:r>
          </a:p>
          <a:p>
            <a:pPr algn="ctr">
              <a:lnSpc>
                <a:spcPct val="124000"/>
              </a:lnSpc>
            </a:pPr>
            <a:r>
              <a:rPr sz="1200">
                <a:solidFill>
                  <a:srgbClr val="999999"/>
                </a:solidFill>
                <a:latin typeface="Inter"/>
              </a:rPr>
              <a:t>named sub-registers</a:t>
            </a:r>
          </a:p>
        </p:txBody>
      </p:sp>
      <p:sp>
        <p:nvSpPr>
          <p:cNvPr id="10" name="Rounded Rectangle 9"/>
          <p:cNvSpPr/>
          <p:nvPr/>
        </p:nvSpPr>
        <p:spPr>
          <a:xfrm>
            <a:off x="3381756" y="2452344"/>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109</a:t>
            </a:r>
          </a:p>
          <a:p>
            <a:pPr algn="ctr">
              <a:lnSpc>
                <a:spcPct val="124000"/>
              </a:lnSpc>
            </a:pPr>
            <a:r>
              <a:rPr sz="1200">
                <a:solidFill>
                  <a:srgbClr val="999999"/>
                </a:solidFill>
                <a:latin typeface="Inter"/>
              </a:rPr>
              <a:t>register entries</a:t>
            </a:r>
          </a:p>
        </p:txBody>
      </p:sp>
      <p:sp>
        <p:nvSpPr>
          <p:cNvPr id="11" name="Rounded Rectangle 10"/>
          <p:cNvSpPr/>
          <p:nvPr/>
        </p:nvSpPr>
        <p:spPr>
          <a:xfrm>
            <a:off x="6196584" y="2452344"/>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27</a:t>
            </a:r>
          </a:p>
          <a:p>
            <a:pPr algn="ctr">
              <a:lnSpc>
                <a:spcPct val="124000"/>
              </a:lnSpc>
            </a:pPr>
            <a:r>
              <a:rPr sz="1200">
                <a:solidFill>
                  <a:srgbClr val="999999"/>
                </a:solidFill>
                <a:latin typeface="Inter"/>
              </a:rPr>
              <a:t>checked absences</a:t>
            </a:r>
          </a:p>
        </p:txBody>
      </p:sp>
      <p:sp>
        <p:nvSpPr>
          <p:cNvPr id="12" name="Rounded Rectangle 11"/>
          <p:cNvSpPr/>
          <p:nvPr/>
        </p:nvSpPr>
        <p:spPr>
          <a:xfrm>
            <a:off x="9011412" y="2452344"/>
            <a:ext cx="2613660" cy="1051560"/>
          </a:xfrm>
          <a:prstGeom prst="roundRect">
            <a:avLst>
              <a:gd name="adj" fmla="val 6000"/>
            </a:avLst>
          </a:prstGeom>
          <a:solidFill>
            <a:srgbClr val="F2F0FE"/>
          </a:solidFill>
          <a:ln w="9525">
            <a:solidFill>
              <a:srgbClr val="E1DBFD"/>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54864" bIns="54864">
            <a:noAutofit/>
          </a:bodyPr>
          <a:lstStyle/>
          <a:p>
            <a:pPr algn="ctr">
              <a:lnSpc>
                <a:spcPct val="130000"/>
              </a:lnSpc>
              <a:spcAft>
                <a:spcPts val="300"/>
              </a:spcAft>
            </a:pPr>
            <a:r>
              <a:rPr sz="3200" b="1">
                <a:solidFill>
                  <a:srgbClr val="5B39F3"/>
                </a:solidFill>
                <a:latin typeface="Space Grotesk"/>
              </a:rPr>
              <a:t>5</a:t>
            </a:r>
          </a:p>
          <a:p>
            <a:pPr algn="ctr">
              <a:lnSpc>
                <a:spcPct val="124000"/>
              </a:lnSpc>
            </a:pPr>
            <a:r>
              <a:rPr sz="1200">
                <a:solidFill>
                  <a:srgbClr val="999999"/>
                </a:solidFill>
                <a:latin typeface="Inter"/>
              </a:rPr>
              <a:t>flag kinds in the catalog</a:t>
            </a:r>
          </a:p>
        </p:txBody>
      </p:sp>
      <p:sp>
        <p:nvSpPr>
          <p:cNvPr id="13" name="TextBox 12"/>
          <p:cNvSpPr txBox="1"/>
          <p:nvPr/>
        </p:nvSpPr>
        <p:spPr>
          <a:xfrm>
            <a:off x="566928" y="3650208"/>
            <a:ext cx="11003280" cy="184251"/>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The audit’s own footnote to the Audit-Discipline Flags table: Explicitly-documented absences catalogued in the Coverage register: 27.</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THE TEN SUB-REGISTERS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The ten sub-registers, in the audit’s own order</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886296"/>
        </p:xfrm>
        <a:graphic>
          <a:graphicData uri="http://schemas.openxmlformats.org/drawingml/2006/table">
            <a:tbl>
              <a:tblPr>
                <a:tableStyleId>{5C22544A-7EE6-4342-B048-85BDC9FD1C3A}</a:tableStyleId>
              </a:tblPr>
              <a:tblGrid>
                <a:gridCol w="1370844"/>
                <a:gridCol w="9687300"/>
              </a:tblGrid>
              <a:tr h="240219">
                <a:tc>
                  <a:txBody>
                    <a:bodyPr wrap="square">
                      <a:noAutofit/>
                    </a:bodyPr>
                    <a:lstStyle/>
                    <a:p>
                      <a:pPr algn="l">
                        <a:lnSpc>
                          <a:spcPct val="106000"/>
                        </a:lnSpc>
                        <a:spcAft>
                          <a:spcPts val="0"/>
                        </a:spcAft>
                      </a:pPr>
                      <a:r>
                        <a:rPr sz="1100" b="1">
                          <a:solidFill>
                            <a:srgbClr val="333333"/>
                          </a:solidFill>
                          <a:latin typeface="Inter"/>
                        </a:rPr>
                        <a:t>Sub-register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Title, as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l">
                        <a:lnSpc>
                          <a:spcPct val="106000"/>
                        </a:lnSpc>
                        <a:spcAft>
                          <a:spcPts val="0"/>
                        </a:spcAft>
                      </a:pPr>
                      <a:r>
                        <a:rPr sz="1100" b="1">
                          <a:solidFill>
                            <a:srgbClr val="333333"/>
                          </a:solidFill>
                          <a:latin typeface="Fira Code"/>
                        </a:rPr>
                        <a:t>(1)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Indirect supporting-library register (AAP 0.3.1) — AC_Fence / AP_BattMonitor / AP_RCProtocol: non-PNT triggers whose failsafe action is PNT-gated, plus checked absences.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Cross-vehicle indirect safety-surface register (F16) — Rover / ArduSub failsafe, fence, and mode surfaces, each resolved to its catalogued numbered-table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AntennaTracker &amp; Blimp PNT-intersection register (F18; AAP 0.3.2 — included only where they observe / consume PNT): presence sites, per-mode gating, and checked absences.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1">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External-boundary dependency-edge register (AAP 0.4.1 — .gitmodules PNT-relevant vendored submodule boundaries): each boundary resolved to its catalogued PNT edge or publisher site, mirroring the mavlink / DroneCAN edge treatment. Non-inference discipline — every .gitmodules PNT edge is accounted for explicitly, none silently omitted.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1">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ArduPlane vehicle-dir indirect glue register (vehicle-symmetry completeness, AAP 0.3.1 / 0.6.1): ArduPlane failsafe-action and altitude-management glue that reacts to / consumes PNT state, mirroring the catalogued ArduCopter twins.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1">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AP_AHRS backend register (Navigation-hub completeness): the AP_AHRS frontend hub is catalogued in Table 2 / 2a; each concrete backend overrides the navigation accessors behind the hub.</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1">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Copter flight modes PNT-gating matrix — 29 files (21 PNT-relevant, 8 checked-absence). Predicate: requires_GPS().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1">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Plane flight modes PNT-gating matrix — 26 files (20 PNT-relevant, 6 checked-absence). Predicate: does_auto_navigation().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1">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Rover drive modes PNT-gating matrix — 14 files (11 PNT-relevant, 3 checked-absence). Predicate: requires_position().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1">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Sub flight modes PNT-gating matrix — 12 files (7 PNT-relevant, 5 checked-absence). Predicate: requires_GPS().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(1)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(1)</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91056"/>
            <a:ext cx="11003280" cy="381457"/>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Indirect supporting-library register (AAP 0.3.1) — AC_Fence / AP_BattMonitor / AP_RCProtocol: non-PNT triggers whose failsafe action is PNT-gated, plus checked absences.</a:t>
            </a:r>
          </a:p>
        </p:txBody>
      </p:sp>
      <p:graphicFrame>
        <p:nvGraphicFramePr>
          <p:cNvPr id="7" name="Table 6"/>
          <p:cNvGraphicFramePr>
            <a:graphicFrameLocks noGrp="1"/>
          </p:cNvGraphicFramePr>
          <p:nvPr/>
        </p:nvGraphicFramePr>
        <p:xfrm>
          <a:off x="566928" y="2063953"/>
          <a:ext cx="11058144" cy="3866569"/>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l">
                        <a:lnSpc>
                          <a:spcPct val="106000"/>
                        </a:lnSpc>
                        <a:spcAft>
                          <a:spcPts val="0"/>
                        </a:spcAft>
                      </a:pPr>
                      <a:r>
                        <a:rPr sz="1100" b="0">
                          <a:solidFill>
                            <a:srgbClr val="333333"/>
                          </a:solidFill>
                          <a:latin typeface="Fira Code"/>
                        </a:rPr>
                        <a:t>libraries/AC_Fence/ (AC_Fence::check + check_fence_polygon / check_fence_circle)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Catalogued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Reads vehicle position vs polygon / circle / altitude fence; position-dependent breach. Fully catalogued in the numbered tables (not an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libraries/AC_Fence/AC_Fence.cpp:679-843 · Table 4 #4-#8 / Table 4a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951012">
                <a:tc>
                  <a:txBody>
                    <a:bodyPr wrap="square">
                      <a:noAutofit/>
                    </a:bodyPr>
                    <a:lstStyle/>
                    <a:p>
                      <a:pPr algn="l">
                        <a:lnSpc>
                          <a:spcPct val="106000"/>
                        </a:lnSpc>
                        <a:spcAft>
                          <a:spcPts val="0"/>
                        </a:spcAft>
                      </a:pPr>
                      <a:r>
                        <a:rPr sz="1100" b="0">
                          <a:solidFill>
                            <a:srgbClr val="333333"/>
                          </a:solidFill>
                          <a:latin typeface="Fira Code"/>
                        </a:rPr>
                        <a:t>libraries/AP_BattMonitor/ (58 source files; AP_BattMonitor::check_failsafes)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Directory-wide token sweep found ZERO PNT reads (no ahrs. / gps. / get_location / position_ok / get_velocity_NED). Failsafe trigger is voltage / capacity only; PNT enters at the vehicle action layer, not here.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libraries/AP_BattMonitor/AP_BattMonitor.cpp:781 (check_failsafes) · action cross-ref ArduCopter/events.cpp:99-121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951012">
                <a:tc>
                  <a:txBody>
                    <a:bodyPr wrap="square">
                      <a:noAutofit/>
                    </a:bodyPr>
                    <a:lstStyle/>
                    <a:p>
                      <a:pPr algn="l">
                        <a:lnSpc>
                          <a:spcPct val="106000"/>
                        </a:lnSpc>
                        <a:spcAft>
                          <a:spcPts val="0"/>
                        </a:spcAft>
                      </a:pPr>
                      <a:r>
                        <a:rPr sz="1100" b="0">
                          <a:solidFill>
                            <a:srgbClr val="333333"/>
                          </a:solidFill>
                          <a:latin typeface="Fira Code"/>
                        </a:rPr>
                        <a:t>libraries/AP_RCProtocol/ (RC failsafe flag)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Token sweep found ZERO PNT reads. Failsafe is a boolean signal-present flag (failsafe_active); no position / nav / PNT-timing observation. PNT enters at the vehicle action layer.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libraries/AP_RCProtocol/AP_RCProtocol.h:126-130 (failsafe_active) · action cross-ref ArduCopter/events.cpp:99-121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951012">
                <a:tc>
                  <a:txBody>
                    <a:bodyPr wrap="square">
                      <a:noAutofit/>
                    </a:bodyPr>
                    <a:lstStyle/>
                    <a:p>
                      <a:pPr algn="l">
                        <a:lnSpc>
                          <a:spcPct val="106000"/>
                        </a:lnSpc>
                        <a:spcAft>
                          <a:spcPts val="0"/>
                        </a:spcAft>
                      </a:pPr>
                      <a:r>
                        <a:rPr sz="1100" b="0">
                          <a:solidFill>
                            <a:srgbClr val="333333"/>
                          </a:solidFill>
                          <a:latin typeface="Fira Code"/>
                        </a:rPr>
                        <a:t>ArduCopter/events.cpp (handle_battery_failsafe / radio / GCS FS action select)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PNT-reactive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Non-PNT trigger (battery / RC / GCS) but the chosen failsafe action (RTL / SmartRTL) is gated on position_ok and degrades to LAND when position is invalid — the relational PNT site for batt / RC / GCS failsafe.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ArduCopter/events.cpp:99-121 (do_failsafe_action BATTERY_FAILSAFE) · gate Table 4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(2)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(2)</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91056"/>
            <a:ext cx="11003280" cy="381457"/>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Cross-vehicle indirect safety-surface register (F16) — Rover / ArduSub failsafe, fence, and mode surfaces, each resolved to its catalogued numbered-table row.</a:t>
            </a:r>
          </a:p>
        </p:txBody>
      </p:sp>
      <p:graphicFrame>
        <p:nvGraphicFramePr>
          <p:cNvPr id="7" name="Table 6"/>
          <p:cNvGraphicFramePr>
            <a:graphicFrameLocks noGrp="1"/>
          </p:cNvGraphicFramePr>
          <p:nvPr/>
        </p:nvGraphicFramePr>
        <p:xfrm>
          <a:off x="566928" y="2063953"/>
          <a:ext cx="11058144" cy="2862901"/>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l">
                        <a:lnSpc>
                          <a:spcPct val="106000"/>
                        </a:lnSpc>
                        <a:spcAft>
                          <a:spcPts val="0"/>
                        </a:spcAft>
                      </a:pPr>
                      <a:r>
                        <a:rPr sz="1100" b="0">
                          <a:solidFill>
                            <a:srgbClr val="333333"/>
                          </a:solidFill>
                          <a:latin typeface="Fira Code"/>
                        </a:rPr>
                        <a:t>Rover/failsafe.cpp (Rover::failsafe_check main-loop watchdog)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Catalogued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Main-loop-lockup watchdog reading scheduler ticks + micros; 0.2 s trip → arming.disarm(CPUFAILSAFE). Catalogued, not an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Rover/failsafe.cpp:18-31 · Table 6 #3 / Table 6a #3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Rover/fence.cpp (Rover::fence_checks_async)</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Catalogued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Geofence position-vs-boundary check on a 100 ms (10 Hz) timing gate; position-dependent breach.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Rover/fence.cpp:6-14 · Table 6 #11 / Table 6a #11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0">
                          <a:solidFill>
                            <a:srgbClr val="333333"/>
                          </a:solidFill>
                          <a:latin typeface="Fira Code"/>
                        </a:rPr>
                        <a:t>ArduSub/failsafe.cpp (Sub::failsafe_ekf_check)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Catalogued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EKF-variance health watchdog with 2 s confirm + 20 s warn hysteresis.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ArduSub/failsafe.cpp:100-150 · Table 5 #4 / Table 6 #8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0">
                          <a:solidFill>
                            <a:srgbClr val="333333"/>
                          </a:solidFill>
                          <a:latin typeface="Fira Code"/>
                        </a:rPr>
                        <a:t>ArduSub/failsafe.cpp (Sub::mainloop_failsafe_check)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Catalogued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Main-loop-lockup watchdog (scheduler ticks + micros; 2 s → motors.output_min).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ArduSub/failsafe.cpp:29-55 · Table 6 #4 / Table 6a #4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ArduSub/mode*.cpp (12 files)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Catalogued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All 12 Sub mode files enumerated with per-file requires_GPS gating and checked absences in the Sub mode-gating matrix below.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ArduSub/mode.cpp:89-90 (set_mode gate) · Sub mode-gating matrix (this appendix)</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(3)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(3)</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91056"/>
            <a:ext cx="11003280" cy="381457"/>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AntennaTracker &amp; Blimp PNT-intersection register (F18; AAP 0.3.2 — included only where they observe / consume PNT): presence sites, per-mode gating, and checked absences.</a:t>
            </a:r>
          </a:p>
        </p:txBody>
      </p:sp>
      <p:graphicFrame>
        <p:nvGraphicFramePr>
          <p:cNvPr id="7" name="Table 6"/>
          <p:cNvGraphicFramePr>
            <a:graphicFrameLocks noGrp="1"/>
          </p:cNvGraphicFramePr>
          <p:nvPr/>
        </p:nvGraphicFramePr>
        <p:xfrm>
          <a:off x="566928" y="2063953"/>
          <a:ext cx="11058144" cy="3991613"/>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l">
                        <a:lnSpc>
                          <a:spcPct val="106000"/>
                        </a:lnSpc>
                        <a:spcAft>
                          <a:spcPts val="0"/>
                        </a:spcAft>
                      </a:pPr>
                      <a:r>
                        <a:rPr sz="1100" b="0">
                          <a:solidFill>
                            <a:srgbClr val="333333"/>
                          </a:solidFill>
                          <a:latin typeface="Fira Code"/>
                        </a:rPr>
                        <a:t>AntennaTracker/tracking.cpp (Tracker::update_vehicle_pos_estimate)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consumer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Reads vehicle.location and vehicle.vel and dead-reckons location_estimate (offset by vel times dt) to point the antenna. Direct PNT consumption (presence, not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AntennaTracker/tracking.cpp:7-26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AntennaTracker/mode_auto.cpp + mode_guided.cpp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PNT consumer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Auto / Guided pointing modes consume the tracked vehicle position / bearing to drive pitch and yaw. PNT-reactive.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AntennaTracker/mode_auto.cpp:5-10 · consumes tracking.cpp:7-26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AntennaTracker/mode_manual.cpp + mode_scan.cpp + mode_servotest.cpp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Manual / Scan / Servotest drive the antenna by stick / pattern / test only; token sweep found ZERO vehicle-position reads.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AntennaTracker/mode_servotest.cpp (0 PNT tokens) · mode_scan.cpp / mode_manual.cpp (0)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Blimp/mode.cpp (Blimp::set_mode position 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Gate enforcer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Rejects PNT modes when position invalid: requires_GPS() and not blimp.position_ok(). Same gate idiom as Copter / Sub.</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Blimp/mode.cpp:78-79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Blimp/mode_velocity.cpp (ModeVelocity)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requires_GPS()=true → needs a valid position / velocity estimate to enter.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Blimp/mode.h:181 (requires_GPS=true) · gate Blimp/mode.cpp:78-79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Blimp/mode_loiter.cpp (ModeLoiter)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requires_GPS()=true → position-gated.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Blimp/mode.h:226 (requires_GPS=true) · gate Blimp/mode.cpp:78-79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(3)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(3)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444984"/>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l">
                        <a:lnSpc>
                          <a:spcPct val="106000"/>
                        </a:lnSpc>
                        <a:spcAft>
                          <a:spcPts val="0"/>
                        </a:spcAft>
                      </a:pPr>
                      <a:r>
                        <a:rPr sz="1100" b="0">
                          <a:solidFill>
                            <a:srgbClr val="333333"/>
                          </a:solidFill>
                          <a:latin typeface="Fira Code"/>
                        </a:rPr>
                        <a:t>Blimp/mode_rtl.cpp (ModeRTL)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requires_GPS()=true → position-gated.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Blimp/mode.h:315 (requires_GPS=true) · gate Blimp/mode.cpp:78-79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0">
                          <a:solidFill>
                            <a:srgbClr val="333333"/>
                          </a:solidFill>
                          <a:latin typeface="Fira Code"/>
                        </a:rPr>
                        <a:t>Blimp/mode_manual.cpp (ModeManual)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requires_GPS()=false → no position gate; manual stick control.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Blimp/mode.h:138 (requires_GPS=false)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Blimp/mode_land.cpp (ModeLand)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requires_GPS()=false → no horizontal-position gate (descent uses non-PNT references). Checked absence for horizontal PNT.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Blimp/mode.h:271 (requires_GPS=false)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Blimp/failsafe.cpp (Blimp::failsafe_check watchdog)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Catalogued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Main-loop-lockup watchdog (scheduler ticks + micros; 2 s → output_min). Catalogued.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Blimp/failsafe.cpp:37-45 · Table 6 #5 / Table 6a #5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(4)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(4)</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91056"/>
            <a:ext cx="11003280" cy="575310"/>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External-boundary dependency-edge register (AAP 0.4.1 — .gitmodules PNT-relevant vendored submodule boundaries): each boundary resolved to its catalogued PNT edge or publisher site, mirroring the mavlink / DroneCAN edge treatment. Non-inference discipline — every .gitmodules PNT edge is accounted for explicitly, none silently omitted.</a:t>
            </a:r>
          </a:p>
        </p:txBody>
      </p:sp>
      <p:graphicFrame>
        <p:nvGraphicFramePr>
          <p:cNvPr id="7" name="Table 6"/>
          <p:cNvGraphicFramePr>
            <a:graphicFrameLocks noGrp="1"/>
          </p:cNvGraphicFramePr>
          <p:nvPr/>
        </p:nvGraphicFramePr>
        <p:xfrm>
          <a:off x="566928" y="2257806"/>
          <a:ext cx="11058144" cy="2737860"/>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128711">
                <a:tc>
                  <a:txBody>
                    <a:bodyPr wrap="square">
                      <a:noAutofit/>
                    </a:bodyPr>
                    <a:lstStyle/>
                    <a:p>
                      <a:pPr algn="l">
                        <a:lnSpc>
                          <a:spcPct val="106000"/>
                        </a:lnSpc>
                        <a:spcAft>
                          <a:spcPts val="0"/>
                        </a:spcAft>
                      </a:pPr>
                      <a:r>
                        <a:rPr sz="1100" b="0">
                          <a:solidFill>
                            <a:srgbClr val="333333"/>
                          </a:solidFill>
                          <a:latin typeface="Fira Code"/>
                        </a:rPr>
                        <a:t>modules/mavlink (MAVLink message definitions)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Catalogued (edge)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GPS_INPUT ingress (AP_GPS_MAV Source backend) and NAV_CONTROLLER_OUTPUT egress (navigation-health reporting to the GCS). PNT telemetry boundary — catalogued, not an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.gitmodules:7-9 · Table 1 (AP_GPS_MAV.cpp:67-75 handle_msg) · Table 5 (ArduPlane/GCS_MAVLink_Plane.cpp:204-212 send_nav_controller_output)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modules/DroneCAN/DSDL + libcanard (CAN-bus GNSS message definitions)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Catalogued (edge)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DroneCAN / UAVCAN Fix2 GNSS messages decoded into GPS_State. Positioning-source boundary — catalogued, not an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.gitmodules:19-32 · Table 1 (AP_GPS_DroneCAN.cpp:388-396 handle_fix2_msg)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l">
                        <a:lnSpc>
                          <a:spcPct val="106000"/>
                        </a:lnSpc>
                        <a:spcAft>
                          <a:spcPts val="0"/>
                        </a:spcAft>
                      </a:pPr>
                      <a:r>
                        <a:rPr sz="1100" b="0">
                          <a:solidFill>
                            <a:srgbClr val="333333"/>
                          </a:solidFill>
                          <a:latin typeface="Fira Code"/>
                        </a:rPr>
                        <a:t>modules/ChibiOS (RTOS low-level clock / tick primitives)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Catalogued (edge)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Board RTOS timer backs the AP_HAL::micros() / millis() monotonic-time primitives. Timing boundary — named explicitly here as the board-timer origin of Table 3a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.gitmodules:13-15 · Table 3 #1 (AP_HAL/system.h:15-20) · Table 3a #1 (RTOS / board-hardware-timer origin)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(4)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(4)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1724327"/>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484108">
                <a:tc>
                  <a:txBody>
                    <a:bodyPr wrap="square">
                      <a:noAutofit/>
                    </a:bodyPr>
                    <a:lstStyle/>
                    <a:p>
                      <a:pPr algn="l">
                        <a:lnSpc>
                          <a:spcPct val="106000"/>
                        </a:lnSpc>
                        <a:spcAft>
                          <a:spcPts val="0"/>
                        </a:spcAft>
                      </a:pPr>
                      <a:r>
                        <a:rPr sz="1100" b="0">
                          <a:solidFill>
                            <a:srgbClr val="333333"/>
                          </a:solidFill>
                          <a:latin typeface="Fira Code"/>
                        </a:rPr>
                        <a:t>modules/Micro-XRCE-DDS-Client + modules/Micro-CDR (DDS transport, AP_DDS → ROS2)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publisher (edge)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AP_DDS (AP_DDS_ENABLED=1 by default) reads PNT state and publishes it over the Micro-XRCE-DDS / Micro-CDR transport to ROS2: sensor_msgs/NavSatFix from gps.location() and geographic_msgs/GeoPoseStamped from ahrs.get_location(). PNT-egress boundary — same edge treatment as mavlink / DroneCAN.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.gitmodules:34-40 · libraries/AP_DDS/AP_DDS_Client.cpp:268-270 (NavSatFix ← gps.location) · :577-584 (GeoPose ← ahrs.get_location) · AP_DDS_config.h:11 (#define AP_DDS_ENABLED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(5)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(5)</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91056"/>
            <a:ext cx="11003280" cy="575310"/>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ArduPlane vehicle-dir indirect glue register (vehicle-symmetry completeness, AAP 0.3.1 / 0.6.1): ArduPlane failsafe-action and altitude-management glue that reacts to / consumes PNT state, mirroring the catalogued ArduCopter twins.</a:t>
            </a:r>
          </a:p>
        </p:txBody>
      </p:sp>
      <p:graphicFrame>
        <p:nvGraphicFramePr>
          <p:cNvPr id="7" name="Table 6"/>
          <p:cNvGraphicFramePr>
            <a:graphicFrameLocks noGrp="1"/>
          </p:cNvGraphicFramePr>
          <p:nvPr/>
        </p:nvGraphicFramePr>
        <p:xfrm>
          <a:off x="566928" y="2257806"/>
          <a:ext cx="11058144" cy="2497641"/>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1128711">
                <a:tc>
                  <a:txBody>
                    <a:bodyPr wrap="square">
                      <a:noAutofit/>
                    </a:bodyPr>
                    <a:lstStyle/>
                    <a:p>
                      <a:pPr algn="l">
                        <a:lnSpc>
                          <a:spcPct val="106000"/>
                        </a:lnSpc>
                        <a:spcAft>
                          <a:spcPts val="0"/>
                        </a:spcAft>
                      </a:pPr>
                      <a:r>
                        <a:rPr sz="1100" b="0">
                          <a:solidFill>
                            <a:srgbClr val="333333"/>
                          </a:solidFill>
                          <a:latin typeface="Fira Code"/>
                        </a:rPr>
                        <a:t>ArduPlane/events.cpp (Plane::handle_battery_failsafe / failsafe_long_on_event / failsafe_short_on_event)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PNT-reactive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Non-PNT trigger (battery / radio / GCS) but the chosen failsafe action is PNT-gated: handle_battery_failsafe reads plane.have_position and plane.current_loc to choose land-sequence continuation vs RTL. Direct Plane analog of the catalogued ArduCopter/events.cpp.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ArduPlane/events.cpp:290-300 (have_position / current_loc land-sequence gate; def @265) · symmetric with ArduCopter/events.cpp:99-121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1128711">
                <a:tc>
                  <a:txBody>
                    <a:bodyPr wrap="square">
                      <a:noAutofit/>
                    </a:bodyPr>
                    <a:lstStyle/>
                    <a:p>
                      <a:pPr algn="l">
                        <a:lnSpc>
                          <a:spcPct val="106000"/>
                        </a:lnSpc>
                        <a:spcAft>
                          <a:spcPts val="0"/>
                        </a:spcAft>
                      </a:pPr>
                      <a:r>
                        <a:rPr sz="1100" b="0">
                          <a:solidFill>
                            <a:srgbClr val="333333"/>
                          </a:solidFill>
                          <a:latin typeface="Fira Code"/>
                        </a:rPr>
                        <a:t>ArduPlane/altitude.cpp (Plane::setup_alt_slope / check_home_alt_change)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PNT consumer (Sink)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Positioning Sink: re-reads already-catalogued PNT state — current_loc.get_distance() / line_path_proportion() (AHRS get_location, Table 2) and ahrs.get_home() — to derive the glide slope and altitude target. Consumes, does not produce, PNT.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ArduPlane/altitude.cpp:48-55 (setup_alt_slope current_loc distance) · :31-43 (check_home_alt_change ahrs.get_home) · :109 &amp; :202 (current_loc.alt)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(6)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(6)</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91056"/>
            <a:ext cx="11003280" cy="381457"/>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AP_AHRS backend register (Navigation-hub completeness): the AP_AHRS frontend hub is catalogued in Table 2 / 2a; each concrete backend overrides the navigation accessors behind the hub.</a:t>
            </a:r>
          </a:p>
        </p:txBody>
      </p:sp>
      <p:graphicFrame>
        <p:nvGraphicFramePr>
          <p:cNvPr id="7" name="Table 6"/>
          <p:cNvGraphicFramePr>
            <a:graphicFrameLocks noGrp="1"/>
          </p:cNvGraphicFramePr>
          <p:nvPr/>
        </p:nvGraphicFramePr>
        <p:xfrm>
          <a:off x="566928" y="2063953"/>
          <a:ext cx="11058144" cy="2560161"/>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l">
                        <a:lnSpc>
                          <a:spcPct val="106000"/>
                        </a:lnSpc>
                        <a:spcAft>
                          <a:spcPts val="0"/>
                        </a:spcAft>
                      </a:pPr>
                      <a:r>
                        <a:rPr sz="1100" b="0">
                          <a:solidFill>
                            <a:srgbClr val="333333"/>
                          </a:solidFill>
                          <a:latin typeface="Fira Code"/>
                        </a:rPr>
                        <a:t>AP_AHRS_DCM (libraries/AP_AHRS/AP_AHRS_DCM.cpp)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Catalogued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Legacy DCM estimator backend; overrides get_location / groundspeed. Cited in the numbered Navigation tables alongside the hub.</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libraries/AP_AHRS/AP_AHRS_DCM.cpp · Table 2 / Table 2a (AHRS hub + DCM)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951012">
                <a:tc>
                  <a:txBody>
                    <a:bodyPr wrap="square">
                      <a:noAutofit/>
                    </a:bodyPr>
                    <a:lstStyle/>
                    <a:p>
                      <a:pPr algn="l">
                        <a:lnSpc>
                          <a:spcPct val="106000"/>
                        </a:lnSpc>
                        <a:spcAft>
                          <a:spcPts val="0"/>
                        </a:spcAft>
                      </a:pPr>
                      <a:r>
                        <a:rPr sz="1100" b="0">
                          <a:solidFill>
                            <a:srgbClr val="333333"/>
                          </a:solidFill>
                          <a:latin typeface="Fira Code"/>
                        </a:rPr>
                        <a:t>AP_AHRS_External (libraries/AP_AHRS/AP_AHRS_External.cpp)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PNT backend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External-AHRS backend feeding the hub from an external INS; overrides the position accessor (get_origin). Navigation Source backend behind the AP_AHRS frontend.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libraries/AP_AHRS/AP_AHRS_External.cpp:128 (get_origin) · AP_AHRS_External.h:30 (class : public AP_AHRS_Backend)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l">
                        <a:lnSpc>
                          <a:spcPct val="106000"/>
                        </a:lnSpc>
                        <a:spcAft>
                          <a:spcPts val="0"/>
                        </a:spcAft>
                      </a:pPr>
                      <a:r>
                        <a:rPr sz="1100" b="0">
                          <a:solidFill>
                            <a:srgbClr val="333333"/>
                          </a:solidFill>
                          <a:latin typeface="Fira Code"/>
                        </a:rPr>
                        <a:t>AP_AHRS_SIM (libraries/AP_AHRS/AP_AHRS_SIM.cpp)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backend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SITL simulation backend supplying simulated navigation state to the hub; overrides get_location / get_origin. Navigation Source backend behind the AP_AHRS frontend.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libraries/AP_AHRS/AP_AHRS_SIM.cpp:7 (get_location) · :194 (get_origin) · AP_AHRS_SIM.h:37 (class : public AP_AHRS_Backend)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(7)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(7)</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91056"/>
            <a:ext cx="11003280" cy="187604"/>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Copter flight modes PNT-gating matrix — 29 files (21 PNT-relevant, 8 checked-absence). Predicate: requires_GPS().</a:t>
            </a:r>
          </a:p>
        </p:txBody>
      </p:sp>
      <p:graphicFrame>
        <p:nvGraphicFramePr>
          <p:cNvPr id="7" name="Table 6"/>
          <p:cNvGraphicFramePr>
            <a:graphicFrameLocks noGrp="1"/>
          </p:cNvGraphicFramePr>
          <p:nvPr/>
        </p:nvGraphicFramePr>
        <p:xfrm>
          <a:off x="566928" y="1870100"/>
          <a:ext cx="11058144" cy="4169311"/>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l">
                        <a:lnSpc>
                          <a:spcPct val="106000"/>
                        </a:lnSpc>
                        <a:spcAft>
                          <a:spcPts val="0"/>
                        </a:spcAft>
                      </a:pPr>
                      <a:r>
                        <a:rPr sz="1100" b="0">
                          <a:solidFill>
                            <a:srgbClr val="333333"/>
                          </a:solidFill>
                          <a:latin typeface="Fira Code"/>
                        </a:rPr>
                        <a:t>mode.cpp (Copter::set_mode() position 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Gate enforcer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new_flightmode-&gt;requires_GPS() &amp;&amp; !copter.position_ok() rejects PNT modes when position invalid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ArduCopter/mode.cpp:303-307 · Table 4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mode_acro.cpp (ModeAcro)</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ArduCopter/mode.h:428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mode_acro_heli.cpp (ModeAcro_Heli)</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ArduCopter/mode.h:428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l">
                        <a:lnSpc>
                          <a:spcPct val="106000"/>
                        </a:lnSpc>
                        <a:spcAft>
                          <a:spcPts val="0"/>
                        </a:spcAft>
                      </a:pPr>
                      <a:r>
                        <a:rPr sz="1100" b="0">
                          <a:solidFill>
                            <a:srgbClr val="333333"/>
                          </a:solidFill>
                          <a:latin typeface="Fira Code"/>
                        </a:rPr>
                        <a:t>mode_althold.cpp (ModeAltHold)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requires_GPS()=false, but consumes PNT here (pos_control ×9;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ArduCopter/mode.h:484 · use ArduCopter/mode_althold.cpp:13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l">
                        <a:lnSpc>
                          <a:spcPct val="106000"/>
                        </a:lnSpc>
                        <a:spcAft>
                          <a:spcPts val="0"/>
                        </a:spcAft>
                      </a:pPr>
                      <a:r>
                        <a:rPr sz="1100" b="0">
                          <a:solidFill>
                            <a:srgbClr val="333333"/>
                          </a:solidFill>
                          <a:latin typeface="Fira Code"/>
                        </a:rPr>
                        <a:t>mode_auto.cpp (ModeAuto)</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requires_GPS()=true (conditional: all sub-modes except NAV_ATTITUDE_TIME)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ArduCopter/mode_auto.cpp:178 · use ArduCopter/mode_auto.cpp:42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mode_autorotate.cpp (ModeAutorotate)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ArduCopter/mode.h:2047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(7)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(7)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347008"/>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l">
                        <a:lnSpc>
                          <a:spcPct val="106000"/>
                        </a:lnSpc>
                        <a:spcAft>
                          <a:spcPts val="0"/>
                        </a:spcAft>
                      </a:pPr>
                      <a:r>
                        <a:rPr sz="1100" b="0">
                          <a:solidFill>
                            <a:srgbClr val="333333"/>
                          </a:solidFill>
                          <a:latin typeface="Fira Code"/>
                        </a:rPr>
                        <a:t>mode_autotune.cpp (ModeAutoTune)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requires_GPS()=false, but consumes PNT here (pos_control ×5;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ArduCopter/mode.h:829 · use ArduCopter/mode_autotune.cpp:31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0">
                          <a:solidFill>
                            <a:srgbClr val="333333"/>
                          </a:solidFill>
                          <a:latin typeface="Fira Code"/>
                        </a:rPr>
                        <a:t>mode_avoid_adsb.cpp (ModeAvoidADSB)</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ArduCopter/mode.h:1888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l">
                        <a:lnSpc>
                          <a:spcPct val="106000"/>
                        </a:lnSpc>
                        <a:spcAft>
                          <a:spcPts val="0"/>
                        </a:spcAft>
                      </a:pPr>
                      <a:r>
                        <a:rPr sz="1100" b="0">
                          <a:solidFill>
                            <a:srgbClr val="333333"/>
                          </a:solidFill>
                          <a:latin typeface="Fira Code"/>
                        </a:rPr>
                        <a:t>mode_brake.cpp (ModeBrake)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ArduCopter/mode.h:854 · use ArduCopter/mode_brake.cpp:13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l">
                        <a:lnSpc>
                          <a:spcPct val="106000"/>
                        </a:lnSpc>
                        <a:spcAft>
                          <a:spcPts val="0"/>
                        </a:spcAft>
                      </a:pPr>
                      <a:r>
                        <a:rPr sz="1100" b="0">
                          <a:solidFill>
                            <a:srgbClr val="333333"/>
                          </a:solidFill>
                          <a:latin typeface="Fira Code"/>
                        </a:rPr>
                        <a:t>mode_circle.cpp (ModeCircle)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ArduCopter/mode.h:884 · use ArduCopter/mode_circle.cpp:16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l">
                        <a:lnSpc>
                          <a:spcPct val="106000"/>
                        </a:lnSpc>
                        <a:spcAft>
                          <a:spcPts val="0"/>
                        </a:spcAft>
                      </a:pPr>
                      <a:r>
                        <a:rPr sz="1100" b="0">
                          <a:solidFill>
                            <a:srgbClr val="333333"/>
                          </a:solidFill>
                          <a:latin typeface="Fira Code"/>
                        </a:rPr>
                        <a:t>mode_drift.cpp (ModeDrift)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ArduCopter/mode.h:914 · use ArduCopter/mode_drift.cpp:54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mode_flip.cpp (ModeFlip)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ArduCopter/mode.h:942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(7)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(7)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347008"/>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l">
                        <a:lnSpc>
                          <a:spcPct val="106000"/>
                        </a:lnSpc>
                        <a:spcAft>
                          <a:spcPts val="0"/>
                        </a:spcAft>
                      </a:pPr>
                      <a:r>
                        <a:rPr sz="1100" b="0">
                          <a:solidFill>
                            <a:srgbClr val="333333"/>
                          </a:solidFill>
                          <a:latin typeface="Fira Code"/>
                        </a:rPr>
                        <a:t>mode_flowhold.cpp (ModeFlowHold)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requires_GPS()=false, but consumes PNT here (pos_control ×12;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ArduCopter/mode.h:989 · use ArduCopter/mode_flowhold.cpp:92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l">
                        <a:lnSpc>
                          <a:spcPct val="106000"/>
                        </a:lnSpc>
                        <a:spcAft>
                          <a:spcPts val="0"/>
                        </a:spcAft>
                      </a:pPr>
                      <a:r>
                        <a:rPr sz="1100" b="0">
                          <a:solidFill>
                            <a:srgbClr val="333333"/>
                          </a:solidFill>
                          <a:latin typeface="Fira Code"/>
                        </a:rPr>
                        <a:t>mode_follow.cpp (ModeFollow)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ArduCopter/mode.h:1918 · use ArduCopter/mode_follow.cpp:33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l">
                        <a:lnSpc>
                          <a:spcPct val="106000"/>
                        </a:lnSpc>
                        <a:spcAft>
                          <a:spcPts val="0"/>
                        </a:spcAft>
                      </a:pPr>
                      <a:r>
                        <a:rPr sz="1100" b="0">
                          <a:solidFill>
                            <a:srgbClr val="333333"/>
                          </a:solidFill>
                          <a:latin typeface="Fira Code"/>
                        </a:rPr>
                        <a:t>mode_guided.cpp (ModeGuided)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ArduCopter/mode.h:1077 · use ArduCopter/mode_guided.cpp:77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0">
                          <a:solidFill>
                            <a:srgbClr val="333333"/>
                          </a:solidFill>
                          <a:latin typeface="Fira Code"/>
                        </a:rPr>
                        <a:t>mode_guided_custom.cpp (ModeGuidedCustom)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ArduCopter/mode.h:1077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mode_guided_nogps.cpp (ModeGuidedNoGPS)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ArduCopter/mode.h:1253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l">
                        <a:lnSpc>
                          <a:spcPct val="106000"/>
                        </a:lnSpc>
                        <a:spcAft>
                          <a:spcPts val="0"/>
                        </a:spcAft>
                      </a:pPr>
                      <a:r>
                        <a:rPr sz="1100" b="0">
                          <a:solidFill>
                            <a:srgbClr val="333333"/>
                          </a:solidFill>
                          <a:latin typeface="Fira Code"/>
                        </a:rPr>
                        <a:t>mode_land.cpp (ModeLand)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requires_GPS()=false, but consumes PNT here (position_ok ×9;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ArduCopter/mode.h:1277 · use ArduCopter/mode_land.cpp:7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(7)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(7)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106789"/>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773314">
                <a:tc>
                  <a:txBody>
                    <a:bodyPr wrap="square">
                      <a:noAutofit/>
                    </a:bodyPr>
                    <a:lstStyle/>
                    <a:p>
                      <a:pPr algn="l">
                        <a:lnSpc>
                          <a:spcPct val="106000"/>
                        </a:lnSpc>
                        <a:spcAft>
                          <a:spcPts val="0"/>
                        </a:spcAft>
                      </a:pPr>
                      <a:r>
                        <a:rPr sz="1100" b="0">
                          <a:solidFill>
                            <a:srgbClr val="333333"/>
                          </a:solidFill>
                          <a:latin typeface="Fira Code"/>
                        </a:rPr>
                        <a:t>mode_loiter.cpp (ModeLoiter)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ArduCopter/mode.h:1323 · use ArduCopter/mode_loiter.cpp:17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l">
                        <a:lnSpc>
                          <a:spcPct val="106000"/>
                        </a:lnSpc>
                        <a:spcAft>
                          <a:spcPts val="0"/>
                        </a:spcAft>
                      </a:pPr>
                      <a:r>
                        <a:rPr sz="1100" b="0">
                          <a:solidFill>
                            <a:srgbClr val="333333"/>
                          </a:solidFill>
                          <a:latin typeface="Fira Code"/>
                        </a:rPr>
                        <a:t>mode_poshold.cpp (ModePosHold)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ArduCopter/mode.h:1373 · use ArduCopter/mode_poshold.cpp:28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l">
                        <a:lnSpc>
                          <a:spcPct val="106000"/>
                        </a:lnSpc>
                        <a:spcAft>
                          <a:spcPts val="0"/>
                        </a:spcAft>
                      </a:pPr>
                      <a:r>
                        <a:rPr sz="1100" b="0">
                          <a:solidFill>
                            <a:srgbClr val="333333"/>
                          </a:solidFill>
                          <a:latin typeface="Fira Code"/>
                        </a:rPr>
                        <a:t>mode_rtl.cpp (ModeRTL)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ArduCopter/mode.h:1461 · use ArduCopter/mode_rtl.cpp:21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l">
                        <a:lnSpc>
                          <a:spcPct val="106000"/>
                        </a:lnSpc>
                        <a:spcAft>
                          <a:spcPts val="0"/>
                        </a:spcAft>
                      </a:pPr>
                      <a:r>
                        <a:rPr sz="1100" b="0">
                          <a:solidFill>
                            <a:srgbClr val="333333"/>
                          </a:solidFill>
                          <a:latin typeface="Fira Code"/>
                        </a:rPr>
                        <a:t>mode_smart_rtl.cpp (ModeSmartRTL)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ArduCopter/mode.h:1577 · use ArduCopter/mode_smart_rtl.cpp:16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l">
                        <a:lnSpc>
                          <a:spcPct val="106000"/>
                        </a:lnSpc>
                        <a:spcAft>
                          <a:spcPts val="0"/>
                        </a:spcAft>
                      </a:pPr>
                      <a:r>
                        <a:rPr sz="1100" b="0">
                          <a:solidFill>
                            <a:srgbClr val="333333"/>
                          </a:solidFill>
                          <a:latin typeface="Fira Code"/>
                        </a:rPr>
                        <a:t>mode_sport.cpp (ModeSport)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requires_GPS()=false, but consumes PNT here (pos_control ×9;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ArduCopter/mode.h:1637 · use ArduCopter/mode_sport.cpp:13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(7)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(7)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347009"/>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l">
                        <a:lnSpc>
                          <a:spcPct val="106000"/>
                        </a:lnSpc>
                        <a:spcAft>
                          <a:spcPts val="0"/>
                        </a:spcAft>
                      </a:pPr>
                      <a:r>
                        <a:rPr sz="1100" b="0">
                          <a:solidFill>
                            <a:srgbClr val="333333"/>
                          </a:solidFill>
                          <a:latin typeface="Fira Code"/>
                        </a:rPr>
                        <a:t>mode_stabilize.cpp (ModeStabilize)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ArduCopter/mode.h:1664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mode_stabilize_heli.cpp (ModeStabilize_Heli)</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ArduCopter/mode.h:1664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773314">
                <a:tc>
                  <a:txBody>
                    <a:bodyPr wrap="square">
                      <a:noAutofit/>
                    </a:bodyPr>
                    <a:lstStyle/>
                    <a:p>
                      <a:pPr algn="l">
                        <a:lnSpc>
                          <a:spcPct val="106000"/>
                        </a:lnSpc>
                        <a:spcAft>
                          <a:spcPts val="0"/>
                        </a:spcAft>
                      </a:pPr>
                      <a:r>
                        <a:rPr sz="1100" b="0">
                          <a:solidFill>
                            <a:srgbClr val="333333"/>
                          </a:solidFill>
                          <a:latin typeface="Fira Code"/>
                        </a:rPr>
                        <a:t>mode_systemid.cpp (ModeSystemId)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requires_GPS()=false, but consumes PNT here (pos_control ×22;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ArduCopter/mode.h:1712 · use ArduCopter/mode_systemid.cpp:115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l">
                        <a:lnSpc>
                          <a:spcPct val="106000"/>
                        </a:lnSpc>
                        <a:spcAft>
                          <a:spcPts val="0"/>
                        </a:spcAft>
                      </a:pPr>
                      <a:r>
                        <a:rPr sz="1100" b="0">
                          <a:solidFill>
                            <a:srgbClr val="333333"/>
                          </a:solidFill>
                          <a:latin typeface="Fira Code"/>
                        </a:rPr>
                        <a:t>mode_throw.cpp (ModeThrow)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ArduCopter/mode.h:1791 · use ArduCopter/mode_throw.cpp:23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mode_turtle.cpp (ModeTurtle)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ArduCopter/mode.h:1849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l">
                        <a:lnSpc>
                          <a:spcPct val="106000"/>
                        </a:lnSpc>
                        <a:spcAft>
                          <a:spcPts val="0"/>
                        </a:spcAft>
                      </a:pPr>
                      <a:r>
                        <a:rPr sz="1100" b="0">
                          <a:solidFill>
                            <a:srgbClr val="333333"/>
                          </a:solidFill>
                          <a:latin typeface="Fira Code"/>
                        </a:rPr>
                        <a:t>mode_zigzag.cpp (ModeZigZag)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ArduCopter/mode.h:1967 · use ArduCopter/mode_zigzag.cpp:75 · gate Table 4 #2 (ArduCopter/mode.cpp:303-307)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(8)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(8)</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91056"/>
            <a:ext cx="11003280" cy="381457"/>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Plane flight modes PNT-gating matrix — 26 files (20 PNT-relevant, 6 checked-absence). Predicate: does_auto_navigation().</a:t>
            </a:r>
          </a:p>
        </p:txBody>
      </p:sp>
      <p:graphicFrame>
        <p:nvGraphicFramePr>
          <p:cNvPr id="7" name="Table 6"/>
          <p:cNvGraphicFramePr>
            <a:graphicFrameLocks noGrp="1"/>
          </p:cNvGraphicFramePr>
          <p:nvPr/>
        </p:nvGraphicFramePr>
        <p:xfrm>
          <a:off x="566928" y="2063953"/>
          <a:ext cx="11058144" cy="3636216"/>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l">
                        <a:lnSpc>
                          <a:spcPct val="106000"/>
                        </a:lnSpc>
                        <a:spcAft>
                          <a:spcPts val="0"/>
                        </a:spcAft>
                      </a:pPr>
                      <a:r>
                        <a:rPr sz="1100" b="0">
                          <a:solidFill>
                            <a:srgbClr val="333333"/>
                          </a:solidFill>
                          <a:latin typeface="Fira Code"/>
                        </a:rPr>
                        <a:t>mode.cpp (Plane::set_mode() / mode enter)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Gate enforcer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does_auto_navigation() consulted; nav modes consume EKF/AHRS nav state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mode_LoiterAltQLand.cpp (ModeLoiterAltQLand)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does_auto_navigation()=true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ArduPlane/mode.h:427 · use ArduPlane/mode_LoiterAltQLand.cpp:8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mode_acro.cpp (ModeAcro)</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does_auto_navigation()=false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mode_auto.cpp (ModeAuto)</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does_auto_navigation()=true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ArduPlane/mode_auto.cpp:137 · use ArduPlane/mode_auto.cpp:10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mode_autoland.cpp (ModeAutoLand)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does_auto_navigation()=true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ArduPlane/mode.h:957 · use ArduPlane/mode_autoland.cpp:79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mode_autotune.cpp (ModeAutoTune)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does_auto_navigation()=false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(8)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(8)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409531"/>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l">
                        <a:lnSpc>
                          <a:spcPct val="106000"/>
                        </a:lnSpc>
                        <a:spcAft>
                          <a:spcPts val="0"/>
                        </a:spcAft>
                      </a:pPr>
                      <a:r>
                        <a:rPr sz="1100" b="0">
                          <a:solidFill>
                            <a:srgbClr val="333333"/>
                          </a:solidFill>
                          <a:latin typeface="Fira Code"/>
                        </a:rPr>
                        <a:t>mode_avoidADSB.cpp (ModeAvoidADSB)</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does_auto_navigation()=false, but consumes PNT here (update_loiter ×1;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use ArduPlane/mode_avoidADSB.cpp:19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mode_circle.cpp (ModeCircle)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does_auto_navigation()=true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ArduPlane/mode.h:399 · use ArduPlane/mode_circle.cpp:7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mode_cruise.cpp (ModeCruise)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does_auto_navigation()=false, but consumes PNT here (prev_WP_loc ×4;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use ArduPlane/mode_cruise.cpp:83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mode_fbwa.cpp (ModeFBWA)</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does_auto_navigation()=false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mode_fbwb.cpp (ModeFBWB)</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does_auto_navigation()=false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mode_guided.cpp (ModeGuided)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does_auto_navigation()=true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ArduPlane/mode.h:360 · use ArduPlane/mode_guided.cpp:11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mode_loiter.cpp (ModeLoiter)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does_auto_navigation()=true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ArduPlane/mode.h:427 · use ArduPlane/mode_loiter.cpp:7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(8)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(8)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409531"/>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l">
                        <a:lnSpc>
                          <a:spcPct val="106000"/>
                        </a:lnSpc>
                        <a:spcAft>
                          <a:spcPts val="0"/>
                        </a:spcAft>
                      </a:pPr>
                      <a:r>
                        <a:rPr sz="1100" b="0">
                          <a:solidFill>
                            <a:srgbClr val="333333"/>
                          </a:solidFill>
                          <a:latin typeface="Fira Code"/>
                        </a:rPr>
                        <a:t>mode_manual.cpp (ModeManual)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does_auto_navigation()=false, but consumes PNT here (quadplane. ×1;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use ArduPlane/mode_manual.cpp:26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mode_qacro.cpp (ModeQAcro)</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does_auto_navigation()=false, but consumes PNT here (quadplane. ×16;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use ArduPlane/mode_qacro.cpp:8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mode_qautotune.cpp (ModeQAutotune)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does_auto_navigation()=false, but consumes PNT here (quadplane. ×4;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use ArduPlane/mode_qautotune.cpp:11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mode_qhover.cpp (ModeQHover)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does_auto_navigation()=false, but consumes PNT here (pos_control ×13;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use ArduPlane/mode_qhover.cpp:9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mode_qland.cpp (ModeQLand)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does_auto_navigation()=false, but consumes PNT here (quadplane. ×5;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use ArduPlane/mode_qland.cpp:9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mode_qloiter.cpp (ModeQLoiter)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does_auto_navigation()=false, but consumes PNT here (loiter_nav ×52;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use ArduPlane/mode_qloiter.cpp:9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mode_qrtl.cpp (ModeQRTL)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does_auto_navigation()=false, but consumes PNT here (quadplane. ×47;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use ArduPlane/mode_qrtl.cpp:10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(8)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(8)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813915"/>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l">
                        <a:lnSpc>
                          <a:spcPct val="106000"/>
                        </a:lnSpc>
                        <a:spcAft>
                          <a:spcPts val="0"/>
                        </a:spcAft>
                      </a:pPr>
                      <a:r>
                        <a:rPr sz="1100" b="0">
                          <a:solidFill>
                            <a:srgbClr val="333333"/>
                          </a:solidFill>
                          <a:latin typeface="Fira Code"/>
                        </a:rPr>
                        <a:t>mode_qstabilize.cpp (ModeQStabilize)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does_auto_navigation()=false, but consumes PNT here (quadplane. ×19;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use ArduPlane/mode_qstabilize.cpp:8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mode_rtl.cpp (ModeRTL)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does_auto_navigation()=true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ArduPlane/mode.h:507 · use ArduPlane/mode_rtl.cpp:6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mode_stabilize.cpp (ModeStabilize)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does_auto_navigation()=false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mode_takeoff.cpp (ModeTakeoff)</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does_auto_navigation()=true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ArduPlane/mode.h:909 · use ArduPlane/mode_takeoff.cpp:74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mode_thermal.cpp (ModeThermal)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does_auto_navigation()=true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ArduPlane/mode.h:1025 · use ArduPlane/mode_thermal.cpp:16 · 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mode_training.cpp (ModeTraining)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does_auto_navigation()=false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gate ArduPlane/mode.cpp:144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(9)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(9)</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91056"/>
            <a:ext cx="11003280" cy="187604"/>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Rover drive modes PNT-gating matrix — 14 files (11 PNT-relevant, 3 checked-absence). Predicate: requires_position().</a:t>
            </a:r>
          </a:p>
        </p:txBody>
      </p:sp>
      <p:graphicFrame>
        <p:nvGraphicFramePr>
          <p:cNvPr id="7" name="Table 6"/>
          <p:cNvGraphicFramePr>
            <a:graphicFrameLocks noGrp="1"/>
          </p:cNvGraphicFramePr>
          <p:nvPr/>
        </p:nvGraphicFramePr>
        <p:xfrm>
          <a:off x="566928" y="1870100"/>
          <a:ext cx="11058144" cy="4356870"/>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l">
                        <a:lnSpc>
                          <a:spcPct val="106000"/>
                        </a:lnSpc>
                        <a:spcAft>
                          <a:spcPts val="0"/>
                        </a:spcAft>
                      </a:pPr>
                      <a:r>
                        <a:rPr sz="1100" b="0">
                          <a:solidFill>
                            <a:srgbClr val="333333"/>
                          </a:solidFill>
                          <a:latin typeface="Fira Code"/>
                        </a:rPr>
                        <a:t>mode.cpp (Mode::enter() position 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Gate enforcer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rover.ekf_position_ok() &amp;&amp; requires_position()/requires_velocity() gate entry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Rover/mode.cpp:32-38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mode_acro.cpp (ModeAcro)</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requires_position()=false, but consumes PNT here (wp_nav ×1;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Rover/mode.h:235 · use Rover/mode_acro.cpp:37 · gate Rover/mode.cpp:32-38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0">
                          <a:solidFill>
                            <a:srgbClr val="333333"/>
                          </a:solidFill>
                          <a:latin typeface="Fira Code"/>
                        </a:rPr>
                        <a:t>mode_auto.cpp (ModeAuto)</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requires_position()=true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use Rover/mode_auto.cpp:14 · gate Rover/mode.cpp:32-38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0">
                          <a:solidFill>
                            <a:srgbClr val="333333"/>
                          </a:solidFill>
                          <a:latin typeface="Fira Code"/>
                        </a:rPr>
                        <a:t>mode_circle.cpp (ModeCircle)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requires_position()=true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use Rover/mode_circle.cpp:85 · gate Rover/mode.cpp:32-38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0">
                          <a:solidFill>
                            <a:srgbClr val="333333"/>
                          </a:solidFill>
                          <a:latin typeface="Fira Code"/>
                        </a:rPr>
                        <a:t>mode_dock.cpp (ModeDock)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requires_position()=true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use Rover/mode_dock.cpp:75 · gate Rover/mode.cpp:32-38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0">
                          <a:solidFill>
                            <a:srgbClr val="333333"/>
                          </a:solidFill>
                          <a:latin typeface="Fira Code"/>
                        </a:rPr>
                        <a:t>mode_follow.cpp (ModeFollow)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requires_position()=true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use Rover/mode_follow.cpp:12 · gate Rover/mode.cpp:32-38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0">
                          <a:solidFill>
                            <a:srgbClr val="333333"/>
                          </a:solidFill>
                          <a:latin typeface="Fira Code"/>
                        </a:rPr>
                        <a:t>mode_guided.cpp (ModeGuided)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requires_position()=true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use Rover/mode_guided.cpp:15 · gate Rover/mode.cpp:32-38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mode_hold.cpp (ModeHold)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requires_position()=false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Rover/mode.h:630 · gate Rover/mode.cpp:32-38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0">
                          <a:solidFill>
                            <a:srgbClr val="333333"/>
                          </a:solidFill>
                          <a:latin typeface="Fira Code"/>
                        </a:rPr>
                        <a:t>mode_loiter.cpp (ModeLoiter)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requires_position()=true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use Rover/mode_loiter.cpp:6 · gate Rover/mode.cpp:32-38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(9)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(9)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2685202"/>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l">
                        <a:lnSpc>
                          <a:spcPct val="106000"/>
                        </a:lnSpc>
                        <a:spcAft>
                          <a:spcPts val="0"/>
                        </a:spcAft>
                      </a:pPr>
                      <a:r>
                        <a:rPr sz="1100" b="0">
                          <a:solidFill>
                            <a:srgbClr val="333333"/>
                          </a:solidFill>
                          <a:latin typeface="Fira Code"/>
                        </a:rPr>
                        <a:t>mode_manual.cpp (ModeManual)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requires_position()=false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Rover/mode.h:681 · gate Rover/mode.cpp:32-38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0">
                          <a:solidFill>
                            <a:srgbClr val="333333"/>
                          </a:solidFill>
                          <a:latin typeface="Fira Code"/>
                        </a:rPr>
                        <a:t>mode_rtl.cpp (ModeRTL)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requires_position()=true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use Rover/mode_rtl.cpp:11 · gate Rover/mode.cpp:32-38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417917">
                <a:tc>
                  <a:txBody>
                    <a:bodyPr wrap="square">
                      <a:noAutofit/>
                    </a:bodyPr>
                    <a:lstStyle/>
                    <a:p>
                      <a:pPr algn="l">
                        <a:lnSpc>
                          <a:spcPct val="106000"/>
                        </a:lnSpc>
                        <a:spcAft>
                          <a:spcPts val="0"/>
                        </a:spcAft>
                      </a:pPr>
                      <a:r>
                        <a:rPr sz="1100" b="0">
                          <a:solidFill>
                            <a:srgbClr val="333333"/>
                          </a:solidFill>
                          <a:latin typeface="Fira Code"/>
                        </a:rPr>
                        <a:t>mode_simple.cpp (ModeSimple)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requires_position()=true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gate Rover/mode.cpp:32-38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417917">
                <a:tc>
                  <a:txBody>
                    <a:bodyPr wrap="square">
                      <a:noAutofit/>
                    </a:bodyPr>
                    <a:lstStyle/>
                    <a:p>
                      <a:pPr algn="l">
                        <a:lnSpc>
                          <a:spcPct val="106000"/>
                        </a:lnSpc>
                        <a:spcAft>
                          <a:spcPts val="0"/>
                        </a:spcAft>
                      </a:pPr>
                      <a:r>
                        <a:rPr sz="1100" b="0">
                          <a:solidFill>
                            <a:srgbClr val="333333"/>
                          </a:solidFill>
                          <a:latin typeface="Fira Code"/>
                        </a:rPr>
                        <a:t>mode_smart_rtl.cpp (ModeSmartRTL)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requires_position()=true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use Rover/mode_smart_rtl.cpp:17 · gate Rover/mode.cpp:32-38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mode_steering.cpp (ModeSteering)</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requires_position()=false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Rover/mode.h:785 · gate Rover/mode.cpp:32-38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(10)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(10)</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91056"/>
            <a:ext cx="11003280" cy="187604"/>
          </a:xfrm>
          <a:prstGeom prst="rect">
            <a:avLst/>
          </a:prstGeom>
          <a:noFill/>
        </p:spPr>
        <p:txBody>
          <a:bodyPr wrap="square" lIns="0" rIns="0" tIns="0" bIns="0" anchor="t">
            <a:noAutofit/>
          </a:bodyPr>
          <a:lstStyle/>
          <a:p>
            <a:pPr algn="l">
              <a:lnSpc>
                <a:spcPct val="106000"/>
              </a:lnSpc>
              <a:spcAft>
                <a:spcPts val="0"/>
              </a:spcAft>
            </a:pPr>
            <a:r>
              <a:rPr sz="1200" b="0">
                <a:solidFill>
                  <a:srgbClr val="5B39F3"/>
                </a:solidFill>
                <a:latin typeface="Fira Code"/>
              </a:rPr>
              <a:t>Sub flight modes PNT-gating matrix — 12 files (7 PNT-relevant, 5 checked-absence). Predicate: requires_GPS().</a:t>
            </a:r>
          </a:p>
        </p:txBody>
      </p:sp>
      <p:graphicFrame>
        <p:nvGraphicFramePr>
          <p:cNvPr id="7" name="Table 6"/>
          <p:cNvGraphicFramePr>
            <a:graphicFrameLocks noGrp="1"/>
          </p:cNvGraphicFramePr>
          <p:nvPr/>
        </p:nvGraphicFramePr>
        <p:xfrm>
          <a:off x="566928" y="1870100"/>
          <a:ext cx="11058144" cy="4231832"/>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417917">
                <a:tc>
                  <a:txBody>
                    <a:bodyPr wrap="square">
                      <a:noAutofit/>
                    </a:bodyPr>
                    <a:lstStyle/>
                    <a:p>
                      <a:pPr algn="l">
                        <a:lnSpc>
                          <a:spcPct val="106000"/>
                        </a:lnSpc>
                        <a:spcAft>
                          <a:spcPts val="0"/>
                        </a:spcAft>
                      </a:pPr>
                      <a:r>
                        <a:rPr sz="1100" b="0">
                          <a:solidFill>
                            <a:srgbClr val="333333"/>
                          </a:solidFill>
                          <a:latin typeface="Fira Code"/>
                        </a:rPr>
                        <a:t>mode.cpp (Sub::set_mode() position gate)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Gate enforcer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new_flightmode-&gt;requires_GPS() &amp;&amp; !sub.position_ok() rejects PNT modes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ArduSub/mode.cpp:89-90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mode_acro.cpp (ModeAcro)</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ArduSub/mode.h:155 · gate ArduSub/mode.cpp:89-90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mode_althold.cpp (ModeAlthold)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ArduSub/mode.h:201 · gate ArduSub/mode.cpp:89-90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mode_auto.cpp (ModeAuto)</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ArduSub/mode.h:314 · use ArduSub/mode_auto.cpp:11 · gate ArduSub/mode.cpp:89-90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mode_circle.cpp (ModeCircle)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ArduSub/mode.h:382 · use ArduSub/mode_circle.cpp:10 · gate ArduSub/mode.cpp:89-90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mode_guided.cpp (ModeGuided)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ArduSub/mode.h:260 · use ArduSub/mode_guided.cpp:34 · gate ArduSub/mode.cpp:89-90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mode_manual.cpp (ModeManual)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ArduSub/mode.h:132 · gate ArduSub/mode.cpp:89-90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REGISTER  ·  SUB-REGISTER (10) OF 10</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sub-register (10)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3218299"/>
        </p:xfrm>
        <a:graphic>
          <a:graphicData uri="http://schemas.openxmlformats.org/drawingml/2006/table">
            <a:tbl>
              <a:tblPr>
                <a:tableStyleId>{5C22544A-7EE6-4342-B048-85BDC9FD1C3A}</a:tableStyleId>
              </a:tblPr>
              <a:tblGrid>
                <a:gridCol w="2741688"/>
                <a:gridCol w="1462233"/>
                <a:gridCol w="3655584"/>
                <a:gridCol w="3198639"/>
              </a:tblGrid>
              <a:tr h="240219">
                <a:tc>
                  <a:txBody>
                    <a:bodyPr wrap="square">
                      <a:noAutofit/>
                    </a:bodyPr>
                    <a:lstStyle/>
                    <a:p>
                      <a:pPr algn="l">
                        <a:lnSpc>
                          <a:spcPct val="106000"/>
                        </a:lnSpc>
                        <a:spcAft>
                          <a:spcPts val="0"/>
                        </a:spcAft>
                      </a:pPr>
                      <a:r>
                        <a:rPr sz="1100" b="1">
                          <a:solidFill>
                            <a:srgbClr val="333333"/>
                          </a:solidFill>
                          <a:latin typeface="Inter"/>
                        </a:rPr>
                        <a:t>Surface / File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PNT Intersection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Detail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Evidence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595616">
                <a:tc>
                  <a:txBody>
                    <a:bodyPr wrap="square">
                      <a:noAutofit/>
                    </a:bodyPr>
                    <a:lstStyle/>
                    <a:p>
                      <a:pPr algn="l">
                        <a:lnSpc>
                          <a:spcPct val="106000"/>
                        </a:lnSpc>
                        <a:spcAft>
                          <a:spcPts val="0"/>
                        </a:spcAft>
                      </a:pPr>
                      <a:r>
                        <a:rPr sz="1100" b="0">
                          <a:solidFill>
                            <a:srgbClr val="333333"/>
                          </a:solidFill>
                          <a:latin typeface="Fira Code"/>
                        </a:rPr>
                        <a:t>mode_motordetect.cpp (ModeMotordetect)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ArduSub/mode.h:427 · gate ArduSub/mode.cpp:89-90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mode_poshold.cpp (ModePoshold)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Position-gated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requires_GPS()=true — PNT position/nav required to enter; behaviour gated.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ArduSub/mode.h:355 · use ArduSub/mode_poshold.cpp:13 · gate ArduSub/mode.cpp:89-90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mode_stabilize.cpp (ModeStabilize)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[ABSENT] checked</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requires_GPS()=false and zero position/nav/velocity tokens — manual/attitude mode; no PNT dependence (checked absence).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ArduSub/mode.h:178 · gate ArduSub/mode.cpp:89-90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595616">
                <a:tc>
                  <a:txBody>
                    <a:bodyPr wrap="square">
                      <a:noAutofit/>
                    </a:bodyPr>
                    <a:lstStyle/>
                    <a:p>
                      <a:pPr algn="l">
                        <a:lnSpc>
                          <a:spcPct val="106000"/>
                        </a:lnSpc>
                        <a:spcAft>
                          <a:spcPts val="0"/>
                        </a:spcAft>
                      </a:pPr>
                      <a:r>
                        <a:rPr sz="1100" b="0">
                          <a:solidFill>
                            <a:srgbClr val="333333"/>
                          </a:solidFill>
                          <a:latin typeface="Fira Code"/>
                        </a:rPr>
                        <a:t>mode_surface.cpp (ModeSurface)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requires_GPS()=false, but consumes PNT here (wp_nav ×1;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Fira Code"/>
                        </a:rPr>
                        <a:t>ArduSub/mode.h:404 · use ArduSub/mode_surface.cpp:54 · gate ArduSub/mode.cpp:89-90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595616">
                <a:tc>
                  <a:txBody>
                    <a:bodyPr wrap="square">
                      <a:noAutofit/>
                    </a:bodyPr>
                    <a:lstStyle/>
                    <a:p>
                      <a:pPr algn="l">
                        <a:lnSpc>
                          <a:spcPct val="106000"/>
                        </a:lnSpc>
                        <a:spcAft>
                          <a:spcPts val="0"/>
                        </a:spcAft>
                      </a:pPr>
                      <a:r>
                        <a:rPr sz="1100" b="0">
                          <a:solidFill>
                            <a:srgbClr val="333333"/>
                          </a:solidFill>
                          <a:latin typeface="Fira Code"/>
                        </a:rPr>
                        <a:t>mode_surftrak.cpp (ModeSurftrak)</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PNT (no horiz-GPS gate) ✓</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requires_GPS()=false, but consumes PNT here (pos_control ×3; e.g. altitude pos_control / optical-flow / optional position).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Fira Code"/>
                        </a:rPr>
                        <a:t>ArduSub/mode.h:201 · use ArduSub/mode_surftrak.cpp:91 · gate ArduSub/mode.cpp:89-90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PROVENANCE  ·  THE AUDIT’S OWN GUARANTEE</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Provenance, in the audit’s own words</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sp>
        <p:nvSpPr>
          <p:cNvPr id="6" name="TextBox 5"/>
          <p:cNvSpPr txBox="1"/>
          <p:nvPr/>
        </p:nvSpPr>
        <p:spPr>
          <a:xfrm>
            <a:off x="566928" y="1536192"/>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QUOTED FROM THE AUDIT’S EXECUTIVE SUMMARY</a:t>
            </a:r>
          </a:p>
        </p:txBody>
      </p:sp>
      <p:sp>
        <p:nvSpPr>
          <p:cNvPr id="7" name="Rectangle 6"/>
          <p:cNvSpPr/>
          <p:nvPr/>
        </p:nvSpPr>
        <p:spPr>
          <a:xfrm>
            <a:off x="566928" y="1761896"/>
            <a:ext cx="32004" cy="912837"/>
          </a:xfrm>
          <a:prstGeom prst="rect">
            <a:avLst/>
          </a:prstGeom>
          <a:solidFill>
            <a:srgbClr val="5B39F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13232" y="1761896"/>
            <a:ext cx="10856976" cy="912837"/>
          </a:xfrm>
          <a:prstGeom prst="rect">
            <a:avLst/>
          </a:prstGeom>
          <a:noFill/>
        </p:spPr>
        <p:txBody>
          <a:bodyPr wrap="square" lIns="0" rIns="0" tIns="0" bIns="0" anchor="t">
            <a:noAutofit/>
          </a:bodyPr>
          <a:lstStyle/>
          <a:p>
            <a:pPr algn="l">
              <a:lnSpc>
                <a:spcPct val="120000"/>
              </a:lnSpc>
              <a:spcAft>
                <a:spcPts val="0"/>
              </a:spcAft>
            </a:pPr>
            <a:r>
              <a:rPr sz="1300" b="0">
                <a:solidFill>
                  <a:srgbClr val="333333"/>
                </a:solidFill>
                <a:latin typeface="Inter"/>
              </a:rPr>
              <a:t>“Provenance. This Executive Summary is derived entirely from the findings already catalogued in this document — the numbered tables, the instance mapping and the registers that follow — and no new static analysis of the ArduPilot codebase was performed to produce it. Every figure above is a reconciled total of that catalog, and every cited path:line reference in this document is unchanged: none was re-derived, re-scored or re-verified for this summary.”</a:t>
            </a:r>
          </a:p>
        </p:txBody>
      </p:sp>
      <p:sp>
        <p:nvSpPr>
          <p:cNvPr id="9" name="TextBox 8"/>
          <p:cNvSpPr txBox="1"/>
          <p:nvPr/>
        </p:nvSpPr>
        <p:spPr>
          <a:xfrm>
            <a:off x="566928" y="2875901"/>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WHAT THAT MEANS FOR THIS DECK</a:t>
            </a:r>
          </a:p>
        </p:txBody>
      </p:sp>
      <p:sp>
        <p:nvSpPr>
          <p:cNvPr id="10" name="TextBox 9"/>
          <p:cNvSpPr txBox="1"/>
          <p:nvPr/>
        </p:nvSpPr>
        <p:spPr>
          <a:xfrm>
            <a:off x="566928" y="3101605"/>
            <a:ext cx="11003280" cy="1783549"/>
          </a:xfrm>
          <a:prstGeom prst="rect">
            <a:avLst/>
          </a:prstGeom>
          <a:noFill/>
        </p:spPr>
        <p:txBody>
          <a:bodyPr wrap="square" lIns="0" rIns="0" tIns="0" bIns="0" anchor="t">
            <a:noAutofit/>
          </a:bodyPr>
          <a:lstStyle/>
          <a:p>
            <a:pPr algn="l" marL="185737" indent="-185737">
              <a:lnSpc>
                <a:spcPct val="124000"/>
              </a:lnSpc>
              <a:spcAft>
                <a:spcPts val="700"/>
              </a:spcAft>
              <a:buClr>
                <a:srgbClr val="333333"/>
              </a:buClr>
              <a:buSzPct val="100000"/>
              <a:buFont typeface="Inter"/>
              <a:buChar char="•"/>
            </a:pPr>
            <a:r>
              <a:rPr sz="1300" b="0">
                <a:solidFill>
                  <a:srgbClr val="333333"/>
                </a:solidFill>
                <a:latin typeface="Inter"/>
              </a:rPr>
              <a:t>This deck adds no finding, no metric and no count: every figure on every slide is a figure the audit states, and every row is the audit’s row.</a:t>
            </a:r>
          </a:p>
          <a:p>
            <a:pPr algn="l" marL="185737" indent="-185737">
              <a:lnSpc>
                <a:spcPct val="124000"/>
              </a:lnSpc>
              <a:spcAft>
                <a:spcPts val="700"/>
              </a:spcAft>
              <a:buClr>
                <a:srgbClr val="333333"/>
              </a:buClr>
              <a:buSzPct val="100000"/>
              <a:buFont typeface="Inter"/>
              <a:buChar char="•"/>
            </a:pPr>
            <a:r>
              <a:rPr sz="1300" b="0">
                <a:solidFill>
                  <a:srgbClr val="333333"/>
                </a:solidFill>
                <a:latin typeface="Inter"/>
              </a:rPr>
              <a:t>No cited path:line reference was re-derived, re-scored or re-verified for this deck, and the audit’s line-number-basis notes are quoted, not reconciled.</a:t>
            </a:r>
          </a:p>
          <a:p>
            <a:pPr algn="l" marL="185737" indent="-185737">
              <a:lnSpc>
                <a:spcPct val="124000"/>
              </a:lnSpc>
              <a:spcAft>
                <a:spcPts val="700"/>
              </a:spcAft>
              <a:buClr>
                <a:srgbClr val="333333"/>
              </a:buClr>
              <a:buSzPct val="100000"/>
              <a:buFont typeface="Inter"/>
              <a:buChar char="•"/>
            </a:pPr>
            <a:r>
              <a:rPr sz="1300" b="0">
                <a:solidFill>
                  <a:srgbClr val="333333"/>
                </a:solidFill>
                <a:latin typeface="Inter"/>
              </a:rPr>
              <a:t>The audit’s own flag tokens, [FIX F*] markers and AAP cross-references are transcribed exactly as printed, including where their referents lie outside the document.</a:t>
            </a:r>
          </a:p>
          <a:p>
            <a:pPr algn="l" marL="185737" indent="-185737">
              <a:lnSpc>
                <a:spcPct val="124000"/>
              </a:lnSpc>
              <a:spcAft>
                <a:spcPts val="700"/>
              </a:spcAft>
              <a:buClr>
                <a:srgbClr val="333333"/>
              </a:buClr>
              <a:buSzPct val="100000"/>
              <a:buFont typeface="Inter"/>
              <a:buChar char="•"/>
            </a:pPr>
            <a:r>
              <a:rPr sz="1300" b="0">
                <a:solidFill>
                  <a:srgbClr val="333333"/>
                </a:solidFill>
                <a:latin typeface="Inter"/>
              </a:rPr>
              <a:t>The source PDF is unchanged: it was read, never rewritten, re-rendered or regenerated.</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RECONCILIATION  ·  SOURCE-TO-DECK COVERAGE</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reconciliation</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582282"/>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Every construct in the source, the figure the audit states for it, and the slides that carry it. Read across a row to check the audit’s own figure against the slides that represent it.</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2228202"/>
          <a:ext cx="11058144" cy="2935285"/>
        </p:xfrm>
        <a:graphic>
          <a:graphicData uri="http://schemas.openxmlformats.org/drawingml/2006/table">
            <a:tbl>
              <a:tblPr>
                <a:tableStyleId>{5C22544A-7EE6-4342-B048-85BDC9FD1C3A}</a:tableStyleId>
              </a:tblPr>
              <a:tblGrid>
                <a:gridCol w="5026429"/>
                <a:gridCol w="1553623"/>
                <a:gridCol w="1462233"/>
                <a:gridCol w="1370844"/>
                <a:gridCol w="1645015"/>
              </a:tblGrid>
              <a:tr h="240219">
                <a:tc>
                  <a:txBody>
                    <a:bodyPr wrap="square">
                      <a:noAutofit/>
                    </a:bodyPr>
                    <a:lstStyle/>
                    <a:p>
                      <a:pPr algn="l">
                        <a:lnSpc>
                          <a:spcPct val="106000"/>
                        </a:lnSpc>
                        <a:spcAft>
                          <a:spcPts val="0"/>
                        </a:spcAft>
                      </a:pPr>
                      <a:r>
                        <a:rPr sz="1100" b="1">
                          <a:solidFill>
                            <a:srgbClr val="333333"/>
                          </a:solidFill>
                          <a:latin typeface="Inter"/>
                        </a:rPr>
                        <a:t>Source construct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Axis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Stated by the audit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Deck coverage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Slides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40219">
                <a:tc>
                  <a:txBody>
                    <a:bodyPr wrap="square">
                      <a:noAutofit/>
                    </a:bodyPr>
                    <a:lstStyle/>
                    <a:p>
                      <a:pPr algn="l">
                        <a:lnSpc>
                          <a:spcPct val="106000"/>
                        </a:lnSpc>
                        <a:spcAft>
                          <a:spcPts val="0"/>
                        </a:spcAft>
                      </a:pPr>
                      <a:r>
                        <a:rPr sz="1100" b="0">
                          <a:solidFill>
                            <a:srgbClr val="333333"/>
                          </a:solidFill>
                          <a:latin typeface="Inter"/>
                        </a:rPr>
                        <a:t>Audit-Discipline Flags — taxonomy with the audit’s stated counts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Severity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Flag [SHARED-STRUCT] — every token occurrence, catalog-wide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Severity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in full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4, 16–19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Flag [DUPLICATED] — every token occurrence, catalog-wide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Severity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36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in full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4, 16, 20–23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Flag [CIRCULAR] — every token occurrence, catalog-wide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Severity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in full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4, 16, 24–25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Flag [MULTI-CATEGORY] — every token occurrence, catalog-wide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Severity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in full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4, 16, 26–27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773314">
                <a:tc>
                  <a:txBody>
                    <a:bodyPr wrap="square">
                      <a:noAutofit/>
                    </a:bodyPr>
                    <a:lstStyle/>
                    <a:p>
                      <a:pPr algn="l">
                        <a:lnSpc>
                          <a:spcPct val="106000"/>
                        </a:lnSpc>
                        <a:spcAft>
                          <a:spcPts val="0"/>
                        </a:spcAft>
                      </a:pPr>
                      <a:r>
                        <a:rPr sz="1100" b="0">
                          <a:solidFill>
                            <a:srgbClr val="333333"/>
                          </a:solidFill>
                          <a:latin typeface="Inter"/>
                        </a:rPr>
                        <a:t>Flag [ABSENT] — every token occurrence, catalog-wide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Severity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30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in full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4, 16, 28–30, 212, 214–215, 220–222, 224–226, 228–232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The two touch-points named in superlative risk language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Severity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31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1 — Core Positioning — every catalogued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33–37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Table 1 — Code Snippet (5-10 lines) — every cell, verbatim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38–51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
        <p:nvSpPr>
          <p:cNvPr id="8" name="TextBox 7"/>
          <p:cNvSpPr txBox="1"/>
          <p:nvPr/>
        </p:nvSpPr>
        <p:spPr>
          <a:xfrm>
            <a:off x="566928" y="5291503"/>
            <a:ext cx="11003280" cy="864565"/>
          </a:xfrm>
          <a:prstGeom prst="rect">
            <a:avLst/>
          </a:prstGeom>
          <a:noFill/>
        </p:spPr>
        <p:txBody>
          <a:bodyPr wrap="square" lIns="0" rIns="0" tIns="0" bIns="0" anchor="t">
            <a:noAutofit/>
          </a:bodyPr>
          <a:lstStyle/>
          <a:p>
            <a:pPr algn="l">
              <a:lnSpc>
                <a:spcPct val="124000"/>
              </a:lnSpc>
              <a:spcAft>
                <a:spcPts val="0"/>
              </a:spcAft>
            </a:pPr>
            <a:r>
              <a:rPr sz="1200" b="0">
                <a:solidFill>
                  <a:srgbClr val="999999"/>
                </a:solidFill>
                <a:latin typeface="Inter"/>
              </a:rPr>
              <a:t>Where a row names a single flag token, Stated by the audit is a token-occurrence figure: it counts occurrences of that token in the audit’s text, not the rows listed on the severity axis. The corpus is the Notes of every main row and every Layer 2 chain, the Legend entry that defines the flag and, for [ABSENT], the Coverage register’s checked absences, so the Slides column locates the Legend, the flags table, the severity-axis listing and, for [ABSENT], the register.</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RECONCILIATION  ·  SOURCE-TO-DECK COVERAGE</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reconciliation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564161"/>
        </p:xfrm>
        <a:graphic>
          <a:graphicData uri="http://schemas.openxmlformats.org/drawingml/2006/table">
            <a:tbl>
              <a:tblPr>
                <a:tableStyleId>{5C22544A-7EE6-4342-B048-85BDC9FD1C3A}</a:tableStyleId>
              </a:tblPr>
              <a:tblGrid>
                <a:gridCol w="5026429"/>
                <a:gridCol w="1553623"/>
                <a:gridCol w="1462233"/>
                <a:gridCol w="1370844"/>
                <a:gridCol w="1645015"/>
              </a:tblGrid>
              <a:tr h="240219">
                <a:tc>
                  <a:txBody>
                    <a:bodyPr wrap="square">
                      <a:noAutofit/>
                    </a:bodyPr>
                    <a:lstStyle/>
                    <a:p>
                      <a:pPr algn="l">
                        <a:lnSpc>
                          <a:spcPct val="106000"/>
                        </a:lnSpc>
                        <a:spcAft>
                          <a:spcPts val="0"/>
                        </a:spcAft>
                      </a:pPr>
                      <a:r>
                        <a:rPr sz="1100" b="1">
                          <a:solidFill>
                            <a:srgbClr val="333333"/>
                          </a:solidFill>
                          <a:latin typeface="Inter"/>
                        </a:rPr>
                        <a:t>Source construct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Axis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Stated by the audit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Deck coverage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Slides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40219">
                <a:tc>
                  <a:txBody>
                    <a:bodyPr wrap="square">
                      <a:noAutofit/>
                    </a:bodyPr>
                    <a:lstStyle/>
                    <a:p>
                      <a:pPr algn="l">
                        <a:lnSpc>
                          <a:spcPct val="106000"/>
                        </a:lnSpc>
                        <a:spcAft>
                          <a:spcPts val="0"/>
                        </a:spcAft>
                      </a:pPr>
                      <a:r>
                        <a:rPr sz="1100" b="0">
                          <a:solidFill>
                            <a:srgbClr val="333333"/>
                          </a:solidFill>
                          <a:latin typeface="Inter"/>
                        </a:rPr>
                        <a:t>Table 1a — Layer 1 direct edges — every typed edge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52–54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1a — Layer 1 Code Snippet — every cell, verbatim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55–67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Table 1a — Layer 2 transitive chains — every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68–77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2 — Core Navigation — every catalogued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79–85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Table 2 — Code Snippet (5-10 lines) — every cell, verbatim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86–99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2a — Layer 1 direct edges — every typed edge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100–102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Table 2a — Layer 1 Code Snippet — every cell, verbatim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103–116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2a — Layer 2 transitive chains — every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117–121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Table 3 — Core Timing — every catalogued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123–124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3 — Code Snippet (5-10 lines) — every cell, verbatim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125–129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Table 3a — Layer 1 direct edges — every typed edge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130–131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3a — Layer 1 Code Snippet — every cell, verbatim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132–136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Table 3a — Layer 2 transitive chains — every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137–138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4 — Indirect Positioning — every catalogued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140–143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Table 4 — Code Snippet (5-10 lines) — every cell, verbatim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144–149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4a — Layer 1 direct edges — every typed edge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150–151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Table 4a — Layer 1 Code Snippet — every cell, verbatim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152–156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4a — Layer 2 transitive chains — every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157–158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RECONCILIATION  ·  SOURCE-TO-DECK COVERAGE</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reconciliation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4564161"/>
        </p:xfrm>
        <a:graphic>
          <a:graphicData uri="http://schemas.openxmlformats.org/drawingml/2006/table">
            <a:tbl>
              <a:tblPr>
                <a:tableStyleId>{5C22544A-7EE6-4342-B048-85BDC9FD1C3A}</a:tableStyleId>
              </a:tblPr>
              <a:tblGrid>
                <a:gridCol w="5026429"/>
                <a:gridCol w="1553623"/>
                <a:gridCol w="1462233"/>
                <a:gridCol w="1370844"/>
                <a:gridCol w="1645015"/>
              </a:tblGrid>
              <a:tr h="240219">
                <a:tc>
                  <a:txBody>
                    <a:bodyPr wrap="square">
                      <a:noAutofit/>
                    </a:bodyPr>
                    <a:lstStyle/>
                    <a:p>
                      <a:pPr algn="l">
                        <a:lnSpc>
                          <a:spcPct val="106000"/>
                        </a:lnSpc>
                        <a:spcAft>
                          <a:spcPts val="0"/>
                        </a:spcAft>
                      </a:pPr>
                      <a:r>
                        <a:rPr sz="1100" b="1">
                          <a:solidFill>
                            <a:srgbClr val="333333"/>
                          </a:solidFill>
                          <a:latin typeface="Inter"/>
                        </a:rPr>
                        <a:t>Source construct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Axis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Stated by the audit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Deck coverage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Slides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40219">
                <a:tc>
                  <a:txBody>
                    <a:bodyPr wrap="square">
                      <a:noAutofit/>
                    </a:bodyPr>
                    <a:lstStyle/>
                    <a:p>
                      <a:pPr algn="l">
                        <a:lnSpc>
                          <a:spcPct val="106000"/>
                        </a:lnSpc>
                        <a:spcAft>
                          <a:spcPts val="0"/>
                        </a:spcAft>
                      </a:pPr>
                      <a:r>
                        <a:rPr sz="1100" b="0">
                          <a:solidFill>
                            <a:srgbClr val="333333"/>
                          </a:solidFill>
                          <a:latin typeface="Inter"/>
                        </a:rPr>
                        <a:t>Table 5 — Indirect Navigation — every catalogued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160–163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5 — Code Snippet (5-10 lines) — every cell, verbatim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164–169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Table 5a — Layer 1 direct edges — every typed edge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170–171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5a — Layer 1 Code Snippet — every cell, verbatim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172–176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Table 5a — Layer 2 transitive chains — every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177–178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6 — Indirect Timing — every catalogued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180–186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Table 6 — Code Snippet (5-10 lines) — every cell, verbatim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187–192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6a — Layer 1 direct edges — every typed edge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193–194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Table 6a — Layer 1 Code Snippet — every cell, verbatim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195–199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Table 6a — Layer 2 transitive chains — every chain</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Group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200–202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Layer 1 Dependency Type roll-up, every Layer 1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Roll-up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203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Layer 2 Chain Depth ranges, one per sub-table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Roll-up</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204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PNT Instance Audit — every mapping row</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Instance audit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206–207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Coverage sub-register (1) — every entry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Coverage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Coverage sub-register (2) — every entry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Coverage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Coverage sub-register (3) — every entry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Coverage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214–215</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Coverage sub-register (4) — every entry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Coverage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216–217</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Coverage sub-register (5) — every entry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Coverage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218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RECONCILIATION  ·  SOURCE-TO-DECK COVERAGE</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Coverage reconciliation (continued)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6" name="Table 5"/>
          <p:cNvGraphicFramePr>
            <a:graphicFrameLocks noGrp="1"/>
          </p:cNvGraphicFramePr>
          <p:nvPr/>
        </p:nvGraphicFramePr>
        <p:xfrm>
          <a:off x="566928" y="1591056"/>
          <a:ext cx="11058144" cy="1441314"/>
        </p:xfrm>
        <a:graphic>
          <a:graphicData uri="http://schemas.openxmlformats.org/drawingml/2006/table">
            <a:tbl>
              <a:tblPr>
                <a:tableStyleId>{5C22544A-7EE6-4342-B048-85BDC9FD1C3A}</a:tableStyleId>
              </a:tblPr>
              <a:tblGrid>
                <a:gridCol w="5026429"/>
                <a:gridCol w="1553623"/>
                <a:gridCol w="1462233"/>
                <a:gridCol w="1370844"/>
                <a:gridCol w="1645015"/>
              </a:tblGrid>
              <a:tr h="240219">
                <a:tc>
                  <a:txBody>
                    <a:bodyPr wrap="square">
                      <a:noAutofit/>
                    </a:bodyPr>
                    <a:lstStyle/>
                    <a:p>
                      <a:pPr algn="l">
                        <a:lnSpc>
                          <a:spcPct val="106000"/>
                        </a:lnSpc>
                        <a:spcAft>
                          <a:spcPts val="0"/>
                        </a:spcAft>
                      </a:pPr>
                      <a:r>
                        <a:rPr sz="1100" b="1">
                          <a:solidFill>
                            <a:srgbClr val="333333"/>
                          </a:solidFill>
                          <a:latin typeface="Inter"/>
                        </a:rPr>
                        <a:t>Source construct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Axis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Stated by the audit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Deck coverage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100" b="1">
                          <a:solidFill>
                            <a:srgbClr val="333333"/>
                          </a:solidFill>
                          <a:latin typeface="Inter"/>
                        </a:rPr>
                        <a:t>Slides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40219">
                <a:tc>
                  <a:txBody>
                    <a:bodyPr wrap="square">
                      <a:noAutofit/>
                    </a:bodyPr>
                    <a:lstStyle/>
                    <a:p>
                      <a:pPr algn="l">
                        <a:lnSpc>
                          <a:spcPct val="106000"/>
                        </a:lnSpc>
                        <a:spcAft>
                          <a:spcPts val="0"/>
                        </a:spcAft>
                      </a:pPr>
                      <a:r>
                        <a:rPr sz="1100" b="0">
                          <a:solidFill>
                            <a:srgbClr val="333333"/>
                          </a:solidFill>
                          <a:latin typeface="Inter"/>
                        </a:rPr>
                        <a:t>Coverage sub-register (6) — every entry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Coverage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219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Coverage sub-register (7) — every entry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Coverage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220–224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Coverage sub-register (8) — every entry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Coverage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225–228</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40219">
                <a:tc>
                  <a:txBody>
                    <a:bodyPr wrap="square">
                      <a:noAutofit/>
                    </a:bodyPr>
                    <a:lstStyle/>
                    <a:p>
                      <a:pPr algn="l">
                        <a:lnSpc>
                          <a:spcPct val="106000"/>
                        </a:lnSpc>
                        <a:spcAft>
                          <a:spcPts val="0"/>
                        </a:spcAft>
                      </a:pPr>
                      <a:r>
                        <a:rPr sz="1100" b="0">
                          <a:solidFill>
                            <a:srgbClr val="333333"/>
                          </a:solidFill>
                          <a:latin typeface="Inter"/>
                        </a:rPr>
                        <a:t>Coverage sub-register (9) — every entry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l">
                        <a:lnSpc>
                          <a:spcPct val="106000"/>
                        </a:lnSpc>
                        <a:spcAft>
                          <a:spcPts val="0"/>
                        </a:spcAft>
                      </a:pPr>
                      <a:r>
                        <a:rPr sz="1100" b="0">
                          <a:solidFill>
                            <a:srgbClr val="333333"/>
                          </a:solidFill>
                          <a:latin typeface="Inter"/>
                        </a:rPr>
                        <a:t>Coverage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14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100" b="0">
                          <a:solidFill>
                            <a:srgbClr val="333333"/>
                          </a:solidFill>
                          <a:latin typeface="Fira Code"/>
                        </a:rPr>
                        <a:t>229–230</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40219">
                <a:tc>
                  <a:txBody>
                    <a:bodyPr wrap="square">
                      <a:noAutofit/>
                    </a:bodyPr>
                    <a:lstStyle/>
                    <a:p>
                      <a:pPr algn="l">
                        <a:lnSpc>
                          <a:spcPct val="106000"/>
                        </a:lnSpc>
                        <a:spcAft>
                          <a:spcPts val="0"/>
                        </a:spcAft>
                      </a:pPr>
                      <a:r>
                        <a:rPr sz="1100" b="0">
                          <a:solidFill>
                            <a:srgbClr val="333333"/>
                          </a:solidFill>
                          <a:latin typeface="Inter"/>
                        </a:rPr>
                        <a:t>Coverage sub-register (10) — every entry</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l">
                        <a:lnSpc>
                          <a:spcPct val="106000"/>
                        </a:lnSpc>
                        <a:spcAft>
                          <a:spcPts val="0"/>
                        </a:spcAft>
                      </a:pPr>
                      <a:r>
                        <a:rPr sz="1100" b="0">
                          <a:solidFill>
                            <a:srgbClr val="333333"/>
                          </a:solidFill>
                          <a:latin typeface="Inter"/>
                        </a:rPr>
                        <a:t>Coverage register</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100" b="0">
                          <a:solidFill>
                            <a:srgbClr val="333333"/>
                          </a:solidFill>
                          <a:latin typeface="Fira Code"/>
                        </a:rPr>
                        <a:t>231–232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bl>
          </a:graphicData>
        </a:graphic>
      </p:graphicFrame>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8144" cy="237744"/>
          </a:xfrm>
          <a:prstGeom prst="rect">
            <a:avLst/>
          </a:prstGeom>
          <a:noFill/>
        </p:spPr>
        <p:txBody>
          <a:bodyPr wrap="square" lIns="0" rIns="0" tIns="0" bIns="0" anchor="t">
            <a:noAutofit/>
          </a:bodyPr>
          <a:lstStyle/>
          <a:p>
            <a:pPr algn="l">
              <a:lnSpc>
                <a:spcPct val="100000"/>
              </a:lnSpc>
              <a:spcAft>
                <a:spcPts val="0"/>
              </a:spcAft>
            </a:pPr>
            <a:r>
              <a:rPr sz="1200" b="0">
                <a:solidFill>
                  <a:srgbClr val="5B39F3"/>
                </a:solidFill>
                <a:latin typeface="Fira Code"/>
              </a:rPr>
              <a:t>COVERAGE RECONCILIATION  ·  TOTALS</a:t>
            </a:r>
          </a:p>
        </p:txBody>
      </p:sp>
      <p:sp>
        <p:nvSpPr>
          <p:cNvPr id="3" name="TextBox 2"/>
          <p:cNvSpPr txBox="1"/>
          <p:nvPr/>
        </p:nvSpPr>
        <p:spPr>
          <a:xfrm>
            <a:off x="566928" y="658368"/>
            <a:ext cx="11064240" cy="585216"/>
          </a:xfrm>
          <a:prstGeom prst="rect">
            <a:avLst/>
          </a:prstGeom>
          <a:noFill/>
        </p:spPr>
        <p:txBody>
          <a:bodyPr wrap="square" lIns="0" rIns="0" tIns="0" bIns="0" anchor="t">
            <a:noAutofit/>
          </a:bodyPr>
          <a:lstStyle/>
          <a:p>
            <a:pPr algn="l">
              <a:lnSpc>
                <a:spcPct val="130000"/>
              </a:lnSpc>
              <a:spcAft>
                <a:spcPts val="0"/>
              </a:spcAft>
            </a:pPr>
            <a:r>
              <a:rPr sz="2800" b="1">
                <a:solidFill>
                  <a:srgbClr val="333333"/>
                </a:solidFill>
                <a:latin typeface="Space Grotesk"/>
              </a:rPr>
              <a:t>The totals, reconciled</a:t>
            </a:r>
          </a:p>
        </p:txBody>
      </p:sp>
      <p:sp>
        <p:nvSpPr>
          <p:cNvPr id="4" name="Rectangle 3"/>
          <p:cNvSpPr/>
          <p:nvPr/>
        </p:nvSpPr>
        <p:spPr>
          <a:xfrm>
            <a:off x="566928" y="1298448"/>
            <a:ext cx="11058144" cy="32004"/>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1426464"/>
            <a:ext cx="11064240" cy="261023"/>
          </a:xfrm>
          <a:prstGeom prst="rect">
            <a:avLst/>
          </a:prstGeom>
          <a:noFill/>
        </p:spPr>
        <p:txBody>
          <a:bodyPr wrap="square" lIns="0" rIns="0" tIns="0" bIns="0" anchor="t">
            <a:noAutofit/>
          </a:bodyPr>
          <a:lstStyle/>
          <a:p>
            <a:pPr algn="l">
              <a:lnSpc>
                <a:spcPct val="124000"/>
              </a:lnSpc>
              <a:spcAft>
                <a:spcPts val="0"/>
              </a:spcAft>
            </a:pPr>
            <a:r>
              <a:rPr sz="1700" b="0">
                <a:solidFill>
                  <a:srgbClr val="333333"/>
                </a:solidFill>
                <a:latin typeface="Inter"/>
              </a:rPr>
              <a:t>Each total the audit states, beside the number of rows this deck actually carries.</a:t>
            </a:r>
          </a:p>
        </p:txBody>
      </p:sp>
      <p:sp>
        <p:nvSpPr>
          <p:cNvPr id="6" name="TextBox 5"/>
          <p:cNvSpPr txBox="1"/>
          <p:nvPr/>
        </p:nvSpPr>
        <p:spPr>
          <a:xfrm>
            <a:off x="566928" y="6355080"/>
            <a:ext cx="11058144" cy="182880"/>
          </a:xfrm>
          <a:prstGeom prst="rect">
            <a:avLst/>
          </a:prstGeom>
          <a:noFill/>
        </p:spPr>
        <p:txBody>
          <a:bodyPr wrap="square" lIns="0" rIns="0" tIns="0" bIns="0" anchor="t">
            <a:noAutofit/>
          </a:bodyPr>
          <a:lstStyle/>
          <a:p>
            <a:pPr algn="l">
              <a:lnSpc>
                <a:spcPct val="100000"/>
              </a:lnSpc>
              <a:spcAft>
                <a:spcPts val="0"/>
              </a:spcAft>
            </a:pPr>
            <a:r>
              <a:rPr sz="1000" b="0">
                <a:solidFill>
                  <a:srgbClr val="999999"/>
                </a:solidFill>
                <a:latin typeface="Fira Code"/>
              </a:rPr>
              <a:t>Source: ArduPilot_PNT_Reference_Audit.pdf  ·  audited HEAD 5b67e27b0a  ·  read-only static-analysis catalog  ·  every figure as stated</a:t>
            </a:r>
          </a:p>
        </p:txBody>
      </p:sp>
      <p:graphicFrame>
        <p:nvGraphicFramePr>
          <p:cNvPr id="7" name="Table 6"/>
          <p:cNvGraphicFramePr>
            <a:graphicFrameLocks noGrp="1"/>
          </p:cNvGraphicFramePr>
          <p:nvPr/>
        </p:nvGraphicFramePr>
        <p:xfrm>
          <a:off x="566928" y="1852079"/>
          <a:ext cx="11058144" cy="2438343"/>
        </p:xfrm>
        <a:graphic>
          <a:graphicData uri="http://schemas.openxmlformats.org/drawingml/2006/table">
            <a:tbl>
              <a:tblPr>
                <a:tableStyleId>{5C22544A-7EE6-4342-B048-85BDC9FD1C3A}</a:tableStyleId>
              </a:tblPr>
              <a:tblGrid>
                <a:gridCol w="5757546"/>
                <a:gridCol w="2741688"/>
                <a:gridCol w="2558910"/>
              </a:tblGrid>
              <a:tr h="270927">
                <a:tc>
                  <a:txBody>
                    <a:bodyPr wrap="square">
                      <a:noAutofit/>
                    </a:bodyPr>
                    <a:lstStyle/>
                    <a:p>
                      <a:pPr algn="l">
                        <a:lnSpc>
                          <a:spcPct val="106000"/>
                        </a:lnSpc>
                        <a:spcAft>
                          <a:spcPts val="0"/>
                        </a:spcAft>
                      </a:pPr>
                      <a:r>
                        <a:rPr sz="1300" b="1">
                          <a:solidFill>
                            <a:srgbClr val="333333"/>
                          </a:solidFill>
                          <a:latin typeface="Inter"/>
                        </a:rPr>
                        <a:t>Reconciled total</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300" b="1">
                          <a:solidFill>
                            <a:srgbClr val="333333"/>
                          </a:solidFill>
                          <a:latin typeface="Inter"/>
                        </a:rPr>
                        <a:t>As the audit states it</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c>
                  <a:txBody>
                    <a:bodyPr wrap="square">
                      <a:noAutofit/>
                    </a:bodyPr>
                    <a:lstStyle/>
                    <a:p>
                      <a:pPr algn="l">
                        <a:lnSpc>
                          <a:spcPct val="106000"/>
                        </a:lnSpc>
                        <a:spcAft>
                          <a:spcPts val="0"/>
                        </a:spcAft>
                      </a:pPr>
                      <a:r>
                        <a:rPr sz="1300" b="1">
                          <a:solidFill>
                            <a:srgbClr val="333333"/>
                          </a:solidFill>
                          <a:latin typeface="Inter"/>
                        </a:rPr>
                        <a:t>Deck coverage</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4EFF6"/>
                    </a:solidFill>
                  </a:tcPr>
                </a:tc>
              </a:tr>
              <a:tr h="270927">
                <a:tc>
                  <a:txBody>
                    <a:bodyPr wrap="square">
                      <a:noAutofit/>
                    </a:bodyPr>
                    <a:lstStyle/>
                    <a:p>
                      <a:pPr algn="l">
                        <a:lnSpc>
                          <a:spcPct val="106000"/>
                        </a:lnSpc>
                        <a:spcAft>
                          <a:spcPts val="0"/>
                        </a:spcAft>
                      </a:pPr>
                      <a:r>
                        <a:rPr sz="1300" b="0">
                          <a:solidFill>
                            <a:srgbClr val="333333"/>
                          </a:solidFill>
                          <a:latin typeface="Inter"/>
                        </a:rPr>
                        <a:t>Core references (Tables 1–3)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300" b="0">
                          <a:solidFill>
                            <a:srgbClr val="333333"/>
                          </a:solidFill>
                          <a:latin typeface="Fira Code"/>
                        </a:rPr>
                        <a:t>63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300" b="1">
                          <a:solidFill>
                            <a:srgbClr val="333333"/>
                          </a:solidFill>
                          <a:latin typeface="Fira Code"/>
                        </a:rPr>
                        <a:t>63</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70927">
                <a:tc>
                  <a:txBody>
                    <a:bodyPr wrap="square">
                      <a:noAutofit/>
                    </a:bodyPr>
                    <a:lstStyle/>
                    <a:p>
                      <a:pPr algn="l">
                        <a:lnSpc>
                          <a:spcPct val="106000"/>
                        </a:lnSpc>
                        <a:spcAft>
                          <a:spcPts val="0"/>
                        </a:spcAft>
                      </a:pPr>
                      <a:r>
                        <a:rPr sz="1300" b="0">
                          <a:solidFill>
                            <a:srgbClr val="333333"/>
                          </a:solidFill>
                          <a:latin typeface="Inter"/>
                        </a:rPr>
                        <a:t>Indirect references (Tables 4–6)</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300" b="0">
                          <a:solidFill>
                            <a:srgbClr val="333333"/>
                          </a:solidFill>
                          <a:latin typeface="Fira Code"/>
                        </a:rPr>
                        <a:t>31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300" b="1">
                          <a:solidFill>
                            <a:srgbClr val="333333"/>
                          </a:solidFill>
                          <a:latin typeface="Fira Code"/>
                        </a:rPr>
                        <a:t>31</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70927">
                <a:tc>
                  <a:txBody>
                    <a:bodyPr wrap="square">
                      <a:noAutofit/>
                    </a:bodyPr>
                    <a:lstStyle/>
                    <a:p>
                      <a:pPr algn="l">
                        <a:lnSpc>
                          <a:spcPct val="106000"/>
                        </a:lnSpc>
                        <a:spcAft>
                          <a:spcPts val="0"/>
                        </a:spcAft>
                      </a:pPr>
                      <a:r>
                        <a:rPr sz="1300" b="0">
                          <a:solidFill>
                            <a:srgbClr val="333333"/>
                          </a:solidFill>
                          <a:latin typeface="Inter"/>
                        </a:rPr>
                        <a:t>Total catalogued main rows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300" b="0">
                          <a:solidFill>
                            <a:srgbClr val="333333"/>
                          </a:solidFill>
                          <a:latin typeface="Fira Code"/>
                        </a:rPr>
                        <a:t>94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300" b="1">
                          <a:solidFill>
                            <a:srgbClr val="333333"/>
                          </a:solidFill>
                          <a:latin typeface="Fira Code"/>
                        </a:rPr>
                        <a:t>94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70927">
                <a:tc>
                  <a:txBody>
                    <a:bodyPr wrap="square">
                      <a:noAutofit/>
                    </a:bodyPr>
                    <a:lstStyle/>
                    <a:p>
                      <a:pPr algn="l">
                        <a:lnSpc>
                          <a:spcPct val="106000"/>
                        </a:lnSpc>
                        <a:spcAft>
                          <a:spcPts val="0"/>
                        </a:spcAft>
                      </a:pPr>
                      <a:r>
                        <a:rPr sz="1300" b="0">
                          <a:solidFill>
                            <a:srgbClr val="333333"/>
                          </a:solidFill>
                          <a:latin typeface="Inter"/>
                        </a:rPr>
                        <a:t>Evidence rows (main + Layer 1 + Layer 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300" b="0">
                          <a:solidFill>
                            <a:srgbClr val="333333"/>
                          </a:solidFill>
                          <a:latin typeface="Fira Code"/>
                        </a:rPr>
                        <a:t>282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300" b="1">
                          <a:solidFill>
                            <a:srgbClr val="333333"/>
                          </a:solidFill>
                          <a:latin typeface="Fira Code"/>
                        </a:rPr>
                        <a:t>282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70927">
                <a:tc>
                  <a:txBody>
                    <a:bodyPr wrap="square">
                      <a:noAutofit/>
                    </a:bodyPr>
                    <a:lstStyle/>
                    <a:p>
                      <a:pPr algn="l">
                        <a:lnSpc>
                          <a:spcPct val="106000"/>
                        </a:lnSpc>
                        <a:spcAft>
                          <a:spcPts val="0"/>
                        </a:spcAft>
                      </a:pPr>
                      <a:r>
                        <a:rPr sz="1300" b="0">
                          <a:solidFill>
                            <a:srgbClr val="333333"/>
                          </a:solidFill>
                          <a:latin typeface="Inter"/>
                        </a:rPr>
                        <a:t>Main-row Code Snippet (5-10 lines) cells, verbatim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300" b="0">
                          <a:solidFill>
                            <a:srgbClr val="333333"/>
                          </a:solidFill>
                          <a:latin typeface="Fira Code"/>
                        </a:rPr>
                        <a:t>94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300" b="1">
                          <a:solidFill>
                            <a:srgbClr val="333333"/>
                          </a:solidFill>
                          <a:latin typeface="Fira Code"/>
                        </a:rPr>
                        <a:t>94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70927">
                <a:tc>
                  <a:txBody>
                    <a:bodyPr wrap="square">
                      <a:noAutofit/>
                    </a:bodyPr>
                    <a:lstStyle/>
                    <a:p>
                      <a:pPr algn="l">
                        <a:lnSpc>
                          <a:spcPct val="106000"/>
                        </a:lnSpc>
                        <a:spcAft>
                          <a:spcPts val="0"/>
                        </a:spcAft>
                      </a:pPr>
                      <a:r>
                        <a:rPr sz="1300" b="0">
                          <a:solidFill>
                            <a:srgbClr val="333333"/>
                          </a:solidFill>
                          <a:latin typeface="Inter"/>
                        </a:rPr>
                        <a:t>Layer 1 Code Snippet cells, verbatim</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300" b="0">
                          <a:solidFill>
                            <a:srgbClr val="333333"/>
                          </a:solidFill>
                          <a:latin typeface="Fira Code"/>
                        </a:rPr>
                        <a:t>94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300" b="1">
                          <a:solidFill>
                            <a:srgbClr val="333333"/>
                          </a:solidFill>
                          <a:latin typeface="Fira Code"/>
                        </a:rPr>
                        <a:t>94</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r h="270927">
                <a:tc>
                  <a:txBody>
                    <a:bodyPr wrap="square">
                      <a:noAutofit/>
                    </a:bodyPr>
                    <a:lstStyle/>
                    <a:p>
                      <a:pPr algn="l">
                        <a:lnSpc>
                          <a:spcPct val="106000"/>
                        </a:lnSpc>
                        <a:spcAft>
                          <a:spcPts val="0"/>
                        </a:spcAft>
                      </a:pPr>
                      <a:r>
                        <a:rPr sz="1300" b="0">
                          <a:solidFill>
                            <a:srgbClr val="333333"/>
                          </a:solidFill>
                          <a:latin typeface="Inter"/>
                        </a:rPr>
                        <a:t>Coverage register entries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300" b="0">
                          <a:solidFill>
                            <a:srgbClr val="333333"/>
                          </a:solidFill>
                          <a:latin typeface="Fira Code"/>
                        </a:rPr>
                        <a:t>109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c>
                  <a:txBody>
                    <a:bodyPr wrap="square">
                      <a:noAutofit/>
                    </a:bodyPr>
                    <a:lstStyle/>
                    <a:p>
                      <a:pPr algn="r">
                        <a:lnSpc>
                          <a:spcPct val="106000"/>
                        </a:lnSpc>
                        <a:spcAft>
                          <a:spcPts val="0"/>
                        </a:spcAft>
                      </a:pPr>
                      <a:r>
                        <a:rPr sz="1300" b="1">
                          <a:solidFill>
                            <a:srgbClr val="333333"/>
                          </a:solidFill>
                          <a:latin typeface="Fira Code"/>
                        </a:rPr>
                        <a:t>109</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5F5F5"/>
                    </a:solidFill>
                  </a:tcPr>
                </a:tc>
              </a:tr>
              <a:tr h="270927">
                <a:tc>
                  <a:txBody>
                    <a:bodyPr wrap="square">
                      <a:noAutofit/>
                    </a:bodyPr>
                    <a:lstStyle/>
                    <a:p>
                      <a:pPr algn="l">
                        <a:lnSpc>
                          <a:spcPct val="106000"/>
                        </a:lnSpc>
                        <a:spcAft>
                          <a:spcPts val="0"/>
                        </a:spcAft>
                      </a:pPr>
                      <a:r>
                        <a:rPr sz="1300" b="0">
                          <a:solidFill>
                            <a:srgbClr val="333333"/>
                          </a:solidFill>
                          <a:latin typeface="Inter"/>
                        </a:rPr>
                        <a:t>Current → new service mapping rows</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300" b="0">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c>
                  <a:txBody>
                    <a:bodyPr wrap="square">
                      <a:noAutofit/>
                    </a:bodyPr>
                    <a:lstStyle/>
                    <a:p>
                      <a:pPr algn="r">
                        <a:lnSpc>
                          <a:spcPct val="106000"/>
                        </a:lnSpc>
                        <a:spcAft>
                          <a:spcPts val="0"/>
                        </a:spcAft>
                      </a:pPr>
                      <a:r>
                        <a:rPr sz="1300" b="1">
                          <a:solidFill>
                            <a:srgbClr val="333333"/>
                          </a:solidFill>
                          <a:latin typeface="Fira Code"/>
                        </a:rPr>
                        <a:t>12</a:t>
                      </a:r>
                    </a:p>
                  </a:txBody>
                  <a:tcPr marL="54864" marR="54864" marT="25603" marB="25603" anchor="t">
                    <a:lnL w="6350" cap="flat" cmpd="sng" algn="ctr">
                      <a:solidFill>
                        <a:srgbClr val="D9D9D9"/>
                      </a:solidFill>
                    </a:lnL>
                    <a:lnR w="6350" cap="flat" cmpd="sng" algn="ctr">
                      <a:solidFill>
                        <a:srgbClr val="D9D9D9"/>
                      </a:solidFill>
                    </a:lnR>
                    <a:lnT w="6350" cap="flat" cmpd="sng" algn="ctr">
                      <a:solidFill>
                        <a:srgbClr val="D9D9D9"/>
                      </a:solidFill>
                    </a:lnT>
                    <a:lnB w="6350" cap="flat" cmpd="sng" algn="ctr">
                      <a:solidFill>
                        <a:srgbClr val="D9D9D9"/>
                      </a:solidFill>
                    </a:lnB>
                    <a:solidFill>
                      <a:srgbClr val="FFFFFF"/>
                    </a:solidFill>
                  </a:tcPr>
                </a:tc>
              </a:tr>
            </a:tbl>
          </a:graphicData>
        </a:graphic>
      </p:graphicFrame>
      <p:sp>
        <p:nvSpPr>
          <p:cNvPr id="8" name="TextBox 7"/>
          <p:cNvSpPr txBox="1"/>
          <p:nvPr/>
        </p:nvSpPr>
        <p:spPr>
          <a:xfrm>
            <a:off x="566928" y="4491590"/>
            <a:ext cx="11003280" cy="225704"/>
          </a:xfrm>
          <a:prstGeom prst="rect">
            <a:avLst/>
          </a:prstGeom>
          <a:noFill/>
        </p:spPr>
        <p:txBody>
          <a:bodyPr wrap="square" lIns="0" rIns="0" tIns="0" bIns="0" anchor="t">
            <a:noAutofit/>
          </a:bodyPr>
          <a:lstStyle/>
          <a:p>
            <a:pPr algn="l">
              <a:lnSpc>
                <a:spcPct val="100000"/>
              </a:lnSpc>
              <a:spcAft>
                <a:spcPts val="300"/>
              </a:spcAft>
            </a:pPr>
            <a:r>
              <a:rPr sz="1200" b="0">
                <a:solidFill>
                  <a:srgbClr val="999999"/>
                </a:solidFill>
                <a:latin typeface="Fira Code"/>
              </a:rPr>
              <a:t>EVERY COLUMN OF THE SOURCE TABLES, SET ON A SLIDE</a:t>
            </a:r>
          </a:p>
        </p:txBody>
      </p:sp>
      <p:sp>
        <p:nvSpPr>
          <p:cNvPr id="9" name="TextBox 8"/>
          <p:cNvSpPr txBox="1"/>
          <p:nvPr/>
        </p:nvSpPr>
        <p:spPr>
          <a:xfrm>
            <a:off x="566928" y="4717294"/>
            <a:ext cx="11003280" cy="744093"/>
          </a:xfrm>
          <a:prstGeom prst="rect">
            <a:avLst/>
          </a:prstGeom>
          <a:noFill/>
        </p:spPr>
        <p:txBody>
          <a:bodyPr wrap="square" lIns="0" rIns="0" tIns="0" bIns="0" anchor="t">
            <a:noAutofit/>
          </a:bodyPr>
          <a:lstStyle/>
          <a:p>
            <a:pPr algn="l">
              <a:lnSpc>
                <a:spcPct val="124000"/>
              </a:lnSpc>
              <a:spcAft>
                <a:spcPts val="0"/>
              </a:spcAft>
            </a:pPr>
            <a:r>
              <a:rPr sz="1400" b="0">
                <a:solidFill>
                  <a:srgbClr val="333333"/>
                </a:solidFill>
                <a:latin typeface="Inter"/>
              </a:rPr>
              <a:t>Every column of every source table is carried on these slides, Code Snippet (5-10 lines) included: each main row and each Layer 1 edge has its own cell set out verbatim, one paragraph per source line, under the File Path and Line(s) the audit prints for it. Nothing is abbreviated, summarised or left at its citation.</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225296"/>
            <a:ext cx="10424160" cy="659739"/>
          </a:xfrm>
          <a:prstGeom prst="rect">
            <a:avLst/>
          </a:prstGeom>
          <a:noFill/>
        </p:spPr>
        <p:txBody>
          <a:bodyPr wrap="square" lIns="0" rIns="0" tIns="0" bIns="0" anchor="t">
            <a:noAutofit/>
          </a:bodyPr>
          <a:lstStyle/>
          <a:p>
            <a:pPr algn="l">
              <a:lnSpc>
                <a:spcPct val="108000"/>
              </a:lnSpc>
              <a:spcAft>
                <a:spcPts val="0"/>
              </a:spcAft>
            </a:pPr>
            <a:r>
              <a:rPr sz="3600" b="1">
                <a:solidFill>
                  <a:srgbClr val="FFFFFF"/>
                </a:solidFill>
                <a:latin typeface="Space Grotesk"/>
              </a:rPr>
              <a:t>Every finding, exactly as catalogued</a:t>
            </a:r>
          </a:p>
        </p:txBody>
      </p:sp>
      <p:sp>
        <p:nvSpPr>
          <p:cNvPr id="3" name="TextBox 2"/>
          <p:cNvSpPr txBox="1"/>
          <p:nvPr/>
        </p:nvSpPr>
        <p:spPr>
          <a:xfrm>
            <a:off x="566928" y="2159355"/>
            <a:ext cx="8412480" cy="2214676"/>
          </a:xfrm>
          <a:prstGeom prst="rect">
            <a:avLst/>
          </a:prstGeom>
          <a:noFill/>
        </p:spPr>
        <p:txBody>
          <a:bodyPr wrap="square" lIns="0" rIns="0" tIns="0" bIns="0" anchor="t">
            <a:noAutofit/>
          </a:bodyPr>
          <a:lstStyle/>
          <a:p>
            <a:pPr algn="l" marL="228600" indent="-228600">
              <a:lnSpc>
                <a:spcPct val="124000"/>
              </a:lnSpc>
              <a:spcAft>
                <a:spcPts val="1200"/>
              </a:spcAft>
              <a:buClr>
                <a:srgbClr val="FFFFFF"/>
              </a:buClr>
              <a:buSzPct val="100000"/>
              <a:buFont typeface="Inter"/>
              <a:buChar char="•"/>
            </a:pPr>
            <a:r>
              <a:rPr sz="1600" b="0">
                <a:solidFill>
                  <a:srgbClr val="FFFFFF"/>
                </a:solidFill>
                <a:latin typeface="Inter"/>
              </a:rPr>
              <a:t>Both axes are the audit’s own: its Audit-Discipline Flags for severity, its Group and pillar structure for category.</a:t>
            </a:r>
          </a:p>
          <a:p>
            <a:pPr algn="l" marL="228600" indent="-228600">
              <a:lnSpc>
                <a:spcPct val="124000"/>
              </a:lnSpc>
              <a:spcAft>
                <a:spcPts val="1200"/>
              </a:spcAft>
              <a:buClr>
                <a:srgbClr val="FFFFFF"/>
              </a:buClr>
              <a:buSzPct val="100000"/>
              <a:buFont typeface="Inter"/>
              <a:buChar char="•"/>
            </a:pPr>
            <a:r>
              <a:rPr sz="1600" b="0">
                <a:solidFill>
                  <a:srgbClr val="FFFFFF"/>
                </a:solidFill>
                <a:latin typeface="Inter"/>
              </a:rPr>
              <a:t>Every figure printed here is a figure the audit states; every row keeps its own number, citation and Notes text.</a:t>
            </a:r>
          </a:p>
          <a:p>
            <a:pPr algn="l" marL="228600" indent="-228600">
              <a:lnSpc>
                <a:spcPct val="124000"/>
              </a:lnSpc>
              <a:spcAft>
                <a:spcPts val="1200"/>
              </a:spcAft>
              <a:buClr>
                <a:srgbClr val="FFFFFF"/>
              </a:buClr>
              <a:buSzPct val="100000"/>
              <a:buFont typeface="Inter"/>
              <a:buChar char="•"/>
            </a:pPr>
            <a:r>
              <a:rPr sz="1600" b="0">
                <a:solidFill>
                  <a:srgbClr val="FFFFFF"/>
                </a:solidFill>
                <a:latin typeface="Inter"/>
              </a:rPr>
              <a:t>The source of record stays exactly as it is: ArduPilot_PNT_Reference_Audit.pdf at audited HEAD 5b67e27b0a.</a:t>
            </a:r>
          </a:p>
        </p:txBody>
      </p:sp>
      <p:sp>
        <p:nvSpPr>
          <p:cNvPr id="4" name="Rectangle 3"/>
          <p:cNvSpPr/>
          <p:nvPr/>
        </p:nvSpPr>
        <p:spPr>
          <a:xfrm>
            <a:off x="566928" y="4846320"/>
            <a:ext cx="4206240" cy="91440"/>
          </a:xfrm>
          <a:prstGeom prst="rect">
            <a:avLst/>
          </a:prstGeom>
          <a:gradFill rotWithShape="1">
            <a:gsLst>
              <a:gs pos="0">
                <a:srgbClr val="5B39F3"/>
              </a:gs>
              <a:gs pos="100000">
                <a:srgbClr val="94FAD5"/>
              </a:gs>
            </a:gsLst>
            <a:lin scaled="0" ang="0"/>
          </a:gra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66928" y="5102352"/>
            <a:ext cx="3840480" cy="347472"/>
          </a:xfrm>
          <a:prstGeom prst="rect">
            <a:avLst/>
          </a:prstGeom>
          <a:noFill/>
        </p:spPr>
        <p:txBody>
          <a:bodyPr wrap="square" lIns="0" rIns="0" tIns="0" bIns="0" anchor="t">
            <a:noAutofit/>
          </a:bodyPr>
          <a:lstStyle/>
          <a:p>
            <a:pPr algn="l">
              <a:lnSpc>
                <a:spcPct val="100000"/>
              </a:lnSpc>
              <a:spcAft>
                <a:spcPts val="0"/>
              </a:spcAft>
            </a:pPr>
            <a:r>
              <a:rPr sz="1600" b="1">
                <a:solidFill>
                  <a:srgbClr val="94FAD5"/>
                </a:solidFill>
                <a:latin typeface="Space Grotesk"/>
              </a:rPr>
              <a:t>Blitzy</a:t>
            </a:r>
          </a:p>
        </p:txBody>
      </p:sp>
      <p:sp>
        <p:nvSpPr>
          <p:cNvPr id="6" name="TextBox 5"/>
          <p:cNvSpPr txBox="1"/>
          <p:nvPr/>
        </p:nvSpPr>
        <p:spPr>
          <a:xfrm>
            <a:off x="566928" y="5522976"/>
            <a:ext cx="11058144" cy="214960"/>
          </a:xfrm>
          <a:prstGeom prst="rect">
            <a:avLst/>
          </a:prstGeom>
          <a:noFill/>
        </p:spPr>
        <p:txBody>
          <a:bodyPr wrap="square" lIns="0" rIns="0" tIns="0" bIns="0" anchor="t">
            <a:noAutofit/>
          </a:bodyPr>
          <a:lstStyle/>
          <a:p>
            <a:pPr algn="l">
              <a:lnSpc>
                <a:spcPct val="100000"/>
              </a:lnSpc>
              <a:spcAft>
                <a:spcPts val="0"/>
              </a:spcAft>
            </a:pPr>
            <a:r>
              <a:rPr sz="1400" b="0">
                <a:solidFill>
                  <a:srgbClr val="94FAD5"/>
                </a:solidFill>
                <a:latin typeface="Inter"/>
              </a:rPr>
              <a:t>ArduPilot PNT (Positioning, Navigation, Timing) Reference Audit  ·  43 pages  ·  94 catalogued references  ·  282 evidence rows</a:t>
            </a:r>
          </a:p>
        </p:txBody>
      </p:sp>
    </p:spTree>
  </p:cSld>
  <p:clrMapOvr>
    <a:masterClrMapping/>
  </p:clrMapOvr>
</p:sld>
</file>

<file path=ppt/theme/theme1.xml><?xml version="1.0" encoding="utf-8"?>
<a:theme xmlns:a="http://schemas.openxmlformats.org/drawingml/2006/main" name="Blitzy Presentation">
  <a:themeElements>
    <a:clrScheme name="Blitzy">
      <a:dk1>
        <a:srgbClr val="333333"/>
      </a:dk1>
      <a:lt1>
        <a:srgbClr val="FFFFFF"/>
      </a:lt1>
      <a:dk2>
        <a:srgbClr val="1A105F"/>
      </a:dk2>
      <a:lt2>
        <a:srgbClr val="F4EFF6"/>
      </a:lt2>
      <a:accent1>
        <a:srgbClr val="5B39F3"/>
      </a:accent1>
      <a:accent2>
        <a:srgbClr val="7A6DEC"/>
      </a:accent2>
      <a:accent3>
        <a:srgbClr val="4101DB"/>
      </a:accent3>
      <a:accent4>
        <a:srgbClr val="2D1C77"/>
      </a:accent4>
      <a:accent5>
        <a:srgbClr val="94FAD5"/>
      </a:accent5>
      <a:accent6>
        <a:srgbClr val="999999"/>
      </a:accent6>
      <a:hlink>
        <a:srgbClr val="5B39F3"/>
      </a:hlink>
      <a:folHlink>
        <a:srgbClr val="2D1C77"/>
      </a:folHlink>
    </a:clrScheme>
    <a:fontScheme name="Blitzy">
      <a:majorFont>
        <a:latin typeface="Space Grotesk"/>
        <a:ea typeface=""/>
        <a:cs typeface=""/>
      </a:majorFont>
      <a:minorFont>
        <a:latin typeface="Inter"/>
        <a:ea typeface=""/>
        <a:cs typeface=""/>
      </a:minorFont>
    </a:fontScheme>
    <a:fmtScheme name="Blitz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33457</Words>
  <PresentationFormat>Widescreen</PresentationFormat>
  <Paragraphs>7021</Paragraphs>
  <Slides>239</Slides>
  <Notes>0</Notes>
  <HiddenSlides>0</HiddenSlides>
  <MMClips>0</MMClips>
  <ScaleCrop>false</ScaleCrop>
  <HeadingPairs>
    <vt:vector size="4" baseType="variant">
      <vt:variant>
        <vt:lpstr>Theme</vt:lpstr>
      </vt:variant>
      <vt:variant>
        <vt:i4>1</vt:i4>
      </vt:variant>
      <vt:variant>
        <vt:lpstr>Slide Titles</vt:lpstr>
      </vt:variant>
      <vt:variant>
        <vt:i4>239</vt:i4>
      </vt:variant>
    </vt:vector>
  </HeadingPairs>
  <TitlesOfParts>
    <vt:vector size="240" baseType="lpstr">
      <vt:lpstr>Blitzy Presentation</vt:lpstr>
      <vt:lpstr>ArduPilot PNT (Positioning, Navigation, Timing) Reference Audit</vt:lpstr>
      <vt:lpstr>How to read this deck</vt:lpstr>
      <vt:lpstr>The audit at a glance</vt:lpstr>
      <vt:lpstr>Legend</vt:lpstr>
      <vt:lpstr>Scope of the catalog</vt:lpstr>
      <vt:lpstr>Footprint Summary</vt:lpstr>
      <vt:lpstr>Project overview and the core problem addressed</vt:lpstr>
      <vt:lpstr>Project overview and the core problem addressed (continued)</vt:lpstr>
      <vt:lpstr>Key Stakeholders and Users</vt:lpstr>
      <vt:lpstr>Which part of this deck each audience needs</vt:lpstr>
      <vt:lpstr>Key Findings at a Glance</vt:lpstr>
      <vt:lpstr>Key Findings at a Glance (continued)</vt:lpstr>
      <vt:lpstr>Expected Impact and Value Proposition</vt:lpstr>
      <vt:lpstr>Document Roadmap / How to Read This Document</vt:lpstr>
      <vt:lpstr>Severity axis</vt:lpstr>
      <vt:lpstr>Audit-Discipline Flags</vt:lpstr>
      <vt:lpstr>Flag [SHARED-STRUCT] – where it is applied</vt:lpstr>
      <vt:lpstr>Flag [SHARED-STRUCT] (continued)</vt:lpstr>
      <vt:lpstr>Flag [SHARED-STRUCT] in the Layer 2 chains</vt:lpstr>
      <vt:lpstr>Flag [DUPLICATED] – where it is applied</vt:lpstr>
      <vt:lpstr>Flag [DUPLICATED] (continued)</vt:lpstr>
      <vt:lpstr>Flag [DUPLICATED] in the Layer 2 chains</vt:lpstr>
      <vt:lpstr>Flag [DUPLICATED] in the Layer 2 chains (continued)</vt:lpstr>
      <vt:lpstr>Flag [CIRCULAR] – where it is applied</vt:lpstr>
      <vt:lpstr>Flag [CIRCULAR] in the Layer 2 chains</vt:lpstr>
      <vt:lpstr>Flag [MULTI-CATEGORY] – where it is applied</vt:lpstr>
      <vt:lpstr>Flag [MULTI-CATEGORY] in the Layer 2 chains</vt:lpstr>
      <vt:lpstr>Flag [ABSENT] – where it is applied</vt:lpstr>
      <vt:lpstr>Flag [ABSENT] in the Layer 2 chains</vt:lpstr>
      <vt:lpstr>Flag [ABSENT] – the checked absences</vt:lpstr>
      <vt:lpstr>The two touch-points the audit itself singles out</vt:lpstr>
      <vt:lpstr>Table 1 — Core Positioning</vt:lpstr>
      <vt:lpstr>Table 1 — Core Positioning</vt:lpstr>
      <vt:lpstr>Table 1 — Core Positioning (continued)</vt:lpstr>
      <vt:lpstr>Table 1 — Core Positioning (continued)</vt:lpstr>
      <vt:lpstr>Table 1 — Core Positioning (continued)</vt:lpstr>
      <vt:lpstr>Table 1 — Core Positioning (continued)</vt:lpstr>
      <vt:lpstr>Table 1 — Code Snippet (5-10 lines)</vt:lpstr>
      <vt:lpstr>Table 1 — Code Snippet (5-10 lines) (continued)</vt:lpstr>
      <vt:lpstr>Table 1 — Code Snippet (5-10 lines) (continued)</vt:lpstr>
      <vt:lpstr>Table 1 — Code Snippet (5-10 lines) (continued)</vt:lpstr>
      <vt:lpstr>Table 1 — Code Snippet (5-10 lines) (continued)</vt:lpstr>
      <vt:lpstr>Table 1 — Code Snippet (5-10 lines) (continued)</vt:lpstr>
      <vt:lpstr>Table 1 — Code Snippet (5-10 lines) (continued)</vt:lpstr>
      <vt:lpstr>Table 1 — Code Snippet (5-10 lines) (continued)</vt:lpstr>
      <vt:lpstr>Table 1 — Code Snippet (5-10 lines) (continued)</vt:lpstr>
      <vt:lpstr>Table 1 — Code Snippet (5-10 lines) (continued)</vt:lpstr>
      <vt:lpstr>Table 1 — Code Snippet (5-10 lines) (continued)</vt:lpstr>
      <vt:lpstr>Table 1 — Code Snippet (5-10 lines) (continued)</vt:lpstr>
      <vt:lpstr>Table 1 — Code Snippet (5-10 lines) (continued)</vt:lpstr>
      <vt:lpstr>Table 1 — Code Snippet (5-10 lines) (continued)</vt:lpstr>
      <vt:lpstr>Table 1a — Layer 1 dependency map</vt:lpstr>
      <vt:lpstr>Table 1a — Layer 1 dependency map (continued)</vt:lpstr>
      <vt:lpstr>Table 1a — Layer 1 dependency map (continued)</vt:lpstr>
      <vt:lpstr>Table 1a — Layer 1 Code Snippet</vt:lpstr>
      <vt:lpstr>Table 1a — Layer 1 Code Snippet (continued)</vt:lpstr>
      <vt:lpstr>Table 1a — Layer 1 Code Snippet (continued)</vt:lpstr>
      <vt:lpstr>Table 1a — Layer 1 Code Snippet (continued)</vt:lpstr>
      <vt:lpstr>Table 1a — Layer 1 Code Snippet (continued)</vt:lpstr>
      <vt:lpstr>Table 1a — Layer 1 Code Snippet (continued)</vt:lpstr>
      <vt:lpstr>Table 1a — Layer 1 Code Snippet (continued)</vt:lpstr>
      <vt:lpstr>Table 1a — Layer 1 Code Snippet (continued)</vt:lpstr>
      <vt:lpstr>Table 1a — Layer 1 Code Snippet (continued)</vt:lpstr>
      <vt:lpstr>Table 1a — Layer 1 Code Snippet (continued)</vt:lpstr>
      <vt:lpstr>Table 1a — Layer 1 Code Snippet (continued)</vt:lpstr>
      <vt:lpstr>Table 1a — Layer 1 Code Snippet (continued)</vt:lpstr>
      <vt:lpstr>Table 1a — Layer 1 Code Snippet (continued)</vt:lpstr>
      <vt:lpstr>Table 1a — Layer 2 transitive chains</vt:lpstr>
      <vt:lpstr>Table 1a — Layer 2 transitive chains (continued)</vt:lpstr>
      <vt:lpstr>Table 1a — Layer 2 transitive chains (continued)</vt:lpstr>
      <vt:lpstr>Table 1a — Layer 2 transitive chains (continued)</vt:lpstr>
      <vt:lpstr>Table 1a — Layer 2 transitive chains (continued)</vt:lpstr>
      <vt:lpstr>Table 1a — Layer 2 transitive chains (continued)</vt:lpstr>
      <vt:lpstr>Table 1a — Layer 2 transitive chains (continued)</vt:lpstr>
      <vt:lpstr>Table 1a — Layer 2 transitive chains (continued)</vt:lpstr>
      <vt:lpstr>Table 1a — Layer 2 transitive chains (continued)</vt:lpstr>
      <vt:lpstr>Table 1a — Layer 2 transitive chains (continued)</vt:lpstr>
      <vt:lpstr>Table 2 — Core Navigation</vt:lpstr>
      <vt:lpstr>Table 2 — Core Navigation</vt:lpstr>
      <vt:lpstr>Table 2 — Core Navigation (continued)</vt:lpstr>
      <vt:lpstr>Table 2 — Core Navigation (continued)</vt:lpstr>
      <vt:lpstr>Table 2 — Core Navigation (continued)</vt:lpstr>
      <vt:lpstr>Table 2 — Core Navigation (continued)</vt:lpstr>
      <vt:lpstr>Table 2 — Core Navigation (continued)</vt:lpstr>
      <vt:lpstr>Table 2 — Core Navigation (continued)</vt:lpstr>
      <vt:lpstr>Table 2 — Code Snippet (5-10 lines)</vt:lpstr>
      <vt:lpstr>Table 2 — Code Snippet (5-10 lines) (continued)</vt:lpstr>
      <vt:lpstr>Table 2 — Code Snippet (5-10 lines) (continued)</vt:lpstr>
      <vt:lpstr>Table 2 — Code Snippet (5-10 lines) (continued)</vt:lpstr>
      <vt:lpstr>Table 2 — Code Snippet (5-10 lines) (continued)</vt:lpstr>
      <vt:lpstr>Table 2 — Code Snippet (5-10 lines) (continued)</vt:lpstr>
      <vt:lpstr>Table 2 — Code Snippet (5-10 lines) (continued)</vt:lpstr>
      <vt:lpstr>Table 2 — Code Snippet (5-10 lines) (continued)</vt:lpstr>
      <vt:lpstr>Table 2 — Code Snippet (5-10 lines) (continued)</vt:lpstr>
      <vt:lpstr>Table 2 — Code Snippet (5-10 lines) (continued)</vt:lpstr>
      <vt:lpstr>Table 2 — Code Snippet (5-10 lines) (continued)</vt:lpstr>
      <vt:lpstr>Table 2 — Code Snippet (5-10 lines) (continued)</vt:lpstr>
      <vt:lpstr>Table 2 — Code Snippet (5-10 lines) (continued)</vt:lpstr>
      <vt:lpstr>Table 2 — Code Snippet (5-10 lines) (continued)</vt:lpstr>
      <vt:lpstr>Table 2a — Layer 1 dependency map</vt:lpstr>
      <vt:lpstr>Table 2a — Layer 1 dependency map (continued)</vt:lpstr>
      <vt:lpstr>Table 2a — Layer 1 dependency map (continued)</vt:lpstr>
      <vt:lpstr>Table 2a — Layer 1 Code Snippet</vt:lpstr>
      <vt:lpstr>Table 2a — Layer 1 Code Snippet (continued)</vt:lpstr>
      <vt:lpstr>Table 2a — Layer 1 Code Snippet (continued)</vt:lpstr>
      <vt:lpstr>Table 2a — Layer 1 Code Snippet (continued)</vt:lpstr>
      <vt:lpstr>Table 2a — Layer 1 Code Snippet (continued)</vt:lpstr>
      <vt:lpstr>Table 2a — Layer 1 Code Snippet (continued)</vt:lpstr>
      <vt:lpstr>Table 2a — Layer 1 Code Snippet (continued)</vt:lpstr>
      <vt:lpstr>Table 2a — Layer 1 Code Snippet (continued)</vt:lpstr>
      <vt:lpstr>Table 2a — Layer 1 Code Snippet (continued)</vt:lpstr>
      <vt:lpstr>Table 2a — Layer 1 Code Snippet (continued)</vt:lpstr>
      <vt:lpstr>Table 2a — Layer 1 Code Snippet (continued)</vt:lpstr>
      <vt:lpstr>Table 2a — Layer 1 Code Snippet (continued)</vt:lpstr>
      <vt:lpstr>Table 2a — Layer 1 Code Snippet (continued)</vt:lpstr>
      <vt:lpstr>Table 2a — Layer 1 Code Snippet (continued)</vt:lpstr>
      <vt:lpstr>Table 2a — Layer 2 transitive chains</vt:lpstr>
      <vt:lpstr>Table 2a — Layer 2 transitive chains (continued)</vt:lpstr>
      <vt:lpstr>Table 2a — Layer 2 transitive chains (continued)</vt:lpstr>
      <vt:lpstr>Table 2a — Layer 2 transitive chains (continued)</vt:lpstr>
      <vt:lpstr>Table 2a — Layer 2 transitive chains (continued)</vt:lpstr>
      <vt:lpstr>Table 3 — Core Timing</vt:lpstr>
      <vt:lpstr>Table 3 — Core Timing</vt:lpstr>
      <vt:lpstr>Table 3 — Core Timing (continued)</vt:lpstr>
      <vt:lpstr>Table 3 — Code Snippet (5-10 lines)</vt:lpstr>
      <vt:lpstr>Table 3 — Code Snippet (5-10 lines) (continued)</vt:lpstr>
      <vt:lpstr>Table 3 — Code Snippet (5-10 lines) (continued)</vt:lpstr>
      <vt:lpstr>Table 3 — Code Snippet (5-10 lines) (continued)</vt:lpstr>
      <vt:lpstr>Table 3 — Code Snippet (5-10 lines) (continued)</vt:lpstr>
      <vt:lpstr>Table 3a — Layer 1 dependency map</vt:lpstr>
      <vt:lpstr>Table 3a — Layer 1 dependency map (continued)</vt:lpstr>
      <vt:lpstr>Table 3a — Layer 1 Code Snippet</vt:lpstr>
      <vt:lpstr>Table 3a — Layer 1 Code Snippet (continued)</vt:lpstr>
      <vt:lpstr>Table 3a — Layer 1 Code Snippet (continued)</vt:lpstr>
      <vt:lpstr>Table 3a — Layer 1 Code Snippet (continued)</vt:lpstr>
      <vt:lpstr>Table 3a — Layer 1 Code Snippet (continued)</vt:lpstr>
      <vt:lpstr>Table 3a — Layer 2 transitive chains</vt:lpstr>
      <vt:lpstr>Table 3a — Layer 2 transitive chains (continued)</vt:lpstr>
      <vt:lpstr>Table 4 — Indirect Positioning</vt:lpstr>
      <vt:lpstr>Table 4 — Indirect Positioning</vt:lpstr>
      <vt:lpstr>Table 4 — Indirect Positioning (continued)</vt:lpstr>
      <vt:lpstr>Table 4 — Indirect Positioning (continued)</vt:lpstr>
      <vt:lpstr>Table 4 — Indirect Positioning (continued)</vt:lpstr>
      <vt:lpstr>Table 4 — Code Snippet (5-10 lines)</vt:lpstr>
      <vt:lpstr>Table 4 — Code Snippet (5-10 lines) (continued)</vt:lpstr>
      <vt:lpstr>Table 4 — Code Snippet (5-10 lines) (continued)</vt:lpstr>
      <vt:lpstr>Table 4 — Code Snippet (5-10 lines) (continued)</vt:lpstr>
      <vt:lpstr>Table 4 — Code Snippet (5-10 lines) (continued)</vt:lpstr>
      <vt:lpstr>Table 4 — Code Snippet (5-10 lines) (continued)</vt:lpstr>
      <vt:lpstr>Table 4a — Layer 1 dependency map</vt:lpstr>
      <vt:lpstr>Table 4a — Layer 1 dependency map (continued)</vt:lpstr>
      <vt:lpstr>Table 4a — Layer 1 Code Snippet</vt:lpstr>
      <vt:lpstr>Table 4a — Layer 1 Code Snippet (continued)</vt:lpstr>
      <vt:lpstr>Table 4a — Layer 1 Code Snippet (continued)</vt:lpstr>
      <vt:lpstr>Table 4a — Layer 1 Code Snippet (continued)</vt:lpstr>
      <vt:lpstr>Table 4a — Layer 1 Code Snippet (continued)</vt:lpstr>
      <vt:lpstr>Table 4a — Layer 2 transitive chains</vt:lpstr>
      <vt:lpstr>Table 4a — Layer 2 transitive chains (continued)</vt:lpstr>
      <vt:lpstr>Table 5 — Indirect Navigation</vt:lpstr>
      <vt:lpstr>Table 5 — Indirect Navigation</vt:lpstr>
      <vt:lpstr>Table 5 — Indirect Navigation (continued)</vt:lpstr>
      <vt:lpstr>Table 5 — Indirect Navigation (continued)</vt:lpstr>
      <vt:lpstr>Table 5 — Indirect Navigation (continued)</vt:lpstr>
      <vt:lpstr>Table 5 — Code Snippet (5-10 lines)</vt:lpstr>
      <vt:lpstr>Table 5 — Code Snippet (5-10 lines) (continued)</vt:lpstr>
      <vt:lpstr>Table 5 — Code Snippet (5-10 lines) (continued)</vt:lpstr>
      <vt:lpstr>Table 5 — Code Snippet (5-10 lines) (continued)</vt:lpstr>
      <vt:lpstr>Table 5 — Code Snippet (5-10 lines) (continued)</vt:lpstr>
      <vt:lpstr>Table 5 — Code Snippet (5-10 lines) (continued)</vt:lpstr>
      <vt:lpstr>Table 5a — Layer 1 dependency map</vt:lpstr>
      <vt:lpstr>Table 5a — Layer 1 dependency map (continued)</vt:lpstr>
      <vt:lpstr>Table 5a — Layer 1 Code Snippet</vt:lpstr>
      <vt:lpstr>Table 5a — Layer 1 Code Snippet (continued)</vt:lpstr>
      <vt:lpstr>Table 5a — Layer 1 Code Snippet (continued)</vt:lpstr>
      <vt:lpstr>Table 5a — Layer 1 Code Snippet (continued)</vt:lpstr>
      <vt:lpstr>Table 5a — Layer 1 Code Snippet (continued)</vt:lpstr>
      <vt:lpstr>Table 5a — Layer 2 transitive chains</vt:lpstr>
      <vt:lpstr>Table 5a — Layer 2 transitive chains (continued)</vt:lpstr>
      <vt:lpstr>Table 6 — Indirect Timing</vt:lpstr>
      <vt:lpstr>Table 6 — Indirect Timing</vt:lpstr>
      <vt:lpstr>Table 6 — Indirect Timing (continued)</vt:lpstr>
      <vt:lpstr>Table 6 — Indirect Timing (continued)</vt:lpstr>
      <vt:lpstr>Table 6 — Indirect Timing (continued)</vt:lpstr>
      <vt:lpstr>Table 6 — Indirect Timing (continued)</vt:lpstr>
      <vt:lpstr>Table 6 — Indirect Timing (continued)</vt:lpstr>
      <vt:lpstr>Table 6 — Indirect Timing (continued)</vt:lpstr>
      <vt:lpstr>Table 6 — Code Snippet (5-10 lines)</vt:lpstr>
      <vt:lpstr>Table 6 — Code Snippet (5-10 lines) (continued)</vt:lpstr>
      <vt:lpstr>Table 6 — Code Snippet (5-10 lines) (continued)</vt:lpstr>
      <vt:lpstr>Table 6 — Code Snippet (5-10 lines) (continued)</vt:lpstr>
      <vt:lpstr>Table 6 — Code Snippet (5-10 lines) (continued)</vt:lpstr>
      <vt:lpstr>Table 6 — Code Snippet (5-10 lines) (continued)</vt:lpstr>
      <vt:lpstr>Table 6a — Layer 1 dependency map</vt:lpstr>
      <vt:lpstr>Table 6a — Layer 1 dependency map (continued)</vt:lpstr>
      <vt:lpstr>Table 6a — Layer 1 Code Snippet</vt:lpstr>
      <vt:lpstr>Table 6a — Layer 1 Code Snippet (continued)</vt:lpstr>
      <vt:lpstr>Table 6a — Layer 1 Code Snippet (continued)</vt:lpstr>
      <vt:lpstr>Table 6a — Layer 1 Code Snippet (continued)</vt:lpstr>
      <vt:lpstr>Table 6a — Layer 1 Code Snippet (continued)</vt:lpstr>
      <vt:lpstr>Table 6a — Layer 2 transitive chains</vt:lpstr>
      <vt:lpstr>Table 6a — Layer 2 transitive chains (continued)</vt:lpstr>
      <vt:lpstr>Table 6a — Layer 2 transitive chains (continued)</vt:lpstr>
      <vt:lpstr>Layer 1 dependency types across all 94 rows</vt:lpstr>
      <vt:lpstr>Layer 2 chain depth, and the evidence-row reconciliation</vt:lpstr>
      <vt:lpstr>PNT Instance Audit</vt:lpstr>
      <vt:lpstr>PNT Instance Audit</vt:lpstr>
      <vt:lpstr>PNT Instance Audit (continued)</vt:lpstr>
      <vt:lpstr>The line-number basis, reproduced unchanged</vt:lpstr>
      <vt:lpstr>Coverage &amp; Explicit-Absence Register</vt:lpstr>
      <vt:lpstr>What the register establishes</vt:lpstr>
      <vt:lpstr>The ten sub-registers, in the audit’s own order</vt:lpstr>
      <vt:lpstr>Coverage sub-register (1)</vt:lpstr>
      <vt:lpstr>Coverage sub-register (2)</vt:lpstr>
      <vt:lpstr>Coverage sub-register (3)</vt:lpstr>
      <vt:lpstr>Coverage sub-register (3) (continued)</vt:lpstr>
      <vt:lpstr>Coverage sub-register (4)</vt:lpstr>
      <vt:lpstr>Coverage sub-register (4) (continued)</vt:lpstr>
      <vt:lpstr>Coverage sub-register (5)</vt:lpstr>
      <vt:lpstr>Coverage sub-register (6)</vt:lpstr>
      <vt:lpstr>Coverage sub-register (7)</vt:lpstr>
      <vt:lpstr>Coverage sub-register (7) (continued)</vt:lpstr>
      <vt:lpstr>Coverage sub-register (7) (continued)</vt:lpstr>
      <vt:lpstr>Coverage sub-register (7) (continued)</vt:lpstr>
      <vt:lpstr>Coverage sub-register (7) (continued)</vt:lpstr>
      <vt:lpstr>Coverage sub-register (8)</vt:lpstr>
      <vt:lpstr>Coverage sub-register (8) (continued)</vt:lpstr>
      <vt:lpstr>Coverage sub-register (8) (continued)</vt:lpstr>
      <vt:lpstr>Coverage sub-register (8) (continued)</vt:lpstr>
      <vt:lpstr>Coverage sub-register (9)</vt:lpstr>
      <vt:lpstr>Coverage sub-register (9) (continued)</vt:lpstr>
      <vt:lpstr>Coverage sub-register (10)</vt:lpstr>
      <vt:lpstr>Coverage sub-register (10) (continued)</vt:lpstr>
      <vt:lpstr>Provenance, in the audit’s own words</vt:lpstr>
      <vt:lpstr>Coverage reconciliation</vt:lpstr>
      <vt:lpstr>Coverage reconciliation (continued)</vt:lpstr>
      <vt:lpstr>Coverage reconciliation (continued)</vt:lpstr>
      <vt:lpstr>Coverage reconciliation (continued)</vt:lpstr>
      <vt:lpstr>The totals, reconciled</vt:lpstr>
      <vt:lpstr>Every finding, exactly as catalogued</vt:lpstr>
    </vt:vector>
  </TitlesOfParts>
  <Company>Blitzy</Company>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ArduPilot PNT Reference Audit — Full Findings</dc:title>
  <dc:creator>Blitzy</dc:creator>
  <cp:lastModifiedBy>Blitzy</cp:lastModifiedBy>
  <cp:revision>1</cp:revision>
  <dc:subject>Every catalogued finding of the ArduPilot PNT Reference Audit, ordered by the audit’s own Audit-Discipline Flags severity axis and its own Group and pillar category axis.</dc:subject>
  <dc:description>Comprehensive findings deck over the ArduPilot PNT Reference Audit at audited HEAD 5b67e27b0a: all 94 catalogued main rows with their paired Layer 1 and Layer 2 dependency maps, the 12-row service mapping and all 109 coverage entries, quoted verbatim.</dc:description>
  <cp:keywords>ArduPilot; PNT; positioning; navigation; timing; static-analysis catalog; audit findings; dependency map</cp:keywords>
  <cp:category>Audit findings reference</cp:category>
  <cp:contentStatus>Final</cp:contentStatus>
  <dc:language>en-GB</dc:language>
  <dcterms:created xsi:type="dcterms:W3CDTF">2026-08-01T08:35:56Z</dcterms:created>
  <dcterms:modified xsi:type="dcterms:W3CDTF">2026-08-01T08:35:56Z</dcterms:modified>
</cp:coreProperties>
</file>