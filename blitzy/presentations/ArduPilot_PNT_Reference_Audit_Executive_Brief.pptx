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15560">
                <a:srgbClr val="7A6DEC"/>
              </a:gs>
              <a:gs pos="62740">
                <a:srgbClr val="5B39F3"/>
              </a:gs>
              <a:gs pos="84440">
                <a:srgbClr val="4101DB"/>
              </a:gs>
            </a:gsLst>
            <a:lin scaled="0" ang="2028000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566928" y="1481328"/>
            <a:ext cx="11058144" cy="310896"/>
          </a:xfrm>
          <a:prstGeom prst="rect">
            <a:avLst/>
          </a:prstGeom>
          <a:noFill/>
        </p:spPr>
        <p:txBody>
          <a:bodyPr wrap="square" lIns="0" rIns="0" tIns="0" bIns="0" anchor="t">
            <a:noAutofit/>
          </a:bodyPr>
          <a:lstStyle/>
          <a:p>
            <a:pPr algn="l">
              <a:lnSpc>
                <a:spcPct val="100000"/>
              </a:lnSpc>
              <a:spcAft>
                <a:spcPts val="0"/>
              </a:spcAft>
            </a:pPr>
            <a:r>
              <a:rPr sz="1300" b="0">
                <a:solidFill>
                  <a:srgbClr val="94FAD5"/>
                </a:solidFill>
                <a:latin typeface="Fira Code"/>
              </a:rPr>
              <a:t>EXECUTIVE BRIEF  ·  CLIENT READERSHIP</a:t>
            </a:r>
          </a:p>
        </p:txBody>
      </p:sp>
      <p:sp>
        <p:nvSpPr>
          <p:cNvPr id="4" name="TextBox 3"/>
          <p:cNvSpPr txBox="1"/>
          <p:nvPr/>
        </p:nvSpPr>
        <p:spPr>
          <a:xfrm>
            <a:off x="566928" y="1920240"/>
            <a:ext cx="10424160" cy="1737360"/>
          </a:xfrm>
          <a:prstGeom prst="rect">
            <a:avLst/>
          </a:prstGeom>
          <a:noFill/>
        </p:spPr>
        <p:txBody>
          <a:bodyPr wrap="square" lIns="0" rIns="0" tIns="0" bIns="0" anchor="t">
            <a:noAutofit/>
          </a:bodyPr>
          <a:lstStyle/>
          <a:p>
            <a:pPr algn="l">
              <a:lnSpc>
                <a:spcPct val="130000"/>
              </a:lnSpc>
              <a:spcAft>
                <a:spcPts val="0"/>
              </a:spcAft>
            </a:pPr>
            <a:r>
              <a:rPr sz="4000" b="1">
                <a:solidFill>
                  <a:srgbClr val="FFFFFF"/>
                </a:solidFill>
                <a:latin typeface="Space Grotesk"/>
              </a:rPr>
              <a:t>ArduPilot PNT (Positioning, Navigation, Timing) Reference Audit</a:t>
            </a:r>
          </a:p>
        </p:txBody>
      </p:sp>
      <p:sp>
        <p:nvSpPr>
          <p:cNvPr id="5" name="TextBox 4"/>
          <p:cNvSpPr txBox="1"/>
          <p:nvPr/>
        </p:nvSpPr>
        <p:spPr>
          <a:xfrm>
            <a:off x="566928" y="3675887"/>
            <a:ext cx="10424160" cy="658368"/>
          </a:xfrm>
          <a:prstGeom prst="rect">
            <a:avLst/>
          </a:prstGeom>
          <a:noFill/>
        </p:spPr>
        <p:txBody>
          <a:bodyPr wrap="square" lIns="0" rIns="0" tIns="0" bIns="0" anchor="t">
            <a:noAutofit/>
          </a:bodyPr>
          <a:lstStyle/>
          <a:p>
            <a:pPr algn="l">
              <a:lnSpc>
                <a:spcPct val="124000"/>
              </a:lnSpc>
              <a:spcAft>
                <a:spcPts val="0"/>
              </a:spcAft>
            </a:pPr>
            <a:r>
              <a:rPr sz="1600" b="0">
                <a:solidFill>
                  <a:srgbClr val="FFFFFF"/>
                </a:solidFill>
                <a:latin typeface="Inter"/>
              </a:rPr>
              <a:t>Read-only static-analysis audit — every snippet reproduced verbatim from the cited path:line range</a:t>
            </a:r>
          </a:p>
        </p:txBody>
      </p:sp>
      <p:sp>
        <p:nvSpPr>
          <p:cNvPr id="6" name="Rectangle 5"/>
          <p:cNvSpPr/>
          <p:nvPr/>
        </p:nvSpPr>
        <p:spPr>
          <a:xfrm>
            <a:off x="566928" y="4498848"/>
            <a:ext cx="4206240" cy="91440"/>
          </a:xfrm>
          <a:prstGeom prst="rect">
            <a:avLst/>
          </a:prstGeom>
          <a:gradFill rotWithShape="1">
            <a:gsLst>
              <a:gs pos="0">
                <a:srgbClr val="5B39F3"/>
              </a:gs>
              <a:gs pos="100000">
                <a:srgbClr val="94FAD5"/>
              </a:gs>
            </a:gsLst>
            <a:lin scaled="0" ang="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TextBox 6"/>
          <p:cNvSpPr txBox="1"/>
          <p:nvPr/>
        </p:nvSpPr>
        <p:spPr>
          <a:xfrm>
            <a:off x="566928" y="4773168"/>
            <a:ext cx="11058144" cy="310896"/>
          </a:xfrm>
          <a:prstGeom prst="rect">
            <a:avLst/>
          </a:prstGeom>
          <a:noFill/>
        </p:spPr>
        <p:txBody>
          <a:bodyPr wrap="square" lIns="0" rIns="0" tIns="0" bIns="0" anchor="t">
            <a:noAutofit/>
          </a:bodyPr>
          <a:lstStyle/>
          <a:p>
            <a:pPr algn="l">
              <a:lnSpc>
                <a:spcPct val="100000"/>
              </a:lnSpc>
              <a:spcAft>
                <a:spcPts val="0"/>
              </a:spcAft>
            </a:pPr>
            <a:r>
              <a:rPr sz="1000" b="0">
                <a:solidFill>
                  <a:srgbClr val="94FAD5"/>
                </a:solidFill>
                <a:latin typeface="Fira Code"/>
              </a:rPr>
              <a:t>HEAD 5b67e27b0a  ·  43 pages  ·  Read-only static-analysis catalog</a:t>
            </a:r>
          </a:p>
        </p:txBody>
      </p:sp>
      <p:sp>
        <p:nvSpPr>
          <p:cNvPr id="8" name="TextBox 7"/>
          <p:cNvSpPr txBox="1"/>
          <p:nvPr/>
        </p:nvSpPr>
        <p:spPr>
          <a:xfrm>
            <a:off x="566928" y="5138928"/>
            <a:ext cx="10424160" cy="548640"/>
          </a:xfrm>
          <a:prstGeom prst="rect">
            <a:avLst/>
          </a:prstGeom>
          <a:noFill/>
        </p:spPr>
        <p:txBody>
          <a:bodyPr wrap="square" lIns="0" rIns="0" tIns="0" bIns="0" anchor="t">
            <a:noAutofit/>
          </a:bodyPr>
          <a:lstStyle/>
          <a:p>
            <a:pPr algn="l">
              <a:lnSpc>
                <a:spcPct val="120000"/>
              </a:lnSpc>
              <a:spcAft>
                <a:spcPts val="0"/>
              </a:spcAft>
            </a:pPr>
            <a:r>
              <a:rPr sz="1200" b="0">
                <a:solidFill>
                  <a:srgbClr val="FFFFFF"/>
                </a:solidFill>
                <a:latin typeface="Inter"/>
              </a:rPr>
              <a:t>Findings in broad strokes, grouped by theme. The companion comprehensive deck carries the catalog detail.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000" b="0">
                <a:solidFill>
                  <a:srgbClr val="5B39F3"/>
                </a:solidFill>
                <a:latin typeface="Fira Code"/>
              </a:rPr>
              <a:t>PURPOSE AND SCOPE</a:t>
            </a:r>
          </a:p>
        </p:txBody>
      </p:sp>
      <p:sp>
        <p:nvSpPr>
          <p:cNvPr id="4" name="TextBox 3"/>
          <p:cNvSpPr txBox="1"/>
          <p:nvPr/>
        </p:nvSpPr>
        <p:spPr>
          <a:xfrm>
            <a:off x="566928" y="658368"/>
            <a:ext cx="11064240" cy="548640"/>
          </a:xfrm>
          <a:prstGeom prst="rect">
            <a:avLst/>
          </a:prstGeom>
          <a:noFill/>
        </p:spPr>
        <p:txBody>
          <a:bodyPr wrap="square" lIns="0" rIns="0" tIns="0" bIns="0" anchor="t">
            <a:noAutofit/>
          </a:bodyPr>
          <a:lstStyle/>
          <a:p>
            <a:pPr algn="l">
              <a:lnSpc>
                <a:spcPct val="130000"/>
              </a:lnSpc>
              <a:spcAft>
                <a:spcPts val="0"/>
              </a:spcAft>
            </a:pPr>
            <a:r>
              <a:rPr sz="2600" b="1">
                <a:solidFill>
                  <a:srgbClr val="333333"/>
                </a:solidFill>
                <a:latin typeface="Space Grotesk"/>
              </a:rPr>
              <a:t>What this audit set out to establish</a:t>
            </a:r>
          </a:p>
        </p:txBody>
      </p:sp>
      <p:sp>
        <p:nvSpPr>
          <p:cNvPr id="5" name="Rectangle 4"/>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566928" y="1426464"/>
            <a:ext cx="11064240" cy="214960"/>
          </a:xfrm>
          <a:prstGeom prst="rect">
            <a:avLst/>
          </a:prstGeom>
          <a:noFill/>
        </p:spPr>
        <p:txBody>
          <a:bodyPr wrap="square" lIns="0" rIns="0" tIns="0" bIns="0" anchor="t">
            <a:noAutofit/>
          </a:bodyPr>
          <a:lstStyle/>
          <a:p>
            <a:pPr algn="l">
              <a:lnSpc>
                <a:spcPct val="124000"/>
              </a:lnSpc>
              <a:spcAft>
                <a:spcPts val="0"/>
              </a:spcAft>
            </a:pPr>
            <a:r>
              <a:rPr sz="1400" b="0">
                <a:solidFill>
                  <a:srgbClr val="333333"/>
                </a:solidFill>
                <a:latin typeface="Inter"/>
              </a:rPr>
              <a:t>The audit answers one question exhaustively: where does PNT behaviour live today, and what depends on it?</a:t>
            </a:r>
          </a:p>
        </p:txBody>
      </p:sp>
      <p:sp>
        <p:nvSpPr>
          <p:cNvPr id="7" name="TextBox 6"/>
          <p:cNvSpPr txBox="1"/>
          <p:nvPr/>
        </p:nvSpPr>
        <p:spPr>
          <a:xfrm>
            <a:off x="566928" y="1806016"/>
            <a:ext cx="11058144" cy="194437"/>
          </a:xfrm>
          <a:prstGeom prst="rect">
            <a:avLst/>
          </a:prstGeom>
          <a:noFill/>
        </p:spPr>
        <p:txBody>
          <a:bodyPr wrap="square" lIns="0" rIns="0" tIns="0" bIns="0" anchor="t">
            <a:noAutofit/>
          </a:bodyPr>
          <a:lstStyle/>
          <a:p>
            <a:pPr algn="l">
              <a:lnSpc>
                <a:spcPct val="100000"/>
              </a:lnSpc>
              <a:spcAft>
                <a:spcPts val="300"/>
              </a:spcAft>
            </a:pPr>
            <a:r>
              <a:rPr sz="1000" b="0">
                <a:solidFill>
                  <a:srgbClr val="999999"/>
                </a:solidFill>
                <a:latin typeface="Fira Code"/>
              </a:rPr>
              <a:t>THE CORE PROBLEM ADDRESSED, AS THE AUDIT STATES IT</a:t>
            </a:r>
          </a:p>
        </p:txBody>
      </p:sp>
      <p:sp>
        <p:nvSpPr>
          <p:cNvPr id="8" name="Rectangle 7"/>
          <p:cNvSpPr/>
          <p:nvPr/>
        </p:nvSpPr>
        <p:spPr>
          <a:xfrm>
            <a:off x="566928" y="2000453"/>
            <a:ext cx="32004" cy="250405"/>
          </a:xfrm>
          <a:prstGeom prst="rect">
            <a:avLst/>
          </a:prstGeom>
          <a:solidFill>
            <a:srgbClr val="5B39F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713232" y="2000453"/>
            <a:ext cx="10911840" cy="250405"/>
          </a:xfrm>
          <a:prstGeom prst="rect">
            <a:avLst/>
          </a:prstGeom>
          <a:noFill/>
        </p:spPr>
        <p:txBody>
          <a:bodyPr wrap="square" lIns="0" rIns="0" tIns="0" bIns="0" anchor="t">
            <a:noAutofit/>
          </a:bodyPr>
          <a:lstStyle/>
          <a:p>
            <a:pPr algn="l">
              <a:lnSpc>
                <a:spcPct val="120000"/>
              </a:lnSpc>
              <a:spcAft>
                <a:spcPts val="400"/>
              </a:spcAft>
            </a:pPr>
            <a:r>
              <a:rPr sz="1300" b="0">
                <a:solidFill>
                  <a:srgbClr val="333333"/>
                </a:solidFill>
                <a:latin typeface="Inter"/>
              </a:rPr>
              <a:t>PNT behavior in ArduPilot is not a library that a host can call — it is embedded in the vehicle flight loop and duplicated across vehicles.</a:t>
            </a:r>
          </a:p>
        </p:txBody>
      </p:sp>
      <p:sp>
        <p:nvSpPr>
          <p:cNvPr id="10" name="Rectangle 9"/>
          <p:cNvSpPr/>
          <p:nvPr/>
        </p:nvSpPr>
        <p:spPr>
          <a:xfrm>
            <a:off x="566928" y="2324010"/>
            <a:ext cx="32004" cy="488149"/>
          </a:xfrm>
          <a:prstGeom prst="rect">
            <a:avLst/>
          </a:prstGeom>
          <a:solidFill>
            <a:srgbClr val="5B39F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TextBox 10"/>
          <p:cNvSpPr txBox="1"/>
          <p:nvPr/>
        </p:nvSpPr>
        <p:spPr>
          <a:xfrm>
            <a:off x="713232" y="2324010"/>
            <a:ext cx="10911840" cy="488149"/>
          </a:xfrm>
          <a:prstGeom prst="rect">
            <a:avLst/>
          </a:prstGeom>
          <a:noFill/>
        </p:spPr>
        <p:txBody>
          <a:bodyPr wrap="square" lIns="0" rIns="0" tIns="0" bIns="0" anchor="t">
            <a:noAutofit/>
          </a:bodyPr>
          <a:lstStyle/>
          <a:p>
            <a:pPr algn="l">
              <a:lnSpc>
                <a:spcPct val="120000"/>
              </a:lnSpc>
              <a:spcAft>
                <a:spcPts val="400"/>
              </a:spcAft>
            </a:pPr>
            <a:r>
              <a:rPr sz="1300" b="0">
                <a:solidFill>
                  <a:srgbClr val="333333"/>
                </a:solidFill>
                <a:latin typeface="Inter"/>
              </a:rPr>
              <a:t>The consequence is that an external host cannot reuse a PNT behavior without first knowing every place that behavior lives, what it reads, and what breaks if it moves.</a:t>
            </a:r>
          </a:p>
        </p:txBody>
      </p:sp>
      <p:sp>
        <p:nvSpPr>
          <p:cNvPr id="12" name="TextBox 11"/>
          <p:cNvSpPr txBox="1"/>
          <p:nvPr/>
        </p:nvSpPr>
        <p:spPr>
          <a:xfrm>
            <a:off x="566928" y="2976751"/>
            <a:ext cx="11058144" cy="194437"/>
          </a:xfrm>
          <a:prstGeom prst="rect">
            <a:avLst/>
          </a:prstGeom>
          <a:noFill/>
        </p:spPr>
        <p:txBody>
          <a:bodyPr wrap="square" lIns="0" rIns="0" tIns="0" bIns="0" anchor="t">
            <a:noAutofit/>
          </a:bodyPr>
          <a:lstStyle/>
          <a:p>
            <a:pPr algn="l">
              <a:lnSpc>
                <a:spcPct val="100000"/>
              </a:lnSpc>
              <a:spcAft>
                <a:spcPts val="300"/>
              </a:spcAft>
            </a:pPr>
            <a:r>
              <a:rPr sz="1000" b="0">
                <a:solidFill>
                  <a:srgbClr val="999999"/>
                </a:solidFill>
                <a:latin typeface="Fira Code"/>
              </a:rPr>
              <a:t>THE SCALE THE AUDIT REPORTS, IN ITS OWN FIGURES</a:t>
            </a:r>
          </a:p>
        </p:txBody>
      </p:sp>
      <p:sp>
        <p:nvSpPr>
          <p:cNvPr id="13" name="Rounded Rectangle 12"/>
          <p:cNvSpPr/>
          <p:nvPr/>
        </p:nvSpPr>
        <p:spPr>
          <a:xfrm>
            <a:off x="566928" y="3207764"/>
            <a:ext cx="2613660" cy="914400"/>
          </a:xfrm>
          <a:prstGeom prst="roundRect">
            <a:avLst>
              <a:gd name="adj" fmla="val 6000"/>
            </a:avLst>
          </a:prstGeom>
          <a:solidFill>
            <a:srgbClr val="F2F0FE"/>
          </a:solidFill>
          <a:ln w="9525">
            <a:solidFill>
              <a:srgbClr val="E1DBFD"/>
            </a:solidFill>
          </a:ln>
          <a:effectLst/>
        </p:spPr>
        <p:style>
          <a:lnRef idx="1">
            <a:schemeClr val="accent1"/>
          </a:lnRef>
          <a:fillRef idx="3">
            <a:schemeClr val="accent1"/>
          </a:fillRef>
          <a:effectRef idx="0">
            <a:schemeClr val="accent1"/>
          </a:effectRef>
          <a:fontRef idx="minor">
            <a:schemeClr val="lt1"/>
          </a:fontRef>
        </p:style>
        <p:txBody>
          <a:bodyPr rtlCol="0" anchor="ctr" wrap="square" lIns="73152" rIns="73152" tIns="54864" bIns="54864">
            <a:noAutofit/>
          </a:bodyPr>
          <a:lstStyle/>
          <a:p>
            <a:pPr algn="ctr">
              <a:lnSpc>
                <a:spcPct val="130000"/>
              </a:lnSpc>
              <a:spcAft>
                <a:spcPts val="300"/>
              </a:spcAft>
            </a:pPr>
            <a:r>
              <a:rPr sz="2800" b="1">
                <a:solidFill>
                  <a:srgbClr val="5B39F3"/>
                </a:solidFill>
                <a:latin typeface="Space Grotesk"/>
              </a:rPr>
              <a:t>63</a:t>
            </a:r>
          </a:p>
          <a:p>
            <a:pPr algn="ctr">
              <a:lnSpc>
                <a:spcPct val="124000"/>
              </a:lnSpc>
            </a:pPr>
            <a:r>
              <a:rPr sz="1000">
                <a:solidFill>
                  <a:srgbClr val="999999"/>
                </a:solidFill>
                <a:latin typeface="Inter"/>
              </a:rPr>
              <a:t>core references</a:t>
            </a:r>
          </a:p>
        </p:txBody>
      </p:sp>
      <p:sp>
        <p:nvSpPr>
          <p:cNvPr id="14" name="Rounded Rectangle 13"/>
          <p:cNvSpPr/>
          <p:nvPr/>
        </p:nvSpPr>
        <p:spPr>
          <a:xfrm>
            <a:off x="3381756" y="3207764"/>
            <a:ext cx="2613660" cy="914400"/>
          </a:xfrm>
          <a:prstGeom prst="roundRect">
            <a:avLst>
              <a:gd name="adj" fmla="val 6000"/>
            </a:avLst>
          </a:prstGeom>
          <a:solidFill>
            <a:srgbClr val="F2F0FE"/>
          </a:solidFill>
          <a:ln w="9525">
            <a:solidFill>
              <a:srgbClr val="E1DBFD"/>
            </a:solidFill>
          </a:ln>
          <a:effectLst/>
        </p:spPr>
        <p:style>
          <a:lnRef idx="1">
            <a:schemeClr val="accent1"/>
          </a:lnRef>
          <a:fillRef idx="3">
            <a:schemeClr val="accent1"/>
          </a:fillRef>
          <a:effectRef idx="0">
            <a:schemeClr val="accent1"/>
          </a:effectRef>
          <a:fontRef idx="minor">
            <a:schemeClr val="lt1"/>
          </a:fontRef>
        </p:style>
        <p:txBody>
          <a:bodyPr rtlCol="0" anchor="ctr" wrap="square" lIns="73152" rIns="73152" tIns="54864" bIns="54864">
            <a:noAutofit/>
          </a:bodyPr>
          <a:lstStyle/>
          <a:p>
            <a:pPr algn="ctr">
              <a:lnSpc>
                <a:spcPct val="130000"/>
              </a:lnSpc>
              <a:spcAft>
                <a:spcPts val="300"/>
              </a:spcAft>
            </a:pPr>
            <a:r>
              <a:rPr sz="2800" b="1">
                <a:solidFill>
                  <a:srgbClr val="5B39F3"/>
                </a:solidFill>
                <a:latin typeface="Space Grotesk"/>
              </a:rPr>
              <a:t>31</a:t>
            </a:r>
          </a:p>
          <a:p>
            <a:pPr algn="ctr">
              <a:lnSpc>
                <a:spcPct val="124000"/>
              </a:lnSpc>
            </a:pPr>
            <a:r>
              <a:rPr sz="1000">
                <a:solidFill>
                  <a:srgbClr val="999999"/>
                </a:solidFill>
                <a:latin typeface="Inter"/>
              </a:rPr>
              <a:t>indirect references</a:t>
            </a:r>
          </a:p>
        </p:txBody>
      </p:sp>
      <p:sp>
        <p:nvSpPr>
          <p:cNvPr id="15" name="Rounded Rectangle 14"/>
          <p:cNvSpPr/>
          <p:nvPr/>
        </p:nvSpPr>
        <p:spPr>
          <a:xfrm>
            <a:off x="6196584" y="3207764"/>
            <a:ext cx="2613660" cy="914400"/>
          </a:xfrm>
          <a:prstGeom prst="roundRect">
            <a:avLst>
              <a:gd name="adj" fmla="val 6000"/>
            </a:avLst>
          </a:prstGeom>
          <a:solidFill>
            <a:srgbClr val="F2F0FE"/>
          </a:solidFill>
          <a:ln w="9525">
            <a:solidFill>
              <a:srgbClr val="E1DBFD"/>
            </a:solidFill>
          </a:ln>
          <a:effectLst/>
        </p:spPr>
        <p:style>
          <a:lnRef idx="1">
            <a:schemeClr val="accent1"/>
          </a:lnRef>
          <a:fillRef idx="3">
            <a:schemeClr val="accent1"/>
          </a:fillRef>
          <a:effectRef idx="0">
            <a:schemeClr val="accent1"/>
          </a:effectRef>
          <a:fontRef idx="minor">
            <a:schemeClr val="lt1"/>
          </a:fontRef>
        </p:style>
        <p:txBody>
          <a:bodyPr rtlCol="0" anchor="ctr" wrap="square" lIns="73152" rIns="73152" tIns="54864" bIns="54864">
            <a:noAutofit/>
          </a:bodyPr>
          <a:lstStyle/>
          <a:p>
            <a:pPr algn="ctr">
              <a:lnSpc>
                <a:spcPct val="130000"/>
              </a:lnSpc>
              <a:spcAft>
                <a:spcPts val="300"/>
              </a:spcAft>
            </a:pPr>
            <a:r>
              <a:rPr sz="2800" b="1">
                <a:solidFill>
                  <a:srgbClr val="5B39F3"/>
                </a:solidFill>
                <a:latin typeface="Space Grotesk"/>
              </a:rPr>
              <a:t>94</a:t>
            </a:r>
          </a:p>
          <a:p>
            <a:pPr algn="ctr">
              <a:lnSpc>
                <a:spcPct val="124000"/>
              </a:lnSpc>
            </a:pPr>
            <a:r>
              <a:rPr sz="1000">
                <a:solidFill>
                  <a:srgbClr val="999999"/>
                </a:solidFill>
                <a:latin typeface="Inter"/>
              </a:rPr>
              <a:t>total touch-points</a:t>
            </a:r>
          </a:p>
        </p:txBody>
      </p:sp>
      <p:sp>
        <p:nvSpPr>
          <p:cNvPr id="16" name="Rounded Rectangle 15"/>
          <p:cNvSpPr/>
          <p:nvPr/>
        </p:nvSpPr>
        <p:spPr>
          <a:xfrm>
            <a:off x="9011412" y="3207764"/>
            <a:ext cx="2613660" cy="914400"/>
          </a:xfrm>
          <a:prstGeom prst="roundRect">
            <a:avLst>
              <a:gd name="adj" fmla="val 6000"/>
            </a:avLst>
          </a:prstGeom>
          <a:solidFill>
            <a:srgbClr val="F2F0FE"/>
          </a:solidFill>
          <a:ln w="9525">
            <a:solidFill>
              <a:srgbClr val="E1DBFD"/>
            </a:solidFill>
          </a:ln>
          <a:effectLst/>
        </p:spPr>
        <p:style>
          <a:lnRef idx="1">
            <a:schemeClr val="accent1"/>
          </a:lnRef>
          <a:fillRef idx="3">
            <a:schemeClr val="accent1"/>
          </a:fillRef>
          <a:effectRef idx="0">
            <a:schemeClr val="accent1"/>
          </a:effectRef>
          <a:fontRef idx="minor">
            <a:schemeClr val="lt1"/>
          </a:fontRef>
        </p:style>
        <p:txBody>
          <a:bodyPr rtlCol="0" anchor="ctr" wrap="square" lIns="73152" rIns="73152" tIns="54864" bIns="54864">
            <a:noAutofit/>
          </a:bodyPr>
          <a:lstStyle/>
          <a:p>
            <a:pPr algn="ctr">
              <a:lnSpc>
                <a:spcPct val="130000"/>
              </a:lnSpc>
              <a:spcAft>
                <a:spcPts val="300"/>
              </a:spcAft>
            </a:pPr>
            <a:r>
              <a:rPr sz="2800" b="1">
                <a:solidFill>
                  <a:srgbClr val="5B39F3"/>
                </a:solidFill>
                <a:latin typeface="Space Grotesk"/>
              </a:rPr>
              <a:t>282</a:t>
            </a:r>
          </a:p>
          <a:p>
            <a:pPr algn="ctr">
              <a:lnSpc>
                <a:spcPct val="124000"/>
              </a:lnSpc>
            </a:pPr>
            <a:r>
              <a:rPr sz="1000">
                <a:solidFill>
                  <a:srgbClr val="999999"/>
                </a:solidFill>
                <a:latin typeface="Inter"/>
              </a:rPr>
              <a:t>evidence rows</a:t>
            </a:r>
          </a:p>
        </p:txBody>
      </p:sp>
      <p:sp>
        <p:nvSpPr>
          <p:cNvPr id="17" name="Rounded Rectangle 16"/>
          <p:cNvSpPr/>
          <p:nvPr/>
        </p:nvSpPr>
        <p:spPr>
          <a:xfrm>
            <a:off x="566928" y="4231892"/>
            <a:ext cx="2613660" cy="914400"/>
          </a:xfrm>
          <a:prstGeom prst="roundRect">
            <a:avLst>
              <a:gd name="adj" fmla="val 6000"/>
            </a:avLst>
          </a:prstGeom>
          <a:solidFill>
            <a:srgbClr val="F2F0FE"/>
          </a:solidFill>
          <a:ln w="9525">
            <a:solidFill>
              <a:srgbClr val="E1DBFD"/>
            </a:solidFill>
          </a:ln>
          <a:effectLst/>
        </p:spPr>
        <p:style>
          <a:lnRef idx="1">
            <a:schemeClr val="accent1"/>
          </a:lnRef>
          <a:fillRef idx="3">
            <a:schemeClr val="accent1"/>
          </a:fillRef>
          <a:effectRef idx="0">
            <a:schemeClr val="accent1"/>
          </a:effectRef>
          <a:fontRef idx="minor">
            <a:schemeClr val="lt1"/>
          </a:fontRef>
        </p:style>
        <p:txBody>
          <a:bodyPr rtlCol="0" anchor="ctr" wrap="square" lIns="73152" rIns="73152" tIns="54864" bIns="54864">
            <a:noAutofit/>
          </a:bodyPr>
          <a:lstStyle/>
          <a:p>
            <a:pPr algn="ctr">
              <a:lnSpc>
                <a:spcPct val="130000"/>
              </a:lnSpc>
              <a:spcAft>
                <a:spcPts val="300"/>
              </a:spcAft>
            </a:pPr>
            <a:r>
              <a:rPr sz="2800" b="1">
                <a:solidFill>
                  <a:srgbClr val="5B39F3"/>
                </a:solidFill>
                <a:latin typeface="Space Grotesk"/>
              </a:rPr>
              <a:t>18</a:t>
            </a:r>
          </a:p>
          <a:p>
            <a:pPr algn="ctr">
              <a:lnSpc>
                <a:spcPct val="124000"/>
              </a:lnSpc>
            </a:pPr>
            <a:r>
              <a:rPr sz="1000">
                <a:solidFill>
                  <a:srgbClr val="999999"/>
                </a:solidFill>
                <a:latin typeface="Inter"/>
              </a:rPr>
              <a:t>catalogued data objects</a:t>
            </a:r>
          </a:p>
        </p:txBody>
      </p:sp>
      <p:sp>
        <p:nvSpPr>
          <p:cNvPr id="18" name="Rounded Rectangle 17"/>
          <p:cNvSpPr/>
          <p:nvPr/>
        </p:nvSpPr>
        <p:spPr>
          <a:xfrm>
            <a:off x="3381756" y="4231892"/>
            <a:ext cx="2613660" cy="914400"/>
          </a:xfrm>
          <a:prstGeom prst="roundRect">
            <a:avLst>
              <a:gd name="adj" fmla="val 6000"/>
            </a:avLst>
          </a:prstGeom>
          <a:solidFill>
            <a:srgbClr val="F2F0FE"/>
          </a:solidFill>
          <a:ln w="9525">
            <a:solidFill>
              <a:srgbClr val="E1DBFD"/>
            </a:solidFill>
          </a:ln>
          <a:effectLst/>
        </p:spPr>
        <p:style>
          <a:lnRef idx="1">
            <a:schemeClr val="accent1"/>
          </a:lnRef>
          <a:fillRef idx="3">
            <a:schemeClr val="accent1"/>
          </a:fillRef>
          <a:effectRef idx="0">
            <a:schemeClr val="accent1"/>
          </a:effectRef>
          <a:fontRef idx="minor">
            <a:schemeClr val="lt1"/>
          </a:fontRef>
        </p:style>
        <p:txBody>
          <a:bodyPr rtlCol="0" anchor="ctr" wrap="square" lIns="73152" rIns="73152" tIns="54864" bIns="54864">
            <a:noAutofit/>
          </a:bodyPr>
          <a:lstStyle/>
          <a:p>
            <a:pPr algn="ctr">
              <a:lnSpc>
                <a:spcPct val="130000"/>
              </a:lnSpc>
              <a:spcAft>
                <a:spcPts val="300"/>
              </a:spcAft>
            </a:pPr>
            <a:r>
              <a:rPr sz="2800" b="1">
                <a:solidFill>
                  <a:srgbClr val="5B39F3"/>
                </a:solidFill>
                <a:latin typeface="Space Grotesk"/>
              </a:rPr>
              <a:t>12</a:t>
            </a:r>
          </a:p>
          <a:p>
            <a:pPr algn="ctr">
              <a:lnSpc>
                <a:spcPct val="124000"/>
              </a:lnSpc>
            </a:pPr>
            <a:r>
              <a:rPr sz="1000">
                <a:solidFill>
                  <a:srgbClr val="999999"/>
                </a:solidFill>
                <a:latin typeface="Inter"/>
              </a:rPr>
              <a:t>tables in six groups</a:t>
            </a:r>
          </a:p>
        </p:txBody>
      </p:sp>
      <p:sp>
        <p:nvSpPr>
          <p:cNvPr id="19" name="Rounded Rectangle 18"/>
          <p:cNvSpPr/>
          <p:nvPr/>
        </p:nvSpPr>
        <p:spPr>
          <a:xfrm>
            <a:off x="6196584" y="4231892"/>
            <a:ext cx="2613660" cy="914400"/>
          </a:xfrm>
          <a:prstGeom prst="roundRect">
            <a:avLst>
              <a:gd name="adj" fmla="val 6000"/>
            </a:avLst>
          </a:prstGeom>
          <a:solidFill>
            <a:srgbClr val="F2F0FE"/>
          </a:solidFill>
          <a:ln w="9525">
            <a:solidFill>
              <a:srgbClr val="E1DBFD"/>
            </a:solidFill>
          </a:ln>
          <a:effectLst/>
        </p:spPr>
        <p:style>
          <a:lnRef idx="1">
            <a:schemeClr val="accent1"/>
          </a:lnRef>
          <a:fillRef idx="3">
            <a:schemeClr val="accent1"/>
          </a:fillRef>
          <a:effectRef idx="0">
            <a:schemeClr val="accent1"/>
          </a:effectRef>
          <a:fontRef idx="minor">
            <a:schemeClr val="lt1"/>
          </a:fontRef>
        </p:style>
        <p:txBody>
          <a:bodyPr rtlCol="0" anchor="ctr" wrap="square" lIns="73152" rIns="73152" tIns="54864" bIns="54864">
            <a:noAutofit/>
          </a:bodyPr>
          <a:lstStyle/>
          <a:p>
            <a:pPr algn="ctr">
              <a:lnSpc>
                <a:spcPct val="130000"/>
              </a:lnSpc>
              <a:spcAft>
                <a:spcPts val="300"/>
              </a:spcAft>
            </a:pPr>
            <a:r>
              <a:rPr sz="2800" b="1">
                <a:solidFill>
                  <a:srgbClr val="5B39F3"/>
                </a:solidFill>
                <a:latin typeface="Space Grotesk"/>
              </a:rPr>
              <a:t>109</a:t>
            </a:r>
          </a:p>
          <a:p>
            <a:pPr algn="ctr">
              <a:lnSpc>
                <a:spcPct val="124000"/>
              </a:lnSpc>
            </a:pPr>
            <a:r>
              <a:rPr sz="1000">
                <a:solidFill>
                  <a:srgbClr val="999999"/>
                </a:solidFill>
                <a:latin typeface="Inter"/>
              </a:rPr>
              <a:t>coverage register entries</a:t>
            </a:r>
          </a:p>
        </p:txBody>
      </p:sp>
      <p:sp>
        <p:nvSpPr>
          <p:cNvPr id="20" name="Rounded Rectangle 19"/>
          <p:cNvSpPr/>
          <p:nvPr/>
        </p:nvSpPr>
        <p:spPr>
          <a:xfrm>
            <a:off x="9011412" y="4231892"/>
            <a:ext cx="2613660" cy="914400"/>
          </a:xfrm>
          <a:prstGeom prst="roundRect">
            <a:avLst>
              <a:gd name="adj" fmla="val 6000"/>
            </a:avLst>
          </a:prstGeom>
          <a:solidFill>
            <a:srgbClr val="F2F0FE"/>
          </a:solidFill>
          <a:ln w="9525">
            <a:solidFill>
              <a:srgbClr val="E1DBFD"/>
            </a:solidFill>
          </a:ln>
          <a:effectLst/>
        </p:spPr>
        <p:style>
          <a:lnRef idx="1">
            <a:schemeClr val="accent1"/>
          </a:lnRef>
          <a:fillRef idx="3">
            <a:schemeClr val="accent1"/>
          </a:fillRef>
          <a:effectRef idx="0">
            <a:schemeClr val="accent1"/>
          </a:effectRef>
          <a:fontRef idx="minor">
            <a:schemeClr val="lt1"/>
          </a:fontRef>
        </p:style>
        <p:txBody>
          <a:bodyPr rtlCol="0" anchor="ctr" wrap="square" lIns="73152" rIns="73152" tIns="54864" bIns="54864">
            <a:noAutofit/>
          </a:bodyPr>
          <a:lstStyle/>
          <a:p>
            <a:pPr algn="ctr">
              <a:lnSpc>
                <a:spcPct val="130000"/>
              </a:lnSpc>
              <a:spcAft>
                <a:spcPts val="300"/>
              </a:spcAft>
            </a:pPr>
            <a:r>
              <a:rPr sz="2800" b="1">
                <a:solidFill>
                  <a:srgbClr val="5B39F3"/>
                </a:solidFill>
                <a:latin typeface="Space Grotesk"/>
              </a:rPr>
              <a:t>27</a:t>
            </a:r>
          </a:p>
          <a:p>
            <a:pPr algn="ctr">
              <a:lnSpc>
                <a:spcPct val="124000"/>
              </a:lnSpc>
            </a:pPr>
            <a:r>
              <a:rPr sz="1000">
                <a:solidFill>
                  <a:srgbClr val="999999"/>
                </a:solidFill>
                <a:latin typeface="Inter"/>
              </a:rPr>
              <a:t>checked, documented absences</a:t>
            </a:r>
          </a:p>
        </p:txBody>
      </p:sp>
      <p:sp>
        <p:nvSpPr>
          <p:cNvPr id="21" name="TextBox 20"/>
          <p:cNvSpPr txBox="1"/>
          <p:nvPr/>
        </p:nvSpPr>
        <p:spPr>
          <a:xfrm>
            <a:off x="566928" y="5274308"/>
            <a:ext cx="11058144" cy="463550"/>
          </a:xfrm>
          <a:prstGeom prst="rect">
            <a:avLst/>
          </a:prstGeom>
          <a:noFill/>
        </p:spPr>
        <p:txBody>
          <a:bodyPr wrap="square" lIns="0" rIns="0" tIns="0" bIns="0" anchor="t">
            <a:noAutofit/>
          </a:bodyPr>
          <a:lstStyle/>
          <a:p>
            <a:pPr algn="l">
              <a:lnSpc>
                <a:spcPct val="118000"/>
              </a:lnSpc>
              <a:spcAft>
                <a:spcPts val="500"/>
              </a:spcAft>
            </a:pPr>
            <a:r>
              <a:rPr sz="1200" b="0">
                <a:solidFill>
                  <a:srgbClr val="999999"/>
                </a:solidFill>
                <a:latin typeface="Inter"/>
              </a:rPr>
              <a:t>Absence discipline is part of the method: the register also records the surfaces that were swept and found clear, so the sweep is demonstrably exhaustive rather than opportunistic.</a:t>
            </a:r>
          </a:p>
        </p:txBody>
      </p:sp>
      <p:sp>
        <p:nvSpPr>
          <p:cNvPr id="22" name="TextBox 21"/>
          <p:cNvSpPr txBox="1"/>
          <p:nvPr/>
        </p:nvSpPr>
        <p:spPr>
          <a:xfrm>
            <a:off x="566928" y="6355080"/>
            <a:ext cx="11058144" cy="140703"/>
          </a:xfrm>
          <a:prstGeom prst="rect">
            <a:avLst/>
          </a:prstGeom>
          <a:noFill/>
        </p:spPr>
        <p:txBody>
          <a:bodyPr wrap="square" lIns="0" rIns="0" tIns="0" bIns="0" anchor="t">
            <a:noAutofit/>
          </a:bodyPr>
          <a:lstStyle/>
          <a:p>
            <a:pPr algn="l">
              <a:lnSpc>
                <a:spcPct val="100000"/>
              </a:lnSpc>
              <a:spcAft>
                <a:spcPts val="0"/>
              </a:spcAft>
            </a:pPr>
            <a:r>
              <a:rPr sz="900" b="0">
                <a:solidFill>
                  <a:srgbClr val="999999"/>
                </a:solidFill>
                <a:latin typeface="Fira Code"/>
              </a:rPr>
              <a:t>Source: ArduPilot_PNT_Reference_Audit.pdf  ·  audited HEAD 5b67e27b0a  ·  read-only static-analysis catalog  ·  every figure as stated by the audit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000" b="0">
                <a:solidFill>
                  <a:srgbClr val="5B39F3"/>
                </a:solidFill>
                <a:latin typeface="Fira Code"/>
              </a:rPr>
              <a:t>GROUP 1  ·  CORE POSITIONING  ·  TABLE 1  ·  26 CATALOGUED REFERENCES</a:t>
            </a:r>
          </a:p>
        </p:txBody>
      </p:sp>
      <p:sp>
        <p:nvSpPr>
          <p:cNvPr id="4" name="TextBox 3"/>
          <p:cNvSpPr txBox="1"/>
          <p:nvPr/>
        </p:nvSpPr>
        <p:spPr>
          <a:xfrm>
            <a:off x="566928" y="658368"/>
            <a:ext cx="11064240" cy="548640"/>
          </a:xfrm>
          <a:prstGeom prst="rect">
            <a:avLst/>
          </a:prstGeom>
          <a:noFill/>
        </p:spPr>
        <p:txBody>
          <a:bodyPr wrap="square" lIns="0" rIns="0" tIns="0" bIns="0" anchor="t">
            <a:noAutofit/>
          </a:bodyPr>
          <a:lstStyle/>
          <a:p>
            <a:pPr algn="l">
              <a:lnSpc>
                <a:spcPct val="130000"/>
              </a:lnSpc>
              <a:spcAft>
                <a:spcPts val="0"/>
              </a:spcAft>
            </a:pPr>
            <a:r>
              <a:rPr sz="2600" b="1">
                <a:solidFill>
                  <a:srgbClr val="333333"/>
                </a:solidFill>
                <a:latin typeface="Space Grotesk"/>
              </a:rPr>
              <a:t>Positioning — where PNT is born, and why it is hard to lift out</a:t>
            </a:r>
          </a:p>
        </p:txBody>
      </p:sp>
      <p:sp>
        <p:nvSpPr>
          <p:cNvPr id="5" name="Rectangle 4"/>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566928" y="1426464"/>
            <a:ext cx="11064240" cy="214960"/>
          </a:xfrm>
          <a:prstGeom prst="rect">
            <a:avLst/>
          </a:prstGeom>
          <a:noFill/>
        </p:spPr>
        <p:txBody>
          <a:bodyPr wrap="square" lIns="0" rIns="0" tIns="0" bIns="0" anchor="t">
            <a:noAutofit/>
          </a:bodyPr>
          <a:lstStyle/>
          <a:p>
            <a:pPr algn="l">
              <a:lnSpc>
                <a:spcPct val="124000"/>
              </a:lnSpc>
              <a:spcAft>
                <a:spcPts val="0"/>
              </a:spcAft>
            </a:pPr>
            <a:r>
              <a:rPr sz="1400" b="0">
                <a:solidFill>
                  <a:srgbClr val="333333"/>
                </a:solidFill>
                <a:latin typeface="Inter"/>
              </a:rPr>
              <a:t>The pattern, not the rows: many producers, one shared structure at the centre.</a:t>
            </a:r>
          </a:p>
        </p:txBody>
      </p:sp>
      <p:sp>
        <p:nvSpPr>
          <p:cNvPr id="7" name="TextBox 6"/>
          <p:cNvSpPr txBox="1"/>
          <p:nvPr/>
        </p:nvSpPr>
        <p:spPr>
          <a:xfrm>
            <a:off x="566928" y="1806016"/>
            <a:ext cx="11058144" cy="1525181"/>
          </a:xfrm>
          <a:prstGeom prst="rect">
            <a:avLst/>
          </a:prstGeom>
          <a:noFill/>
        </p:spPr>
        <p:txBody>
          <a:bodyPr wrap="square" lIns="0" rIns="0" tIns="0" bIns="0" anchor="t">
            <a:noAutofit/>
          </a:bodyPr>
          <a:lstStyle/>
          <a:p>
            <a:pPr algn="l" marL="185737" indent="-185737">
              <a:lnSpc>
                <a:spcPct val="124000"/>
              </a:lnSpc>
              <a:spcAft>
                <a:spcPts val="900"/>
              </a:spcAft>
            </a:pPr>
            <a:r>
              <a:rPr sz="1300" b="0">
                <a:solidFill>
                  <a:srgbClr val="333333"/>
                </a:solidFill>
                <a:latin typeface="Inter"/>
              </a:rPr>
              <a:t>•  Fan-in, not a hierarchy — 14 receiver backends, each catalogued individually across 44 files of the GPS subsystem, every one of them writing the same shared structure.</a:t>
            </a:r>
          </a:p>
          <a:p>
            <a:pPr algn="l" marL="185737" indent="-185737">
              <a:lnSpc>
                <a:spcPct val="124000"/>
              </a:lnSpc>
              <a:spcAft>
                <a:spcPts val="900"/>
              </a:spcAft>
            </a:pPr>
            <a:r>
              <a:rPr sz="1300" b="0">
                <a:solidFill>
                  <a:srgbClr val="333333"/>
                </a:solidFill>
                <a:latin typeface="Inter"/>
              </a:rPr>
              <a:t>•  That whole band carries one flag: [SHARED-STRUCT], with 19 occurrences across the catalog, marking places where PNT fields sit packed together with non-PNT ones.</a:t>
            </a:r>
          </a:p>
          <a:p>
            <a:pPr algn="l" marL="185737" indent="-185737">
              <a:lnSpc>
                <a:spcPct val="124000"/>
              </a:lnSpc>
              <a:spcAft>
                <a:spcPts val="900"/>
              </a:spcAft>
            </a:pPr>
            <a:r>
              <a:rPr sz="1300" b="0">
                <a:solidFill>
                  <a:srgbClr val="333333"/>
                </a:solidFill>
                <a:latin typeface="Inter"/>
              </a:rPr>
              <a:t>•  The audit singles out two types as its top extraction risks. Both are quoted below exactly as catalogued.</a:t>
            </a:r>
          </a:p>
        </p:txBody>
      </p:sp>
      <p:sp>
        <p:nvSpPr>
          <p:cNvPr id="8" name="TextBox 7"/>
          <p:cNvSpPr txBox="1"/>
          <p:nvPr/>
        </p:nvSpPr>
        <p:spPr>
          <a:xfrm>
            <a:off x="566928" y="3477501"/>
            <a:ext cx="5394960" cy="194437"/>
          </a:xfrm>
          <a:prstGeom prst="rect">
            <a:avLst/>
          </a:prstGeom>
          <a:noFill/>
        </p:spPr>
        <p:txBody>
          <a:bodyPr wrap="square" lIns="0" rIns="0" tIns="0" bIns="0" anchor="t">
            <a:noAutofit/>
          </a:bodyPr>
          <a:lstStyle/>
          <a:p>
            <a:pPr algn="l">
              <a:lnSpc>
                <a:spcPct val="100000"/>
              </a:lnSpc>
              <a:spcAft>
                <a:spcPts val="300"/>
              </a:spcAft>
            </a:pPr>
            <a:r>
              <a:rPr sz="1000" b="0">
                <a:solidFill>
                  <a:srgbClr val="999999"/>
                </a:solidFill>
                <a:latin typeface="Fira Code"/>
              </a:rPr>
              <a:t>THE SHARED GPS STATE STRUCT</a:t>
            </a:r>
          </a:p>
        </p:txBody>
      </p:sp>
      <p:sp>
        <p:nvSpPr>
          <p:cNvPr id="9" name="Rectangle 8"/>
          <p:cNvSpPr/>
          <p:nvPr/>
        </p:nvSpPr>
        <p:spPr>
          <a:xfrm>
            <a:off x="566928" y="3671938"/>
            <a:ext cx="32004" cy="963637"/>
          </a:xfrm>
          <a:prstGeom prst="rect">
            <a:avLst/>
          </a:prstGeom>
          <a:solidFill>
            <a:srgbClr val="5B39F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TextBox 9"/>
          <p:cNvSpPr txBox="1"/>
          <p:nvPr/>
        </p:nvSpPr>
        <p:spPr>
          <a:xfrm>
            <a:off x="713232" y="3671938"/>
            <a:ext cx="5248656" cy="963637"/>
          </a:xfrm>
          <a:prstGeom prst="rect">
            <a:avLst/>
          </a:prstGeom>
          <a:noFill/>
        </p:spPr>
        <p:txBody>
          <a:bodyPr wrap="square" lIns="0" rIns="0" tIns="0" bIns="0" anchor="t">
            <a:noAutofit/>
          </a:bodyPr>
          <a:lstStyle/>
          <a:p>
            <a:pPr algn="l">
              <a:lnSpc>
                <a:spcPct val="120000"/>
              </a:lnSpc>
              <a:spcAft>
                <a:spcPts val="400"/>
              </a:spcAft>
            </a:pPr>
            <a:r>
              <a:rPr sz="1300" b="0">
                <a:solidFill>
                  <a:srgbClr val="333333"/>
                </a:solidFill>
                <a:latin typeface="Inter"/>
              </a:rPr>
              <a:t>One struct mixes Positioning (location), Navigation (velocity, ground_speed, ground_course) and Timing (time_week_ms, time_week) — see Table 3 #8. Primary extraction-risk struct for a PNT split.</a:t>
            </a:r>
          </a:p>
        </p:txBody>
      </p:sp>
      <p:sp>
        <p:nvSpPr>
          <p:cNvPr id="11" name="TextBox 10"/>
          <p:cNvSpPr txBox="1"/>
          <p:nvPr/>
        </p:nvSpPr>
        <p:spPr>
          <a:xfrm>
            <a:off x="6227064" y="3477501"/>
            <a:ext cx="5394960" cy="194437"/>
          </a:xfrm>
          <a:prstGeom prst="rect">
            <a:avLst/>
          </a:prstGeom>
          <a:noFill/>
        </p:spPr>
        <p:txBody>
          <a:bodyPr wrap="square" lIns="0" rIns="0" tIns="0" bIns="0" anchor="t">
            <a:noAutofit/>
          </a:bodyPr>
          <a:lstStyle/>
          <a:p>
            <a:pPr algn="l">
              <a:lnSpc>
                <a:spcPct val="100000"/>
              </a:lnSpc>
              <a:spcAft>
                <a:spcPts val="300"/>
              </a:spcAft>
            </a:pPr>
            <a:r>
              <a:rPr sz="1000" b="0">
                <a:solidFill>
                  <a:srgbClr val="999999"/>
                </a:solidFill>
                <a:latin typeface="Fira Code"/>
              </a:rPr>
              <a:t>THE UBIQUITOUS LOCATION VALUE TYPE</a:t>
            </a:r>
          </a:p>
        </p:txBody>
      </p:sp>
      <p:sp>
        <p:nvSpPr>
          <p:cNvPr id="12" name="Rectangle 11"/>
          <p:cNvSpPr/>
          <p:nvPr/>
        </p:nvSpPr>
        <p:spPr>
          <a:xfrm>
            <a:off x="6227064" y="3671938"/>
            <a:ext cx="32004" cy="725893"/>
          </a:xfrm>
          <a:prstGeom prst="rect">
            <a:avLst/>
          </a:prstGeom>
          <a:solidFill>
            <a:srgbClr val="5B39F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6373368" y="3671938"/>
            <a:ext cx="5248656" cy="725893"/>
          </a:xfrm>
          <a:prstGeom prst="rect">
            <a:avLst/>
          </a:prstGeom>
          <a:noFill/>
        </p:spPr>
        <p:txBody>
          <a:bodyPr wrap="square" lIns="0" rIns="0" tIns="0" bIns="0" anchor="t">
            <a:noAutofit/>
          </a:bodyPr>
          <a:lstStyle/>
          <a:p>
            <a:pPr algn="l">
              <a:lnSpc>
                <a:spcPct val="120000"/>
              </a:lnSpc>
              <a:spcAft>
                <a:spcPts val="400"/>
              </a:spcAft>
            </a:pPr>
            <a:r>
              <a:rPr sz="1300" b="0">
                <a:solidFill>
                  <a:srgbClr val="333333"/>
                </a:solidFill>
                <a:latin typeface="Inter"/>
              </a:rPr>
              <a:t>Geodetic PNT fields lat/lng (1E7 deg) and alt (cm) packed with NON-PNT bitfields relative_alt, loiter_ccw, terrain_alt, origin_alt, loiter_xtrack. Ubiquitous value type; top extraction risk.</a:t>
            </a:r>
          </a:p>
        </p:txBody>
      </p:sp>
      <p:sp>
        <p:nvSpPr>
          <p:cNvPr id="14" name="Rounded Rectangle 13"/>
          <p:cNvSpPr/>
          <p:nvPr/>
        </p:nvSpPr>
        <p:spPr>
          <a:xfrm>
            <a:off x="566928" y="4727015"/>
            <a:ext cx="1685728" cy="237744"/>
          </a:xfrm>
          <a:prstGeom prst="roundRect">
            <a:avLst>
              <a:gd name="adj" fmla="val 28000"/>
            </a:avLst>
          </a:prstGeom>
          <a:solidFill>
            <a:srgbClr val="F4EFF6"/>
          </a:solidFill>
          <a:ln w="9525">
            <a:solidFill>
              <a:srgbClr val="E1DBFD"/>
            </a:solidFill>
          </a:ln>
          <a:effectLst/>
        </p:spPr>
        <p:style>
          <a:lnRef idx="1">
            <a:schemeClr val="accent1"/>
          </a:lnRef>
          <a:fillRef idx="3">
            <a:schemeClr val="accent1"/>
          </a:fillRef>
          <a:effectRef idx="0">
            <a:schemeClr val="accent1"/>
          </a:effectRef>
          <a:fontRef idx="minor">
            <a:schemeClr val="lt1"/>
          </a:fontRef>
        </p:style>
        <p:txBody>
          <a:bodyPr rtlCol="0" anchor="ctr" wrap="none" lIns="45720" rIns="45720" tIns="0" bIns="0">
            <a:noAutofit/>
          </a:bodyPr>
          <a:lstStyle/>
          <a:p>
            <a:pPr algn="ctr">
              <a:lnSpc>
                <a:spcPct val="100000"/>
              </a:lnSpc>
            </a:pPr>
            <a:r>
              <a:rPr sz="1000" b="0">
                <a:solidFill>
                  <a:srgbClr val="5B39F3"/>
                </a:solidFill>
                <a:latin typeface="Fira Code"/>
              </a:rPr>
              <a:t>[SHARED-STRUCT]  19</a:t>
            </a:r>
          </a:p>
        </p:txBody>
      </p:sp>
      <p:sp>
        <p:nvSpPr>
          <p:cNvPr id="15" name="Rounded Rectangle 14"/>
          <p:cNvSpPr/>
          <p:nvPr/>
        </p:nvSpPr>
        <p:spPr>
          <a:xfrm>
            <a:off x="2371528" y="4727015"/>
            <a:ext cx="1685728" cy="237744"/>
          </a:xfrm>
          <a:prstGeom prst="roundRect">
            <a:avLst>
              <a:gd name="adj" fmla="val 28000"/>
            </a:avLst>
          </a:prstGeom>
          <a:solidFill>
            <a:srgbClr val="F4EFF6"/>
          </a:solidFill>
          <a:ln w="9525">
            <a:solidFill>
              <a:srgbClr val="E1DBFD"/>
            </a:solidFill>
          </a:ln>
          <a:effectLst/>
        </p:spPr>
        <p:style>
          <a:lnRef idx="1">
            <a:schemeClr val="accent1"/>
          </a:lnRef>
          <a:fillRef idx="3">
            <a:schemeClr val="accent1"/>
          </a:fillRef>
          <a:effectRef idx="0">
            <a:schemeClr val="accent1"/>
          </a:effectRef>
          <a:fontRef idx="minor">
            <a:schemeClr val="lt1"/>
          </a:fontRef>
        </p:style>
        <p:txBody>
          <a:bodyPr rtlCol="0" anchor="ctr" wrap="none" lIns="45720" rIns="45720" tIns="0" bIns="0">
            <a:noAutofit/>
          </a:bodyPr>
          <a:lstStyle/>
          <a:p>
            <a:pPr algn="ctr">
              <a:lnSpc>
                <a:spcPct val="100000"/>
              </a:lnSpc>
            </a:pPr>
            <a:r>
              <a:rPr sz="1000" b="0">
                <a:solidFill>
                  <a:srgbClr val="5B39F3"/>
                </a:solidFill>
                <a:latin typeface="Fira Code"/>
              </a:rPr>
              <a:t>[MULTI-CATEGORY]  7</a:t>
            </a:r>
          </a:p>
        </p:txBody>
      </p:sp>
      <p:sp>
        <p:nvSpPr>
          <p:cNvPr id="16" name="TextBox 15"/>
          <p:cNvSpPr txBox="1"/>
          <p:nvPr/>
        </p:nvSpPr>
        <p:spPr>
          <a:xfrm>
            <a:off x="566928" y="5111063"/>
            <a:ext cx="11058144" cy="463550"/>
          </a:xfrm>
          <a:prstGeom prst="rect">
            <a:avLst/>
          </a:prstGeom>
          <a:noFill/>
        </p:spPr>
        <p:txBody>
          <a:bodyPr wrap="square" lIns="0" rIns="0" tIns="0" bIns="0" anchor="t">
            <a:noAutofit/>
          </a:bodyPr>
          <a:lstStyle/>
          <a:p>
            <a:pPr algn="l">
              <a:lnSpc>
                <a:spcPct val="118000"/>
              </a:lnSpc>
              <a:spcAft>
                <a:spcPts val="500"/>
              </a:spcAft>
            </a:pPr>
            <a:r>
              <a:rPr sz="1200" b="0">
                <a:solidFill>
                  <a:srgbClr val="333333"/>
                </a:solidFill>
                <a:latin typeface="Inter"/>
              </a:rPr>
              <a:t>Consequence for an extraction: the risk is not that the positioning code is complex; it is that lifting it moves a structure that navigation and timing both read, so the move is felt in all three pillars at once.</a:t>
            </a:r>
          </a:p>
        </p:txBody>
      </p:sp>
      <p:sp>
        <p:nvSpPr>
          <p:cNvPr id="17" name="TextBox 16"/>
          <p:cNvSpPr txBox="1"/>
          <p:nvPr/>
        </p:nvSpPr>
        <p:spPr>
          <a:xfrm>
            <a:off x="566928" y="6355080"/>
            <a:ext cx="11058144" cy="140703"/>
          </a:xfrm>
          <a:prstGeom prst="rect">
            <a:avLst/>
          </a:prstGeom>
          <a:noFill/>
        </p:spPr>
        <p:txBody>
          <a:bodyPr wrap="square" lIns="0" rIns="0" tIns="0" bIns="0" anchor="t">
            <a:noAutofit/>
          </a:bodyPr>
          <a:lstStyle/>
          <a:p>
            <a:pPr algn="l">
              <a:lnSpc>
                <a:spcPct val="100000"/>
              </a:lnSpc>
              <a:spcAft>
                <a:spcPts val="0"/>
              </a:spcAft>
            </a:pPr>
            <a:r>
              <a:rPr sz="900" b="0">
                <a:solidFill>
                  <a:srgbClr val="999999"/>
                </a:solidFill>
                <a:latin typeface="Fira Code"/>
              </a:rPr>
              <a:t>Source: ArduPilot_PNT_Reference_Audit.pdf  ·  audited HEAD 5b67e27b0a  ·  read-only static-analysis catalog  ·  every figure as stated by the audit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000" b="0">
                <a:solidFill>
                  <a:srgbClr val="5B39F3"/>
                </a:solidFill>
                <a:latin typeface="Fira Code"/>
              </a:rPr>
              <a:t>GROUP 1  ·  CORE NAVIGATION  ·  TABLE 2  ·  28 CATALOGUED REFERENCES</a:t>
            </a:r>
          </a:p>
        </p:txBody>
      </p:sp>
      <p:sp>
        <p:nvSpPr>
          <p:cNvPr id="4" name="TextBox 3"/>
          <p:cNvSpPr txBox="1"/>
          <p:nvPr/>
        </p:nvSpPr>
        <p:spPr>
          <a:xfrm>
            <a:off x="566928" y="658368"/>
            <a:ext cx="11064240" cy="548640"/>
          </a:xfrm>
          <a:prstGeom prst="rect">
            <a:avLst/>
          </a:prstGeom>
          <a:noFill/>
        </p:spPr>
        <p:txBody>
          <a:bodyPr wrap="square" lIns="0" rIns="0" tIns="0" bIns="0" anchor="t">
            <a:noAutofit/>
          </a:bodyPr>
          <a:lstStyle/>
          <a:p>
            <a:pPr algn="l">
              <a:lnSpc>
                <a:spcPct val="130000"/>
              </a:lnSpc>
              <a:spcAft>
                <a:spcPts val="0"/>
              </a:spcAft>
            </a:pPr>
            <a:r>
              <a:rPr sz="2600" b="1">
                <a:solidFill>
                  <a:srgbClr val="333333"/>
                </a:solidFill>
                <a:latin typeface="Space Grotesk"/>
              </a:rPr>
              <a:t>Navigation — one hub, and a core that depends on itself</a:t>
            </a:r>
          </a:p>
        </p:txBody>
      </p:sp>
      <p:sp>
        <p:nvSpPr>
          <p:cNvPr id="5" name="Rectangle 4"/>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566928" y="1426464"/>
            <a:ext cx="11064240" cy="214960"/>
          </a:xfrm>
          <a:prstGeom prst="rect">
            <a:avLst/>
          </a:prstGeom>
          <a:noFill/>
        </p:spPr>
        <p:txBody>
          <a:bodyPr wrap="square" lIns="0" rIns="0" tIns="0" bIns="0" anchor="t">
            <a:noAutofit/>
          </a:bodyPr>
          <a:lstStyle/>
          <a:p>
            <a:pPr algn="l">
              <a:lnSpc>
                <a:spcPct val="124000"/>
              </a:lnSpc>
              <a:spcAft>
                <a:spcPts val="0"/>
              </a:spcAft>
            </a:pPr>
            <a:r>
              <a:rPr sz="1400" b="0">
                <a:solidFill>
                  <a:srgbClr val="333333"/>
                </a:solidFill>
                <a:latin typeface="Inter"/>
              </a:rPr>
              <a:t>The largest core pillar, and the one that carries the host-facing seam.</a:t>
            </a:r>
          </a:p>
        </p:txBody>
      </p:sp>
      <p:sp>
        <p:nvSpPr>
          <p:cNvPr id="7" name="TextBox 6"/>
          <p:cNvSpPr txBox="1"/>
          <p:nvPr/>
        </p:nvSpPr>
        <p:spPr>
          <a:xfrm>
            <a:off x="566928" y="1806016"/>
            <a:ext cx="11058144" cy="1885149"/>
          </a:xfrm>
          <a:prstGeom prst="rect">
            <a:avLst/>
          </a:prstGeom>
          <a:noFill/>
        </p:spPr>
        <p:txBody>
          <a:bodyPr wrap="square" lIns="0" rIns="0" tIns="0" bIns="0" anchor="t">
            <a:noAutofit/>
          </a:bodyPr>
          <a:lstStyle/>
          <a:p>
            <a:pPr algn="l" marL="185737" indent="-185737">
              <a:lnSpc>
                <a:spcPct val="124000"/>
              </a:lnSpc>
              <a:spcAft>
                <a:spcPts val="900"/>
              </a:spcAft>
            </a:pPr>
            <a:r>
              <a:rPr sz="1300" b="0">
                <a:solidFill>
                  <a:srgbClr val="333333"/>
                </a:solidFill>
                <a:latin typeface="Inter"/>
              </a:rPr>
              <a:t>•  One hub: the attitude-and-heading layer returns the fused position for the whole vehicle, reached through a shared singleton accessor — so nearly everything navigational routes through a single door.</a:t>
            </a:r>
          </a:p>
          <a:p>
            <a:pPr algn="l" marL="185737" indent="-185737">
              <a:lnSpc>
                <a:spcPct val="124000"/>
              </a:lnSpc>
              <a:spcAft>
                <a:spcPts val="900"/>
              </a:spcAft>
            </a:pPr>
            <a:r>
              <a:rPr sz="1300" b="0">
                <a:solidFill>
                  <a:srgbClr val="333333"/>
                </a:solidFill>
                <a:latin typeface="Inter"/>
              </a:rPr>
              <a:t>•  The estimator is not one file: the primary filter family is split across 13 fusion modules, all catalogued.</a:t>
            </a:r>
          </a:p>
          <a:p>
            <a:pPr algn="l" marL="185737" indent="-185737">
              <a:lnSpc>
                <a:spcPct val="124000"/>
              </a:lnSpc>
              <a:spcAft>
                <a:spcPts val="900"/>
              </a:spcAft>
            </a:pPr>
            <a:r>
              <a:rPr sz="1300" b="0">
                <a:solidFill>
                  <a:srgbClr val="333333"/>
                </a:solidFill>
                <a:latin typeface="Inter"/>
              </a:rPr>
              <a:t>•  The core depends on itself — [CIRCULAR], 8 occurrences. A second, parallel estimator generation is additionally flagged [DUPLICATED] because it structurally mirrors the primary one.</a:t>
            </a:r>
          </a:p>
          <a:p>
            <a:pPr algn="l" marL="185737" indent="-185737">
              <a:lnSpc>
                <a:spcPct val="124000"/>
              </a:lnSpc>
              <a:spcAft>
                <a:spcPts val="900"/>
              </a:spcAft>
            </a:pPr>
            <a:r>
              <a:rPr sz="1300" b="0">
                <a:solidFill>
                  <a:srgbClr val="333333"/>
                </a:solidFill>
                <a:latin typeface="Inter"/>
              </a:rPr>
              <a:t>•  Table 2 is the only main table carrying a New Service Location column: this pillar is where the reusable-service seam is defined.</a:t>
            </a:r>
          </a:p>
        </p:txBody>
      </p:sp>
      <p:sp>
        <p:nvSpPr>
          <p:cNvPr id="8" name="TextBox 7"/>
          <p:cNvSpPr txBox="1"/>
          <p:nvPr/>
        </p:nvSpPr>
        <p:spPr>
          <a:xfrm>
            <a:off x="566928" y="3837469"/>
            <a:ext cx="11058144" cy="194437"/>
          </a:xfrm>
          <a:prstGeom prst="rect">
            <a:avLst/>
          </a:prstGeom>
          <a:noFill/>
        </p:spPr>
        <p:txBody>
          <a:bodyPr wrap="square" lIns="0" rIns="0" tIns="0" bIns="0" anchor="t">
            <a:noAutofit/>
          </a:bodyPr>
          <a:lstStyle/>
          <a:p>
            <a:pPr algn="l">
              <a:lnSpc>
                <a:spcPct val="100000"/>
              </a:lnSpc>
              <a:spcAft>
                <a:spcPts val="300"/>
              </a:spcAft>
            </a:pPr>
            <a:r>
              <a:rPr sz="1000" b="0">
                <a:solidFill>
                  <a:srgbClr val="999999"/>
                </a:solidFill>
                <a:latin typeface="Fira Code"/>
              </a:rPr>
              <a:t>WHY THE NAVIGATION CORE IS FLAGGED [CIRCULAR]</a:t>
            </a:r>
          </a:p>
        </p:txBody>
      </p:sp>
      <p:sp>
        <p:nvSpPr>
          <p:cNvPr id="9" name="Rectangle 8"/>
          <p:cNvSpPr/>
          <p:nvPr/>
        </p:nvSpPr>
        <p:spPr>
          <a:xfrm>
            <a:off x="566928" y="4031906"/>
            <a:ext cx="32004" cy="250405"/>
          </a:xfrm>
          <a:prstGeom prst="rect">
            <a:avLst/>
          </a:prstGeom>
          <a:solidFill>
            <a:srgbClr val="5B39F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TextBox 9"/>
          <p:cNvSpPr txBox="1"/>
          <p:nvPr/>
        </p:nvSpPr>
        <p:spPr>
          <a:xfrm>
            <a:off x="713232" y="4031906"/>
            <a:ext cx="10911840" cy="250405"/>
          </a:xfrm>
          <a:prstGeom prst="rect">
            <a:avLst/>
          </a:prstGeom>
          <a:noFill/>
        </p:spPr>
        <p:txBody>
          <a:bodyPr wrap="square" lIns="0" rIns="0" tIns="0" bIns="0" anchor="t">
            <a:noAutofit/>
          </a:bodyPr>
          <a:lstStyle/>
          <a:p>
            <a:pPr algn="l">
              <a:lnSpc>
                <a:spcPct val="120000"/>
              </a:lnSpc>
              <a:spcAft>
                <a:spcPts val="400"/>
              </a:spcAft>
            </a:pPr>
            <a:r>
              <a:rPr sz="1300" b="0">
                <a:solidFill>
                  <a:srgbClr val="333333"/>
                </a:solidFill>
                <a:latin typeface="Inter"/>
              </a:rPr>
              <a:t>AHRS owns NavEKF2/NavEKF3 while the EKF core reads AHRS/sensor state back through AP_DAL — AHRS↔EKF mutual reference.</a:t>
            </a:r>
          </a:p>
        </p:txBody>
      </p:sp>
      <p:sp>
        <p:nvSpPr>
          <p:cNvPr id="11" name="Rounded Rectangle 10"/>
          <p:cNvSpPr/>
          <p:nvPr/>
        </p:nvSpPr>
        <p:spPr>
          <a:xfrm>
            <a:off x="566928" y="4373751"/>
            <a:ext cx="1216919" cy="237744"/>
          </a:xfrm>
          <a:prstGeom prst="roundRect">
            <a:avLst>
              <a:gd name="adj" fmla="val 28000"/>
            </a:avLst>
          </a:prstGeom>
          <a:solidFill>
            <a:srgbClr val="F4EFF6"/>
          </a:solidFill>
          <a:ln w="9525">
            <a:solidFill>
              <a:srgbClr val="E1DBFD"/>
            </a:solidFill>
          </a:ln>
          <a:effectLst/>
        </p:spPr>
        <p:style>
          <a:lnRef idx="1">
            <a:schemeClr val="accent1"/>
          </a:lnRef>
          <a:fillRef idx="3">
            <a:schemeClr val="accent1"/>
          </a:fillRef>
          <a:effectRef idx="0">
            <a:schemeClr val="accent1"/>
          </a:effectRef>
          <a:fontRef idx="minor">
            <a:schemeClr val="lt1"/>
          </a:fontRef>
        </p:style>
        <p:txBody>
          <a:bodyPr rtlCol="0" anchor="ctr" wrap="none" lIns="45720" rIns="45720" tIns="0" bIns="0">
            <a:noAutofit/>
          </a:bodyPr>
          <a:lstStyle/>
          <a:p>
            <a:pPr algn="ctr">
              <a:lnSpc>
                <a:spcPct val="100000"/>
              </a:lnSpc>
            </a:pPr>
            <a:r>
              <a:rPr sz="1000" b="0">
                <a:solidFill>
                  <a:srgbClr val="5B39F3"/>
                </a:solidFill>
                <a:latin typeface="Fira Code"/>
              </a:rPr>
              <a:t>[CIRCULAR]  8</a:t>
            </a:r>
          </a:p>
        </p:txBody>
      </p:sp>
      <p:sp>
        <p:nvSpPr>
          <p:cNvPr id="12" name="Rounded Rectangle 11"/>
          <p:cNvSpPr/>
          <p:nvPr/>
        </p:nvSpPr>
        <p:spPr>
          <a:xfrm>
            <a:off x="1902719" y="4373751"/>
            <a:ext cx="1451324" cy="237744"/>
          </a:xfrm>
          <a:prstGeom prst="roundRect">
            <a:avLst>
              <a:gd name="adj" fmla="val 28000"/>
            </a:avLst>
          </a:prstGeom>
          <a:solidFill>
            <a:srgbClr val="F4EFF6"/>
          </a:solidFill>
          <a:ln w="9525">
            <a:solidFill>
              <a:srgbClr val="E1DBFD"/>
            </a:solidFill>
          </a:ln>
          <a:effectLst/>
        </p:spPr>
        <p:style>
          <a:lnRef idx="1">
            <a:schemeClr val="accent1"/>
          </a:lnRef>
          <a:fillRef idx="3">
            <a:schemeClr val="accent1"/>
          </a:fillRef>
          <a:effectRef idx="0">
            <a:schemeClr val="accent1"/>
          </a:effectRef>
          <a:fontRef idx="minor">
            <a:schemeClr val="lt1"/>
          </a:fontRef>
        </p:style>
        <p:txBody>
          <a:bodyPr rtlCol="0" anchor="ctr" wrap="none" lIns="45720" rIns="45720" tIns="0" bIns="0">
            <a:noAutofit/>
          </a:bodyPr>
          <a:lstStyle/>
          <a:p>
            <a:pPr algn="ctr">
              <a:lnSpc>
                <a:spcPct val="100000"/>
              </a:lnSpc>
            </a:pPr>
            <a:r>
              <a:rPr sz="1000" b="0">
                <a:solidFill>
                  <a:srgbClr val="5B39F3"/>
                </a:solidFill>
                <a:latin typeface="Fira Code"/>
              </a:rPr>
              <a:t>[DUPLICATED]  36</a:t>
            </a:r>
          </a:p>
        </p:txBody>
      </p:sp>
      <p:sp>
        <p:nvSpPr>
          <p:cNvPr id="13" name="TextBox 12"/>
          <p:cNvSpPr txBox="1"/>
          <p:nvPr/>
        </p:nvSpPr>
        <p:spPr>
          <a:xfrm>
            <a:off x="566928" y="4757799"/>
            <a:ext cx="11058144" cy="463550"/>
          </a:xfrm>
          <a:prstGeom prst="rect">
            <a:avLst/>
          </a:prstGeom>
          <a:noFill/>
        </p:spPr>
        <p:txBody>
          <a:bodyPr wrap="square" lIns="0" rIns="0" tIns="0" bIns="0" anchor="t">
            <a:noAutofit/>
          </a:bodyPr>
          <a:lstStyle/>
          <a:p>
            <a:pPr algn="l">
              <a:lnSpc>
                <a:spcPct val="118000"/>
              </a:lnSpc>
              <a:spcAft>
                <a:spcPts val="500"/>
              </a:spcAft>
            </a:pPr>
            <a:r>
              <a:rPr sz="1200" b="0">
                <a:solidFill>
                  <a:srgbClr val="333333"/>
                </a:solidFill>
                <a:latin typeface="Inter"/>
              </a:rPr>
              <a:t>Consequence for an extraction: a circular core cannot be cut at an arbitrary point, which is why the audit names the seam instead of leaving that boundary to be discovered later.</a:t>
            </a:r>
          </a:p>
        </p:txBody>
      </p:sp>
      <p:sp>
        <p:nvSpPr>
          <p:cNvPr id="14" name="TextBox 13"/>
          <p:cNvSpPr txBox="1"/>
          <p:nvPr/>
        </p:nvSpPr>
        <p:spPr>
          <a:xfrm>
            <a:off x="566928" y="6355080"/>
            <a:ext cx="11058144" cy="140703"/>
          </a:xfrm>
          <a:prstGeom prst="rect">
            <a:avLst/>
          </a:prstGeom>
          <a:noFill/>
        </p:spPr>
        <p:txBody>
          <a:bodyPr wrap="square" lIns="0" rIns="0" tIns="0" bIns="0" anchor="t">
            <a:noAutofit/>
          </a:bodyPr>
          <a:lstStyle/>
          <a:p>
            <a:pPr algn="l">
              <a:lnSpc>
                <a:spcPct val="100000"/>
              </a:lnSpc>
              <a:spcAft>
                <a:spcPts val="0"/>
              </a:spcAft>
            </a:pPr>
            <a:r>
              <a:rPr sz="900" b="0">
                <a:solidFill>
                  <a:srgbClr val="999999"/>
                </a:solidFill>
                <a:latin typeface="Fira Code"/>
              </a:rPr>
              <a:t>Source: ArduPilot_PNT_Reference_Audit.pdf  ·  audited HEAD 5b67e27b0a  ·  read-only static-analysis catalog  ·  every figure as stated by the audit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000" b="0">
                <a:solidFill>
                  <a:srgbClr val="5B39F3"/>
                </a:solidFill>
                <a:latin typeface="Fira Code"/>
              </a:rPr>
              <a:t>GROUP 1  ·  CORE TIMING  ·  TABLE 3  ·  9 CATALOGUED REFERENCES</a:t>
            </a:r>
          </a:p>
        </p:txBody>
      </p:sp>
      <p:sp>
        <p:nvSpPr>
          <p:cNvPr id="4" name="TextBox 3"/>
          <p:cNvSpPr txBox="1"/>
          <p:nvPr/>
        </p:nvSpPr>
        <p:spPr>
          <a:xfrm>
            <a:off x="566928" y="658368"/>
            <a:ext cx="11064240" cy="548640"/>
          </a:xfrm>
          <a:prstGeom prst="rect">
            <a:avLst/>
          </a:prstGeom>
          <a:noFill/>
        </p:spPr>
        <p:txBody>
          <a:bodyPr wrap="square" lIns="0" rIns="0" tIns="0" bIns="0" anchor="t">
            <a:noAutofit/>
          </a:bodyPr>
          <a:lstStyle/>
          <a:p>
            <a:pPr algn="l">
              <a:lnSpc>
                <a:spcPct val="130000"/>
              </a:lnSpc>
              <a:spcAft>
                <a:spcPts val="0"/>
              </a:spcAft>
            </a:pPr>
            <a:r>
              <a:rPr sz="2600" b="1">
                <a:solidFill>
                  <a:srgbClr val="333333"/>
                </a:solidFill>
                <a:latin typeface="Space Grotesk"/>
              </a:rPr>
              <a:t>Timing — everything is stamped against one clock</a:t>
            </a:r>
          </a:p>
        </p:txBody>
      </p:sp>
      <p:sp>
        <p:nvSpPr>
          <p:cNvPr id="5" name="Rectangle 4"/>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566928" y="1426464"/>
            <a:ext cx="11064240" cy="214960"/>
          </a:xfrm>
          <a:prstGeom prst="rect">
            <a:avLst/>
          </a:prstGeom>
          <a:noFill/>
        </p:spPr>
        <p:txBody>
          <a:bodyPr wrap="square" lIns="0" rIns="0" tIns="0" bIns="0" anchor="t">
            <a:noAutofit/>
          </a:bodyPr>
          <a:lstStyle/>
          <a:p>
            <a:pPr algn="l">
              <a:lnSpc>
                <a:spcPct val="124000"/>
              </a:lnSpc>
              <a:spcAft>
                <a:spcPts val="0"/>
              </a:spcAft>
            </a:pPr>
            <a:r>
              <a:rPr sz="1400" b="0">
                <a:solidFill>
                  <a:srgbClr val="333333"/>
                </a:solidFill>
                <a:latin typeface="Inter"/>
              </a:rPr>
              <a:t>The smallest core pillar by count, and the one every other pillar depends on.</a:t>
            </a:r>
          </a:p>
        </p:txBody>
      </p:sp>
      <p:sp>
        <p:nvSpPr>
          <p:cNvPr id="7" name="TextBox 6"/>
          <p:cNvSpPr txBox="1"/>
          <p:nvPr/>
        </p:nvSpPr>
        <p:spPr>
          <a:xfrm>
            <a:off x="566928" y="1806016"/>
            <a:ext cx="5394960" cy="194437"/>
          </a:xfrm>
          <a:prstGeom prst="rect">
            <a:avLst/>
          </a:prstGeom>
          <a:noFill/>
        </p:spPr>
        <p:txBody>
          <a:bodyPr wrap="square" lIns="0" rIns="0" tIns="0" bIns="0" anchor="t">
            <a:noAutofit/>
          </a:bodyPr>
          <a:lstStyle/>
          <a:p>
            <a:pPr algn="l">
              <a:lnSpc>
                <a:spcPct val="100000"/>
              </a:lnSpc>
              <a:spcAft>
                <a:spcPts val="300"/>
              </a:spcAft>
            </a:pPr>
            <a:r>
              <a:rPr sz="1000" b="0">
                <a:solidFill>
                  <a:srgbClr val="999999"/>
                </a:solidFill>
                <a:latin typeface="Fira Code"/>
              </a:rPr>
              <a:t>THE BACKBONE: ONE MONOTONIC CLOCK</a:t>
            </a:r>
          </a:p>
        </p:txBody>
      </p:sp>
      <p:sp>
        <p:nvSpPr>
          <p:cNvPr id="8" name="Rectangle 7"/>
          <p:cNvSpPr/>
          <p:nvPr/>
        </p:nvSpPr>
        <p:spPr>
          <a:xfrm>
            <a:off x="566928" y="2000453"/>
            <a:ext cx="32004" cy="725893"/>
          </a:xfrm>
          <a:prstGeom prst="rect">
            <a:avLst/>
          </a:prstGeom>
          <a:solidFill>
            <a:srgbClr val="5B39F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713232" y="2000453"/>
            <a:ext cx="5248656" cy="725893"/>
          </a:xfrm>
          <a:prstGeom prst="rect">
            <a:avLst/>
          </a:prstGeom>
          <a:noFill/>
        </p:spPr>
        <p:txBody>
          <a:bodyPr wrap="square" lIns="0" rIns="0" tIns="0" bIns="0" anchor="t">
            <a:noAutofit/>
          </a:bodyPr>
          <a:lstStyle/>
          <a:p>
            <a:pPr algn="l">
              <a:lnSpc>
                <a:spcPct val="120000"/>
              </a:lnSpc>
              <a:spcAft>
                <a:spcPts val="400"/>
              </a:spcAft>
            </a:pPr>
            <a:r>
              <a:rPr sz="1300" b="0">
                <a:solidFill>
                  <a:srgbClr val="333333"/>
                </a:solidFill>
                <a:latin typeface="Inter"/>
              </a:rPr>
              <a:t>Monotonic time backbone (user-cited micros()/millis()). Free functions in the AP_HAL namespace backed by the board RTOS timer; the time primitive every PNT subsystem stamps against.</a:t>
            </a:r>
          </a:p>
        </p:txBody>
      </p:sp>
      <p:sp>
        <p:nvSpPr>
          <p:cNvPr id="10" name="TextBox 9"/>
          <p:cNvSpPr txBox="1"/>
          <p:nvPr/>
        </p:nvSpPr>
        <p:spPr>
          <a:xfrm>
            <a:off x="6227064" y="1806016"/>
            <a:ext cx="5394960" cy="194437"/>
          </a:xfrm>
          <a:prstGeom prst="rect">
            <a:avLst/>
          </a:prstGeom>
          <a:noFill/>
        </p:spPr>
        <p:txBody>
          <a:bodyPr wrap="square" lIns="0" rIns="0" tIns="0" bIns="0" anchor="t">
            <a:noAutofit/>
          </a:bodyPr>
          <a:lstStyle/>
          <a:p>
            <a:pPr algn="l">
              <a:lnSpc>
                <a:spcPct val="100000"/>
              </a:lnSpc>
              <a:spcAft>
                <a:spcPts val="300"/>
              </a:spcAft>
            </a:pPr>
            <a:r>
              <a:rPr sz="1000" b="0">
                <a:solidFill>
                  <a:srgbClr val="999999"/>
                </a:solidFill>
                <a:latin typeface="Fira Code"/>
              </a:rPr>
              <a:t>ABSOLUTE TIME IS ARBITRATED, NOT ASSUMED</a:t>
            </a:r>
          </a:p>
        </p:txBody>
      </p:sp>
      <p:sp>
        <p:nvSpPr>
          <p:cNvPr id="11" name="Rectangle 10"/>
          <p:cNvSpPr/>
          <p:nvPr/>
        </p:nvSpPr>
        <p:spPr>
          <a:xfrm>
            <a:off x="6227064" y="2000453"/>
            <a:ext cx="32004" cy="725893"/>
          </a:xfrm>
          <a:prstGeom prst="rect">
            <a:avLst/>
          </a:prstGeom>
          <a:solidFill>
            <a:srgbClr val="5B39F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6373368" y="2000453"/>
            <a:ext cx="5248656" cy="725893"/>
          </a:xfrm>
          <a:prstGeom prst="rect">
            <a:avLst/>
          </a:prstGeom>
          <a:noFill/>
        </p:spPr>
        <p:txBody>
          <a:bodyPr wrap="square" lIns="0" rIns="0" tIns="0" bIns="0" anchor="t">
            <a:noAutofit/>
          </a:bodyPr>
          <a:lstStyle/>
          <a:p>
            <a:pPr algn="l">
              <a:lnSpc>
                <a:spcPct val="120000"/>
              </a:lnSpc>
              <a:spcAft>
                <a:spcPts val="400"/>
              </a:spcAft>
            </a:pPr>
            <a:r>
              <a:rPr sz="1300" b="0">
                <a:solidFill>
                  <a:srgbClr val="333333"/>
                </a:solidFill>
                <a:latin typeface="Inter"/>
              </a:rPr>
              <a:t>Time-SOURCE ARBITRATION: accepts a new UTC time only if its source_type out-ranks the current rtc_source_type (GPS &gt; GCS &gt; HW). Selects the best clock source.</a:t>
            </a:r>
          </a:p>
        </p:txBody>
      </p:sp>
      <p:sp>
        <p:nvSpPr>
          <p:cNvPr id="13" name="TextBox 12"/>
          <p:cNvSpPr txBox="1"/>
          <p:nvPr/>
        </p:nvSpPr>
        <p:spPr>
          <a:xfrm>
            <a:off x="566928" y="2872650"/>
            <a:ext cx="5394960" cy="194437"/>
          </a:xfrm>
          <a:prstGeom prst="rect">
            <a:avLst/>
          </a:prstGeom>
          <a:noFill/>
        </p:spPr>
        <p:txBody>
          <a:bodyPr wrap="square" lIns="0" rIns="0" tIns="0" bIns="0" anchor="t">
            <a:noAutofit/>
          </a:bodyPr>
          <a:lstStyle/>
          <a:p>
            <a:pPr algn="l">
              <a:lnSpc>
                <a:spcPct val="100000"/>
              </a:lnSpc>
              <a:spcAft>
                <a:spcPts val="300"/>
              </a:spcAft>
            </a:pPr>
            <a:r>
              <a:rPr sz="1000" b="0">
                <a:solidFill>
                  <a:srgbClr val="999999"/>
                </a:solidFill>
                <a:latin typeface="Fira Code"/>
              </a:rPr>
              <a:t>CADENCE IS A PNT PROPERTY</a:t>
            </a:r>
          </a:p>
        </p:txBody>
      </p:sp>
      <p:sp>
        <p:nvSpPr>
          <p:cNvPr id="14" name="Rectangle 13"/>
          <p:cNvSpPr/>
          <p:nvPr/>
        </p:nvSpPr>
        <p:spPr>
          <a:xfrm>
            <a:off x="566928" y="3067087"/>
            <a:ext cx="32004" cy="488149"/>
          </a:xfrm>
          <a:prstGeom prst="rect">
            <a:avLst/>
          </a:prstGeom>
          <a:solidFill>
            <a:srgbClr val="5B39F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TextBox 14"/>
          <p:cNvSpPr txBox="1"/>
          <p:nvPr/>
        </p:nvSpPr>
        <p:spPr>
          <a:xfrm>
            <a:off x="713232" y="3067087"/>
            <a:ext cx="5248656" cy="488149"/>
          </a:xfrm>
          <a:prstGeom prst="rect">
            <a:avLst/>
          </a:prstGeom>
          <a:noFill/>
        </p:spPr>
        <p:txBody>
          <a:bodyPr wrap="square" lIns="0" rIns="0" tIns="0" bIns="0" anchor="t">
            <a:noAutofit/>
          </a:bodyPr>
          <a:lstStyle/>
          <a:p>
            <a:pPr algn="l">
              <a:lnSpc>
                <a:spcPct val="120000"/>
              </a:lnSpc>
              <a:spcAft>
                <a:spcPts val="400"/>
              </a:spcAft>
            </a:pPr>
            <a:r>
              <a:rPr sz="1300" b="0">
                <a:solidFill>
                  <a:srgbClr val="333333"/>
                </a:solidFill>
                <a:latin typeface="Inter"/>
              </a:rPr>
              <a:t>Drives the cadence of every periodic PNT task (EKF predict/fuse, AHRS, control).</a:t>
            </a:r>
          </a:p>
        </p:txBody>
      </p:sp>
      <p:sp>
        <p:nvSpPr>
          <p:cNvPr id="16" name="TextBox 15"/>
          <p:cNvSpPr txBox="1"/>
          <p:nvPr/>
        </p:nvSpPr>
        <p:spPr>
          <a:xfrm>
            <a:off x="6227064" y="2872650"/>
            <a:ext cx="5394960" cy="194437"/>
          </a:xfrm>
          <a:prstGeom prst="rect">
            <a:avLst/>
          </a:prstGeom>
          <a:noFill/>
        </p:spPr>
        <p:txBody>
          <a:bodyPr wrap="square" lIns="0" rIns="0" tIns="0" bIns="0" anchor="t">
            <a:noAutofit/>
          </a:bodyPr>
          <a:lstStyle/>
          <a:p>
            <a:pPr algn="l">
              <a:lnSpc>
                <a:spcPct val="100000"/>
              </a:lnSpc>
              <a:spcAft>
                <a:spcPts val="300"/>
              </a:spcAft>
            </a:pPr>
            <a:r>
              <a:rPr sz="1000" b="0">
                <a:solidFill>
                  <a:srgbClr val="999999"/>
                </a:solidFill>
                <a:latin typeface="Fira Code"/>
              </a:rPr>
              <a:t>TIMING AND POSITIONING SHARE ONE STRUCTURE</a:t>
            </a:r>
          </a:p>
        </p:txBody>
      </p:sp>
      <p:sp>
        <p:nvSpPr>
          <p:cNvPr id="17" name="Rectangle 16"/>
          <p:cNvSpPr/>
          <p:nvPr/>
        </p:nvSpPr>
        <p:spPr>
          <a:xfrm>
            <a:off x="6227064" y="3067087"/>
            <a:ext cx="32004" cy="725893"/>
          </a:xfrm>
          <a:prstGeom prst="rect">
            <a:avLst/>
          </a:prstGeom>
          <a:solidFill>
            <a:srgbClr val="5B39F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TextBox 17"/>
          <p:cNvSpPr txBox="1"/>
          <p:nvPr/>
        </p:nvSpPr>
        <p:spPr>
          <a:xfrm>
            <a:off x="6373368" y="3067087"/>
            <a:ext cx="5248656" cy="725893"/>
          </a:xfrm>
          <a:prstGeom prst="rect">
            <a:avLst/>
          </a:prstGeom>
          <a:noFill/>
        </p:spPr>
        <p:txBody>
          <a:bodyPr wrap="square" lIns="0" rIns="0" tIns="0" bIns="0" anchor="t">
            <a:noAutofit/>
          </a:bodyPr>
          <a:lstStyle/>
          <a:p>
            <a:pPr algn="l">
              <a:lnSpc>
                <a:spcPct val="120000"/>
              </a:lnSpc>
              <a:spcAft>
                <a:spcPts val="400"/>
              </a:spcAft>
            </a:pPr>
            <a:r>
              <a:rPr sz="1300" b="0">
                <a:solidFill>
                  <a:srgbClr val="333333"/>
                </a:solidFill>
                <a:latin typeface="Inter"/>
              </a:rPr>
              <a:t>GPS time-of-week (ms-of-week + week number) — the TIMING facet of the GPS_State that also carries Positioning (Table 1 #4/#17).</a:t>
            </a:r>
          </a:p>
        </p:txBody>
      </p:sp>
      <p:sp>
        <p:nvSpPr>
          <p:cNvPr id="19" name="Rounded Rectangle 18"/>
          <p:cNvSpPr/>
          <p:nvPr/>
        </p:nvSpPr>
        <p:spPr>
          <a:xfrm>
            <a:off x="566928" y="3939284"/>
            <a:ext cx="1685728" cy="237744"/>
          </a:xfrm>
          <a:prstGeom prst="roundRect">
            <a:avLst>
              <a:gd name="adj" fmla="val 28000"/>
            </a:avLst>
          </a:prstGeom>
          <a:solidFill>
            <a:srgbClr val="F4EFF6"/>
          </a:solidFill>
          <a:ln w="9525">
            <a:solidFill>
              <a:srgbClr val="E1DBFD"/>
            </a:solidFill>
          </a:ln>
          <a:effectLst/>
        </p:spPr>
        <p:style>
          <a:lnRef idx="1">
            <a:schemeClr val="accent1"/>
          </a:lnRef>
          <a:fillRef idx="3">
            <a:schemeClr val="accent1"/>
          </a:fillRef>
          <a:effectRef idx="0">
            <a:schemeClr val="accent1"/>
          </a:effectRef>
          <a:fontRef idx="minor">
            <a:schemeClr val="lt1"/>
          </a:fontRef>
        </p:style>
        <p:txBody>
          <a:bodyPr rtlCol="0" anchor="ctr" wrap="none" lIns="45720" rIns="45720" tIns="0" bIns="0">
            <a:noAutofit/>
          </a:bodyPr>
          <a:lstStyle/>
          <a:p>
            <a:pPr algn="ctr">
              <a:lnSpc>
                <a:spcPct val="100000"/>
              </a:lnSpc>
            </a:pPr>
            <a:r>
              <a:rPr sz="1000" b="0">
                <a:solidFill>
                  <a:srgbClr val="5B39F3"/>
                </a:solidFill>
                <a:latin typeface="Fira Code"/>
              </a:rPr>
              <a:t>[MULTI-CATEGORY]  7</a:t>
            </a:r>
          </a:p>
        </p:txBody>
      </p:sp>
      <p:sp>
        <p:nvSpPr>
          <p:cNvPr id="20" name="TextBox 19"/>
          <p:cNvSpPr txBox="1"/>
          <p:nvPr/>
        </p:nvSpPr>
        <p:spPr>
          <a:xfrm>
            <a:off x="566928" y="4323332"/>
            <a:ext cx="11058144" cy="679348"/>
          </a:xfrm>
          <a:prstGeom prst="rect">
            <a:avLst/>
          </a:prstGeom>
          <a:noFill/>
        </p:spPr>
        <p:txBody>
          <a:bodyPr wrap="square" lIns="0" rIns="0" tIns="0" bIns="0" anchor="t">
            <a:noAutofit/>
          </a:bodyPr>
          <a:lstStyle/>
          <a:p>
            <a:pPr algn="l">
              <a:lnSpc>
                <a:spcPct val="118000"/>
              </a:lnSpc>
              <a:spcAft>
                <a:spcPts val="500"/>
              </a:spcAft>
            </a:pPr>
            <a:r>
              <a:rPr sz="1200" b="0">
                <a:solidFill>
                  <a:srgbClr val="333333"/>
                </a:solidFill>
                <a:latin typeface="Inter"/>
              </a:rPr>
              <a:t>Consequence for an extraction: a host that supplies its own timebase changes the cadence that PNT behaviour is derived at, so timing is a contract to be injected deliberately rather than an implementation detail. The same structure that carries position also carries GPS time, so the two pillars cannot be separated by moving one field.</a:t>
            </a:r>
          </a:p>
        </p:txBody>
      </p:sp>
      <p:sp>
        <p:nvSpPr>
          <p:cNvPr id="21" name="TextBox 20"/>
          <p:cNvSpPr txBox="1"/>
          <p:nvPr/>
        </p:nvSpPr>
        <p:spPr>
          <a:xfrm>
            <a:off x="566928" y="6355080"/>
            <a:ext cx="11058144" cy="140703"/>
          </a:xfrm>
          <a:prstGeom prst="rect">
            <a:avLst/>
          </a:prstGeom>
          <a:noFill/>
        </p:spPr>
        <p:txBody>
          <a:bodyPr wrap="square" lIns="0" rIns="0" tIns="0" bIns="0" anchor="t">
            <a:noAutofit/>
          </a:bodyPr>
          <a:lstStyle/>
          <a:p>
            <a:pPr algn="l">
              <a:lnSpc>
                <a:spcPct val="100000"/>
              </a:lnSpc>
              <a:spcAft>
                <a:spcPts val="0"/>
              </a:spcAft>
            </a:pPr>
            <a:r>
              <a:rPr sz="900" b="0">
                <a:solidFill>
                  <a:srgbClr val="999999"/>
                </a:solidFill>
                <a:latin typeface="Fira Code"/>
              </a:rPr>
              <a:t>Source: ArduPilot_PNT_Reference_Audit.pdf  ·  audited HEAD 5b67e27b0a  ·  read-only static-analysis catalog  ·  every figure as stated by the audit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000" b="0">
                <a:solidFill>
                  <a:srgbClr val="5B39F3"/>
                </a:solidFill>
                <a:latin typeface="Fira Code"/>
              </a:rPr>
              <a:t>GROUP 2  ·  INDIRECT POSITIONING  ·  TABLE 4  ·  10 CATALOGUED REFERENCES</a:t>
            </a:r>
          </a:p>
        </p:txBody>
      </p:sp>
      <p:sp>
        <p:nvSpPr>
          <p:cNvPr id="4" name="TextBox 3"/>
          <p:cNvSpPr txBox="1"/>
          <p:nvPr/>
        </p:nvSpPr>
        <p:spPr>
          <a:xfrm>
            <a:off x="566928" y="658368"/>
            <a:ext cx="11064240" cy="548640"/>
          </a:xfrm>
          <a:prstGeom prst="rect">
            <a:avLst/>
          </a:prstGeom>
          <a:noFill/>
        </p:spPr>
        <p:txBody>
          <a:bodyPr wrap="square" lIns="0" rIns="0" tIns="0" bIns="0" anchor="t">
            <a:noAutofit/>
          </a:bodyPr>
          <a:lstStyle/>
          <a:p>
            <a:pPr algn="l">
              <a:lnSpc>
                <a:spcPct val="130000"/>
              </a:lnSpc>
              <a:spcAft>
                <a:spcPts val="0"/>
              </a:spcAft>
            </a:pPr>
            <a:r>
              <a:rPr sz="2600" b="1">
                <a:solidFill>
                  <a:srgbClr val="333333"/>
                </a:solidFill>
                <a:latin typeface="Space Grotesk"/>
              </a:rPr>
              <a:t>PNT as a permission system</a:t>
            </a:r>
          </a:p>
        </p:txBody>
      </p:sp>
      <p:sp>
        <p:nvSpPr>
          <p:cNvPr id="5" name="Rectangle 4"/>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566928" y="1426464"/>
            <a:ext cx="11064240" cy="479526"/>
          </a:xfrm>
          <a:prstGeom prst="rect">
            <a:avLst/>
          </a:prstGeom>
          <a:noFill/>
        </p:spPr>
        <p:txBody>
          <a:bodyPr wrap="square" lIns="0" rIns="0" tIns="0" bIns="0" anchor="t">
            <a:noAutofit/>
          </a:bodyPr>
          <a:lstStyle/>
          <a:p>
            <a:pPr algn="l">
              <a:lnSpc>
                <a:spcPct val="124000"/>
              </a:lnSpc>
              <a:spcAft>
                <a:spcPts val="0"/>
              </a:spcAft>
            </a:pPr>
            <a:r>
              <a:rPr sz="1400" b="0">
                <a:solidFill>
                  <a:srgbClr val="333333"/>
                </a:solidFill>
                <a:latin typeface="Inter"/>
              </a:rPr>
              <a:t>Group 2 reads no PNT value itself. Its behaviour changes because of PNT state — and in positioning that is overwhelmingly a permission decision, not a computation.</a:t>
            </a:r>
          </a:p>
        </p:txBody>
      </p:sp>
      <p:sp>
        <p:nvSpPr>
          <p:cNvPr id="7" name="TextBox 6"/>
          <p:cNvSpPr txBox="1"/>
          <p:nvPr/>
        </p:nvSpPr>
        <p:spPr>
          <a:xfrm>
            <a:off x="566928" y="2070582"/>
            <a:ext cx="11058144" cy="1885149"/>
          </a:xfrm>
          <a:prstGeom prst="rect">
            <a:avLst/>
          </a:prstGeom>
          <a:noFill/>
        </p:spPr>
        <p:txBody>
          <a:bodyPr wrap="square" lIns="0" rIns="0" tIns="0" bIns="0" anchor="t">
            <a:noAutofit/>
          </a:bodyPr>
          <a:lstStyle/>
          <a:p>
            <a:pPr algn="l" marL="185737" indent="-185737">
              <a:lnSpc>
                <a:spcPct val="124000"/>
              </a:lnSpc>
              <a:spcAft>
                <a:spcPts val="900"/>
              </a:spcAft>
            </a:pPr>
            <a:r>
              <a:rPr sz="1300" b="0">
                <a:solidFill>
                  <a:srgbClr val="333333"/>
                </a:solidFill>
                <a:latin typeface="Inter"/>
              </a:rPr>
              <a:t>•  Position-health gates decide whether a flight mode may be entered at all; a mode that requires position is refused outright when the estimate is unavailable.</a:t>
            </a:r>
          </a:p>
          <a:p>
            <a:pPr algn="l" marL="185737" indent="-185737">
              <a:lnSpc>
                <a:spcPct val="124000"/>
              </a:lnSpc>
              <a:spcAft>
                <a:spcPts val="900"/>
              </a:spcAft>
            </a:pPr>
            <a:r>
              <a:rPr sz="1300" b="0">
                <a:solidFill>
                  <a:srgbClr val="333333"/>
                </a:solidFill>
                <a:latin typeface="Inter"/>
              </a:rPr>
              <a:t>•  Geofence evaluation decides whether motion is allowed — polygon, circle and altitude checks all feed one breach bitmask that drives the vehicle’s fence response.</a:t>
            </a:r>
          </a:p>
          <a:p>
            <a:pPr algn="l" marL="185737" indent="-185737">
              <a:lnSpc>
                <a:spcPct val="124000"/>
              </a:lnSpc>
              <a:spcAft>
                <a:spcPts val="900"/>
              </a:spcAft>
            </a:pPr>
            <a:r>
              <a:rPr sz="1300" b="0">
                <a:solidFill>
                  <a:srgbClr val="333333"/>
                </a:solidFill>
                <a:latin typeface="Inter"/>
              </a:rPr>
              <a:t>•  A fix-quality gate holds automatic take-off suppressed until the receiver reports a good enough fix.</a:t>
            </a:r>
          </a:p>
          <a:p>
            <a:pPr algn="l" marL="185737" indent="-185737">
              <a:lnSpc>
                <a:spcPct val="124000"/>
              </a:lnSpc>
              <a:spcAft>
                <a:spcPts val="900"/>
              </a:spcAft>
            </a:pPr>
            <a:r>
              <a:rPr sz="1300" b="0">
                <a:solidFill>
                  <a:srgbClr val="333333"/>
                </a:solidFill>
                <a:latin typeface="Inter"/>
              </a:rPr>
              <a:t>•  One reference is catalogued as an absence BY DESIGN rather than as an omission. The audit records the GPS-denied fallback path thus:</a:t>
            </a:r>
          </a:p>
        </p:txBody>
      </p:sp>
      <p:sp>
        <p:nvSpPr>
          <p:cNvPr id="8" name="Rectangle 7"/>
          <p:cNvSpPr/>
          <p:nvPr/>
        </p:nvSpPr>
        <p:spPr>
          <a:xfrm>
            <a:off x="566928" y="4102035"/>
            <a:ext cx="32004" cy="250405"/>
          </a:xfrm>
          <a:prstGeom prst="rect">
            <a:avLst/>
          </a:prstGeom>
          <a:solidFill>
            <a:srgbClr val="5B39F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713232" y="4102035"/>
            <a:ext cx="10911840" cy="250405"/>
          </a:xfrm>
          <a:prstGeom prst="rect">
            <a:avLst/>
          </a:prstGeom>
          <a:noFill/>
        </p:spPr>
        <p:txBody>
          <a:bodyPr wrap="square" lIns="0" rIns="0" tIns="0" bIns="0" anchor="t">
            <a:noAutofit/>
          </a:bodyPr>
          <a:lstStyle/>
          <a:p>
            <a:pPr algn="l">
              <a:lnSpc>
                <a:spcPct val="120000"/>
              </a:lnSpc>
              <a:spcAft>
                <a:spcPts val="400"/>
              </a:spcAft>
            </a:pPr>
            <a:r>
              <a:rPr sz="1300" b="0">
                <a:solidFill>
                  <a:srgbClr val="333333"/>
                </a:solidFill>
                <a:latin typeface="Inter"/>
              </a:rPr>
              <a:t>[ABSENT — by design] no position state observed; requires_GPS() returns false (ArduCopter/mode.h)</a:t>
            </a:r>
          </a:p>
        </p:txBody>
      </p:sp>
      <p:sp>
        <p:nvSpPr>
          <p:cNvPr id="10" name="Rounded Rectangle 9"/>
          <p:cNvSpPr/>
          <p:nvPr/>
        </p:nvSpPr>
        <p:spPr>
          <a:xfrm>
            <a:off x="566928" y="4443880"/>
            <a:ext cx="1138785" cy="237744"/>
          </a:xfrm>
          <a:prstGeom prst="roundRect">
            <a:avLst>
              <a:gd name="adj" fmla="val 28000"/>
            </a:avLst>
          </a:prstGeom>
          <a:solidFill>
            <a:srgbClr val="F4EFF6"/>
          </a:solidFill>
          <a:ln w="9525">
            <a:solidFill>
              <a:srgbClr val="E1DBFD"/>
            </a:solidFill>
          </a:ln>
          <a:effectLst/>
        </p:spPr>
        <p:style>
          <a:lnRef idx="1">
            <a:schemeClr val="accent1"/>
          </a:lnRef>
          <a:fillRef idx="3">
            <a:schemeClr val="accent1"/>
          </a:fillRef>
          <a:effectRef idx="0">
            <a:schemeClr val="accent1"/>
          </a:effectRef>
          <a:fontRef idx="minor">
            <a:schemeClr val="lt1"/>
          </a:fontRef>
        </p:style>
        <p:txBody>
          <a:bodyPr rtlCol="0" anchor="ctr" wrap="none" lIns="45720" rIns="45720" tIns="0" bIns="0">
            <a:noAutofit/>
          </a:bodyPr>
          <a:lstStyle/>
          <a:p>
            <a:pPr algn="ctr">
              <a:lnSpc>
                <a:spcPct val="100000"/>
              </a:lnSpc>
            </a:pPr>
            <a:r>
              <a:rPr sz="1000" b="0">
                <a:solidFill>
                  <a:srgbClr val="5B39F3"/>
                </a:solidFill>
                <a:latin typeface="Fira Code"/>
              </a:rPr>
              <a:t>[ABSENT]  30</a:t>
            </a:r>
          </a:p>
        </p:txBody>
      </p:sp>
      <p:sp>
        <p:nvSpPr>
          <p:cNvPr id="11" name="TextBox 10"/>
          <p:cNvSpPr txBox="1"/>
          <p:nvPr/>
        </p:nvSpPr>
        <p:spPr>
          <a:xfrm>
            <a:off x="566928" y="4809640"/>
            <a:ext cx="11058144" cy="247751"/>
          </a:xfrm>
          <a:prstGeom prst="rect">
            <a:avLst/>
          </a:prstGeom>
          <a:noFill/>
        </p:spPr>
        <p:txBody>
          <a:bodyPr wrap="square" lIns="0" rIns="0" tIns="0" bIns="0" anchor="t">
            <a:noAutofit/>
          </a:bodyPr>
          <a:lstStyle/>
          <a:p>
            <a:pPr algn="l">
              <a:lnSpc>
                <a:spcPct val="118000"/>
              </a:lnSpc>
              <a:spcAft>
                <a:spcPts val="500"/>
              </a:spcAft>
            </a:pPr>
            <a:r>
              <a:rPr sz="1200" b="0">
                <a:solidFill>
                  <a:srgbClr val="999999"/>
                </a:solidFill>
                <a:latin typeface="Inter"/>
              </a:rPr>
              <a:t>Explicitly-documented absences catalogued in the Coverage register: 27.</a:t>
            </a:r>
          </a:p>
        </p:txBody>
      </p:sp>
      <p:sp>
        <p:nvSpPr>
          <p:cNvPr id="12" name="TextBox 11"/>
          <p:cNvSpPr txBox="1"/>
          <p:nvPr/>
        </p:nvSpPr>
        <p:spPr>
          <a:xfrm>
            <a:off x="566928" y="5112255"/>
            <a:ext cx="11058144" cy="463550"/>
          </a:xfrm>
          <a:prstGeom prst="rect">
            <a:avLst/>
          </a:prstGeom>
          <a:noFill/>
        </p:spPr>
        <p:txBody>
          <a:bodyPr wrap="square" lIns="0" rIns="0" tIns="0" bIns="0" anchor="t">
            <a:noAutofit/>
          </a:bodyPr>
          <a:lstStyle/>
          <a:p>
            <a:pPr algn="l">
              <a:lnSpc>
                <a:spcPct val="118000"/>
              </a:lnSpc>
              <a:spcAft>
                <a:spcPts val="500"/>
              </a:spcAft>
            </a:pPr>
            <a:r>
              <a:rPr sz="1200" b="0">
                <a:solidFill>
                  <a:srgbClr val="333333"/>
                </a:solidFill>
                <a:latin typeface="Inter"/>
              </a:rPr>
              <a:t>Consequence for an extraction: these references never appear in a search for PNT data, because they touch none. They are nonetheless where PNT state becomes vehicle behaviour, so a host that supplies position inherits every permission decision that position gates.</a:t>
            </a:r>
          </a:p>
        </p:txBody>
      </p:sp>
      <p:sp>
        <p:nvSpPr>
          <p:cNvPr id="13" name="TextBox 12"/>
          <p:cNvSpPr txBox="1"/>
          <p:nvPr/>
        </p:nvSpPr>
        <p:spPr>
          <a:xfrm>
            <a:off x="566928" y="6355080"/>
            <a:ext cx="11058144" cy="140703"/>
          </a:xfrm>
          <a:prstGeom prst="rect">
            <a:avLst/>
          </a:prstGeom>
          <a:noFill/>
        </p:spPr>
        <p:txBody>
          <a:bodyPr wrap="square" lIns="0" rIns="0" tIns="0" bIns="0" anchor="t">
            <a:noAutofit/>
          </a:bodyPr>
          <a:lstStyle/>
          <a:p>
            <a:pPr algn="l">
              <a:lnSpc>
                <a:spcPct val="100000"/>
              </a:lnSpc>
              <a:spcAft>
                <a:spcPts val="0"/>
              </a:spcAft>
            </a:pPr>
            <a:r>
              <a:rPr sz="900" b="0">
                <a:solidFill>
                  <a:srgbClr val="999999"/>
                </a:solidFill>
                <a:latin typeface="Fira Code"/>
              </a:rPr>
              <a:t>Source: ArduPilot_PNT_Reference_Audit.pdf  ·  audited HEAD 5b67e27b0a  ·  read-only static-analysis catalog  ·  every figure as stated by the audit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000" b="0">
                <a:solidFill>
                  <a:srgbClr val="5B39F3"/>
                </a:solidFill>
                <a:latin typeface="Fira Code"/>
              </a:rPr>
              <a:t>GROUP 2  ·  INDIRECT NAVIGATION AND TIMING  ·  TABLES 5 AND 6</a:t>
            </a:r>
          </a:p>
        </p:txBody>
      </p:sp>
      <p:sp>
        <p:nvSpPr>
          <p:cNvPr id="4" name="TextBox 3"/>
          <p:cNvSpPr txBox="1"/>
          <p:nvPr/>
        </p:nvSpPr>
        <p:spPr>
          <a:xfrm>
            <a:off x="566928" y="658368"/>
            <a:ext cx="11064240" cy="548640"/>
          </a:xfrm>
          <a:prstGeom prst="rect">
            <a:avLst/>
          </a:prstGeom>
          <a:noFill/>
        </p:spPr>
        <p:txBody>
          <a:bodyPr wrap="square" lIns="0" rIns="0" tIns="0" bIns="0" anchor="t">
            <a:noAutofit/>
          </a:bodyPr>
          <a:lstStyle/>
          <a:p>
            <a:pPr algn="l">
              <a:lnSpc>
                <a:spcPct val="130000"/>
              </a:lnSpc>
              <a:spcAft>
                <a:spcPts val="0"/>
              </a:spcAft>
            </a:pPr>
            <a:r>
              <a:rPr sz="2600" b="1">
                <a:solidFill>
                  <a:srgbClr val="333333"/>
                </a:solidFill>
                <a:latin typeface="Space Grotesk"/>
              </a:rPr>
              <a:t>The same check, written many times</a:t>
            </a:r>
          </a:p>
        </p:txBody>
      </p:sp>
      <p:sp>
        <p:nvSpPr>
          <p:cNvPr id="5" name="Rectangle 4"/>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566928" y="1426464"/>
            <a:ext cx="11064240" cy="214960"/>
          </a:xfrm>
          <a:prstGeom prst="rect">
            <a:avLst/>
          </a:prstGeom>
          <a:noFill/>
        </p:spPr>
        <p:txBody>
          <a:bodyPr wrap="square" lIns="0" rIns="0" tIns="0" bIns="0" anchor="t">
            <a:noAutofit/>
          </a:bodyPr>
          <a:lstStyle/>
          <a:p>
            <a:pPr algn="l">
              <a:lnSpc>
                <a:spcPct val="124000"/>
              </a:lnSpc>
              <a:spcAft>
                <a:spcPts val="0"/>
              </a:spcAft>
            </a:pPr>
            <a:r>
              <a:rPr sz="1400" b="0">
                <a:solidFill>
                  <a:srgbClr val="333333"/>
                </a:solidFill>
                <a:latin typeface="Inter"/>
              </a:rPr>
              <a:t>[DUPLICATED] is the audit’s largest flag concentration at 36 occurrences. Two safety checks account for a substantial share of it.</a:t>
            </a:r>
          </a:p>
        </p:txBody>
      </p:sp>
      <p:sp>
        <p:nvSpPr>
          <p:cNvPr id="7" name="TextBox 6"/>
          <p:cNvSpPr txBox="1"/>
          <p:nvPr/>
        </p:nvSpPr>
        <p:spPr>
          <a:xfrm>
            <a:off x="566928" y="1806016"/>
            <a:ext cx="11058144" cy="194437"/>
          </a:xfrm>
          <a:prstGeom prst="rect">
            <a:avLst/>
          </a:prstGeom>
          <a:noFill/>
        </p:spPr>
        <p:txBody>
          <a:bodyPr wrap="square" lIns="0" rIns="0" tIns="0" bIns="0" anchor="t">
            <a:noAutofit/>
          </a:bodyPr>
          <a:lstStyle/>
          <a:p>
            <a:pPr algn="l">
              <a:lnSpc>
                <a:spcPct val="100000"/>
              </a:lnSpc>
              <a:spcAft>
                <a:spcPts val="300"/>
              </a:spcAft>
            </a:pPr>
            <a:r>
              <a:rPr sz="1000" b="0">
                <a:solidFill>
                  <a:srgbClr val="999999"/>
                </a:solidFill>
                <a:latin typeface="Fira Code"/>
              </a:rPr>
              <a:t>THE ESTIMATOR-VARIANCE WATCHDOG, AS CATALOGUED</a:t>
            </a:r>
          </a:p>
        </p:txBody>
      </p:sp>
      <p:sp>
        <p:nvSpPr>
          <p:cNvPr id="8" name="Rectangle 7"/>
          <p:cNvSpPr/>
          <p:nvPr/>
        </p:nvSpPr>
        <p:spPr>
          <a:xfrm>
            <a:off x="566928" y="2000453"/>
            <a:ext cx="32004" cy="488149"/>
          </a:xfrm>
          <a:prstGeom prst="rect">
            <a:avLst/>
          </a:prstGeom>
          <a:solidFill>
            <a:srgbClr val="5B39F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713232" y="2000453"/>
            <a:ext cx="10911840" cy="488149"/>
          </a:xfrm>
          <a:prstGeom prst="rect">
            <a:avLst/>
          </a:prstGeom>
          <a:noFill/>
        </p:spPr>
        <p:txBody>
          <a:bodyPr wrap="square" lIns="0" rIns="0" tIns="0" bIns="0" anchor="t">
            <a:noAutofit/>
          </a:bodyPr>
          <a:lstStyle/>
          <a:p>
            <a:pPr algn="l">
              <a:lnSpc>
                <a:spcPct val="120000"/>
              </a:lnSpc>
              <a:spcAft>
                <a:spcPts val="400"/>
              </a:spcAft>
            </a:pPr>
            <a:r>
              <a:rPr sz="1300" b="0">
                <a:solidFill>
                  <a:srgbClr val="333333"/>
                </a:solidFill>
                <a:latin typeface="Inter"/>
              </a:rPr>
              <a:t>EKF-variance watchdog replicated across ArduCopter/ekf_check.cpp, ArduPlane/ekf_check.cpp, Rover/ekf_check.cpp and ArduSub/failsafe.cpp — a 4-way copy-paste (extraction risk).</a:t>
            </a:r>
          </a:p>
        </p:txBody>
      </p:sp>
      <p:sp>
        <p:nvSpPr>
          <p:cNvPr id="10" name="TextBox 9"/>
          <p:cNvSpPr txBox="1"/>
          <p:nvPr/>
        </p:nvSpPr>
        <p:spPr>
          <a:xfrm>
            <a:off x="566928" y="2653194"/>
            <a:ext cx="11058144" cy="194437"/>
          </a:xfrm>
          <a:prstGeom prst="rect">
            <a:avLst/>
          </a:prstGeom>
          <a:noFill/>
        </p:spPr>
        <p:txBody>
          <a:bodyPr wrap="square" lIns="0" rIns="0" tIns="0" bIns="0" anchor="t">
            <a:noAutofit/>
          </a:bodyPr>
          <a:lstStyle/>
          <a:p>
            <a:pPr algn="l">
              <a:lnSpc>
                <a:spcPct val="100000"/>
              </a:lnSpc>
              <a:spcAft>
                <a:spcPts val="300"/>
              </a:spcAft>
            </a:pPr>
            <a:r>
              <a:rPr sz="1000" b="0">
                <a:solidFill>
                  <a:srgbClr val="999999"/>
                </a:solidFill>
                <a:latin typeface="Fira Code"/>
              </a:rPr>
              <a:t>THE MAIN-LOOP-LOCKUP WATCHDOG, AS CATALOGUED</a:t>
            </a:r>
          </a:p>
        </p:txBody>
      </p:sp>
      <p:sp>
        <p:nvSpPr>
          <p:cNvPr id="11" name="Rectangle 10"/>
          <p:cNvSpPr/>
          <p:nvPr/>
        </p:nvSpPr>
        <p:spPr>
          <a:xfrm>
            <a:off x="566928" y="2847631"/>
            <a:ext cx="32004" cy="725893"/>
          </a:xfrm>
          <a:prstGeom prst="rect">
            <a:avLst/>
          </a:prstGeom>
          <a:solidFill>
            <a:srgbClr val="5B39F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713232" y="2847631"/>
            <a:ext cx="10911840" cy="725893"/>
          </a:xfrm>
          <a:prstGeom prst="rect">
            <a:avLst/>
          </a:prstGeom>
          <a:noFill/>
        </p:spPr>
        <p:txBody>
          <a:bodyPr wrap="square" lIns="0" rIns="0" tIns="0" bIns="0" anchor="t">
            <a:noAutofit/>
          </a:bodyPr>
          <a:lstStyle/>
          <a:p>
            <a:pPr algn="l">
              <a:lnSpc>
                <a:spcPct val="120000"/>
              </a:lnSpc>
              <a:spcAft>
                <a:spcPts val="400"/>
              </a:spcAft>
            </a:pPr>
            <a:r>
              <a:rPr sz="1300" b="0">
                <a:solidFill>
                  <a:srgbClr val="333333"/>
                </a:solidFill>
                <a:latin typeface="Inter"/>
              </a:rPr>
              <a:t>Main-loop-lockup watchdog replicated 5 ways — ArduCopter/failsafe.cpp, ArduPlane/failsafe.cpp, Rover/failsafe.cpp, ArduSub/failsafe.cpp (mainloop_failsafe_check) and Blimp/failsafe.cpp — each reads AP_Scheduler::ticks() + AP_HAL::micros(); divergent thresholds/actions (extraction risk).</a:t>
            </a:r>
          </a:p>
        </p:txBody>
      </p:sp>
      <p:sp>
        <p:nvSpPr>
          <p:cNvPr id="13" name="Rounded Rectangle 12"/>
          <p:cNvSpPr/>
          <p:nvPr/>
        </p:nvSpPr>
        <p:spPr>
          <a:xfrm>
            <a:off x="566928" y="3701540"/>
            <a:ext cx="1451324" cy="237744"/>
          </a:xfrm>
          <a:prstGeom prst="roundRect">
            <a:avLst>
              <a:gd name="adj" fmla="val 28000"/>
            </a:avLst>
          </a:prstGeom>
          <a:solidFill>
            <a:srgbClr val="F4EFF6"/>
          </a:solidFill>
          <a:ln w="9525">
            <a:solidFill>
              <a:srgbClr val="E1DBFD"/>
            </a:solidFill>
          </a:ln>
          <a:effectLst/>
        </p:spPr>
        <p:style>
          <a:lnRef idx="1">
            <a:schemeClr val="accent1"/>
          </a:lnRef>
          <a:fillRef idx="3">
            <a:schemeClr val="accent1"/>
          </a:fillRef>
          <a:effectRef idx="0">
            <a:schemeClr val="accent1"/>
          </a:effectRef>
          <a:fontRef idx="minor">
            <a:schemeClr val="lt1"/>
          </a:fontRef>
        </p:style>
        <p:txBody>
          <a:bodyPr rtlCol="0" anchor="ctr" wrap="none" lIns="45720" rIns="45720" tIns="0" bIns="0">
            <a:noAutofit/>
          </a:bodyPr>
          <a:lstStyle/>
          <a:p>
            <a:pPr algn="ctr">
              <a:lnSpc>
                <a:spcPct val="100000"/>
              </a:lnSpc>
            </a:pPr>
            <a:r>
              <a:rPr sz="1000" b="0">
                <a:solidFill>
                  <a:srgbClr val="5B39F3"/>
                </a:solidFill>
                <a:latin typeface="Fira Code"/>
              </a:rPr>
              <a:t>[DUPLICATED]  36</a:t>
            </a:r>
          </a:p>
        </p:txBody>
      </p:sp>
      <p:sp>
        <p:nvSpPr>
          <p:cNvPr id="14" name="TextBox 13"/>
          <p:cNvSpPr txBox="1"/>
          <p:nvPr/>
        </p:nvSpPr>
        <p:spPr>
          <a:xfrm>
            <a:off x="566928" y="4085588"/>
            <a:ext cx="11058144" cy="463550"/>
          </a:xfrm>
          <a:prstGeom prst="rect">
            <a:avLst/>
          </a:prstGeom>
          <a:noFill/>
        </p:spPr>
        <p:txBody>
          <a:bodyPr wrap="square" lIns="0" rIns="0" tIns="0" bIns="0" anchor="t">
            <a:noAutofit/>
          </a:bodyPr>
          <a:lstStyle/>
          <a:p>
            <a:pPr algn="l">
              <a:lnSpc>
                <a:spcPct val="118000"/>
              </a:lnSpc>
              <a:spcAft>
                <a:spcPts val="500"/>
              </a:spcAft>
            </a:pPr>
            <a:r>
              <a:rPr sz="1200" b="0">
                <a:solidFill>
                  <a:srgbClr val="333333"/>
                </a:solidFill>
                <a:latin typeface="Inter"/>
              </a:rPr>
              <a:t>Consequence for an extraction: each copy is a separate place a behaviour must be changed, reviewed and trusted. The audit marks the repetition rather than resolving it, because resolving it is a change to the firmware and this document changes nothing.</a:t>
            </a:r>
          </a:p>
        </p:txBody>
      </p:sp>
      <p:sp>
        <p:nvSpPr>
          <p:cNvPr id="15" name="TextBox 14"/>
          <p:cNvSpPr txBox="1"/>
          <p:nvPr/>
        </p:nvSpPr>
        <p:spPr>
          <a:xfrm>
            <a:off x="566928" y="6355080"/>
            <a:ext cx="11058144" cy="140703"/>
          </a:xfrm>
          <a:prstGeom prst="rect">
            <a:avLst/>
          </a:prstGeom>
          <a:noFill/>
        </p:spPr>
        <p:txBody>
          <a:bodyPr wrap="square" lIns="0" rIns="0" tIns="0" bIns="0" anchor="t">
            <a:noAutofit/>
          </a:bodyPr>
          <a:lstStyle/>
          <a:p>
            <a:pPr algn="l">
              <a:lnSpc>
                <a:spcPct val="100000"/>
              </a:lnSpc>
              <a:spcAft>
                <a:spcPts val="0"/>
              </a:spcAft>
            </a:pPr>
            <a:r>
              <a:rPr sz="900" b="0">
                <a:solidFill>
                  <a:srgbClr val="999999"/>
                </a:solidFill>
                <a:latin typeface="Fira Code"/>
              </a:rPr>
              <a:t>Source: ArduPilot_PNT_Reference_Audit.pdf  ·  audited HEAD 5b67e27b0a  ·  read-only static-analysis catalog  ·  every figure as stated by the audit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000" b="0">
                <a:solidFill>
                  <a:srgbClr val="5B39F3"/>
                </a:solidFill>
                <a:latin typeface="Fira Code"/>
              </a:rPr>
              <a:t>GROUP 2  ·  DIVERGENCE AND CHAIN DEPTH  ·  TABLES 4–6 WITH SUB-TABLES 4a–6a</a:t>
            </a:r>
          </a:p>
        </p:txBody>
      </p:sp>
      <p:sp>
        <p:nvSpPr>
          <p:cNvPr id="4" name="TextBox 3"/>
          <p:cNvSpPr txBox="1"/>
          <p:nvPr/>
        </p:nvSpPr>
        <p:spPr>
          <a:xfrm>
            <a:off x="566928" y="658368"/>
            <a:ext cx="11064240" cy="548640"/>
          </a:xfrm>
          <a:prstGeom prst="rect">
            <a:avLst/>
          </a:prstGeom>
          <a:noFill/>
        </p:spPr>
        <p:txBody>
          <a:bodyPr wrap="square" lIns="0" rIns="0" tIns="0" bIns="0" anchor="t">
            <a:noAutofit/>
          </a:bodyPr>
          <a:lstStyle/>
          <a:p>
            <a:pPr algn="l">
              <a:lnSpc>
                <a:spcPct val="130000"/>
              </a:lnSpc>
              <a:spcAft>
                <a:spcPts val="0"/>
              </a:spcAft>
            </a:pPr>
            <a:r>
              <a:rPr sz="2600" b="1">
                <a:solidFill>
                  <a:srgbClr val="333333"/>
                </a:solidFill>
                <a:latin typeface="Space Grotesk"/>
              </a:rPr>
              <a:t>Where the copies disagree, and how far the chain runs</a:t>
            </a:r>
          </a:p>
        </p:txBody>
      </p:sp>
      <p:sp>
        <p:nvSpPr>
          <p:cNvPr id="5" name="Rectangle 4"/>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566928" y="1426464"/>
            <a:ext cx="11064240" cy="479526"/>
          </a:xfrm>
          <a:prstGeom prst="rect">
            <a:avLst/>
          </a:prstGeom>
          <a:noFill/>
        </p:spPr>
        <p:txBody>
          <a:bodyPr wrap="square" lIns="0" rIns="0" tIns="0" bIns="0" anchor="t">
            <a:noAutofit/>
          </a:bodyPr>
          <a:lstStyle/>
          <a:p>
            <a:pPr algn="l">
              <a:lnSpc>
                <a:spcPct val="124000"/>
              </a:lnSpc>
              <a:spcAft>
                <a:spcPts val="0"/>
              </a:spcAft>
            </a:pPr>
            <a:r>
              <a:rPr sz="1400" b="0">
                <a:solidFill>
                  <a:srgbClr val="333333"/>
                </a:solidFill>
                <a:latin typeface="Inter"/>
              </a:rPr>
              <a:t>The copies are not identical — for the one lockup watchdog, the audit records a different trip window and a different action on every vehicle that carries it.</a:t>
            </a:r>
          </a:p>
        </p:txBody>
      </p:sp>
      <p:graphicFrame>
        <p:nvGraphicFramePr>
          <p:cNvPr id="7" name="Table 6"/>
          <p:cNvGraphicFramePr>
            <a:graphicFrameLocks noGrp="1"/>
          </p:cNvGraphicFramePr>
          <p:nvPr/>
        </p:nvGraphicFramePr>
        <p:xfrm>
          <a:off x="566928" y="2070582"/>
          <a:ext cx="11058143" cy="1673352"/>
        </p:xfrm>
        <a:graphic>
          <a:graphicData uri="http://schemas.openxmlformats.org/drawingml/2006/table">
            <a:tbl>
              <a:tblPr firstRow="1">
                <a:tableStyleId>{5C22544A-7EE6-4342-B048-85BDC9FD1C3A}</a:tableStyleId>
              </a:tblPr>
              <a:tblGrid>
                <a:gridCol w="1548140"/>
                <a:gridCol w="1326977"/>
                <a:gridCol w="8183026"/>
              </a:tblGrid>
              <a:tr h="256032">
                <a:tc>
                  <a:txBody>
                    <a:bodyPr wrap="square">
                      <a:noAutofit/>
                    </a:bodyPr>
                    <a:lstStyle/>
                    <a:p>
                      <a:pPr>
                        <a:lnSpc>
                          <a:spcPct val="106000"/>
                        </a:lnSpc>
                      </a:pPr>
                      <a:r>
                        <a:rPr sz="1100" b="1">
                          <a:solidFill>
                            <a:srgbClr val="333333"/>
                          </a:solidFill>
                          <a:latin typeface="Inter"/>
                        </a:rPr>
                        <a:t>Vehicle</a:t>
                      </a:r>
                    </a:p>
                  </a:txBody>
                  <a:tcPr marL="64008" marR="64008" marT="27432" marB="27432" anchor="ctr">
                    <a:solidFill>
                      <a:srgbClr val="F4EFF6"/>
                    </a:solidFill>
                  </a:tcPr>
                </a:tc>
                <a:tc>
                  <a:txBody>
                    <a:bodyPr wrap="square">
                      <a:noAutofit/>
                    </a:bodyPr>
                    <a:lstStyle/>
                    <a:p>
                      <a:pPr>
                        <a:lnSpc>
                          <a:spcPct val="106000"/>
                        </a:lnSpc>
                      </a:pPr>
                      <a:r>
                        <a:rPr sz="1100" b="1">
                          <a:solidFill>
                            <a:srgbClr val="333333"/>
                          </a:solidFill>
                          <a:latin typeface="Inter"/>
                        </a:rPr>
                        <a:t>Trip window</a:t>
                      </a:r>
                    </a:p>
                  </a:txBody>
                  <a:tcPr marL="64008" marR="64008" marT="27432" marB="27432" anchor="ctr">
                    <a:solidFill>
                      <a:srgbClr val="F4EFF6"/>
                    </a:solidFill>
                  </a:tcPr>
                </a:tc>
                <a:tc>
                  <a:txBody>
                    <a:bodyPr wrap="square">
                      <a:noAutofit/>
                    </a:bodyPr>
                    <a:lstStyle/>
                    <a:p>
                      <a:pPr>
                        <a:lnSpc>
                          <a:spcPct val="106000"/>
                        </a:lnSpc>
                      </a:pPr>
                      <a:r>
                        <a:rPr sz="1100" b="1">
                          <a:solidFill>
                            <a:srgbClr val="333333"/>
                          </a:solidFill>
                          <a:latin typeface="Inter"/>
                        </a:rPr>
                        <a:t>Action on trip, as the audit records it</a:t>
                      </a:r>
                    </a:p>
                  </a:txBody>
                  <a:tcPr marL="64008" marR="64008" marT="27432" marB="27432" anchor="ctr">
                    <a:solidFill>
                      <a:srgbClr val="F4EFF6"/>
                    </a:solidFill>
                  </a:tcPr>
                </a:tc>
              </a:tr>
              <a:tr h="283464">
                <a:tc>
                  <a:txBody>
                    <a:bodyPr wrap="square">
                      <a:noAutofit/>
                    </a:bodyPr>
                    <a:lstStyle/>
                    <a:p>
                      <a:pPr>
                        <a:lnSpc>
                          <a:spcPct val="106000"/>
                        </a:lnSpc>
                      </a:pPr>
                      <a:r>
                        <a:rPr sz="1100" b="0">
                          <a:solidFill>
                            <a:srgbClr val="333333"/>
                          </a:solidFill>
                          <a:latin typeface="Inter"/>
                        </a:rPr>
                        <a:t>ArduCopter</a:t>
                      </a:r>
                    </a:p>
                  </a:txBody>
                  <a:tcPr marL="64008" marR="64008" marT="27432" marB="27432" anchor="ctr">
                    <a:solidFill>
                      <a:srgbClr val="F5F5F5"/>
                    </a:solidFill>
                  </a:tcPr>
                </a:tc>
                <a:tc>
                  <a:txBody>
                    <a:bodyPr wrap="square">
                      <a:noAutofit/>
                    </a:bodyPr>
                    <a:lstStyle/>
                    <a:p>
                      <a:pPr>
                        <a:lnSpc>
                          <a:spcPct val="106000"/>
                        </a:lnSpc>
                      </a:pPr>
                      <a:r>
                        <a:rPr sz="1100" b="0">
                          <a:solidFill>
                            <a:srgbClr val="333333"/>
                          </a:solidFill>
                          <a:latin typeface="Fira Code"/>
                        </a:rPr>
                        <a:t>2 s</a:t>
                      </a:r>
                    </a:p>
                  </a:txBody>
                  <a:tcPr marL="64008" marR="64008" marT="27432" marB="27432" anchor="ctr">
                    <a:solidFill>
                      <a:srgbClr val="F5F5F5"/>
                    </a:solidFill>
                  </a:tcPr>
                </a:tc>
                <a:tc>
                  <a:txBody>
                    <a:bodyPr wrap="square">
                      <a:noAutofit/>
                    </a:bodyPr>
                    <a:lstStyle/>
                    <a:p>
                      <a:pPr>
                        <a:lnSpc>
                          <a:spcPct val="106000"/>
                        </a:lnSpc>
                      </a:pPr>
                      <a:r>
                        <a:rPr sz="1100" b="0">
                          <a:solidFill>
                            <a:srgbClr val="333333"/>
                          </a:solidFill>
                          <a:latin typeface="Inter"/>
                        </a:rPr>
                        <a:t>sets in_failsafe, drives motors-&gt;output_min(), then disarms every 1 s (CPU failsafe)</a:t>
                      </a:r>
                    </a:p>
                  </a:txBody>
                  <a:tcPr marL="64008" marR="64008" marT="27432" marB="27432" anchor="ctr">
                    <a:solidFill>
                      <a:srgbClr val="F5F5F5"/>
                    </a:solidFill>
                  </a:tcPr>
                </a:tc>
              </a:tr>
              <a:tr h="283464">
                <a:tc>
                  <a:txBody>
                    <a:bodyPr wrap="square">
                      <a:noAutofit/>
                    </a:bodyPr>
                    <a:lstStyle/>
                    <a:p>
                      <a:pPr>
                        <a:lnSpc>
                          <a:spcPct val="106000"/>
                        </a:lnSpc>
                      </a:pPr>
                      <a:r>
                        <a:rPr sz="1100" b="0">
                          <a:solidFill>
                            <a:srgbClr val="333333"/>
                          </a:solidFill>
                          <a:latin typeface="Inter"/>
                        </a:rPr>
                        <a:t>ArduPlane</a:t>
                      </a:r>
                    </a:p>
                  </a:txBody>
                  <a:tcPr marL="64008" marR="64008" marT="27432" marB="27432" anchor="ctr">
                    <a:solidFill>
                      <a:srgbClr val="FFFFFF"/>
                    </a:solidFill>
                  </a:tcPr>
                </a:tc>
                <a:tc>
                  <a:txBody>
                    <a:bodyPr wrap="square">
                      <a:noAutofit/>
                    </a:bodyPr>
                    <a:lstStyle/>
                    <a:p>
                      <a:pPr>
                        <a:lnSpc>
                          <a:spcPct val="106000"/>
                        </a:lnSpc>
                      </a:pPr>
                      <a:r>
                        <a:rPr sz="1100" b="0">
                          <a:solidFill>
                            <a:srgbClr val="333333"/>
                          </a:solidFill>
                          <a:latin typeface="Fira Code"/>
                        </a:rPr>
                        <a:t>0.2 s</a:t>
                      </a:r>
                    </a:p>
                  </a:txBody>
                  <a:tcPr marL="64008" marR="64008" marT="27432" marB="27432" anchor="ctr">
                    <a:solidFill>
                      <a:srgbClr val="FFFFFF"/>
                    </a:solidFill>
                  </a:tcPr>
                </a:tc>
                <a:tc>
                  <a:txBody>
                    <a:bodyPr wrap="square">
                      <a:noAutofit/>
                    </a:bodyPr>
                    <a:lstStyle/>
                    <a:p>
                      <a:pPr>
                        <a:lnSpc>
                          <a:spcPct val="106000"/>
                        </a:lnSpc>
                      </a:pPr>
                      <a:r>
                        <a:rPr sz="1100" b="0">
                          <a:solidFill>
                            <a:srgbClr val="333333"/>
                          </a:solidFill>
                          <a:latin typeface="Inter"/>
                        </a:rPr>
                        <a:t>sets in_failsafe and passes RC inputs straight to servo outputs (SRV_Channels) every 20 ms instead of disarming</a:t>
                      </a:r>
                    </a:p>
                  </a:txBody>
                  <a:tcPr marL="64008" marR="64008" marT="27432" marB="27432" anchor="ctr">
                    <a:solidFill>
                      <a:srgbClr val="FFFFFF"/>
                    </a:solidFill>
                  </a:tcPr>
                </a:tc>
              </a:tr>
              <a:tr h="283464">
                <a:tc>
                  <a:txBody>
                    <a:bodyPr wrap="square">
                      <a:noAutofit/>
                    </a:bodyPr>
                    <a:lstStyle/>
                    <a:p>
                      <a:pPr>
                        <a:lnSpc>
                          <a:spcPct val="106000"/>
                        </a:lnSpc>
                      </a:pPr>
                      <a:r>
                        <a:rPr sz="1100" b="0">
                          <a:solidFill>
                            <a:srgbClr val="333333"/>
                          </a:solidFill>
                          <a:latin typeface="Inter"/>
                        </a:rPr>
                        <a:t>Rover</a:t>
                      </a:r>
                    </a:p>
                  </a:txBody>
                  <a:tcPr marL="64008" marR="64008" marT="27432" marB="27432" anchor="ctr">
                    <a:solidFill>
                      <a:srgbClr val="F5F5F5"/>
                    </a:solidFill>
                  </a:tcPr>
                </a:tc>
                <a:tc>
                  <a:txBody>
                    <a:bodyPr wrap="square">
                      <a:noAutofit/>
                    </a:bodyPr>
                    <a:lstStyle/>
                    <a:p>
                      <a:pPr>
                        <a:lnSpc>
                          <a:spcPct val="106000"/>
                        </a:lnSpc>
                      </a:pPr>
                      <a:r>
                        <a:rPr sz="1100" b="0">
                          <a:solidFill>
                            <a:srgbClr val="333333"/>
                          </a:solidFill>
                          <a:latin typeface="Fira Code"/>
                        </a:rPr>
                        <a:t>0.2 s</a:t>
                      </a:r>
                    </a:p>
                  </a:txBody>
                  <a:tcPr marL="64008" marR="64008" marT="27432" marB="27432" anchor="ctr">
                    <a:solidFill>
                      <a:srgbClr val="F5F5F5"/>
                    </a:solidFill>
                  </a:tcPr>
                </a:tc>
                <a:tc>
                  <a:txBody>
                    <a:bodyPr wrap="square">
                      <a:noAutofit/>
                    </a:bodyPr>
                    <a:lstStyle/>
                    <a:p>
                      <a:pPr>
                        <a:lnSpc>
                          <a:spcPct val="106000"/>
                        </a:lnSpc>
                      </a:pPr>
                      <a:r>
                        <a:rPr sz="1100" b="0">
                          <a:solidFill>
                            <a:srgbClr val="333333"/>
                          </a:solidFill>
                          <a:latin typeface="Inter"/>
                        </a:rPr>
                        <a:t>calls arming.disarm(AP_Arming:: Method::CPUFAILSAFE)</a:t>
                      </a:r>
                    </a:p>
                  </a:txBody>
                  <a:tcPr marL="64008" marR="64008" marT="27432" marB="27432" anchor="ctr">
                    <a:solidFill>
                      <a:srgbClr val="F5F5F5"/>
                    </a:solidFill>
                  </a:tcPr>
                </a:tc>
              </a:tr>
              <a:tr h="283464">
                <a:tc>
                  <a:txBody>
                    <a:bodyPr wrap="square">
                      <a:noAutofit/>
                    </a:bodyPr>
                    <a:lstStyle/>
                    <a:p>
                      <a:pPr>
                        <a:lnSpc>
                          <a:spcPct val="106000"/>
                        </a:lnSpc>
                      </a:pPr>
                      <a:r>
                        <a:rPr sz="1100" b="0">
                          <a:solidFill>
                            <a:srgbClr val="333333"/>
                          </a:solidFill>
                          <a:latin typeface="Inter"/>
                        </a:rPr>
                        <a:t>ArduSub</a:t>
                      </a:r>
                    </a:p>
                  </a:txBody>
                  <a:tcPr marL="64008" marR="64008" marT="27432" marB="27432" anchor="ctr">
                    <a:solidFill>
                      <a:srgbClr val="FFFFFF"/>
                    </a:solidFill>
                  </a:tcPr>
                </a:tc>
                <a:tc>
                  <a:txBody>
                    <a:bodyPr wrap="square">
                      <a:noAutofit/>
                    </a:bodyPr>
                    <a:lstStyle/>
                    <a:p>
                      <a:pPr>
                        <a:lnSpc>
                          <a:spcPct val="106000"/>
                        </a:lnSpc>
                      </a:pPr>
                      <a:r>
                        <a:rPr sz="1100" b="0">
                          <a:solidFill>
                            <a:srgbClr val="333333"/>
                          </a:solidFill>
                          <a:latin typeface="Fira Code"/>
                        </a:rPr>
                        <a:t>2 s</a:t>
                      </a:r>
                    </a:p>
                  </a:txBody>
                  <a:tcPr marL="64008" marR="64008" marT="27432" marB="27432" anchor="ctr">
                    <a:solidFill>
                      <a:srgbClr val="FFFFFF"/>
                    </a:solidFill>
                  </a:tcPr>
                </a:tc>
                <a:tc>
                  <a:txBody>
                    <a:bodyPr wrap="square">
                      <a:noAutofit/>
                    </a:bodyPr>
                    <a:lstStyle/>
                    <a:p>
                      <a:pPr>
                        <a:lnSpc>
                          <a:spcPct val="106000"/>
                        </a:lnSpc>
                      </a:pPr>
                      <a:r>
                        <a:rPr sz="1100" b="0">
                          <a:solidFill>
                            <a:srgbClr val="333333"/>
                          </a:solidFill>
                          <a:latin typeface="Inter"/>
                        </a:rPr>
                        <a:t>sets in_failsafe and drives motors.output_min()</a:t>
                      </a:r>
                    </a:p>
                  </a:txBody>
                  <a:tcPr marL="64008" marR="64008" marT="27432" marB="27432" anchor="ctr">
                    <a:solidFill>
                      <a:srgbClr val="FFFFFF"/>
                    </a:solidFill>
                  </a:tcPr>
                </a:tc>
              </a:tr>
              <a:tr h="283464">
                <a:tc>
                  <a:txBody>
                    <a:bodyPr wrap="square">
                      <a:noAutofit/>
                    </a:bodyPr>
                    <a:lstStyle/>
                    <a:p>
                      <a:pPr>
                        <a:lnSpc>
                          <a:spcPct val="106000"/>
                        </a:lnSpc>
                      </a:pPr>
                      <a:r>
                        <a:rPr sz="1100" b="0">
                          <a:solidFill>
                            <a:srgbClr val="333333"/>
                          </a:solidFill>
                          <a:latin typeface="Inter"/>
                        </a:rPr>
                        <a:t>Blimp</a:t>
                      </a:r>
                    </a:p>
                  </a:txBody>
                  <a:tcPr marL="64008" marR="64008" marT="27432" marB="27432" anchor="ctr">
                    <a:solidFill>
                      <a:srgbClr val="F5F5F5"/>
                    </a:solidFill>
                  </a:tcPr>
                </a:tc>
                <a:tc>
                  <a:txBody>
                    <a:bodyPr wrap="square">
                      <a:noAutofit/>
                    </a:bodyPr>
                    <a:lstStyle/>
                    <a:p>
                      <a:pPr>
                        <a:lnSpc>
                          <a:spcPct val="106000"/>
                        </a:lnSpc>
                      </a:pPr>
                      <a:r>
                        <a:rPr sz="1100" b="0">
                          <a:solidFill>
                            <a:srgbClr val="333333"/>
                          </a:solidFill>
                          <a:latin typeface="Fira Code"/>
                        </a:rPr>
                        <a:t>2 s</a:t>
                      </a:r>
                    </a:p>
                  </a:txBody>
                  <a:tcPr marL="64008" marR="64008" marT="27432" marB="27432" anchor="ctr">
                    <a:solidFill>
                      <a:srgbClr val="F5F5F5"/>
                    </a:solidFill>
                  </a:tcPr>
                </a:tc>
                <a:tc>
                  <a:txBody>
                    <a:bodyPr wrap="square">
                      <a:noAutofit/>
                    </a:bodyPr>
                    <a:lstStyle/>
                    <a:p>
                      <a:pPr>
                        <a:lnSpc>
                          <a:spcPct val="106000"/>
                        </a:lnSpc>
                      </a:pPr>
                      <a:r>
                        <a:rPr sz="1100" b="0">
                          <a:solidFill>
                            <a:srgbClr val="333333"/>
                          </a:solidFill>
                          <a:latin typeface="Inter"/>
                        </a:rPr>
                        <a:t>sets in_failsafe and drives motors-&gt;output_min()</a:t>
                      </a:r>
                    </a:p>
                  </a:txBody>
                  <a:tcPr marL="64008" marR="64008" marT="27432" marB="27432" anchor="ctr">
                    <a:solidFill>
                      <a:srgbClr val="F5F5F5"/>
                    </a:solidFill>
                  </a:tcPr>
                </a:tc>
              </a:tr>
            </a:tbl>
          </a:graphicData>
        </a:graphic>
      </p:graphicFrame>
      <p:sp>
        <p:nvSpPr>
          <p:cNvPr id="8" name="TextBox 7"/>
          <p:cNvSpPr txBox="1"/>
          <p:nvPr/>
        </p:nvSpPr>
        <p:spPr>
          <a:xfrm>
            <a:off x="566928" y="3890238"/>
            <a:ext cx="11058144" cy="1770849"/>
          </a:xfrm>
          <a:prstGeom prst="rect">
            <a:avLst/>
          </a:prstGeom>
          <a:noFill/>
        </p:spPr>
        <p:txBody>
          <a:bodyPr wrap="square" lIns="0" rIns="0" tIns="0" bIns="0" anchor="t">
            <a:noAutofit/>
          </a:bodyPr>
          <a:lstStyle/>
          <a:p>
            <a:pPr algn="l" marL="185737" indent="-185737">
              <a:lnSpc>
                <a:spcPct val="124000"/>
              </a:lnSpc>
              <a:spcAft>
                <a:spcPts val="900"/>
              </a:spcAft>
            </a:pPr>
            <a:r>
              <a:rPr sz="1300" b="0">
                <a:solidFill>
                  <a:srgbClr val="333333"/>
                </a:solidFill>
                <a:latin typeface="Inter"/>
              </a:rPr>
              <a:t>•  Divergence is not confined to thresholds: hysteresis differs, and so does the cadence of the fence check — the audit records a divergent rate (40U/25 Hz vs 100U/10 Hz) between two vehicles.</a:t>
            </a:r>
          </a:p>
          <a:p>
            <a:pPr algn="l" marL="185737" indent="-185737">
              <a:lnSpc>
                <a:spcPct val="124000"/>
              </a:lnSpc>
              <a:spcAft>
                <a:spcPts val="900"/>
              </a:spcAft>
            </a:pPr>
            <a:r>
              <a:rPr sz="1300" b="0">
                <a:solidFill>
                  <a:srgbClr val="333333"/>
                </a:solidFill>
                <a:latin typeface="Inter"/>
              </a:rPr>
              <a:t>•  Chain Depth = the number of → hops explicitly listed in that chain. These conditioned behaviours are catalogued at depths 2 to 5; the deepest core positioning chain runs to 8.</a:t>
            </a:r>
          </a:p>
          <a:p>
            <a:pPr algn="l" marL="185737" indent="-185737">
              <a:lnSpc>
                <a:spcPct val="124000"/>
              </a:lnSpc>
              <a:spcAft>
                <a:spcPts val="900"/>
              </a:spcAft>
            </a:pPr>
            <a:r>
              <a:rPr sz="1300" b="0">
                <a:solidFill>
                  <a:srgbClr val="333333"/>
                </a:solidFill>
                <a:latin typeface="Inter"/>
              </a:rPr>
              <a:t>•  Chains terminate in real vehicle action — flight-mode entry allowed or denied, a rejected mode change, an estimator failsafe landing, motor minimum, disarm, or radio passthrough.</a:t>
            </a:r>
          </a:p>
        </p:txBody>
      </p:sp>
      <p:sp>
        <p:nvSpPr>
          <p:cNvPr id="9" name="TextBox 8"/>
          <p:cNvSpPr txBox="1"/>
          <p:nvPr/>
        </p:nvSpPr>
        <p:spPr>
          <a:xfrm>
            <a:off x="566928" y="5807391"/>
            <a:ext cx="11058144" cy="247751"/>
          </a:xfrm>
          <a:prstGeom prst="rect">
            <a:avLst/>
          </a:prstGeom>
          <a:noFill/>
        </p:spPr>
        <p:txBody>
          <a:bodyPr wrap="square" lIns="0" rIns="0" tIns="0" bIns="0" anchor="t">
            <a:noAutofit/>
          </a:bodyPr>
          <a:lstStyle/>
          <a:p>
            <a:pPr algn="l">
              <a:lnSpc>
                <a:spcPct val="118000"/>
              </a:lnSpc>
              <a:spcAft>
                <a:spcPts val="500"/>
              </a:spcAft>
            </a:pPr>
            <a:r>
              <a:rPr sz="1200" b="0">
                <a:solidFill>
                  <a:srgbClr val="333333"/>
                </a:solidFill>
                <a:latin typeface="Inter"/>
              </a:rPr>
              <a:t>Consequence for an extraction: convergence has to be a decision, not an assumption — adopting any one copy silently changes the others.</a:t>
            </a:r>
          </a:p>
        </p:txBody>
      </p:sp>
      <p:sp>
        <p:nvSpPr>
          <p:cNvPr id="10" name="TextBox 9"/>
          <p:cNvSpPr txBox="1"/>
          <p:nvPr/>
        </p:nvSpPr>
        <p:spPr>
          <a:xfrm>
            <a:off x="566928" y="6355080"/>
            <a:ext cx="11058144" cy="140703"/>
          </a:xfrm>
          <a:prstGeom prst="rect">
            <a:avLst/>
          </a:prstGeom>
          <a:noFill/>
        </p:spPr>
        <p:txBody>
          <a:bodyPr wrap="square" lIns="0" rIns="0" tIns="0" bIns="0" anchor="t">
            <a:noAutofit/>
          </a:bodyPr>
          <a:lstStyle/>
          <a:p>
            <a:pPr algn="l">
              <a:lnSpc>
                <a:spcPct val="100000"/>
              </a:lnSpc>
              <a:spcAft>
                <a:spcPts val="0"/>
              </a:spcAft>
            </a:pPr>
            <a:r>
              <a:rPr sz="900" b="0">
                <a:solidFill>
                  <a:srgbClr val="999999"/>
                </a:solidFill>
                <a:latin typeface="Fira Code"/>
              </a:rPr>
              <a:t>Source: ArduPilot_PNT_Reference_Audit.pdf  ·  audited HEAD 5b67e27b0a  ·  read-only static-analysis catalog  ·  every figure as stated by the audit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000" b="0">
                <a:solidFill>
                  <a:srgbClr val="5B39F3"/>
                </a:solidFill>
                <a:latin typeface="Fira Code"/>
              </a:rPr>
              <a:t>HIGHEST-PRIORITY ITEMS ONLY</a:t>
            </a:r>
          </a:p>
        </p:txBody>
      </p:sp>
      <p:sp>
        <p:nvSpPr>
          <p:cNvPr id="4" name="TextBox 3"/>
          <p:cNvSpPr txBox="1"/>
          <p:nvPr/>
        </p:nvSpPr>
        <p:spPr>
          <a:xfrm>
            <a:off x="566928" y="658368"/>
            <a:ext cx="11064240" cy="548640"/>
          </a:xfrm>
          <a:prstGeom prst="rect">
            <a:avLst/>
          </a:prstGeom>
          <a:noFill/>
        </p:spPr>
        <p:txBody>
          <a:bodyPr wrap="square" lIns="0" rIns="0" tIns="0" bIns="0" anchor="t">
            <a:noAutofit/>
          </a:bodyPr>
          <a:lstStyle/>
          <a:p>
            <a:pPr algn="l">
              <a:lnSpc>
                <a:spcPct val="130000"/>
              </a:lnSpc>
              <a:spcAft>
                <a:spcPts val="0"/>
              </a:spcAft>
            </a:pPr>
            <a:r>
              <a:rPr sz="2600" b="1">
                <a:solidFill>
                  <a:srgbClr val="333333"/>
                </a:solidFill>
                <a:latin typeface="Space Grotesk"/>
              </a:rPr>
              <a:t>Top-line recommendations</a:t>
            </a:r>
          </a:p>
        </p:txBody>
      </p:sp>
      <p:sp>
        <p:nvSpPr>
          <p:cNvPr id="5" name="Rectangle 4"/>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566928" y="1426464"/>
            <a:ext cx="11064240" cy="214960"/>
          </a:xfrm>
          <a:prstGeom prst="rect">
            <a:avLst/>
          </a:prstGeom>
          <a:noFill/>
        </p:spPr>
        <p:txBody>
          <a:bodyPr wrap="square" lIns="0" rIns="0" tIns="0" bIns="0" anchor="t">
            <a:noAutofit/>
          </a:bodyPr>
          <a:lstStyle/>
          <a:p>
            <a:pPr algn="l">
              <a:lnSpc>
                <a:spcPct val="124000"/>
              </a:lnSpc>
              <a:spcAft>
                <a:spcPts val="0"/>
              </a:spcAft>
            </a:pPr>
            <a:r>
              <a:rPr sz="1400" b="0">
                <a:solidFill>
                  <a:srgbClr val="333333"/>
                </a:solidFill>
                <a:latin typeface="Inter"/>
              </a:rPr>
              <a:t>Drawn exclusively from the audit’s own forward-looking content. Nothing here is new advice.</a:t>
            </a:r>
          </a:p>
        </p:txBody>
      </p:sp>
      <p:sp>
        <p:nvSpPr>
          <p:cNvPr id="7" name="TextBox 6"/>
          <p:cNvSpPr txBox="1"/>
          <p:nvPr/>
        </p:nvSpPr>
        <p:spPr>
          <a:xfrm>
            <a:off x="566928" y="1975104"/>
            <a:ext cx="11055096" cy="3291840"/>
          </a:xfrm>
          <a:prstGeom prst="rect">
            <a:avLst/>
          </a:prstGeom>
          <a:noFill/>
        </p:spPr>
        <p:txBody>
          <a:bodyPr wrap="square" lIns="0" rIns="0" tIns="0" bIns="0" anchor="t">
            <a:noAutofit/>
          </a:bodyPr>
          <a:lstStyle/>
          <a:p>
            <a:pPr algn="l" marL="185737" indent="-185737">
              <a:lnSpc>
                <a:spcPct val="124000"/>
              </a:lnSpc>
              <a:spcAft>
                <a:spcPts val="1300"/>
              </a:spcAft>
            </a:pPr>
            <a:r>
              <a:rPr sz="1300" b="0">
                <a:solidFill>
                  <a:srgbClr val="333333"/>
                </a:solidFill>
                <a:latin typeface="Inter"/>
              </a:rPr>
              <a:t>•  Treat the 12-row current → new service mapping as the wiring contract: it names, accessor by accessor, the value the host must inject and the service member that now supplies it.</a:t>
            </a:r>
          </a:p>
          <a:p>
            <a:pPr algn="l" marL="185737" indent="-185737">
              <a:lnSpc>
                <a:spcPct val="124000"/>
              </a:lnSpc>
              <a:spcAft>
                <a:spcPts val="1300"/>
              </a:spcAft>
            </a:pPr>
            <a:r>
              <a:rPr sz="1300" b="0">
                <a:solidFill>
                  <a:srgbClr val="333333"/>
                </a:solidFill>
                <a:latin typeface="Inter"/>
              </a:rPr>
              <a:t>•  Address the two named top-risk types first. The audit calls the shared GPS state structure the “Primary extraction-risk struct for a PNT split” and the geodetic location type the “top extraction risk” — its own superlatives, not ours.</a:t>
            </a:r>
          </a:p>
          <a:p>
            <a:pPr algn="l" marL="185737" indent="-185737">
              <a:lnSpc>
                <a:spcPct val="124000"/>
              </a:lnSpc>
              <a:spcAft>
                <a:spcPts val="1300"/>
              </a:spcAft>
            </a:pPr>
            <a:r>
              <a:rPr sz="1300" b="0">
                <a:solidFill>
                  <a:srgbClr val="333333"/>
                </a:solidFill>
                <a:latin typeface="Inter"/>
              </a:rPr>
              <a:t>•  Converge the duplicated safety checks before relying on any one of them: [DUPLICATED] carries 36 occurrences, and the copies differ in trip window, action, hysteresis and check cadence.</a:t>
            </a:r>
          </a:p>
          <a:p>
            <a:pPr algn="l" marL="185737" indent="-185737">
              <a:lnSpc>
                <a:spcPct val="124000"/>
              </a:lnSpc>
              <a:spcAft>
                <a:spcPts val="1300"/>
              </a:spcAft>
            </a:pPr>
            <a:r>
              <a:rPr sz="1300" b="0">
                <a:solidFill>
                  <a:srgbClr val="333333"/>
                </a:solidFill>
                <a:latin typeface="Inter"/>
              </a:rPr>
              <a:t>•  Read the flag annotations first. The audit’s own guidance for maintainers is to use the audit-discipline flags to locate circular state, shared structures and duplicated derivations before touching shared state.</a:t>
            </a:r>
          </a:p>
          <a:p>
            <a:pPr algn="l" marL="185737" indent="-185737">
              <a:lnSpc>
                <a:spcPct val="124000"/>
              </a:lnSpc>
              <a:spcAft>
                <a:spcPts val="1300"/>
              </a:spcAft>
            </a:pPr>
            <a:r>
              <a:rPr sz="1300" b="0">
                <a:solidFill>
                  <a:srgbClr val="333333"/>
                </a:solidFill>
                <a:latin typeface="Inter"/>
              </a:rPr>
              <a:t>•  Do not re-derive references. Rely on the read-only verbatim citations, which make every row independently checkable against the tree at the audited HEAD rather than something that has to be taken on trust.</a:t>
            </a:r>
          </a:p>
        </p:txBody>
      </p:sp>
      <p:sp>
        <p:nvSpPr>
          <p:cNvPr id="8" name="Rectangle 7"/>
          <p:cNvSpPr/>
          <p:nvPr/>
        </p:nvSpPr>
        <p:spPr>
          <a:xfrm>
            <a:off x="566928" y="5376672"/>
            <a:ext cx="11055096" cy="32004"/>
          </a:xfrm>
          <a:prstGeom prst="rect">
            <a:avLst/>
          </a:prstGeom>
          <a:solidFill>
            <a:srgbClr val="E1DBFD"/>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566928" y="5522976"/>
            <a:ext cx="11058144" cy="400050"/>
          </a:xfrm>
          <a:prstGeom prst="rect">
            <a:avLst/>
          </a:prstGeom>
          <a:noFill/>
        </p:spPr>
        <p:txBody>
          <a:bodyPr wrap="square" lIns="0" rIns="0" tIns="0" bIns="0" anchor="t">
            <a:noAutofit/>
          </a:bodyPr>
          <a:lstStyle/>
          <a:p>
            <a:pPr algn="l">
              <a:lnSpc>
                <a:spcPct val="118000"/>
              </a:lnSpc>
              <a:spcAft>
                <a:spcPts val="0"/>
              </a:spcAft>
            </a:pPr>
            <a:r>
              <a:rPr sz="1200" b="0">
                <a:solidFill>
                  <a:srgbClr val="999999"/>
                </a:solidFill>
                <a:latin typeface="Inter"/>
              </a:rPr>
              <a:t>Traceability. The audit contains no numbered recommendations register and no numeric severity scale, so nothing above is invented: every item traces to the PNT Instance Audit, to the Audit-Discipline Flags taxonomy, or to the audit’s Provenance statement.</a:t>
            </a:r>
          </a:p>
        </p:txBody>
      </p:sp>
      <p:sp>
        <p:nvSpPr>
          <p:cNvPr id="10" name="TextBox 9"/>
          <p:cNvSpPr txBox="1"/>
          <p:nvPr/>
        </p:nvSpPr>
        <p:spPr>
          <a:xfrm>
            <a:off x="566928" y="6355080"/>
            <a:ext cx="11058144" cy="140703"/>
          </a:xfrm>
          <a:prstGeom prst="rect">
            <a:avLst/>
          </a:prstGeom>
          <a:noFill/>
        </p:spPr>
        <p:txBody>
          <a:bodyPr wrap="square" lIns="0" rIns="0" tIns="0" bIns="0" anchor="t">
            <a:noAutofit/>
          </a:bodyPr>
          <a:lstStyle/>
          <a:p>
            <a:pPr algn="l">
              <a:lnSpc>
                <a:spcPct val="100000"/>
              </a:lnSpc>
              <a:spcAft>
                <a:spcPts val="0"/>
              </a:spcAft>
            </a:pPr>
            <a:r>
              <a:rPr sz="900" b="0">
                <a:solidFill>
                  <a:srgbClr val="999999"/>
                </a:solidFill>
                <a:latin typeface="Fira Code"/>
              </a:rPr>
              <a:t>Source: ArduPilot_PNT_Reference_Audit.pdf  ·  audited HEAD 5b67e27b0a  ·  read-only static-analysis catalog  ·  every figure as stated by the audit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A105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566928" y="1188720"/>
            <a:ext cx="10424160" cy="1005840"/>
          </a:xfrm>
          <a:prstGeom prst="rect">
            <a:avLst/>
          </a:prstGeom>
          <a:noFill/>
        </p:spPr>
        <p:txBody>
          <a:bodyPr wrap="square" lIns="0" rIns="0" tIns="0" bIns="0" anchor="t">
            <a:noAutofit/>
          </a:bodyPr>
          <a:lstStyle/>
          <a:p>
            <a:pPr algn="l">
              <a:lnSpc>
                <a:spcPct val="108000"/>
              </a:lnSpc>
              <a:spcAft>
                <a:spcPts val="0"/>
              </a:spcAft>
            </a:pPr>
            <a:r>
              <a:rPr sz="3600" b="1">
                <a:solidFill>
                  <a:srgbClr val="FFFFFF"/>
                </a:solidFill>
                <a:latin typeface="Space Grotesk"/>
              </a:rPr>
              <a:t>A verifiable extraction baseline</a:t>
            </a:r>
          </a:p>
        </p:txBody>
      </p:sp>
      <p:sp>
        <p:nvSpPr>
          <p:cNvPr id="4" name="TextBox 3"/>
          <p:cNvSpPr txBox="1"/>
          <p:nvPr/>
        </p:nvSpPr>
        <p:spPr>
          <a:xfrm>
            <a:off x="566928" y="2395728"/>
            <a:ext cx="10607040" cy="2103120"/>
          </a:xfrm>
          <a:prstGeom prst="rect">
            <a:avLst/>
          </a:prstGeom>
          <a:noFill/>
        </p:spPr>
        <p:txBody>
          <a:bodyPr wrap="square" lIns="0" rIns="0" tIns="0" bIns="0" anchor="t">
            <a:noAutofit/>
          </a:bodyPr>
          <a:lstStyle/>
          <a:p>
            <a:pPr algn="l" marL="185737" indent="-185737">
              <a:lnSpc>
                <a:spcPct val="124000"/>
              </a:lnSpc>
              <a:spcAft>
                <a:spcPts val="1100"/>
              </a:spcAft>
            </a:pPr>
            <a:r>
              <a:rPr sz="1300" b="0">
                <a:solidFill>
                  <a:srgbClr val="FFFFFF"/>
                </a:solidFill>
                <a:latin typeface="Inter"/>
              </a:rPr>
              <a:t>•  The audit converts an implicit understanding of ArduPilot PNT coupling into a verifiable extraction baseline. It can be re-checked against the tree at audited HEAD 5b67e27b0a rather than taken on trust.</a:t>
            </a:r>
          </a:p>
          <a:p>
            <a:pPr algn="l" marL="185737" indent="-185737">
              <a:lnSpc>
                <a:spcPct val="124000"/>
              </a:lnSpc>
              <a:spcAft>
                <a:spcPts val="1100"/>
              </a:spcAft>
            </a:pPr>
            <a:r>
              <a:rPr sz="1300" b="0">
                <a:solidFill>
                  <a:srgbClr val="FFFFFF"/>
                </a:solidFill>
                <a:latin typeface="Inter"/>
              </a:rPr>
              <a:t>•  The audit-discipline flags turn extraction risk into explicit, addressable markers — where state is circular, where PNT fields are packed with non-PNT fields, where a derivation is duplicated, and, through the checked absences, where an expected PNT element was looked for and genuinely is not present.</a:t>
            </a:r>
          </a:p>
          <a:p>
            <a:pPr algn="l" marL="185737" indent="-185737">
              <a:lnSpc>
                <a:spcPct val="124000"/>
              </a:lnSpc>
              <a:spcAft>
                <a:spcPts val="1100"/>
              </a:spcAft>
            </a:pPr>
            <a:r>
              <a:rPr sz="1300" b="0">
                <a:solidFill>
                  <a:srgbClr val="FFFFFF"/>
                </a:solidFill>
                <a:latin typeface="Inter"/>
              </a:rPr>
              <a:t>•  For the L1-navigation slice the current → new mapping supplies a documented wiring contract for the reusable service, so the guidance seam can be reviewed and signed off against named locations on both sides of the extraction.</a:t>
            </a:r>
          </a:p>
        </p:txBody>
      </p:sp>
      <p:sp>
        <p:nvSpPr>
          <p:cNvPr id="5" name="Rectangle 4"/>
          <p:cNvSpPr/>
          <p:nvPr/>
        </p:nvSpPr>
        <p:spPr>
          <a:xfrm>
            <a:off x="566928" y="5138928"/>
            <a:ext cx="4206240" cy="91440"/>
          </a:xfrm>
          <a:prstGeom prst="rect">
            <a:avLst/>
          </a:prstGeom>
          <a:gradFill rotWithShape="1">
            <a:gsLst>
              <a:gs pos="0">
                <a:srgbClr val="5B39F3"/>
              </a:gs>
              <a:gs pos="100000">
                <a:srgbClr val="94FAD5"/>
              </a:gs>
            </a:gsLst>
            <a:lin scaled="0" ang="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566928" y="5394960"/>
            <a:ext cx="3840480" cy="310896"/>
          </a:xfrm>
          <a:prstGeom prst="rect">
            <a:avLst/>
          </a:prstGeom>
          <a:noFill/>
        </p:spPr>
        <p:txBody>
          <a:bodyPr wrap="square" lIns="0" rIns="0" tIns="0" bIns="0" anchor="t">
            <a:noAutofit/>
          </a:bodyPr>
          <a:lstStyle/>
          <a:p>
            <a:pPr algn="l">
              <a:lnSpc>
                <a:spcPct val="100000"/>
              </a:lnSpc>
              <a:spcAft>
                <a:spcPts val="0"/>
              </a:spcAft>
            </a:pPr>
            <a:r>
              <a:rPr sz="1500" b="1">
                <a:solidFill>
                  <a:srgbClr val="94FAD5"/>
                </a:solidFill>
                <a:latin typeface="Space Grotesk"/>
              </a:rPr>
              <a:t>Blitzy</a:t>
            </a:r>
          </a:p>
        </p:txBody>
      </p:sp>
      <p:sp>
        <p:nvSpPr>
          <p:cNvPr id="7" name="TextBox 6"/>
          <p:cNvSpPr txBox="1"/>
          <p:nvPr/>
        </p:nvSpPr>
        <p:spPr>
          <a:xfrm>
            <a:off x="566928" y="5797296"/>
            <a:ext cx="11058144" cy="316268"/>
          </a:xfrm>
          <a:prstGeom prst="rect">
            <a:avLst/>
          </a:prstGeom>
          <a:noFill/>
        </p:spPr>
        <p:txBody>
          <a:bodyPr wrap="square" lIns="0" rIns="0" tIns="0" bIns="0" anchor="t">
            <a:noAutofit/>
          </a:bodyPr>
          <a:lstStyle/>
          <a:p>
            <a:pPr algn="l">
              <a:lnSpc>
                <a:spcPct val="128000"/>
              </a:lnSpc>
              <a:spcAft>
                <a:spcPts val="0"/>
              </a:spcAft>
            </a:pPr>
            <a:r>
              <a:rPr sz="900" b="0">
                <a:solidFill>
                  <a:srgbClr val="94FAD5"/>
                </a:solidFill>
                <a:latin typeface="Fira Code"/>
              </a:rPr>
              <a:t>NEXT: the comprehensive findings deck carries every one of the 94 catalogued references, their paired dependency maps, the 12-row instance mapping and the complete Coverage and Explicit-Absence Register.</a:t>
            </a:r>
          </a:p>
        </p:txBody>
      </p:sp>
      <p:sp>
        <p:nvSpPr>
          <p:cNvPr id="8" name="TextBox 7"/>
          <p:cNvSpPr txBox="1"/>
          <p:nvPr/>
        </p:nvSpPr>
        <p:spPr>
          <a:xfrm>
            <a:off x="566928" y="6355080"/>
            <a:ext cx="11055096" cy="310896"/>
          </a:xfrm>
          <a:prstGeom prst="rect">
            <a:avLst/>
          </a:prstGeom>
          <a:noFill/>
        </p:spPr>
        <p:txBody>
          <a:bodyPr wrap="square" lIns="0" rIns="0" tIns="0" bIns="0" anchor="t">
            <a:noAutofit/>
          </a:bodyPr>
          <a:lstStyle/>
          <a:p>
            <a:pPr algn="l">
              <a:lnSpc>
                <a:spcPct val="100000"/>
              </a:lnSpc>
              <a:spcAft>
                <a:spcPts val="0"/>
              </a:spcAft>
            </a:pPr>
            <a:r>
              <a:rPr sz="900" b="0">
                <a:solidFill>
                  <a:srgbClr val="999999"/>
                </a:solidFill>
                <a:latin typeface="Fira Code"/>
              </a:rPr>
              <a:t>This brief restates catalogued findings only; no new static analysis of the ArduPilot codebase was performed to produce it.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