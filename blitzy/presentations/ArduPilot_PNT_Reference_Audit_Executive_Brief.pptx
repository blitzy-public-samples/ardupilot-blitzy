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Blitzy Title">
    <p:bg>
      <p:bgPr>
        <a:gradFill rotWithShape="0">
          <a:gsLst>
            <a:gs pos="15560">
              <a:srgbClr val="7A6DEC"/>
            </a:gs>
            <a:gs pos="62740">
              <a:srgbClr val="5B39F3"/>
            </a:gs>
            <a:gs pos="84440">
              <a:srgbClr val="4101DB"/>
            </a:gs>
          </a:gsLst>
          <a:lin ang="2028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itzy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3"/>
          <p:cNvSpPr/>
          <p:nvPr/>
        </p:nvSpPr>
        <p:spPr>
          <a:xfrm>
            <a:off x="566928" y="1298448"/>
            <a:ext cx="11058144" cy="32004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12"/>
          <p:cNvSpPr txBox="1"/>
          <p:nvPr/>
        </p:nvSpPr>
        <p:spPr>
          <a:xfrm>
            <a:off x="566928" y="6355080"/>
            <a:ext cx="11058144" cy="15633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999999"/>
                </a:solidFill>
                <a:latin typeface="Fira Code"/>
              </a:rPr>
              <a:t>Source: ArduPilot_PNT_Reference_Audit.pdf  ·  audited HEAD 5b67e27b0a  ·  read-only static-analysis catalog  ·  every figure as stated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Blitzy Section Divider">
    <p:bg>
      <p:bgPr>
        <a:gradFill rotWithShape="0">
          <a:gsLst>
            <a:gs pos="0">
              <a:srgbClr val="2D1C77"/>
            </a:gs>
            <a:gs pos="100000">
              <a:srgbClr val="5B39F3"/>
            </a:gs>
          </a:gsLst>
          <a:lin ang="27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itzy Closing">
    <p:bg>
      <p:bgPr>
        <a:solidFill>
          <a:srgbClr val="1A105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txStyles>
    <p:titleStyle>
      <a:lvl1pPr>
        <a:defRPr>
          <a:solidFill>
            <a:schemeClr val="tx1"/>
          </a:solidFill>
          <a:latin typeface="+mj-lt"/>
        </a:defRPr>
      </a:lvl1pPr>
      <a:lvl2pPr>
        <a:defRPr>
          <a:solidFill>
            <a:schemeClr val="tx1"/>
          </a:solidFill>
          <a:latin typeface="+mj-lt"/>
        </a:defRPr>
      </a:lvl2pPr>
      <a:lvl3pPr>
        <a:defRPr>
          <a:solidFill>
            <a:schemeClr val="tx1"/>
          </a:solidFill>
          <a:latin typeface="+mj-lt"/>
        </a:defRPr>
      </a:lvl3pPr>
      <a:lvl4pPr>
        <a:defRPr>
          <a:solidFill>
            <a:schemeClr val="tx1"/>
          </a:solidFill>
          <a:latin typeface="+mj-lt"/>
        </a:defRPr>
      </a:lvl4pPr>
      <a:lvl5pPr>
        <a:defRPr>
          <a:solidFill>
            <a:schemeClr val="tx1"/>
          </a:solidFill>
          <a:latin typeface="+mj-lt"/>
        </a:defRPr>
      </a:lvl5pPr>
      <a:lvl6pPr>
        <a:defRPr>
          <a:solidFill>
            <a:schemeClr val="tx1"/>
          </a:solidFill>
          <a:latin typeface="+mj-lt"/>
        </a:defRPr>
      </a:lvl6pPr>
      <a:lvl7pPr>
        <a:defRPr>
          <a:solidFill>
            <a:schemeClr val="tx1"/>
          </a:solidFill>
          <a:latin typeface="+mj-lt"/>
        </a:defRPr>
      </a:lvl7pPr>
      <a:lvl8pPr>
        <a:defRPr>
          <a:solidFill>
            <a:schemeClr val="tx1"/>
          </a:solidFill>
          <a:latin typeface="+mj-lt"/>
        </a:defRPr>
      </a:lvl8pPr>
      <a:lvl9pPr>
        <a:defRPr>
          <a:solidFill>
            <a:schemeClr val="tx1"/>
          </a:solidFill>
          <a:latin typeface="+mj-lt"/>
        </a:defRPr>
      </a:lvl9pPr>
    </p:titleStyle>
    <p:bodyStyle>
      <a:lvl1pPr>
        <a:defRPr>
          <a:solidFill>
            <a:schemeClr val="tx1"/>
          </a:solidFill>
          <a:latin typeface="+mn-lt"/>
        </a:defRPr>
      </a:lvl1pPr>
      <a:lvl2pPr>
        <a:defRPr>
          <a:solidFill>
            <a:schemeClr val="tx1"/>
          </a:solidFill>
          <a:latin typeface="+mn-lt"/>
        </a:defRPr>
      </a:lvl2pPr>
      <a:lvl3pPr>
        <a:defRPr>
          <a:solidFill>
            <a:schemeClr val="tx1"/>
          </a:solidFill>
          <a:latin typeface="+mn-lt"/>
        </a:defRPr>
      </a:lvl3pPr>
      <a:lvl4pPr>
        <a:defRPr>
          <a:solidFill>
            <a:schemeClr val="tx1"/>
          </a:solidFill>
          <a:latin typeface="+mn-lt"/>
        </a:defRPr>
      </a:lvl4pPr>
      <a:lvl5pPr>
        <a:defRPr>
          <a:solidFill>
            <a:schemeClr val="tx1"/>
          </a:solidFill>
          <a:latin typeface="+mn-lt"/>
        </a:defRPr>
      </a:lvl5pPr>
      <a:lvl6pPr>
        <a:defRPr>
          <a:solidFill>
            <a:schemeClr val="tx1"/>
          </a:solidFill>
          <a:latin typeface="+mn-lt"/>
        </a:defRPr>
      </a:lvl6pPr>
      <a:lvl7pPr>
        <a:defRPr>
          <a:solidFill>
            <a:schemeClr val="tx1"/>
          </a:solidFill>
          <a:latin typeface="+mn-lt"/>
        </a:defRPr>
      </a:lvl7pPr>
      <a:lvl8pPr>
        <a:defRPr>
          <a:solidFill>
            <a:schemeClr val="tx1"/>
          </a:solidFill>
          <a:latin typeface="+mn-lt"/>
        </a:defRPr>
      </a:lvl8pPr>
      <a:lvl9pPr>
        <a:defRPr>
          <a:solidFill>
            <a:schemeClr val="tx1"/>
          </a:solidFill>
          <a:latin typeface="+mn-lt"/>
        </a:defRPr>
      </a:lvl9pPr>
    </p:bodyStyle>
    <p:otherStyle>
      <a:lvl1pPr>
        <a:defRPr>
          <a:solidFill>
            <a:schemeClr val="tx1"/>
          </a:solidFill>
          <a:latin typeface="+mn-lt"/>
        </a:defRPr>
      </a:lvl1pPr>
      <a:lvl2pPr>
        <a:defRPr>
          <a:solidFill>
            <a:schemeClr val="tx1"/>
          </a:solidFill>
          <a:latin typeface="+mn-lt"/>
        </a:defRPr>
      </a:lvl2pPr>
      <a:lvl3pPr>
        <a:defRPr>
          <a:solidFill>
            <a:schemeClr val="tx1"/>
          </a:solidFill>
          <a:latin typeface="+mn-lt"/>
        </a:defRPr>
      </a:lvl3pPr>
      <a:lvl4pPr>
        <a:defRPr>
          <a:solidFill>
            <a:schemeClr val="tx1"/>
          </a:solidFill>
          <a:latin typeface="+mn-lt"/>
        </a:defRPr>
      </a:lvl4pPr>
      <a:lvl5pPr>
        <a:defRPr>
          <a:solidFill>
            <a:schemeClr val="tx1"/>
          </a:solidFill>
          <a:latin typeface="+mn-lt"/>
        </a:defRPr>
      </a:lvl5pPr>
      <a:lvl6pPr>
        <a:defRPr>
          <a:solidFill>
            <a:schemeClr val="tx1"/>
          </a:solidFill>
          <a:latin typeface="+mn-lt"/>
        </a:defRPr>
      </a:lvl6pPr>
      <a:lvl7pPr>
        <a:defRPr>
          <a:solidFill>
            <a:schemeClr val="tx1"/>
          </a:solidFill>
          <a:latin typeface="+mn-lt"/>
        </a:defRPr>
      </a:lvl7pPr>
      <a:lvl8pPr>
        <a:defRPr>
          <a:solidFill>
            <a:schemeClr val="tx1"/>
          </a:solidFill>
          <a:latin typeface="+mn-lt"/>
        </a:defRPr>
      </a:lvl8pPr>
      <a:lvl9pPr>
        <a:defRPr>
          <a:solidFill>
            <a:schemeClr val="tx1"/>
          </a:solidFill>
          <a:latin typeface="+mn-lt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1481328"/>
            <a:ext cx="11058144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94FAD5"/>
                </a:solidFill>
                <a:latin typeface="Fira Code"/>
              </a:rPr>
              <a:t>EXECUTIVE BRIEF  ·  CLIENT READERSHIP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920240"/>
            <a:ext cx="10424160" cy="1737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4000" b="1">
                <a:solidFill>
                  <a:srgbClr val="FFFFFF"/>
                </a:solidFill>
                <a:latin typeface="Space Grotesk"/>
              </a:rPr>
              <a:t>ArduPilot PNT (Positioning, Navigation, Timing) Reference Audit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675887"/>
            <a:ext cx="7863840" cy="7315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800" b="0">
                <a:solidFill>
                  <a:srgbClr val="FFFFFF"/>
                </a:solidFill>
                <a:latin typeface="Inter"/>
              </a:rPr>
              <a:t>Read-only static-analysis audit — every snippet reproduced verbatim from the cited path:line range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4498848"/>
            <a:ext cx="4206240" cy="91440"/>
          </a:xfrm>
          <a:prstGeom prst="rect">
            <a:avLst/>
          </a:prstGeom>
          <a:gradFill rotWithShape="1">
            <a:gsLst>
              <a:gs pos="0">
                <a:srgbClr val="5B39F3"/>
              </a:gs>
              <a:gs pos="100000">
                <a:srgbClr val="94FAD5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4773168"/>
            <a:ext cx="11058144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94FAD5"/>
                </a:solidFill>
                <a:latin typeface="Fira Code"/>
              </a:rPr>
              <a:t>HEAD 5b67e27b0a  ·  43 pages  ·  Read-only static-analysis catalog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5138928"/>
            <a:ext cx="10424160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Inter"/>
              </a:rPr>
              <a:t>Findings in broad strokes, grouped by theme.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8144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5B39F3"/>
                </a:solidFill>
                <a:latin typeface="Fira Code"/>
              </a:rPr>
              <a:t>PURPOSE AND SCOPE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5852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800" b="1">
                <a:solidFill>
                  <a:srgbClr val="333333"/>
                </a:solidFill>
                <a:latin typeface="Space Grotesk"/>
              </a:rPr>
              <a:t>What this audit set out to establish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426464"/>
            <a:ext cx="11064240" cy="26102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700" b="0">
                <a:solidFill>
                  <a:srgbClr val="333333"/>
                </a:solidFill>
                <a:latin typeface="Inter"/>
              </a:rPr>
              <a:t>Where does PNT behaviour live today, and what depends on it?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888655"/>
            <a:ext cx="11058144" cy="2257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>
                <a:solidFill>
                  <a:srgbClr val="999999"/>
                </a:solidFill>
                <a:latin typeface="Fira Code"/>
              </a:rPr>
              <a:t>THE CORE PROBLEM, IN THE AUDIT’S OWN WORDS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2114359"/>
            <a:ext cx="32004" cy="589076"/>
          </a:xfrm>
          <a:prstGeom prst="rect">
            <a:avLst/>
          </a:prstGeom>
          <a:solidFill>
            <a:srgbClr val="5B39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2114359"/>
            <a:ext cx="8494776" cy="5890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600" b="0">
                <a:solidFill>
                  <a:srgbClr val="333333"/>
                </a:solidFill>
                <a:latin typeface="Inter"/>
              </a:rPr>
              <a:t>“PNT behavior in ArduPilot is not a library that a host can call — it is embedded in the vehicle flight loop and duplicated across vehicles.”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2776587"/>
            <a:ext cx="32004" cy="589076"/>
          </a:xfrm>
          <a:prstGeom prst="rect">
            <a:avLst/>
          </a:prstGeom>
          <a:solidFill>
            <a:srgbClr val="5B39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3232" y="2776587"/>
            <a:ext cx="8494776" cy="5890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600" b="0">
                <a:solidFill>
                  <a:srgbClr val="333333"/>
                </a:solidFill>
                <a:latin typeface="Inter"/>
              </a:rPr>
              <a:t>“The consequence is that an external host cannot reuse a PNT behavior without first knowing every place that behavior lives, what it reads, and what breaks if it moves.”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3566831"/>
            <a:ext cx="2613660" cy="1051560"/>
          </a:xfrm>
          <a:prstGeom prst="roundRect">
            <a:avLst>
              <a:gd name="adj" fmla="val 6000"/>
            </a:avLst>
          </a:prstGeom>
          <a:solidFill>
            <a:srgbClr val="F2F0FE"/>
          </a:solidFill>
          <a:ln w="9525">
            <a:solidFill>
              <a:srgbClr val="E1DB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>
            <a:noAutofit/>
          </a:bodyPr>
          <a:lstStyle/>
          <a:p>
            <a:pPr algn="ctr">
              <a:lnSpc>
                <a:spcPct val="130000"/>
              </a:lnSpc>
              <a:spcAft>
                <a:spcPts val="300"/>
              </a:spcAft>
            </a:pPr>
            <a:r>
              <a:rPr sz="3200" b="1">
                <a:solidFill>
                  <a:srgbClr val="5B39F3"/>
                </a:solidFill>
                <a:latin typeface="Space Grotesk"/>
              </a:rPr>
              <a:t>63</a:t>
            </a:r>
          </a:p>
          <a:p>
            <a:pPr algn="ctr">
              <a:lnSpc>
                <a:spcPct val="124000"/>
              </a:lnSpc>
            </a:pPr>
            <a:r>
              <a:rPr sz="1200">
                <a:solidFill>
                  <a:srgbClr val="999999"/>
                </a:solidFill>
                <a:latin typeface="Inter"/>
              </a:rPr>
              <a:t>core references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81756" y="3566831"/>
            <a:ext cx="2613660" cy="1051560"/>
          </a:xfrm>
          <a:prstGeom prst="roundRect">
            <a:avLst>
              <a:gd name="adj" fmla="val 6000"/>
            </a:avLst>
          </a:prstGeom>
          <a:solidFill>
            <a:srgbClr val="F2F0FE"/>
          </a:solidFill>
          <a:ln w="9525">
            <a:solidFill>
              <a:srgbClr val="E1DB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>
            <a:noAutofit/>
          </a:bodyPr>
          <a:lstStyle/>
          <a:p>
            <a:pPr algn="ctr">
              <a:lnSpc>
                <a:spcPct val="130000"/>
              </a:lnSpc>
              <a:spcAft>
                <a:spcPts val="300"/>
              </a:spcAft>
            </a:pPr>
            <a:r>
              <a:rPr sz="3200" b="1">
                <a:solidFill>
                  <a:srgbClr val="5B39F3"/>
                </a:solidFill>
                <a:latin typeface="Space Grotesk"/>
              </a:rPr>
              <a:t>31</a:t>
            </a:r>
          </a:p>
          <a:p>
            <a:pPr algn="ctr">
              <a:lnSpc>
                <a:spcPct val="124000"/>
              </a:lnSpc>
            </a:pPr>
            <a:r>
              <a:rPr sz="1200">
                <a:solidFill>
                  <a:srgbClr val="999999"/>
                </a:solidFill>
                <a:latin typeface="Inter"/>
              </a:rPr>
              <a:t>indirect references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96584" y="3566831"/>
            <a:ext cx="2613660" cy="1051560"/>
          </a:xfrm>
          <a:prstGeom prst="roundRect">
            <a:avLst>
              <a:gd name="adj" fmla="val 6000"/>
            </a:avLst>
          </a:prstGeom>
          <a:solidFill>
            <a:srgbClr val="F2F0FE"/>
          </a:solidFill>
          <a:ln w="9525">
            <a:solidFill>
              <a:srgbClr val="E1DB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>
            <a:noAutofit/>
          </a:bodyPr>
          <a:lstStyle/>
          <a:p>
            <a:pPr algn="ctr">
              <a:lnSpc>
                <a:spcPct val="130000"/>
              </a:lnSpc>
              <a:spcAft>
                <a:spcPts val="300"/>
              </a:spcAft>
            </a:pPr>
            <a:r>
              <a:rPr sz="3200" b="1">
                <a:solidFill>
                  <a:srgbClr val="5B39F3"/>
                </a:solidFill>
                <a:latin typeface="Space Grotesk"/>
              </a:rPr>
              <a:t>94</a:t>
            </a:r>
          </a:p>
          <a:p>
            <a:pPr algn="ctr">
              <a:lnSpc>
                <a:spcPct val="124000"/>
              </a:lnSpc>
            </a:pPr>
            <a:r>
              <a:rPr sz="1200">
                <a:solidFill>
                  <a:srgbClr val="999999"/>
                </a:solidFill>
                <a:latin typeface="Inter"/>
              </a:rPr>
              <a:t>total touch-points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11412" y="3566831"/>
            <a:ext cx="2613660" cy="1051560"/>
          </a:xfrm>
          <a:prstGeom prst="roundRect">
            <a:avLst>
              <a:gd name="adj" fmla="val 6000"/>
            </a:avLst>
          </a:prstGeom>
          <a:solidFill>
            <a:srgbClr val="F2F0FE"/>
          </a:solidFill>
          <a:ln w="9525">
            <a:solidFill>
              <a:srgbClr val="E1DB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>
            <a:noAutofit/>
          </a:bodyPr>
          <a:lstStyle/>
          <a:p>
            <a:pPr algn="ctr">
              <a:lnSpc>
                <a:spcPct val="130000"/>
              </a:lnSpc>
              <a:spcAft>
                <a:spcPts val="300"/>
              </a:spcAft>
            </a:pPr>
            <a:r>
              <a:rPr sz="3200" b="1">
                <a:solidFill>
                  <a:srgbClr val="5B39F3"/>
                </a:solidFill>
                <a:latin typeface="Space Grotesk"/>
              </a:rPr>
              <a:t>282</a:t>
            </a:r>
          </a:p>
          <a:p>
            <a:pPr algn="ctr">
              <a:lnSpc>
                <a:spcPct val="124000"/>
              </a:lnSpc>
            </a:pPr>
            <a:r>
              <a:rPr sz="1200">
                <a:solidFill>
                  <a:srgbClr val="999999"/>
                </a:solidFill>
                <a:latin typeface="Inter"/>
              </a:rPr>
              <a:t>evidence rows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4801271"/>
            <a:ext cx="2613660" cy="1051560"/>
          </a:xfrm>
          <a:prstGeom prst="roundRect">
            <a:avLst>
              <a:gd name="adj" fmla="val 6000"/>
            </a:avLst>
          </a:prstGeom>
          <a:solidFill>
            <a:srgbClr val="F2F0FE"/>
          </a:solidFill>
          <a:ln w="9525">
            <a:solidFill>
              <a:srgbClr val="E1DB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>
            <a:noAutofit/>
          </a:bodyPr>
          <a:lstStyle/>
          <a:p>
            <a:pPr algn="ctr">
              <a:lnSpc>
                <a:spcPct val="130000"/>
              </a:lnSpc>
              <a:spcAft>
                <a:spcPts val="300"/>
              </a:spcAft>
            </a:pPr>
            <a:r>
              <a:rPr sz="3200" b="1">
                <a:solidFill>
                  <a:srgbClr val="5B39F3"/>
                </a:solidFill>
                <a:latin typeface="Space Grotesk"/>
              </a:rPr>
              <a:t>18</a:t>
            </a:r>
          </a:p>
          <a:p>
            <a:pPr algn="ctr">
              <a:lnSpc>
                <a:spcPct val="124000"/>
              </a:lnSpc>
            </a:pPr>
            <a:r>
              <a:rPr sz="1200">
                <a:solidFill>
                  <a:srgbClr val="999999"/>
                </a:solidFill>
                <a:latin typeface="Inter"/>
              </a:rPr>
              <a:t>data objects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381756" y="4801271"/>
            <a:ext cx="2613660" cy="1051560"/>
          </a:xfrm>
          <a:prstGeom prst="roundRect">
            <a:avLst>
              <a:gd name="adj" fmla="val 6000"/>
            </a:avLst>
          </a:prstGeom>
          <a:solidFill>
            <a:srgbClr val="F2F0FE"/>
          </a:solidFill>
          <a:ln w="9525">
            <a:solidFill>
              <a:srgbClr val="E1DB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>
            <a:noAutofit/>
          </a:bodyPr>
          <a:lstStyle/>
          <a:p>
            <a:pPr algn="ctr">
              <a:lnSpc>
                <a:spcPct val="130000"/>
              </a:lnSpc>
              <a:spcAft>
                <a:spcPts val="300"/>
              </a:spcAft>
            </a:pPr>
            <a:r>
              <a:rPr sz="3200" b="1">
                <a:solidFill>
                  <a:srgbClr val="5B39F3"/>
                </a:solidFill>
                <a:latin typeface="Space Grotesk"/>
              </a:rPr>
              <a:t>43</a:t>
            </a:r>
          </a:p>
          <a:p>
            <a:pPr algn="ctr">
              <a:lnSpc>
                <a:spcPct val="124000"/>
              </a:lnSpc>
            </a:pPr>
            <a:r>
              <a:rPr sz="1200">
                <a:solidFill>
                  <a:srgbClr val="999999"/>
                </a:solidFill>
                <a:latin typeface="Inter"/>
              </a:rPr>
              <a:t>pages of catalog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96584" y="4801271"/>
            <a:ext cx="2613660" cy="1051560"/>
          </a:xfrm>
          <a:prstGeom prst="roundRect">
            <a:avLst>
              <a:gd name="adj" fmla="val 6000"/>
            </a:avLst>
          </a:prstGeom>
          <a:solidFill>
            <a:srgbClr val="F2F0FE"/>
          </a:solidFill>
          <a:ln w="9525">
            <a:solidFill>
              <a:srgbClr val="E1DB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>
            <a:noAutofit/>
          </a:bodyPr>
          <a:lstStyle/>
          <a:p>
            <a:pPr algn="ctr">
              <a:lnSpc>
                <a:spcPct val="130000"/>
              </a:lnSpc>
              <a:spcAft>
                <a:spcPts val="300"/>
              </a:spcAft>
            </a:pPr>
            <a:r>
              <a:rPr sz="3200" b="1">
                <a:solidFill>
                  <a:srgbClr val="5B39F3"/>
                </a:solidFill>
                <a:latin typeface="Space Grotesk"/>
              </a:rPr>
              <a:t>109</a:t>
            </a:r>
          </a:p>
          <a:p>
            <a:pPr algn="ctr">
              <a:lnSpc>
                <a:spcPct val="124000"/>
              </a:lnSpc>
            </a:pPr>
            <a:r>
              <a:rPr sz="1200">
                <a:solidFill>
                  <a:srgbClr val="999999"/>
                </a:solidFill>
                <a:latin typeface="Inter"/>
              </a:rPr>
              <a:t>register entries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11412" y="4801271"/>
            <a:ext cx="2613660" cy="1051560"/>
          </a:xfrm>
          <a:prstGeom prst="roundRect">
            <a:avLst>
              <a:gd name="adj" fmla="val 6000"/>
            </a:avLst>
          </a:prstGeom>
          <a:solidFill>
            <a:srgbClr val="F2F0FE"/>
          </a:solidFill>
          <a:ln w="9525">
            <a:solidFill>
              <a:srgbClr val="E1DB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>
            <a:noAutofit/>
          </a:bodyPr>
          <a:lstStyle/>
          <a:p>
            <a:pPr algn="ctr">
              <a:lnSpc>
                <a:spcPct val="130000"/>
              </a:lnSpc>
              <a:spcAft>
                <a:spcPts val="300"/>
              </a:spcAft>
            </a:pPr>
            <a:r>
              <a:rPr sz="3200" b="1">
                <a:solidFill>
                  <a:srgbClr val="5B39F3"/>
                </a:solidFill>
                <a:latin typeface="Space Grotesk"/>
              </a:rPr>
              <a:t>27</a:t>
            </a:r>
          </a:p>
          <a:p>
            <a:pPr algn="ctr">
              <a:lnSpc>
                <a:spcPct val="124000"/>
              </a:lnSpc>
            </a:pPr>
            <a:r>
              <a:rPr sz="1200">
                <a:solidFill>
                  <a:srgbClr val="999999"/>
                </a:solidFill>
                <a:latin typeface="Inter"/>
              </a:rPr>
              <a:t>checked absences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8144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5B39F3"/>
                </a:solidFill>
                <a:latin typeface="Fira Code"/>
              </a:rPr>
              <a:t>GROUP 1  ·  CORE POSITIONING  ·  TABLE 1  ·  26 REFERENCES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5852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800" b="1">
                <a:solidFill>
                  <a:srgbClr val="333333"/>
                </a:solidFill>
                <a:latin typeface="Space Grotesk"/>
              </a:rPr>
              <a:t>Positioning — where PNT is born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426464"/>
            <a:ext cx="11064240" cy="26102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700" b="0">
                <a:solidFill>
                  <a:srgbClr val="333333"/>
                </a:solidFill>
                <a:latin typeface="Inter"/>
              </a:rPr>
              <a:t>The pattern, not the rows: many producers, one shared structure.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797215"/>
            <a:ext cx="11058144" cy="11932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228600" indent="-228600">
              <a:lnSpc>
                <a:spcPct val="124000"/>
              </a:lnSpc>
              <a:spcAft>
                <a:spcPts val="900"/>
              </a:spcAft>
              <a:buClr>
                <a:srgbClr val="333333"/>
              </a:buClr>
              <a:buSzPct val="100000"/>
              <a:buFont typeface="Inter"/>
              <a:buChar char="•"/>
            </a:pPr>
            <a:r>
              <a:rPr sz="1600" b="0">
                <a:solidFill>
                  <a:srgbClr val="333333"/>
                </a:solidFill>
                <a:latin typeface="Inter"/>
              </a:rPr>
              <a:t>Fan-in, not a hierarchy: every backend writes one shared structure.</a:t>
            </a:r>
          </a:p>
          <a:p>
            <a:pPr algn="l" marL="228600" indent="-228600">
              <a:lnSpc>
                <a:spcPct val="124000"/>
              </a:lnSpc>
              <a:spcAft>
                <a:spcPts val="900"/>
              </a:spcAft>
              <a:buClr>
                <a:srgbClr val="333333"/>
              </a:buClr>
              <a:buSzPct val="100000"/>
              <a:buFont typeface="Inter"/>
              <a:buChar char="•"/>
            </a:pPr>
            <a:r>
              <a:rPr sz="1600" b="0">
                <a:solidFill>
                  <a:srgbClr val="333333"/>
                </a:solidFill>
                <a:latin typeface="Inter"/>
              </a:rPr>
              <a:t>That structure packs PNT fields together with non-PNT ones.</a:t>
            </a:r>
          </a:p>
          <a:p>
            <a:pPr algn="l" marL="228600" indent="-228600">
              <a:lnSpc>
                <a:spcPct val="124000"/>
              </a:lnSpc>
              <a:spcAft>
                <a:spcPts val="900"/>
              </a:spcAft>
              <a:buClr>
                <a:srgbClr val="333333"/>
              </a:buClr>
              <a:buSzPct val="100000"/>
              <a:buFont typeface="Inter"/>
              <a:buChar char="•"/>
            </a:pPr>
            <a:r>
              <a:rPr sz="1600" b="0">
                <a:solidFill>
                  <a:srgbClr val="333333"/>
                </a:solidFill>
                <a:latin typeface="Inter"/>
              </a:rPr>
              <a:t>The audit names two types as its own top extraction risks.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3100235"/>
            <a:ext cx="11058144" cy="728471"/>
          </a:xfrm>
          <a:prstGeom prst="roundRect">
            <a:avLst>
              <a:gd name="adj" fmla="val 6000"/>
            </a:avLst>
          </a:prstGeom>
          <a:solidFill>
            <a:srgbClr val="F2F0FE"/>
          </a:solidFill>
          <a:ln w="9525">
            <a:solidFill>
              <a:srgbClr val="E1DB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3246539"/>
            <a:ext cx="10765536" cy="1876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999999"/>
                </a:solidFill>
                <a:latin typeface="Fira Code"/>
              </a:rPr>
              <a:t>FROM THE AUDIT’S FOOTPRINT SUMMARY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9536" y="3498151"/>
            <a:ext cx="10619232" cy="18425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333333"/>
                </a:solidFill>
                <a:latin typeface="Inter"/>
              </a:rPr>
              <a:t>“44 files (14 receiver backends each catalogued individually + AP_GPS_Blended + GPS_Backend base)”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3938434"/>
            <a:ext cx="11058144" cy="2257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>
                <a:solidFill>
                  <a:srgbClr val="999999"/>
                </a:solidFill>
                <a:latin typeface="Fira Code"/>
              </a:rPr>
              <a:t>EACH CARD: THAT FINDING’S OWN NOTES FLAGS, THEN THE AUDIT’S OWN WORDING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4228146"/>
            <a:ext cx="5396484" cy="1183080"/>
          </a:xfrm>
          <a:prstGeom prst="roundRect">
            <a:avLst>
              <a:gd name="adj" fmla="val 6000"/>
            </a:avLst>
          </a:prstGeom>
          <a:solidFill>
            <a:srgbClr val="F2F0FE"/>
          </a:solidFill>
          <a:ln w="9525">
            <a:solidFill>
              <a:srgbClr val="E1DB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3232" y="4374450"/>
            <a:ext cx="5103876" cy="1876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999999"/>
                </a:solidFill>
                <a:latin typeface="Fira Code"/>
              </a:rPr>
              <a:t>THE SHARED GPS STATE STRUCT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3232" y="4653494"/>
            <a:ext cx="1607593" cy="274320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 w="9525">
            <a:solidFill>
              <a:srgbClr val="E1DB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5B39F3"/>
                </a:solidFill>
                <a:latin typeface="Fira Code"/>
              </a:rPr>
              <a:t>[SHARED-STRUCT]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439697" y="4653494"/>
            <a:ext cx="1701355" cy="274320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 w="9525">
            <a:solidFill>
              <a:srgbClr val="E1DB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5B39F3"/>
                </a:solidFill>
                <a:latin typeface="Fira Code"/>
              </a:rPr>
              <a:t>[MULTI-CATEGORY]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13232" y="5019254"/>
            <a:ext cx="32004" cy="245668"/>
          </a:xfrm>
          <a:prstGeom prst="rect">
            <a:avLst/>
          </a:prstGeom>
          <a:solidFill>
            <a:srgbClr val="5B39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9536" y="5019254"/>
            <a:ext cx="4957572" cy="2456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600" b="0">
                <a:solidFill>
                  <a:srgbClr val="333333"/>
                </a:solidFill>
                <a:latin typeface="Inter"/>
              </a:rPr>
              <a:t>“Primary extraction-risk struct for a PNT split.”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28588" y="4228146"/>
            <a:ext cx="5396484" cy="1183080"/>
          </a:xfrm>
          <a:prstGeom prst="roundRect">
            <a:avLst>
              <a:gd name="adj" fmla="val 6000"/>
            </a:avLst>
          </a:prstGeom>
          <a:solidFill>
            <a:srgbClr val="F2F0FE"/>
          </a:solidFill>
          <a:ln w="9525">
            <a:solidFill>
              <a:srgbClr val="E1DB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74892" y="4374450"/>
            <a:ext cx="5103876" cy="1876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999999"/>
                </a:solidFill>
                <a:latin typeface="Fira Code"/>
              </a:rPr>
              <a:t>THE UBIQUITOUS LOCATION VALUE TYPE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74892" y="4653494"/>
            <a:ext cx="1607593" cy="274320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 w="9525">
            <a:solidFill>
              <a:srgbClr val="E1DB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5B39F3"/>
                </a:solidFill>
                <a:latin typeface="Fira Code"/>
              </a:rPr>
              <a:t>[SHARED-STRUCT]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74892" y="5019254"/>
            <a:ext cx="32004" cy="245668"/>
          </a:xfrm>
          <a:prstGeom prst="rect">
            <a:avLst/>
          </a:prstGeom>
          <a:solidFill>
            <a:srgbClr val="5B39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21196" y="5019254"/>
            <a:ext cx="4957572" cy="2456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600" b="0">
                <a:solidFill>
                  <a:srgbClr val="333333"/>
                </a:solidFill>
                <a:latin typeface="Inter"/>
              </a:rPr>
              <a:t>“Ubiquitous value type; top extraction risk.”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5520954"/>
            <a:ext cx="11058144" cy="2257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>
                <a:solidFill>
                  <a:srgbClr val="999999"/>
                </a:solidFill>
                <a:latin typeface="Fira Code"/>
              </a:rPr>
              <a:t>CATALOG-WIDE FLAG COUNTS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5746658"/>
            <a:ext cx="1982640" cy="274320"/>
          </a:xfrm>
          <a:prstGeom prst="roundRect">
            <a:avLst>
              <a:gd name="adj" fmla="val 28000"/>
            </a:avLst>
          </a:prstGeom>
          <a:solidFill>
            <a:srgbClr val="F4EFF6"/>
          </a:solidFill>
          <a:ln w="9525">
            <a:solidFill>
              <a:srgbClr val="E1DB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5B39F3"/>
                </a:solidFill>
                <a:latin typeface="Fira Code"/>
              </a:rPr>
              <a:t>[SHARED-STRUCT]  19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668440" y="5746658"/>
            <a:ext cx="1982640" cy="274320"/>
          </a:xfrm>
          <a:prstGeom prst="roundRect">
            <a:avLst>
              <a:gd name="adj" fmla="val 28000"/>
            </a:avLst>
          </a:prstGeom>
          <a:solidFill>
            <a:srgbClr val="F4EFF6"/>
          </a:solidFill>
          <a:ln w="9525">
            <a:solidFill>
              <a:srgbClr val="E1DB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5B39F3"/>
                </a:solidFill>
                <a:latin typeface="Fira Code"/>
              </a:rPr>
              <a:t>[MULTI-CATEGORY]  7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13232" y="3498151"/>
            <a:ext cx="32004" cy="184251"/>
          </a:xfrm>
          <a:prstGeom prst="rect">
            <a:avLst/>
          </a:prstGeom>
          <a:solidFill>
            <a:srgbClr val="5B39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8144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5B39F3"/>
                </a:solidFill>
                <a:latin typeface="Fira Code"/>
              </a:rPr>
              <a:t>GROUP 1  ·  CORE NAVIGATION  ·  TABLE 2  ·  28 REFERENCES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5852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800" b="1">
                <a:solidFill>
                  <a:srgbClr val="333333"/>
                </a:solidFill>
                <a:latin typeface="Space Grotesk"/>
              </a:rPr>
              <a:t>Navigation — one hub, a core that depends on itself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426464"/>
            <a:ext cx="11064240" cy="26102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700" b="0">
                <a:solidFill>
                  <a:srgbClr val="333333"/>
                </a:solidFill>
                <a:latin typeface="Inter"/>
              </a:rPr>
              <a:t>The largest core pillar, and the one that carries the host-facing seam.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980095"/>
            <a:ext cx="11058144" cy="160995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228600" indent="-228600">
              <a:lnSpc>
                <a:spcPct val="124000"/>
              </a:lnSpc>
              <a:spcAft>
                <a:spcPts val="900"/>
              </a:spcAft>
              <a:buClr>
                <a:srgbClr val="333333"/>
              </a:buClr>
              <a:buSzPct val="100000"/>
              <a:buFont typeface="Inter"/>
              <a:buChar char="•"/>
            </a:pPr>
            <a:r>
              <a:rPr sz="1600" b="0">
                <a:solidFill>
                  <a:srgbClr val="333333"/>
                </a:solidFill>
                <a:latin typeface="Inter"/>
              </a:rPr>
              <a:t>One hub serves fused position to the whole vehicle.</a:t>
            </a:r>
          </a:p>
          <a:p>
            <a:pPr algn="l" marL="228600" indent="-228600">
              <a:lnSpc>
                <a:spcPct val="124000"/>
              </a:lnSpc>
              <a:spcAft>
                <a:spcPts val="900"/>
              </a:spcAft>
              <a:buClr>
                <a:srgbClr val="333333"/>
              </a:buClr>
              <a:buSzPct val="100000"/>
              <a:buFont typeface="Inter"/>
              <a:buChar char="•"/>
            </a:pPr>
            <a:r>
              <a:rPr sz="1600" b="0">
                <a:solidFill>
                  <a:srgbClr val="333333"/>
                </a:solidFill>
                <a:latin typeface="Inter"/>
              </a:rPr>
              <a:t>The estimator spans 13 catalogued fusion modules, not one file.</a:t>
            </a:r>
          </a:p>
          <a:p>
            <a:pPr algn="l" marL="228600" indent="-228600">
              <a:lnSpc>
                <a:spcPct val="124000"/>
              </a:lnSpc>
              <a:spcAft>
                <a:spcPts val="900"/>
              </a:spcAft>
              <a:buClr>
                <a:srgbClr val="333333"/>
              </a:buClr>
              <a:buSzPct val="100000"/>
              <a:buFont typeface="Inter"/>
              <a:buChar char="•"/>
            </a:pPr>
            <a:r>
              <a:rPr sz="1600" b="0">
                <a:solidFill>
                  <a:srgbClr val="333333"/>
                </a:solidFill>
                <a:latin typeface="Inter"/>
              </a:rPr>
              <a:t>A parallel estimator generation mirrors it and is flagged [DUPLICATED].</a:t>
            </a:r>
          </a:p>
          <a:p>
            <a:pPr algn="l" marL="228600" indent="-228600">
              <a:lnSpc>
                <a:spcPct val="124000"/>
              </a:lnSpc>
              <a:spcAft>
                <a:spcPts val="900"/>
              </a:spcAft>
              <a:buClr>
                <a:srgbClr val="333333"/>
              </a:buClr>
              <a:buSzPct val="100000"/>
              <a:buFont typeface="Inter"/>
              <a:buChar char="•"/>
            </a:pPr>
            <a:r>
              <a:rPr sz="1600" b="0">
                <a:solidFill>
                  <a:srgbClr val="333333"/>
                </a:solidFill>
                <a:latin typeface="Inter"/>
              </a:rPr>
              <a:t>Only this table names new service locations — the reusable seam.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3882656"/>
            <a:ext cx="11058144" cy="1183080"/>
          </a:xfrm>
          <a:prstGeom prst="roundRect">
            <a:avLst>
              <a:gd name="adj" fmla="val 6000"/>
            </a:avLst>
          </a:prstGeom>
          <a:solidFill>
            <a:srgbClr val="F2F0FE"/>
          </a:solidFill>
          <a:ln w="9525">
            <a:solidFill>
              <a:srgbClr val="E1DB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4028960"/>
            <a:ext cx="10765536" cy="1876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999999"/>
                </a:solidFill>
                <a:latin typeface="Fira Code"/>
              </a:rPr>
              <a:t>WHY THE CORE IS FLAGGED [CIRCULAR]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4308004"/>
            <a:ext cx="1138785" cy="274320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 w="9525">
            <a:solidFill>
              <a:srgbClr val="E1DB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5B39F3"/>
                </a:solidFill>
                <a:latin typeface="Fira Code"/>
              </a:rPr>
              <a:t>[CIRCULAR]</a:t>
            </a:r>
          </a:p>
        </p:txBody>
      </p:sp>
      <p:sp>
        <p:nvSpPr>
          <p:cNvPr id="10" name="Rectangle 9"/>
          <p:cNvSpPr/>
          <p:nvPr/>
        </p:nvSpPr>
        <p:spPr>
          <a:xfrm>
            <a:off x="713232" y="4673764"/>
            <a:ext cx="32004" cy="245668"/>
          </a:xfrm>
          <a:prstGeom prst="rect">
            <a:avLst/>
          </a:prstGeom>
          <a:solidFill>
            <a:srgbClr val="5B39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4673764"/>
            <a:ext cx="10619232" cy="2456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600" b="0">
                <a:solidFill>
                  <a:srgbClr val="333333"/>
                </a:solidFill>
                <a:latin typeface="Inter"/>
              </a:rPr>
              <a:t>“AHRS↔EKF mutual reference.”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5340056"/>
            <a:ext cx="11058144" cy="2257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>
                <a:solidFill>
                  <a:srgbClr val="999999"/>
                </a:solidFill>
                <a:latin typeface="Fira Code"/>
              </a:rPr>
              <a:t>CATALOG-WIDE FLAG COUNTS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5565760"/>
            <a:ext cx="1420070" cy="274320"/>
          </a:xfrm>
          <a:prstGeom prst="roundRect">
            <a:avLst>
              <a:gd name="adj" fmla="val 28000"/>
            </a:avLst>
          </a:prstGeom>
          <a:solidFill>
            <a:srgbClr val="F4EFF6"/>
          </a:solidFill>
          <a:ln w="9525">
            <a:solidFill>
              <a:srgbClr val="E1DB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5B39F3"/>
                </a:solidFill>
                <a:latin typeface="Fira Code"/>
              </a:rPr>
              <a:t>[CIRCULAR]  8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105870" y="5565760"/>
            <a:ext cx="1701355" cy="274320"/>
          </a:xfrm>
          <a:prstGeom prst="roundRect">
            <a:avLst>
              <a:gd name="adj" fmla="val 28000"/>
            </a:avLst>
          </a:prstGeom>
          <a:solidFill>
            <a:srgbClr val="F4EFF6"/>
          </a:solidFill>
          <a:ln w="9525">
            <a:solidFill>
              <a:srgbClr val="E1DB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5B39F3"/>
                </a:solidFill>
                <a:latin typeface="Fira Code"/>
              </a:rPr>
              <a:t>[DUPLICATED]  36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8144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5B39F3"/>
                </a:solidFill>
                <a:latin typeface="Fira Code"/>
              </a:rPr>
              <a:t>GROUP 1  ·  CORE TIMING  ·  TABLE 3  ·  9 REFERENCES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5852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800" b="1">
                <a:solidFill>
                  <a:srgbClr val="333333"/>
                </a:solidFill>
                <a:latin typeface="Space Grotesk"/>
              </a:rPr>
              <a:t>Timing — everything is stamped against one clock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426464"/>
            <a:ext cx="11064240" cy="26102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700" b="0">
                <a:solidFill>
                  <a:srgbClr val="333333"/>
                </a:solidFill>
                <a:latin typeface="Inter"/>
              </a:rPr>
              <a:t>The smallest core pillar, and the one every other pillar depends 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906943"/>
            <a:ext cx="11058144" cy="11932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228600" indent="-228600">
              <a:lnSpc>
                <a:spcPct val="124000"/>
              </a:lnSpc>
              <a:spcAft>
                <a:spcPts val="900"/>
              </a:spcAft>
              <a:buClr>
                <a:srgbClr val="333333"/>
              </a:buClr>
              <a:buSzPct val="100000"/>
              <a:buFont typeface="Inter"/>
              <a:buChar char="•"/>
            </a:pPr>
            <a:r>
              <a:rPr sz="1600" b="0">
                <a:solidFill>
                  <a:srgbClr val="333333"/>
                </a:solidFill>
                <a:latin typeface="Inter"/>
              </a:rPr>
              <a:t>All three pillars derive from one monotonic timebase.</a:t>
            </a:r>
          </a:p>
          <a:p>
            <a:pPr algn="l" marL="228600" indent="-228600">
              <a:lnSpc>
                <a:spcPct val="124000"/>
              </a:lnSpc>
              <a:spcAft>
                <a:spcPts val="900"/>
              </a:spcAft>
              <a:buClr>
                <a:srgbClr val="333333"/>
              </a:buClr>
              <a:buSzPct val="100000"/>
              <a:buFont typeface="Inter"/>
              <a:buChar char="•"/>
            </a:pPr>
            <a:r>
              <a:rPr sz="1600" b="0">
                <a:solidFill>
                  <a:srgbClr val="333333"/>
                </a:solidFill>
                <a:latin typeface="Inter"/>
              </a:rPr>
              <a:t>Absolute time is arbitrated, not assumed; the highest-ranked source wins.</a:t>
            </a:r>
          </a:p>
          <a:p>
            <a:pPr algn="l" marL="228600" indent="-228600">
              <a:lnSpc>
                <a:spcPct val="124000"/>
              </a:lnSpc>
              <a:spcAft>
                <a:spcPts val="900"/>
              </a:spcAft>
              <a:buClr>
                <a:srgbClr val="333333"/>
              </a:buClr>
              <a:buSzPct val="100000"/>
              <a:buFont typeface="Inter"/>
              <a:buChar char="•"/>
            </a:pPr>
            <a:r>
              <a:rPr sz="1600" b="0">
                <a:solidFill>
                  <a:srgbClr val="333333"/>
                </a:solidFill>
                <a:latin typeface="Inter"/>
              </a:rPr>
              <a:t>One catalogued structure spans timing and positioning — flagged [MULTI-CATEGORY].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3301403"/>
            <a:ext cx="11058144" cy="817320"/>
          </a:xfrm>
          <a:prstGeom prst="roundRect">
            <a:avLst>
              <a:gd name="adj" fmla="val 6000"/>
            </a:avLst>
          </a:prstGeom>
          <a:solidFill>
            <a:srgbClr val="F2F0FE"/>
          </a:solidFill>
          <a:ln w="9525">
            <a:solidFill>
              <a:srgbClr val="E1DB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3447707"/>
            <a:ext cx="10765536" cy="1876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999999"/>
                </a:solidFill>
                <a:latin typeface="Fira Code"/>
              </a:rPr>
              <a:t>THE TIMING BACKBONE</a:t>
            </a:r>
          </a:p>
        </p:txBody>
      </p:sp>
      <p:sp>
        <p:nvSpPr>
          <p:cNvPr id="9" name="Rectangle 8"/>
          <p:cNvSpPr/>
          <p:nvPr/>
        </p:nvSpPr>
        <p:spPr>
          <a:xfrm>
            <a:off x="713232" y="3726751"/>
            <a:ext cx="32004" cy="245668"/>
          </a:xfrm>
          <a:prstGeom prst="rect">
            <a:avLst/>
          </a:prstGeom>
          <a:solidFill>
            <a:srgbClr val="5B39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9536" y="3726751"/>
            <a:ext cx="10619232" cy="2456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600" b="0">
                <a:solidFill>
                  <a:srgbClr val="333333"/>
                </a:solidFill>
                <a:latin typeface="Inter"/>
              </a:rPr>
              <a:t>“the time primitive every PNT subsystem stamps against”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4319891"/>
            <a:ext cx="11058144" cy="817320"/>
          </a:xfrm>
          <a:prstGeom prst="roundRect">
            <a:avLst>
              <a:gd name="adj" fmla="val 6000"/>
            </a:avLst>
          </a:prstGeom>
          <a:solidFill>
            <a:srgbClr val="F2F0FE"/>
          </a:solidFill>
          <a:ln w="9525">
            <a:solidFill>
              <a:srgbClr val="E1DB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3232" y="4466195"/>
            <a:ext cx="10765536" cy="1876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999999"/>
                </a:solidFill>
                <a:latin typeface="Fira Code"/>
              </a:rPr>
              <a:t>CADENCE IS A PNT PROPERTY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13232" y="4745239"/>
            <a:ext cx="32004" cy="245668"/>
          </a:xfrm>
          <a:prstGeom prst="rect">
            <a:avLst/>
          </a:prstGeom>
          <a:solidFill>
            <a:srgbClr val="5B39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9536" y="4745239"/>
            <a:ext cx="10619232" cy="2456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600" b="0">
                <a:solidFill>
                  <a:srgbClr val="333333"/>
                </a:solidFill>
                <a:latin typeface="Inter"/>
              </a:rPr>
              <a:t>“Drives the cadence of every periodic PNT task”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5338379"/>
            <a:ext cx="11058144" cy="2257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>
                <a:solidFill>
                  <a:srgbClr val="999999"/>
                </a:solidFill>
                <a:latin typeface="Fira Code"/>
              </a:rPr>
              <a:t>CATALOG-WIDE FLAG COUNT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5564083"/>
            <a:ext cx="1982640" cy="274320"/>
          </a:xfrm>
          <a:prstGeom prst="roundRect">
            <a:avLst>
              <a:gd name="adj" fmla="val 28000"/>
            </a:avLst>
          </a:prstGeom>
          <a:solidFill>
            <a:srgbClr val="F4EFF6"/>
          </a:solidFill>
          <a:ln w="9525">
            <a:solidFill>
              <a:srgbClr val="E1DB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5B39F3"/>
                </a:solidFill>
                <a:latin typeface="Fira Code"/>
              </a:rPr>
              <a:t>[MULTI-CATEGORY]  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8144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5B39F3"/>
                </a:solidFill>
                <a:latin typeface="Fira Code"/>
              </a:rPr>
              <a:t>GROUP 2  ·  INDIRECT POSITIONING  ·  TABLE 4  ·  10 REFERENCES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5852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800" b="1">
                <a:solidFill>
                  <a:srgbClr val="333333"/>
                </a:solidFill>
                <a:latin typeface="Space Grotesk"/>
              </a:rPr>
              <a:t>PNT as a permission 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426464"/>
            <a:ext cx="11064240" cy="26102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700" b="0">
                <a:solidFill>
                  <a:srgbClr val="333333"/>
                </a:solidFill>
                <a:latin typeface="Inter"/>
              </a:rPr>
              <a:t>Group 2 reads no PNT value. Its behaviour changes because of PNT state.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888655"/>
            <a:ext cx="11058144" cy="160995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228600" indent="-228600">
              <a:lnSpc>
                <a:spcPct val="124000"/>
              </a:lnSpc>
              <a:spcAft>
                <a:spcPts val="900"/>
              </a:spcAft>
              <a:buClr>
                <a:srgbClr val="333333"/>
              </a:buClr>
              <a:buSzPct val="100000"/>
              <a:buFont typeface="Inter"/>
              <a:buChar char="•"/>
            </a:pPr>
            <a:r>
              <a:rPr sz="1600" b="0">
                <a:solidFill>
                  <a:srgbClr val="333333"/>
                </a:solidFill>
                <a:latin typeface="Inter"/>
              </a:rPr>
              <a:t>In positioning, PNT state grants or withholds permission rather than computing.</a:t>
            </a:r>
          </a:p>
          <a:p>
            <a:pPr algn="l" marL="228600" indent="-228600">
              <a:lnSpc>
                <a:spcPct val="124000"/>
              </a:lnSpc>
              <a:spcAft>
                <a:spcPts val="900"/>
              </a:spcAft>
              <a:buClr>
                <a:srgbClr val="333333"/>
              </a:buClr>
              <a:buSzPct val="100000"/>
              <a:buFont typeface="Inter"/>
              <a:buChar char="•"/>
            </a:pPr>
            <a:r>
              <a:rPr sz="1600" b="0">
                <a:solidFill>
                  <a:srgbClr val="333333"/>
                </a:solidFill>
                <a:latin typeface="Inter"/>
              </a:rPr>
              <a:t>Health gates decide whether a mode may be entered at all.</a:t>
            </a:r>
          </a:p>
          <a:p>
            <a:pPr algn="l" marL="228600" indent="-228600">
              <a:lnSpc>
                <a:spcPct val="124000"/>
              </a:lnSpc>
              <a:spcAft>
                <a:spcPts val="900"/>
              </a:spcAft>
              <a:buClr>
                <a:srgbClr val="333333"/>
              </a:buClr>
              <a:buSzPct val="100000"/>
              <a:buFont typeface="Inter"/>
              <a:buChar char="•"/>
            </a:pPr>
            <a:r>
              <a:rPr sz="1600" b="0">
                <a:solidFill>
                  <a:srgbClr val="333333"/>
                </a:solidFill>
                <a:latin typeface="Inter"/>
              </a:rPr>
              <a:t>Geofence evaluation decides whether motion is allowed.</a:t>
            </a:r>
          </a:p>
          <a:p>
            <a:pPr algn="l" marL="228600" indent="-228600">
              <a:lnSpc>
                <a:spcPct val="124000"/>
              </a:lnSpc>
              <a:spcAft>
                <a:spcPts val="900"/>
              </a:spcAft>
              <a:buClr>
                <a:srgbClr val="333333"/>
              </a:buClr>
              <a:buSzPct val="100000"/>
              <a:buFont typeface="Inter"/>
              <a:buChar char="•"/>
            </a:pPr>
            <a:r>
              <a:rPr sz="1600" b="0">
                <a:solidFill>
                  <a:srgbClr val="333333"/>
                </a:solidFill>
                <a:latin typeface="Inter"/>
              </a:rPr>
              <a:t>Absence is catalogued, not inferred.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3681488"/>
            <a:ext cx="3551936" cy="1051560"/>
          </a:xfrm>
          <a:prstGeom prst="roundRect">
            <a:avLst>
              <a:gd name="adj" fmla="val 6000"/>
            </a:avLst>
          </a:prstGeom>
          <a:solidFill>
            <a:srgbClr val="F2F0FE"/>
          </a:solidFill>
          <a:ln w="9525">
            <a:solidFill>
              <a:srgbClr val="E1DB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>
            <a:noAutofit/>
          </a:bodyPr>
          <a:lstStyle/>
          <a:p>
            <a:pPr algn="ctr">
              <a:lnSpc>
                <a:spcPct val="130000"/>
              </a:lnSpc>
              <a:spcAft>
                <a:spcPts val="300"/>
              </a:spcAft>
            </a:pPr>
            <a:r>
              <a:rPr sz="3200" b="1">
                <a:solidFill>
                  <a:srgbClr val="5B39F3"/>
                </a:solidFill>
                <a:latin typeface="Space Grotesk"/>
              </a:rPr>
              <a:t>10</a:t>
            </a:r>
          </a:p>
          <a:p>
            <a:pPr algn="ctr">
              <a:lnSpc>
                <a:spcPct val="124000"/>
              </a:lnSpc>
            </a:pPr>
            <a:r>
              <a:rPr sz="1200">
                <a:solidFill>
                  <a:srgbClr val="999999"/>
                </a:solidFill>
                <a:latin typeface="Inter"/>
              </a:rPr>
              <a:t>coverage sub-registers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20032" y="3681488"/>
            <a:ext cx="3551936" cy="1051560"/>
          </a:xfrm>
          <a:prstGeom prst="roundRect">
            <a:avLst>
              <a:gd name="adj" fmla="val 6000"/>
            </a:avLst>
          </a:prstGeom>
          <a:solidFill>
            <a:srgbClr val="F2F0FE"/>
          </a:solidFill>
          <a:ln w="9525">
            <a:solidFill>
              <a:srgbClr val="E1DB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>
            <a:noAutofit/>
          </a:bodyPr>
          <a:lstStyle/>
          <a:p>
            <a:pPr algn="ctr">
              <a:lnSpc>
                <a:spcPct val="130000"/>
              </a:lnSpc>
              <a:spcAft>
                <a:spcPts val="300"/>
              </a:spcAft>
            </a:pPr>
            <a:r>
              <a:rPr sz="3200" b="1">
                <a:solidFill>
                  <a:srgbClr val="5B39F3"/>
                </a:solidFill>
                <a:latin typeface="Space Grotesk"/>
              </a:rPr>
              <a:t>109</a:t>
            </a:r>
          </a:p>
          <a:p>
            <a:pPr algn="ctr">
              <a:lnSpc>
                <a:spcPct val="124000"/>
              </a:lnSpc>
            </a:pPr>
            <a:r>
              <a:rPr sz="1200">
                <a:solidFill>
                  <a:srgbClr val="999999"/>
                </a:solidFill>
                <a:latin typeface="Inter"/>
              </a:rPr>
              <a:t>register entries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73136" y="3681488"/>
            <a:ext cx="3551936" cy="1051560"/>
          </a:xfrm>
          <a:prstGeom prst="roundRect">
            <a:avLst>
              <a:gd name="adj" fmla="val 6000"/>
            </a:avLst>
          </a:prstGeom>
          <a:solidFill>
            <a:srgbClr val="F2F0FE"/>
          </a:solidFill>
          <a:ln w="9525">
            <a:solidFill>
              <a:srgbClr val="E1DB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>
            <a:noAutofit/>
          </a:bodyPr>
          <a:lstStyle/>
          <a:p>
            <a:pPr algn="ctr">
              <a:lnSpc>
                <a:spcPct val="130000"/>
              </a:lnSpc>
              <a:spcAft>
                <a:spcPts val="300"/>
              </a:spcAft>
            </a:pPr>
            <a:r>
              <a:rPr sz="3200" b="1">
                <a:solidFill>
                  <a:srgbClr val="5B39F3"/>
                </a:solidFill>
                <a:latin typeface="Space Grotesk"/>
              </a:rPr>
              <a:t>27</a:t>
            </a:r>
          </a:p>
          <a:p>
            <a:pPr algn="ctr">
              <a:lnSpc>
                <a:spcPct val="124000"/>
              </a:lnSpc>
            </a:pPr>
            <a:r>
              <a:rPr sz="1200">
                <a:solidFill>
                  <a:srgbClr val="999999"/>
                </a:solidFill>
                <a:latin typeface="Inter"/>
              </a:rPr>
              <a:t>checked, documented absences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4915928"/>
            <a:ext cx="11058144" cy="2257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>
                <a:solidFill>
                  <a:srgbClr val="999999"/>
                </a:solidFill>
                <a:latin typeface="Fira Code"/>
              </a:rPr>
              <a:t>CATALOG-WIDE FLAG COUNT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5141632"/>
            <a:ext cx="1326308" cy="274320"/>
          </a:xfrm>
          <a:prstGeom prst="roundRect">
            <a:avLst>
              <a:gd name="adj" fmla="val 28000"/>
            </a:avLst>
          </a:prstGeom>
          <a:solidFill>
            <a:srgbClr val="F4EFF6"/>
          </a:solidFill>
          <a:ln w="9525">
            <a:solidFill>
              <a:srgbClr val="E1DB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5B39F3"/>
                </a:solidFill>
                <a:latin typeface="Fira Code"/>
              </a:rPr>
              <a:t>[ABSENT]  30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5598832"/>
            <a:ext cx="11058144" cy="24775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8000"/>
              </a:lnSpc>
              <a:spcAft>
                <a:spcPts val="500"/>
              </a:spcAft>
            </a:pPr>
            <a:r>
              <a:rPr sz="1200" b="0">
                <a:solidFill>
                  <a:srgbClr val="999999"/>
                </a:solidFill>
                <a:latin typeface="Inter"/>
              </a:rPr>
              <a:t>Explicitly-documented absences catalogued in the Coverage register: 27.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8144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5B39F3"/>
                </a:solidFill>
                <a:latin typeface="Fira Code"/>
              </a:rPr>
              <a:t>GROUP 2  ·  INDIRECT NAVIGATION AND TIMING  ·  TABLES 5 AND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5852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800" b="1">
                <a:solidFill>
                  <a:srgbClr val="333333"/>
                </a:solidFill>
                <a:latin typeface="Space Grotesk"/>
              </a:rPr>
              <a:t>The same check, written many times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426464"/>
            <a:ext cx="11064240" cy="26102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700" b="0">
                <a:solidFill>
                  <a:srgbClr val="333333"/>
                </a:solidFill>
                <a:latin typeface="Inter"/>
              </a:rPr>
              <a:t>[DUPLICATED] is the audit’s largest flag concentration.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2108111"/>
            <a:ext cx="11058144" cy="7766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228600" indent="-228600">
              <a:lnSpc>
                <a:spcPct val="124000"/>
              </a:lnSpc>
              <a:spcAft>
                <a:spcPts val="900"/>
              </a:spcAft>
              <a:buClr>
                <a:srgbClr val="333333"/>
              </a:buClr>
              <a:buSzPct val="100000"/>
              <a:buFont typeface="Inter"/>
              <a:buChar char="•"/>
            </a:pPr>
            <a:r>
              <a:rPr sz="1600" b="0">
                <a:solidFill>
                  <a:srgbClr val="333333"/>
                </a:solidFill>
                <a:latin typeface="Inter"/>
              </a:rPr>
              <a:t>Two safety checks account for much of it, each written separately per vehicle firmware.</a:t>
            </a:r>
          </a:p>
          <a:p>
            <a:pPr algn="l" marL="228600" indent="-228600">
              <a:lnSpc>
                <a:spcPct val="124000"/>
              </a:lnSpc>
              <a:spcAft>
                <a:spcPts val="900"/>
              </a:spcAft>
              <a:buClr>
                <a:srgbClr val="333333"/>
              </a:buClr>
              <a:buSzPct val="100000"/>
              <a:buFont typeface="Inter"/>
              <a:buChar char="•"/>
            </a:pPr>
            <a:r>
              <a:rPr sz="1600" b="0">
                <a:solidFill>
                  <a:srgbClr val="333333"/>
                </a:solidFill>
                <a:latin typeface="Inter"/>
              </a:rPr>
              <a:t>It is a read-only catalog: the audit records the repetition.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3305365"/>
            <a:ext cx="11058144" cy="2257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>
                <a:solidFill>
                  <a:srgbClr val="999999"/>
                </a:solidFill>
                <a:latin typeface="Fira Code"/>
              </a:rPr>
              <a:t>EACH CARD: THAT FINDING’S OWN NOTES FLAGS, THEN THE AUDIT’S OWN WORDING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595077"/>
            <a:ext cx="5396484" cy="1183080"/>
          </a:xfrm>
          <a:prstGeom prst="roundRect">
            <a:avLst>
              <a:gd name="adj" fmla="val 6000"/>
            </a:avLst>
          </a:prstGeom>
          <a:solidFill>
            <a:srgbClr val="F2F0FE"/>
          </a:solidFill>
          <a:ln w="9525">
            <a:solidFill>
              <a:srgbClr val="E1DB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3741381"/>
            <a:ext cx="5103876" cy="1876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999999"/>
                </a:solidFill>
                <a:latin typeface="Fira Code"/>
              </a:rPr>
              <a:t>THE ESTIMATOR-VARIANCE WATCHDOG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4020425"/>
            <a:ext cx="1326308" cy="274320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 w="9525">
            <a:solidFill>
              <a:srgbClr val="E1DB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5B39F3"/>
                </a:solidFill>
                <a:latin typeface="Fira Code"/>
              </a:rPr>
              <a:t>[DUPLICATED]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13232" y="4386185"/>
            <a:ext cx="32004" cy="245668"/>
          </a:xfrm>
          <a:prstGeom prst="rect">
            <a:avLst/>
          </a:prstGeom>
          <a:solidFill>
            <a:srgbClr val="5B39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9536" y="4386185"/>
            <a:ext cx="4957572" cy="2456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600" b="0">
                <a:solidFill>
                  <a:srgbClr val="333333"/>
                </a:solidFill>
                <a:latin typeface="Inter"/>
              </a:rPr>
              <a:t>“a 4-way copy-paste (extraction risk)”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28588" y="3595077"/>
            <a:ext cx="5396484" cy="1183080"/>
          </a:xfrm>
          <a:prstGeom prst="roundRect">
            <a:avLst>
              <a:gd name="adj" fmla="val 6000"/>
            </a:avLst>
          </a:prstGeom>
          <a:solidFill>
            <a:srgbClr val="F2F0FE"/>
          </a:solidFill>
          <a:ln w="9525">
            <a:solidFill>
              <a:srgbClr val="E1DB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74892" y="3741381"/>
            <a:ext cx="5103876" cy="1876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999999"/>
                </a:solidFill>
                <a:latin typeface="Fira Code"/>
              </a:rPr>
              <a:t>THE MAIN-LOOP-LOCKUP WATCHDOG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74892" y="4020425"/>
            <a:ext cx="1326308" cy="274320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 w="9525">
            <a:solidFill>
              <a:srgbClr val="E1DB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5B39F3"/>
                </a:solidFill>
                <a:latin typeface="Fira Code"/>
              </a:rPr>
              <a:t>[DUPLICATED]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74892" y="4386185"/>
            <a:ext cx="32004" cy="245668"/>
          </a:xfrm>
          <a:prstGeom prst="rect">
            <a:avLst/>
          </a:prstGeom>
          <a:solidFill>
            <a:srgbClr val="5B39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21196" y="4386185"/>
            <a:ext cx="4957572" cy="2456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600" b="0">
                <a:solidFill>
                  <a:srgbClr val="333333"/>
                </a:solidFill>
                <a:latin typeface="Inter"/>
              </a:rPr>
              <a:t>“replicated 5 ways”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5198781"/>
            <a:ext cx="11058144" cy="2257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>
                <a:solidFill>
                  <a:srgbClr val="999999"/>
                </a:solidFill>
                <a:latin typeface="Fira Code"/>
              </a:rPr>
              <a:t>CATALOG-WIDE FLAG COUNT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5424485"/>
            <a:ext cx="1701355" cy="274320"/>
          </a:xfrm>
          <a:prstGeom prst="roundRect">
            <a:avLst>
              <a:gd name="adj" fmla="val 28000"/>
            </a:avLst>
          </a:prstGeom>
          <a:solidFill>
            <a:srgbClr val="F4EFF6"/>
          </a:solidFill>
          <a:ln w="9525">
            <a:solidFill>
              <a:srgbClr val="E1DB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5B39F3"/>
                </a:solidFill>
                <a:latin typeface="Fira Code"/>
              </a:rPr>
              <a:t>[DUPLICATED]  36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8144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5B39F3"/>
                </a:solidFill>
                <a:latin typeface="Fira Code"/>
              </a:rPr>
              <a:t>GROUP 2  ·  DIVERGENCE AND CHAIN DEPTH  ·  TABLES 4–6 WITH SUB-TABLES 4a–6a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5852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800" b="1">
                <a:solidFill>
                  <a:srgbClr val="333333"/>
                </a:solidFill>
                <a:latin typeface="Space Grotesk"/>
              </a:rPr>
              <a:t>Where the copies disagree, and how far chains run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426464"/>
            <a:ext cx="11064240" cy="26102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700" b="0">
                <a:solidFill>
                  <a:srgbClr val="333333"/>
                </a:solidFill>
                <a:latin typeface="Inter"/>
              </a:rPr>
              <a:t>The copies are not identical.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2016671"/>
            <a:ext cx="11058144" cy="11932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228600" indent="-228600">
              <a:lnSpc>
                <a:spcPct val="124000"/>
              </a:lnSpc>
              <a:spcAft>
                <a:spcPts val="900"/>
              </a:spcAft>
              <a:buClr>
                <a:srgbClr val="333333"/>
              </a:buClr>
              <a:buSzPct val="100000"/>
              <a:buFont typeface="Inter"/>
              <a:buChar char="•"/>
            </a:pPr>
            <a:r>
              <a:rPr sz="1600" b="0">
                <a:solidFill>
                  <a:srgbClr val="333333"/>
                </a:solidFill>
                <a:latin typeface="Inter"/>
              </a:rPr>
              <a:t>Four dimensions diverge: threshold, action, hysteresis, rate gate.</a:t>
            </a:r>
          </a:p>
          <a:p>
            <a:pPr algn="l" marL="228600" indent="-228600">
              <a:lnSpc>
                <a:spcPct val="124000"/>
              </a:lnSpc>
              <a:spcAft>
                <a:spcPts val="900"/>
              </a:spcAft>
              <a:buClr>
                <a:srgbClr val="333333"/>
              </a:buClr>
              <a:buSzPct val="100000"/>
              <a:buFont typeface="Inter"/>
              <a:buChar char="•"/>
            </a:pPr>
            <a:r>
              <a:rPr sz="1600" b="0">
                <a:solidFill>
                  <a:srgbClr val="333333"/>
                </a:solidFill>
                <a:latin typeface="Inter"/>
              </a:rPr>
              <a:t>Group 2 chains run 2 to 5 hops; the deepest core chain, 8.</a:t>
            </a:r>
          </a:p>
          <a:p>
            <a:pPr algn="l" marL="228600" indent="-228600">
              <a:lnSpc>
                <a:spcPct val="124000"/>
              </a:lnSpc>
              <a:spcAft>
                <a:spcPts val="900"/>
              </a:spcAft>
              <a:buClr>
                <a:srgbClr val="333333"/>
              </a:buClr>
              <a:buSzPct val="100000"/>
              <a:buFont typeface="Inter"/>
              <a:buChar char="•"/>
            </a:pPr>
            <a:r>
              <a:rPr sz="1600" b="0">
                <a:solidFill>
                  <a:srgbClr val="333333"/>
                </a:solidFill>
                <a:latin typeface="Inter"/>
              </a:rPr>
              <a:t>Chains end in decisions such as mode denial, failsafe action, actuator limits, disarm.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3828859"/>
            <a:ext cx="5396484" cy="1196186"/>
          </a:xfrm>
          <a:prstGeom prst="roundRect">
            <a:avLst>
              <a:gd name="adj" fmla="val 6000"/>
            </a:avLst>
          </a:prstGeom>
          <a:solidFill>
            <a:srgbClr val="F2F0FE"/>
          </a:solidFill>
          <a:ln w="9525">
            <a:solidFill>
              <a:srgbClr val="E1DB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3975163"/>
            <a:ext cx="5103876" cy="1876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999999"/>
                </a:solidFill>
                <a:latin typeface="Fira Code"/>
              </a:rPr>
              <a:t>SAME WATCHDOG, TWO TRIP WINDOWS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4226775"/>
            <a:ext cx="5103876" cy="40370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333333"/>
                </a:solidFill>
                <a:latin typeface="Inter"/>
              </a:rPr>
              <a:t>2 s → motor minimum: Copter (which also disarms), Sub, Blimp. 0.2 s → Plane RC-passthrough; Rover disarm (CPUFAILSAFE).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536" y="4694490"/>
            <a:ext cx="4957572" cy="18425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333333"/>
                </a:solidFill>
                <a:latin typeface="Inter"/>
              </a:rPr>
              <a:t>“Divergent: 0.2 s trip + RC-passthrough (vs Copter 2 s + disarm).”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28588" y="3828859"/>
            <a:ext cx="5396484" cy="1196186"/>
          </a:xfrm>
          <a:prstGeom prst="roundRect">
            <a:avLst>
              <a:gd name="adj" fmla="val 6000"/>
            </a:avLst>
          </a:prstGeom>
          <a:solidFill>
            <a:srgbClr val="F2F0FE"/>
          </a:solidFill>
          <a:ln w="9525">
            <a:solidFill>
              <a:srgbClr val="E1DB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74892" y="3975163"/>
            <a:ext cx="5103876" cy="1876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999999"/>
                </a:solidFill>
                <a:latin typeface="Fira Code"/>
              </a:rPr>
              <a:t>ONE FENCE CHECK, TWO RATE GATES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74892" y="4226775"/>
            <a:ext cx="5103876" cy="18425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333333"/>
                </a:solidFill>
                <a:latin typeface="Inter"/>
              </a:rPr>
              <a:t>Copter first, then Rover: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21196" y="4475034"/>
            <a:ext cx="4957572" cy="18425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333333"/>
                </a:solidFill>
                <a:latin typeface="Inter"/>
              </a:rPr>
              <a:t>“divergent rate (40U/25 Hz vs 100U/10 Hz)”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5354229"/>
            <a:ext cx="11058144" cy="2257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>
                <a:solidFill>
                  <a:srgbClr val="999999"/>
                </a:solidFill>
                <a:latin typeface="Fira Code"/>
              </a:rPr>
              <a:t>CATALOG-WIDE FLAG COUNTS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5579933"/>
            <a:ext cx="1701355" cy="274320"/>
          </a:xfrm>
          <a:prstGeom prst="roundRect">
            <a:avLst>
              <a:gd name="adj" fmla="val 28000"/>
            </a:avLst>
          </a:prstGeom>
          <a:solidFill>
            <a:srgbClr val="F4EFF6"/>
          </a:solidFill>
          <a:ln w="9525">
            <a:solidFill>
              <a:srgbClr val="E1DB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5B39F3"/>
                </a:solidFill>
                <a:latin typeface="Fira Code"/>
              </a:rPr>
              <a:t>[DUPLICATED]  36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13232" y="4694490"/>
            <a:ext cx="32004" cy="184251"/>
          </a:xfrm>
          <a:prstGeom prst="rect">
            <a:avLst/>
          </a:prstGeom>
          <a:solidFill>
            <a:srgbClr val="5B39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74892" y="4475034"/>
            <a:ext cx="32004" cy="184251"/>
          </a:xfrm>
          <a:prstGeom prst="rect">
            <a:avLst/>
          </a:prstGeom>
          <a:solidFill>
            <a:srgbClr val="5B39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3539147"/>
            <a:ext cx="11058144" cy="2257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>
                <a:solidFill>
                  <a:srgbClr val="999999"/>
                </a:solidFill>
                <a:latin typeface="Fira Code"/>
              </a:rPr>
              <a:t>EACH CARD: WHAT DIVERGES, THEN THE AUDIT’S OWN WORDING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8144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5B39F3"/>
                </a:solidFill>
                <a:latin typeface="Fira Code"/>
              </a:rPr>
              <a:t>HIGHEST-PRIORITY ITEMS ONLY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5852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800" b="1">
                <a:solidFill>
                  <a:srgbClr val="333333"/>
                </a:solidFill>
                <a:latin typeface="Space Grotesk"/>
              </a:rPr>
              <a:t>Top-line recommendations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426464"/>
            <a:ext cx="11064240" cy="26102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700" b="0">
                <a:solidFill>
                  <a:srgbClr val="333333"/>
                </a:solidFill>
                <a:latin typeface="Inter"/>
              </a:rPr>
              <a:t>Drawn only from the audit’s own forward-looking content.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998383"/>
            <a:ext cx="11058144" cy="19123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228600" indent="-228600">
              <a:lnSpc>
                <a:spcPct val="124000"/>
              </a:lnSpc>
              <a:spcAft>
                <a:spcPts val="900"/>
              </a:spcAft>
              <a:buClr>
                <a:srgbClr val="333333"/>
              </a:buClr>
              <a:buSzPct val="100000"/>
              <a:buFont typeface="Inter"/>
              <a:buChar char="•"/>
            </a:pPr>
            <a:r>
              <a:rPr sz="1600" b="0">
                <a:solidFill>
                  <a:srgbClr val="333333"/>
                </a:solidFill>
                <a:latin typeface="Inter"/>
              </a:rPr>
              <a:t>Treat the audit’s own 12-row service mapping as the wiring contract: “the value the host must inject and the service member that now supplies it”.</a:t>
            </a:r>
          </a:p>
          <a:p>
            <a:pPr algn="l" marL="228600" indent="-228600">
              <a:lnSpc>
                <a:spcPct val="124000"/>
              </a:lnSpc>
              <a:spcAft>
                <a:spcPts val="900"/>
              </a:spcAft>
              <a:buClr>
                <a:srgbClr val="333333"/>
              </a:buClr>
              <a:buSzPct val="100000"/>
              <a:buFont typeface="Inter"/>
              <a:buChar char="•"/>
            </a:pPr>
            <a:r>
              <a:rPr sz="1600" b="0">
                <a:solidFill>
                  <a:srgbClr val="333333"/>
                </a:solidFill>
                <a:latin typeface="Inter"/>
              </a:rPr>
              <a:t>Address the two named top-risk types first.</a:t>
            </a:r>
          </a:p>
          <a:p>
            <a:pPr algn="l" marL="228600" indent="-228600">
              <a:lnSpc>
                <a:spcPct val="124000"/>
              </a:lnSpc>
              <a:spcAft>
                <a:spcPts val="900"/>
              </a:spcAft>
              <a:buClr>
                <a:srgbClr val="333333"/>
              </a:buClr>
              <a:buSzPct val="100000"/>
              <a:buFont typeface="Inter"/>
              <a:buChar char="•"/>
            </a:pPr>
            <a:r>
              <a:rPr sz="1600" b="0">
                <a:solidFill>
                  <a:srgbClr val="333333"/>
                </a:solidFill>
                <a:latin typeface="Inter"/>
              </a:rPr>
              <a:t>Converge the duplicated safety checks before trusting any one copy.</a:t>
            </a:r>
          </a:p>
          <a:p>
            <a:pPr algn="l" marL="228600" indent="-228600">
              <a:lnSpc>
                <a:spcPct val="124000"/>
              </a:lnSpc>
              <a:spcAft>
                <a:spcPts val="900"/>
              </a:spcAft>
              <a:buClr>
                <a:srgbClr val="333333"/>
              </a:buClr>
              <a:buSzPct val="100000"/>
              <a:buFont typeface="Inter"/>
              <a:buChar char="•"/>
            </a:pPr>
            <a:r>
              <a:rPr sz="1600" b="0">
                <a:solidFill>
                  <a:srgbClr val="333333"/>
                </a:solidFill>
                <a:latin typeface="Inter"/>
              </a:rPr>
              <a:t>Read the flags before touching shared state; do not re-derive references.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4221594"/>
            <a:ext cx="11058144" cy="2257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>
                <a:solidFill>
                  <a:srgbClr val="999999"/>
                </a:solidFill>
                <a:latin typeface="Fira Code"/>
              </a:rPr>
              <a:t>CATALOG-WIDE FLAG COUNTS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4447298"/>
            <a:ext cx="1982640" cy="274320"/>
          </a:xfrm>
          <a:prstGeom prst="roundRect">
            <a:avLst>
              <a:gd name="adj" fmla="val 28000"/>
            </a:avLst>
          </a:prstGeom>
          <a:solidFill>
            <a:srgbClr val="F4EFF6"/>
          </a:solidFill>
          <a:ln w="9525">
            <a:solidFill>
              <a:srgbClr val="E1DB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5B39F3"/>
                </a:solidFill>
                <a:latin typeface="Fira Code"/>
              </a:rPr>
              <a:t>[SHARED-STRUCT]  19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668440" y="4447298"/>
            <a:ext cx="1701355" cy="274320"/>
          </a:xfrm>
          <a:prstGeom prst="roundRect">
            <a:avLst>
              <a:gd name="adj" fmla="val 28000"/>
            </a:avLst>
          </a:prstGeom>
          <a:solidFill>
            <a:srgbClr val="F4EFF6"/>
          </a:solidFill>
          <a:ln w="9525">
            <a:solidFill>
              <a:srgbClr val="E1DB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5B39F3"/>
                </a:solidFill>
                <a:latin typeface="Fira Code"/>
              </a:rPr>
              <a:t>[DUPLICATED]  36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88667" y="4447298"/>
            <a:ext cx="1420070" cy="274320"/>
          </a:xfrm>
          <a:prstGeom prst="roundRect">
            <a:avLst>
              <a:gd name="adj" fmla="val 28000"/>
            </a:avLst>
          </a:prstGeom>
          <a:solidFill>
            <a:srgbClr val="F4EFF6"/>
          </a:solidFill>
          <a:ln w="9525">
            <a:solidFill>
              <a:srgbClr val="E1DB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5B39F3"/>
                </a:solidFill>
                <a:latin typeface="Fira Code"/>
              </a:rPr>
              <a:t>[CIRCULAR]  8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5032514"/>
            <a:ext cx="11058144" cy="32004"/>
          </a:xfrm>
          <a:prstGeom prst="rect">
            <a:avLst/>
          </a:prstGeom>
          <a:solidFill>
            <a:srgbClr val="E1DB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5375414"/>
            <a:ext cx="11058144" cy="463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8000"/>
              </a:lnSpc>
              <a:spcAft>
                <a:spcPts val="500"/>
              </a:spcAft>
            </a:pPr>
            <a:r>
              <a:rPr sz="1200" b="0">
                <a:solidFill>
                  <a:srgbClr val="999999"/>
                </a:solidFill>
                <a:latin typeface="Inter"/>
              </a:rPr>
              <a:t>Traceability: the audit contains no numbered recommendations register and no numeric severity scale, so every item above traces to its current → new service mapping, to its Audit-Discipline Flags taxonomy, or to its Provenance statement.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1225296"/>
            <a:ext cx="10424160" cy="65973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600" b="1">
                <a:solidFill>
                  <a:srgbClr val="FFFFFF"/>
                </a:solidFill>
                <a:latin typeface="Space Grotesk"/>
              </a:rPr>
              <a:t>A verifiable extraction baseline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2159355"/>
            <a:ext cx="8412480" cy="19123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228600" indent="-228600">
              <a:lnSpc>
                <a:spcPct val="124000"/>
              </a:lnSpc>
              <a:spcAft>
                <a:spcPts val="1200"/>
              </a:spcAft>
              <a:buClr>
                <a:srgbClr val="FFFFFF"/>
              </a:buClr>
              <a:buSzPct val="100000"/>
              <a:buFont typeface="Inter"/>
              <a:buChar char="•"/>
            </a:pPr>
            <a:r>
              <a:rPr sz="1600" b="0">
                <a:solidFill>
                  <a:srgbClr val="FFFFFF"/>
                </a:solidFill>
                <a:latin typeface="Inter"/>
              </a:rPr>
              <a:t>The audit converts an implicit understanding of ArduPilot PNT coupling into a verifiable extraction baseline.</a:t>
            </a:r>
          </a:p>
          <a:p>
            <a:pPr algn="l" marL="228600" indent="-228600">
              <a:lnSpc>
                <a:spcPct val="124000"/>
              </a:lnSpc>
              <a:spcAft>
                <a:spcPts val="1200"/>
              </a:spcAft>
              <a:buClr>
                <a:srgbClr val="FFFFFF"/>
              </a:buClr>
              <a:buSzPct val="100000"/>
              <a:buFont typeface="Inter"/>
              <a:buChar char="•"/>
            </a:pPr>
            <a:r>
              <a:rPr sz="1600" b="0">
                <a:solidFill>
                  <a:srgbClr val="FFFFFF"/>
                </a:solidFill>
                <a:latin typeface="Inter"/>
              </a:rPr>
              <a:t>The audit-discipline flags turn extraction risk into explicit, addressable markers</a:t>
            </a:r>
          </a:p>
          <a:p>
            <a:pPr algn="l" marL="228600" indent="-228600">
              <a:lnSpc>
                <a:spcPct val="124000"/>
              </a:lnSpc>
              <a:spcAft>
                <a:spcPts val="1200"/>
              </a:spcAft>
              <a:buClr>
                <a:srgbClr val="FFFFFF"/>
              </a:buClr>
              <a:buSzPct val="100000"/>
              <a:buFont typeface="Inter"/>
              <a:buChar char="•"/>
            </a:pPr>
            <a:r>
              <a:rPr sz="1600" b="0">
                <a:solidFill>
                  <a:srgbClr val="FFFFFF"/>
                </a:solidFill>
                <a:latin typeface="Inter"/>
              </a:rPr>
              <a:t>For the L1-navigation slice the current → new mapping supplies a documented wiring contract for the reusable service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4846320"/>
            <a:ext cx="4206240" cy="91440"/>
          </a:xfrm>
          <a:prstGeom prst="rect">
            <a:avLst/>
          </a:prstGeom>
          <a:gradFill rotWithShape="1">
            <a:gsLst>
              <a:gs pos="0">
                <a:srgbClr val="5B39F3"/>
              </a:gs>
              <a:gs pos="100000">
                <a:srgbClr val="94FAD5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5102352"/>
            <a:ext cx="3840480" cy="3474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rgbClr val="94FAD5"/>
                </a:solidFill>
                <a:latin typeface="Space Grotesk"/>
              </a:rPr>
              <a:t>Blitzy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522976"/>
            <a:ext cx="11058144" cy="47952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400" b="0">
                <a:solidFill>
                  <a:srgbClr val="94FAD5"/>
                </a:solidFill>
                <a:latin typeface="Inter"/>
              </a:rPr>
              <a:t>Use the comprehensive findings deck for the catalogued detail behind these themes: every reference, the paired dependency maps, the 12-row instance mapping and the full coverage register.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55080"/>
            <a:ext cx="11055096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999999"/>
                </a:solidFill>
                <a:latin typeface="Fira Code"/>
              </a:rPr>
              <a:t>This brief restates catalogued findings only; no new static analysis of the ArduPilot codebase was performed to produce it.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litzy Presentation">
  <a:themeElements>
    <a:clrScheme name="Blitzy">
      <a:dk1>
        <a:srgbClr val="333333"/>
      </a:dk1>
      <a:lt1>
        <a:srgbClr val="FFFFFF"/>
      </a:lt1>
      <a:dk2>
        <a:srgbClr val="1A105F"/>
      </a:dk2>
      <a:lt2>
        <a:srgbClr val="F4EFF6"/>
      </a:lt2>
      <a:accent1>
        <a:srgbClr val="5B39F3"/>
      </a:accent1>
      <a:accent2>
        <a:srgbClr val="7A6DEC"/>
      </a:accent2>
      <a:accent3>
        <a:srgbClr val="4101DB"/>
      </a:accent3>
      <a:accent4>
        <a:srgbClr val="2D1C77"/>
      </a:accent4>
      <a:accent5>
        <a:srgbClr val="94FAD5"/>
      </a:accent5>
      <a:accent6>
        <a:srgbClr val="999999"/>
      </a:accent6>
      <a:hlink>
        <a:srgbClr val="5B39F3"/>
      </a:hlink>
      <a:folHlink>
        <a:srgbClr val="2D1C77"/>
      </a:folHlink>
    </a:clrScheme>
    <a:fontScheme name="Blitzy">
      <a:majorFont>
        <a:latin typeface="Space Grotesk"/>
        <a:ea typeface=""/>
        <a:cs typeface=""/>
      </a:majorFont>
      <a:minorFont>
        <a:latin typeface="Inter"/>
        <a:ea typeface=""/>
        <a:cs typeface=""/>
      </a:minorFont>
    </a:fontScheme>
    <a:fmtScheme name="Blitzy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1059</Words>
  <PresentationFormat>Widescreen</PresentationFormat>
  <Paragraphs>172</Paragraphs>
  <Slides>10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1" baseType="lpstr">
      <vt:lpstr>Blitzy Presentation</vt:lpstr>
      <vt:lpstr>ArduPilot PNT (Positioning, Navigation, Timing) Reference Audit</vt:lpstr>
      <vt:lpstr>What this audit set out to establish</vt:lpstr>
      <vt:lpstr>Positioning — where PNT is born</vt:lpstr>
      <vt:lpstr>Navigation — one hub, a core that depends on itself</vt:lpstr>
      <vt:lpstr>Timing — everything is stamped against one clock</vt:lpstr>
      <vt:lpstr>PNT as a permission system</vt:lpstr>
      <vt:lpstr>The same check, written many times</vt:lpstr>
      <vt:lpstr>Where the copies disagree, and how far chains run</vt:lpstr>
      <vt:lpstr>Top-line recommendations</vt:lpstr>
      <vt:lpstr>A verifiable extraction baseline</vt:lpstr>
    </vt:vector>
  </TitlesOfParts>
  <Company>Blitzy</Company>
  <LinksUpToDate>false</LinksUpToDate>
  <SharedDoc>false</SharedDoc>
  <HyperlinksChanged>false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ArduPilot PNT Reference Audit — Executive Brief</dc:title>
  <dc:creator>Blitzy</dc:creator>
  <cp:lastModifiedBy>Blitzy</cp:lastModifiedBy>
  <cp:revision>1</cp:revision>
  <dc:subject>Theme-level executive summary of the ArduPilot PNT Reference Audit at audited HEAD 5b67e27b0a</dc:subject>
  <dc:description>Theme-level executive briefing over the ArduPilot PNT Reference Audit, a read-only static-analysis catalog at audited HEAD 5b67e27b0a. Findings are restated exactly as catalogued; no new analysis was performed.</dc:description>
  <cp:keywords>ArduPilot; PNT; Positioning; Navigation; Timing; reference audit; executive brief; static-analysis catalog</cp:keywords>
  <cp:category>Executive briefing</cp:category>
  <cp:contentStatus>Final</cp:contentStatus>
  <dc:language>en-GB</dc:language>
  <dcterms:created xsi:type="dcterms:W3CDTF">2026-08-01T21:19:30Z</dcterms:created>
  <dcterms:modified xsi:type="dcterms:W3CDTF">2026-08-01T21:19:30Z</dcterms:modified>
</cp:coreProperties>
</file>