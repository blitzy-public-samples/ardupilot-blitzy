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itzy Title">
    <p:bg>
      <p:bgPr>
        <a:gradFill rotWithShape="0">
          <a:gsLst>
            <a:gs pos="15560">
              <a:srgbClr val="7A6DEC"/>
            </a:gs>
            <a:gs pos="62740">
              <a:srgbClr val="5B39F3"/>
            </a:gs>
            <a:gs pos="84440">
              <a:srgbClr val="4101DB"/>
            </a:gs>
          </a:gsLst>
          <a:lin ang="20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itzy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litzy Section Divider">
    <p:bg>
      <p:bgPr>
        <a:gradFill rotWithShape="0">
          <a:gsLst>
            <a:gs pos="0">
              <a:srgbClr val="2D1C77"/>
            </a:gs>
            <a:gs pos="100000">
              <a:srgbClr val="5B39F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itzy Closing">
    <p:bg>
      <p:bgPr>
        <a:solidFill>
          <a:srgbClr val="1A1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>
        <a:defRPr>
          <a:solidFill>
            <a:schemeClr val="tx1"/>
          </a:solidFill>
          <a:latin typeface="+mj-lt"/>
        </a:defRPr>
      </a:lvl1pPr>
      <a:lvl2pPr>
        <a:defRPr>
          <a:solidFill>
            <a:schemeClr val="tx1"/>
          </a:solidFill>
          <a:latin typeface="+mj-lt"/>
        </a:defRPr>
      </a:lvl2pPr>
      <a:lvl3pPr>
        <a:defRPr>
          <a:solidFill>
            <a:schemeClr val="tx1"/>
          </a:solidFill>
          <a:latin typeface="+mj-lt"/>
        </a:defRPr>
      </a:lvl3pPr>
      <a:lvl4pPr>
        <a:defRPr>
          <a:solidFill>
            <a:schemeClr val="tx1"/>
          </a:solidFill>
          <a:latin typeface="+mj-lt"/>
        </a:defRPr>
      </a:lvl4pPr>
      <a:lvl5pPr>
        <a:defRPr>
          <a:solidFill>
            <a:schemeClr val="tx1"/>
          </a:solidFill>
          <a:latin typeface="+mj-lt"/>
        </a:defRPr>
      </a:lvl5pPr>
      <a:lvl6pPr>
        <a:defRPr>
          <a:solidFill>
            <a:schemeClr val="tx1"/>
          </a:solidFill>
          <a:latin typeface="+mj-lt"/>
        </a:defRPr>
      </a:lvl6pPr>
      <a:lvl7pPr>
        <a:defRPr>
          <a:solidFill>
            <a:schemeClr val="tx1"/>
          </a:solidFill>
          <a:latin typeface="+mj-lt"/>
        </a:defRPr>
      </a:lvl7pPr>
      <a:lvl8pPr>
        <a:defRPr>
          <a:solidFill>
            <a:schemeClr val="tx1"/>
          </a:solidFill>
          <a:latin typeface="+mj-lt"/>
        </a:defRPr>
      </a:lvl8pPr>
      <a:lvl9pPr>
        <a:defRPr>
          <a:solidFill>
            <a:schemeClr val="tx1"/>
          </a:solidFill>
          <a:latin typeface="+mj-lt"/>
        </a:defRPr>
      </a:lvl9pPr>
    </p:titleStyle>
    <p:body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bodyStyle>
    <p:other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48132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4FAD5"/>
                </a:solidFill>
                <a:latin typeface="Fira Code"/>
              </a:rPr>
              <a:t>EXECUTIVE BRIEF  ·  CLIENT READERSHIP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pace Grotesk"/>
              </a:rPr>
              <a:t>ArduPilot PNT (Positioning, Navigation, Timing) Reference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75887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nter"/>
              </a:rPr>
              <a:t>Read-only static-analysis audit — every snippet reproduced verbatim from the cited path:line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498848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7316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4FAD5"/>
                </a:solidFill>
                <a:latin typeface="Fira Code"/>
              </a:rPr>
              <a:t>HEAD 5b67e27b0a  ·  43 pages  ·  Read-only static-analysis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Findings in broad strokes, grouped by theme. A forthcoming comprehensive deck will carry the catalog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PURPOSE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What this audit set out to establish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Where does PNT behaviour live today, and what depends on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CORE PROBLEM, IN THE AUDIT’S OWN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77783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77783"/>
            <a:ext cx="10911840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PNT behavior in ArduPilot is not a library that a host can call — it is embedded in the vehicle flight loop and duplicated across vehicles.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40011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40011"/>
            <a:ext cx="10911840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The consequence is that an external host cannot reuse a PNT behavior without first knowing every place that behavior lives, what it reads, and what breaks if it moves.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63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core references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1756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31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indirect references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4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94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total touch-points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1412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282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evidence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18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data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1756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43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pages of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584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412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 absences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POSITIONING  ·  TABLE 1  ·  26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Positioning — where PNT is born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pattern, not the rows: many producers, one shared structure at the centre.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Fan-in, not a hierarchy: 14 receiver backends write one shared structure.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That structure packs PNT fields together with non-PNT ones.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audit names two types as its own top extraction risks.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9167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17379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563683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SHARED GPS STATE STRUCT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842727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9697" y="3842727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208487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208487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Primary extraction-risk struct for a PNT split.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8588" y="3417379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4892" y="3563683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UBIQUITOUS LOCATION VALUE TYPE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74892" y="3842727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74892" y="4208487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1196" y="4208487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Ubiquitous value type; top extraction risk.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46763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72467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68440" y="4972467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NAVIGATION  ·  TABLE 2  ·  28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Navigation — one hub, a core that depends on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largest core pillar, and the one that carries the host-facing seam.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hub serves fused position to the whole vehicle.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estimator spans 13 catalogued fusion modules, not one file.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 parallel estimator generation mirrors it and is flagged [DUPLICATED].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Only this table names new service locations — the reusable seam.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1105814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754640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WHY THE CORE IS FLAGGED [CIRCULAR]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033684"/>
            <a:ext cx="113878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39944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399444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AHRS↔EKF mutual reference.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37720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63424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5870" y="5163424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TIMING  ·  TABLE 3  ·  9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Timing — everything is stamped against one clock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smallest core pillar, and the one every other pillar depends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All three pillars derive from one monotonic timebase.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Absolute time is arbitrated, not assumed; the highest-ranked source wins.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catalogued structure spans timing and positioning — flagged [MULTI-CATEGORY].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TIMING BACKBONE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61702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617023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the time primitive every PNT subsystem stamps against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137011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83315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CADENCE IS A PNT PROPERTY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562359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562359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Drives the cadence of every periodic PNT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10063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26339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POSITIONING  ·  TABLE 4  ·  10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PNT as a permission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Group 2 reads no PNT value. Its behaviour changes because of PNT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In positioning, PNT state grants or withholds permission rather than computing.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Health gates decide whether a mode may be entered at all.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Geofence evaluation decides whether motion is allowed.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Absence is catalogued, not inferred.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coverage sub-registers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32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3136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checked, documented absences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2448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050192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[ABSENT] 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52528"/>
            <a:ext cx="11058144" cy="2477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Explicitly-documented absences catalogued in the Coverage register: 27.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NAVIGATION AND TIMING  ·  TABLES 5 AND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The same check, written many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[DUPLICATED] is the audit’s largest flag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7766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Two safety checks account for much of it, each written separately per vehicle firmware.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It is a read-only catalog: the audit records the repetition.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775013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000717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147021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ESTIMATOR-VARIANCE WATCHDOG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426065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791825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791825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a 4-way copy-paste (extraction risk)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588" y="3000717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4892" y="3147021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MAIN-LOOP-LOCKUP WATCHDOG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4892" y="3426065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4892" y="3791825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1196" y="3791825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replicated 5 ways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30101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55805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DIVERGENCE AND CHAIN DEPTH  ·  TABLES 4–6 WITH SUB-TABLES 4a–6a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Where the copies disagree, and how far chains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copies are not identical — the audit records divergence across vehicles.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Thresholds and actions diverge across vehicles; some share an outcome.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Hysteresis and check cadence diverge too.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Group 2 chains run 2 to 5 hops; the deepest core chain, 8.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Chains end in real action: a mode refused, a failsafe landing.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1105814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754640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DIVERGENCE, IN THE AUDIT’S OWN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033684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39944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399444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divergent thresholds/actions (extraction risk)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HIGHEST-PRIORITY ITEMS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Top-line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Drawn only from the audit’s own forward-looking content.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Treat the audit’s own 12-row service mapping as the wiring contract: “the value the host must inject and the service member that now supplies it”.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Address the two named top-risk types first.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Converge the duplicated safety checks before trusting any one copy.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Read the flags before touching shared state; do not re-derive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91069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6402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8440" y="4136402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8667" y="4136402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11890"/>
            <a:ext cx="11058144" cy="32004"/>
          </a:xfrm>
          <a:prstGeom prst="rect">
            <a:avLst/>
          </a:prstGeom>
          <a:solidFill>
            <a:srgbClr val="E1D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90198"/>
            <a:ext cx="11058144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Traceability: the audit contains no numbered recommendations register and no numeric severity scale, so every item above traces to its current → new service mapping, to its Audit-Discipline Flags taxonomy, or to its Provenance statement.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225296"/>
            <a:ext cx="10424160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A verifiable extraction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159355"/>
            <a:ext cx="9144000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 converts an implicit understanding of ArduPilot PNT coupling into a verifiable extraction baseline.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audit-discipline flags turn extraction risk into explicit, addressable markers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For the L1-navigation slice the current → new mapping supplies a documented wiring contract for the reusable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4846320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023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94FAD5"/>
                </a:solidFill>
                <a:latin typeface="Space Grotesk"/>
              </a:rPr>
              <a:t>Blitzy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22976"/>
            <a:ext cx="11058144" cy="4795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>
                <a:solidFill>
                  <a:srgbClr val="94FAD5"/>
                </a:solidFill>
                <a:latin typeface="Inter"/>
              </a:rPr>
              <a:t>NEXT: a forthcoming comprehensive findings deck will carry every catalogued reference, the paired dependency maps, the 12-row instance mapping and the full coverage register.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5509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This brief restates catalogued findings only; no new static analysis of the ArduPilot codebase was performed to produce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itzy Presentation">
  <a:themeElements>
    <a:clrScheme name="Blitzy">
      <a:dk1>
        <a:srgbClr val="333333"/>
      </a:dk1>
      <a:lt1>
        <a:srgbClr val="FFFFFF"/>
      </a:lt1>
      <a:dk2>
        <a:srgbClr val="1A105F"/>
      </a:dk2>
      <a:lt2>
        <a:srgbClr val="F4EFF6"/>
      </a:lt2>
      <a:accent1>
        <a:srgbClr val="5B39F3"/>
      </a:accent1>
      <a:accent2>
        <a:srgbClr val="7A6DEC"/>
      </a:accent2>
      <a:accent3>
        <a:srgbClr val="4101DB"/>
      </a:accent3>
      <a:accent4>
        <a:srgbClr val="2D1C77"/>
      </a:accent4>
      <a:accent5>
        <a:srgbClr val="94FAD5"/>
      </a:accent5>
      <a:accent6>
        <a:srgbClr val="999999"/>
      </a:accent6>
      <a:hlink>
        <a:srgbClr val="5B39F3"/>
      </a:hlink>
      <a:folHlink>
        <a:srgbClr val="2D1C77"/>
      </a:folHlink>
    </a:clrScheme>
    <a:fontScheme name="Blitzy">
      <a:majorFont>
        <a:latin typeface="Space Grotesk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1018</Words>
  <Application>Blitzy Presentation Toolchain</Application>
  <PresentationFormat>Widescreen</PresentationFormat>
  <Paragraphs>165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Blitzy Presentation</vt:lpstr>
      <vt:lpstr>ArduPilot PNT (Positioning, Navigation, Timing) Reference Audit</vt:lpstr>
      <vt:lpstr>What this audit set out to establish</vt:lpstr>
      <vt:lpstr>Positioning — where PNT is born</vt:lpstr>
      <vt:lpstr>Navigation — one hub, a core that depends on itself</vt:lpstr>
      <vt:lpstr>Timing — everything is stamped against one clock</vt:lpstr>
      <vt:lpstr>PNT as a permission system</vt:lpstr>
      <vt:lpstr>The same check, written many times</vt:lpstr>
      <vt:lpstr>Where the copies disagree, and how far chains run</vt:lpstr>
      <vt:lpstr>Top-line recommendations</vt:lpstr>
      <vt:lpstr>A verifiable extraction baseline</vt:lpstr>
    </vt:vector>
  </TitlesOfParts>
  <Company>Blitzy</Company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ArduPilot PNT Reference Audit — Executive Brief</dc:title>
  <dc:creator>Blitzy</dc:creator>
  <cp:lastModifiedBy>Blitzy</cp:lastModifiedBy>
  <cp:revision>1</cp:revision>
  <dc:subject>Theme-level executive summary of the ArduPilot PNT Reference Audit at audited HEAD 5b67e27b0a</dc:subject>
  <dc:description>Theme-level executive briefing over the ArduPilot PNT Reference Audit, a read-only static-analysis catalog at audited HEAD 5b67e27b0a. Findings are restated exactly as catalogued; no new analysis was performed.</dc:description>
  <cp:keywords>ArduPilot; PNT; Positioning; Navigation; Timing; reference audit; executive brief; static-analysis catalog</cp:keywords>
  <cp:category>Executive briefing</cp:category>
  <cp:contentStatus>Final</cp:contentStatus>
  <dc:language>en-GB</dc:language>
  <dcterms:created xsi:type="dcterms:W3CDTF">2026-07-31T13:34:24Z</dcterms:created>
  <dcterms:modified xsi:type="dcterms:W3CDTF">2026-07-31T13:34:24Z</dcterms:modified>
</cp:coreProperties>
</file>